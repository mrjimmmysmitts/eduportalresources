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of 8 — the last teaching lesson before the practice SAC. Two jobs today: the ethical dimension, which students find easy to discuss and hard to write about precisely, and the improvement strategies that close the Outcome 2 tracker. The discipline to insist on all lesson: an ethical issue is not just 'a bad thing that happened'. It is a harm to someone, over and above what the law requires. Laptops closed until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Intended reads: A legal and arguably ethical (ideas are not protected) — this is the one that generates argument. B is both. C is legal but ethically serious — the Amazon case is coming. D is legal, disclosed, and still ethically questionable, which is the cleanest example of the gap. E is likely both, and unresolved in practice. Do not settle the disagreements; the point is to surface that 'legal' and 'right' are separate axes. 3 minutes pairs, 2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Developing tier phrase to emphasise is 'who is harmed by it'. Students write ethical answers in the abstract — 'this is unethical because privacy is important' — and lose marks. Naming the person who carries the consequence is what turns an assertion into an argument. Copy objective and target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promised recall check. Keep it brisk and cold-call widely rather than taking volunteers — the point is to find out who has not learnt the numbers while there is still a week to fix it. Answers: APP 11 / IPP 4 data security; any four of the eight; APP 8; Govern, Protect, Detect,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single most useful sentence in the lesson and should go on the board. It gives students a test they can actually apply: if the conduct is lawful and you still object to it, articulate what the objection is — that articulation is the ethical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connecting to APP 8 and IPP 9 from last lesson — the cross-border principles exist precisely because jurisdiction-hopping defeats enforcement. Also flag that 'the law hasn't caught up' is a legitimate point in an extended response but only if the student names what specifically it has not caught up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1 is the transferable move — locate the person who bears the consequence. Ask the class directly about Aurora: 400 000 customers bought a festival ticket; not one of them chose the encryption settings. That framing converts a technical finding into an ethical argument and is worth practising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default to bias for every AI question. Push them to notice that code provenance is the one most likely to appear in a software development case study, and that it links directly to the Copyright Act from Lesson 7. Accountability is the one they find hardest and it rewards a concrete question: if an AI-assisted release causes harm, who is answerable — the developer, the reviewer, or the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that makes this land is that nobody set out to build a discriminatory tool — the bias was inherited from historical data that accurately reflected who had been hired. Ask what a criterion for 'is this model fair?' would look like, and let students discover how much harder it is to write than the criteria from Lesson 6. That difficulty is itself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Lesson 7 explicitly: 'copyright protects expression, not ideas' was a legal fact then and is an ethical problem now. That reuse of one fact across two registers is exactly the kind of connection that distinguishes a strong extended response, so say so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an appropriate level of testing is for a festival gate-scanning app versus an insulin pump, and let students argue. The useful conclusion is that the standard is set by the consequence of failure, not by the size of the codebase — which is the same likelihood-and-consequence reasoning as Lesson 5, applied to a professional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two minutes at around the 52-minute mark. The second half is the part that closes the Outcome 2 tracker, so reset attention properly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Lesson 3's insider threat content — the negligent insider is usually someone who was never told, not someone who ignored what they were told. That makes onboarding a mitigation for a specific threat rather than general good practice, which is how it should appear in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footer is the callback to Lesson 5's mitigation-versus-confirmation distinction and to Lesson 6's 'easy to measure versus worth measuring' discussion. Students who can make that link have effectively answered three lessons' worth of content in one sentence, and it is worth telling them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where students are thinnest, because the whole unit has trained them to think preventatively. Ask directly: Aurora is breached on a Friday night — who is called, in what order, and who tells the 400 000 customers? Having no answer is a finding, and a recommendation writes itself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this table — the score bands are examinable and the Action column is what makes a recommendation prioritised rather than a list. Note that two adjacent scores can share a rating but not an action, which is the detail most often mis-copied.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this out in full — it is the highest-value single artefact in the unit for the SAC. A response that moves through this sequence, anchored in the case study at every step, is structurally complete before a single extra fact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1 is the discriminator between a mid-range and a strong response and is worth a live check: give a compliant-but-objectionable scenario — data kept indefinitely, disclosed in the policy, lawfully — and ask for the ethical objection in one sentence. If the class reaches for a principle number, spend the extra three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predictable sticking point is Section 4's ethical column: students copy their legal answer across with the word 'unethical' added. The prompt that fixes it is 'assume they are fully compliant — what is still wrong?' Fast finishers start the practice SAC, which is now fully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per row. Row 1 is the one to re-teach on the spot — it is the difference between the two halves of the legal-and-ethical question carrying marks or only one of them doing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is the discriminator and should be scanned before the practice SAC. If a significant number of students still define the ethical issue by reference to a law, open the SAC lesson with five minutes on it rather than assuming it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tracker is complete: say so explicitly, it is a genuine milestone after eight lessons. Set expectations for the practice SAC — same conditions, same time, marked against the same criteria, and the feedback is the point. Remind them the case study organisation will be unfamiliar, so memorising Aurora will not help; the transferable thing is the four-step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548640"/>
            <a:ext cx="11155680" cy="5760720"/>
          </a:xfrm>
          <a:prstGeom prst="roundRect">
            <a:avLst>
              <a:gd name="adj" fmla="val 1429"/>
            </a:avLst>
          </a:prstGeom>
          <a:solidFill>
            <a:srgbClr val="F4F6FB"/>
          </a:solidFill>
          <a:ln w="12700">
            <a:solidFill>
              <a:srgbClr val="D8DDE6"/>
            </a:solidFill>
            <a:prstDash val="solid"/>
          </a:ln>
        </p:spPr>
      </p:sp>
      <p:sp>
        <p:nvSpPr>
          <p:cNvPr id="3" name="Text 1"/>
          <p:cNvSpPr/>
          <p:nvPr/>
        </p:nvSpPr>
        <p:spPr>
          <a:xfrm>
            <a:off x="1005840" y="1325880"/>
            <a:ext cx="9601200" cy="320040"/>
          </a:xfrm>
          <a:prstGeom prst="rect">
            <a:avLst/>
          </a:prstGeom>
          <a:noFill/>
          <a:ln/>
        </p:spPr>
        <p:txBody>
          <a:bodyPr wrap="square" lIns="0" tIns="0" rIns="0" bIns="0" rtlCol="0" anchor="ctr"/>
          <a:lstStyle/>
          <a:p>
            <a:pPr indent="0" marL="0">
              <a:buNone/>
            </a:pPr>
            <a:r>
              <a:rPr lang="en-US" sz="1400" b="1" spc="140" kern="0" dirty="0">
                <a:solidFill>
                  <a:srgbClr val="4361EE"/>
                </a:solidFill>
                <a:latin typeface="Courier New" pitchFamily="34" charset="0"/>
                <a:ea typeface="Courier New" pitchFamily="34" charset="-122"/>
                <a:cs typeface="Courier New" pitchFamily="34" charset="-120"/>
              </a:rPr>
              <a:t>UNIT 4 · AREA OF STUDY 2 · CYBER SECURITY</a:t>
            </a:r>
            <a:endParaRPr lang="en-US" sz="1400" dirty="0"/>
          </a:p>
        </p:txBody>
      </p:sp>
      <p:sp>
        <p:nvSpPr>
          <p:cNvPr id="4" name="Text 2"/>
          <p:cNvSpPr/>
          <p:nvPr/>
        </p:nvSpPr>
        <p:spPr>
          <a:xfrm>
            <a:off x="1005840" y="1737360"/>
            <a:ext cx="9692640" cy="1371600"/>
          </a:xfrm>
          <a:prstGeom prst="rect">
            <a:avLst/>
          </a:prstGeom>
          <a:noFill/>
          <a:ln/>
        </p:spPr>
        <p:txBody>
          <a:bodyPr wrap="square" lIns="0" tIns="0" rIns="0" bIns="0" rtlCol="0" anchor="t"/>
          <a:lstStyle/>
          <a:p>
            <a:pPr indent="0" marL="0">
              <a:lnSpc>
                <a:spcPct val="105000"/>
              </a:lnSpc>
              <a:buNone/>
            </a:pPr>
            <a:r>
              <a:rPr lang="en-US" sz="4400" b="1" dirty="0">
                <a:solidFill>
                  <a:srgbClr val="111827"/>
                </a:solidFill>
                <a:latin typeface="Bookman Old Style" pitchFamily="34" charset="0"/>
                <a:ea typeface="Bookman Old Style" pitchFamily="34" charset="-122"/>
                <a:cs typeface="Bookman Old Style" pitchFamily="34" charset="-120"/>
              </a:rPr>
              <a:t>Lesson 8 — Ethics and Improving Practices</a:t>
            </a:r>
            <a:endParaRPr lang="en-US" sz="4400" dirty="0"/>
          </a:p>
        </p:txBody>
      </p:sp>
      <p:sp>
        <p:nvSpPr>
          <p:cNvPr id="5" name="Text 3"/>
          <p:cNvSpPr/>
          <p:nvPr/>
        </p:nvSpPr>
        <p:spPr>
          <a:xfrm>
            <a:off x="1005840" y="3246120"/>
            <a:ext cx="9692640" cy="457200"/>
          </a:xfrm>
          <a:prstGeom prst="rect">
            <a:avLst/>
          </a:prstGeom>
          <a:noFill/>
          <a:ln/>
        </p:spPr>
        <p:txBody>
          <a:bodyPr wrap="square" lIns="0" tIns="0" rIns="0" bIns="0" rtlCol="0" anchor="ctr"/>
          <a:lstStyle/>
          <a:p>
            <a:pPr indent="0" marL="0">
              <a:buNone/>
            </a:pPr>
            <a:r>
              <a:rPr lang="en-US" sz="1900" dirty="0">
                <a:solidFill>
                  <a:srgbClr val="5B6472"/>
                </a:solidFill>
                <a:latin typeface="Calibri" pitchFamily="34" charset="0"/>
                <a:ea typeface="Calibri" pitchFamily="34" charset="-122"/>
                <a:cs typeface="Calibri" pitchFamily="34" charset="-120"/>
              </a:rPr>
              <a:t>Where the law runs out · AI · Intellectual property · Onboarding · Training · Risk management plans</a:t>
            </a:r>
            <a:endParaRPr lang="en-US" sz="1900" dirty="0"/>
          </a:p>
        </p:txBody>
      </p:sp>
      <p:sp>
        <p:nvSpPr>
          <p:cNvPr id="6" name="Shape 4"/>
          <p:cNvSpPr/>
          <p:nvPr/>
        </p:nvSpPr>
        <p:spPr>
          <a:xfrm>
            <a:off x="1005840" y="4069080"/>
            <a:ext cx="4983480" cy="1371600"/>
          </a:xfrm>
          <a:prstGeom prst="roundRect">
            <a:avLst>
              <a:gd name="adj" fmla="val 6000"/>
            </a:avLst>
          </a:prstGeom>
          <a:solidFill>
            <a:srgbClr val="FFFFFF"/>
          </a:solidFill>
          <a:ln w="12700">
            <a:solidFill>
              <a:srgbClr val="D8DDE6"/>
            </a:solidFill>
            <a:prstDash val="solid"/>
          </a:ln>
        </p:spPr>
      </p:sp>
      <p:sp>
        <p:nvSpPr>
          <p:cNvPr id="7" name="Shape 5"/>
          <p:cNvSpPr/>
          <p:nvPr/>
        </p:nvSpPr>
        <p:spPr>
          <a:xfrm>
            <a:off x="6309360" y="4069080"/>
            <a:ext cx="4617720" cy="1371600"/>
          </a:xfrm>
          <a:prstGeom prst="roundRect">
            <a:avLst>
              <a:gd name="adj" fmla="val 6000"/>
            </a:avLst>
          </a:prstGeom>
          <a:solidFill>
            <a:srgbClr val="FFFFFF"/>
          </a:solidFill>
          <a:ln w="12700">
            <a:solidFill>
              <a:srgbClr val="D8DDE6"/>
            </a:solidFill>
            <a:prstDash val="solid"/>
          </a:ln>
        </p:spPr>
      </p:sp>
      <p:sp>
        <p:nvSpPr>
          <p:cNvPr id="8" name="Text 6"/>
          <p:cNvSpPr/>
          <p:nvPr/>
        </p:nvSpPr>
        <p:spPr>
          <a:xfrm>
            <a:off x="1234440" y="4251960"/>
            <a:ext cx="4526280" cy="1005840"/>
          </a:xfrm>
          <a:prstGeom prst="rect">
            <a:avLst/>
          </a:prstGeom>
          <a:noFill/>
          <a:ln/>
        </p:spPr>
        <p:txBody>
          <a:bodyPr wrap="square" lIns="0" tIns="0" rIns="0" bIns="0" rtlCol="0" anchor="t"/>
          <a:lstStyle/>
          <a:p>
            <a:pPr indent="0" marL="0">
              <a:lnSpc>
                <a:spcPct val="125000"/>
              </a:lnSpc>
              <a:buNone/>
            </a:pPr>
            <a:r>
              <a:rPr lang="en-US" sz="1600" b="1" dirty="0">
                <a:solidFill>
                  <a:srgbClr val="111827"/>
                </a:solidFill>
                <a:latin typeface="Calibri" pitchFamily="34" charset="0"/>
                <a:ea typeface="Calibri" pitchFamily="34" charset="-122"/>
                <a:cs typeface="Calibri" pitchFamily="34" charset="-120"/>
              </a:rPr>
              <a:t>Year 12 Software Development</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Double period · 100 minutes</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Case organisation: Aurora Ticketing</a:t>
            </a:r>
            <a:endParaRPr lang="en-US" sz="1600" dirty="0"/>
          </a:p>
        </p:txBody>
      </p:sp>
      <p:sp>
        <p:nvSpPr>
          <p:cNvPr id="9" name="Text 7"/>
          <p:cNvSpPr/>
          <p:nvPr/>
        </p:nvSpPr>
        <p:spPr>
          <a:xfrm>
            <a:off x="6537960" y="4251960"/>
            <a:ext cx="4160520" cy="1005840"/>
          </a:xfrm>
          <a:prstGeom prst="rect">
            <a:avLst/>
          </a:prstGeom>
          <a:noFill/>
          <a:ln/>
        </p:spPr>
        <p:txBody>
          <a:bodyPr wrap="square" lIns="0" tIns="0" rIns="0" bIns="0" rtlCol="0" anchor="t"/>
          <a:lstStyle/>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Last lesson: Legislation and frameworks</a:t>
            </a:r>
            <a:endParaRPr lang="en-US" sz="1600" dirty="0"/>
          </a:p>
          <a:p>
            <a:pPr indent="0" marL="0">
              <a:lnSpc>
                <a:spcPct val="125000"/>
              </a:lnSpc>
              <a:buNone/>
            </a:pPr>
            <a:r>
              <a:rPr lang="en-US" sz="1600" b="1" dirty="0">
                <a:solidFill>
                  <a:srgbClr val="111827"/>
                </a:solidFill>
                <a:latin typeface="Calibri" pitchFamily="34" charset="0"/>
                <a:ea typeface="Calibri" pitchFamily="34" charset="-122"/>
                <a:cs typeface="Calibri" pitchFamily="34" charset="-120"/>
              </a:rPr>
              <a:t>Today: the final lesson of the unit</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Notebooks out — laptops stay shut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Warm up — Illegal, unethical, or both?</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5 minutes · in pairs · notebooks only</a:t>
            </a:r>
            <a:endParaRPr lang="en-US" sz="1500" dirty="0"/>
          </a:p>
        </p:txBody>
      </p:sp>
      <p:sp>
        <p:nvSpPr>
          <p:cNvPr id="8" name="Shape 6"/>
          <p:cNvSpPr/>
          <p:nvPr/>
        </p:nvSpPr>
        <p:spPr>
          <a:xfrm>
            <a:off x="502920" y="1298448"/>
            <a:ext cx="11155680" cy="749808"/>
          </a:xfrm>
          <a:prstGeom prst="roundRect">
            <a:avLst>
              <a:gd name="adj" fmla="val 10976"/>
            </a:avLst>
          </a:prstGeom>
          <a:solidFill>
            <a:srgbClr val="EEF2FE"/>
          </a:solidFill>
          <a:ln w="12700">
            <a:solidFill>
              <a:srgbClr val="4361EE"/>
            </a:solidFill>
            <a:prstDash val="solid"/>
          </a:ln>
        </p:spPr>
      </p:sp>
      <p:sp>
        <p:nvSpPr>
          <p:cNvPr id="9" name="Text 7"/>
          <p:cNvSpPr/>
          <p:nvPr/>
        </p:nvSpPr>
        <p:spPr>
          <a:xfrm>
            <a:off x="804672" y="1298448"/>
            <a:ext cx="10552176" cy="749808"/>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Five things a development team could do. For each, mark it ILLEGAL, UNETHICAL, BOTH, or NEITHER. Be ready to defend a disagreement.</a:t>
            </a:r>
            <a:endParaRPr lang="en-US" sz="1800" dirty="0"/>
          </a:p>
        </p:txBody>
      </p:sp>
      <p:sp>
        <p:nvSpPr>
          <p:cNvPr id="10" name="Shape 8"/>
          <p:cNvSpPr/>
          <p:nvPr/>
        </p:nvSpPr>
        <p:spPr>
          <a:xfrm>
            <a:off x="502920" y="2249424"/>
            <a:ext cx="11155680" cy="658368"/>
          </a:xfrm>
          <a:prstGeom prst="roundRect">
            <a:avLst>
              <a:gd name="adj" fmla="val 12500"/>
            </a:avLst>
          </a:prstGeom>
          <a:solidFill>
            <a:srgbClr val="FFFFFF"/>
          </a:solidFill>
          <a:ln w="12700">
            <a:solidFill>
              <a:srgbClr val="D8DDE6"/>
            </a:solidFill>
            <a:prstDash val="solid"/>
          </a:ln>
        </p:spPr>
      </p:sp>
      <p:sp>
        <p:nvSpPr>
          <p:cNvPr id="11" name="Shape 9"/>
          <p:cNvSpPr/>
          <p:nvPr/>
        </p:nvSpPr>
        <p:spPr>
          <a:xfrm>
            <a:off x="731520" y="2395728"/>
            <a:ext cx="365760" cy="365760"/>
          </a:xfrm>
          <a:prstGeom prst="ellipse">
            <a:avLst/>
          </a:prstGeom>
          <a:solidFill>
            <a:srgbClr val="F4F6FB"/>
          </a:solidFill>
          <a:ln w="12700">
            <a:solidFill>
              <a:srgbClr val="D8DDE6"/>
            </a:solidFill>
            <a:prstDash val="solid"/>
          </a:ln>
        </p:spPr>
      </p:sp>
      <p:sp>
        <p:nvSpPr>
          <p:cNvPr id="12" name="Text 10"/>
          <p:cNvSpPr/>
          <p:nvPr/>
        </p:nvSpPr>
        <p:spPr>
          <a:xfrm>
            <a:off x="731520" y="2395728"/>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A</a:t>
            </a:r>
            <a:endParaRPr lang="en-US" sz="1300" dirty="0"/>
          </a:p>
        </p:txBody>
      </p:sp>
      <p:sp>
        <p:nvSpPr>
          <p:cNvPr id="13" name="Text 11"/>
          <p:cNvSpPr/>
          <p:nvPr/>
        </p:nvSpPr>
        <p:spPr>
          <a:xfrm>
            <a:off x="1234440" y="2249424"/>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Reimplementing a competitor's feature after studying how it works, in entirely original code.</a:t>
            </a:r>
            <a:endParaRPr lang="en-US" sz="1900" dirty="0"/>
          </a:p>
        </p:txBody>
      </p:sp>
      <p:sp>
        <p:nvSpPr>
          <p:cNvPr id="14" name="Shape 12"/>
          <p:cNvSpPr/>
          <p:nvPr/>
        </p:nvSpPr>
        <p:spPr>
          <a:xfrm>
            <a:off x="502920" y="2999232"/>
            <a:ext cx="11155680" cy="658368"/>
          </a:xfrm>
          <a:prstGeom prst="roundRect">
            <a:avLst>
              <a:gd name="adj" fmla="val 12500"/>
            </a:avLst>
          </a:prstGeom>
          <a:solidFill>
            <a:srgbClr val="FFFFFF"/>
          </a:solidFill>
          <a:ln w="12700">
            <a:solidFill>
              <a:srgbClr val="D8DDE6"/>
            </a:solidFill>
            <a:prstDash val="solid"/>
          </a:ln>
        </p:spPr>
      </p:sp>
      <p:sp>
        <p:nvSpPr>
          <p:cNvPr id="15" name="Shape 13"/>
          <p:cNvSpPr/>
          <p:nvPr/>
        </p:nvSpPr>
        <p:spPr>
          <a:xfrm>
            <a:off x="731520" y="3145536"/>
            <a:ext cx="365760" cy="365760"/>
          </a:xfrm>
          <a:prstGeom prst="ellipse">
            <a:avLst/>
          </a:prstGeom>
          <a:solidFill>
            <a:srgbClr val="F4F6FB"/>
          </a:solidFill>
          <a:ln w="12700">
            <a:solidFill>
              <a:srgbClr val="D8DDE6"/>
            </a:solidFill>
            <a:prstDash val="solid"/>
          </a:ln>
        </p:spPr>
      </p:sp>
      <p:sp>
        <p:nvSpPr>
          <p:cNvPr id="16" name="Text 14"/>
          <p:cNvSpPr/>
          <p:nvPr/>
        </p:nvSpPr>
        <p:spPr>
          <a:xfrm>
            <a:off x="731520" y="3145536"/>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B</a:t>
            </a:r>
            <a:endParaRPr lang="en-US" sz="1300" dirty="0"/>
          </a:p>
        </p:txBody>
      </p:sp>
      <p:sp>
        <p:nvSpPr>
          <p:cNvPr id="17" name="Text 15"/>
          <p:cNvSpPr/>
          <p:nvPr/>
        </p:nvSpPr>
        <p:spPr>
          <a:xfrm>
            <a:off x="1234440" y="2999232"/>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Storing 400 000 customer records unencrypted on a shared drive at a company with $9m turnover.</a:t>
            </a:r>
            <a:endParaRPr lang="en-US" sz="1900" dirty="0"/>
          </a:p>
        </p:txBody>
      </p:sp>
      <p:sp>
        <p:nvSpPr>
          <p:cNvPr id="18" name="Shape 16"/>
          <p:cNvSpPr/>
          <p:nvPr/>
        </p:nvSpPr>
        <p:spPr>
          <a:xfrm>
            <a:off x="502920" y="3749040"/>
            <a:ext cx="11155680" cy="658368"/>
          </a:xfrm>
          <a:prstGeom prst="roundRect">
            <a:avLst>
              <a:gd name="adj" fmla="val 12500"/>
            </a:avLst>
          </a:prstGeom>
          <a:solidFill>
            <a:srgbClr val="FFFFFF"/>
          </a:solidFill>
          <a:ln w="12700">
            <a:solidFill>
              <a:srgbClr val="D8DDE6"/>
            </a:solidFill>
            <a:prstDash val="solid"/>
          </a:ln>
        </p:spPr>
      </p:sp>
      <p:sp>
        <p:nvSpPr>
          <p:cNvPr id="19" name="Shape 17"/>
          <p:cNvSpPr/>
          <p:nvPr/>
        </p:nvSpPr>
        <p:spPr>
          <a:xfrm>
            <a:off x="731520" y="3895344"/>
            <a:ext cx="365760" cy="365760"/>
          </a:xfrm>
          <a:prstGeom prst="ellipse">
            <a:avLst/>
          </a:prstGeom>
          <a:solidFill>
            <a:srgbClr val="F4F6FB"/>
          </a:solidFill>
          <a:ln w="12700">
            <a:solidFill>
              <a:srgbClr val="D8DDE6"/>
            </a:solidFill>
            <a:prstDash val="solid"/>
          </a:ln>
        </p:spPr>
      </p:sp>
      <p:sp>
        <p:nvSpPr>
          <p:cNvPr id="20" name="Text 18"/>
          <p:cNvSpPr/>
          <p:nvPr/>
        </p:nvSpPr>
        <p:spPr>
          <a:xfrm>
            <a:off x="731520" y="3895344"/>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C</a:t>
            </a:r>
            <a:endParaRPr lang="en-US" sz="1300" dirty="0"/>
          </a:p>
        </p:txBody>
      </p:sp>
      <p:sp>
        <p:nvSpPr>
          <p:cNvPr id="21" name="Text 19"/>
          <p:cNvSpPr/>
          <p:nvPr/>
        </p:nvSpPr>
        <p:spPr>
          <a:xfrm>
            <a:off x="1234440" y="3749040"/>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Shipping an AI CV-screening tool trained on ten years of the company's own past hires.</a:t>
            </a:r>
            <a:endParaRPr lang="en-US" sz="1900" dirty="0"/>
          </a:p>
        </p:txBody>
      </p:sp>
      <p:sp>
        <p:nvSpPr>
          <p:cNvPr id="22" name="Shape 20"/>
          <p:cNvSpPr/>
          <p:nvPr/>
        </p:nvSpPr>
        <p:spPr>
          <a:xfrm>
            <a:off x="502920" y="4498848"/>
            <a:ext cx="11155680" cy="658368"/>
          </a:xfrm>
          <a:prstGeom prst="roundRect">
            <a:avLst>
              <a:gd name="adj" fmla="val 12500"/>
            </a:avLst>
          </a:prstGeom>
          <a:solidFill>
            <a:srgbClr val="FFFFFF"/>
          </a:solidFill>
          <a:ln w="12700">
            <a:solidFill>
              <a:srgbClr val="D8DDE6"/>
            </a:solidFill>
            <a:prstDash val="solid"/>
          </a:ln>
        </p:spPr>
      </p:sp>
      <p:sp>
        <p:nvSpPr>
          <p:cNvPr id="23" name="Shape 21"/>
          <p:cNvSpPr/>
          <p:nvPr/>
        </p:nvSpPr>
        <p:spPr>
          <a:xfrm>
            <a:off x="731520" y="4645152"/>
            <a:ext cx="365760" cy="365760"/>
          </a:xfrm>
          <a:prstGeom prst="ellipse">
            <a:avLst/>
          </a:prstGeom>
          <a:solidFill>
            <a:srgbClr val="F4F6FB"/>
          </a:solidFill>
          <a:ln w="12700">
            <a:solidFill>
              <a:srgbClr val="D8DDE6"/>
            </a:solidFill>
            <a:prstDash val="solid"/>
          </a:ln>
        </p:spPr>
      </p:sp>
      <p:sp>
        <p:nvSpPr>
          <p:cNvPr id="24" name="Text 22"/>
          <p:cNvSpPr/>
          <p:nvPr/>
        </p:nvSpPr>
        <p:spPr>
          <a:xfrm>
            <a:off x="731520" y="4645152"/>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D</a:t>
            </a:r>
            <a:endParaRPr lang="en-US" sz="1300" dirty="0"/>
          </a:p>
        </p:txBody>
      </p:sp>
      <p:sp>
        <p:nvSpPr>
          <p:cNvPr id="25" name="Text 23"/>
          <p:cNvSpPr/>
          <p:nvPr/>
        </p:nvSpPr>
        <p:spPr>
          <a:xfrm>
            <a:off x="1234440" y="4498848"/>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Keeping a dataset of user location history indefinitely, disclosed in the privacy policy, because it might be useful later.</a:t>
            </a:r>
            <a:endParaRPr lang="en-US" sz="1900" dirty="0"/>
          </a:p>
        </p:txBody>
      </p:sp>
      <p:sp>
        <p:nvSpPr>
          <p:cNvPr id="26" name="Shape 24"/>
          <p:cNvSpPr/>
          <p:nvPr/>
        </p:nvSpPr>
        <p:spPr>
          <a:xfrm>
            <a:off x="502920" y="5248656"/>
            <a:ext cx="11155680" cy="658368"/>
          </a:xfrm>
          <a:prstGeom prst="roundRect">
            <a:avLst>
              <a:gd name="adj" fmla="val 12500"/>
            </a:avLst>
          </a:prstGeom>
          <a:solidFill>
            <a:srgbClr val="FFFFFF"/>
          </a:solidFill>
          <a:ln w="12700">
            <a:solidFill>
              <a:srgbClr val="D8DDE6"/>
            </a:solidFill>
            <a:prstDash val="solid"/>
          </a:ln>
        </p:spPr>
      </p:sp>
      <p:sp>
        <p:nvSpPr>
          <p:cNvPr id="27" name="Shape 25"/>
          <p:cNvSpPr/>
          <p:nvPr/>
        </p:nvSpPr>
        <p:spPr>
          <a:xfrm>
            <a:off x="731520" y="5394960"/>
            <a:ext cx="365760" cy="365760"/>
          </a:xfrm>
          <a:prstGeom prst="ellipse">
            <a:avLst/>
          </a:prstGeom>
          <a:solidFill>
            <a:srgbClr val="F4F6FB"/>
          </a:solidFill>
          <a:ln w="12700">
            <a:solidFill>
              <a:srgbClr val="D8DDE6"/>
            </a:solidFill>
            <a:prstDash val="solid"/>
          </a:ln>
        </p:spPr>
      </p:sp>
      <p:sp>
        <p:nvSpPr>
          <p:cNvPr id="28" name="Text 26"/>
          <p:cNvSpPr/>
          <p:nvPr/>
        </p:nvSpPr>
        <p:spPr>
          <a:xfrm>
            <a:off x="731520" y="5394960"/>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E</a:t>
            </a:r>
            <a:endParaRPr lang="en-US" sz="1300" dirty="0"/>
          </a:p>
        </p:txBody>
      </p:sp>
      <p:sp>
        <p:nvSpPr>
          <p:cNvPr id="29" name="Text 27"/>
          <p:cNvSpPr/>
          <p:nvPr/>
        </p:nvSpPr>
        <p:spPr>
          <a:xfrm>
            <a:off x="1234440" y="5248656"/>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Using an AI coding assistant that suggests a function copied verbatim from a GPL-licensed project.</a:t>
            </a:r>
            <a:endParaRPr lang="en-US" sz="1900" dirty="0"/>
          </a:p>
        </p:txBody>
      </p:sp>
      <p:sp>
        <p:nvSpPr>
          <p:cNvPr id="30" name="Shape 28"/>
          <p:cNvSpPr/>
          <p:nvPr/>
        </p:nvSpPr>
        <p:spPr>
          <a:xfrm>
            <a:off x="502920" y="6044184"/>
            <a:ext cx="11155680" cy="502920"/>
          </a:xfrm>
          <a:prstGeom prst="roundRect">
            <a:avLst>
              <a:gd name="adj" fmla="val 16364"/>
            </a:avLst>
          </a:prstGeom>
          <a:solidFill>
            <a:srgbClr val="FEF3C7"/>
          </a:solidFill>
          <a:ln w="12700">
            <a:solidFill>
              <a:srgbClr val="F59E0B"/>
            </a:solidFill>
            <a:prstDash val="solid"/>
          </a:ln>
        </p:spPr>
      </p:sp>
      <p:sp>
        <p:nvSpPr>
          <p:cNvPr id="31" name="Text 29"/>
          <p:cNvSpPr/>
          <p:nvPr/>
        </p:nvSpPr>
        <p:spPr>
          <a:xfrm>
            <a:off x="822960" y="6044184"/>
            <a:ext cx="10515600" cy="50292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which one did your pair disagree about most — and what was the disagreement actually about?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Learning objective</a:t>
            </a:r>
            <a:endParaRPr lang="en-US" sz="3000" dirty="0"/>
          </a:p>
        </p:txBody>
      </p:sp>
      <p:sp>
        <p:nvSpPr>
          <p:cNvPr id="7" name="Shape 5"/>
          <p:cNvSpPr/>
          <p:nvPr/>
        </p:nvSpPr>
        <p:spPr>
          <a:xfrm>
            <a:off x="502920" y="1143000"/>
            <a:ext cx="11155680" cy="960120"/>
          </a:xfrm>
          <a:prstGeom prst="roundRect">
            <a:avLst>
              <a:gd name="adj" fmla="val 8571"/>
            </a:avLst>
          </a:prstGeom>
          <a:solidFill>
            <a:srgbClr val="EEF2FE"/>
          </a:solidFill>
          <a:ln w="12700">
            <a:solidFill>
              <a:srgbClr val="4361EE"/>
            </a:solidFill>
            <a:prstDash val="solid"/>
          </a:ln>
        </p:spPr>
      </p:sp>
      <p:sp>
        <p:nvSpPr>
          <p:cNvPr id="8" name="Text 6"/>
          <p:cNvSpPr/>
          <p:nvPr/>
        </p:nvSpPr>
        <p:spPr>
          <a:xfrm>
            <a:off x="777240" y="1143000"/>
            <a:ext cx="10607040" cy="960120"/>
          </a:xfrm>
          <a:prstGeom prst="rect">
            <a:avLst/>
          </a:prstGeom>
          <a:noFill/>
          <a:ln/>
        </p:spPr>
        <p:txBody>
          <a:bodyPr wrap="square" lIns="0" tIns="0" rIns="0" bIns="0" rtlCol="0" anchor="ctr"/>
          <a:lstStyle/>
          <a:p>
            <a:pPr indent="0" marL="0">
              <a:lnSpc>
                <a:spcPct val="110000"/>
              </a:lnSpc>
              <a:buNone/>
            </a:pPr>
            <a:r>
              <a:rPr lang="en-US" sz="2200" b="1" dirty="0">
                <a:solidFill>
                  <a:srgbClr val="111827"/>
                </a:solidFill>
                <a:latin typeface="Bookman Old Style" pitchFamily="34" charset="0"/>
                <a:ea typeface="Bookman Old Style" pitchFamily="34" charset="-122"/>
                <a:cs typeface="Bookman Old Style" pitchFamily="34" charset="-120"/>
              </a:rPr>
              <a:t>To be able to discuss the ethical issues that arise when developing software, and recommend strategies that improve an organisation's security practices.</a:t>
            </a:r>
            <a:endParaRPr lang="en-US" sz="2200" dirty="0"/>
          </a:p>
        </p:txBody>
      </p:sp>
      <p:sp>
        <p:nvSpPr>
          <p:cNvPr id="9" name="Text 7"/>
          <p:cNvSpPr/>
          <p:nvPr/>
        </p:nvSpPr>
        <p:spPr>
          <a:xfrm>
            <a:off x="502920" y="2240280"/>
            <a:ext cx="5486400" cy="365760"/>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Success criteria</a:t>
            </a:r>
            <a:endParaRPr lang="en-US" sz="2100" dirty="0"/>
          </a:p>
        </p:txBody>
      </p:sp>
      <p:sp>
        <p:nvSpPr>
          <p:cNvPr id="10" name="Shape 8"/>
          <p:cNvSpPr/>
          <p:nvPr/>
        </p:nvSpPr>
        <p:spPr>
          <a:xfrm>
            <a:off x="502920" y="2697480"/>
            <a:ext cx="3611880" cy="3063240"/>
          </a:xfrm>
          <a:prstGeom prst="roundRect">
            <a:avLst>
              <a:gd name="adj" fmla="val 2687"/>
            </a:avLst>
          </a:prstGeom>
          <a:solidFill>
            <a:srgbClr val="FFFFFF"/>
          </a:solidFill>
          <a:ln w="19050">
            <a:solidFill>
              <a:srgbClr val="10B981"/>
            </a:solidFill>
            <a:prstDash val="solid"/>
          </a:ln>
        </p:spPr>
      </p:sp>
      <p:sp>
        <p:nvSpPr>
          <p:cNvPr id="11" name="Shape 9"/>
          <p:cNvSpPr/>
          <p:nvPr/>
        </p:nvSpPr>
        <p:spPr>
          <a:xfrm>
            <a:off x="731520" y="2880360"/>
            <a:ext cx="1298448" cy="274320"/>
          </a:xfrm>
          <a:prstGeom prst="roundRect">
            <a:avLst>
              <a:gd name="adj" fmla="val 50000"/>
            </a:avLst>
          </a:prstGeom>
          <a:solidFill>
            <a:srgbClr val="10B981"/>
          </a:solidFill>
          <a:ln/>
        </p:spPr>
      </p:sp>
      <p:sp>
        <p:nvSpPr>
          <p:cNvPr id="12" name="Text 10"/>
          <p:cNvSpPr/>
          <p:nvPr/>
        </p:nvSpPr>
        <p:spPr>
          <a:xfrm>
            <a:off x="731520"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731520"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explain the difference between a legal issue and an ethical one.</a:t>
            </a:r>
            <a:endParaRPr lang="en-US" sz="1700" dirty="0"/>
          </a:p>
        </p:txBody>
      </p:sp>
      <p:sp>
        <p:nvSpPr>
          <p:cNvPr id="14" name="Shape 12"/>
          <p:cNvSpPr/>
          <p:nvPr/>
        </p:nvSpPr>
        <p:spPr>
          <a:xfrm>
            <a:off x="731520" y="4736592"/>
            <a:ext cx="3154680" cy="0"/>
          </a:xfrm>
          <a:prstGeom prst="line">
            <a:avLst/>
          </a:prstGeom>
          <a:noFill/>
          <a:ln w="12700">
            <a:solidFill>
              <a:srgbClr val="D8DDE6"/>
            </a:solidFill>
            <a:prstDash val="solid"/>
          </a:ln>
        </p:spPr>
      </p:sp>
      <p:sp>
        <p:nvSpPr>
          <p:cNvPr id="15" name="Text 13"/>
          <p:cNvSpPr/>
          <p:nvPr/>
        </p:nvSpPr>
        <p:spPr>
          <a:xfrm>
            <a:off x="731520"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name the four ethical issues and describe onboarding, training and risk management plans.</a:t>
            </a:r>
            <a:endParaRPr lang="en-US" sz="1600" dirty="0"/>
          </a:p>
        </p:txBody>
      </p:sp>
      <p:sp>
        <p:nvSpPr>
          <p:cNvPr id="16" name="Shape 14"/>
          <p:cNvSpPr/>
          <p:nvPr/>
        </p:nvSpPr>
        <p:spPr>
          <a:xfrm>
            <a:off x="4325112" y="2697480"/>
            <a:ext cx="3611880" cy="3063240"/>
          </a:xfrm>
          <a:prstGeom prst="roundRect">
            <a:avLst>
              <a:gd name="adj" fmla="val 2687"/>
            </a:avLst>
          </a:prstGeom>
          <a:solidFill>
            <a:srgbClr val="FFFFFF"/>
          </a:solidFill>
          <a:ln w="19050">
            <a:solidFill>
              <a:srgbClr val="F59E0B"/>
            </a:solidFill>
            <a:prstDash val="solid"/>
          </a:ln>
        </p:spPr>
      </p:sp>
      <p:sp>
        <p:nvSpPr>
          <p:cNvPr id="17" name="Shape 15"/>
          <p:cNvSpPr/>
          <p:nvPr/>
        </p:nvSpPr>
        <p:spPr>
          <a:xfrm>
            <a:off x="4553712" y="2880360"/>
            <a:ext cx="1298448" cy="274320"/>
          </a:xfrm>
          <a:prstGeom prst="roundRect">
            <a:avLst>
              <a:gd name="adj" fmla="val 50000"/>
            </a:avLst>
          </a:prstGeom>
          <a:solidFill>
            <a:srgbClr val="F59E0B"/>
          </a:solidFill>
          <a:ln/>
        </p:spPr>
      </p:sp>
      <p:sp>
        <p:nvSpPr>
          <p:cNvPr id="18" name="Text 16"/>
          <p:cNvSpPr/>
          <p:nvPr/>
        </p:nvSpPr>
        <p:spPr>
          <a:xfrm>
            <a:off x="4553712"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9" name="Text 17"/>
          <p:cNvSpPr/>
          <p:nvPr/>
        </p:nvSpPr>
        <p:spPr>
          <a:xfrm>
            <a:off x="4553712"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identify an ethical issue in a case study and explain who is harmed by it.</a:t>
            </a:r>
            <a:endParaRPr lang="en-US" sz="1700" dirty="0"/>
          </a:p>
        </p:txBody>
      </p:sp>
      <p:sp>
        <p:nvSpPr>
          <p:cNvPr id="20" name="Shape 18"/>
          <p:cNvSpPr/>
          <p:nvPr/>
        </p:nvSpPr>
        <p:spPr>
          <a:xfrm>
            <a:off x="4553712" y="4736592"/>
            <a:ext cx="3154680" cy="0"/>
          </a:xfrm>
          <a:prstGeom prst="line">
            <a:avLst/>
          </a:prstGeom>
          <a:noFill/>
          <a:ln w="12700">
            <a:solidFill>
              <a:srgbClr val="D8DDE6"/>
            </a:solidFill>
            <a:prstDash val="solid"/>
          </a:ln>
        </p:spPr>
      </p:sp>
      <p:sp>
        <p:nvSpPr>
          <p:cNvPr id="21" name="Text 19"/>
          <p:cNvSpPr/>
          <p:nvPr/>
        </p:nvSpPr>
        <p:spPr>
          <a:xfrm>
            <a:off x="4553712"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recommend improvement strategies and justify them against the organisation's constraints.</a:t>
            </a:r>
            <a:endParaRPr lang="en-US" sz="1600" dirty="0"/>
          </a:p>
        </p:txBody>
      </p:sp>
      <p:sp>
        <p:nvSpPr>
          <p:cNvPr id="22" name="Shape 20"/>
          <p:cNvSpPr/>
          <p:nvPr/>
        </p:nvSpPr>
        <p:spPr>
          <a:xfrm>
            <a:off x="8147304" y="2697480"/>
            <a:ext cx="3611880" cy="3063240"/>
          </a:xfrm>
          <a:prstGeom prst="roundRect">
            <a:avLst>
              <a:gd name="adj" fmla="val 2687"/>
            </a:avLst>
          </a:prstGeom>
          <a:solidFill>
            <a:srgbClr val="FFFFFF"/>
          </a:solidFill>
          <a:ln w="19050">
            <a:solidFill>
              <a:srgbClr val="8B5CF6"/>
            </a:solidFill>
            <a:prstDash val="solid"/>
          </a:ln>
        </p:spPr>
      </p:sp>
      <p:sp>
        <p:nvSpPr>
          <p:cNvPr id="23" name="Shape 21"/>
          <p:cNvSpPr/>
          <p:nvPr/>
        </p:nvSpPr>
        <p:spPr>
          <a:xfrm>
            <a:off x="8375904" y="2880360"/>
            <a:ext cx="1298448" cy="274320"/>
          </a:xfrm>
          <a:prstGeom prst="roundRect">
            <a:avLst>
              <a:gd name="adj" fmla="val 50000"/>
            </a:avLst>
          </a:prstGeom>
          <a:solidFill>
            <a:srgbClr val="8B5CF6"/>
          </a:solidFill>
          <a:ln/>
        </p:spPr>
      </p:sp>
      <p:sp>
        <p:nvSpPr>
          <p:cNvPr id="24" name="Text 22"/>
          <p:cNvSpPr/>
          <p:nvPr/>
        </p:nvSpPr>
        <p:spPr>
          <a:xfrm>
            <a:off x="8375904"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5" name="Text 23"/>
          <p:cNvSpPr/>
          <p:nvPr/>
        </p:nvSpPr>
        <p:spPr>
          <a:xfrm>
            <a:off x="8375904"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argue a position on an ethical dilemma where the law gives no clear answer.</a:t>
            </a:r>
            <a:endParaRPr lang="en-US" sz="1700" dirty="0"/>
          </a:p>
        </p:txBody>
      </p:sp>
      <p:sp>
        <p:nvSpPr>
          <p:cNvPr id="26" name="Shape 24"/>
          <p:cNvSpPr/>
          <p:nvPr/>
        </p:nvSpPr>
        <p:spPr>
          <a:xfrm>
            <a:off x="8375904" y="4736592"/>
            <a:ext cx="3154680" cy="0"/>
          </a:xfrm>
          <a:prstGeom prst="line">
            <a:avLst/>
          </a:prstGeom>
          <a:noFill/>
          <a:ln w="12700">
            <a:solidFill>
              <a:srgbClr val="D8DDE6"/>
            </a:solidFill>
            <a:prstDash val="solid"/>
          </a:ln>
        </p:spPr>
      </p:sp>
      <p:sp>
        <p:nvSpPr>
          <p:cNvPr id="27" name="Text 25"/>
          <p:cNvSpPr/>
          <p:nvPr/>
        </p:nvSpPr>
        <p:spPr>
          <a:xfrm>
            <a:off x="8375904"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rate a risk on a probability matrix and defend the rating and the action it implies.</a:t>
            </a:r>
            <a:endParaRPr lang="en-US" sz="1600" dirty="0"/>
          </a:p>
        </p:txBody>
      </p:sp>
      <p:sp>
        <p:nvSpPr>
          <p:cNvPr id="28" name="Text 26"/>
          <p:cNvSpPr/>
          <p:nvPr/>
        </p:nvSpPr>
        <p:spPr>
          <a:xfrm>
            <a:off x="502920" y="6355080"/>
            <a:ext cx="11155680" cy="274320"/>
          </a:xfrm>
          <a:prstGeom prst="rect">
            <a:avLst/>
          </a:prstGeom>
          <a:noFill/>
          <a:ln/>
        </p:spPr>
        <p:txBody>
          <a:bodyPr wrap="square" lIns="0" tIns="0" rIns="0" bIns="0" rtlCol="0" anchor="ctr"/>
          <a:lstStyle/>
          <a:p>
            <a:pPr indent="0" marL="0">
              <a:buNone/>
            </a:pPr>
            <a:r>
              <a:rPr lang="en-US" sz="1100" dirty="0">
                <a:solidFill>
                  <a:srgbClr val="5B6472"/>
                </a:solidFill>
                <a:latin typeface="Courier New" pitchFamily="34" charset="0"/>
                <a:ea typeface="Courier New" pitchFamily="34" charset="-122"/>
                <a:cs typeface="Courier New" pitchFamily="34" charset="-120"/>
              </a:rPr>
              <a:t>You will self-assess against these criteria on the exit ticket.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Retrieval — legislation and frameworks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Cold call · no notes · 4 minutes · the numbers matter</a:t>
            </a:r>
            <a:endParaRPr lang="en-US" sz="1500" dirty="0"/>
          </a:p>
        </p:txBody>
      </p:sp>
      <p:sp>
        <p:nvSpPr>
          <p:cNvPr id="8" name="Shape 6"/>
          <p:cNvSpPr/>
          <p:nvPr/>
        </p:nvSpPr>
        <p:spPr>
          <a:xfrm>
            <a:off x="502920" y="1417320"/>
            <a:ext cx="11155680" cy="914400"/>
          </a:xfrm>
          <a:prstGeom prst="roundRect">
            <a:avLst>
              <a:gd name="adj" fmla="val 9000"/>
            </a:avLst>
          </a:prstGeom>
          <a:solidFill>
            <a:srgbClr val="FFFFFF"/>
          </a:solidFill>
          <a:ln w="12700">
            <a:solidFill>
              <a:srgbClr val="D8DDE6"/>
            </a:solidFill>
            <a:prstDash val="solid"/>
          </a:ln>
        </p:spPr>
      </p:sp>
      <p:sp>
        <p:nvSpPr>
          <p:cNvPr id="9" name="Shape 7"/>
          <p:cNvSpPr/>
          <p:nvPr/>
        </p:nvSpPr>
        <p:spPr>
          <a:xfrm>
            <a:off x="758952" y="1636776"/>
            <a:ext cx="475488" cy="475488"/>
          </a:xfrm>
          <a:prstGeom prst="ellipse">
            <a:avLst/>
          </a:prstGeom>
          <a:solidFill>
            <a:srgbClr val="4361EE"/>
          </a:solidFill>
          <a:ln/>
        </p:spPr>
      </p:sp>
      <p:sp>
        <p:nvSpPr>
          <p:cNvPr id="10" name="Text 8"/>
          <p:cNvSpPr/>
          <p:nvPr/>
        </p:nvSpPr>
        <p:spPr>
          <a:xfrm>
            <a:off x="758952" y="1636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What does APP 11 require? What does its Victorian equivalent require, and what is it called?</a:t>
            </a:r>
            <a:endParaRPr lang="en-US" sz="1800" dirty="0"/>
          </a:p>
        </p:txBody>
      </p:sp>
      <p:sp>
        <p:nvSpPr>
          <p:cNvPr id="12" name="Shape 10"/>
          <p:cNvSpPr/>
          <p:nvPr/>
        </p:nvSpPr>
        <p:spPr>
          <a:xfrm>
            <a:off x="502920" y="2423160"/>
            <a:ext cx="11155680" cy="914400"/>
          </a:xfrm>
          <a:prstGeom prst="roundRect">
            <a:avLst>
              <a:gd name="adj" fmla="val 9000"/>
            </a:avLst>
          </a:prstGeom>
          <a:solidFill>
            <a:srgbClr val="FFFFFF"/>
          </a:solidFill>
          <a:ln w="12700">
            <a:solidFill>
              <a:srgbClr val="D8DDE6"/>
            </a:solidFill>
            <a:prstDash val="solid"/>
          </a:ln>
        </p:spPr>
      </p:sp>
      <p:sp>
        <p:nvSpPr>
          <p:cNvPr id="13" name="Shape 11"/>
          <p:cNvSpPr/>
          <p:nvPr/>
        </p:nvSpPr>
        <p:spPr>
          <a:xfrm>
            <a:off x="758952" y="2642616"/>
            <a:ext cx="475488" cy="475488"/>
          </a:xfrm>
          <a:prstGeom prst="ellipse">
            <a:avLst/>
          </a:prstGeom>
          <a:solidFill>
            <a:srgbClr val="4361EE"/>
          </a:solidFill>
          <a:ln/>
        </p:spPr>
      </p:sp>
      <p:sp>
        <p:nvSpPr>
          <p:cNvPr id="14" name="Text 12"/>
          <p:cNvSpPr/>
          <p:nvPr/>
        </p:nvSpPr>
        <p:spPr>
          <a:xfrm>
            <a:off x="758952" y="264261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42316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four of the Essential Eight.</a:t>
            </a:r>
            <a:endParaRPr lang="en-US" sz="1800" dirty="0"/>
          </a:p>
        </p:txBody>
      </p:sp>
      <p:sp>
        <p:nvSpPr>
          <p:cNvPr id="16" name="Shape 14"/>
          <p:cNvSpPr/>
          <p:nvPr/>
        </p:nvSpPr>
        <p:spPr>
          <a:xfrm>
            <a:off x="502920" y="3429000"/>
            <a:ext cx="11155680" cy="914400"/>
          </a:xfrm>
          <a:prstGeom prst="roundRect">
            <a:avLst>
              <a:gd name="adj" fmla="val 9000"/>
            </a:avLst>
          </a:prstGeom>
          <a:solidFill>
            <a:srgbClr val="FFFFFF"/>
          </a:solidFill>
          <a:ln w="12700">
            <a:solidFill>
              <a:srgbClr val="D8DDE6"/>
            </a:solidFill>
            <a:prstDash val="solid"/>
          </a:ln>
        </p:spPr>
      </p:sp>
      <p:sp>
        <p:nvSpPr>
          <p:cNvPr id="17" name="Shape 15"/>
          <p:cNvSpPr/>
          <p:nvPr/>
        </p:nvSpPr>
        <p:spPr>
          <a:xfrm>
            <a:off x="758952" y="3648456"/>
            <a:ext cx="475488" cy="475488"/>
          </a:xfrm>
          <a:prstGeom prst="ellipse">
            <a:avLst/>
          </a:prstGeom>
          <a:solidFill>
            <a:srgbClr val="4361EE"/>
          </a:solidFill>
          <a:ln/>
        </p:spPr>
      </p:sp>
      <p:sp>
        <p:nvSpPr>
          <p:cNvPr id="18" name="Text 16"/>
          <p:cNvSpPr/>
          <p:nvPr/>
        </p:nvSpPr>
        <p:spPr>
          <a:xfrm>
            <a:off x="758952" y="36484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42900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A private company with $9m turnover sends customer data to a server in Singapore. Which principle is engaged?</a:t>
            </a:r>
            <a:endParaRPr lang="en-US" sz="1800" dirty="0"/>
          </a:p>
        </p:txBody>
      </p:sp>
      <p:sp>
        <p:nvSpPr>
          <p:cNvPr id="20" name="Shape 18"/>
          <p:cNvSpPr/>
          <p:nvPr/>
        </p:nvSpPr>
        <p:spPr>
          <a:xfrm>
            <a:off x="502920" y="4434840"/>
            <a:ext cx="11155680" cy="914400"/>
          </a:xfrm>
          <a:prstGeom prst="roundRect">
            <a:avLst>
              <a:gd name="adj" fmla="val 9000"/>
            </a:avLst>
          </a:prstGeom>
          <a:solidFill>
            <a:srgbClr val="FFFFFF"/>
          </a:solidFill>
          <a:ln w="12700">
            <a:solidFill>
              <a:srgbClr val="D8DDE6"/>
            </a:solidFill>
            <a:prstDash val="solid"/>
          </a:ln>
        </p:spPr>
      </p:sp>
      <p:sp>
        <p:nvSpPr>
          <p:cNvPr id="21" name="Shape 19"/>
          <p:cNvSpPr/>
          <p:nvPr/>
        </p:nvSpPr>
        <p:spPr>
          <a:xfrm>
            <a:off x="758952" y="4654296"/>
            <a:ext cx="475488" cy="475488"/>
          </a:xfrm>
          <a:prstGeom prst="ellipse">
            <a:avLst/>
          </a:prstGeom>
          <a:solidFill>
            <a:srgbClr val="4361EE"/>
          </a:solidFill>
          <a:ln/>
        </p:spPr>
      </p:sp>
      <p:sp>
        <p:nvSpPr>
          <p:cNvPr id="22" name="Text 20"/>
          <p:cNvSpPr/>
          <p:nvPr/>
        </p:nvSpPr>
        <p:spPr>
          <a:xfrm>
            <a:off x="758952" y="46542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43484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the ISM's four activities in order.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Ethics and law are different things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distinction the whole first half of this lesson rests on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44752"/>
            <a:ext cx="11155680" cy="998982"/>
          </a:xfrm>
          <a:prstGeom prst="roundRect">
            <a:avLst>
              <a:gd name="adj" fmla="val 8238"/>
            </a:avLst>
          </a:prstGeom>
          <a:solidFill>
            <a:srgbClr val="FFFFFF"/>
          </a:solidFill>
          <a:ln w="16510">
            <a:solidFill>
              <a:srgbClr val="4361EE"/>
            </a:solidFill>
            <a:prstDash val="solid"/>
          </a:ln>
        </p:spPr>
      </p:sp>
      <p:sp>
        <p:nvSpPr>
          <p:cNvPr id="11" name="Shape 9"/>
          <p:cNvSpPr/>
          <p:nvPr/>
        </p:nvSpPr>
        <p:spPr>
          <a:xfrm>
            <a:off x="731520" y="1752219"/>
            <a:ext cx="2148840" cy="384048"/>
          </a:xfrm>
          <a:prstGeom prst="roundRect">
            <a:avLst>
              <a:gd name="adj" fmla="val 50000"/>
            </a:avLst>
          </a:prstGeom>
          <a:solidFill>
            <a:srgbClr val="4361EE"/>
          </a:solidFill>
          <a:ln/>
        </p:spPr>
      </p:sp>
      <p:sp>
        <p:nvSpPr>
          <p:cNvPr id="12" name="Text 10"/>
          <p:cNvSpPr/>
          <p:nvPr/>
        </p:nvSpPr>
        <p:spPr>
          <a:xfrm>
            <a:off x="731520" y="1752219"/>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ETHICS</a:t>
            </a:r>
            <a:endParaRPr lang="en-US" sz="1100" dirty="0"/>
          </a:p>
        </p:txBody>
      </p:sp>
      <p:sp>
        <p:nvSpPr>
          <p:cNvPr id="13" name="Text 11"/>
          <p:cNvSpPr/>
          <p:nvPr/>
        </p:nvSpPr>
        <p:spPr>
          <a:xfrm>
            <a:off x="3063240" y="1444752"/>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Behaving in ways based on our morals and accepted standards — shared by a society, or specific to one organisation. They apply to questionable conduct over and above any legal requirement.</a:t>
            </a:r>
            <a:endParaRPr lang="en-US" sz="1900" dirty="0"/>
          </a:p>
        </p:txBody>
      </p:sp>
      <p:sp>
        <p:nvSpPr>
          <p:cNvPr id="14" name="Shape 12"/>
          <p:cNvSpPr/>
          <p:nvPr/>
        </p:nvSpPr>
        <p:spPr>
          <a:xfrm>
            <a:off x="502920" y="2535174"/>
            <a:ext cx="11155680" cy="998982"/>
          </a:xfrm>
          <a:prstGeom prst="roundRect">
            <a:avLst>
              <a:gd name="adj" fmla="val 8238"/>
            </a:avLst>
          </a:prstGeom>
          <a:solidFill>
            <a:srgbClr val="FFFFFF"/>
          </a:solidFill>
          <a:ln w="16510">
            <a:solidFill>
              <a:srgbClr val="10B981"/>
            </a:solidFill>
            <a:prstDash val="solid"/>
          </a:ln>
        </p:spPr>
      </p:sp>
      <p:sp>
        <p:nvSpPr>
          <p:cNvPr id="15" name="Shape 13"/>
          <p:cNvSpPr/>
          <p:nvPr/>
        </p:nvSpPr>
        <p:spPr>
          <a:xfrm>
            <a:off x="731520" y="2842641"/>
            <a:ext cx="2148840" cy="384048"/>
          </a:xfrm>
          <a:prstGeom prst="roundRect">
            <a:avLst>
              <a:gd name="adj" fmla="val 50000"/>
            </a:avLst>
          </a:prstGeom>
          <a:solidFill>
            <a:srgbClr val="10B981"/>
          </a:solidFill>
          <a:ln/>
        </p:spPr>
      </p:sp>
      <p:sp>
        <p:nvSpPr>
          <p:cNvPr id="16" name="Text 14"/>
          <p:cNvSpPr/>
          <p:nvPr/>
        </p:nvSpPr>
        <p:spPr>
          <a:xfrm>
            <a:off x="731520" y="2842641"/>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SCOPE</a:t>
            </a:r>
            <a:endParaRPr lang="en-US" sz="1100" dirty="0"/>
          </a:p>
        </p:txBody>
      </p:sp>
      <p:sp>
        <p:nvSpPr>
          <p:cNvPr id="17" name="Text 15"/>
          <p:cNvSpPr/>
          <p:nvPr/>
        </p:nvSpPr>
        <p:spPr>
          <a:xfrm>
            <a:off x="3063240" y="2535174"/>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An ethical principle is broader than a law. A law applies to certain circumstances; the principle behind it applies generally.</a:t>
            </a:r>
            <a:endParaRPr lang="en-US" sz="1900" dirty="0"/>
          </a:p>
        </p:txBody>
      </p:sp>
      <p:sp>
        <p:nvSpPr>
          <p:cNvPr id="18" name="Shape 16"/>
          <p:cNvSpPr/>
          <p:nvPr/>
        </p:nvSpPr>
        <p:spPr>
          <a:xfrm>
            <a:off x="502920" y="3625596"/>
            <a:ext cx="11155680" cy="998982"/>
          </a:xfrm>
          <a:prstGeom prst="roundRect">
            <a:avLst>
              <a:gd name="adj" fmla="val 8238"/>
            </a:avLst>
          </a:prstGeom>
          <a:solidFill>
            <a:srgbClr val="FFFFFF"/>
          </a:solidFill>
          <a:ln w="16510">
            <a:solidFill>
              <a:srgbClr val="F59E0B"/>
            </a:solidFill>
            <a:prstDash val="solid"/>
          </a:ln>
        </p:spPr>
      </p:sp>
      <p:sp>
        <p:nvSpPr>
          <p:cNvPr id="19" name="Shape 17"/>
          <p:cNvSpPr/>
          <p:nvPr/>
        </p:nvSpPr>
        <p:spPr>
          <a:xfrm>
            <a:off x="731520" y="3933063"/>
            <a:ext cx="2148840" cy="384048"/>
          </a:xfrm>
          <a:prstGeom prst="roundRect">
            <a:avLst>
              <a:gd name="adj" fmla="val 50000"/>
            </a:avLst>
          </a:prstGeom>
          <a:solidFill>
            <a:srgbClr val="F59E0B"/>
          </a:solidFill>
          <a:ln/>
        </p:spPr>
      </p:sp>
      <p:sp>
        <p:nvSpPr>
          <p:cNvPr id="20" name="Text 18"/>
          <p:cNvSpPr/>
          <p:nvPr/>
        </p:nvSpPr>
        <p:spPr>
          <a:xfrm>
            <a:off x="731520" y="3933063"/>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CONSEQUENCE</a:t>
            </a:r>
            <a:endParaRPr lang="en-US" sz="1100" dirty="0"/>
          </a:p>
        </p:txBody>
      </p:sp>
      <p:sp>
        <p:nvSpPr>
          <p:cNvPr id="21" name="Text 19"/>
          <p:cNvSpPr/>
          <p:nvPr/>
        </p:nvSpPr>
        <p:spPr>
          <a:xfrm>
            <a:off x="3063240" y="3625596"/>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Ignoring ethics is not necessarily a crime. It can still end a career, a contract or a company's reputation — and none of those need a court.</a:t>
            </a:r>
            <a:endParaRPr lang="en-US" sz="1900" dirty="0"/>
          </a:p>
        </p:txBody>
      </p:sp>
      <p:sp>
        <p:nvSpPr>
          <p:cNvPr id="22" name="Shape 20"/>
          <p:cNvSpPr/>
          <p:nvPr/>
        </p:nvSpPr>
        <p:spPr>
          <a:xfrm>
            <a:off x="502920" y="4716018"/>
            <a:ext cx="11155680" cy="998982"/>
          </a:xfrm>
          <a:prstGeom prst="roundRect">
            <a:avLst>
              <a:gd name="adj" fmla="val 8238"/>
            </a:avLst>
          </a:prstGeom>
          <a:solidFill>
            <a:srgbClr val="FFFFFF"/>
          </a:solidFill>
          <a:ln w="16510">
            <a:solidFill>
              <a:srgbClr val="8B5CF6"/>
            </a:solidFill>
            <a:prstDash val="solid"/>
          </a:ln>
        </p:spPr>
      </p:sp>
      <p:sp>
        <p:nvSpPr>
          <p:cNvPr id="23" name="Shape 21"/>
          <p:cNvSpPr/>
          <p:nvPr/>
        </p:nvSpPr>
        <p:spPr>
          <a:xfrm>
            <a:off x="731520" y="5023485"/>
            <a:ext cx="2148840" cy="384048"/>
          </a:xfrm>
          <a:prstGeom prst="roundRect">
            <a:avLst>
              <a:gd name="adj" fmla="val 50000"/>
            </a:avLst>
          </a:prstGeom>
          <a:solidFill>
            <a:srgbClr val="8B5CF6"/>
          </a:solidFill>
          <a:ln/>
        </p:spPr>
      </p:sp>
      <p:sp>
        <p:nvSpPr>
          <p:cNvPr id="24" name="Text 22"/>
          <p:cNvSpPr/>
          <p:nvPr/>
        </p:nvSpPr>
        <p:spPr>
          <a:xfrm>
            <a:off x="731520" y="5023485"/>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THE TEST</a:t>
            </a:r>
            <a:endParaRPr lang="en-US" sz="1100" dirty="0"/>
          </a:p>
        </p:txBody>
      </p:sp>
      <p:sp>
        <p:nvSpPr>
          <p:cNvPr id="25" name="Text 23"/>
          <p:cNvSpPr/>
          <p:nvPr/>
        </p:nvSpPr>
        <p:spPr>
          <a:xfrm>
            <a:off x="3063240" y="4716018"/>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"I have done nothing illegal" and "what you did was wrong" can both be true at the same time. If both are true, you have found an ethical issue.</a:t>
            </a:r>
            <a:endParaRPr lang="en-US" sz="1900" dirty="0"/>
          </a:p>
        </p:txBody>
      </p:sp>
      <p:sp>
        <p:nvSpPr>
          <p:cNvPr id="26" name="Shape 24"/>
          <p:cNvSpPr/>
          <p:nvPr/>
        </p:nvSpPr>
        <p:spPr>
          <a:xfrm>
            <a:off x="502920" y="5861304"/>
            <a:ext cx="11155680" cy="777240"/>
          </a:xfrm>
          <a:prstGeom prst="roundRect">
            <a:avLst>
              <a:gd name="adj" fmla="val 10588"/>
            </a:avLst>
          </a:prstGeom>
          <a:solidFill>
            <a:srgbClr val="EEF2FE"/>
          </a:solidFill>
          <a:ln w="12700">
            <a:solidFill>
              <a:srgbClr val="4361EE"/>
            </a:solidFill>
            <a:prstDash val="solid"/>
          </a:ln>
        </p:spPr>
      </p:sp>
      <p:sp>
        <p:nvSpPr>
          <p:cNvPr id="27" name="Text 25"/>
          <p:cNvSpPr/>
          <p:nvPr/>
        </p:nvSpPr>
        <p:spPr>
          <a:xfrm>
            <a:off x="822960" y="5861304"/>
            <a:ext cx="10515600" cy="777240"/>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In a SAC answer, deal with the legal issue and the ethical issue separately. Merging them loses the marks for both.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Why legal remedies are often unavailable in practice</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Even where a law exists, it may not help the person harmed</a:t>
            </a:r>
            <a:endParaRPr lang="en-US" sz="1500" dirty="0"/>
          </a:p>
        </p:txBody>
      </p:sp>
      <p:sp>
        <p:nvSpPr>
          <p:cNvPr id="8" name="Shape 6"/>
          <p:cNvSpPr/>
          <p:nvPr/>
        </p:nvSpPr>
        <p:spPr>
          <a:xfrm>
            <a:off x="502920" y="1417320"/>
            <a:ext cx="11155680" cy="4343400"/>
          </a:xfrm>
          <a:prstGeom prst="roundRect">
            <a:avLst>
              <a:gd name="adj" fmla="val 1895"/>
            </a:avLst>
          </a:prstGeom>
          <a:solidFill>
            <a:srgbClr val="FFFFFF"/>
          </a:solidFill>
          <a:ln w="12700">
            <a:solidFill>
              <a:srgbClr val="F59E0B"/>
            </a:solidFill>
            <a:prstDash val="solid"/>
          </a:ln>
        </p:spPr>
      </p:sp>
      <p:sp>
        <p:nvSpPr>
          <p:cNvPr id="9" name="Text 7"/>
          <p:cNvSpPr/>
          <p:nvPr/>
        </p:nvSpPr>
        <p:spPr>
          <a:xfrm>
            <a:off x="914400" y="1645920"/>
            <a:ext cx="10332720" cy="3886200"/>
          </a:xfrm>
          <a:prstGeom prst="rect">
            <a:avLst/>
          </a:prstGeom>
          <a:noFill/>
          <a:ln/>
        </p:spPr>
        <p:txBody>
          <a:bodyPr wrap="square" lIns="0" tIns="0" rIns="0" bIns="0" rtlCol="0" anchor="t"/>
          <a:lstStyle/>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Legislation may give no clear guidance on the situation — the conduct is novel and nobody drafted for it.</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The cost and the time of obtaining an enforceable judgment can be prohibitive for an individual.</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Social media moves faster than any legal process, so harm is complete before a remedy is available.</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Crossing legal jurisdictions is trivial online, which has made many older laws ineffective — including provisions of the Privacy Act 1988 that have not kept pace with the digital environment.</a:t>
            </a:r>
            <a:endParaRPr lang="en-US" sz="1800" dirty="0"/>
          </a:p>
        </p:txBody>
      </p:sp>
      <p:sp>
        <p:nvSpPr>
          <p:cNvPr id="10" name="Shape 8"/>
          <p:cNvSpPr/>
          <p:nvPr/>
        </p:nvSpPr>
        <p:spPr>
          <a:xfrm>
            <a:off x="502920" y="5897880"/>
            <a:ext cx="11155680" cy="566928"/>
          </a:xfrm>
          <a:prstGeom prst="roundRect">
            <a:avLst>
              <a:gd name="adj" fmla="val 14516"/>
            </a:avLst>
          </a:prstGeom>
          <a:solidFill>
            <a:srgbClr val="EEF2FE"/>
          </a:solidFill>
          <a:ln w="12700">
            <a:solidFill>
              <a:srgbClr val="4361EE"/>
            </a:solidFill>
            <a:prstDash val="solid"/>
          </a:ln>
        </p:spPr>
      </p:sp>
      <p:sp>
        <p:nvSpPr>
          <p:cNvPr id="11" name="Text 9"/>
          <p:cNvSpPr/>
          <p:nvPr/>
        </p:nvSpPr>
        <p:spPr>
          <a:xfrm>
            <a:off x="822960" y="5897880"/>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This is the argument for ethics as a professional obligation rather than a nice-to-have: for many harms, it is the only thing standing in the way.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Ethical issue 1 — ineffective security practices</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first of the four issues named in the study design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170432"/>
          </a:xfrm>
          <a:prstGeom prst="roundRect">
            <a:avLst>
              <a:gd name="adj" fmla="val 7031"/>
            </a:avLst>
          </a:prstGeom>
          <a:solidFill>
            <a:srgbClr val="FFFFFF"/>
          </a:solidFill>
          <a:ln w="15240">
            <a:solidFill>
              <a:srgbClr val="EF4444"/>
            </a:solidFill>
            <a:prstDash val="solid"/>
          </a:ln>
        </p:spPr>
      </p:sp>
      <p:sp>
        <p:nvSpPr>
          <p:cNvPr id="11" name="Shape 9"/>
          <p:cNvSpPr/>
          <p:nvPr/>
        </p:nvSpPr>
        <p:spPr>
          <a:xfrm>
            <a:off x="731520" y="1819656"/>
            <a:ext cx="457200" cy="457200"/>
          </a:xfrm>
          <a:prstGeom prst="ellipse">
            <a:avLst/>
          </a:prstGeom>
          <a:solidFill>
            <a:srgbClr val="EF4444"/>
          </a:solidFill>
          <a:ln/>
        </p:spPr>
      </p:sp>
      <p:sp>
        <p:nvSpPr>
          <p:cNvPr id="12" name="Text 10"/>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Who carries the harm</a:t>
            </a:r>
            <a:endParaRPr lang="en-US" sz="1900" dirty="0"/>
          </a:p>
        </p:txBody>
      </p:sp>
      <p:sp>
        <p:nvSpPr>
          <p:cNvPr id="14" name="Text 12"/>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Users exposed to data breaches, identity theft and loss of privacy — people who had no say in how the software was built and no way of knowing the risk they were carrying.</a:t>
            </a:r>
            <a:endParaRPr lang="en-US" sz="1650" dirty="0"/>
          </a:p>
        </p:txBody>
      </p:sp>
      <p:sp>
        <p:nvSpPr>
          <p:cNvPr id="15" name="Shape 13"/>
          <p:cNvSpPr/>
          <p:nvPr/>
        </p:nvSpPr>
        <p:spPr>
          <a:xfrm>
            <a:off x="502920" y="2734056"/>
            <a:ext cx="11155680" cy="1170432"/>
          </a:xfrm>
          <a:prstGeom prst="roundRect">
            <a:avLst>
              <a:gd name="adj" fmla="val 7031"/>
            </a:avLst>
          </a:prstGeom>
          <a:solidFill>
            <a:srgbClr val="FFFFFF"/>
          </a:solidFill>
          <a:ln w="15240">
            <a:solidFill>
              <a:srgbClr val="EF4444"/>
            </a:solidFill>
            <a:prstDash val="solid"/>
          </a:ln>
        </p:spPr>
      </p:sp>
      <p:sp>
        <p:nvSpPr>
          <p:cNvPr id="16" name="Shape 14"/>
          <p:cNvSpPr/>
          <p:nvPr/>
        </p:nvSpPr>
        <p:spPr>
          <a:xfrm>
            <a:off x="731520" y="3090672"/>
            <a:ext cx="457200" cy="457200"/>
          </a:xfrm>
          <a:prstGeom prst="ellipse">
            <a:avLst/>
          </a:prstGeom>
          <a:solidFill>
            <a:srgbClr val="EF4444"/>
          </a:solidFill>
          <a:ln/>
        </p:spPr>
      </p:sp>
      <p:sp>
        <p:nvSpPr>
          <p:cNvPr id="17" name="Text 15"/>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obligation is not only legal</a:t>
            </a:r>
            <a:endParaRPr lang="en-US" sz="1900" dirty="0"/>
          </a:p>
        </p:txBody>
      </p:sp>
      <p:sp>
        <p:nvSpPr>
          <p:cNvPr id="19" name="Text 17"/>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Regardless of what the law requires, developers have an ethical responsibility to protect users' sensitive information and maintain the integrity and confidentiality of their data.</a:t>
            </a:r>
            <a:endParaRPr lang="en-US" sz="1650" dirty="0"/>
          </a:p>
        </p:txBody>
      </p:sp>
      <p:sp>
        <p:nvSpPr>
          <p:cNvPr id="20" name="Shape 18"/>
          <p:cNvSpPr/>
          <p:nvPr/>
        </p:nvSpPr>
        <p:spPr>
          <a:xfrm>
            <a:off x="502920" y="4005072"/>
            <a:ext cx="11155680" cy="1170432"/>
          </a:xfrm>
          <a:prstGeom prst="roundRect">
            <a:avLst>
              <a:gd name="adj" fmla="val 7031"/>
            </a:avLst>
          </a:prstGeom>
          <a:solidFill>
            <a:srgbClr val="FFFFFF"/>
          </a:solidFill>
          <a:ln w="15240">
            <a:solidFill>
              <a:srgbClr val="EF4444"/>
            </a:solidFill>
            <a:prstDash val="solid"/>
          </a:ln>
        </p:spPr>
      </p:sp>
      <p:sp>
        <p:nvSpPr>
          <p:cNvPr id="21" name="Shape 19"/>
          <p:cNvSpPr/>
          <p:nvPr/>
        </p:nvSpPr>
        <p:spPr>
          <a:xfrm>
            <a:off x="731520" y="4361688"/>
            <a:ext cx="457200" cy="457200"/>
          </a:xfrm>
          <a:prstGeom prst="ellipse">
            <a:avLst/>
          </a:prstGeom>
          <a:solidFill>
            <a:srgbClr val="EF4444"/>
          </a:solidFill>
          <a:ln/>
        </p:spPr>
      </p:sp>
      <p:sp>
        <p:nvSpPr>
          <p:cNvPr id="22" name="Text 20"/>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damage spreads</a:t>
            </a:r>
            <a:endParaRPr lang="en-US" sz="1900" dirty="0"/>
          </a:p>
        </p:txBody>
      </p:sp>
      <p:sp>
        <p:nvSpPr>
          <p:cNvPr id="24" name="Text 22"/>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Failing breaks users' trust and erodes public confidence in technology generally — not just in the one company that failed.</a:t>
            </a:r>
            <a:endParaRPr lang="en-US" sz="1650" dirty="0"/>
          </a:p>
        </p:txBody>
      </p:sp>
      <p:sp>
        <p:nvSpPr>
          <p:cNvPr id="25" name="Shape 23"/>
          <p:cNvSpPr/>
          <p:nvPr/>
        </p:nvSpPr>
        <p:spPr>
          <a:xfrm>
            <a:off x="502920" y="5330952"/>
            <a:ext cx="11155680" cy="566928"/>
          </a:xfrm>
          <a:prstGeom prst="roundRect">
            <a:avLst>
              <a:gd name="adj" fmla="val 14516"/>
            </a:avLst>
          </a:prstGeom>
          <a:solidFill>
            <a:srgbClr val="FDE2E2"/>
          </a:solidFill>
          <a:ln w="12700">
            <a:solidFill>
              <a:srgbClr val="EF4444"/>
            </a:solidFill>
            <a:prstDash val="solid"/>
          </a:ln>
        </p:spPr>
      </p:sp>
      <p:sp>
        <p:nvSpPr>
          <p:cNvPr id="26" name="Text 24"/>
          <p:cNvSpPr/>
          <p:nvPr/>
        </p:nvSpPr>
        <p:spPr>
          <a:xfrm>
            <a:off x="822960" y="5330952"/>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This is why weak practice is an ethical issue and not merely a technical one: the cost lands on people who never made the decision.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Ethical issue 2 — using AI during development</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Five distinct problems, not one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3108960" cy="438912"/>
          </a:xfrm>
          <a:prstGeom prst="rect">
            <a:avLst/>
          </a:prstGeom>
          <a:solidFill>
            <a:srgbClr val="8B5CF6"/>
          </a:solidFill>
          <a:ln w="12700">
            <a:solidFill>
              <a:srgbClr val="8B5CF6"/>
            </a:solidFill>
            <a:prstDash val="solid"/>
          </a:ln>
        </p:spPr>
      </p:sp>
      <p:sp>
        <p:nvSpPr>
          <p:cNvPr id="11" name="Text 9"/>
          <p:cNvSpPr/>
          <p:nvPr/>
        </p:nvSpPr>
        <p:spPr>
          <a:xfrm>
            <a:off x="502920" y="1508760"/>
            <a:ext cx="310896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Problem</a:t>
            </a:r>
            <a:endParaRPr lang="en-US" sz="1200" dirty="0"/>
          </a:p>
        </p:txBody>
      </p:sp>
      <p:sp>
        <p:nvSpPr>
          <p:cNvPr id="12" name="Shape 10"/>
          <p:cNvSpPr/>
          <p:nvPr/>
        </p:nvSpPr>
        <p:spPr>
          <a:xfrm>
            <a:off x="3611880" y="1508760"/>
            <a:ext cx="8046720" cy="438912"/>
          </a:xfrm>
          <a:prstGeom prst="rect">
            <a:avLst/>
          </a:prstGeom>
          <a:solidFill>
            <a:srgbClr val="8B5CF6"/>
          </a:solidFill>
          <a:ln w="12700">
            <a:solidFill>
              <a:srgbClr val="8B5CF6"/>
            </a:solidFill>
            <a:prstDash val="solid"/>
          </a:ln>
        </p:spPr>
      </p:sp>
      <p:sp>
        <p:nvSpPr>
          <p:cNvPr id="13" name="Text 11"/>
          <p:cNvSpPr/>
          <p:nvPr/>
        </p:nvSpPr>
        <p:spPr>
          <a:xfrm>
            <a:off x="3611880" y="1508760"/>
            <a:ext cx="804672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What it means</a:t>
            </a:r>
            <a:endParaRPr lang="en-US" sz="1200" dirty="0"/>
          </a:p>
        </p:txBody>
      </p:sp>
      <p:sp>
        <p:nvSpPr>
          <p:cNvPr id="14" name="Shape 12"/>
          <p:cNvSpPr/>
          <p:nvPr/>
        </p:nvSpPr>
        <p:spPr>
          <a:xfrm>
            <a:off x="502920" y="1947672"/>
            <a:ext cx="3108960" cy="766267"/>
          </a:xfrm>
          <a:prstGeom prst="rect">
            <a:avLst/>
          </a:prstGeom>
          <a:solidFill>
            <a:srgbClr val="FFFFFF"/>
          </a:solidFill>
          <a:ln w="12700">
            <a:solidFill>
              <a:srgbClr val="D8DDE6"/>
            </a:solidFill>
            <a:prstDash val="solid"/>
          </a:ln>
        </p:spPr>
      </p:sp>
      <p:sp>
        <p:nvSpPr>
          <p:cNvPr id="15" name="Text 13"/>
          <p:cNvSpPr/>
          <p:nvPr/>
        </p:nvSpPr>
        <p:spPr>
          <a:xfrm>
            <a:off x="594360" y="1947672"/>
            <a:ext cx="292608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Bias</a:t>
            </a:r>
            <a:endParaRPr lang="en-US" sz="1500" dirty="0"/>
          </a:p>
        </p:txBody>
      </p:sp>
      <p:sp>
        <p:nvSpPr>
          <p:cNvPr id="16" name="Shape 14"/>
          <p:cNvSpPr/>
          <p:nvPr/>
        </p:nvSpPr>
        <p:spPr>
          <a:xfrm>
            <a:off x="3611880" y="1947672"/>
            <a:ext cx="8046720" cy="766267"/>
          </a:xfrm>
          <a:prstGeom prst="rect">
            <a:avLst/>
          </a:prstGeom>
          <a:solidFill>
            <a:srgbClr val="FFFFFF"/>
          </a:solidFill>
          <a:ln w="12700">
            <a:solidFill>
              <a:srgbClr val="D8DDE6"/>
            </a:solidFill>
            <a:prstDash val="solid"/>
          </a:ln>
        </p:spPr>
      </p:sp>
      <p:sp>
        <p:nvSpPr>
          <p:cNvPr id="17" name="Text 15"/>
          <p:cNvSpPr/>
          <p:nvPr/>
        </p:nvSpPr>
        <p:spPr>
          <a:xfrm>
            <a:off x="3703320" y="1947672"/>
            <a:ext cx="786384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AI systems embed the biases in their training data, producing unfair or discriminatory outcomes and reinforcing stereotypes.</a:t>
            </a:r>
            <a:endParaRPr lang="en-US" sz="1500" dirty="0"/>
          </a:p>
        </p:txBody>
      </p:sp>
      <p:sp>
        <p:nvSpPr>
          <p:cNvPr id="18" name="Shape 16"/>
          <p:cNvSpPr/>
          <p:nvPr/>
        </p:nvSpPr>
        <p:spPr>
          <a:xfrm>
            <a:off x="502920" y="2713939"/>
            <a:ext cx="3108960" cy="766267"/>
          </a:xfrm>
          <a:prstGeom prst="rect">
            <a:avLst/>
          </a:prstGeom>
          <a:solidFill>
            <a:srgbClr val="F4F6FB"/>
          </a:solidFill>
          <a:ln w="12700">
            <a:solidFill>
              <a:srgbClr val="D8DDE6"/>
            </a:solidFill>
            <a:prstDash val="solid"/>
          </a:ln>
        </p:spPr>
      </p:sp>
      <p:sp>
        <p:nvSpPr>
          <p:cNvPr id="19" name="Text 17"/>
          <p:cNvSpPr/>
          <p:nvPr/>
        </p:nvSpPr>
        <p:spPr>
          <a:xfrm>
            <a:off x="594360" y="2713939"/>
            <a:ext cx="292608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Transparency and accountability</a:t>
            </a:r>
            <a:endParaRPr lang="en-US" sz="1500" dirty="0"/>
          </a:p>
        </p:txBody>
      </p:sp>
      <p:sp>
        <p:nvSpPr>
          <p:cNvPr id="20" name="Shape 18"/>
          <p:cNvSpPr/>
          <p:nvPr/>
        </p:nvSpPr>
        <p:spPr>
          <a:xfrm>
            <a:off x="3611880" y="2713939"/>
            <a:ext cx="8046720" cy="766267"/>
          </a:xfrm>
          <a:prstGeom prst="rect">
            <a:avLst/>
          </a:prstGeom>
          <a:solidFill>
            <a:srgbClr val="F4F6FB"/>
          </a:solidFill>
          <a:ln w="12700">
            <a:solidFill>
              <a:srgbClr val="D8DDE6"/>
            </a:solidFill>
            <a:prstDash val="solid"/>
          </a:ln>
        </p:spPr>
      </p:sp>
      <p:sp>
        <p:nvSpPr>
          <p:cNvPr id="21" name="Text 19"/>
          <p:cNvSpPr/>
          <p:nvPr/>
        </p:nvSpPr>
        <p:spPr>
          <a:xfrm>
            <a:off x="3703320" y="2713939"/>
            <a:ext cx="786384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Decisions made by an AI system can be hard to explain, making it hard to establish who is responsible when it goes wrong.</a:t>
            </a:r>
            <a:endParaRPr lang="en-US" sz="1500" dirty="0"/>
          </a:p>
        </p:txBody>
      </p:sp>
      <p:sp>
        <p:nvSpPr>
          <p:cNvPr id="22" name="Shape 20"/>
          <p:cNvSpPr/>
          <p:nvPr/>
        </p:nvSpPr>
        <p:spPr>
          <a:xfrm>
            <a:off x="502920" y="3480206"/>
            <a:ext cx="3108960" cy="766267"/>
          </a:xfrm>
          <a:prstGeom prst="rect">
            <a:avLst/>
          </a:prstGeom>
          <a:solidFill>
            <a:srgbClr val="FFFFFF"/>
          </a:solidFill>
          <a:ln w="12700">
            <a:solidFill>
              <a:srgbClr val="D8DDE6"/>
            </a:solidFill>
            <a:prstDash val="solid"/>
          </a:ln>
        </p:spPr>
      </p:sp>
      <p:sp>
        <p:nvSpPr>
          <p:cNvPr id="23" name="Text 21"/>
          <p:cNvSpPr/>
          <p:nvPr/>
        </p:nvSpPr>
        <p:spPr>
          <a:xfrm>
            <a:off x="594360" y="3480206"/>
            <a:ext cx="292608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Privacy and consent</a:t>
            </a:r>
            <a:endParaRPr lang="en-US" sz="1500" dirty="0"/>
          </a:p>
        </p:txBody>
      </p:sp>
      <p:sp>
        <p:nvSpPr>
          <p:cNvPr id="24" name="Shape 22"/>
          <p:cNvSpPr/>
          <p:nvPr/>
        </p:nvSpPr>
        <p:spPr>
          <a:xfrm>
            <a:off x="3611880" y="3480206"/>
            <a:ext cx="8046720" cy="766267"/>
          </a:xfrm>
          <a:prstGeom prst="rect">
            <a:avLst/>
          </a:prstGeom>
          <a:solidFill>
            <a:srgbClr val="FFFFFF"/>
          </a:solidFill>
          <a:ln w="12700">
            <a:solidFill>
              <a:srgbClr val="D8DDE6"/>
            </a:solidFill>
            <a:prstDash val="solid"/>
          </a:ln>
        </p:spPr>
      </p:sp>
      <p:sp>
        <p:nvSpPr>
          <p:cNvPr id="25" name="Text 23"/>
          <p:cNvSpPr/>
          <p:nvPr/>
        </p:nvSpPr>
        <p:spPr>
          <a:xfrm>
            <a:off x="3703320" y="3480206"/>
            <a:ext cx="786384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AI can process vast amounts of personal data without explicit user approval.</a:t>
            </a:r>
            <a:endParaRPr lang="en-US" sz="1500" dirty="0"/>
          </a:p>
        </p:txBody>
      </p:sp>
      <p:sp>
        <p:nvSpPr>
          <p:cNvPr id="26" name="Shape 24"/>
          <p:cNvSpPr/>
          <p:nvPr/>
        </p:nvSpPr>
        <p:spPr>
          <a:xfrm>
            <a:off x="502920" y="4246474"/>
            <a:ext cx="3108960" cy="766267"/>
          </a:xfrm>
          <a:prstGeom prst="rect">
            <a:avLst/>
          </a:prstGeom>
          <a:solidFill>
            <a:srgbClr val="F4F6FB"/>
          </a:solidFill>
          <a:ln w="12700">
            <a:solidFill>
              <a:srgbClr val="D8DDE6"/>
            </a:solidFill>
            <a:prstDash val="solid"/>
          </a:ln>
        </p:spPr>
      </p:sp>
      <p:sp>
        <p:nvSpPr>
          <p:cNvPr id="27" name="Text 25"/>
          <p:cNvSpPr/>
          <p:nvPr/>
        </p:nvSpPr>
        <p:spPr>
          <a:xfrm>
            <a:off x="594360" y="4246474"/>
            <a:ext cx="292608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Job displacement</a:t>
            </a:r>
            <a:endParaRPr lang="en-US" sz="1500" dirty="0"/>
          </a:p>
        </p:txBody>
      </p:sp>
      <p:sp>
        <p:nvSpPr>
          <p:cNvPr id="28" name="Shape 26"/>
          <p:cNvSpPr/>
          <p:nvPr/>
        </p:nvSpPr>
        <p:spPr>
          <a:xfrm>
            <a:off x="3611880" y="4246474"/>
            <a:ext cx="8046720" cy="766267"/>
          </a:xfrm>
          <a:prstGeom prst="rect">
            <a:avLst/>
          </a:prstGeom>
          <a:solidFill>
            <a:srgbClr val="F4F6FB"/>
          </a:solidFill>
          <a:ln w="12700">
            <a:solidFill>
              <a:srgbClr val="D8DDE6"/>
            </a:solidFill>
            <a:prstDash val="solid"/>
          </a:ln>
        </p:spPr>
      </p:sp>
      <p:sp>
        <p:nvSpPr>
          <p:cNvPr id="29" name="Text 27"/>
          <p:cNvSpPr/>
          <p:nvPr/>
        </p:nvSpPr>
        <p:spPr>
          <a:xfrm>
            <a:off x="3703320" y="4246474"/>
            <a:ext cx="786384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Automating development work displaces the people who previously did it.</a:t>
            </a:r>
            <a:endParaRPr lang="en-US" sz="1500" dirty="0"/>
          </a:p>
        </p:txBody>
      </p:sp>
      <p:sp>
        <p:nvSpPr>
          <p:cNvPr id="30" name="Shape 28"/>
          <p:cNvSpPr/>
          <p:nvPr/>
        </p:nvSpPr>
        <p:spPr>
          <a:xfrm>
            <a:off x="502920" y="5012741"/>
            <a:ext cx="3108960" cy="766267"/>
          </a:xfrm>
          <a:prstGeom prst="rect">
            <a:avLst/>
          </a:prstGeom>
          <a:solidFill>
            <a:srgbClr val="FFFFFF"/>
          </a:solidFill>
          <a:ln w="12700">
            <a:solidFill>
              <a:srgbClr val="D8DDE6"/>
            </a:solidFill>
            <a:prstDash val="solid"/>
          </a:ln>
        </p:spPr>
      </p:sp>
      <p:sp>
        <p:nvSpPr>
          <p:cNvPr id="31" name="Text 29"/>
          <p:cNvSpPr/>
          <p:nvPr/>
        </p:nvSpPr>
        <p:spPr>
          <a:xfrm>
            <a:off x="594360" y="5012741"/>
            <a:ext cx="292608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Code provenance</a:t>
            </a:r>
            <a:endParaRPr lang="en-US" sz="1500" dirty="0"/>
          </a:p>
        </p:txBody>
      </p:sp>
      <p:sp>
        <p:nvSpPr>
          <p:cNvPr id="32" name="Shape 30"/>
          <p:cNvSpPr/>
          <p:nvPr/>
        </p:nvSpPr>
        <p:spPr>
          <a:xfrm>
            <a:off x="3611880" y="5012741"/>
            <a:ext cx="8046720" cy="766267"/>
          </a:xfrm>
          <a:prstGeom prst="rect">
            <a:avLst/>
          </a:prstGeom>
          <a:solidFill>
            <a:srgbClr val="FFFFFF"/>
          </a:solidFill>
          <a:ln w="12700">
            <a:solidFill>
              <a:srgbClr val="D8DDE6"/>
            </a:solidFill>
            <a:prstDash val="solid"/>
          </a:ln>
        </p:spPr>
      </p:sp>
      <p:sp>
        <p:nvSpPr>
          <p:cNvPr id="33" name="Text 31"/>
          <p:cNvSpPr/>
          <p:nvPr/>
        </p:nvSpPr>
        <p:spPr>
          <a:xfrm>
            <a:off x="3703320" y="5012741"/>
            <a:ext cx="786384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An assistant trained on other people's repositories raises unresolved copyright and licensing questions in its output.</a:t>
            </a:r>
            <a:endParaRPr lang="en-US" sz="1500" dirty="0"/>
          </a:p>
        </p:txBody>
      </p:sp>
      <p:sp>
        <p:nvSpPr>
          <p:cNvPr id="34" name="Shape 32"/>
          <p:cNvSpPr/>
          <p:nvPr/>
        </p:nvSpPr>
        <p:spPr>
          <a:xfrm>
            <a:off x="502920" y="5861304"/>
            <a:ext cx="11155680" cy="640080"/>
          </a:xfrm>
          <a:prstGeom prst="roundRect">
            <a:avLst>
              <a:gd name="adj" fmla="val 12857"/>
            </a:avLst>
          </a:prstGeom>
          <a:solidFill>
            <a:srgbClr val="F3EEFE"/>
          </a:solidFill>
          <a:ln w="12700">
            <a:solidFill>
              <a:srgbClr val="8B5CF6"/>
            </a:solidFill>
            <a:prstDash val="solid"/>
          </a:ln>
        </p:spPr>
      </p:sp>
      <p:sp>
        <p:nvSpPr>
          <p:cNvPr id="35" name="Text 33"/>
          <p:cNvSpPr/>
          <p:nvPr/>
        </p:nvSpPr>
        <p:spPr>
          <a:xfrm>
            <a:off x="822960" y="5861304"/>
            <a:ext cx="10515600" cy="6400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Naming which of the five is at issue is the difference between "AI raises ethical concerns" and an answer that scores.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Case study — bias in a recruitment algorithm</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Amazon, discontinued 2018</a:t>
            </a:r>
            <a:endParaRPr lang="en-US" sz="1500" dirty="0"/>
          </a:p>
        </p:txBody>
      </p:sp>
      <p:sp>
        <p:nvSpPr>
          <p:cNvPr id="8" name="Shape 6"/>
          <p:cNvSpPr/>
          <p:nvPr/>
        </p:nvSpPr>
        <p:spPr>
          <a:xfrm>
            <a:off x="502920" y="1325880"/>
            <a:ext cx="5468112" cy="2651760"/>
          </a:xfrm>
          <a:prstGeom prst="roundRect">
            <a:avLst>
              <a:gd name="adj" fmla="val 3103"/>
            </a:avLst>
          </a:prstGeom>
          <a:solidFill>
            <a:srgbClr val="FFFFFF"/>
          </a:solidFill>
          <a:ln w="17780">
            <a:solidFill>
              <a:srgbClr val="EF4444"/>
            </a:solidFill>
            <a:prstDash val="solid"/>
          </a:ln>
        </p:spPr>
      </p:sp>
      <p:sp>
        <p:nvSpPr>
          <p:cNvPr id="9" name="Text 7"/>
          <p:cNvSpPr/>
          <p:nvPr/>
        </p:nvSpPr>
        <p:spPr>
          <a:xfrm>
            <a:off x="731520" y="1490472"/>
            <a:ext cx="5010912" cy="274320"/>
          </a:xfrm>
          <a:prstGeom prst="rect">
            <a:avLst/>
          </a:prstGeom>
          <a:noFill/>
          <a:ln/>
        </p:spPr>
        <p:txBody>
          <a:bodyPr wrap="square" lIns="0" tIns="0" rIns="0" bIns="0" rtlCol="0" anchor="ctr"/>
          <a:lstStyle/>
          <a:p>
            <a:pPr indent="0" marL="0">
              <a:buNone/>
            </a:pPr>
            <a:r>
              <a:rPr lang="en-US" sz="1300" b="1" dirty="0">
                <a:solidFill>
                  <a:srgbClr val="EF4444"/>
                </a:solidFill>
                <a:latin typeface="Courier New" pitchFamily="34" charset="0"/>
                <a:ea typeface="Courier New" pitchFamily="34" charset="-122"/>
                <a:cs typeface="Courier New" pitchFamily="34" charset="-120"/>
              </a:rPr>
              <a:t>What happened</a:t>
            </a:r>
            <a:endParaRPr lang="en-US" sz="1300" dirty="0"/>
          </a:p>
        </p:txBody>
      </p:sp>
      <p:sp>
        <p:nvSpPr>
          <p:cNvPr id="10" name="Text 8"/>
          <p:cNvSpPr/>
          <p:nvPr/>
        </p:nvSpPr>
        <p:spPr>
          <a:xfrm>
            <a:off x="731520" y="1828800"/>
            <a:ext cx="5010912" cy="987552"/>
          </a:xfrm>
          <a:prstGeom prst="rect">
            <a:avLst/>
          </a:prstGeom>
          <a:noFill/>
          <a:ln/>
        </p:spPr>
        <p:txBody>
          <a:bodyPr wrap="square" lIns="0" tIns="0" rIns="0" bIns="0" rtlCol="0" anchor="t"/>
          <a:lstStyle/>
          <a:p>
            <a:pPr indent="0" marL="0">
              <a:lnSpc>
                <a:spcPct val="115000"/>
              </a:lnSpc>
              <a:buNone/>
            </a:pPr>
            <a:r>
              <a:rPr lang="en-US" sz="1900" b="1" dirty="0">
                <a:solidFill>
                  <a:srgbClr val="111827"/>
                </a:solidFill>
                <a:latin typeface="Calibri" pitchFamily="34" charset="0"/>
                <a:ea typeface="Calibri" pitchFamily="34" charset="-122"/>
                <a:cs typeface="Calibri" pitchFamily="34" charset="-120"/>
              </a:rPr>
              <a:t>An AI recruitment tool was found to be biased against women and was discontinued.</a:t>
            </a:r>
            <a:endParaRPr lang="en-US" sz="1900" dirty="0"/>
          </a:p>
        </p:txBody>
      </p:sp>
      <p:sp>
        <p:nvSpPr>
          <p:cNvPr id="11" name="Text 9"/>
          <p:cNvSpPr/>
          <p:nvPr/>
        </p:nvSpPr>
        <p:spPr>
          <a:xfrm>
            <a:off x="731520" y="2898648"/>
            <a:ext cx="5010912" cy="1005840"/>
          </a:xfrm>
          <a:prstGeom prst="rect">
            <a:avLst/>
          </a:prstGeom>
          <a:noFill/>
          <a:ln/>
        </p:spPr>
        <p:txBody>
          <a:bodyPr wrap="square" lIns="0" tIns="0" rIns="0" bIns="0" rtlCol="0" anchor="t"/>
          <a:lstStyle/>
          <a:p>
            <a:pPr indent="0" marL="0">
              <a:lnSpc>
                <a:spcPct val="115000"/>
              </a:lnSpc>
              <a:buNone/>
            </a:pPr>
            <a:r>
              <a:rPr lang="en-US" sz="1600" dirty="0">
                <a:solidFill>
                  <a:srgbClr val="5B6472"/>
                </a:solidFill>
                <a:latin typeface="Calibri" pitchFamily="34" charset="0"/>
                <a:ea typeface="Calibri" pitchFamily="34" charset="-122"/>
                <a:cs typeface="Calibri" pitchFamily="34" charset="-120"/>
              </a:rPr>
              <a:t>It had been trained on a decade of résumés submitted to a male-dominated industry.</a:t>
            </a:r>
            <a:endParaRPr lang="en-US" sz="1600" dirty="0"/>
          </a:p>
        </p:txBody>
      </p:sp>
      <p:sp>
        <p:nvSpPr>
          <p:cNvPr id="12" name="Shape 10"/>
          <p:cNvSpPr/>
          <p:nvPr/>
        </p:nvSpPr>
        <p:spPr>
          <a:xfrm>
            <a:off x="6190488" y="1325880"/>
            <a:ext cx="5468112" cy="2651760"/>
          </a:xfrm>
          <a:prstGeom prst="roundRect">
            <a:avLst>
              <a:gd name="adj" fmla="val 3103"/>
            </a:avLst>
          </a:prstGeom>
          <a:solidFill>
            <a:srgbClr val="FFFFFF"/>
          </a:solidFill>
          <a:ln w="17780">
            <a:solidFill>
              <a:srgbClr val="F59E0B"/>
            </a:solidFill>
            <a:prstDash val="solid"/>
          </a:ln>
        </p:spPr>
      </p:sp>
      <p:sp>
        <p:nvSpPr>
          <p:cNvPr id="13" name="Text 11"/>
          <p:cNvSpPr/>
          <p:nvPr/>
        </p:nvSpPr>
        <p:spPr>
          <a:xfrm>
            <a:off x="6419088" y="1490472"/>
            <a:ext cx="5010912" cy="274320"/>
          </a:xfrm>
          <a:prstGeom prst="rect">
            <a:avLst/>
          </a:prstGeom>
          <a:noFill/>
          <a:ln/>
        </p:spPr>
        <p:txBody>
          <a:bodyPr wrap="square" lIns="0" tIns="0" rIns="0" bIns="0" rtlCol="0" anchor="ctr"/>
          <a:lstStyle/>
          <a:p>
            <a:pPr indent="0" marL="0">
              <a:buNone/>
            </a:pPr>
            <a:r>
              <a:rPr lang="en-US" sz="1300" b="1" dirty="0">
                <a:solidFill>
                  <a:srgbClr val="F59E0B"/>
                </a:solidFill>
                <a:latin typeface="Courier New" pitchFamily="34" charset="0"/>
                <a:ea typeface="Courier New" pitchFamily="34" charset="-122"/>
                <a:cs typeface="Courier New" pitchFamily="34" charset="-120"/>
              </a:rPr>
              <a:t>How the bias showed</a:t>
            </a:r>
            <a:endParaRPr lang="en-US" sz="1300" dirty="0"/>
          </a:p>
        </p:txBody>
      </p:sp>
      <p:sp>
        <p:nvSpPr>
          <p:cNvPr id="14" name="Text 12"/>
          <p:cNvSpPr/>
          <p:nvPr/>
        </p:nvSpPr>
        <p:spPr>
          <a:xfrm>
            <a:off x="6419088" y="1828800"/>
            <a:ext cx="5010912" cy="987552"/>
          </a:xfrm>
          <a:prstGeom prst="rect">
            <a:avLst/>
          </a:prstGeom>
          <a:noFill/>
          <a:ln/>
        </p:spPr>
        <p:txBody>
          <a:bodyPr wrap="square" lIns="0" tIns="0" rIns="0" bIns="0" rtlCol="0" anchor="t"/>
          <a:lstStyle/>
          <a:p>
            <a:pPr indent="0" marL="0">
              <a:lnSpc>
                <a:spcPct val="115000"/>
              </a:lnSpc>
              <a:buNone/>
            </a:pPr>
            <a:r>
              <a:rPr lang="en-US" sz="1900" b="1" dirty="0">
                <a:solidFill>
                  <a:srgbClr val="111827"/>
                </a:solidFill>
                <a:latin typeface="Calibri" pitchFamily="34" charset="0"/>
                <a:ea typeface="Calibri" pitchFamily="34" charset="-122"/>
                <a:cs typeface="Calibri" pitchFamily="34" charset="-120"/>
              </a:rPr>
              <a:t>It learned to favour résumés resembling those of male applicants.</a:t>
            </a:r>
            <a:endParaRPr lang="en-US" sz="1900" dirty="0"/>
          </a:p>
        </p:txBody>
      </p:sp>
      <p:sp>
        <p:nvSpPr>
          <p:cNvPr id="15" name="Text 13"/>
          <p:cNvSpPr/>
          <p:nvPr/>
        </p:nvSpPr>
        <p:spPr>
          <a:xfrm>
            <a:off x="6419088" y="2898648"/>
            <a:ext cx="5010912" cy="1005840"/>
          </a:xfrm>
          <a:prstGeom prst="rect">
            <a:avLst/>
          </a:prstGeom>
          <a:noFill/>
          <a:ln/>
        </p:spPr>
        <p:txBody>
          <a:bodyPr wrap="square" lIns="0" tIns="0" rIns="0" bIns="0" rtlCol="0" anchor="t"/>
          <a:lstStyle/>
          <a:p>
            <a:pPr indent="0" marL="0">
              <a:lnSpc>
                <a:spcPct val="115000"/>
              </a:lnSpc>
              <a:buNone/>
            </a:pPr>
            <a:r>
              <a:rPr lang="en-US" sz="1600" dirty="0">
                <a:solidFill>
                  <a:srgbClr val="5B6472"/>
                </a:solidFill>
                <a:latin typeface="Calibri" pitchFamily="34" charset="0"/>
                <a:ea typeface="Calibri" pitchFamily="34" charset="-122"/>
                <a:cs typeface="Calibri" pitchFamily="34" charset="-120"/>
              </a:rPr>
              <a:t>Résumés containing the word "women" were downgraded, and experience associated with female candidates was penalised.</a:t>
            </a:r>
            <a:endParaRPr lang="en-US" sz="1600" dirty="0"/>
          </a:p>
        </p:txBody>
      </p:sp>
      <p:sp>
        <p:nvSpPr>
          <p:cNvPr id="16" name="Shape 14"/>
          <p:cNvSpPr/>
          <p:nvPr/>
        </p:nvSpPr>
        <p:spPr>
          <a:xfrm>
            <a:off x="502920" y="4123944"/>
            <a:ext cx="11155680" cy="2368296"/>
          </a:xfrm>
          <a:prstGeom prst="roundRect">
            <a:avLst>
              <a:gd name="adj" fmla="val 3475"/>
            </a:avLst>
          </a:prstGeom>
          <a:solidFill>
            <a:srgbClr val="EEF2FE"/>
          </a:solidFill>
          <a:ln w="12700">
            <a:solidFill>
              <a:srgbClr val="4361EE"/>
            </a:solidFill>
            <a:prstDash val="solid"/>
          </a:ln>
        </p:spPr>
      </p:sp>
      <p:sp>
        <p:nvSpPr>
          <p:cNvPr id="17" name="Text 15"/>
          <p:cNvSpPr/>
          <p:nvPr/>
        </p:nvSpPr>
        <p:spPr>
          <a:xfrm>
            <a:off x="822960" y="4270248"/>
            <a:ext cx="105156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Three takeaways to write down</a:t>
            </a:r>
            <a:endParaRPr lang="en-US" sz="2000" dirty="0"/>
          </a:p>
        </p:txBody>
      </p:sp>
      <p:sp>
        <p:nvSpPr>
          <p:cNvPr id="18" name="Text 16"/>
          <p:cNvSpPr/>
          <p:nvPr/>
        </p:nvSpPr>
        <p:spPr>
          <a:xfrm>
            <a:off x="868680" y="4690872"/>
            <a:ext cx="10378440" cy="1655064"/>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Training data must be diverse and representative — the system learns the past, including the parts of it you would not defend.</a:t>
            </a:r>
            <a:endParaRPr lang="en-US" sz="1800" dirty="0"/>
          </a:p>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Algorithms need regular audits for bias, involving diverse stakeholders rather than only the team that built them.</a:t>
            </a:r>
            <a:endParaRPr lang="en-US" sz="1800" dirty="0"/>
          </a:p>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Human oversight remains essential: automation improves efficiency without guaranteeing fairness.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Ethical issues 3 and 4 — IP and copyright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Both are about a gap between what the law permits and what feels defensible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325880"/>
            <a:ext cx="5468112" cy="2651760"/>
          </a:xfrm>
          <a:prstGeom prst="roundRect">
            <a:avLst>
              <a:gd name="adj" fmla="val 3103"/>
            </a:avLst>
          </a:prstGeom>
          <a:solidFill>
            <a:srgbClr val="FFFFFF"/>
          </a:solidFill>
          <a:ln w="17780">
            <a:solidFill>
              <a:srgbClr val="4361EE"/>
            </a:solidFill>
            <a:prstDash val="solid"/>
          </a:ln>
        </p:spPr>
      </p:sp>
      <p:sp>
        <p:nvSpPr>
          <p:cNvPr id="11" name="Text 9"/>
          <p:cNvSpPr/>
          <p:nvPr/>
        </p:nvSpPr>
        <p:spPr>
          <a:xfrm>
            <a:off x="731520" y="1490472"/>
            <a:ext cx="5010912" cy="27432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Intellectual property</a:t>
            </a:r>
            <a:endParaRPr lang="en-US" sz="1300" dirty="0"/>
          </a:p>
        </p:txBody>
      </p:sp>
      <p:sp>
        <p:nvSpPr>
          <p:cNvPr id="12" name="Text 10"/>
          <p:cNvSpPr/>
          <p:nvPr/>
        </p:nvSpPr>
        <p:spPr>
          <a:xfrm>
            <a:off x="731520" y="1828800"/>
            <a:ext cx="5010912" cy="987552"/>
          </a:xfrm>
          <a:prstGeom prst="rect">
            <a:avLst/>
          </a:prstGeom>
          <a:noFill/>
          <a:ln/>
        </p:spPr>
        <p:txBody>
          <a:bodyPr wrap="square" lIns="0" tIns="0" rIns="0" bIns="0" rtlCol="0" anchor="t"/>
          <a:lstStyle/>
          <a:p>
            <a:pPr indent="0" marL="0">
              <a:lnSpc>
                <a:spcPct val="115000"/>
              </a:lnSpc>
              <a:buNone/>
            </a:pPr>
            <a:r>
              <a:rPr lang="en-US" sz="1900" b="1" dirty="0">
                <a:solidFill>
                  <a:srgbClr val="111827"/>
                </a:solidFill>
                <a:latin typeface="Calibri" pitchFamily="34" charset="0"/>
                <a:ea typeface="Calibri" pitchFamily="34" charset="-122"/>
                <a:cs typeface="Calibri" pitchFamily="34" charset="-120"/>
              </a:rPr>
              <a:t>Rights enforced too strictly limit access to important technologies and ideas.</a:t>
            </a:r>
            <a:endParaRPr lang="en-US" sz="1900" dirty="0"/>
          </a:p>
        </p:txBody>
      </p:sp>
      <p:sp>
        <p:nvSpPr>
          <p:cNvPr id="13" name="Text 11"/>
          <p:cNvSpPr/>
          <p:nvPr/>
        </p:nvSpPr>
        <p:spPr>
          <a:xfrm>
            <a:off x="731520" y="2898648"/>
            <a:ext cx="5010912" cy="1005840"/>
          </a:xfrm>
          <a:prstGeom prst="rect">
            <a:avLst/>
          </a:prstGeom>
          <a:noFill/>
          <a:ln/>
        </p:spPr>
        <p:txBody>
          <a:bodyPr wrap="square" lIns="0" tIns="0" rIns="0" bIns="0" rtlCol="0" anchor="t"/>
          <a:lstStyle/>
          <a:p>
            <a:pPr indent="0" marL="0">
              <a:lnSpc>
                <a:spcPct val="115000"/>
              </a:lnSpc>
              <a:buNone/>
            </a:pPr>
            <a:r>
              <a:rPr lang="en-US" sz="1600" dirty="0">
                <a:solidFill>
                  <a:srgbClr val="5B6472"/>
                </a:solidFill>
                <a:latin typeface="Calibri" pitchFamily="34" charset="0"/>
                <a:ea typeface="Calibri" pitchFamily="34" charset="-122"/>
                <a:cs typeface="Calibri" pitchFamily="34" charset="-120"/>
              </a:rPr>
              <a:t>They discourage collaboration and sharing, and tend toward monopolies in which a few large companies control the market.</a:t>
            </a:r>
            <a:endParaRPr lang="en-US" sz="1600" dirty="0"/>
          </a:p>
        </p:txBody>
      </p:sp>
      <p:sp>
        <p:nvSpPr>
          <p:cNvPr id="14" name="Shape 12"/>
          <p:cNvSpPr/>
          <p:nvPr/>
        </p:nvSpPr>
        <p:spPr>
          <a:xfrm>
            <a:off x="6190488" y="1325880"/>
            <a:ext cx="5468112" cy="2651760"/>
          </a:xfrm>
          <a:prstGeom prst="roundRect">
            <a:avLst>
              <a:gd name="adj" fmla="val 3103"/>
            </a:avLst>
          </a:prstGeom>
          <a:solidFill>
            <a:srgbClr val="FFFFFF"/>
          </a:solidFill>
          <a:ln w="17780">
            <a:solidFill>
              <a:srgbClr val="8B5CF6"/>
            </a:solidFill>
            <a:prstDash val="solid"/>
          </a:ln>
        </p:spPr>
      </p:sp>
      <p:sp>
        <p:nvSpPr>
          <p:cNvPr id="15" name="Text 13"/>
          <p:cNvSpPr/>
          <p:nvPr/>
        </p:nvSpPr>
        <p:spPr>
          <a:xfrm>
            <a:off x="6419088" y="1490472"/>
            <a:ext cx="5010912" cy="27432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Copyright</a:t>
            </a:r>
            <a:endParaRPr lang="en-US" sz="1300" dirty="0"/>
          </a:p>
        </p:txBody>
      </p:sp>
      <p:sp>
        <p:nvSpPr>
          <p:cNvPr id="16" name="Text 14"/>
          <p:cNvSpPr/>
          <p:nvPr/>
        </p:nvSpPr>
        <p:spPr>
          <a:xfrm>
            <a:off x="6419088" y="1828800"/>
            <a:ext cx="5010912" cy="987552"/>
          </a:xfrm>
          <a:prstGeom prst="rect">
            <a:avLst/>
          </a:prstGeom>
          <a:noFill/>
          <a:ln/>
        </p:spPr>
        <p:txBody>
          <a:bodyPr wrap="square" lIns="0" tIns="0" rIns="0" bIns="0" rtlCol="0" anchor="t"/>
          <a:lstStyle/>
          <a:p>
            <a:pPr indent="0" marL="0">
              <a:lnSpc>
                <a:spcPct val="115000"/>
              </a:lnSpc>
              <a:buNone/>
            </a:pPr>
            <a:r>
              <a:rPr lang="en-US" sz="1900" b="1" dirty="0">
                <a:solidFill>
                  <a:srgbClr val="111827"/>
                </a:solidFill>
                <a:latin typeface="Calibri" pitchFamily="34" charset="0"/>
                <a:ea typeface="Calibri" pitchFamily="34" charset="-122"/>
                <a:cs typeface="Calibri" pitchFamily="34" charset="-120"/>
              </a:rPr>
              <a:t>The Act protects works, not ideas — and that gap creates dilemmas.</a:t>
            </a:r>
            <a:endParaRPr lang="en-US" sz="1900" dirty="0"/>
          </a:p>
        </p:txBody>
      </p:sp>
      <p:sp>
        <p:nvSpPr>
          <p:cNvPr id="17" name="Text 15"/>
          <p:cNvSpPr/>
          <p:nvPr/>
        </p:nvSpPr>
        <p:spPr>
          <a:xfrm>
            <a:off x="6419088" y="2898648"/>
            <a:ext cx="5010912" cy="1005840"/>
          </a:xfrm>
          <a:prstGeom prst="rect">
            <a:avLst/>
          </a:prstGeom>
          <a:noFill/>
          <a:ln/>
        </p:spPr>
        <p:txBody>
          <a:bodyPr wrap="square" lIns="0" tIns="0" rIns="0" bIns="0" rtlCol="0" anchor="t"/>
          <a:lstStyle/>
          <a:p>
            <a:pPr indent="0" marL="0">
              <a:lnSpc>
                <a:spcPct val="115000"/>
              </a:lnSpc>
              <a:buNone/>
            </a:pPr>
            <a:r>
              <a:rPr lang="en-US" sz="1600" dirty="0">
                <a:solidFill>
                  <a:srgbClr val="5B6472"/>
                </a:solidFill>
                <a:latin typeface="Calibri" pitchFamily="34" charset="0"/>
                <a:ea typeface="Calibri" pitchFamily="34" charset="-122"/>
                <a:cs typeface="Calibri" pitchFamily="34" charset="-120"/>
              </a:rPr>
              <a:t>A developer can take an uncopyrighted idea, build on it and profit, while the originator receives nothing at all.</a:t>
            </a:r>
            <a:endParaRPr lang="en-US" sz="1600" dirty="0"/>
          </a:p>
        </p:txBody>
      </p:sp>
      <p:sp>
        <p:nvSpPr>
          <p:cNvPr id="18" name="Shape 16"/>
          <p:cNvSpPr/>
          <p:nvPr/>
        </p:nvSpPr>
        <p:spPr>
          <a:xfrm>
            <a:off x="502920" y="4123944"/>
            <a:ext cx="11155680" cy="2368296"/>
          </a:xfrm>
          <a:prstGeom prst="roundRect">
            <a:avLst>
              <a:gd name="adj" fmla="val 3475"/>
            </a:avLst>
          </a:prstGeom>
          <a:solidFill>
            <a:srgbClr val="EEF2FE"/>
          </a:solidFill>
          <a:ln w="12700">
            <a:solidFill>
              <a:srgbClr val="4361EE"/>
            </a:solidFill>
            <a:prstDash val="solid"/>
          </a:ln>
        </p:spPr>
      </p:sp>
      <p:sp>
        <p:nvSpPr>
          <p:cNvPr id="19" name="Text 17"/>
          <p:cNvSpPr/>
          <p:nvPr/>
        </p:nvSpPr>
        <p:spPr>
          <a:xfrm>
            <a:off x="822960" y="4270248"/>
            <a:ext cx="105156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The tension in both cases</a:t>
            </a:r>
            <a:endParaRPr lang="en-US" sz="2000" dirty="0"/>
          </a:p>
        </p:txBody>
      </p:sp>
      <p:sp>
        <p:nvSpPr>
          <p:cNvPr id="20" name="Text 18"/>
          <p:cNvSpPr/>
          <p:nvPr/>
        </p:nvSpPr>
        <p:spPr>
          <a:xfrm>
            <a:off x="868680" y="4690872"/>
            <a:ext cx="10378440" cy="1655064"/>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Protecting the rights of inventors and creators, against the value of open access and shared knowledge.</a:t>
            </a:r>
            <a:endParaRPr lang="en-US" sz="1800" dirty="0"/>
          </a:p>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Neither extreme is defensible: no protection removes the incentive to create, total protection removes the ability to build on what exists.</a:t>
            </a:r>
            <a:endParaRPr lang="en-US" sz="1800" dirty="0"/>
          </a:p>
          <a:p>
            <a:pPr marL="342900" indent="-342900">
              <a:lnSpc>
                <a:spcPct val="115000"/>
              </a:lnSpc>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In an answer, name which side of the balance the organisation has fallen on, and what it costs whom.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"Safe" programs — the obligation to work properly</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ethical bar sits above the legal one</a:t>
            </a:r>
            <a:endParaRPr lang="en-US" sz="1500" dirty="0"/>
          </a:p>
        </p:txBody>
      </p:sp>
      <p:sp>
        <p:nvSpPr>
          <p:cNvPr id="8" name="Shape 6"/>
          <p:cNvSpPr/>
          <p:nvPr/>
        </p:nvSpPr>
        <p:spPr>
          <a:xfrm>
            <a:off x="502920" y="1417320"/>
            <a:ext cx="11155680" cy="4343400"/>
          </a:xfrm>
          <a:prstGeom prst="roundRect">
            <a:avLst>
              <a:gd name="adj" fmla="val 1895"/>
            </a:avLst>
          </a:prstGeom>
          <a:solidFill>
            <a:srgbClr val="FFFFFF"/>
          </a:solidFill>
          <a:ln w="12700">
            <a:solidFill>
              <a:srgbClr val="10B981"/>
            </a:solidFill>
            <a:prstDash val="solid"/>
          </a:ln>
        </p:spPr>
      </p:sp>
      <p:sp>
        <p:nvSpPr>
          <p:cNvPr id="9" name="Text 7"/>
          <p:cNvSpPr/>
          <p:nvPr/>
        </p:nvSpPr>
        <p:spPr>
          <a:xfrm>
            <a:off x="914400" y="1645920"/>
            <a:ext cx="10332720" cy="3886200"/>
          </a:xfrm>
          <a:prstGeom prst="rect">
            <a:avLst/>
          </a:prstGeom>
          <a:noFill/>
          <a:ln/>
        </p:spPr>
        <p:txBody>
          <a:bodyPr wrap="square" lIns="0" tIns="0" rIns="0" bIns="0" rtlCol="0" anchor="t"/>
          <a:lstStyle/>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Programmers are legally obliged to produce programs that work properly. If a user can link harm to the work of a programmer, the programmer may be liable for the damage caused.</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Licences often exclude liability where software was used in a way that was not intended — but a bug that causes harm can still leave the programmer exposed.</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Ethically the bar is higher: a programmer must consider who the users actually are, and take no shortcuts in testing.</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Software is written for nuclear power plants, chemical factories, medical facilities and financial institutions as well as for entertainment. The same shortcut has very different consequences in each.</a:t>
            </a:r>
            <a:endParaRPr lang="en-US" sz="1800" dirty="0"/>
          </a:p>
        </p:txBody>
      </p:sp>
      <p:sp>
        <p:nvSpPr>
          <p:cNvPr id="10" name="Shape 8"/>
          <p:cNvSpPr/>
          <p:nvPr/>
        </p:nvSpPr>
        <p:spPr>
          <a:xfrm>
            <a:off x="502920" y="5897880"/>
            <a:ext cx="11155680" cy="566928"/>
          </a:xfrm>
          <a:prstGeom prst="roundRect">
            <a:avLst>
              <a:gd name="adj" fmla="val 14516"/>
            </a:avLst>
          </a:prstGeom>
          <a:solidFill>
            <a:srgbClr val="EEF2FE"/>
          </a:solidFill>
          <a:ln w="12700">
            <a:solidFill>
              <a:srgbClr val="4361EE"/>
            </a:solidFill>
            <a:prstDash val="solid"/>
          </a:ln>
        </p:spPr>
      </p:sp>
      <p:sp>
        <p:nvSpPr>
          <p:cNvPr id="11" name="Text 9"/>
          <p:cNvSpPr/>
          <p:nvPr/>
        </p:nvSpPr>
        <p:spPr>
          <a:xfrm>
            <a:off x="822960" y="5897880"/>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"It passed the tests we wrote" is a legal defence. "We wrote the right tests" is the ethical question.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BREAK</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Shape 4"/>
          <p:cNvSpPr/>
          <p:nvPr/>
        </p:nvSpPr>
        <p:spPr>
          <a:xfrm>
            <a:off x="2194560" y="1737360"/>
            <a:ext cx="7772400" cy="3429000"/>
          </a:xfrm>
          <a:prstGeom prst="roundRect">
            <a:avLst>
              <a:gd name="adj" fmla="val 2400"/>
            </a:avLst>
          </a:prstGeom>
          <a:solidFill>
            <a:srgbClr val="F4F6FB"/>
          </a:solidFill>
          <a:ln w="12700">
            <a:solidFill>
              <a:srgbClr val="D8DDE6"/>
            </a:solidFill>
            <a:prstDash val="solid"/>
          </a:ln>
        </p:spPr>
      </p:sp>
      <p:sp>
        <p:nvSpPr>
          <p:cNvPr id="7" name="Text 5"/>
          <p:cNvSpPr/>
          <p:nvPr/>
        </p:nvSpPr>
        <p:spPr>
          <a:xfrm>
            <a:off x="2194560" y="2103120"/>
            <a:ext cx="7772400" cy="731520"/>
          </a:xfrm>
          <a:prstGeom prst="rect">
            <a:avLst/>
          </a:prstGeom>
          <a:noFill/>
          <a:ln/>
        </p:spPr>
        <p:txBody>
          <a:bodyPr wrap="square" lIns="0" tIns="0" rIns="0" bIns="0" rtlCol="0" anchor="ctr"/>
          <a:lstStyle/>
          <a:p>
            <a:pPr algn="ctr" indent="0" marL="0">
              <a:buNone/>
            </a:pPr>
            <a:r>
              <a:rPr lang="en-US" sz="4000" b="1" dirty="0">
                <a:solidFill>
                  <a:srgbClr val="111827"/>
                </a:solidFill>
                <a:latin typeface="Bookman Old Style" pitchFamily="34" charset="0"/>
                <a:ea typeface="Bookman Old Style" pitchFamily="34" charset="-122"/>
                <a:cs typeface="Bookman Old Style" pitchFamily="34" charset="-120"/>
              </a:rPr>
              <a:t>Brain break</a:t>
            </a:r>
            <a:endParaRPr lang="en-US" sz="4000" dirty="0"/>
          </a:p>
        </p:txBody>
      </p:sp>
      <p:sp>
        <p:nvSpPr>
          <p:cNvPr id="8" name="Text 6"/>
          <p:cNvSpPr/>
          <p:nvPr/>
        </p:nvSpPr>
        <p:spPr>
          <a:xfrm>
            <a:off x="2194560" y="2926080"/>
            <a:ext cx="7772400" cy="457200"/>
          </a:xfrm>
          <a:prstGeom prst="rect">
            <a:avLst/>
          </a:prstGeom>
          <a:noFill/>
          <a:ln/>
        </p:spPr>
        <p:txBody>
          <a:bodyPr wrap="square" lIns="0" tIns="0" rIns="0" bIns="0" rtlCol="0" anchor="ctr"/>
          <a:lstStyle/>
          <a:p>
            <a:pPr algn="ctr" indent="0" marL="0">
              <a:buNone/>
            </a:pPr>
            <a:r>
              <a:rPr lang="en-US" sz="2000" dirty="0">
                <a:solidFill>
                  <a:srgbClr val="5B6472"/>
                </a:solidFill>
                <a:latin typeface="Calibri" pitchFamily="34" charset="0"/>
                <a:ea typeface="Calibri" pitchFamily="34" charset="-122"/>
                <a:cs typeface="Calibri" pitchFamily="34" charset="-120"/>
              </a:rPr>
              <a:t>Two minutes. Stand up, stretch, look out the window.</a:t>
            </a:r>
            <a:endParaRPr lang="en-US" sz="2000" dirty="0"/>
          </a:p>
        </p:txBody>
      </p:sp>
      <p:sp>
        <p:nvSpPr>
          <p:cNvPr id="9" name="Shape 7"/>
          <p:cNvSpPr/>
          <p:nvPr/>
        </p:nvSpPr>
        <p:spPr>
          <a:xfrm>
            <a:off x="3108960" y="3703320"/>
            <a:ext cx="5943600" cy="1005840"/>
          </a:xfrm>
          <a:prstGeom prst="roundRect">
            <a:avLst>
              <a:gd name="adj" fmla="val 8182"/>
            </a:avLst>
          </a:prstGeom>
          <a:solidFill>
            <a:srgbClr val="FFFFFF"/>
          </a:solidFill>
          <a:ln w="12700">
            <a:solidFill>
              <a:srgbClr val="D8DDE6"/>
            </a:solidFill>
            <a:prstDash val="solid"/>
          </a:ln>
        </p:spPr>
      </p:sp>
      <p:sp>
        <p:nvSpPr>
          <p:cNvPr id="10" name="Text 8"/>
          <p:cNvSpPr/>
          <p:nvPr/>
        </p:nvSpPr>
        <p:spPr>
          <a:xfrm>
            <a:off x="3291840" y="3703320"/>
            <a:ext cx="5577840" cy="1005840"/>
          </a:xfrm>
          <a:prstGeom prst="rect">
            <a:avLst/>
          </a:prstGeom>
          <a:noFill/>
          <a:ln/>
        </p:spPr>
        <p:txBody>
          <a:bodyPr wrap="square" lIns="0" tIns="0" rIns="0" bIns="0" rtlCol="0" anchor="ctr"/>
          <a:lstStyle/>
          <a:p>
            <a:pPr algn="ctr" indent="0" marL="0">
              <a:lnSpc>
                <a:spcPct val="120000"/>
              </a:lnSpc>
              <a:buNone/>
            </a:pPr>
            <a:r>
              <a:rPr lang="en-US" sz="1800" dirty="0">
                <a:solidFill>
                  <a:srgbClr val="111827"/>
                </a:solidFill>
                <a:latin typeface="Calibri" pitchFamily="34" charset="0"/>
                <a:ea typeface="Calibri" pitchFamily="34" charset="-122"/>
                <a:cs typeface="Calibri" pitchFamily="34" charset="-120"/>
              </a:rPr>
              <a:t>Coming up: the improvement strategies — onboarding, training and risk management plans. Then laptops open.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Improving practices — onboarding and induction</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Effective onboarding makes new staff productive and secure at the same time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170432"/>
          </a:xfrm>
          <a:prstGeom prst="roundRect">
            <a:avLst>
              <a:gd name="adj" fmla="val 7031"/>
            </a:avLst>
          </a:prstGeom>
          <a:solidFill>
            <a:srgbClr val="FFFFFF"/>
          </a:solidFill>
          <a:ln w="15240">
            <a:solidFill>
              <a:srgbClr val="10B981"/>
            </a:solidFill>
            <a:prstDash val="solid"/>
          </a:ln>
        </p:spPr>
      </p:sp>
      <p:sp>
        <p:nvSpPr>
          <p:cNvPr id="11" name="Shape 9"/>
          <p:cNvSpPr/>
          <p:nvPr/>
        </p:nvSpPr>
        <p:spPr>
          <a:xfrm>
            <a:off x="731520" y="1819656"/>
            <a:ext cx="457200" cy="457200"/>
          </a:xfrm>
          <a:prstGeom prst="ellipse">
            <a:avLst/>
          </a:prstGeom>
          <a:solidFill>
            <a:srgbClr val="10B981"/>
          </a:solidFill>
          <a:ln/>
        </p:spPr>
      </p:sp>
      <p:sp>
        <p:nvSpPr>
          <p:cNvPr id="12" name="Text 10"/>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Orientation programs</a:t>
            </a:r>
            <a:endParaRPr lang="en-US" sz="1900" dirty="0"/>
          </a:p>
        </p:txBody>
      </p:sp>
      <p:sp>
        <p:nvSpPr>
          <p:cNvPr id="14" name="Text 12"/>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An overview of the company, its goals, values, policies and security protocols, including its data protection standards.</a:t>
            </a:r>
            <a:endParaRPr lang="en-US" sz="1650" dirty="0"/>
          </a:p>
        </p:txBody>
      </p:sp>
      <p:sp>
        <p:nvSpPr>
          <p:cNvPr id="15" name="Shape 13"/>
          <p:cNvSpPr/>
          <p:nvPr/>
        </p:nvSpPr>
        <p:spPr>
          <a:xfrm>
            <a:off x="502920" y="2734056"/>
            <a:ext cx="11155680" cy="1170432"/>
          </a:xfrm>
          <a:prstGeom prst="roundRect">
            <a:avLst>
              <a:gd name="adj" fmla="val 7031"/>
            </a:avLst>
          </a:prstGeom>
          <a:solidFill>
            <a:srgbClr val="FFFFFF"/>
          </a:solidFill>
          <a:ln w="15240">
            <a:solidFill>
              <a:srgbClr val="10B981"/>
            </a:solidFill>
            <a:prstDash val="solid"/>
          </a:ln>
        </p:spPr>
      </p:sp>
      <p:sp>
        <p:nvSpPr>
          <p:cNvPr id="16" name="Shape 14"/>
          <p:cNvSpPr/>
          <p:nvPr/>
        </p:nvSpPr>
        <p:spPr>
          <a:xfrm>
            <a:off x="731520" y="3090672"/>
            <a:ext cx="457200" cy="457200"/>
          </a:xfrm>
          <a:prstGeom prst="ellipse">
            <a:avLst/>
          </a:prstGeom>
          <a:solidFill>
            <a:srgbClr val="10B981"/>
          </a:solidFill>
          <a:ln/>
        </p:spPr>
      </p:sp>
      <p:sp>
        <p:nvSpPr>
          <p:cNvPr id="17" name="Text 15"/>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Role-specific training</a:t>
            </a:r>
            <a:endParaRPr lang="en-US" sz="1900" dirty="0"/>
          </a:p>
        </p:txBody>
      </p:sp>
      <p:sp>
        <p:nvSpPr>
          <p:cNvPr id="19" name="Text 17"/>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Induction tailored to the role, emphasising the security practices relevant to it. New developers receive specialised training on secure coding, version control and the tools used in their environment.</a:t>
            </a:r>
            <a:endParaRPr lang="en-US" sz="1650" dirty="0"/>
          </a:p>
        </p:txBody>
      </p:sp>
      <p:sp>
        <p:nvSpPr>
          <p:cNvPr id="20" name="Shape 18"/>
          <p:cNvSpPr/>
          <p:nvPr/>
        </p:nvSpPr>
        <p:spPr>
          <a:xfrm>
            <a:off x="502920" y="4005072"/>
            <a:ext cx="11155680" cy="1170432"/>
          </a:xfrm>
          <a:prstGeom prst="roundRect">
            <a:avLst>
              <a:gd name="adj" fmla="val 7031"/>
            </a:avLst>
          </a:prstGeom>
          <a:solidFill>
            <a:srgbClr val="FFFFFF"/>
          </a:solidFill>
          <a:ln w="15240">
            <a:solidFill>
              <a:srgbClr val="10B981"/>
            </a:solidFill>
            <a:prstDash val="solid"/>
          </a:ln>
        </p:spPr>
      </p:sp>
      <p:sp>
        <p:nvSpPr>
          <p:cNvPr id="21" name="Shape 19"/>
          <p:cNvSpPr/>
          <p:nvPr/>
        </p:nvSpPr>
        <p:spPr>
          <a:xfrm>
            <a:off x="731520" y="4361688"/>
            <a:ext cx="457200" cy="457200"/>
          </a:xfrm>
          <a:prstGeom prst="ellipse">
            <a:avLst/>
          </a:prstGeom>
          <a:solidFill>
            <a:srgbClr val="10B981"/>
          </a:solidFill>
          <a:ln/>
        </p:spPr>
      </p:sp>
      <p:sp>
        <p:nvSpPr>
          <p:cNvPr id="22" name="Text 20"/>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Mentorship</a:t>
            </a:r>
            <a:endParaRPr lang="en-US" sz="1900" dirty="0"/>
          </a:p>
        </p:txBody>
      </p:sp>
      <p:sp>
        <p:nvSpPr>
          <p:cNvPr id="24" name="Text 22"/>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Pairing new employees with experienced mentors who guide them through their initial period, transfer knowledge and model adherence to security protocols.</a:t>
            </a:r>
            <a:endParaRPr lang="en-US" sz="1650" dirty="0"/>
          </a:p>
        </p:txBody>
      </p:sp>
      <p:sp>
        <p:nvSpPr>
          <p:cNvPr id="25" name="Shape 23"/>
          <p:cNvSpPr/>
          <p:nvPr/>
        </p:nvSpPr>
        <p:spPr>
          <a:xfrm>
            <a:off x="502920" y="5330952"/>
            <a:ext cx="11155680" cy="566928"/>
          </a:xfrm>
          <a:prstGeom prst="roundRect">
            <a:avLst>
              <a:gd name="adj" fmla="val 14516"/>
            </a:avLst>
          </a:prstGeom>
          <a:solidFill>
            <a:srgbClr val="D1FAE5"/>
          </a:solidFill>
          <a:ln w="12700">
            <a:solidFill>
              <a:srgbClr val="10B981"/>
            </a:solidFill>
            <a:prstDash val="solid"/>
          </a:ln>
        </p:spPr>
      </p:sp>
      <p:sp>
        <p:nvSpPr>
          <p:cNvPr id="26" name="Text 24"/>
          <p:cNvSpPr/>
          <p:nvPr/>
        </p:nvSpPr>
        <p:spPr>
          <a:xfrm>
            <a:off x="822960" y="5330952"/>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Onboarding is a security control: most of what a developer does habitually was learnt in their first fortnight.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Improving practices — developer training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Ongoing, not once at induction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170432"/>
          </a:xfrm>
          <a:prstGeom prst="roundRect">
            <a:avLst>
              <a:gd name="adj" fmla="val 7031"/>
            </a:avLst>
          </a:prstGeom>
          <a:solidFill>
            <a:srgbClr val="FFFFFF"/>
          </a:solidFill>
          <a:ln w="15240">
            <a:solidFill>
              <a:srgbClr val="10B981"/>
            </a:solidFill>
            <a:prstDash val="solid"/>
          </a:ln>
        </p:spPr>
      </p:sp>
      <p:sp>
        <p:nvSpPr>
          <p:cNvPr id="11" name="Shape 9"/>
          <p:cNvSpPr/>
          <p:nvPr/>
        </p:nvSpPr>
        <p:spPr>
          <a:xfrm>
            <a:off x="731520" y="1819656"/>
            <a:ext cx="457200" cy="457200"/>
          </a:xfrm>
          <a:prstGeom prst="ellipse">
            <a:avLst/>
          </a:prstGeom>
          <a:solidFill>
            <a:srgbClr val="10B981"/>
          </a:solidFill>
          <a:ln/>
        </p:spPr>
      </p:sp>
      <p:sp>
        <p:nvSpPr>
          <p:cNvPr id="12" name="Text 10"/>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Regular workshops</a:t>
            </a:r>
            <a:endParaRPr lang="en-US" sz="1900" dirty="0"/>
          </a:p>
        </p:txBody>
      </p:sp>
      <p:sp>
        <p:nvSpPr>
          <p:cNvPr id="14" name="Text 12"/>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On current threats and best practice — secure coding, threat modelling, incident response. Frequent enough that the content is still current when it is needed.</a:t>
            </a:r>
            <a:endParaRPr lang="en-US" sz="1650" dirty="0"/>
          </a:p>
        </p:txBody>
      </p:sp>
      <p:sp>
        <p:nvSpPr>
          <p:cNvPr id="15" name="Shape 13"/>
          <p:cNvSpPr/>
          <p:nvPr/>
        </p:nvSpPr>
        <p:spPr>
          <a:xfrm>
            <a:off x="502920" y="2734056"/>
            <a:ext cx="11155680" cy="1170432"/>
          </a:xfrm>
          <a:prstGeom prst="roundRect">
            <a:avLst>
              <a:gd name="adj" fmla="val 7031"/>
            </a:avLst>
          </a:prstGeom>
          <a:solidFill>
            <a:srgbClr val="FFFFFF"/>
          </a:solidFill>
          <a:ln w="15240">
            <a:solidFill>
              <a:srgbClr val="10B981"/>
            </a:solidFill>
            <a:prstDash val="solid"/>
          </a:ln>
        </p:spPr>
      </p:sp>
      <p:sp>
        <p:nvSpPr>
          <p:cNvPr id="16" name="Shape 14"/>
          <p:cNvSpPr/>
          <p:nvPr/>
        </p:nvSpPr>
        <p:spPr>
          <a:xfrm>
            <a:off x="731520" y="3090672"/>
            <a:ext cx="457200" cy="457200"/>
          </a:xfrm>
          <a:prstGeom prst="ellipse">
            <a:avLst/>
          </a:prstGeom>
          <a:solidFill>
            <a:srgbClr val="10B981"/>
          </a:solidFill>
          <a:ln/>
        </p:spPr>
      </p:sp>
      <p:sp>
        <p:nvSpPr>
          <p:cNvPr id="17" name="Text 15"/>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Courses and certifications</a:t>
            </a:r>
            <a:endParaRPr lang="en-US" sz="1900" dirty="0"/>
          </a:p>
        </p:txBody>
      </p:sp>
      <p:sp>
        <p:nvSpPr>
          <p:cNvPr id="19" name="Text 17"/>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In cyber security and secure software development, such as the Certified Secure Software Lifecycle Professional (CSSLP).</a:t>
            </a:r>
            <a:endParaRPr lang="en-US" sz="1650" dirty="0"/>
          </a:p>
        </p:txBody>
      </p:sp>
      <p:sp>
        <p:nvSpPr>
          <p:cNvPr id="20" name="Shape 18"/>
          <p:cNvSpPr/>
          <p:nvPr/>
        </p:nvSpPr>
        <p:spPr>
          <a:xfrm>
            <a:off x="502920" y="4005072"/>
            <a:ext cx="11155680" cy="1170432"/>
          </a:xfrm>
          <a:prstGeom prst="roundRect">
            <a:avLst>
              <a:gd name="adj" fmla="val 7031"/>
            </a:avLst>
          </a:prstGeom>
          <a:solidFill>
            <a:srgbClr val="FFFFFF"/>
          </a:solidFill>
          <a:ln w="15240">
            <a:solidFill>
              <a:srgbClr val="10B981"/>
            </a:solidFill>
            <a:prstDash val="solid"/>
          </a:ln>
        </p:spPr>
      </p:sp>
      <p:sp>
        <p:nvSpPr>
          <p:cNvPr id="21" name="Shape 19"/>
          <p:cNvSpPr/>
          <p:nvPr/>
        </p:nvSpPr>
        <p:spPr>
          <a:xfrm>
            <a:off x="731520" y="4361688"/>
            <a:ext cx="457200" cy="457200"/>
          </a:xfrm>
          <a:prstGeom prst="ellipse">
            <a:avLst/>
          </a:prstGeom>
          <a:solidFill>
            <a:srgbClr val="10B981"/>
          </a:solidFill>
          <a:ln/>
        </p:spPr>
      </p:sp>
      <p:sp>
        <p:nvSpPr>
          <p:cNvPr id="22" name="Text 20"/>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Security awareness programs</a:t>
            </a:r>
            <a:endParaRPr lang="en-US" sz="1900" dirty="0"/>
          </a:p>
        </p:txBody>
      </p:sp>
      <p:sp>
        <p:nvSpPr>
          <p:cNvPr id="24" name="Text 22"/>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Updates on security trends, phishing simulation exercises, and recognition for developers who demonstrate strong practice.</a:t>
            </a:r>
            <a:endParaRPr lang="en-US" sz="1650" dirty="0"/>
          </a:p>
        </p:txBody>
      </p:sp>
      <p:sp>
        <p:nvSpPr>
          <p:cNvPr id="25" name="Shape 23"/>
          <p:cNvSpPr/>
          <p:nvPr/>
        </p:nvSpPr>
        <p:spPr>
          <a:xfrm>
            <a:off x="502920" y="5330952"/>
            <a:ext cx="11155680" cy="566928"/>
          </a:xfrm>
          <a:prstGeom prst="roundRect">
            <a:avLst>
              <a:gd name="adj" fmla="val 14516"/>
            </a:avLst>
          </a:prstGeom>
          <a:solidFill>
            <a:srgbClr val="D1FAE5"/>
          </a:solidFill>
          <a:ln w="12700">
            <a:solidFill>
              <a:srgbClr val="10B981"/>
            </a:solidFill>
            <a:prstDash val="solid"/>
          </a:ln>
        </p:spPr>
      </p:sp>
      <p:sp>
        <p:nvSpPr>
          <p:cNvPr id="26" name="Text 24"/>
          <p:cNvSpPr/>
          <p:nvPr/>
        </p:nvSpPr>
        <p:spPr>
          <a:xfrm>
            <a:off x="822960" y="5330952"/>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A phishing simulation is not just training — it is confirmation evidence. It measures behaviour, where an attendance sheet only measures attendance.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Risk management plans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Four activities in a systematic risk assessment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044702"/>
          </a:xfrm>
          <a:prstGeom prst="roundRect">
            <a:avLst>
              <a:gd name="adj" fmla="val 7877"/>
            </a:avLst>
          </a:prstGeom>
          <a:solidFill>
            <a:srgbClr val="FFFFFF"/>
          </a:solidFill>
          <a:ln w="15240">
            <a:solidFill>
              <a:srgbClr val="4361EE"/>
            </a:solidFill>
            <a:prstDash val="solid"/>
          </a:ln>
        </p:spPr>
      </p:sp>
      <p:sp>
        <p:nvSpPr>
          <p:cNvPr id="11" name="Shape 9"/>
          <p:cNvSpPr/>
          <p:nvPr/>
        </p:nvSpPr>
        <p:spPr>
          <a:xfrm>
            <a:off x="731520" y="1756791"/>
            <a:ext cx="457200" cy="457200"/>
          </a:xfrm>
          <a:prstGeom prst="ellipse">
            <a:avLst/>
          </a:prstGeom>
          <a:solidFill>
            <a:srgbClr val="4361EE"/>
          </a:solidFill>
          <a:ln/>
        </p:spPr>
      </p:sp>
      <p:sp>
        <p:nvSpPr>
          <p:cNvPr id="12" name="Text 10"/>
          <p:cNvSpPr/>
          <p:nvPr/>
        </p:nvSpPr>
        <p:spPr>
          <a:xfrm>
            <a:off x="731520" y="1756791"/>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Identify and evaluate risks</a:t>
            </a:r>
            <a:endParaRPr lang="en-US" sz="1900" dirty="0"/>
          </a:p>
        </p:txBody>
      </p:sp>
      <p:sp>
        <p:nvSpPr>
          <p:cNvPr id="14" name="Text 12"/>
          <p:cNvSpPr/>
          <p:nvPr/>
        </p:nvSpPr>
        <p:spPr>
          <a:xfrm>
            <a:off x="1371600" y="1975104"/>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Determine potential impact and likelihood across cyber security threats, legal compliance issues and operational risks.</a:t>
            </a:r>
            <a:endParaRPr lang="en-US" sz="1650" dirty="0"/>
          </a:p>
        </p:txBody>
      </p:sp>
      <p:sp>
        <p:nvSpPr>
          <p:cNvPr id="15" name="Shape 13"/>
          <p:cNvSpPr/>
          <p:nvPr/>
        </p:nvSpPr>
        <p:spPr>
          <a:xfrm>
            <a:off x="502920" y="2608326"/>
            <a:ext cx="11155680" cy="1044702"/>
          </a:xfrm>
          <a:prstGeom prst="roundRect">
            <a:avLst>
              <a:gd name="adj" fmla="val 7877"/>
            </a:avLst>
          </a:prstGeom>
          <a:solidFill>
            <a:srgbClr val="FFFFFF"/>
          </a:solidFill>
          <a:ln w="15240">
            <a:solidFill>
              <a:srgbClr val="4361EE"/>
            </a:solidFill>
            <a:prstDash val="solid"/>
          </a:ln>
        </p:spPr>
      </p:sp>
      <p:sp>
        <p:nvSpPr>
          <p:cNvPr id="16" name="Shape 14"/>
          <p:cNvSpPr/>
          <p:nvPr/>
        </p:nvSpPr>
        <p:spPr>
          <a:xfrm>
            <a:off x="731520" y="2902077"/>
            <a:ext cx="457200" cy="457200"/>
          </a:xfrm>
          <a:prstGeom prst="ellipse">
            <a:avLst/>
          </a:prstGeom>
          <a:solidFill>
            <a:srgbClr val="4361EE"/>
          </a:solidFill>
          <a:ln/>
        </p:spPr>
      </p:sp>
      <p:sp>
        <p:nvSpPr>
          <p:cNvPr id="17" name="Text 15"/>
          <p:cNvSpPr/>
          <p:nvPr/>
        </p:nvSpPr>
        <p:spPr>
          <a:xfrm>
            <a:off x="731520" y="2902077"/>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73634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Develop and implement mitigation strategies</a:t>
            </a:r>
            <a:endParaRPr lang="en-US" sz="1900" dirty="0"/>
          </a:p>
        </p:txBody>
      </p:sp>
      <p:sp>
        <p:nvSpPr>
          <p:cNvPr id="19" name="Text 17"/>
          <p:cNvSpPr/>
          <p:nvPr/>
        </p:nvSpPr>
        <p:spPr>
          <a:xfrm>
            <a:off x="1371600" y="3120390"/>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Reduce or eliminate the identified risks — regular software updates, employee training, improved access controls.</a:t>
            </a:r>
            <a:endParaRPr lang="en-US" sz="1650" dirty="0"/>
          </a:p>
        </p:txBody>
      </p:sp>
      <p:sp>
        <p:nvSpPr>
          <p:cNvPr id="20" name="Shape 18"/>
          <p:cNvSpPr/>
          <p:nvPr/>
        </p:nvSpPr>
        <p:spPr>
          <a:xfrm>
            <a:off x="502920" y="3753612"/>
            <a:ext cx="11155680" cy="1044702"/>
          </a:xfrm>
          <a:prstGeom prst="roundRect">
            <a:avLst>
              <a:gd name="adj" fmla="val 7877"/>
            </a:avLst>
          </a:prstGeom>
          <a:solidFill>
            <a:srgbClr val="FFFFFF"/>
          </a:solidFill>
          <a:ln w="15240">
            <a:solidFill>
              <a:srgbClr val="4361EE"/>
            </a:solidFill>
            <a:prstDash val="solid"/>
          </a:ln>
        </p:spPr>
      </p:sp>
      <p:sp>
        <p:nvSpPr>
          <p:cNvPr id="21" name="Shape 19"/>
          <p:cNvSpPr/>
          <p:nvPr/>
        </p:nvSpPr>
        <p:spPr>
          <a:xfrm>
            <a:off x="731520" y="4047363"/>
            <a:ext cx="457200" cy="457200"/>
          </a:xfrm>
          <a:prstGeom prst="ellipse">
            <a:avLst/>
          </a:prstGeom>
          <a:solidFill>
            <a:srgbClr val="4361EE"/>
          </a:solidFill>
          <a:ln/>
        </p:spPr>
      </p:sp>
      <p:sp>
        <p:nvSpPr>
          <p:cNvPr id="22" name="Text 20"/>
          <p:cNvSpPr/>
          <p:nvPr/>
        </p:nvSpPr>
        <p:spPr>
          <a:xfrm>
            <a:off x="731520" y="4047363"/>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388162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Prepare incident response plans</a:t>
            </a:r>
            <a:endParaRPr lang="en-US" sz="1900" dirty="0"/>
          </a:p>
        </p:txBody>
      </p:sp>
      <p:sp>
        <p:nvSpPr>
          <p:cNvPr id="24" name="Text 22"/>
          <p:cNvSpPr/>
          <p:nvPr/>
        </p:nvSpPr>
        <p:spPr>
          <a:xfrm>
            <a:off x="1371600" y="4265676"/>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Defined communication protocols, containment measures and recovery procedures, so damage is minimised and recovery is faster.</a:t>
            </a:r>
            <a:endParaRPr lang="en-US" sz="1650" dirty="0"/>
          </a:p>
        </p:txBody>
      </p:sp>
      <p:sp>
        <p:nvSpPr>
          <p:cNvPr id="25" name="Shape 23"/>
          <p:cNvSpPr/>
          <p:nvPr/>
        </p:nvSpPr>
        <p:spPr>
          <a:xfrm>
            <a:off x="502920" y="4898898"/>
            <a:ext cx="11155680" cy="1044702"/>
          </a:xfrm>
          <a:prstGeom prst="roundRect">
            <a:avLst>
              <a:gd name="adj" fmla="val 7877"/>
            </a:avLst>
          </a:prstGeom>
          <a:solidFill>
            <a:srgbClr val="FFFFFF"/>
          </a:solidFill>
          <a:ln w="15240">
            <a:solidFill>
              <a:srgbClr val="4361EE"/>
            </a:solidFill>
            <a:prstDash val="solid"/>
          </a:ln>
        </p:spPr>
      </p:sp>
      <p:sp>
        <p:nvSpPr>
          <p:cNvPr id="26" name="Shape 24"/>
          <p:cNvSpPr/>
          <p:nvPr/>
        </p:nvSpPr>
        <p:spPr>
          <a:xfrm>
            <a:off x="731520" y="5192649"/>
            <a:ext cx="457200" cy="457200"/>
          </a:xfrm>
          <a:prstGeom prst="ellipse">
            <a:avLst/>
          </a:prstGeom>
          <a:solidFill>
            <a:srgbClr val="4361EE"/>
          </a:solidFill>
          <a:ln/>
        </p:spPr>
      </p:sp>
      <p:sp>
        <p:nvSpPr>
          <p:cNvPr id="27" name="Text 25"/>
          <p:cNvSpPr/>
          <p:nvPr/>
        </p:nvSpPr>
        <p:spPr>
          <a:xfrm>
            <a:off x="731520" y="5192649"/>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1371600" y="5026914"/>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Monitor and review the plan</a:t>
            </a:r>
            <a:endParaRPr lang="en-US" sz="1900" dirty="0"/>
          </a:p>
        </p:txBody>
      </p:sp>
      <p:sp>
        <p:nvSpPr>
          <p:cNvPr id="29" name="Text 27"/>
          <p:cNvSpPr/>
          <p:nvPr/>
        </p:nvSpPr>
        <p:spPr>
          <a:xfrm>
            <a:off x="1371600" y="5410962"/>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Keep it current — new threats considered, and current staff aware of their roles if an incident occurs.</a:t>
            </a:r>
            <a:endParaRPr lang="en-US" sz="1650" dirty="0"/>
          </a:p>
        </p:txBody>
      </p:sp>
      <p:sp>
        <p:nvSpPr>
          <p:cNvPr id="30" name="Shape 28"/>
          <p:cNvSpPr/>
          <p:nvPr/>
        </p:nvSpPr>
        <p:spPr>
          <a:xfrm>
            <a:off x="502920" y="6099048"/>
            <a:ext cx="11155680" cy="566928"/>
          </a:xfrm>
          <a:prstGeom prst="roundRect">
            <a:avLst>
              <a:gd name="adj" fmla="val 14516"/>
            </a:avLst>
          </a:prstGeom>
          <a:solidFill>
            <a:srgbClr val="D1FAE5"/>
          </a:solidFill>
          <a:ln w="12700">
            <a:solidFill>
              <a:srgbClr val="10B981"/>
            </a:solidFill>
            <a:prstDash val="solid"/>
          </a:ln>
        </p:spPr>
      </p:sp>
      <p:sp>
        <p:nvSpPr>
          <p:cNvPr id="31" name="Text 29"/>
          <p:cNvSpPr/>
          <p:nvPr/>
        </p:nvSpPr>
        <p:spPr>
          <a:xfrm>
            <a:off x="822960" y="6099048"/>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A plan nobody reviews is a document, not a control. Step 4 is the one organisations skip and the one an evaluation should look for.</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Rating risks in a risk management plan</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Probability × impact gives a score from 1 to 9, and the score sets the action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1463040" cy="438912"/>
          </a:xfrm>
          <a:prstGeom prst="rect">
            <a:avLst/>
          </a:prstGeom>
          <a:solidFill>
            <a:srgbClr val="EF4444"/>
          </a:solidFill>
          <a:ln w="12700">
            <a:solidFill>
              <a:srgbClr val="EF4444"/>
            </a:solidFill>
            <a:prstDash val="solid"/>
          </a:ln>
        </p:spPr>
      </p:sp>
      <p:sp>
        <p:nvSpPr>
          <p:cNvPr id="11" name="Text 9"/>
          <p:cNvSpPr/>
          <p:nvPr/>
        </p:nvSpPr>
        <p:spPr>
          <a:xfrm>
            <a:off x="502920" y="1508760"/>
            <a:ext cx="14630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Score</a:t>
            </a:r>
            <a:endParaRPr lang="en-US" sz="1200" dirty="0"/>
          </a:p>
        </p:txBody>
      </p:sp>
      <p:sp>
        <p:nvSpPr>
          <p:cNvPr id="12" name="Shape 10"/>
          <p:cNvSpPr/>
          <p:nvPr/>
        </p:nvSpPr>
        <p:spPr>
          <a:xfrm>
            <a:off x="1965960" y="1508760"/>
            <a:ext cx="2926080" cy="438912"/>
          </a:xfrm>
          <a:prstGeom prst="rect">
            <a:avLst/>
          </a:prstGeom>
          <a:solidFill>
            <a:srgbClr val="EF4444"/>
          </a:solidFill>
          <a:ln w="12700">
            <a:solidFill>
              <a:srgbClr val="EF4444"/>
            </a:solidFill>
            <a:prstDash val="solid"/>
          </a:ln>
        </p:spPr>
      </p:sp>
      <p:sp>
        <p:nvSpPr>
          <p:cNvPr id="13" name="Text 11"/>
          <p:cNvSpPr/>
          <p:nvPr/>
        </p:nvSpPr>
        <p:spPr>
          <a:xfrm>
            <a:off x="1965960" y="1508760"/>
            <a:ext cx="29260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Risk rating</a:t>
            </a:r>
            <a:endParaRPr lang="en-US" sz="1200" dirty="0"/>
          </a:p>
        </p:txBody>
      </p:sp>
      <p:sp>
        <p:nvSpPr>
          <p:cNvPr id="14" name="Shape 12"/>
          <p:cNvSpPr/>
          <p:nvPr/>
        </p:nvSpPr>
        <p:spPr>
          <a:xfrm>
            <a:off x="4892040" y="1508760"/>
            <a:ext cx="2926080" cy="438912"/>
          </a:xfrm>
          <a:prstGeom prst="rect">
            <a:avLst/>
          </a:prstGeom>
          <a:solidFill>
            <a:srgbClr val="EF4444"/>
          </a:solidFill>
          <a:ln w="12700">
            <a:solidFill>
              <a:srgbClr val="EF4444"/>
            </a:solidFill>
            <a:prstDash val="solid"/>
          </a:ln>
        </p:spPr>
      </p:sp>
      <p:sp>
        <p:nvSpPr>
          <p:cNvPr id="15" name="Text 13"/>
          <p:cNvSpPr/>
          <p:nvPr/>
        </p:nvSpPr>
        <p:spPr>
          <a:xfrm>
            <a:off x="4892040" y="1508760"/>
            <a:ext cx="29260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Status</a:t>
            </a:r>
            <a:endParaRPr lang="en-US" sz="1200" dirty="0"/>
          </a:p>
        </p:txBody>
      </p:sp>
      <p:sp>
        <p:nvSpPr>
          <p:cNvPr id="16" name="Shape 14"/>
          <p:cNvSpPr/>
          <p:nvPr/>
        </p:nvSpPr>
        <p:spPr>
          <a:xfrm>
            <a:off x="7818120" y="1508760"/>
            <a:ext cx="3840480" cy="438912"/>
          </a:xfrm>
          <a:prstGeom prst="rect">
            <a:avLst/>
          </a:prstGeom>
          <a:solidFill>
            <a:srgbClr val="EF4444"/>
          </a:solidFill>
          <a:ln w="12700">
            <a:solidFill>
              <a:srgbClr val="EF4444"/>
            </a:solidFill>
            <a:prstDash val="solid"/>
          </a:ln>
        </p:spPr>
      </p:sp>
      <p:sp>
        <p:nvSpPr>
          <p:cNvPr id="17" name="Text 15"/>
          <p:cNvSpPr/>
          <p:nvPr/>
        </p:nvSpPr>
        <p:spPr>
          <a:xfrm>
            <a:off x="7818120" y="1508760"/>
            <a:ext cx="3840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Action</a:t>
            </a:r>
            <a:endParaRPr lang="en-US" sz="1200" dirty="0"/>
          </a:p>
        </p:txBody>
      </p:sp>
      <p:sp>
        <p:nvSpPr>
          <p:cNvPr id="18" name="Shape 16"/>
          <p:cNvSpPr/>
          <p:nvPr/>
        </p:nvSpPr>
        <p:spPr>
          <a:xfrm>
            <a:off x="502920" y="1947672"/>
            <a:ext cx="1463040" cy="527739"/>
          </a:xfrm>
          <a:prstGeom prst="rect">
            <a:avLst/>
          </a:prstGeom>
          <a:solidFill>
            <a:srgbClr val="FFFFFF"/>
          </a:solidFill>
          <a:ln w="12700">
            <a:solidFill>
              <a:srgbClr val="D8DDE6"/>
            </a:solidFill>
            <a:prstDash val="solid"/>
          </a:ln>
        </p:spPr>
      </p:sp>
      <p:sp>
        <p:nvSpPr>
          <p:cNvPr id="19" name="Text 17"/>
          <p:cNvSpPr/>
          <p:nvPr/>
        </p:nvSpPr>
        <p:spPr>
          <a:xfrm>
            <a:off x="594360" y="1947672"/>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1–2</a:t>
            </a:r>
            <a:endParaRPr lang="en-US" sz="1500" dirty="0"/>
          </a:p>
        </p:txBody>
      </p:sp>
      <p:sp>
        <p:nvSpPr>
          <p:cNvPr id="20" name="Shape 18"/>
          <p:cNvSpPr/>
          <p:nvPr/>
        </p:nvSpPr>
        <p:spPr>
          <a:xfrm>
            <a:off x="1965960" y="1947672"/>
            <a:ext cx="2926080" cy="527739"/>
          </a:xfrm>
          <a:prstGeom prst="rect">
            <a:avLst/>
          </a:prstGeom>
          <a:solidFill>
            <a:srgbClr val="FFFFFF"/>
          </a:solidFill>
          <a:ln w="12700">
            <a:solidFill>
              <a:srgbClr val="D8DDE6"/>
            </a:solidFill>
            <a:prstDash val="solid"/>
          </a:ln>
        </p:spPr>
      </p:sp>
      <p:sp>
        <p:nvSpPr>
          <p:cNvPr id="21" name="Text 19"/>
          <p:cNvSpPr/>
          <p:nvPr/>
        </p:nvSpPr>
        <p:spPr>
          <a:xfrm>
            <a:off x="2057400" y="1947672"/>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LOW</a:t>
            </a:r>
            <a:endParaRPr lang="en-US" sz="1500" dirty="0"/>
          </a:p>
        </p:txBody>
      </p:sp>
      <p:sp>
        <p:nvSpPr>
          <p:cNvPr id="22" name="Shape 20"/>
          <p:cNvSpPr/>
          <p:nvPr/>
        </p:nvSpPr>
        <p:spPr>
          <a:xfrm>
            <a:off x="4892040" y="1947672"/>
            <a:ext cx="2926080" cy="527739"/>
          </a:xfrm>
          <a:prstGeom prst="rect">
            <a:avLst/>
          </a:prstGeom>
          <a:solidFill>
            <a:srgbClr val="FFFFFF"/>
          </a:solidFill>
          <a:ln w="12700">
            <a:solidFill>
              <a:srgbClr val="D8DDE6"/>
            </a:solidFill>
            <a:prstDash val="solid"/>
          </a:ln>
        </p:spPr>
      </p:sp>
      <p:sp>
        <p:nvSpPr>
          <p:cNvPr id="23" name="Text 21"/>
          <p:cNvSpPr/>
          <p:nvPr/>
        </p:nvSpPr>
        <p:spPr>
          <a:xfrm>
            <a:off x="4983480" y="1947672"/>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Acceptable</a:t>
            </a:r>
            <a:endParaRPr lang="en-US" sz="1500" dirty="0"/>
          </a:p>
        </p:txBody>
      </p:sp>
      <p:sp>
        <p:nvSpPr>
          <p:cNvPr id="24" name="Shape 22"/>
          <p:cNvSpPr/>
          <p:nvPr/>
        </p:nvSpPr>
        <p:spPr>
          <a:xfrm>
            <a:off x="7818120" y="1947672"/>
            <a:ext cx="3840480" cy="527739"/>
          </a:xfrm>
          <a:prstGeom prst="rect">
            <a:avLst/>
          </a:prstGeom>
          <a:solidFill>
            <a:srgbClr val="FFFFFF"/>
          </a:solidFill>
          <a:ln w="12700">
            <a:solidFill>
              <a:srgbClr val="D8DDE6"/>
            </a:solidFill>
            <a:prstDash val="solid"/>
          </a:ln>
        </p:spPr>
      </p:sp>
      <p:sp>
        <p:nvSpPr>
          <p:cNvPr id="25" name="Text 23"/>
          <p:cNvSpPr/>
          <p:nvPr/>
        </p:nvSpPr>
        <p:spPr>
          <a:xfrm>
            <a:off x="7909560" y="1947672"/>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None</a:t>
            </a:r>
            <a:endParaRPr lang="en-US" sz="1500" dirty="0"/>
          </a:p>
        </p:txBody>
      </p:sp>
      <p:sp>
        <p:nvSpPr>
          <p:cNvPr id="26" name="Shape 24"/>
          <p:cNvSpPr/>
          <p:nvPr/>
        </p:nvSpPr>
        <p:spPr>
          <a:xfrm>
            <a:off x="502920" y="2475411"/>
            <a:ext cx="1463040" cy="527739"/>
          </a:xfrm>
          <a:prstGeom prst="rect">
            <a:avLst/>
          </a:prstGeom>
          <a:solidFill>
            <a:srgbClr val="F4F6FB"/>
          </a:solidFill>
          <a:ln w="12700">
            <a:solidFill>
              <a:srgbClr val="D8DDE6"/>
            </a:solidFill>
            <a:prstDash val="solid"/>
          </a:ln>
        </p:spPr>
      </p:sp>
      <p:sp>
        <p:nvSpPr>
          <p:cNvPr id="27" name="Text 25"/>
          <p:cNvSpPr/>
          <p:nvPr/>
        </p:nvSpPr>
        <p:spPr>
          <a:xfrm>
            <a:off x="594360" y="2475411"/>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3</a:t>
            </a:r>
            <a:endParaRPr lang="en-US" sz="1500" dirty="0"/>
          </a:p>
        </p:txBody>
      </p:sp>
      <p:sp>
        <p:nvSpPr>
          <p:cNvPr id="28" name="Shape 26"/>
          <p:cNvSpPr/>
          <p:nvPr/>
        </p:nvSpPr>
        <p:spPr>
          <a:xfrm>
            <a:off x="1965960" y="2475411"/>
            <a:ext cx="2926080" cy="527739"/>
          </a:xfrm>
          <a:prstGeom prst="rect">
            <a:avLst/>
          </a:prstGeom>
          <a:solidFill>
            <a:srgbClr val="F4F6FB"/>
          </a:solidFill>
          <a:ln w="12700">
            <a:solidFill>
              <a:srgbClr val="D8DDE6"/>
            </a:solidFill>
            <a:prstDash val="solid"/>
          </a:ln>
        </p:spPr>
      </p:sp>
      <p:sp>
        <p:nvSpPr>
          <p:cNvPr id="29" name="Text 27"/>
          <p:cNvSpPr/>
          <p:nvPr/>
        </p:nvSpPr>
        <p:spPr>
          <a:xfrm>
            <a:off x="2057400" y="2475411"/>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LOW</a:t>
            </a:r>
            <a:endParaRPr lang="en-US" sz="1500" dirty="0"/>
          </a:p>
        </p:txBody>
      </p:sp>
      <p:sp>
        <p:nvSpPr>
          <p:cNvPr id="30" name="Shape 28"/>
          <p:cNvSpPr/>
          <p:nvPr/>
        </p:nvSpPr>
        <p:spPr>
          <a:xfrm>
            <a:off x="4892040" y="2475411"/>
            <a:ext cx="2926080" cy="527739"/>
          </a:xfrm>
          <a:prstGeom prst="rect">
            <a:avLst/>
          </a:prstGeom>
          <a:solidFill>
            <a:srgbClr val="F4F6FB"/>
          </a:solidFill>
          <a:ln w="12700">
            <a:solidFill>
              <a:srgbClr val="D8DDE6"/>
            </a:solidFill>
            <a:prstDash val="solid"/>
          </a:ln>
        </p:spPr>
      </p:sp>
      <p:sp>
        <p:nvSpPr>
          <p:cNvPr id="31" name="Text 29"/>
          <p:cNvSpPr/>
          <p:nvPr/>
        </p:nvSpPr>
        <p:spPr>
          <a:xfrm>
            <a:off x="4983480" y="2475411"/>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Acceptable</a:t>
            </a:r>
            <a:endParaRPr lang="en-US" sz="1500" dirty="0"/>
          </a:p>
        </p:txBody>
      </p:sp>
      <p:sp>
        <p:nvSpPr>
          <p:cNvPr id="32" name="Shape 30"/>
          <p:cNvSpPr/>
          <p:nvPr/>
        </p:nvSpPr>
        <p:spPr>
          <a:xfrm>
            <a:off x="7818120" y="2475411"/>
            <a:ext cx="3840480" cy="527739"/>
          </a:xfrm>
          <a:prstGeom prst="rect">
            <a:avLst/>
          </a:prstGeom>
          <a:solidFill>
            <a:srgbClr val="F4F6FB"/>
          </a:solidFill>
          <a:ln w="12700">
            <a:solidFill>
              <a:srgbClr val="D8DDE6"/>
            </a:solidFill>
            <a:prstDash val="solid"/>
          </a:ln>
        </p:spPr>
      </p:sp>
      <p:sp>
        <p:nvSpPr>
          <p:cNvPr id="33" name="Text 31"/>
          <p:cNvSpPr/>
          <p:nvPr/>
        </p:nvSpPr>
        <p:spPr>
          <a:xfrm>
            <a:off x="7909560" y="2475411"/>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Routine audit</a:t>
            </a:r>
            <a:endParaRPr lang="en-US" sz="1500" dirty="0"/>
          </a:p>
        </p:txBody>
      </p:sp>
      <p:sp>
        <p:nvSpPr>
          <p:cNvPr id="34" name="Shape 32"/>
          <p:cNvSpPr/>
          <p:nvPr/>
        </p:nvSpPr>
        <p:spPr>
          <a:xfrm>
            <a:off x="502920" y="3003151"/>
            <a:ext cx="1463040" cy="527739"/>
          </a:xfrm>
          <a:prstGeom prst="rect">
            <a:avLst/>
          </a:prstGeom>
          <a:solidFill>
            <a:srgbClr val="FFFFFF"/>
          </a:solidFill>
          <a:ln w="12700">
            <a:solidFill>
              <a:srgbClr val="D8DDE6"/>
            </a:solidFill>
            <a:prstDash val="solid"/>
          </a:ln>
        </p:spPr>
      </p:sp>
      <p:sp>
        <p:nvSpPr>
          <p:cNvPr id="35" name="Text 33"/>
          <p:cNvSpPr/>
          <p:nvPr/>
        </p:nvSpPr>
        <p:spPr>
          <a:xfrm>
            <a:off x="594360" y="3003151"/>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4–5</a:t>
            </a:r>
            <a:endParaRPr lang="en-US" sz="1500" dirty="0"/>
          </a:p>
        </p:txBody>
      </p:sp>
      <p:sp>
        <p:nvSpPr>
          <p:cNvPr id="36" name="Shape 34"/>
          <p:cNvSpPr/>
          <p:nvPr/>
        </p:nvSpPr>
        <p:spPr>
          <a:xfrm>
            <a:off x="1965960" y="3003151"/>
            <a:ext cx="2926080" cy="527739"/>
          </a:xfrm>
          <a:prstGeom prst="rect">
            <a:avLst/>
          </a:prstGeom>
          <a:solidFill>
            <a:srgbClr val="FFFFFF"/>
          </a:solidFill>
          <a:ln w="12700">
            <a:solidFill>
              <a:srgbClr val="D8DDE6"/>
            </a:solidFill>
            <a:prstDash val="solid"/>
          </a:ln>
        </p:spPr>
      </p:sp>
      <p:sp>
        <p:nvSpPr>
          <p:cNvPr id="37" name="Text 35"/>
          <p:cNvSpPr/>
          <p:nvPr/>
        </p:nvSpPr>
        <p:spPr>
          <a:xfrm>
            <a:off x="2057400" y="3003151"/>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MEDIUM</a:t>
            </a:r>
            <a:endParaRPr lang="en-US" sz="1500" dirty="0"/>
          </a:p>
        </p:txBody>
      </p:sp>
      <p:sp>
        <p:nvSpPr>
          <p:cNvPr id="38" name="Shape 36"/>
          <p:cNvSpPr/>
          <p:nvPr/>
        </p:nvSpPr>
        <p:spPr>
          <a:xfrm>
            <a:off x="4892040" y="3003151"/>
            <a:ext cx="2926080" cy="527739"/>
          </a:xfrm>
          <a:prstGeom prst="rect">
            <a:avLst/>
          </a:prstGeom>
          <a:solidFill>
            <a:srgbClr val="FFFFFF"/>
          </a:solidFill>
          <a:ln w="12700">
            <a:solidFill>
              <a:srgbClr val="D8DDE6"/>
            </a:solidFill>
            <a:prstDash val="solid"/>
          </a:ln>
        </p:spPr>
      </p:sp>
      <p:sp>
        <p:nvSpPr>
          <p:cNvPr id="39" name="Text 37"/>
          <p:cNvSpPr/>
          <p:nvPr/>
        </p:nvSpPr>
        <p:spPr>
          <a:xfrm>
            <a:off x="4983480" y="3003151"/>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Tolerable</a:t>
            </a:r>
            <a:endParaRPr lang="en-US" sz="1500" dirty="0"/>
          </a:p>
        </p:txBody>
      </p:sp>
      <p:sp>
        <p:nvSpPr>
          <p:cNvPr id="40" name="Shape 38"/>
          <p:cNvSpPr/>
          <p:nvPr/>
        </p:nvSpPr>
        <p:spPr>
          <a:xfrm>
            <a:off x="7818120" y="3003151"/>
            <a:ext cx="3840480" cy="527739"/>
          </a:xfrm>
          <a:prstGeom prst="rect">
            <a:avLst/>
          </a:prstGeom>
          <a:solidFill>
            <a:srgbClr val="FFFFFF"/>
          </a:solidFill>
          <a:ln w="12700">
            <a:solidFill>
              <a:srgbClr val="D8DDE6"/>
            </a:solidFill>
            <a:prstDash val="solid"/>
          </a:ln>
        </p:spPr>
      </p:sp>
      <p:sp>
        <p:nvSpPr>
          <p:cNvPr id="41" name="Text 39"/>
          <p:cNvSpPr/>
          <p:nvPr/>
        </p:nvSpPr>
        <p:spPr>
          <a:xfrm>
            <a:off x="7909560" y="3003151"/>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Address as soon as possible</a:t>
            </a:r>
            <a:endParaRPr lang="en-US" sz="1500" dirty="0"/>
          </a:p>
        </p:txBody>
      </p:sp>
      <p:sp>
        <p:nvSpPr>
          <p:cNvPr id="42" name="Shape 40"/>
          <p:cNvSpPr/>
          <p:nvPr/>
        </p:nvSpPr>
        <p:spPr>
          <a:xfrm>
            <a:off x="502920" y="3530890"/>
            <a:ext cx="1463040" cy="527739"/>
          </a:xfrm>
          <a:prstGeom prst="rect">
            <a:avLst/>
          </a:prstGeom>
          <a:solidFill>
            <a:srgbClr val="F4F6FB"/>
          </a:solidFill>
          <a:ln w="12700">
            <a:solidFill>
              <a:srgbClr val="D8DDE6"/>
            </a:solidFill>
            <a:prstDash val="solid"/>
          </a:ln>
        </p:spPr>
      </p:sp>
      <p:sp>
        <p:nvSpPr>
          <p:cNvPr id="43" name="Text 41"/>
          <p:cNvSpPr/>
          <p:nvPr/>
        </p:nvSpPr>
        <p:spPr>
          <a:xfrm>
            <a:off x="594360" y="3530890"/>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6</a:t>
            </a:r>
            <a:endParaRPr lang="en-US" sz="1500" dirty="0"/>
          </a:p>
        </p:txBody>
      </p:sp>
      <p:sp>
        <p:nvSpPr>
          <p:cNvPr id="44" name="Shape 42"/>
          <p:cNvSpPr/>
          <p:nvPr/>
        </p:nvSpPr>
        <p:spPr>
          <a:xfrm>
            <a:off x="1965960" y="3530890"/>
            <a:ext cx="2926080" cy="527739"/>
          </a:xfrm>
          <a:prstGeom prst="rect">
            <a:avLst/>
          </a:prstGeom>
          <a:solidFill>
            <a:srgbClr val="F4F6FB"/>
          </a:solidFill>
          <a:ln w="12700">
            <a:solidFill>
              <a:srgbClr val="D8DDE6"/>
            </a:solidFill>
            <a:prstDash val="solid"/>
          </a:ln>
        </p:spPr>
      </p:sp>
      <p:sp>
        <p:nvSpPr>
          <p:cNvPr id="45" name="Text 43"/>
          <p:cNvSpPr/>
          <p:nvPr/>
        </p:nvSpPr>
        <p:spPr>
          <a:xfrm>
            <a:off x="2057400" y="3530890"/>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HIGH</a:t>
            </a:r>
            <a:endParaRPr lang="en-US" sz="1500" dirty="0"/>
          </a:p>
        </p:txBody>
      </p:sp>
      <p:sp>
        <p:nvSpPr>
          <p:cNvPr id="46" name="Shape 44"/>
          <p:cNvSpPr/>
          <p:nvPr/>
        </p:nvSpPr>
        <p:spPr>
          <a:xfrm>
            <a:off x="4892040" y="3530890"/>
            <a:ext cx="2926080" cy="527739"/>
          </a:xfrm>
          <a:prstGeom prst="rect">
            <a:avLst/>
          </a:prstGeom>
          <a:solidFill>
            <a:srgbClr val="F4F6FB"/>
          </a:solidFill>
          <a:ln w="12700">
            <a:solidFill>
              <a:srgbClr val="D8DDE6"/>
            </a:solidFill>
            <a:prstDash val="solid"/>
          </a:ln>
        </p:spPr>
      </p:sp>
      <p:sp>
        <p:nvSpPr>
          <p:cNvPr id="47" name="Text 45"/>
          <p:cNvSpPr/>
          <p:nvPr/>
        </p:nvSpPr>
        <p:spPr>
          <a:xfrm>
            <a:off x="4983480" y="3530890"/>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Manageable</a:t>
            </a:r>
            <a:endParaRPr lang="en-US" sz="1500" dirty="0"/>
          </a:p>
        </p:txBody>
      </p:sp>
      <p:sp>
        <p:nvSpPr>
          <p:cNvPr id="48" name="Shape 46"/>
          <p:cNvSpPr/>
          <p:nvPr/>
        </p:nvSpPr>
        <p:spPr>
          <a:xfrm>
            <a:off x="7818120" y="3530890"/>
            <a:ext cx="3840480" cy="527739"/>
          </a:xfrm>
          <a:prstGeom prst="rect">
            <a:avLst/>
          </a:prstGeom>
          <a:solidFill>
            <a:srgbClr val="F4F6FB"/>
          </a:solidFill>
          <a:ln w="12700">
            <a:solidFill>
              <a:srgbClr val="D8DDE6"/>
            </a:solidFill>
            <a:prstDash val="solid"/>
          </a:ln>
        </p:spPr>
      </p:sp>
      <p:sp>
        <p:nvSpPr>
          <p:cNvPr id="49" name="Text 47"/>
          <p:cNvSpPr/>
          <p:nvPr/>
        </p:nvSpPr>
        <p:spPr>
          <a:xfrm>
            <a:off x="7909560" y="3530890"/>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Priority</a:t>
            </a:r>
            <a:endParaRPr lang="en-US" sz="1500" dirty="0"/>
          </a:p>
        </p:txBody>
      </p:sp>
      <p:sp>
        <p:nvSpPr>
          <p:cNvPr id="50" name="Shape 48"/>
          <p:cNvSpPr/>
          <p:nvPr/>
        </p:nvSpPr>
        <p:spPr>
          <a:xfrm>
            <a:off x="502920" y="4058630"/>
            <a:ext cx="1463040" cy="527739"/>
          </a:xfrm>
          <a:prstGeom prst="rect">
            <a:avLst/>
          </a:prstGeom>
          <a:solidFill>
            <a:srgbClr val="FFFFFF"/>
          </a:solidFill>
          <a:ln w="12700">
            <a:solidFill>
              <a:srgbClr val="D8DDE6"/>
            </a:solidFill>
            <a:prstDash val="solid"/>
          </a:ln>
        </p:spPr>
      </p:sp>
      <p:sp>
        <p:nvSpPr>
          <p:cNvPr id="51" name="Text 49"/>
          <p:cNvSpPr/>
          <p:nvPr/>
        </p:nvSpPr>
        <p:spPr>
          <a:xfrm>
            <a:off x="594360" y="4058630"/>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7</a:t>
            </a:r>
            <a:endParaRPr lang="en-US" sz="1500" dirty="0"/>
          </a:p>
        </p:txBody>
      </p:sp>
      <p:sp>
        <p:nvSpPr>
          <p:cNvPr id="52" name="Shape 50"/>
          <p:cNvSpPr/>
          <p:nvPr/>
        </p:nvSpPr>
        <p:spPr>
          <a:xfrm>
            <a:off x="1965960" y="4058630"/>
            <a:ext cx="2926080" cy="527739"/>
          </a:xfrm>
          <a:prstGeom prst="rect">
            <a:avLst/>
          </a:prstGeom>
          <a:solidFill>
            <a:srgbClr val="FFFFFF"/>
          </a:solidFill>
          <a:ln w="12700">
            <a:solidFill>
              <a:srgbClr val="D8DDE6"/>
            </a:solidFill>
            <a:prstDash val="solid"/>
          </a:ln>
        </p:spPr>
      </p:sp>
      <p:sp>
        <p:nvSpPr>
          <p:cNvPr id="53" name="Text 51"/>
          <p:cNvSpPr/>
          <p:nvPr/>
        </p:nvSpPr>
        <p:spPr>
          <a:xfrm>
            <a:off x="2057400" y="4058630"/>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SERIOUS</a:t>
            </a:r>
            <a:endParaRPr lang="en-US" sz="1500" dirty="0"/>
          </a:p>
        </p:txBody>
      </p:sp>
      <p:sp>
        <p:nvSpPr>
          <p:cNvPr id="54" name="Shape 52"/>
          <p:cNvSpPr/>
          <p:nvPr/>
        </p:nvSpPr>
        <p:spPr>
          <a:xfrm>
            <a:off x="4892040" y="4058630"/>
            <a:ext cx="2926080" cy="527739"/>
          </a:xfrm>
          <a:prstGeom prst="rect">
            <a:avLst/>
          </a:prstGeom>
          <a:solidFill>
            <a:srgbClr val="FFFFFF"/>
          </a:solidFill>
          <a:ln w="12700">
            <a:solidFill>
              <a:srgbClr val="D8DDE6"/>
            </a:solidFill>
            <a:prstDash val="solid"/>
          </a:ln>
        </p:spPr>
      </p:sp>
      <p:sp>
        <p:nvSpPr>
          <p:cNvPr id="55" name="Text 53"/>
          <p:cNvSpPr/>
          <p:nvPr/>
        </p:nvSpPr>
        <p:spPr>
          <a:xfrm>
            <a:off x="4983480" y="4058630"/>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Manageable</a:t>
            </a:r>
            <a:endParaRPr lang="en-US" sz="1500" dirty="0"/>
          </a:p>
        </p:txBody>
      </p:sp>
      <p:sp>
        <p:nvSpPr>
          <p:cNvPr id="56" name="Shape 54"/>
          <p:cNvSpPr/>
          <p:nvPr/>
        </p:nvSpPr>
        <p:spPr>
          <a:xfrm>
            <a:off x="7818120" y="4058630"/>
            <a:ext cx="3840480" cy="527739"/>
          </a:xfrm>
          <a:prstGeom prst="rect">
            <a:avLst/>
          </a:prstGeom>
          <a:solidFill>
            <a:srgbClr val="FFFFFF"/>
          </a:solidFill>
          <a:ln w="12700">
            <a:solidFill>
              <a:srgbClr val="D8DDE6"/>
            </a:solidFill>
            <a:prstDash val="solid"/>
          </a:ln>
        </p:spPr>
      </p:sp>
      <p:sp>
        <p:nvSpPr>
          <p:cNvPr id="57" name="Text 55"/>
          <p:cNvSpPr/>
          <p:nvPr/>
        </p:nvSpPr>
        <p:spPr>
          <a:xfrm>
            <a:off x="7909560" y="4058630"/>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Priority</a:t>
            </a:r>
            <a:endParaRPr lang="en-US" sz="1500" dirty="0"/>
          </a:p>
        </p:txBody>
      </p:sp>
      <p:sp>
        <p:nvSpPr>
          <p:cNvPr id="58" name="Shape 56"/>
          <p:cNvSpPr/>
          <p:nvPr/>
        </p:nvSpPr>
        <p:spPr>
          <a:xfrm>
            <a:off x="502920" y="4586369"/>
            <a:ext cx="1463040" cy="527739"/>
          </a:xfrm>
          <a:prstGeom prst="rect">
            <a:avLst/>
          </a:prstGeom>
          <a:solidFill>
            <a:srgbClr val="F4F6FB"/>
          </a:solidFill>
          <a:ln w="12700">
            <a:solidFill>
              <a:srgbClr val="D8DDE6"/>
            </a:solidFill>
            <a:prstDash val="solid"/>
          </a:ln>
        </p:spPr>
      </p:sp>
      <p:sp>
        <p:nvSpPr>
          <p:cNvPr id="59" name="Text 57"/>
          <p:cNvSpPr/>
          <p:nvPr/>
        </p:nvSpPr>
        <p:spPr>
          <a:xfrm>
            <a:off x="594360" y="4586369"/>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8</a:t>
            </a:r>
            <a:endParaRPr lang="en-US" sz="1500" dirty="0"/>
          </a:p>
        </p:txBody>
      </p:sp>
      <p:sp>
        <p:nvSpPr>
          <p:cNvPr id="60" name="Shape 58"/>
          <p:cNvSpPr/>
          <p:nvPr/>
        </p:nvSpPr>
        <p:spPr>
          <a:xfrm>
            <a:off x="1965960" y="4586369"/>
            <a:ext cx="2926080" cy="527739"/>
          </a:xfrm>
          <a:prstGeom prst="rect">
            <a:avLst/>
          </a:prstGeom>
          <a:solidFill>
            <a:srgbClr val="F4F6FB"/>
          </a:solidFill>
          <a:ln w="12700">
            <a:solidFill>
              <a:srgbClr val="D8DDE6"/>
            </a:solidFill>
            <a:prstDash val="solid"/>
          </a:ln>
        </p:spPr>
      </p:sp>
      <p:sp>
        <p:nvSpPr>
          <p:cNvPr id="61" name="Text 59"/>
          <p:cNvSpPr/>
          <p:nvPr/>
        </p:nvSpPr>
        <p:spPr>
          <a:xfrm>
            <a:off x="2057400" y="4586369"/>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EXTREME</a:t>
            </a:r>
            <a:endParaRPr lang="en-US" sz="1500" dirty="0"/>
          </a:p>
        </p:txBody>
      </p:sp>
      <p:sp>
        <p:nvSpPr>
          <p:cNvPr id="62" name="Shape 60"/>
          <p:cNvSpPr/>
          <p:nvPr/>
        </p:nvSpPr>
        <p:spPr>
          <a:xfrm>
            <a:off x="4892040" y="4586369"/>
            <a:ext cx="2926080" cy="527739"/>
          </a:xfrm>
          <a:prstGeom prst="rect">
            <a:avLst/>
          </a:prstGeom>
          <a:solidFill>
            <a:srgbClr val="F4F6FB"/>
          </a:solidFill>
          <a:ln w="12700">
            <a:solidFill>
              <a:srgbClr val="D8DDE6"/>
            </a:solidFill>
            <a:prstDash val="solid"/>
          </a:ln>
        </p:spPr>
      </p:sp>
      <p:sp>
        <p:nvSpPr>
          <p:cNvPr id="63" name="Text 61"/>
          <p:cNvSpPr/>
          <p:nvPr/>
        </p:nvSpPr>
        <p:spPr>
          <a:xfrm>
            <a:off x="4983480" y="4586369"/>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To be avoided</a:t>
            </a:r>
            <a:endParaRPr lang="en-US" sz="1500" dirty="0"/>
          </a:p>
        </p:txBody>
      </p:sp>
      <p:sp>
        <p:nvSpPr>
          <p:cNvPr id="64" name="Shape 62"/>
          <p:cNvSpPr/>
          <p:nvPr/>
        </p:nvSpPr>
        <p:spPr>
          <a:xfrm>
            <a:off x="7818120" y="4586369"/>
            <a:ext cx="3840480" cy="527739"/>
          </a:xfrm>
          <a:prstGeom prst="rect">
            <a:avLst/>
          </a:prstGeom>
          <a:solidFill>
            <a:srgbClr val="F4F6FB"/>
          </a:solidFill>
          <a:ln w="12700">
            <a:solidFill>
              <a:srgbClr val="D8DDE6"/>
            </a:solidFill>
            <a:prstDash val="solid"/>
          </a:ln>
        </p:spPr>
      </p:sp>
      <p:sp>
        <p:nvSpPr>
          <p:cNvPr id="65" name="Text 63"/>
          <p:cNvSpPr/>
          <p:nvPr/>
        </p:nvSpPr>
        <p:spPr>
          <a:xfrm>
            <a:off x="7909560" y="4586369"/>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Urgent priority</a:t>
            </a:r>
            <a:endParaRPr lang="en-US" sz="1500" dirty="0"/>
          </a:p>
        </p:txBody>
      </p:sp>
      <p:sp>
        <p:nvSpPr>
          <p:cNvPr id="66" name="Shape 64"/>
          <p:cNvSpPr/>
          <p:nvPr/>
        </p:nvSpPr>
        <p:spPr>
          <a:xfrm>
            <a:off x="502920" y="5114109"/>
            <a:ext cx="1463040" cy="527739"/>
          </a:xfrm>
          <a:prstGeom prst="rect">
            <a:avLst/>
          </a:prstGeom>
          <a:solidFill>
            <a:srgbClr val="FFFFFF"/>
          </a:solidFill>
          <a:ln w="12700">
            <a:solidFill>
              <a:srgbClr val="D8DDE6"/>
            </a:solidFill>
            <a:prstDash val="solid"/>
          </a:ln>
        </p:spPr>
      </p:sp>
      <p:sp>
        <p:nvSpPr>
          <p:cNvPr id="67" name="Text 65"/>
          <p:cNvSpPr/>
          <p:nvPr/>
        </p:nvSpPr>
        <p:spPr>
          <a:xfrm>
            <a:off x="594360" y="5114109"/>
            <a:ext cx="1280160" cy="527739"/>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9</a:t>
            </a:r>
            <a:endParaRPr lang="en-US" sz="1500" dirty="0"/>
          </a:p>
        </p:txBody>
      </p:sp>
      <p:sp>
        <p:nvSpPr>
          <p:cNvPr id="68" name="Shape 66"/>
          <p:cNvSpPr/>
          <p:nvPr/>
        </p:nvSpPr>
        <p:spPr>
          <a:xfrm>
            <a:off x="1965960" y="5114109"/>
            <a:ext cx="2926080" cy="527739"/>
          </a:xfrm>
          <a:prstGeom prst="rect">
            <a:avLst/>
          </a:prstGeom>
          <a:solidFill>
            <a:srgbClr val="FFFFFF"/>
          </a:solidFill>
          <a:ln w="12700">
            <a:solidFill>
              <a:srgbClr val="D8DDE6"/>
            </a:solidFill>
            <a:prstDash val="solid"/>
          </a:ln>
        </p:spPr>
      </p:sp>
      <p:sp>
        <p:nvSpPr>
          <p:cNvPr id="69" name="Text 67"/>
          <p:cNvSpPr/>
          <p:nvPr/>
        </p:nvSpPr>
        <p:spPr>
          <a:xfrm>
            <a:off x="2057400" y="5114109"/>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CATASTROPHIC</a:t>
            </a:r>
            <a:endParaRPr lang="en-US" sz="1500" dirty="0"/>
          </a:p>
        </p:txBody>
      </p:sp>
      <p:sp>
        <p:nvSpPr>
          <p:cNvPr id="70" name="Shape 68"/>
          <p:cNvSpPr/>
          <p:nvPr/>
        </p:nvSpPr>
        <p:spPr>
          <a:xfrm>
            <a:off x="4892040" y="5114109"/>
            <a:ext cx="2926080" cy="527739"/>
          </a:xfrm>
          <a:prstGeom prst="rect">
            <a:avLst/>
          </a:prstGeom>
          <a:solidFill>
            <a:srgbClr val="FFFFFF"/>
          </a:solidFill>
          <a:ln w="12700">
            <a:solidFill>
              <a:srgbClr val="D8DDE6"/>
            </a:solidFill>
            <a:prstDash val="solid"/>
          </a:ln>
        </p:spPr>
      </p:sp>
      <p:sp>
        <p:nvSpPr>
          <p:cNvPr id="71" name="Text 69"/>
          <p:cNvSpPr/>
          <p:nvPr/>
        </p:nvSpPr>
        <p:spPr>
          <a:xfrm>
            <a:off x="4983480" y="5114109"/>
            <a:ext cx="27432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To be avoided</a:t>
            </a:r>
            <a:endParaRPr lang="en-US" sz="1500" dirty="0"/>
          </a:p>
        </p:txBody>
      </p:sp>
      <p:sp>
        <p:nvSpPr>
          <p:cNvPr id="72" name="Shape 70"/>
          <p:cNvSpPr/>
          <p:nvPr/>
        </p:nvSpPr>
        <p:spPr>
          <a:xfrm>
            <a:off x="7818120" y="5114109"/>
            <a:ext cx="3840480" cy="527739"/>
          </a:xfrm>
          <a:prstGeom prst="rect">
            <a:avLst/>
          </a:prstGeom>
          <a:solidFill>
            <a:srgbClr val="FFFFFF"/>
          </a:solidFill>
          <a:ln w="12700">
            <a:solidFill>
              <a:srgbClr val="D8DDE6"/>
            </a:solidFill>
            <a:prstDash val="solid"/>
          </a:ln>
        </p:spPr>
      </p:sp>
      <p:sp>
        <p:nvSpPr>
          <p:cNvPr id="73" name="Text 71"/>
          <p:cNvSpPr/>
          <p:nvPr/>
        </p:nvSpPr>
        <p:spPr>
          <a:xfrm>
            <a:off x="7909560" y="5114109"/>
            <a:ext cx="3657600" cy="527739"/>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Immediate action</a:t>
            </a:r>
            <a:endParaRPr lang="en-US" sz="1500" dirty="0"/>
          </a:p>
        </p:txBody>
      </p:sp>
      <p:sp>
        <p:nvSpPr>
          <p:cNvPr id="74" name="Shape 72"/>
          <p:cNvSpPr/>
          <p:nvPr/>
        </p:nvSpPr>
        <p:spPr>
          <a:xfrm>
            <a:off x="502920" y="5724144"/>
            <a:ext cx="11155680" cy="777240"/>
          </a:xfrm>
          <a:prstGeom prst="roundRect">
            <a:avLst>
              <a:gd name="adj" fmla="val 10588"/>
            </a:avLst>
          </a:prstGeom>
          <a:solidFill>
            <a:srgbClr val="FDE2E2"/>
          </a:solidFill>
          <a:ln w="12700">
            <a:solidFill>
              <a:srgbClr val="EF4444"/>
            </a:solidFill>
            <a:prstDash val="solid"/>
          </a:ln>
        </p:spPr>
      </p:sp>
      <p:sp>
        <p:nvSpPr>
          <p:cNvPr id="75" name="Text 73"/>
          <p:cNvSpPr/>
          <p:nvPr/>
        </p:nvSpPr>
        <p:spPr>
          <a:xfrm>
            <a:off x="822960" y="5724144"/>
            <a:ext cx="10515600" cy="77724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Probability runs Improbable → Frequent; impact runs Insignificant → Catastrophic. This is Lesson 5's likelihood-and-consequence reasoning formalised into a document the organisation maintains.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How the whole area of study joins up</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One sentence per lesson — this is the shape of a full-mark response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44752"/>
            <a:ext cx="11155680" cy="780898"/>
          </a:xfrm>
          <a:prstGeom prst="roundRect">
            <a:avLst>
              <a:gd name="adj" fmla="val 10539"/>
            </a:avLst>
          </a:prstGeom>
          <a:solidFill>
            <a:srgbClr val="FFFFFF"/>
          </a:solidFill>
          <a:ln w="16510">
            <a:solidFill>
              <a:srgbClr val="4361EE"/>
            </a:solidFill>
            <a:prstDash val="solid"/>
          </a:ln>
        </p:spPr>
      </p:sp>
      <p:sp>
        <p:nvSpPr>
          <p:cNvPr id="11" name="Shape 9"/>
          <p:cNvSpPr/>
          <p:nvPr/>
        </p:nvSpPr>
        <p:spPr>
          <a:xfrm>
            <a:off x="731520" y="1643177"/>
            <a:ext cx="2148840" cy="384048"/>
          </a:xfrm>
          <a:prstGeom prst="roundRect">
            <a:avLst>
              <a:gd name="adj" fmla="val 50000"/>
            </a:avLst>
          </a:prstGeom>
          <a:solidFill>
            <a:srgbClr val="4361EE"/>
          </a:solidFill>
          <a:ln/>
        </p:spPr>
      </p:sp>
      <p:sp>
        <p:nvSpPr>
          <p:cNvPr id="12" name="Text 10"/>
          <p:cNvSpPr/>
          <p:nvPr/>
        </p:nvSpPr>
        <p:spPr>
          <a:xfrm>
            <a:off x="731520" y="1643177"/>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L2 · L3 · L5</a:t>
            </a:r>
            <a:endParaRPr lang="en-US" sz="1100" dirty="0"/>
          </a:p>
        </p:txBody>
      </p:sp>
      <p:sp>
        <p:nvSpPr>
          <p:cNvPr id="13" name="Text 11"/>
          <p:cNvSpPr/>
          <p:nvPr/>
        </p:nvSpPr>
        <p:spPr>
          <a:xfrm>
            <a:off x="3063240" y="1444752"/>
            <a:ext cx="8321040" cy="780898"/>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Threats and vulnerabilities are identified and rated by likelihood and consequence.</a:t>
            </a:r>
            <a:endParaRPr lang="en-US" sz="1900" dirty="0"/>
          </a:p>
        </p:txBody>
      </p:sp>
      <p:sp>
        <p:nvSpPr>
          <p:cNvPr id="14" name="Shape 12"/>
          <p:cNvSpPr/>
          <p:nvPr/>
        </p:nvSpPr>
        <p:spPr>
          <a:xfrm>
            <a:off x="502920" y="2317090"/>
            <a:ext cx="11155680" cy="780898"/>
          </a:xfrm>
          <a:prstGeom prst="roundRect">
            <a:avLst>
              <a:gd name="adj" fmla="val 10539"/>
            </a:avLst>
          </a:prstGeom>
          <a:solidFill>
            <a:srgbClr val="FFFFFF"/>
          </a:solidFill>
          <a:ln w="16510">
            <a:solidFill>
              <a:srgbClr val="10B981"/>
            </a:solidFill>
            <a:prstDash val="solid"/>
          </a:ln>
        </p:spPr>
      </p:sp>
      <p:sp>
        <p:nvSpPr>
          <p:cNvPr id="15" name="Shape 13"/>
          <p:cNvSpPr/>
          <p:nvPr/>
        </p:nvSpPr>
        <p:spPr>
          <a:xfrm>
            <a:off x="731520" y="2515514"/>
            <a:ext cx="2148840" cy="384048"/>
          </a:xfrm>
          <a:prstGeom prst="roundRect">
            <a:avLst>
              <a:gd name="adj" fmla="val 50000"/>
            </a:avLst>
          </a:prstGeom>
          <a:solidFill>
            <a:srgbClr val="10B981"/>
          </a:solidFill>
          <a:ln/>
        </p:spPr>
      </p:sp>
      <p:sp>
        <p:nvSpPr>
          <p:cNvPr id="16" name="Text 14"/>
          <p:cNvSpPr/>
          <p:nvPr/>
        </p:nvSpPr>
        <p:spPr>
          <a:xfrm>
            <a:off x="731520" y="2515514"/>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L4</a:t>
            </a:r>
            <a:endParaRPr lang="en-US" sz="1100" dirty="0"/>
          </a:p>
        </p:txBody>
      </p:sp>
      <p:sp>
        <p:nvSpPr>
          <p:cNvPr id="17" name="Text 15"/>
          <p:cNvSpPr/>
          <p:nvPr/>
        </p:nvSpPr>
        <p:spPr>
          <a:xfrm>
            <a:off x="3063240" y="2317090"/>
            <a:ext cx="8321040" cy="780898"/>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Security controls are selected to mitigate the threats that matter most.</a:t>
            </a:r>
            <a:endParaRPr lang="en-US" sz="1900" dirty="0"/>
          </a:p>
        </p:txBody>
      </p:sp>
      <p:sp>
        <p:nvSpPr>
          <p:cNvPr id="18" name="Shape 16"/>
          <p:cNvSpPr/>
          <p:nvPr/>
        </p:nvSpPr>
        <p:spPr>
          <a:xfrm>
            <a:off x="502920" y="3189427"/>
            <a:ext cx="11155680" cy="780898"/>
          </a:xfrm>
          <a:prstGeom prst="roundRect">
            <a:avLst>
              <a:gd name="adj" fmla="val 10539"/>
            </a:avLst>
          </a:prstGeom>
          <a:solidFill>
            <a:srgbClr val="FFFFFF"/>
          </a:solidFill>
          <a:ln w="16510">
            <a:solidFill>
              <a:srgbClr val="F59E0B"/>
            </a:solidFill>
            <a:prstDash val="solid"/>
          </a:ln>
        </p:spPr>
      </p:sp>
      <p:sp>
        <p:nvSpPr>
          <p:cNvPr id="19" name="Shape 17"/>
          <p:cNvSpPr/>
          <p:nvPr/>
        </p:nvSpPr>
        <p:spPr>
          <a:xfrm>
            <a:off x="731520" y="3387852"/>
            <a:ext cx="2148840" cy="384048"/>
          </a:xfrm>
          <a:prstGeom prst="roundRect">
            <a:avLst>
              <a:gd name="adj" fmla="val 50000"/>
            </a:avLst>
          </a:prstGeom>
          <a:solidFill>
            <a:srgbClr val="F59E0B"/>
          </a:solidFill>
          <a:ln/>
        </p:spPr>
      </p:sp>
      <p:sp>
        <p:nvSpPr>
          <p:cNvPr id="20" name="Text 18"/>
          <p:cNvSpPr/>
          <p:nvPr/>
        </p:nvSpPr>
        <p:spPr>
          <a:xfrm>
            <a:off x="731520" y="3387852"/>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L6</a:t>
            </a:r>
            <a:endParaRPr lang="en-US" sz="1100" dirty="0"/>
          </a:p>
        </p:txBody>
      </p:sp>
      <p:sp>
        <p:nvSpPr>
          <p:cNvPr id="21" name="Text 19"/>
          <p:cNvSpPr/>
          <p:nvPr/>
        </p:nvSpPr>
        <p:spPr>
          <a:xfrm>
            <a:off x="3063240" y="3189427"/>
            <a:ext cx="8321040" cy="780898"/>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Criteria are proposed and applied to judge whether those controls actually work.</a:t>
            </a:r>
            <a:endParaRPr lang="en-US" sz="1900" dirty="0"/>
          </a:p>
        </p:txBody>
      </p:sp>
      <p:sp>
        <p:nvSpPr>
          <p:cNvPr id="22" name="Shape 20"/>
          <p:cNvSpPr/>
          <p:nvPr/>
        </p:nvSpPr>
        <p:spPr>
          <a:xfrm>
            <a:off x="502920" y="4061765"/>
            <a:ext cx="11155680" cy="780898"/>
          </a:xfrm>
          <a:prstGeom prst="roundRect">
            <a:avLst>
              <a:gd name="adj" fmla="val 10539"/>
            </a:avLst>
          </a:prstGeom>
          <a:solidFill>
            <a:srgbClr val="FFFFFF"/>
          </a:solidFill>
          <a:ln w="16510">
            <a:solidFill>
              <a:srgbClr val="8B5CF6"/>
            </a:solidFill>
            <a:prstDash val="solid"/>
          </a:ln>
        </p:spPr>
      </p:sp>
      <p:sp>
        <p:nvSpPr>
          <p:cNvPr id="23" name="Shape 21"/>
          <p:cNvSpPr/>
          <p:nvPr/>
        </p:nvSpPr>
        <p:spPr>
          <a:xfrm>
            <a:off x="731520" y="4260190"/>
            <a:ext cx="2148840" cy="384048"/>
          </a:xfrm>
          <a:prstGeom prst="roundRect">
            <a:avLst>
              <a:gd name="adj" fmla="val 50000"/>
            </a:avLst>
          </a:prstGeom>
          <a:solidFill>
            <a:srgbClr val="8B5CF6"/>
          </a:solidFill>
          <a:ln/>
        </p:spPr>
      </p:sp>
      <p:sp>
        <p:nvSpPr>
          <p:cNvPr id="24" name="Text 22"/>
          <p:cNvSpPr/>
          <p:nvPr/>
        </p:nvSpPr>
        <p:spPr>
          <a:xfrm>
            <a:off x="731520" y="4260190"/>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L7</a:t>
            </a:r>
            <a:endParaRPr lang="en-US" sz="1100" dirty="0"/>
          </a:p>
        </p:txBody>
      </p:sp>
      <p:sp>
        <p:nvSpPr>
          <p:cNvPr id="25" name="Text 23"/>
          <p:cNvSpPr/>
          <p:nvPr/>
        </p:nvSpPr>
        <p:spPr>
          <a:xfrm>
            <a:off x="3063240" y="4061765"/>
            <a:ext cx="8321040" cy="780898"/>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Legislation and frameworks set the benchmark those criteria are measured against.</a:t>
            </a:r>
            <a:endParaRPr lang="en-US" sz="1900" dirty="0"/>
          </a:p>
        </p:txBody>
      </p:sp>
      <p:sp>
        <p:nvSpPr>
          <p:cNvPr id="26" name="Shape 24"/>
          <p:cNvSpPr/>
          <p:nvPr/>
        </p:nvSpPr>
        <p:spPr>
          <a:xfrm>
            <a:off x="502920" y="4934102"/>
            <a:ext cx="11155680" cy="780898"/>
          </a:xfrm>
          <a:prstGeom prst="roundRect">
            <a:avLst>
              <a:gd name="adj" fmla="val 10539"/>
            </a:avLst>
          </a:prstGeom>
          <a:solidFill>
            <a:srgbClr val="FFFFFF"/>
          </a:solidFill>
          <a:ln w="16510">
            <a:solidFill>
              <a:srgbClr val="4361EE"/>
            </a:solidFill>
            <a:prstDash val="solid"/>
          </a:ln>
        </p:spPr>
      </p:sp>
      <p:sp>
        <p:nvSpPr>
          <p:cNvPr id="27" name="Shape 25"/>
          <p:cNvSpPr/>
          <p:nvPr/>
        </p:nvSpPr>
        <p:spPr>
          <a:xfrm>
            <a:off x="731520" y="5132527"/>
            <a:ext cx="2148840" cy="384048"/>
          </a:xfrm>
          <a:prstGeom prst="roundRect">
            <a:avLst>
              <a:gd name="adj" fmla="val 50000"/>
            </a:avLst>
          </a:prstGeom>
          <a:solidFill>
            <a:srgbClr val="4361EE"/>
          </a:solidFill>
          <a:ln/>
        </p:spPr>
      </p:sp>
      <p:sp>
        <p:nvSpPr>
          <p:cNvPr id="28" name="Text 26"/>
          <p:cNvSpPr/>
          <p:nvPr/>
        </p:nvSpPr>
        <p:spPr>
          <a:xfrm>
            <a:off x="731520" y="5132527"/>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L8</a:t>
            </a:r>
            <a:endParaRPr lang="en-US" sz="1100" dirty="0"/>
          </a:p>
        </p:txBody>
      </p:sp>
      <p:sp>
        <p:nvSpPr>
          <p:cNvPr id="29" name="Text 27"/>
          <p:cNvSpPr/>
          <p:nvPr/>
        </p:nvSpPr>
        <p:spPr>
          <a:xfrm>
            <a:off x="3063240" y="4934102"/>
            <a:ext cx="8321040" cy="780898"/>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The whole thing is documented as a risk management plan and supported by training, so it survives staff turnover and keeps improving.</a:t>
            </a:r>
            <a:endParaRPr lang="en-US" sz="1900" dirty="0"/>
          </a:p>
        </p:txBody>
      </p:sp>
      <p:sp>
        <p:nvSpPr>
          <p:cNvPr id="30" name="Shape 28"/>
          <p:cNvSpPr/>
          <p:nvPr/>
        </p:nvSpPr>
        <p:spPr>
          <a:xfrm>
            <a:off x="502920" y="5861304"/>
            <a:ext cx="11155680" cy="777240"/>
          </a:xfrm>
          <a:prstGeom prst="roundRect">
            <a:avLst>
              <a:gd name="adj" fmla="val 10588"/>
            </a:avLst>
          </a:prstGeom>
          <a:solidFill>
            <a:srgbClr val="EEF2FE"/>
          </a:solidFill>
          <a:ln w="12700">
            <a:solidFill>
              <a:srgbClr val="4361EE"/>
            </a:solidFill>
            <a:prstDash val="solid"/>
          </a:ln>
        </p:spPr>
      </p:sp>
      <p:sp>
        <p:nvSpPr>
          <p:cNvPr id="31" name="Text 29"/>
          <p:cNvSpPr/>
          <p:nvPr/>
        </p:nvSpPr>
        <p:spPr>
          <a:xfrm>
            <a:off x="822960" y="5861304"/>
            <a:ext cx="10515600" cy="777240"/>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Learn this as a sequence. It is an opening paragraph, a closing paragraph, and a checklist for whether your answer has left something out.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Three things that go wrong here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Check your own work against each</a:t>
            </a:r>
            <a:endParaRPr lang="en-US" sz="1500" dirty="0"/>
          </a:p>
        </p:txBody>
      </p:sp>
      <p:sp>
        <p:nvSpPr>
          <p:cNvPr id="8" name="Shape 6"/>
          <p:cNvSpPr/>
          <p:nvPr/>
        </p:nvSpPr>
        <p:spPr>
          <a:xfrm>
            <a:off x="502920" y="1463040"/>
            <a:ext cx="11155680" cy="1170432"/>
          </a:xfrm>
          <a:prstGeom prst="roundRect">
            <a:avLst>
              <a:gd name="adj" fmla="val 7031"/>
            </a:avLst>
          </a:prstGeom>
          <a:solidFill>
            <a:srgbClr val="FFFFFF"/>
          </a:solidFill>
          <a:ln w="15240">
            <a:solidFill>
              <a:srgbClr val="EF4444"/>
            </a:solidFill>
            <a:prstDash val="solid"/>
          </a:ln>
        </p:spPr>
      </p:sp>
      <p:sp>
        <p:nvSpPr>
          <p:cNvPr id="9" name="Shape 7"/>
          <p:cNvSpPr/>
          <p:nvPr/>
        </p:nvSpPr>
        <p:spPr>
          <a:xfrm>
            <a:off x="731520" y="1819656"/>
            <a:ext cx="457200" cy="457200"/>
          </a:xfrm>
          <a:prstGeom prst="ellipse">
            <a:avLst/>
          </a:prstGeom>
          <a:solidFill>
            <a:srgbClr val="EF4444"/>
          </a:solidFill>
          <a:ln/>
        </p:spPr>
      </p:sp>
      <p:sp>
        <p:nvSpPr>
          <p:cNvPr id="10" name="Text 8"/>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1" name="Text 9"/>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ethical answer restates the legal one</a:t>
            </a:r>
            <a:endParaRPr lang="en-US" sz="1900" dirty="0"/>
          </a:p>
        </p:txBody>
      </p:sp>
      <p:sp>
        <p:nvSpPr>
          <p:cNvPr id="12" name="Text 10"/>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If your ethical paragraph names an Act, it is a legal paragraph. The ethical issue is what remains objectionable once the organisation is fully compliant.</a:t>
            </a:r>
            <a:endParaRPr lang="en-US" sz="1650" dirty="0"/>
          </a:p>
        </p:txBody>
      </p:sp>
      <p:sp>
        <p:nvSpPr>
          <p:cNvPr id="13" name="Shape 11"/>
          <p:cNvSpPr/>
          <p:nvPr/>
        </p:nvSpPr>
        <p:spPr>
          <a:xfrm>
            <a:off x="502920" y="2734056"/>
            <a:ext cx="11155680" cy="1170432"/>
          </a:xfrm>
          <a:prstGeom prst="roundRect">
            <a:avLst>
              <a:gd name="adj" fmla="val 7031"/>
            </a:avLst>
          </a:prstGeom>
          <a:solidFill>
            <a:srgbClr val="FFFFFF"/>
          </a:solidFill>
          <a:ln w="15240">
            <a:solidFill>
              <a:srgbClr val="EF4444"/>
            </a:solidFill>
            <a:prstDash val="solid"/>
          </a:ln>
        </p:spPr>
      </p:sp>
      <p:sp>
        <p:nvSpPr>
          <p:cNvPr id="14" name="Shape 12"/>
          <p:cNvSpPr/>
          <p:nvPr/>
        </p:nvSpPr>
        <p:spPr>
          <a:xfrm>
            <a:off x="731520" y="3090672"/>
            <a:ext cx="457200" cy="457200"/>
          </a:xfrm>
          <a:prstGeom prst="ellipse">
            <a:avLst/>
          </a:prstGeom>
          <a:solidFill>
            <a:srgbClr val="EF4444"/>
          </a:solidFill>
          <a:ln/>
        </p:spPr>
      </p:sp>
      <p:sp>
        <p:nvSpPr>
          <p:cNvPr id="15" name="Text 13"/>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6" name="Text 14"/>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Nobody is named as harmed</a:t>
            </a:r>
            <a:endParaRPr lang="en-US" sz="1900" dirty="0"/>
          </a:p>
        </p:txBody>
      </p:sp>
      <p:sp>
        <p:nvSpPr>
          <p:cNvPr id="17" name="Text 15"/>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"This is unethical because privacy matters" asserts. "The 400 000 customers who bought a ticket never chose this risk and cannot discover it" argues.</a:t>
            </a:r>
            <a:endParaRPr lang="en-US" sz="1650" dirty="0"/>
          </a:p>
        </p:txBody>
      </p:sp>
      <p:sp>
        <p:nvSpPr>
          <p:cNvPr id="18" name="Shape 16"/>
          <p:cNvSpPr/>
          <p:nvPr/>
        </p:nvSpPr>
        <p:spPr>
          <a:xfrm>
            <a:off x="502920" y="4005072"/>
            <a:ext cx="11155680" cy="1170432"/>
          </a:xfrm>
          <a:prstGeom prst="roundRect">
            <a:avLst>
              <a:gd name="adj" fmla="val 7031"/>
            </a:avLst>
          </a:prstGeom>
          <a:solidFill>
            <a:srgbClr val="FFFFFF"/>
          </a:solidFill>
          <a:ln w="15240">
            <a:solidFill>
              <a:srgbClr val="EF4444"/>
            </a:solidFill>
            <a:prstDash val="solid"/>
          </a:ln>
        </p:spPr>
      </p:sp>
      <p:sp>
        <p:nvSpPr>
          <p:cNvPr id="19" name="Shape 17"/>
          <p:cNvSpPr/>
          <p:nvPr/>
        </p:nvSpPr>
        <p:spPr>
          <a:xfrm>
            <a:off x="731520" y="4361688"/>
            <a:ext cx="457200" cy="457200"/>
          </a:xfrm>
          <a:prstGeom prst="ellipse">
            <a:avLst/>
          </a:prstGeom>
          <a:solidFill>
            <a:srgbClr val="EF4444"/>
          </a:solidFill>
          <a:ln/>
        </p:spPr>
      </p:sp>
      <p:sp>
        <p:nvSpPr>
          <p:cNvPr id="20" name="Text 18"/>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1" name="Text 19"/>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Improvement strategies arrive with no constraints attached</a:t>
            </a:r>
            <a:endParaRPr lang="en-US" sz="1900" dirty="0"/>
          </a:p>
        </p:txBody>
      </p:sp>
      <p:sp>
        <p:nvSpPr>
          <p:cNvPr id="22" name="Text 20"/>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Recommending training, onboarding, a risk plan and Maturity Level Three at once ignores that the organisation has a budget. Prioritise, and say what you are deferring.</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10B981"/>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APPLYING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Laptop gate — open your workbook</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L8_EthicsImprovingPractices_workbook.html · Sections 1–7 · 30 minutes</a:t>
            </a:r>
            <a:endParaRPr lang="en-US" sz="1500" dirty="0"/>
          </a:p>
        </p:txBody>
      </p:sp>
      <p:sp>
        <p:nvSpPr>
          <p:cNvPr id="8" name="Shape 6"/>
          <p:cNvSpPr/>
          <p:nvPr/>
        </p:nvSpPr>
        <p:spPr>
          <a:xfrm>
            <a:off x="502920" y="1298448"/>
            <a:ext cx="11155680" cy="713232"/>
          </a:xfrm>
          <a:prstGeom prst="roundRect">
            <a:avLst>
              <a:gd name="adj" fmla="val 11538"/>
            </a:avLst>
          </a:prstGeom>
          <a:solidFill>
            <a:srgbClr val="D1FAE5"/>
          </a:solidFill>
          <a:ln w="12700">
            <a:solidFill>
              <a:srgbClr val="10B981"/>
            </a:solidFill>
            <a:prstDash val="solid"/>
          </a:ln>
        </p:spPr>
      </p:sp>
      <p:sp>
        <p:nvSpPr>
          <p:cNvPr id="9" name="Text 7"/>
          <p:cNvSpPr/>
          <p:nvPr/>
        </p:nvSpPr>
        <p:spPr>
          <a:xfrm>
            <a:off x="822960" y="1298448"/>
            <a:ext cx="10515600" cy="713232"/>
          </a:xfrm>
          <a:prstGeom prst="rect">
            <a:avLst/>
          </a:prstGeom>
          <a:noFill/>
          <a:ln/>
        </p:spPr>
        <p:txBody>
          <a:bodyPr wrap="square" lIns="0" tIns="0" rIns="0" bIns="0" rtlCol="0" anchor="ctr"/>
          <a:lstStyle/>
          <a:p>
            <a:pPr indent="0" marL="0">
              <a:lnSpc>
                <a:spcPct val="120000"/>
              </a:lnSpc>
              <a:buNone/>
            </a:pPr>
            <a:r>
              <a:rPr lang="en-US" sz="1900" b="1" dirty="0">
                <a:solidFill>
                  <a:srgbClr val="111827"/>
                </a:solidFill>
                <a:latin typeface="Calibri" pitchFamily="34" charset="0"/>
                <a:ea typeface="Calibri" pitchFamily="34" charset="-122"/>
                <a:cs typeface="Calibri" pitchFamily="34" charset="-120"/>
              </a:rPr>
              <a:t>Laptops open now. Section 4 is the last piece of the Outcome 2 tracker — finish it and you have practised every skill the SAC asks for.</a:t>
            </a:r>
            <a:endParaRPr lang="en-US" sz="1900" dirty="0"/>
          </a:p>
        </p:txBody>
      </p:sp>
      <p:sp>
        <p:nvSpPr>
          <p:cNvPr id="10" name="Shape 8"/>
          <p:cNvSpPr/>
          <p:nvPr/>
        </p:nvSpPr>
        <p:spPr>
          <a:xfrm>
            <a:off x="502920" y="2286000"/>
            <a:ext cx="3611880" cy="3246120"/>
          </a:xfrm>
          <a:prstGeom prst="roundRect">
            <a:avLst>
              <a:gd name="adj" fmla="val 2535"/>
            </a:avLst>
          </a:prstGeom>
          <a:solidFill>
            <a:srgbClr val="FFFFFF"/>
          </a:solidFill>
          <a:ln w="19050">
            <a:solidFill>
              <a:srgbClr val="10B981"/>
            </a:solidFill>
            <a:prstDash val="solid"/>
          </a:ln>
        </p:spPr>
      </p:sp>
      <p:sp>
        <p:nvSpPr>
          <p:cNvPr id="11" name="Shape 9"/>
          <p:cNvSpPr/>
          <p:nvPr/>
        </p:nvSpPr>
        <p:spPr>
          <a:xfrm>
            <a:off x="731520" y="2487168"/>
            <a:ext cx="1298448" cy="274320"/>
          </a:xfrm>
          <a:prstGeom prst="roundRect">
            <a:avLst>
              <a:gd name="adj" fmla="val 50000"/>
            </a:avLst>
          </a:prstGeom>
          <a:solidFill>
            <a:srgbClr val="10B981"/>
          </a:solidFill>
          <a:ln/>
        </p:spPr>
      </p:sp>
      <p:sp>
        <p:nvSpPr>
          <p:cNvPr id="12" name="Text 10"/>
          <p:cNvSpPr/>
          <p:nvPr/>
        </p:nvSpPr>
        <p:spPr>
          <a:xfrm>
            <a:off x="731520"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2130552"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1–3</a:t>
            </a:r>
            <a:endParaRPr lang="en-US" sz="1200" dirty="0"/>
          </a:p>
        </p:txBody>
      </p:sp>
      <p:sp>
        <p:nvSpPr>
          <p:cNvPr id="14" name="Text 12"/>
          <p:cNvSpPr/>
          <p:nvPr/>
        </p:nvSpPr>
        <p:spPr>
          <a:xfrm>
            <a:off x="777240"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Sort scenarios into legal, ethical, or both</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Match the four ethical issues to descriptions</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Identify improvement strategies and risk ratings</a:t>
            </a:r>
            <a:endParaRPr lang="en-US" sz="1600" dirty="0"/>
          </a:p>
        </p:txBody>
      </p:sp>
      <p:sp>
        <p:nvSpPr>
          <p:cNvPr id="15" name="Shape 13"/>
          <p:cNvSpPr/>
          <p:nvPr/>
        </p:nvSpPr>
        <p:spPr>
          <a:xfrm>
            <a:off x="4325112" y="2286000"/>
            <a:ext cx="3611880" cy="3246120"/>
          </a:xfrm>
          <a:prstGeom prst="roundRect">
            <a:avLst>
              <a:gd name="adj" fmla="val 2535"/>
            </a:avLst>
          </a:prstGeom>
          <a:solidFill>
            <a:srgbClr val="FFFFFF"/>
          </a:solidFill>
          <a:ln w="19050">
            <a:solidFill>
              <a:srgbClr val="F59E0B"/>
            </a:solidFill>
            <a:prstDash val="solid"/>
          </a:ln>
        </p:spPr>
      </p:sp>
      <p:sp>
        <p:nvSpPr>
          <p:cNvPr id="16" name="Shape 14"/>
          <p:cNvSpPr/>
          <p:nvPr/>
        </p:nvSpPr>
        <p:spPr>
          <a:xfrm>
            <a:off x="4553712" y="2487168"/>
            <a:ext cx="1298448" cy="274320"/>
          </a:xfrm>
          <a:prstGeom prst="roundRect">
            <a:avLst>
              <a:gd name="adj" fmla="val 50000"/>
            </a:avLst>
          </a:prstGeom>
          <a:solidFill>
            <a:srgbClr val="F59E0B"/>
          </a:solidFill>
          <a:ln/>
        </p:spPr>
      </p:sp>
      <p:sp>
        <p:nvSpPr>
          <p:cNvPr id="17" name="Text 15"/>
          <p:cNvSpPr/>
          <p:nvPr/>
        </p:nvSpPr>
        <p:spPr>
          <a:xfrm>
            <a:off x="4553712"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8" name="Text 16"/>
          <p:cNvSpPr/>
          <p:nvPr/>
        </p:nvSpPr>
        <p:spPr>
          <a:xfrm>
            <a:off x="5952744"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4–5</a:t>
            </a:r>
            <a:endParaRPr lang="en-US" sz="1200" dirty="0"/>
          </a:p>
        </p:txBody>
      </p:sp>
      <p:sp>
        <p:nvSpPr>
          <p:cNvPr id="19" name="Text 17"/>
          <p:cNvSpPr/>
          <p:nvPr/>
        </p:nvSpPr>
        <p:spPr>
          <a:xfrm>
            <a:off x="4599432"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Write paired legal and ethical analyses for Aurora</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Rate four risks and justify the action each implies</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Recommend improvement strategies within a stated budget</a:t>
            </a:r>
            <a:endParaRPr lang="en-US" sz="1600" dirty="0"/>
          </a:p>
        </p:txBody>
      </p:sp>
      <p:sp>
        <p:nvSpPr>
          <p:cNvPr id="20" name="Shape 18"/>
          <p:cNvSpPr/>
          <p:nvPr/>
        </p:nvSpPr>
        <p:spPr>
          <a:xfrm>
            <a:off x="8147304" y="2286000"/>
            <a:ext cx="3611880" cy="3246120"/>
          </a:xfrm>
          <a:prstGeom prst="roundRect">
            <a:avLst>
              <a:gd name="adj" fmla="val 2535"/>
            </a:avLst>
          </a:prstGeom>
          <a:solidFill>
            <a:srgbClr val="FFFFFF"/>
          </a:solidFill>
          <a:ln w="19050">
            <a:solidFill>
              <a:srgbClr val="8B5CF6"/>
            </a:solidFill>
            <a:prstDash val="solid"/>
          </a:ln>
        </p:spPr>
      </p:sp>
      <p:sp>
        <p:nvSpPr>
          <p:cNvPr id="21" name="Shape 19"/>
          <p:cNvSpPr/>
          <p:nvPr/>
        </p:nvSpPr>
        <p:spPr>
          <a:xfrm>
            <a:off x="8375904" y="2487168"/>
            <a:ext cx="1298448" cy="274320"/>
          </a:xfrm>
          <a:prstGeom prst="roundRect">
            <a:avLst>
              <a:gd name="adj" fmla="val 50000"/>
            </a:avLst>
          </a:prstGeom>
          <a:solidFill>
            <a:srgbClr val="8B5CF6"/>
          </a:solidFill>
          <a:ln/>
        </p:spPr>
      </p:sp>
      <p:sp>
        <p:nvSpPr>
          <p:cNvPr id="22" name="Text 20"/>
          <p:cNvSpPr/>
          <p:nvPr/>
        </p:nvSpPr>
        <p:spPr>
          <a:xfrm>
            <a:off x="8375904"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3" name="Text 21"/>
          <p:cNvSpPr/>
          <p:nvPr/>
        </p:nvSpPr>
        <p:spPr>
          <a:xfrm>
            <a:off x="9774936"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 6</a:t>
            </a:r>
            <a:endParaRPr lang="en-US" sz="1200" dirty="0"/>
          </a:p>
        </p:txBody>
      </p:sp>
      <p:sp>
        <p:nvSpPr>
          <p:cNvPr id="24" name="Text 22"/>
          <p:cNvSpPr/>
          <p:nvPr/>
        </p:nvSpPr>
        <p:spPr>
          <a:xfrm>
            <a:off x="8421624"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Argue a position on a dilemma the law does not settle</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Judge whether an AI-assisted workflow is defensible</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Write the full L2→L8 synthesis paragraph</a:t>
            </a:r>
            <a:endParaRPr lang="en-US" sz="1600" dirty="0"/>
          </a:p>
        </p:txBody>
      </p:sp>
      <p:sp>
        <p:nvSpPr>
          <p:cNvPr id="25" name="Shape 23"/>
          <p:cNvSpPr/>
          <p:nvPr/>
        </p:nvSpPr>
        <p:spPr>
          <a:xfrm>
            <a:off x="502920" y="5715000"/>
            <a:ext cx="11155680" cy="749808"/>
          </a:xfrm>
          <a:prstGeom prst="roundRect">
            <a:avLst>
              <a:gd name="adj" fmla="val 10976"/>
            </a:avLst>
          </a:prstGeom>
          <a:solidFill>
            <a:srgbClr val="FFFFFF"/>
          </a:solidFill>
          <a:ln w="12700">
            <a:solidFill>
              <a:srgbClr val="4361EE"/>
            </a:solidFill>
            <a:prstDash val="solid"/>
          </a:ln>
        </p:spPr>
      </p:sp>
      <p:sp>
        <p:nvSpPr>
          <p:cNvPr id="26" name="Text 24"/>
          <p:cNvSpPr/>
          <p:nvPr/>
        </p:nvSpPr>
        <p:spPr>
          <a:xfrm>
            <a:off x="822960" y="5715000"/>
            <a:ext cx="10515600" cy="749808"/>
          </a:xfrm>
          <a:prstGeom prst="rect">
            <a:avLst/>
          </a:prstGeom>
          <a:noFill/>
          <a:ln/>
        </p:spPr>
        <p:txBody>
          <a:bodyPr wrap="square" lIns="0" tIns="0" rIns="0" bIns="0" rtlCol="0" anchor="ctr"/>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Everyone completes Foundation. Section 4 is the closest thing to the SAC in the whole unit — attempt it even if you do not finish it in class.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Check in — where should you be?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10 minutes before the exit ticket</a:t>
            </a:r>
            <a:endParaRPr lang="en-US" sz="1500" dirty="0"/>
          </a:p>
        </p:txBody>
      </p:sp>
      <p:sp>
        <p:nvSpPr>
          <p:cNvPr id="8" name="Shape 6"/>
          <p:cNvSpPr/>
          <p:nvPr/>
        </p:nvSpPr>
        <p:spPr>
          <a:xfrm>
            <a:off x="502920" y="1508760"/>
            <a:ext cx="3291840" cy="438912"/>
          </a:xfrm>
          <a:prstGeom prst="rect">
            <a:avLst/>
          </a:prstGeom>
          <a:solidFill>
            <a:srgbClr val="F59E0B"/>
          </a:solidFill>
          <a:ln w="12700">
            <a:solidFill>
              <a:srgbClr val="F59E0B"/>
            </a:solidFill>
            <a:prstDash val="solid"/>
          </a:ln>
        </p:spPr>
      </p:sp>
      <p:sp>
        <p:nvSpPr>
          <p:cNvPr id="9" name="Text 7"/>
          <p:cNvSpPr/>
          <p:nvPr/>
        </p:nvSpPr>
        <p:spPr>
          <a:xfrm>
            <a:off x="502920" y="1508760"/>
            <a:ext cx="3291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Success criterion</a:t>
            </a:r>
            <a:endParaRPr lang="en-US" sz="1200" dirty="0"/>
          </a:p>
        </p:txBody>
      </p:sp>
      <p:sp>
        <p:nvSpPr>
          <p:cNvPr id="10" name="Shape 8"/>
          <p:cNvSpPr/>
          <p:nvPr/>
        </p:nvSpPr>
        <p:spPr>
          <a:xfrm>
            <a:off x="3794760" y="1508760"/>
            <a:ext cx="4023360" cy="438912"/>
          </a:xfrm>
          <a:prstGeom prst="rect">
            <a:avLst/>
          </a:prstGeom>
          <a:solidFill>
            <a:srgbClr val="F59E0B"/>
          </a:solidFill>
          <a:ln w="12700">
            <a:solidFill>
              <a:srgbClr val="F59E0B"/>
            </a:solidFill>
            <a:prstDash val="solid"/>
          </a:ln>
        </p:spPr>
      </p:sp>
      <p:sp>
        <p:nvSpPr>
          <p:cNvPr id="11" name="Text 9"/>
          <p:cNvSpPr/>
          <p:nvPr/>
        </p:nvSpPr>
        <p:spPr>
          <a:xfrm>
            <a:off x="3794760" y="1508760"/>
            <a:ext cx="402336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You are on track if…</a:t>
            </a:r>
            <a:endParaRPr lang="en-US" sz="1200" dirty="0"/>
          </a:p>
        </p:txBody>
      </p:sp>
      <p:sp>
        <p:nvSpPr>
          <p:cNvPr id="12" name="Shape 10"/>
          <p:cNvSpPr/>
          <p:nvPr/>
        </p:nvSpPr>
        <p:spPr>
          <a:xfrm>
            <a:off x="7818120" y="1508760"/>
            <a:ext cx="3840480" cy="438912"/>
          </a:xfrm>
          <a:prstGeom prst="rect">
            <a:avLst/>
          </a:prstGeom>
          <a:solidFill>
            <a:srgbClr val="F59E0B"/>
          </a:solidFill>
          <a:ln w="12700">
            <a:solidFill>
              <a:srgbClr val="F59E0B"/>
            </a:solidFill>
            <a:prstDash val="solid"/>
          </a:ln>
        </p:spPr>
      </p:sp>
      <p:sp>
        <p:nvSpPr>
          <p:cNvPr id="13" name="Text 11"/>
          <p:cNvSpPr/>
          <p:nvPr/>
        </p:nvSpPr>
        <p:spPr>
          <a:xfrm>
            <a:off x="7818120" y="1508760"/>
            <a:ext cx="3840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Stuck? Try this</a:t>
            </a:r>
            <a:endParaRPr lang="en-US" sz="1200" dirty="0"/>
          </a:p>
        </p:txBody>
      </p:sp>
      <p:sp>
        <p:nvSpPr>
          <p:cNvPr id="14" name="Shape 12"/>
          <p:cNvSpPr/>
          <p:nvPr/>
        </p:nvSpPr>
        <p:spPr>
          <a:xfrm>
            <a:off x="502920" y="1947672"/>
            <a:ext cx="3291840" cy="786384"/>
          </a:xfrm>
          <a:prstGeom prst="rect">
            <a:avLst/>
          </a:prstGeom>
          <a:solidFill>
            <a:srgbClr val="FFFFFF"/>
          </a:solidFill>
          <a:ln w="12700">
            <a:solidFill>
              <a:srgbClr val="D8DDE6"/>
            </a:solidFill>
            <a:prstDash val="solid"/>
          </a:ln>
        </p:spPr>
      </p:sp>
      <p:sp>
        <p:nvSpPr>
          <p:cNvPr id="15" name="Text 13"/>
          <p:cNvSpPr/>
          <p:nvPr/>
        </p:nvSpPr>
        <p:spPr>
          <a:xfrm>
            <a:off x="594360" y="1947672"/>
            <a:ext cx="3108960" cy="786384"/>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Separate legal from ethical</a:t>
            </a:r>
            <a:endParaRPr lang="en-US" sz="1500" dirty="0"/>
          </a:p>
        </p:txBody>
      </p:sp>
      <p:sp>
        <p:nvSpPr>
          <p:cNvPr id="16" name="Shape 14"/>
          <p:cNvSpPr/>
          <p:nvPr/>
        </p:nvSpPr>
        <p:spPr>
          <a:xfrm>
            <a:off x="3794760" y="1947672"/>
            <a:ext cx="4023360" cy="786384"/>
          </a:xfrm>
          <a:prstGeom prst="rect">
            <a:avLst/>
          </a:prstGeom>
          <a:solidFill>
            <a:srgbClr val="FFFFFF"/>
          </a:solidFill>
          <a:ln w="12700">
            <a:solidFill>
              <a:srgbClr val="D8DDE6"/>
            </a:solidFill>
            <a:prstDash val="solid"/>
          </a:ln>
        </p:spPr>
      </p:sp>
      <p:sp>
        <p:nvSpPr>
          <p:cNvPr id="17" name="Text 15"/>
          <p:cNvSpPr/>
          <p:nvPr/>
        </p:nvSpPr>
        <p:spPr>
          <a:xfrm>
            <a:off x="3886200" y="1947672"/>
            <a:ext cx="384048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Your ethical paragraph names no Act at all</a:t>
            </a:r>
            <a:endParaRPr lang="en-US" sz="1500" dirty="0"/>
          </a:p>
        </p:txBody>
      </p:sp>
      <p:sp>
        <p:nvSpPr>
          <p:cNvPr id="18" name="Shape 16"/>
          <p:cNvSpPr/>
          <p:nvPr/>
        </p:nvSpPr>
        <p:spPr>
          <a:xfrm>
            <a:off x="7818120" y="1947672"/>
            <a:ext cx="3840480" cy="786384"/>
          </a:xfrm>
          <a:prstGeom prst="rect">
            <a:avLst/>
          </a:prstGeom>
          <a:solidFill>
            <a:srgbClr val="FFFFFF"/>
          </a:solidFill>
          <a:ln w="12700">
            <a:solidFill>
              <a:srgbClr val="D8DDE6"/>
            </a:solidFill>
            <a:prstDash val="solid"/>
          </a:ln>
        </p:spPr>
      </p:sp>
      <p:sp>
        <p:nvSpPr>
          <p:cNvPr id="19" name="Text 17"/>
          <p:cNvSpPr/>
          <p:nvPr/>
        </p:nvSpPr>
        <p:spPr>
          <a:xfrm>
            <a:off x="7909560" y="1947672"/>
            <a:ext cx="365760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Assume full compliance — what is still wrong?</a:t>
            </a:r>
            <a:endParaRPr lang="en-US" sz="1500" dirty="0"/>
          </a:p>
        </p:txBody>
      </p:sp>
      <p:sp>
        <p:nvSpPr>
          <p:cNvPr id="20" name="Shape 18"/>
          <p:cNvSpPr/>
          <p:nvPr/>
        </p:nvSpPr>
        <p:spPr>
          <a:xfrm>
            <a:off x="502920" y="2734056"/>
            <a:ext cx="3291840" cy="786384"/>
          </a:xfrm>
          <a:prstGeom prst="rect">
            <a:avLst/>
          </a:prstGeom>
          <a:solidFill>
            <a:srgbClr val="F4F6FB"/>
          </a:solidFill>
          <a:ln w="12700">
            <a:solidFill>
              <a:srgbClr val="D8DDE6"/>
            </a:solidFill>
            <a:prstDash val="solid"/>
          </a:ln>
        </p:spPr>
      </p:sp>
      <p:sp>
        <p:nvSpPr>
          <p:cNvPr id="21" name="Text 19"/>
          <p:cNvSpPr/>
          <p:nvPr/>
        </p:nvSpPr>
        <p:spPr>
          <a:xfrm>
            <a:off x="594360" y="2734056"/>
            <a:ext cx="3108960" cy="786384"/>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Name the four ethical issues</a:t>
            </a:r>
            <a:endParaRPr lang="en-US" sz="1500" dirty="0"/>
          </a:p>
        </p:txBody>
      </p:sp>
      <p:sp>
        <p:nvSpPr>
          <p:cNvPr id="22" name="Shape 20"/>
          <p:cNvSpPr/>
          <p:nvPr/>
        </p:nvSpPr>
        <p:spPr>
          <a:xfrm>
            <a:off x="3794760" y="2734056"/>
            <a:ext cx="4023360" cy="786384"/>
          </a:xfrm>
          <a:prstGeom prst="rect">
            <a:avLst/>
          </a:prstGeom>
          <a:solidFill>
            <a:srgbClr val="F4F6FB"/>
          </a:solidFill>
          <a:ln w="12700">
            <a:solidFill>
              <a:srgbClr val="D8DDE6"/>
            </a:solidFill>
            <a:prstDash val="solid"/>
          </a:ln>
        </p:spPr>
      </p:sp>
      <p:sp>
        <p:nvSpPr>
          <p:cNvPr id="23" name="Text 21"/>
          <p:cNvSpPr/>
          <p:nvPr/>
        </p:nvSpPr>
        <p:spPr>
          <a:xfrm>
            <a:off x="3886200" y="2734056"/>
            <a:ext cx="384048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 reached four without prompting</a:t>
            </a:r>
            <a:endParaRPr lang="en-US" sz="1500" dirty="0"/>
          </a:p>
        </p:txBody>
      </p:sp>
      <p:sp>
        <p:nvSpPr>
          <p:cNvPr id="24" name="Shape 22"/>
          <p:cNvSpPr/>
          <p:nvPr/>
        </p:nvSpPr>
        <p:spPr>
          <a:xfrm>
            <a:off x="7818120" y="2734056"/>
            <a:ext cx="3840480" cy="786384"/>
          </a:xfrm>
          <a:prstGeom prst="rect">
            <a:avLst/>
          </a:prstGeom>
          <a:solidFill>
            <a:srgbClr val="F4F6FB"/>
          </a:solidFill>
          <a:ln w="12700">
            <a:solidFill>
              <a:srgbClr val="D8DDE6"/>
            </a:solidFill>
            <a:prstDash val="solid"/>
          </a:ln>
        </p:spPr>
      </p:sp>
      <p:sp>
        <p:nvSpPr>
          <p:cNvPr id="25" name="Text 23"/>
          <p:cNvSpPr/>
          <p:nvPr/>
        </p:nvSpPr>
        <p:spPr>
          <a:xfrm>
            <a:off x="7909560" y="2734056"/>
            <a:ext cx="365760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One is about people, one about machines, two about ownership</a:t>
            </a:r>
            <a:endParaRPr lang="en-US" sz="1500" dirty="0"/>
          </a:p>
        </p:txBody>
      </p:sp>
      <p:sp>
        <p:nvSpPr>
          <p:cNvPr id="26" name="Shape 24"/>
          <p:cNvSpPr/>
          <p:nvPr/>
        </p:nvSpPr>
        <p:spPr>
          <a:xfrm>
            <a:off x="502920" y="3520440"/>
            <a:ext cx="3291840" cy="786384"/>
          </a:xfrm>
          <a:prstGeom prst="rect">
            <a:avLst/>
          </a:prstGeom>
          <a:solidFill>
            <a:srgbClr val="FFFFFF"/>
          </a:solidFill>
          <a:ln w="12700">
            <a:solidFill>
              <a:srgbClr val="D8DDE6"/>
            </a:solidFill>
            <a:prstDash val="solid"/>
          </a:ln>
        </p:spPr>
      </p:sp>
      <p:sp>
        <p:nvSpPr>
          <p:cNvPr id="27" name="Text 25"/>
          <p:cNvSpPr/>
          <p:nvPr/>
        </p:nvSpPr>
        <p:spPr>
          <a:xfrm>
            <a:off x="594360" y="3520440"/>
            <a:ext cx="3108960" cy="786384"/>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Identify who is harmed</a:t>
            </a:r>
            <a:endParaRPr lang="en-US" sz="1500" dirty="0"/>
          </a:p>
        </p:txBody>
      </p:sp>
      <p:sp>
        <p:nvSpPr>
          <p:cNvPr id="28" name="Shape 26"/>
          <p:cNvSpPr/>
          <p:nvPr/>
        </p:nvSpPr>
        <p:spPr>
          <a:xfrm>
            <a:off x="3794760" y="3520440"/>
            <a:ext cx="4023360" cy="786384"/>
          </a:xfrm>
          <a:prstGeom prst="rect">
            <a:avLst/>
          </a:prstGeom>
          <a:solidFill>
            <a:srgbClr val="FFFFFF"/>
          </a:solidFill>
          <a:ln w="12700">
            <a:solidFill>
              <a:srgbClr val="D8DDE6"/>
            </a:solidFill>
            <a:prstDash val="solid"/>
          </a:ln>
        </p:spPr>
      </p:sp>
      <p:sp>
        <p:nvSpPr>
          <p:cNvPr id="29" name="Text 27"/>
          <p:cNvSpPr/>
          <p:nvPr/>
        </p:nvSpPr>
        <p:spPr>
          <a:xfrm>
            <a:off x="3886200" y="3520440"/>
            <a:ext cx="384048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 specific group appears in every ethical answer</a:t>
            </a:r>
            <a:endParaRPr lang="en-US" sz="1500" dirty="0"/>
          </a:p>
        </p:txBody>
      </p:sp>
      <p:sp>
        <p:nvSpPr>
          <p:cNvPr id="30" name="Shape 28"/>
          <p:cNvSpPr/>
          <p:nvPr/>
        </p:nvSpPr>
        <p:spPr>
          <a:xfrm>
            <a:off x="7818120" y="3520440"/>
            <a:ext cx="3840480" cy="786384"/>
          </a:xfrm>
          <a:prstGeom prst="rect">
            <a:avLst/>
          </a:prstGeom>
          <a:solidFill>
            <a:srgbClr val="FFFFFF"/>
          </a:solidFill>
          <a:ln w="12700">
            <a:solidFill>
              <a:srgbClr val="D8DDE6"/>
            </a:solidFill>
            <a:prstDash val="solid"/>
          </a:ln>
        </p:spPr>
      </p:sp>
      <p:sp>
        <p:nvSpPr>
          <p:cNvPr id="31" name="Text 29"/>
          <p:cNvSpPr/>
          <p:nvPr/>
        </p:nvSpPr>
        <p:spPr>
          <a:xfrm>
            <a:off x="7909560" y="3520440"/>
            <a:ext cx="365760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Who did not choose this, and cannot find out about it?</a:t>
            </a:r>
            <a:endParaRPr lang="en-US" sz="1500" dirty="0"/>
          </a:p>
        </p:txBody>
      </p:sp>
      <p:sp>
        <p:nvSpPr>
          <p:cNvPr id="32" name="Shape 30"/>
          <p:cNvSpPr/>
          <p:nvPr/>
        </p:nvSpPr>
        <p:spPr>
          <a:xfrm>
            <a:off x="502920" y="4306824"/>
            <a:ext cx="3291840" cy="786384"/>
          </a:xfrm>
          <a:prstGeom prst="rect">
            <a:avLst/>
          </a:prstGeom>
          <a:solidFill>
            <a:srgbClr val="F4F6FB"/>
          </a:solidFill>
          <a:ln w="12700">
            <a:solidFill>
              <a:srgbClr val="D8DDE6"/>
            </a:solidFill>
            <a:prstDash val="solid"/>
          </a:ln>
        </p:spPr>
      </p:sp>
      <p:sp>
        <p:nvSpPr>
          <p:cNvPr id="33" name="Text 31"/>
          <p:cNvSpPr/>
          <p:nvPr/>
        </p:nvSpPr>
        <p:spPr>
          <a:xfrm>
            <a:off x="594360" y="4306824"/>
            <a:ext cx="3108960" cy="786384"/>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Recommend improvement strategies</a:t>
            </a:r>
            <a:endParaRPr lang="en-US" sz="1500" dirty="0"/>
          </a:p>
        </p:txBody>
      </p:sp>
      <p:sp>
        <p:nvSpPr>
          <p:cNvPr id="34" name="Shape 32"/>
          <p:cNvSpPr/>
          <p:nvPr/>
        </p:nvSpPr>
        <p:spPr>
          <a:xfrm>
            <a:off x="3794760" y="4306824"/>
            <a:ext cx="4023360" cy="786384"/>
          </a:xfrm>
          <a:prstGeom prst="rect">
            <a:avLst/>
          </a:prstGeom>
          <a:solidFill>
            <a:srgbClr val="F4F6FB"/>
          </a:solidFill>
          <a:ln w="12700">
            <a:solidFill>
              <a:srgbClr val="D8DDE6"/>
            </a:solidFill>
            <a:prstDash val="solid"/>
          </a:ln>
        </p:spPr>
      </p:sp>
      <p:sp>
        <p:nvSpPr>
          <p:cNvPr id="35" name="Text 33"/>
          <p:cNvSpPr/>
          <p:nvPr/>
        </p:nvSpPr>
        <p:spPr>
          <a:xfrm>
            <a:off x="3886200" y="4306824"/>
            <a:ext cx="384048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Each one is tied to a weakness in the case</a:t>
            </a:r>
            <a:endParaRPr lang="en-US" sz="1500" dirty="0"/>
          </a:p>
        </p:txBody>
      </p:sp>
      <p:sp>
        <p:nvSpPr>
          <p:cNvPr id="36" name="Shape 34"/>
          <p:cNvSpPr/>
          <p:nvPr/>
        </p:nvSpPr>
        <p:spPr>
          <a:xfrm>
            <a:off x="7818120" y="4306824"/>
            <a:ext cx="3840480" cy="786384"/>
          </a:xfrm>
          <a:prstGeom prst="rect">
            <a:avLst/>
          </a:prstGeom>
          <a:solidFill>
            <a:srgbClr val="F4F6FB"/>
          </a:solidFill>
          <a:ln w="12700">
            <a:solidFill>
              <a:srgbClr val="D8DDE6"/>
            </a:solidFill>
            <a:prstDash val="solid"/>
          </a:ln>
        </p:spPr>
      </p:sp>
      <p:sp>
        <p:nvSpPr>
          <p:cNvPr id="37" name="Text 35"/>
          <p:cNvSpPr/>
          <p:nvPr/>
        </p:nvSpPr>
        <p:spPr>
          <a:xfrm>
            <a:off x="7909560" y="4306824"/>
            <a:ext cx="365760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Which threat from L5 does this strategy actually mitigate?</a:t>
            </a:r>
            <a:endParaRPr lang="en-US" sz="1500" dirty="0"/>
          </a:p>
        </p:txBody>
      </p:sp>
      <p:sp>
        <p:nvSpPr>
          <p:cNvPr id="38" name="Shape 36"/>
          <p:cNvSpPr/>
          <p:nvPr/>
        </p:nvSpPr>
        <p:spPr>
          <a:xfrm>
            <a:off x="502920" y="5093208"/>
            <a:ext cx="3291840" cy="786384"/>
          </a:xfrm>
          <a:prstGeom prst="rect">
            <a:avLst/>
          </a:prstGeom>
          <a:solidFill>
            <a:srgbClr val="FFFFFF"/>
          </a:solidFill>
          <a:ln w="12700">
            <a:solidFill>
              <a:srgbClr val="D8DDE6"/>
            </a:solidFill>
            <a:prstDash val="solid"/>
          </a:ln>
        </p:spPr>
      </p:sp>
      <p:sp>
        <p:nvSpPr>
          <p:cNvPr id="39" name="Text 37"/>
          <p:cNvSpPr/>
          <p:nvPr/>
        </p:nvSpPr>
        <p:spPr>
          <a:xfrm>
            <a:off x="594360" y="5093208"/>
            <a:ext cx="3108960" cy="786384"/>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Rate a risk and act on it</a:t>
            </a:r>
            <a:endParaRPr lang="en-US" sz="1500" dirty="0"/>
          </a:p>
        </p:txBody>
      </p:sp>
      <p:sp>
        <p:nvSpPr>
          <p:cNvPr id="40" name="Shape 38"/>
          <p:cNvSpPr/>
          <p:nvPr/>
        </p:nvSpPr>
        <p:spPr>
          <a:xfrm>
            <a:off x="3794760" y="5093208"/>
            <a:ext cx="4023360" cy="786384"/>
          </a:xfrm>
          <a:prstGeom prst="rect">
            <a:avLst/>
          </a:prstGeom>
          <a:solidFill>
            <a:srgbClr val="FFFFFF"/>
          </a:solidFill>
          <a:ln w="12700">
            <a:solidFill>
              <a:srgbClr val="D8DDE6"/>
            </a:solidFill>
            <a:prstDash val="solid"/>
          </a:ln>
        </p:spPr>
      </p:sp>
      <p:sp>
        <p:nvSpPr>
          <p:cNvPr id="41" name="Text 39"/>
          <p:cNvSpPr/>
          <p:nvPr/>
        </p:nvSpPr>
        <p:spPr>
          <a:xfrm>
            <a:off x="3886200" y="5093208"/>
            <a:ext cx="384048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Your score leads to an action from the table</a:t>
            </a:r>
            <a:endParaRPr lang="en-US" sz="1500" dirty="0"/>
          </a:p>
        </p:txBody>
      </p:sp>
      <p:sp>
        <p:nvSpPr>
          <p:cNvPr id="42" name="Shape 40"/>
          <p:cNvSpPr/>
          <p:nvPr/>
        </p:nvSpPr>
        <p:spPr>
          <a:xfrm>
            <a:off x="7818120" y="5093208"/>
            <a:ext cx="3840480" cy="786384"/>
          </a:xfrm>
          <a:prstGeom prst="rect">
            <a:avLst/>
          </a:prstGeom>
          <a:solidFill>
            <a:srgbClr val="FFFFFF"/>
          </a:solidFill>
          <a:ln w="12700">
            <a:solidFill>
              <a:srgbClr val="D8DDE6"/>
            </a:solidFill>
            <a:prstDash val="solid"/>
          </a:ln>
        </p:spPr>
      </p:sp>
      <p:sp>
        <p:nvSpPr>
          <p:cNvPr id="43" name="Text 41"/>
          <p:cNvSpPr/>
          <p:nvPr/>
        </p:nvSpPr>
        <p:spPr>
          <a:xfrm>
            <a:off x="7909560" y="5093208"/>
            <a:ext cx="3657600" cy="786384"/>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 score with no action attached has not finished the job</a:t>
            </a:r>
            <a:endParaRPr lang="en-US" sz="1500" dirty="0"/>
          </a:p>
        </p:txBody>
      </p:sp>
      <p:sp>
        <p:nvSpPr>
          <p:cNvPr id="44" name="Shape 42"/>
          <p:cNvSpPr/>
          <p:nvPr/>
        </p:nvSpPr>
        <p:spPr>
          <a:xfrm>
            <a:off x="502920" y="5961888"/>
            <a:ext cx="11155680" cy="411480"/>
          </a:xfrm>
          <a:prstGeom prst="roundRect">
            <a:avLst>
              <a:gd name="adj" fmla="val 20000"/>
            </a:avLst>
          </a:prstGeom>
          <a:solidFill>
            <a:srgbClr val="EEF2FE"/>
          </a:solidFill>
          <a:ln w="12700">
            <a:solidFill>
              <a:srgbClr val="4361EE"/>
            </a:solidFill>
            <a:prstDash val="solid"/>
          </a:ln>
        </p:spPr>
      </p:sp>
      <p:sp>
        <p:nvSpPr>
          <p:cNvPr id="45" name="Text 43"/>
          <p:cNvSpPr/>
          <p:nvPr/>
        </p:nvSpPr>
        <p:spPr>
          <a:xfrm>
            <a:off x="822960" y="5961888"/>
            <a:ext cx="10515600" cy="4114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Outcome 2 tracker: every column is now open. The practice SAC can be attempted in full.</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EF4444"/>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EXIT</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Exit ticket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Workbook Section 7 · 5 minutes · no notes</a:t>
            </a:r>
            <a:endParaRPr lang="en-US" sz="1500" dirty="0"/>
          </a:p>
        </p:txBody>
      </p:sp>
      <p:sp>
        <p:nvSpPr>
          <p:cNvPr id="8" name="Shape 6"/>
          <p:cNvSpPr/>
          <p:nvPr/>
        </p:nvSpPr>
        <p:spPr>
          <a:xfrm>
            <a:off x="502920" y="1417320"/>
            <a:ext cx="11155680" cy="914400"/>
          </a:xfrm>
          <a:prstGeom prst="roundRect">
            <a:avLst>
              <a:gd name="adj" fmla="val 9000"/>
            </a:avLst>
          </a:prstGeom>
          <a:solidFill>
            <a:srgbClr val="FFFFFF"/>
          </a:solidFill>
          <a:ln w="17780">
            <a:solidFill>
              <a:srgbClr val="EF4444"/>
            </a:solidFill>
            <a:prstDash val="solid"/>
          </a:ln>
        </p:spPr>
      </p:sp>
      <p:sp>
        <p:nvSpPr>
          <p:cNvPr id="9" name="Shape 7"/>
          <p:cNvSpPr/>
          <p:nvPr/>
        </p:nvSpPr>
        <p:spPr>
          <a:xfrm>
            <a:off x="758952" y="1636776"/>
            <a:ext cx="475488" cy="475488"/>
          </a:xfrm>
          <a:prstGeom prst="ellipse">
            <a:avLst/>
          </a:prstGeom>
          <a:solidFill>
            <a:srgbClr val="EF4444"/>
          </a:solidFill>
          <a:ln/>
        </p:spPr>
      </p:sp>
      <p:sp>
        <p:nvSpPr>
          <p:cNvPr id="10" name="Text 8"/>
          <p:cNvSpPr/>
          <p:nvPr/>
        </p:nvSpPr>
        <p:spPr>
          <a:xfrm>
            <a:off x="758952" y="1636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Explain the difference between a legal issue and an ethical one, in one sentence.</a:t>
            </a:r>
            <a:endParaRPr lang="en-US" sz="1800" dirty="0"/>
          </a:p>
        </p:txBody>
      </p:sp>
      <p:sp>
        <p:nvSpPr>
          <p:cNvPr id="12" name="Shape 10"/>
          <p:cNvSpPr/>
          <p:nvPr/>
        </p:nvSpPr>
        <p:spPr>
          <a:xfrm>
            <a:off x="502920" y="2423160"/>
            <a:ext cx="11155680" cy="914400"/>
          </a:xfrm>
          <a:prstGeom prst="roundRect">
            <a:avLst>
              <a:gd name="adj" fmla="val 9000"/>
            </a:avLst>
          </a:prstGeom>
          <a:solidFill>
            <a:srgbClr val="FFFFFF"/>
          </a:solidFill>
          <a:ln w="17780">
            <a:solidFill>
              <a:srgbClr val="EF4444"/>
            </a:solidFill>
            <a:prstDash val="solid"/>
          </a:ln>
        </p:spPr>
      </p:sp>
      <p:sp>
        <p:nvSpPr>
          <p:cNvPr id="13" name="Shape 11"/>
          <p:cNvSpPr/>
          <p:nvPr/>
        </p:nvSpPr>
        <p:spPr>
          <a:xfrm>
            <a:off x="758952" y="2642616"/>
            <a:ext cx="475488" cy="475488"/>
          </a:xfrm>
          <a:prstGeom prst="ellipse">
            <a:avLst/>
          </a:prstGeom>
          <a:solidFill>
            <a:srgbClr val="EF4444"/>
          </a:solidFill>
          <a:ln/>
        </p:spPr>
      </p:sp>
      <p:sp>
        <p:nvSpPr>
          <p:cNvPr id="14" name="Text 12"/>
          <p:cNvSpPr/>
          <p:nvPr/>
        </p:nvSpPr>
        <p:spPr>
          <a:xfrm>
            <a:off x="758952" y="264261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42316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the four ethical issues that arise when developing software.</a:t>
            </a:r>
            <a:endParaRPr lang="en-US" sz="1800" dirty="0"/>
          </a:p>
        </p:txBody>
      </p:sp>
      <p:sp>
        <p:nvSpPr>
          <p:cNvPr id="16" name="Shape 14"/>
          <p:cNvSpPr/>
          <p:nvPr/>
        </p:nvSpPr>
        <p:spPr>
          <a:xfrm>
            <a:off x="502920" y="3429000"/>
            <a:ext cx="11155680" cy="914400"/>
          </a:xfrm>
          <a:prstGeom prst="roundRect">
            <a:avLst>
              <a:gd name="adj" fmla="val 9000"/>
            </a:avLst>
          </a:prstGeom>
          <a:solidFill>
            <a:srgbClr val="FFFFFF"/>
          </a:solidFill>
          <a:ln w="17780">
            <a:solidFill>
              <a:srgbClr val="EF4444"/>
            </a:solidFill>
            <a:prstDash val="solid"/>
          </a:ln>
        </p:spPr>
      </p:sp>
      <p:sp>
        <p:nvSpPr>
          <p:cNvPr id="17" name="Shape 15"/>
          <p:cNvSpPr/>
          <p:nvPr/>
        </p:nvSpPr>
        <p:spPr>
          <a:xfrm>
            <a:off x="758952" y="3648456"/>
            <a:ext cx="475488" cy="475488"/>
          </a:xfrm>
          <a:prstGeom prst="ellipse">
            <a:avLst/>
          </a:prstGeom>
          <a:solidFill>
            <a:srgbClr val="EF4444"/>
          </a:solidFill>
          <a:ln/>
        </p:spPr>
      </p:sp>
      <p:sp>
        <p:nvSpPr>
          <p:cNvPr id="18" name="Text 16"/>
          <p:cNvSpPr/>
          <p:nvPr/>
        </p:nvSpPr>
        <p:spPr>
          <a:xfrm>
            <a:off x="758952" y="36484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42900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the three strategies for improving security practices covered today.</a:t>
            </a:r>
            <a:endParaRPr lang="en-US" sz="1800" dirty="0"/>
          </a:p>
        </p:txBody>
      </p:sp>
      <p:sp>
        <p:nvSpPr>
          <p:cNvPr id="20" name="Shape 18"/>
          <p:cNvSpPr/>
          <p:nvPr/>
        </p:nvSpPr>
        <p:spPr>
          <a:xfrm>
            <a:off x="502920" y="4434840"/>
            <a:ext cx="11155680" cy="914400"/>
          </a:xfrm>
          <a:prstGeom prst="roundRect">
            <a:avLst>
              <a:gd name="adj" fmla="val 9000"/>
            </a:avLst>
          </a:prstGeom>
          <a:solidFill>
            <a:srgbClr val="FFFFFF"/>
          </a:solidFill>
          <a:ln w="17780">
            <a:solidFill>
              <a:srgbClr val="EF4444"/>
            </a:solidFill>
            <a:prstDash val="solid"/>
          </a:ln>
        </p:spPr>
      </p:sp>
      <p:sp>
        <p:nvSpPr>
          <p:cNvPr id="21" name="Shape 19"/>
          <p:cNvSpPr/>
          <p:nvPr/>
        </p:nvSpPr>
        <p:spPr>
          <a:xfrm>
            <a:off x="758952" y="4654296"/>
            <a:ext cx="475488" cy="475488"/>
          </a:xfrm>
          <a:prstGeom prst="ellipse">
            <a:avLst/>
          </a:prstGeom>
          <a:solidFill>
            <a:srgbClr val="EF4444"/>
          </a:solidFill>
          <a:ln/>
        </p:spPr>
      </p:sp>
      <p:sp>
        <p:nvSpPr>
          <p:cNvPr id="22" name="Text 20"/>
          <p:cNvSpPr/>
          <p:nvPr/>
        </p:nvSpPr>
        <p:spPr>
          <a:xfrm>
            <a:off x="758952" y="46542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43484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A risk scores 8 on the probability matrix. What is its rating, and what action does it require?</a:t>
            </a:r>
            <a:endParaRPr lang="en-US" sz="1800" dirty="0"/>
          </a:p>
        </p:txBody>
      </p:sp>
      <p:sp>
        <p:nvSpPr>
          <p:cNvPr id="24" name="Shape 22"/>
          <p:cNvSpPr/>
          <p:nvPr/>
        </p:nvSpPr>
        <p:spPr>
          <a:xfrm>
            <a:off x="502920" y="5486400"/>
            <a:ext cx="11155680" cy="548640"/>
          </a:xfrm>
          <a:prstGeom prst="roundRect">
            <a:avLst>
              <a:gd name="adj" fmla="val 15000"/>
            </a:avLst>
          </a:prstGeom>
          <a:solidFill>
            <a:srgbClr val="FDE2E2"/>
          </a:solidFill>
          <a:ln w="12700">
            <a:solidFill>
              <a:srgbClr val="EF4444"/>
            </a:solidFill>
            <a:prstDash val="solid"/>
          </a:ln>
        </p:spPr>
      </p:sp>
      <p:sp>
        <p:nvSpPr>
          <p:cNvPr id="25" name="Text 23"/>
          <p:cNvSpPr/>
          <p:nvPr/>
        </p:nvSpPr>
        <p:spPr>
          <a:xfrm>
            <a:off x="822960" y="5486400"/>
            <a:ext cx="10515600" cy="54864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rate yourself against the success criteria and press Submit. This is the last workbook of the unit.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8B5CF6"/>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NEXT STEPS</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Next steps</a:t>
            </a:r>
            <a:endParaRPr lang="en-US" sz="3000" dirty="0"/>
          </a:p>
        </p:txBody>
      </p:sp>
      <p:sp>
        <p:nvSpPr>
          <p:cNvPr id="7" name="Shape 5"/>
          <p:cNvSpPr/>
          <p:nvPr/>
        </p:nvSpPr>
        <p:spPr>
          <a:xfrm>
            <a:off x="502920" y="1280160"/>
            <a:ext cx="5468112" cy="2423160"/>
          </a:xfrm>
          <a:prstGeom prst="roundRect">
            <a:avLst>
              <a:gd name="adj" fmla="val 3396"/>
            </a:avLst>
          </a:prstGeom>
          <a:solidFill>
            <a:srgbClr val="FFFFFF"/>
          </a:solidFill>
          <a:ln w="16510">
            <a:solidFill>
              <a:srgbClr val="8B5CF6"/>
            </a:solidFill>
            <a:prstDash val="solid"/>
          </a:ln>
        </p:spPr>
      </p:sp>
      <p:sp>
        <p:nvSpPr>
          <p:cNvPr id="8" name="Text 6"/>
          <p:cNvSpPr/>
          <p:nvPr/>
        </p:nvSpPr>
        <p:spPr>
          <a:xfrm>
            <a:off x="731520" y="1444752"/>
            <a:ext cx="5029200" cy="27432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Next — assessment</a:t>
            </a:r>
            <a:endParaRPr lang="en-US" sz="1300" dirty="0"/>
          </a:p>
        </p:txBody>
      </p:sp>
      <p:sp>
        <p:nvSpPr>
          <p:cNvPr id="9" name="Text 7"/>
          <p:cNvSpPr/>
          <p:nvPr/>
        </p:nvSpPr>
        <p:spPr>
          <a:xfrm>
            <a:off x="731520" y="1792224"/>
            <a:ext cx="5029200" cy="777240"/>
          </a:xfrm>
          <a:prstGeom prst="rect">
            <a:avLst/>
          </a:prstGeom>
          <a:noFill/>
          <a:ln/>
        </p:spPr>
        <p:txBody>
          <a:bodyPr wrap="square" lIns="0" tIns="0" rIns="0" bIns="0" rtlCol="0" anchor="t"/>
          <a:lstStyle/>
          <a:p>
            <a:pPr indent="0" marL="0">
              <a:lnSpc>
                <a:spcPct val="105000"/>
              </a:lnSpc>
              <a:buNone/>
            </a:pPr>
            <a:r>
              <a:rPr lang="en-US" sz="2300" b="1" dirty="0">
                <a:solidFill>
                  <a:srgbClr val="111827"/>
                </a:solidFill>
                <a:latin typeface="Bookman Old Style" pitchFamily="34" charset="0"/>
                <a:ea typeface="Bookman Old Style" pitchFamily="34" charset="-122"/>
                <a:cs typeface="Bookman Old Style" pitchFamily="34" charset="-120"/>
              </a:rPr>
              <a:t>Practice SAC, then Outcome 2</a:t>
            </a:r>
            <a:endParaRPr lang="en-US" sz="2300" dirty="0"/>
          </a:p>
        </p:txBody>
      </p:sp>
      <p:sp>
        <p:nvSpPr>
          <p:cNvPr id="10" name="Text 8"/>
          <p:cNvSpPr/>
          <p:nvPr/>
        </p:nvSpPr>
        <p:spPr>
          <a:xfrm>
            <a:off x="731520" y="2633472"/>
            <a:ext cx="5029200" cy="1024128"/>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A full case study under the same conditions as the real thing, marked and returned before the assessed task. Both use unfamiliar organisations.</a:t>
            </a:r>
            <a:endParaRPr lang="en-US" sz="1600" dirty="0"/>
          </a:p>
        </p:txBody>
      </p:sp>
      <p:sp>
        <p:nvSpPr>
          <p:cNvPr id="11" name="Shape 9"/>
          <p:cNvSpPr/>
          <p:nvPr/>
        </p:nvSpPr>
        <p:spPr>
          <a:xfrm>
            <a:off x="6190488" y="1280160"/>
            <a:ext cx="5468112" cy="2423160"/>
          </a:xfrm>
          <a:prstGeom prst="roundRect">
            <a:avLst>
              <a:gd name="adj" fmla="val 3396"/>
            </a:avLst>
          </a:prstGeom>
          <a:solidFill>
            <a:srgbClr val="FFFFFF"/>
          </a:solidFill>
          <a:ln w="16510">
            <a:solidFill>
              <a:srgbClr val="4361EE"/>
            </a:solidFill>
            <a:prstDash val="solid"/>
          </a:ln>
        </p:spPr>
      </p:sp>
      <p:sp>
        <p:nvSpPr>
          <p:cNvPr id="12" name="Text 10"/>
          <p:cNvSpPr/>
          <p:nvPr/>
        </p:nvSpPr>
        <p:spPr>
          <a:xfrm>
            <a:off x="6419088" y="1444752"/>
            <a:ext cx="5029200" cy="27432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Homework</a:t>
            </a:r>
            <a:endParaRPr lang="en-US" sz="1300" dirty="0"/>
          </a:p>
        </p:txBody>
      </p:sp>
      <p:sp>
        <p:nvSpPr>
          <p:cNvPr id="13" name="Text 11"/>
          <p:cNvSpPr/>
          <p:nvPr/>
        </p:nvSpPr>
        <p:spPr>
          <a:xfrm>
            <a:off x="6446520" y="1792224"/>
            <a:ext cx="4983480" cy="17830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Finish and submit the Lesson 8 workbook</a:t>
            </a:r>
            <a:endParaRPr lang="en-US" sz="1600" dirty="0"/>
          </a:p>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Complete the practice SAC case study in full</a:t>
            </a:r>
            <a:endParaRPr lang="en-US" sz="1600" dirty="0"/>
          </a:p>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Work through the revision checklist on the unit site — tick honestly and revise the gaps</a:t>
            </a:r>
            <a:endParaRPr lang="en-US" sz="1600" dirty="0"/>
          </a:p>
        </p:txBody>
      </p:sp>
      <p:sp>
        <p:nvSpPr>
          <p:cNvPr id="14" name="Shape 12"/>
          <p:cNvSpPr/>
          <p:nvPr/>
        </p:nvSpPr>
        <p:spPr>
          <a:xfrm>
            <a:off x="502920" y="3858768"/>
            <a:ext cx="11155680" cy="1463040"/>
          </a:xfrm>
          <a:prstGeom prst="roundRect">
            <a:avLst>
              <a:gd name="adj" fmla="val 5625"/>
            </a:avLst>
          </a:prstGeom>
          <a:solidFill>
            <a:srgbClr val="EEF2FE"/>
          </a:solidFill>
          <a:ln w="12700">
            <a:solidFill>
              <a:srgbClr val="4361EE"/>
            </a:solidFill>
            <a:prstDash val="solid"/>
          </a:ln>
        </p:spPr>
      </p:sp>
      <p:sp>
        <p:nvSpPr>
          <p:cNvPr id="15" name="Text 13"/>
          <p:cNvSpPr/>
          <p:nvPr/>
        </p:nvSpPr>
        <p:spPr>
          <a:xfrm>
            <a:off x="822960" y="4023360"/>
            <a:ext cx="10515600" cy="384048"/>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Outcome 2 assessment — where you should be</a:t>
            </a:r>
            <a:endParaRPr lang="en-US" sz="2000" dirty="0"/>
          </a:p>
        </p:txBody>
      </p:sp>
      <p:sp>
        <p:nvSpPr>
          <p:cNvPr id="16" name="Shape 14"/>
          <p:cNvSpPr/>
          <p:nvPr/>
        </p:nvSpPr>
        <p:spPr>
          <a:xfrm>
            <a:off x="822960" y="4526280"/>
            <a:ext cx="1661160" cy="658368"/>
          </a:xfrm>
          <a:prstGeom prst="roundRect">
            <a:avLst>
              <a:gd name="adj" fmla="val 12500"/>
            </a:avLst>
          </a:prstGeom>
          <a:solidFill>
            <a:srgbClr val="D1FAE5"/>
          </a:solidFill>
          <a:ln w="12700">
            <a:solidFill>
              <a:srgbClr val="10B981"/>
            </a:solidFill>
            <a:prstDash val="solid"/>
          </a:ln>
        </p:spPr>
      </p:sp>
      <p:sp>
        <p:nvSpPr>
          <p:cNvPr id="17" name="Text 15"/>
          <p:cNvSpPr/>
          <p:nvPr/>
        </p:nvSpPr>
        <p:spPr>
          <a:xfrm>
            <a:off x="896112"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Organisation described</a:t>
            </a:r>
            <a:endParaRPr lang="en-US" sz="1300" dirty="0"/>
          </a:p>
        </p:txBody>
      </p:sp>
      <p:sp>
        <p:nvSpPr>
          <p:cNvPr id="18" name="Shape 16"/>
          <p:cNvSpPr/>
          <p:nvPr/>
        </p:nvSpPr>
        <p:spPr>
          <a:xfrm>
            <a:off x="2593848" y="4526280"/>
            <a:ext cx="1661160" cy="658368"/>
          </a:xfrm>
          <a:prstGeom prst="roundRect">
            <a:avLst>
              <a:gd name="adj" fmla="val 12500"/>
            </a:avLst>
          </a:prstGeom>
          <a:solidFill>
            <a:srgbClr val="D1FAE5"/>
          </a:solidFill>
          <a:ln w="12700">
            <a:solidFill>
              <a:srgbClr val="10B981"/>
            </a:solidFill>
            <a:prstDash val="solid"/>
          </a:ln>
        </p:spPr>
      </p:sp>
      <p:sp>
        <p:nvSpPr>
          <p:cNvPr id="19" name="Text 17"/>
          <p:cNvSpPr/>
          <p:nvPr/>
        </p:nvSpPr>
        <p:spPr>
          <a:xfrm>
            <a:off x="2667000"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Practices analysed</a:t>
            </a:r>
            <a:endParaRPr lang="en-US" sz="1300" dirty="0"/>
          </a:p>
        </p:txBody>
      </p:sp>
      <p:sp>
        <p:nvSpPr>
          <p:cNvPr id="20" name="Shape 18"/>
          <p:cNvSpPr/>
          <p:nvPr/>
        </p:nvSpPr>
        <p:spPr>
          <a:xfrm>
            <a:off x="4364736" y="4526280"/>
            <a:ext cx="1661160" cy="658368"/>
          </a:xfrm>
          <a:prstGeom prst="roundRect">
            <a:avLst>
              <a:gd name="adj" fmla="val 12500"/>
            </a:avLst>
          </a:prstGeom>
          <a:solidFill>
            <a:srgbClr val="D1FAE5"/>
          </a:solidFill>
          <a:ln w="12700">
            <a:solidFill>
              <a:srgbClr val="10B981"/>
            </a:solidFill>
            <a:prstDash val="solid"/>
          </a:ln>
        </p:spPr>
      </p:sp>
      <p:sp>
        <p:nvSpPr>
          <p:cNvPr id="21" name="Text 19"/>
          <p:cNvSpPr/>
          <p:nvPr/>
        </p:nvSpPr>
        <p:spPr>
          <a:xfrm>
            <a:off x="4437888"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Threats identified &amp; rated</a:t>
            </a:r>
            <a:endParaRPr lang="en-US" sz="1300" dirty="0"/>
          </a:p>
        </p:txBody>
      </p:sp>
      <p:sp>
        <p:nvSpPr>
          <p:cNvPr id="22" name="Shape 20"/>
          <p:cNvSpPr/>
          <p:nvPr/>
        </p:nvSpPr>
        <p:spPr>
          <a:xfrm>
            <a:off x="6135624" y="4526280"/>
            <a:ext cx="1661160" cy="658368"/>
          </a:xfrm>
          <a:prstGeom prst="roundRect">
            <a:avLst>
              <a:gd name="adj" fmla="val 12500"/>
            </a:avLst>
          </a:prstGeom>
          <a:solidFill>
            <a:srgbClr val="D1FAE5"/>
          </a:solidFill>
          <a:ln w="12700">
            <a:solidFill>
              <a:srgbClr val="10B981"/>
            </a:solidFill>
            <a:prstDash val="solid"/>
          </a:ln>
        </p:spPr>
      </p:sp>
      <p:sp>
        <p:nvSpPr>
          <p:cNvPr id="23" name="Text 21"/>
          <p:cNvSpPr/>
          <p:nvPr/>
        </p:nvSpPr>
        <p:spPr>
          <a:xfrm>
            <a:off x="6208776"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Criteria applied</a:t>
            </a:r>
            <a:endParaRPr lang="en-US" sz="1300" dirty="0"/>
          </a:p>
        </p:txBody>
      </p:sp>
      <p:sp>
        <p:nvSpPr>
          <p:cNvPr id="24" name="Shape 22"/>
          <p:cNvSpPr/>
          <p:nvPr/>
        </p:nvSpPr>
        <p:spPr>
          <a:xfrm>
            <a:off x="7906512" y="4526280"/>
            <a:ext cx="1661160" cy="658368"/>
          </a:xfrm>
          <a:prstGeom prst="roundRect">
            <a:avLst>
              <a:gd name="adj" fmla="val 12500"/>
            </a:avLst>
          </a:prstGeom>
          <a:solidFill>
            <a:srgbClr val="D1FAE5"/>
          </a:solidFill>
          <a:ln w="12700">
            <a:solidFill>
              <a:srgbClr val="10B981"/>
            </a:solidFill>
            <a:prstDash val="solid"/>
          </a:ln>
        </p:spPr>
      </p:sp>
      <p:sp>
        <p:nvSpPr>
          <p:cNvPr id="25" name="Text 23"/>
          <p:cNvSpPr/>
          <p:nvPr/>
        </p:nvSpPr>
        <p:spPr>
          <a:xfrm>
            <a:off x="7979664"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Legal &amp; ethical issues</a:t>
            </a:r>
            <a:endParaRPr lang="en-US" sz="1300" dirty="0"/>
          </a:p>
        </p:txBody>
      </p:sp>
      <p:sp>
        <p:nvSpPr>
          <p:cNvPr id="26" name="Shape 24"/>
          <p:cNvSpPr/>
          <p:nvPr/>
        </p:nvSpPr>
        <p:spPr>
          <a:xfrm>
            <a:off x="9677400" y="4526280"/>
            <a:ext cx="1661160" cy="658368"/>
          </a:xfrm>
          <a:prstGeom prst="roundRect">
            <a:avLst>
              <a:gd name="adj" fmla="val 12500"/>
            </a:avLst>
          </a:prstGeom>
          <a:solidFill>
            <a:srgbClr val="D1FAE5"/>
          </a:solidFill>
          <a:ln w="12700">
            <a:solidFill>
              <a:srgbClr val="10B981"/>
            </a:solidFill>
            <a:prstDash val="solid"/>
          </a:ln>
        </p:spPr>
      </p:sp>
      <p:sp>
        <p:nvSpPr>
          <p:cNvPr id="27" name="Text 25"/>
          <p:cNvSpPr/>
          <p:nvPr/>
        </p:nvSpPr>
        <p:spPr>
          <a:xfrm>
            <a:off x="9750552"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Recommendations written</a:t>
            </a:r>
            <a:endParaRPr lang="en-US" sz="1300" dirty="0"/>
          </a:p>
        </p:txBody>
      </p:sp>
      <p:sp>
        <p:nvSpPr>
          <p:cNvPr id="28" name="Shape 26"/>
          <p:cNvSpPr/>
          <p:nvPr/>
        </p:nvSpPr>
        <p:spPr>
          <a:xfrm>
            <a:off x="502920" y="5486400"/>
            <a:ext cx="11155680" cy="914400"/>
          </a:xfrm>
          <a:prstGeom prst="roundRect">
            <a:avLst>
              <a:gd name="adj" fmla="val 9000"/>
            </a:avLst>
          </a:prstGeom>
          <a:solidFill>
            <a:srgbClr val="FFFFFF"/>
          </a:solidFill>
          <a:ln w="12700">
            <a:solidFill>
              <a:srgbClr val="D8DDE6"/>
            </a:solidFill>
            <a:prstDash val="solid"/>
          </a:ln>
        </p:spPr>
      </p:sp>
      <p:sp>
        <p:nvSpPr>
          <p:cNvPr id="29" name="Text 27"/>
          <p:cNvSpPr/>
          <p:nvPr/>
        </p:nvSpPr>
        <p:spPr>
          <a:xfrm>
            <a:off x="822960" y="5486400"/>
            <a:ext cx="10515600" cy="914400"/>
          </a:xfrm>
          <a:prstGeom prst="rect">
            <a:avLst/>
          </a:prstGeom>
          <a:noFill/>
          <a:ln/>
        </p:spPr>
        <p:txBody>
          <a:bodyPr wrap="square" lIns="0" tIns="0" rIns="0" bIns="0" rtlCol="0" anchor="ctr"/>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Need help? The unit site's SAC preparation section has the task format, the answer structures, the command terms and the revision checklist. Bring specific questions — not "can you go over everything" — to the practice SAC debrief.</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L8 — Ethics and Improving Practices</dc:title>
  <dc:subject>PptxGenJS Presentation</dc:subject>
  <dc:creator>EduPortal</dc:creator>
  <cp:lastModifiedBy>EduPortal</cp:lastModifiedBy>
  <cp:revision>1</cp:revision>
  <dcterms:created xsi:type="dcterms:W3CDTF">2026-08-12T12:53:26Z</dcterms:created>
  <dcterms:modified xsi:type="dcterms:W3CDTF">2026-08-12T12:53:26Z</dcterms:modified>
</cp:coreProperties>
</file>