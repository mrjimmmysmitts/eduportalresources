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7 of 8. This is the heaviest recall lesson in the unit — five named instruments, and the study design lists specific principles by number. Students will not remember them from one exposure, so the workbook is deliberately drill-heavy and the exit ticket is pure recall. The framing that makes it stick: legislation is what you MUST do, frameworks are how you do it WELL, and last lesson's criteria are where the two meet. Laptops closed until slide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 and E are law (APP 11, Copyright Act, APP 8). B and D are the Essential Eight — guidance, not legislation. Do not name the instruments yet; the point of the warm up is the distinction, not the labels. The follow-up question is the one that matters: ignoring the law brings penalties and an investigation; ignoring a framework brings no penalty at all, which is exactly why an organisation still needs a reason to follow it. 3 minutes in pairs, 2 to share.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Foundation tier here is unashamedly recall — this lesson has content that simply has to be known. Point out that Developing is the tier that matters for the SAC: the marks come from naming the right Act AND the right principle for the organisation in front of you, not from reciting all ten. Copy the objective and target tier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revisits the counter-intuitive point from last lesson and is also the bridge into today: an organisation with no records is not just hard to evaluate, it is very likely already breaching an obligation to manage information openly. Keep to 3 minutes and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spine of the lesson — everything after it hangs off the law/guidance distinction. Worth writing the last line on the board and leaving it there. If students only take one thing from today, it should be that a recommendation gains its force from naming a framework, and a legal consequence gains its force from naming a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consistently assume registration is required — flag it. The expression-not-ideas point is the one that comes back in Lesson 8 as an ethical problem, so plant it now: it is perfectly legal to take someone's idea, and that is exactly why it raises an ethical question rather than a legal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straight back to Lesson 3's third-party software risk and Lesson 6's dependency-inventory example: the same missing artefact — a list of what you are using — creates a security problem, an evaluation finding and a legal exposure all at once. That triple is a strong point in an extended response.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real time on card 4. The single most common SAC error in this section is naming the wrong Act because the student did not check what kind of organisation the case study describes. Have them say the test out loud. The $3 million threshold is worth memorising — case studies often state turnover precisely because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this table in full. Drill the numbers with the pairs: 1 openness, 6 use, 8 overseas, 9 identifiers, 11 security. A useful mnemonic prompt is to ask which APP each earlier lesson maps onto — the offshore backup provider from Lesson 4 is APP 8, the shared login is APP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ties the whole unit together and it deserves to be copied. The argument to make explicit: 'reasonable steps' is deliberately undefined, so after an incident the question becomes what the organisation can produce. An organisation with no threat model and no evaluation has nothing to show, and that absence is itself damaging. Strong students can use this to justify recommendations on legal grounds as well as security grounds.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deliberate parallels: IPP 4 mirrors APP 11, IPP 9 mirrors APP 8, IPP 5 mirrors APP 1. Students who learn them as pairs halve the memorisation. The parallel also protects them in the SAC — if they can only remember one side, naming the mirrored principle and the right Act still earns most of the mark.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 Privacy Act, APP 11 (and arguably APP 1). 2 — PDPA, IPP 9 and IPP 2. 3 — Copyright Act, and the Privacy Act does not apply on turnover. 4 — Privacy Act, APP 6, and note that all private health providers are covered regardless of turnover, which catches students who reach for the $3m rule first. The Extending question makes the key point that the instruments are separate: falling below one threshold says nothing about the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Genuine two minutes, around the 55-minute mark. The legislation half is the heaviest recall load in the unit; the framework half after the break is more practically useful for the SAC, so reset attention before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framing on the footer is the highest-value idea in the second half of the lesson. Have students notice how many of the eight they have already met as security controls in Lesson 4 — MFA, patching, restricted privileges, backups. This is not new content so much as the same content with an external name attached, and that name is what makes a recommendation defensible.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Self-assessment is the detail students miss and it is worth a question: if maturity is self-assessed, what stops an organisation claiming Level Three? Nothing formal — which is exactly why evidence-based criteria matter. That answer connects the framework back to Lesson 6 and is a strong Extending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footer point is worth developing: most student case-study answers pile recommendations into Protect and leave Detect and Respond empty. Ask directly — how long would this organisation take to notice a breach, and who would they tell? Two or three sentences on Detect and Respond will distinguish a response from the pack.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Memory-safe languages is the detail most likely to be recalled incorrectly — the list is worth writing down verbatim. Secure-by-design versus secure-by-default is also examinable: by design means security is considered from the first line, by default means the safest configuration is the one that 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effectively a marking scheme, so it is worth copying carefully. The four-move structure at the bottom is the same one on the SAC preparation page of the unit site — say so, and tell them it also works for the ethical questions coming in Lesson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Misconception 1 is worth a live diagnostic: read out three case fragments and have students call the Act and the principle number together. If the numbers do not come back quickly, the recall drill in workbook Section 2 needs the full time allocation rather than being rushed.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with the APP/IPP table visible on the board for the first ten minutes only, then take it down — the recall needs to happen without support before the lesson ends. The predictable sticking point is Section 5: students write the criterion but forget the measurement, exactly as in Lesson 6. Fast finishers go to the practice SAC.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Thumbs check per row. Row 3 is the one to re-teach on the spot if it goes badly — choosing the wrong Act invalidates an otherwise good answer, and it is the cheapest error in the whole unit to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is the discriminator — it tests the Act-selection habit rather than raw recall. Scan responses before next lesson: Lesson 8 opens on the difference between a legal and an ethical problem, which only works if students are secure on what the legal problem actually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the recommendations column remains open, and L8 closes it before the practice SAC. Flag that the recall check at the start of next lesson is short but real — the numbers have to be learnt, and one more exposure tonight is worth more than an hour before the SAC.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02920" y="548640"/>
            <a:ext cx="11155680" cy="5760720"/>
          </a:xfrm>
          <a:prstGeom prst="roundRect">
            <a:avLst>
              <a:gd name="adj" fmla="val 1429"/>
            </a:avLst>
          </a:prstGeom>
          <a:solidFill>
            <a:srgbClr val="F4F6FB"/>
          </a:solidFill>
          <a:ln w="12700">
            <a:solidFill>
              <a:srgbClr val="D8DDE6"/>
            </a:solidFill>
            <a:prstDash val="solid"/>
          </a:ln>
        </p:spPr>
      </p:sp>
      <p:sp>
        <p:nvSpPr>
          <p:cNvPr id="3" name="Text 1"/>
          <p:cNvSpPr/>
          <p:nvPr/>
        </p:nvSpPr>
        <p:spPr>
          <a:xfrm>
            <a:off x="1005840" y="1325880"/>
            <a:ext cx="9601200" cy="320040"/>
          </a:xfrm>
          <a:prstGeom prst="rect">
            <a:avLst/>
          </a:prstGeom>
          <a:noFill/>
          <a:ln/>
        </p:spPr>
        <p:txBody>
          <a:bodyPr wrap="square" lIns="0" tIns="0" rIns="0" bIns="0" rtlCol="0" anchor="ctr"/>
          <a:lstStyle/>
          <a:p>
            <a:pPr indent="0" marL="0">
              <a:buNone/>
            </a:pPr>
            <a:r>
              <a:rPr lang="en-US" sz="1400" b="1" spc="140" kern="0" dirty="0">
                <a:solidFill>
                  <a:srgbClr val="4361EE"/>
                </a:solidFill>
                <a:latin typeface="Courier New" pitchFamily="34" charset="0"/>
                <a:ea typeface="Courier New" pitchFamily="34" charset="-122"/>
                <a:cs typeface="Courier New" pitchFamily="34" charset="-120"/>
              </a:rPr>
              <a:t>UNIT 4 · AREA OF STUDY 2 · CYBER SECURITY</a:t>
            </a:r>
            <a:endParaRPr lang="en-US" sz="1400" dirty="0"/>
          </a:p>
        </p:txBody>
      </p:sp>
      <p:sp>
        <p:nvSpPr>
          <p:cNvPr id="4" name="Text 2"/>
          <p:cNvSpPr/>
          <p:nvPr/>
        </p:nvSpPr>
        <p:spPr>
          <a:xfrm>
            <a:off x="1005840" y="1737360"/>
            <a:ext cx="9692640" cy="1371600"/>
          </a:xfrm>
          <a:prstGeom prst="rect">
            <a:avLst/>
          </a:prstGeom>
          <a:noFill/>
          <a:ln/>
        </p:spPr>
        <p:txBody>
          <a:bodyPr wrap="square" lIns="0" tIns="0" rIns="0" bIns="0" rtlCol="0" anchor="t"/>
          <a:lstStyle/>
          <a:p>
            <a:pPr indent="0" marL="0">
              <a:lnSpc>
                <a:spcPct val="105000"/>
              </a:lnSpc>
              <a:buNone/>
            </a:pPr>
            <a:r>
              <a:rPr lang="en-US" sz="4400" b="1" dirty="0">
                <a:solidFill>
                  <a:srgbClr val="111827"/>
                </a:solidFill>
                <a:latin typeface="Bookman Old Style" pitchFamily="34" charset="0"/>
                <a:ea typeface="Bookman Old Style" pitchFamily="34" charset="-122"/>
                <a:cs typeface="Bookman Old Style" pitchFamily="34" charset="-120"/>
              </a:rPr>
              <a:t>Lesson 7 — Legislation and Industry Frameworks</a:t>
            </a:r>
            <a:endParaRPr lang="en-US" sz="4400" dirty="0"/>
          </a:p>
        </p:txBody>
      </p:sp>
      <p:sp>
        <p:nvSpPr>
          <p:cNvPr id="5" name="Text 3"/>
          <p:cNvSpPr/>
          <p:nvPr/>
        </p:nvSpPr>
        <p:spPr>
          <a:xfrm>
            <a:off x="1005840" y="3246120"/>
            <a:ext cx="9692640" cy="457200"/>
          </a:xfrm>
          <a:prstGeom prst="rect">
            <a:avLst/>
          </a:prstGeom>
          <a:noFill/>
          <a:ln/>
        </p:spPr>
        <p:txBody>
          <a:bodyPr wrap="square" lIns="0" tIns="0" rIns="0" bIns="0" rtlCol="0" anchor="ctr"/>
          <a:lstStyle/>
          <a:p>
            <a:pPr indent="0" marL="0">
              <a:buNone/>
            </a:pPr>
            <a:r>
              <a:rPr lang="en-US" sz="1900" dirty="0">
                <a:solidFill>
                  <a:srgbClr val="5B6472"/>
                </a:solidFill>
                <a:latin typeface="Calibri" pitchFamily="34" charset="0"/>
                <a:ea typeface="Calibri" pitchFamily="34" charset="-122"/>
                <a:cs typeface="Calibri" pitchFamily="34" charset="-120"/>
              </a:rPr>
              <a:t>Copyright Act · Privacy Act · Privacy and Data Protection Act · Essential Eight · ISM</a:t>
            </a:r>
            <a:endParaRPr lang="en-US" sz="1900" dirty="0"/>
          </a:p>
        </p:txBody>
      </p:sp>
      <p:sp>
        <p:nvSpPr>
          <p:cNvPr id="6" name="Shape 4"/>
          <p:cNvSpPr/>
          <p:nvPr/>
        </p:nvSpPr>
        <p:spPr>
          <a:xfrm>
            <a:off x="1005840" y="4069080"/>
            <a:ext cx="4983480" cy="1371600"/>
          </a:xfrm>
          <a:prstGeom prst="roundRect">
            <a:avLst>
              <a:gd name="adj" fmla="val 6000"/>
            </a:avLst>
          </a:prstGeom>
          <a:solidFill>
            <a:srgbClr val="FFFFFF"/>
          </a:solidFill>
          <a:ln w="12700">
            <a:solidFill>
              <a:srgbClr val="D8DDE6"/>
            </a:solidFill>
            <a:prstDash val="solid"/>
          </a:ln>
        </p:spPr>
      </p:sp>
      <p:sp>
        <p:nvSpPr>
          <p:cNvPr id="7" name="Shape 5"/>
          <p:cNvSpPr/>
          <p:nvPr/>
        </p:nvSpPr>
        <p:spPr>
          <a:xfrm>
            <a:off x="6309360" y="4069080"/>
            <a:ext cx="4617720" cy="1371600"/>
          </a:xfrm>
          <a:prstGeom prst="roundRect">
            <a:avLst>
              <a:gd name="adj" fmla="val 6000"/>
            </a:avLst>
          </a:prstGeom>
          <a:solidFill>
            <a:srgbClr val="FFFFFF"/>
          </a:solidFill>
          <a:ln w="12700">
            <a:solidFill>
              <a:srgbClr val="D8DDE6"/>
            </a:solidFill>
            <a:prstDash val="solid"/>
          </a:ln>
        </p:spPr>
      </p:sp>
      <p:sp>
        <p:nvSpPr>
          <p:cNvPr id="8" name="Text 6"/>
          <p:cNvSpPr/>
          <p:nvPr/>
        </p:nvSpPr>
        <p:spPr>
          <a:xfrm>
            <a:off x="1234440" y="4251960"/>
            <a:ext cx="4526280" cy="1005840"/>
          </a:xfrm>
          <a:prstGeom prst="rect">
            <a:avLst/>
          </a:prstGeom>
          <a:noFill/>
          <a:ln/>
        </p:spPr>
        <p:txBody>
          <a:bodyPr wrap="square" lIns="0" tIns="0" rIns="0" bIns="0" rtlCol="0" anchor="t"/>
          <a:lstStyle/>
          <a:p>
            <a:pPr indent="0" marL="0">
              <a:lnSpc>
                <a:spcPct val="125000"/>
              </a:lnSpc>
              <a:buNone/>
            </a:pPr>
            <a:r>
              <a:rPr lang="en-US" sz="1600" b="1" dirty="0">
                <a:solidFill>
                  <a:srgbClr val="111827"/>
                </a:solidFill>
                <a:latin typeface="Calibri" pitchFamily="34" charset="0"/>
                <a:ea typeface="Calibri" pitchFamily="34" charset="-122"/>
                <a:cs typeface="Calibri" pitchFamily="34" charset="-120"/>
              </a:rPr>
              <a:t>Year 12 Software Development</a:t>
            </a:r>
            <a:endParaRPr lang="en-US" sz="1600" dirty="0"/>
          </a:p>
          <a:p>
            <a:pPr indent="0" marL="0">
              <a:lnSpc>
                <a:spcPct val="125000"/>
              </a:lnSpc>
              <a:buNone/>
            </a:pPr>
            <a:r>
              <a:rPr lang="en-US" sz="1600" dirty="0">
                <a:solidFill>
                  <a:srgbClr val="111827"/>
                </a:solidFill>
                <a:latin typeface="Calibri" pitchFamily="34" charset="0"/>
                <a:ea typeface="Calibri" pitchFamily="34" charset="-122"/>
                <a:cs typeface="Calibri" pitchFamily="34" charset="-120"/>
              </a:rPr>
              <a:t>Double period · 100 minutes</a:t>
            </a:r>
            <a:endParaRPr lang="en-US" sz="1600" dirty="0"/>
          </a:p>
          <a:p>
            <a:pPr indent="0" marL="0">
              <a:lnSpc>
                <a:spcPct val="125000"/>
              </a:lnSpc>
              <a:buNone/>
            </a:pPr>
            <a:r>
              <a:rPr lang="en-US" sz="1600" dirty="0">
                <a:solidFill>
                  <a:srgbClr val="111827"/>
                </a:solidFill>
                <a:latin typeface="Calibri" pitchFamily="34" charset="0"/>
                <a:ea typeface="Calibri" pitchFamily="34" charset="-122"/>
                <a:cs typeface="Calibri" pitchFamily="34" charset="-120"/>
              </a:rPr>
              <a:t>Case organisation: Aurora Ticketing</a:t>
            </a:r>
            <a:endParaRPr lang="en-US" sz="1600" dirty="0"/>
          </a:p>
        </p:txBody>
      </p:sp>
      <p:sp>
        <p:nvSpPr>
          <p:cNvPr id="9" name="Text 7"/>
          <p:cNvSpPr/>
          <p:nvPr/>
        </p:nvSpPr>
        <p:spPr>
          <a:xfrm>
            <a:off x="6537960" y="4251960"/>
            <a:ext cx="4160520" cy="1005840"/>
          </a:xfrm>
          <a:prstGeom prst="rect">
            <a:avLst/>
          </a:prstGeom>
          <a:noFill/>
          <a:ln/>
        </p:spPr>
        <p:txBody>
          <a:bodyPr wrap="square" lIns="0" tIns="0" rIns="0" bIns="0" rtlCol="0" anchor="t"/>
          <a:lstStyle/>
          <a:p>
            <a:pPr indent="0" marL="0">
              <a:lnSpc>
                <a:spcPct val="125000"/>
              </a:lnSpc>
              <a:buNone/>
            </a:pPr>
            <a:r>
              <a:rPr lang="en-US" sz="1600" dirty="0">
                <a:solidFill>
                  <a:srgbClr val="111827"/>
                </a:solidFill>
                <a:latin typeface="Calibri" pitchFamily="34" charset="0"/>
                <a:ea typeface="Calibri" pitchFamily="34" charset="-122"/>
                <a:cs typeface="Calibri" pitchFamily="34" charset="-120"/>
              </a:rPr>
              <a:t>Last lesson: Evaluating security practices</a:t>
            </a:r>
            <a:endParaRPr lang="en-US" sz="1600" dirty="0"/>
          </a:p>
          <a:p>
            <a:pPr indent="0" marL="0">
              <a:lnSpc>
                <a:spcPct val="125000"/>
              </a:lnSpc>
              <a:buNone/>
            </a:pPr>
            <a:r>
              <a:rPr lang="en-US" sz="1600" b="1" dirty="0">
                <a:solidFill>
                  <a:srgbClr val="111827"/>
                </a:solidFill>
                <a:latin typeface="Calibri" pitchFamily="34" charset="0"/>
                <a:ea typeface="Calibri" pitchFamily="34" charset="-122"/>
                <a:cs typeface="Calibri" pitchFamily="34" charset="-120"/>
              </a:rPr>
              <a:t>Today: the rules your criteria answer to</a:t>
            </a:r>
            <a:endParaRPr lang="en-US" sz="1600" dirty="0"/>
          </a:p>
          <a:p>
            <a:pPr indent="0" marL="0">
              <a:lnSpc>
                <a:spcPct val="125000"/>
              </a:lnSpc>
              <a:buNone/>
            </a:pPr>
            <a:r>
              <a:rPr lang="en-US" sz="1600" dirty="0">
                <a:solidFill>
                  <a:srgbClr val="111827"/>
                </a:solidFill>
                <a:latin typeface="Calibri" pitchFamily="34" charset="0"/>
                <a:ea typeface="Calibri" pitchFamily="34" charset="-122"/>
                <a:cs typeface="Calibri" pitchFamily="34" charset="-120"/>
              </a:rPr>
              <a:t>Notebooks out — laptops stay shut</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5B6472"/>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WARM UP</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Warm up — Which of these is the law?</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5 minutes · in pairs · notebooks only</a:t>
            </a:r>
            <a:endParaRPr lang="en-US" sz="1500" dirty="0"/>
          </a:p>
        </p:txBody>
      </p:sp>
      <p:sp>
        <p:nvSpPr>
          <p:cNvPr id="8" name="Shape 6"/>
          <p:cNvSpPr/>
          <p:nvPr/>
        </p:nvSpPr>
        <p:spPr>
          <a:xfrm>
            <a:off x="502920" y="1298448"/>
            <a:ext cx="11155680" cy="749808"/>
          </a:xfrm>
          <a:prstGeom prst="roundRect">
            <a:avLst>
              <a:gd name="adj" fmla="val 10976"/>
            </a:avLst>
          </a:prstGeom>
          <a:solidFill>
            <a:srgbClr val="EEF2FE"/>
          </a:solidFill>
          <a:ln w="12700">
            <a:solidFill>
              <a:srgbClr val="4361EE"/>
            </a:solidFill>
            <a:prstDash val="solid"/>
          </a:ln>
        </p:spPr>
      </p:sp>
      <p:sp>
        <p:nvSpPr>
          <p:cNvPr id="9" name="Text 7"/>
          <p:cNvSpPr/>
          <p:nvPr/>
        </p:nvSpPr>
        <p:spPr>
          <a:xfrm>
            <a:off x="804672" y="1298448"/>
            <a:ext cx="10552176" cy="749808"/>
          </a:xfrm>
          <a:prstGeom prst="rect">
            <a:avLst/>
          </a:prstGeom>
          <a:noFill/>
          <a:ln/>
        </p:spPr>
        <p:txBody>
          <a:bodyPr wrap="square" lIns="0" tIns="0" rIns="0" bIns="0" rtlCol="0" anchor="ctr"/>
          <a:lstStyle/>
          <a:p>
            <a:pPr indent="0" marL="0">
              <a:lnSpc>
                <a:spcPct val="120000"/>
              </a:lnSpc>
              <a:buNone/>
            </a:pPr>
            <a:r>
              <a:rPr lang="en-US" sz="1800" dirty="0">
                <a:solidFill>
                  <a:srgbClr val="111827"/>
                </a:solidFill>
                <a:latin typeface="Calibri" pitchFamily="34" charset="0"/>
                <a:ea typeface="Calibri" pitchFamily="34" charset="-122"/>
                <a:cs typeface="Calibri" pitchFamily="34" charset="-120"/>
              </a:rPr>
              <a:t>Aurora Ticketing's new team lead makes five claims in a meeting. For each one, decide: is this something the law actually requires, or is it something a security guideline merely recommends? Mark it LAW or GUIDE.</a:t>
            </a:r>
            <a:endParaRPr lang="en-US" sz="1800" dirty="0"/>
          </a:p>
        </p:txBody>
      </p:sp>
      <p:sp>
        <p:nvSpPr>
          <p:cNvPr id="10" name="Shape 8"/>
          <p:cNvSpPr/>
          <p:nvPr/>
        </p:nvSpPr>
        <p:spPr>
          <a:xfrm>
            <a:off x="502920" y="2249424"/>
            <a:ext cx="11155680" cy="658368"/>
          </a:xfrm>
          <a:prstGeom prst="roundRect">
            <a:avLst>
              <a:gd name="adj" fmla="val 12500"/>
            </a:avLst>
          </a:prstGeom>
          <a:solidFill>
            <a:srgbClr val="FFFFFF"/>
          </a:solidFill>
          <a:ln w="12700">
            <a:solidFill>
              <a:srgbClr val="D8DDE6"/>
            </a:solidFill>
            <a:prstDash val="solid"/>
          </a:ln>
        </p:spPr>
      </p:sp>
      <p:sp>
        <p:nvSpPr>
          <p:cNvPr id="11" name="Shape 9"/>
          <p:cNvSpPr/>
          <p:nvPr/>
        </p:nvSpPr>
        <p:spPr>
          <a:xfrm>
            <a:off x="731520" y="2395728"/>
            <a:ext cx="365760" cy="365760"/>
          </a:xfrm>
          <a:prstGeom prst="ellipse">
            <a:avLst/>
          </a:prstGeom>
          <a:solidFill>
            <a:srgbClr val="F4F6FB"/>
          </a:solidFill>
          <a:ln w="12700">
            <a:solidFill>
              <a:srgbClr val="D8DDE6"/>
            </a:solidFill>
            <a:prstDash val="solid"/>
          </a:ln>
        </p:spPr>
      </p:sp>
      <p:sp>
        <p:nvSpPr>
          <p:cNvPr id="12" name="Text 10"/>
          <p:cNvSpPr/>
          <p:nvPr/>
        </p:nvSpPr>
        <p:spPr>
          <a:xfrm>
            <a:off x="731520" y="2395728"/>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A</a:t>
            </a:r>
            <a:endParaRPr lang="en-US" sz="1300" dirty="0"/>
          </a:p>
        </p:txBody>
      </p:sp>
      <p:sp>
        <p:nvSpPr>
          <p:cNvPr id="13" name="Text 11"/>
          <p:cNvSpPr/>
          <p:nvPr/>
        </p:nvSpPr>
        <p:spPr>
          <a:xfrm>
            <a:off x="1234440" y="2249424"/>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"We have to take reasonable steps to stop customer records being accessed by anyone who shouldn't see them."</a:t>
            </a:r>
            <a:endParaRPr lang="en-US" sz="1900" dirty="0"/>
          </a:p>
        </p:txBody>
      </p:sp>
      <p:sp>
        <p:nvSpPr>
          <p:cNvPr id="14" name="Shape 12"/>
          <p:cNvSpPr/>
          <p:nvPr/>
        </p:nvSpPr>
        <p:spPr>
          <a:xfrm>
            <a:off x="502920" y="2999232"/>
            <a:ext cx="11155680" cy="658368"/>
          </a:xfrm>
          <a:prstGeom prst="roundRect">
            <a:avLst>
              <a:gd name="adj" fmla="val 12500"/>
            </a:avLst>
          </a:prstGeom>
          <a:solidFill>
            <a:srgbClr val="FFFFFF"/>
          </a:solidFill>
          <a:ln w="12700">
            <a:solidFill>
              <a:srgbClr val="D8DDE6"/>
            </a:solidFill>
            <a:prstDash val="solid"/>
          </a:ln>
        </p:spPr>
      </p:sp>
      <p:sp>
        <p:nvSpPr>
          <p:cNvPr id="15" name="Shape 13"/>
          <p:cNvSpPr/>
          <p:nvPr/>
        </p:nvSpPr>
        <p:spPr>
          <a:xfrm>
            <a:off x="731520" y="3145536"/>
            <a:ext cx="365760" cy="365760"/>
          </a:xfrm>
          <a:prstGeom prst="ellipse">
            <a:avLst/>
          </a:prstGeom>
          <a:solidFill>
            <a:srgbClr val="F4F6FB"/>
          </a:solidFill>
          <a:ln w="12700">
            <a:solidFill>
              <a:srgbClr val="D8DDE6"/>
            </a:solidFill>
            <a:prstDash val="solid"/>
          </a:ln>
        </p:spPr>
      </p:sp>
      <p:sp>
        <p:nvSpPr>
          <p:cNvPr id="16" name="Text 14"/>
          <p:cNvSpPr/>
          <p:nvPr/>
        </p:nvSpPr>
        <p:spPr>
          <a:xfrm>
            <a:off x="731520" y="3145536"/>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B</a:t>
            </a:r>
            <a:endParaRPr lang="en-US" sz="1300" dirty="0"/>
          </a:p>
        </p:txBody>
      </p:sp>
      <p:sp>
        <p:nvSpPr>
          <p:cNvPr id="17" name="Text 15"/>
          <p:cNvSpPr/>
          <p:nvPr/>
        </p:nvSpPr>
        <p:spPr>
          <a:xfrm>
            <a:off x="1234440" y="2999232"/>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"We should turn on multi-factor authentication and restrict admin rights before anything else."</a:t>
            </a:r>
            <a:endParaRPr lang="en-US" sz="1900" dirty="0"/>
          </a:p>
        </p:txBody>
      </p:sp>
      <p:sp>
        <p:nvSpPr>
          <p:cNvPr id="18" name="Shape 16"/>
          <p:cNvSpPr/>
          <p:nvPr/>
        </p:nvSpPr>
        <p:spPr>
          <a:xfrm>
            <a:off x="502920" y="3749040"/>
            <a:ext cx="11155680" cy="658368"/>
          </a:xfrm>
          <a:prstGeom prst="roundRect">
            <a:avLst>
              <a:gd name="adj" fmla="val 12500"/>
            </a:avLst>
          </a:prstGeom>
          <a:solidFill>
            <a:srgbClr val="FFFFFF"/>
          </a:solidFill>
          <a:ln w="12700">
            <a:solidFill>
              <a:srgbClr val="D8DDE6"/>
            </a:solidFill>
            <a:prstDash val="solid"/>
          </a:ln>
        </p:spPr>
      </p:sp>
      <p:sp>
        <p:nvSpPr>
          <p:cNvPr id="19" name="Shape 17"/>
          <p:cNvSpPr/>
          <p:nvPr/>
        </p:nvSpPr>
        <p:spPr>
          <a:xfrm>
            <a:off x="731520" y="3895344"/>
            <a:ext cx="365760" cy="365760"/>
          </a:xfrm>
          <a:prstGeom prst="ellipse">
            <a:avLst/>
          </a:prstGeom>
          <a:solidFill>
            <a:srgbClr val="F4F6FB"/>
          </a:solidFill>
          <a:ln w="12700">
            <a:solidFill>
              <a:srgbClr val="D8DDE6"/>
            </a:solidFill>
            <a:prstDash val="solid"/>
          </a:ln>
        </p:spPr>
      </p:sp>
      <p:sp>
        <p:nvSpPr>
          <p:cNvPr id="20" name="Text 18"/>
          <p:cNvSpPr/>
          <p:nvPr/>
        </p:nvSpPr>
        <p:spPr>
          <a:xfrm>
            <a:off x="731520" y="3895344"/>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C</a:t>
            </a:r>
            <a:endParaRPr lang="en-US" sz="1300" dirty="0"/>
          </a:p>
        </p:txBody>
      </p:sp>
      <p:sp>
        <p:nvSpPr>
          <p:cNvPr id="21" name="Text 19"/>
          <p:cNvSpPr/>
          <p:nvPr/>
        </p:nvSpPr>
        <p:spPr>
          <a:xfrm>
            <a:off x="1234440" y="3749040"/>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"We can't reuse code from that library without checking its licence first."</a:t>
            </a:r>
            <a:endParaRPr lang="en-US" sz="1900" dirty="0"/>
          </a:p>
        </p:txBody>
      </p:sp>
      <p:sp>
        <p:nvSpPr>
          <p:cNvPr id="22" name="Shape 20"/>
          <p:cNvSpPr/>
          <p:nvPr/>
        </p:nvSpPr>
        <p:spPr>
          <a:xfrm>
            <a:off x="502920" y="4498848"/>
            <a:ext cx="11155680" cy="658368"/>
          </a:xfrm>
          <a:prstGeom prst="roundRect">
            <a:avLst>
              <a:gd name="adj" fmla="val 12500"/>
            </a:avLst>
          </a:prstGeom>
          <a:solidFill>
            <a:srgbClr val="FFFFFF"/>
          </a:solidFill>
          <a:ln w="12700">
            <a:solidFill>
              <a:srgbClr val="D8DDE6"/>
            </a:solidFill>
            <a:prstDash val="solid"/>
          </a:ln>
        </p:spPr>
      </p:sp>
      <p:sp>
        <p:nvSpPr>
          <p:cNvPr id="23" name="Shape 21"/>
          <p:cNvSpPr/>
          <p:nvPr/>
        </p:nvSpPr>
        <p:spPr>
          <a:xfrm>
            <a:off x="731520" y="4645152"/>
            <a:ext cx="365760" cy="365760"/>
          </a:xfrm>
          <a:prstGeom prst="ellipse">
            <a:avLst/>
          </a:prstGeom>
          <a:solidFill>
            <a:srgbClr val="F4F6FB"/>
          </a:solidFill>
          <a:ln w="12700">
            <a:solidFill>
              <a:srgbClr val="D8DDE6"/>
            </a:solidFill>
            <a:prstDash val="solid"/>
          </a:ln>
        </p:spPr>
      </p:sp>
      <p:sp>
        <p:nvSpPr>
          <p:cNvPr id="24" name="Text 22"/>
          <p:cNvSpPr/>
          <p:nvPr/>
        </p:nvSpPr>
        <p:spPr>
          <a:xfrm>
            <a:off x="731520" y="4645152"/>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D</a:t>
            </a:r>
            <a:endParaRPr lang="en-US" sz="1300" dirty="0"/>
          </a:p>
        </p:txBody>
      </p:sp>
      <p:sp>
        <p:nvSpPr>
          <p:cNvPr id="25" name="Text 23"/>
          <p:cNvSpPr/>
          <p:nvPr/>
        </p:nvSpPr>
        <p:spPr>
          <a:xfrm>
            <a:off x="1234440" y="4498848"/>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"We ought to be aiming for Maturity Level Two by the end of the year."</a:t>
            </a:r>
            <a:endParaRPr lang="en-US" sz="1900" dirty="0"/>
          </a:p>
        </p:txBody>
      </p:sp>
      <p:sp>
        <p:nvSpPr>
          <p:cNvPr id="26" name="Shape 24"/>
          <p:cNvSpPr/>
          <p:nvPr/>
        </p:nvSpPr>
        <p:spPr>
          <a:xfrm>
            <a:off x="502920" y="5248656"/>
            <a:ext cx="11155680" cy="658368"/>
          </a:xfrm>
          <a:prstGeom prst="roundRect">
            <a:avLst>
              <a:gd name="adj" fmla="val 12500"/>
            </a:avLst>
          </a:prstGeom>
          <a:solidFill>
            <a:srgbClr val="FFFFFF"/>
          </a:solidFill>
          <a:ln w="12700">
            <a:solidFill>
              <a:srgbClr val="D8DDE6"/>
            </a:solidFill>
            <a:prstDash val="solid"/>
          </a:ln>
        </p:spPr>
      </p:sp>
      <p:sp>
        <p:nvSpPr>
          <p:cNvPr id="27" name="Shape 25"/>
          <p:cNvSpPr/>
          <p:nvPr/>
        </p:nvSpPr>
        <p:spPr>
          <a:xfrm>
            <a:off x="731520" y="5394960"/>
            <a:ext cx="365760" cy="365760"/>
          </a:xfrm>
          <a:prstGeom prst="ellipse">
            <a:avLst/>
          </a:prstGeom>
          <a:solidFill>
            <a:srgbClr val="F4F6FB"/>
          </a:solidFill>
          <a:ln w="12700">
            <a:solidFill>
              <a:srgbClr val="D8DDE6"/>
            </a:solidFill>
            <a:prstDash val="solid"/>
          </a:ln>
        </p:spPr>
      </p:sp>
      <p:sp>
        <p:nvSpPr>
          <p:cNvPr id="28" name="Text 26"/>
          <p:cNvSpPr/>
          <p:nvPr/>
        </p:nvSpPr>
        <p:spPr>
          <a:xfrm>
            <a:off x="731520" y="5394960"/>
            <a:ext cx="365760" cy="365760"/>
          </a:xfrm>
          <a:prstGeom prst="rect">
            <a:avLst/>
          </a:prstGeom>
          <a:noFill/>
          <a:ln/>
        </p:spPr>
        <p:txBody>
          <a:bodyPr wrap="square" lIns="0" tIns="0" rIns="0" bIns="0" rtlCol="0" anchor="ctr"/>
          <a:lstStyle/>
          <a:p>
            <a:pPr algn="ctr" indent="0" marL="0">
              <a:buNone/>
            </a:pPr>
            <a:r>
              <a:rPr lang="en-US" sz="1300" b="1" dirty="0">
                <a:solidFill>
                  <a:srgbClr val="5B6472"/>
                </a:solidFill>
                <a:latin typeface="Courier New" pitchFamily="34" charset="0"/>
                <a:ea typeface="Courier New" pitchFamily="34" charset="-122"/>
                <a:cs typeface="Courier New" pitchFamily="34" charset="-120"/>
              </a:rPr>
              <a:t>E</a:t>
            </a:r>
            <a:endParaRPr lang="en-US" sz="1300" dirty="0"/>
          </a:p>
        </p:txBody>
      </p:sp>
      <p:sp>
        <p:nvSpPr>
          <p:cNvPr id="29" name="Text 27"/>
          <p:cNvSpPr/>
          <p:nvPr/>
        </p:nvSpPr>
        <p:spPr>
          <a:xfrm>
            <a:off x="1234440" y="5248656"/>
            <a:ext cx="10149840" cy="658368"/>
          </a:xfrm>
          <a:prstGeom prst="rect">
            <a:avLst/>
          </a:prstGeom>
          <a:noFill/>
          <a:ln/>
        </p:spPr>
        <p:txBody>
          <a:bodyPr wrap="square" lIns="0" tIns="0" rIns="0" bIns="0" rtlCol="0" anchor="ctr"/>
          <a:lstStyle/>
          <a:p>
            <a:pPr indent="0" marL="0">
              <a:buNone/>
            </a:pPr>
            <a:r>
              <a:rPr lang="en-US" sz="1900" dirty="0">
                <a:solidFill>
                  <a:srgbClr val="111827"/>
                </a:solidFill>
                <a:latin typeface="Calibri" pitchFamily="34" charset="0"/>
                <a:ea typeface="Calibri" pitchFamily="34" charset="-122"/>
                <a:cs typeface="Calibri" pitchFamily="34" charset="-120"/>
              </a:rPr>
              <a:t>"If we send customer data to a server overseas, we're still on the hook for what happens to it."</a:t>
            </a:r>
            <a:endParaRPr lang="en-US" sz="1900" dirty="0"/>
          </a:p>
        </p:txBody>
      </p:sp>
      <p:sp>
        <p:nvSpPr>
          <p:cNvPr id="30" name="Shape 28"/>
          <p:cNvSpPr/>
          <p:nvPr/>
        </p:nvSpPr>
        <p:spPr>
          <a:xfrm>
            <a:off x="502920" y="6044184"/>
            <a:ext cx="11155680" cy="502920"/>
          </a:xfrm>
          <a:prstGeom prst="roundRect">
            <a:avLst>
              <a:gd name="adj" fmla="val 16364"/>
            </a:avLst>
          </a:prstGeom>
          <a:solidFill>
            <a:srgbClr val="FEF3C7"/>
          </a:solidFill>
          <a:ln w="12700">
            <a:solidFill>
              <a:srgbClr val="F59E0B"/>
            </a:solidFill>
            <a:prstDash val="solid"/>
          </a:ln>
        </p:spPr>
      </p:sp>
      <p:sp>
        <p:nvSpPr>
          <p:cNvPr id="31" name="Text 29"/>
          <p:cNvSpPr/>
          <p:nvPr/>
        </p:nvSpPr>
        <p:spPr>
          <a:xfrm>
            <a:off x="822960" y="6044184"/>
            <a:ext cx="10515600" cy="502920"/>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Then: what happens to the organisation if it ignores a LAW? What happens if it ignores a GUIDE?</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OBJECTIVE</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Learning objective</a:t>
            </a:r>
            <a:endParaRPr lang="en-US" sz="3000" dirty="0"/>
          </a:p>
        </p:txBody>
      </p:sp>
      <p:sp>
        <p:nvSpPr>
          <p:cNvPr id="7" name="Shape 5"/>
          <p:cNvSpPr/>
          <p:nvPr/>
        </p:nvSpPr>
        <p:spPr>
          <a:xfrm>
            <a:off x="502920" y="1143000"/>
            <a:ext cx="11155680" cy="960120"/>
          </a:xfrm>
          <a:prstGeom prst="roundRect">
            <a:avLst>
              <a:gd name="adj" fmla="val 8571"/>
            </a:avLst>
          </a:prstGeom>
          <a:solidFill>
            <a:srgbClr val="EEF2FE"/>
          </a:solidFill>
          <a:ln w="12700">
            <a:solidFill>
              <a:srgbClr val="4361EE"/>
            </a:solidFill>
            <a:prstDash val="solid"/>
          </a:ln>
        </p:spPr>
      </p:sp>
      <p:sp>
        <p:nvSpPr>
          <p:cNvPr id="8" name="Text 6"/>
          <p:cNvSpPr/>
          <p:nvPr/>
        </p:nvSpPr>
        <p:spPr>
          <a:xfrm>
            <a:off x="777240" y="1143000"/>
            <a:ext cx="10607040" cy="960120"/>
          </a:xfrm>
          <a:prstGeom prst="rect">
            <a:avLst/>
          </a:prstGeom>
          <a:noFill/>
          <a:ln/>
        </p:spPr>
        <p:txBody>
          <a:bodyPr wrap="square" lIns="0" tIns="0" rIns="0" bIns="0" rtlCol="0" anchor="ctr"/>
          <a:lstStyle/>
          <a:p>
            <a:pPr indent="0" marL="0">
              <a:lnSpc>
                <a:spcPct val="110000"/>
              </a:lnSpc>
              <a:buNone/>
            </a:pPr>
            <a:r>
              <a:rPr lang="en-US" sz="2200" b="1" dirty="0">
                <a:solidFill>
                  <a:srgbClr val="111827"/>
                </a:solidFill>
                <a:latin typeface="Bookman Old Style" pitchFamily="34" charset="0"/>
                <a:ea typeface="Bookman Old Style" pitchFamily="34" charset="-122"/>
                <a:cs typeface="Bookman Old Style" pitchFamily="34" charset="-120"/>
              </a:rPr>
              <a:t>To be able to explain the key legislation and industry frameworks that govern how an organisation develops software and protects data.</a:t>
            </a:r>
            <a:endParaRPr lang="en-US" sz="2200" dirty="0"/>
          </a:p>
        </p:txBody>
      </p:sp>
      <p:sp>
        <p:nvSpPr>
          <p:cNvPr id="9" name="Text 7"/>
          <p:cNvSpPr/>
          <p:nvPr/>
        </p:nvSpPr>
        <p:spPr>
          <a:xfrm>
            <a:off x="502920" y="2240280"/>
            <a:ext cx="5486400" cy="365760"/>
          </a:xfrm>
          <a:prstGeom prst="rect">
            <a:avLst/>
          </a:prstGeom>
          <a:noFill/>
          <a:ln/>
        </p:spPr>
        <p:txBody>
          <a:bodyPr wrap="square" lIns="0" tIns="0" rIns="0" bIns="0" rtlCol="0" anchor="ctr"/>
          <a:lstStyle/>
          <a:p>
            <a:pPr indent="0" marL="0">
              <a:buNone/>
            </a:pPr>
            <a:r>
              <a:rPr lang="en-US" sz="2100" b="1" dirty="0">
                <a:solidFill>
                  <a:srgbClr val="111827"/>
                </a:solidFill>
                <a:latin typeface="Bookman Old Style" pitchFamily="34" charset="0"/>
                <a:ea typeface="Bookman Old Style" pitchFamily="34" charset="-122"/>
                <a:cs typeface="Bookman Old Style" pitchFamily="34" charset="-120"/>
              </a:rPr>
              <a:t>Success criteria</a:t>
            </a:r>
            <a:endParaRPr lang="en-US" sz="2100" dirty="0"/>
          </a:p>
        </p:txBody>
      </p:sp>
      <p:sp>
        <p:nvSpPr>
          <p:cNvPr id="10" name="Shape 8"/>
          <p:cNvSpPr/>
          <p:nvPr/>
        </p:nvSpPr>
        <p:spPr>
          <a:xfrm>
            <a:off x="502920" y="2697480"/>
            <a:ext cx="3611880" cy="3063240"/>
          </a:xfrm>
          <a:prstGeom prst="roundRect">
            <a:avLst>
              <a:gd name="adj" fmla="val 2687"/>
            </a:avLst>
          </a:prstGeom>
          <a:solidFill>
            <a:srgbClr val="FFFFFF"/>
          </a:solidFill>
          <a:ln w="19050">
            <a:solidFill>
              <a:srgbClr val="10B981"/>
            </a:solidFill>
            <a:prstDash val="solid"/>
          </a:ln>
        </p:spPr>
      </p:sp>
      <p:sp>
        <p:nvSpPr>
          <p:cNvPr id="11" name="Shape 9"/>
          <p:cNvSpPr/>
          <p:nvPr/>
        </p:nvSpPr>
        <p:spPr>
          <a:xfrm>
            <a:off x="731520" y="2880360"/>
            <a:ext cx="1298448" cy="274320"/>
          </a:xfrm>
          <a:prstGeom prst="roundRect">
            <a:avLst>
              <a:gd name="adj" fmla="val 50000"/>
            </a:avLst>
          </a:prstGeom>
          <a:solidFill>
            <a:srgbClr val="10B981"/>
          </a:solidFill>
          <a:ln/>
        </p:spPr>
      </p:sp>
      <p:sp>
        <p:nvSpPr>
          <p:cNvPr id="12" name="Text 10"/>
          <p:cNvSpPr/>
          <p:nvPr/>
        </p:nvSpPr>
        <p:spPr>
          <a:xfrm>
            <a:off x="731520" y="2880360"/>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FOUNDATION</a:t>
            </a:r>
            <a:endParaRPr lang="en-US" sz="900" dirty="0"/>
          </a:p>
        </p:txBody>
      </p:sp>
      <p:sp>
        <p:nvSpPr>
          <p:cNvPr id="13" name="Text 11"/>
          <p:cNvSpPr/>
          <p:nvPr/>
        </p:nvSpPr>
        <p:spPr>
          <a:xfrm>
            <a:off x="731520" y="3310128"/>
            <a:ext cx="3154680" cy="1371600"/>
          </a:xfrm>
          <a:prstGeom prst="rect">
            <a:avLst/>
          </a:prstGeom>
          <a:noFill/>
          <a:ln/>
        </p:spPr>
        <p:txBody>
          <a:bodyPr wrap="square" lIns="0" tIns="0" rIns="0" bIns="0" rtlCol="0" anchor="t"/>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I can name the five key instruments and say whether each is law or guidance.</a:t>
            </a:r>
            <a:endParaRPr lang="en-US" sz="1700" dirty="0"/>
          </a:p>
        </p:txBody>
      </p:sp>
      <p:sp>
        <p:nvSpPr>
          <p:cNvPr id="14" name="Shape 12"/>
          <p:cNvSpPr/>
          <p:nvPr/>
        </p:nvSpPr>
        <p:spPr>
          <a:xfrm>
            <a:off x="731520" y="4736592"/>
            <a:ext cx="3154680" cy="0"/>
          </a:xfrm>
          <a:prstGeom prst="line">
            <a:avLst/>
          </a:prstGeom>
          <a:noFill/>
          <a:ln w="12700">
            <a:solidFill>
              <a:srgbClr val="D8DDE6"/>
            </a:solidFill>
            <a:prstDash val="solid"/>
          </a:ln>
        </p:spPr>
      </p:sp>
      <p:sp>
        <p:nvSpPr>
          <p:cNvPr id="15" name="Text 13"/>
          <p:cNvSpPr/>
          <p:nvPr/>
        </p:nvSpPr>
        <p:spPr>
          <a:xfrm>
            <a:off x="731520" y="4846320"/>
            <a:ext cx="3154680" cy="777240"/>
          </a:xfrm>
          <a:prstGeom prst="rect">
            <a:avLst/>
          </a:prstGeom>
          <a:noFill/>
          <a:ln/>
        </p:spPr>
        <p:txBody>
          <a:bodyPr wrap="square" lIns="0" tIns="0" rIns="0" bIns="0" rtlCol="0" anchor="t"/>
          <a:lstStyle/>
          <a:p>
            <a:pPr indent="0" marL="0">
              <a:lnSpc>
                <a:spcPct val="120000"/>
              </a:lnSpc>
              <a:buNone/>
            </a:pPr>
            <a:r>
              <a:rPr lang="en-US" sz="1600" dirty="0">
                <a:solidFill>
                  <a:srgbClr val="5B6472"/>
                </a:solidFill>
                <a:latin typeface="Calibri" pitchFamily="34" charset="0"/>
                <a:ea typeface="Calibri" pitchFamily="34" charset="-122"/>
                <a:cs typeface="Calibri" pitchFamily="34" charset="-120"/>
              </a:rPr>
              <a:t>I can state what APP 11 and IPP 4 require.</a:t>
            </a:r>
            <a:endParaRPr lang="en-US" sz="1600" dirty="0"/>
          </a:p>
        </p:txBody>
      </p:sp>
      <p:sp>
        <p:nvSpPr>
          <p:cNvPr id="16" name="Shape 14"/>
          <p:cNvSpPr/>
          <p:nvPr/>
        </p:nvSpPr>
        <p:spPr>
          <a:xfrm>
            <a:off x="4325112" y="2697480"/>
            <a:ext cx="3611880" cy="3063240"/>
          </a:xfrm>
          <a:prstGeom prst="roundRect">
            <a:avLst>
              <a:gd name="adj" fmla="val 2687"/>
            </a:avLst>
          </a:prstGeom>
          <a:solidFill>
            <a:srgbClr val="FFFFFF"/>
          </a:solidFill>
          <a:ln w="19050">
            <a:solidFill>
              <a:srgbClr val="F59E0B"/>
            </a:solidFill>
            <a:prstDash val="solid"/>
          </a:ln>
        </p:spPr>
      </p:sp>
      <p:sp>
        <p:nvSpPr>
          <p:cNvPr id="17" name="Shape 15"/>
          <p:cNvSpPr/>
          <p:nvPr/>
        </p:nvSpPr>
        <p:spPr>
          <a:xfrm>
            <a:off x="4553712" y="2880360"/>
            <a:ext cx="1298448" cy="274320"/>
          </a:xfrm>
          <a:prstGeom prst="roundRect">
            <a:avLst>
              <a:gd name="adj" fmla="val 50000"/>
            </a:avLst>
          </a:prstGeom>
          <a:solidFill>
            <a:srgbClr val="F59E0B"/>
          </a:solidFill>
          <a:ln/>
        </p:spPr>
      </p:sp>
      <p:sp>
        <p:nvSpPr>
          <p:cNvPr id="18" name="Text 16"/>
          <p:cNvSpPr/>
          <p:nvPr/>
        </p:nvSpPr>
        <p:spPr>
          <a:xfrm>
            <a:off x="4553712" y="2880360"/>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DEVELOPING</a:t>
            </a:r>
            <a:endParaRPr lang="en-US" sz="900" dirty="0"/>
          </a:p>
        </p:txBody>
      </p:sp>
      <p:sp>
        <p:nvSpPr>
          <p:cNvPr id="19" name="Text 17"/>
          <p:cNvSpPr/>
          <p:nvPr/>
        </p:nvSpPr>
        <p:spPr>
          <a:xfrm>
            <a:off x="4553712" y="3310128"/>
            <a:ext cx="3154680" cy="1371600"/>
          </a:xfrm>
          <a:prstGeom prst="rect">
            <a:avLst/>
          </a:prstGeom>
          <a:noFill/>
          <a:ln/>
        </p:spPr>
        <p:txBody>
          <a:bodyPr wrap="square" lIns="0" tIns="0" rIns="0" bIns="0" rtlCol="0" anchor="t"/>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I can decide which Act applies to an organisation and name the specific principle it breaches.</a:t>
            </a:r>
            <a:endParaRPr lang="en-US" sz="1700" dirty="0"/>
          </a:p>
        </p:txBody>
      </p:sp>
      <p:sp>
        <p:nvSpPr>
          <p:cNvPr id="20" name="Shape 18"/>
          <p:cNvSpPr/>
          <p:nvPr/>
        </p:nvSpPr>
        <p:spPr>
          <a:xfrm>
            <a:off x="4553712" y="4736592"/>
            <a:ext cx="3154680" cy="0"/>
          </a:xfrm>
          <a:prstGeom prst="line">
            <a:avLst/>
          </a:prstGeom>
          <a:noFill/>
          <a:ln w="12700">
            <a:solidFill>
              <a:srgbClr val="D8DDE6"/>
            </a:solidFill>
            <a:prstDash val="solid"/>
          </a:ln>
        </p:spPr>
      </p:sp>
      <p:sp>
        <p:nvSpPr>
          <p:cNvPr id="21" name="Text 19"/>
          <p:cNvSpPr/>
          <p:nvPr/>
        </p:nvSpPr>
        <p:spPr>
          <a:xfrm>
            <a:off x="4553712" y="4846320"/>
            <a:ext cx="3154680" cy="777240"/>
          </a:xfrm>
          <a:prstGeom prst="rect">
            <a:avLst/>
          </a:prstGeom>
          <a:noFill/>
          <a:ln/>
        </p:spPr>
        <p:txBody>
          <a:bodyPr wrap="square" lIns="0" tIns="0" rIns="0" bIns="0" rtlCol="0" anchor="t"/>
          <a:lstStyle/>
          <a:p>
            <a:pPr indent="0" marL="0">
              <a:lnSpc>
                <a:spcPct val="120000"/>
              </a:lnSpc>
              <a:buNone/>
            </a:pPr>
            <a:r>
              <a:rPr lang="en-US" sz="1600" dirty="0">
                <a:solidFill>
                  <a:srgbClr val="5B6472"/>
                </a:solidFill>
                <a:latin typeface="Calibri" pitchFamily="34" charset="0"/>
                <a:ea typeface="Calibri" pitchFamily="34" charset="-122"/>
                <a:cs typeface="Calibri" pitchFamily="34" charset="-120"/>
              </a:rPr>
              <a:t>I can list the Essential Eight and describe its four maturity levels.</a:t>
            </a:r>
            <a:endParaRPr lang="en-US" sz="1600" dirty="0"/>
          </a:p>
        </p:txBody>
      </p:sp>
      <p:sp>
        <p:nvSpPr>
          <p:cNvPr id="22" name="Shape 20"/>
          <p:cNvSpPr/>
          <p:nvPr/>
        </p:nvSpPr>
        <p:spPr>
          <a:xfrm>
            <a:off x="8147304" y="2697480"/>
            <a:ext cx="3611880" cy="3063240"/>
          </a:xfrm>
          <a:prstGeom prst="roundRect">
            <a:avLst>
              <a:gd name="adj" fmla="val 2687"/>
            </a:avLst>
          </a:prstGeom>
          <a:solidFill>
            <a:srgbClr val="FFFFFF"/>
          </a:solidFill>
          <a:ln w="19050">
            <a:solidFill>
              <a:srgbClr val="8B5CF6"/>
            </a:solidFill>
            <a:prstDash val="solid"/>
          </a:ln>
        </p:spPr>
      </p:sp>
      <p:sp>
        <p:nvSpPr>
          <p:cNvPr id="23" name="Shape 21"/>
          <p:cNvSpPr/>
          <p:nvPr/>
        </p:nvSpPr>
        <p:spPr>
          <a:xfrm>
            <a:off x="8375904" y="2880360"/>
            <a:ext cx="1298448" cy="274320"/>
          </a:xfrm>
          <a:prstGeom prst="roundRect">
            <a:avLst>
              <a:gd name="adj" fmla="val 50000"/>
            </a:avLst>
          </a:prstGeom>
          <a:solidFill>
            <a:srgbClr val="8B5CF6"/>
          </a:solidFill>
          <a:ln/>
        </p:spPr>
      </p:sp>
      <p:sp>
        <p:nvSpPr>
          <p:cNvPr id="24" name="Text 22"/>
          <p:cNvSpPr/>
          <p:nvPr/>
        </p:nvSpPr>
        <p:spPr>
          <a:xfrm>
            <a:off x="8375904" y="2880360"/>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EXTENDING</a:t>
            </a:r>
            <a:endParaRPr lang="en-US" sz="900" dirty="0"/>
          </a:p>
        </p:txBody>
      </p:sp>
      <p:sp>
        <p:nvSpPr>
          <p:cNvPr id="25" name="Text 23"/>
          <p:cNvSpPr/>
          <p:nvPr/>
        </p:nvSpPr>
        <p:spPr>
          <a:xfrm>
            <a:off x="8375904" y="3310128"/>
            <a:ext cx="3154680" cy="1371600"/>
          </a:xfrm>
          <a:prstGeom prst="rect">
            <a:avLst/>
          </a:prstGeom>
          <a:noFill/>
          <a:ln/>
        </p:spPr>
        <p:txBody>
          <a:bodyPr wrap="square" lIns="0" tIns="0" rIns="0" bIns="0" rtlCol="0" anchor="t"/>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I can use a framework to justify a recommendation and explain why compliance alone does not make an organisation secure.</a:t>
            </a:r>
            <a:endParaRPr lang="en-US" sz="1700" dirty="0"/>
          </a:p>
        </p:txBody>
      </p:sp>
      <p:sp>
        <p:nvSpPr>
          <p:cNvPr id="26" name="Shape 24"/>
          <p:cNvSpPr/>
          <p:nvPr/>
        </p:nvSpPr>
        <p:spPr>
          <a:xfrm>
            <a:off x="8375904" y="4736592"/>
            <a:ext cx="3154680" cy="0"/>
          </a:xfrm>
          <a:prstGeom prst="line">
            <a:avLst/>
          </a:prstGeom>
          <a:noFill/>
          <a:ln w="12700">
            <a:solidFill>
              <a:srgbClr val="D8DDE6"/>
            </a:solidFill>
            <a:prstDash val="solid"/>
          </a:ln>
        </p:spPr>
      </p:sp>
      <p:sp>
        <p:nvSpPr>
          <p:cNvPr id="27" name="Text 25"/>
          <p:cNvSpPr/>
          <p:nvPr/>
        </p:nvSpPr>
        <p:spPr>
          <a:xfrm>
            <a:off x="8375904" y="4846320"/>
            <a:ext cx="3154680" cy="777240"/>
          </a:xfrm>
          <a:prstGeom prst="rect">
            <a:avLst/>
          </a:prstGeom>
          <a:noFill/>
          <a:ln/>
        </p:spPr>
        <p:txBody>
          <a:bodyPr wrap="square" lIns="0" tIns="0" rIns="0" bIns="0" rtlCol="0" anchor="t"/>
          <a:lstStyle/>
          <a:p>
            <a:pPr indent="0" marL="0">
              <a:lnSpc>
                <a:spcPct val="120000"/>
              </a:lnSpc>
              <a:buNone/>
            </a:pPr>
            <a:r>
              <a:rPr lang="en-US" sz="1600" dirty="0">
                <a:solidFill>
                  <a:srgbClr val="5B6472"/>
                </a:solidFill>
                <a:latin typeface="Calibri" pitchFamily="34" charset="0"/>
                <a:ea typeface="Calibri" pitchFamily="34" charset="-122"/>
                <a:cs typeface="Calibri" pitchFamily="34" charset="-120"/>
              </a:rPr>
              <a:t>I can explain how a documented evaluation demonstrates 'reasonable steps'.</a:t>
            </a:r>
            <a:endParaRPr lang="en-US" sz="1600" dirty="0"/>
          </a:p>
        </p:txBody>
      </p:sp>
      <p:sp>
        <p:nvSpPr>
          <p:cNvPr id="28" name="Text 26"/>
          <p:cNvSpPr/>
          <p:nvPr/>
        </p:nvSpPr>
        <p:spPr>
          <a:xfrm>
            <a:off x="502920" y="6355080"/>
            <a:ext cx="11155680" cy="274320"/>
          </a:xfrm>
          <a:prstGeom prst="rect">
            <a:avLst/>
          </a:prstGeom>
          <a:noFill/>
          <a:ln/>
        </p:spPr>
        <p:txBody>
          <a:bodyPr wrap="square" lIns="0" tIns="0" rIns="0" bIns="0" rtlCol="0" anchor="ctr"/>
          <a:lstStyle/>
          <a:p>
            <a:pPr indent="0" marL="0">
              <a:buNone/>
            </a:pPr>
            <a:r>
              <a:rPr lang="en-US" sz="1100" dirty="0">
                <a:solidFill>
                  <a:srgbClr val="5B6472"/>
                </a:solidFill>
                <a:latin typeface="Courier New" pitchFamily="34" charset="0"/>
                <a:ea typeface="Courier New" pitchFamily="34" charset="-122"/>
                <a:cs typeface="Courier New" pitchFamily="34" charset="-120"/>
              </a:rPr>
              <a:t>You will self-assess against these criteria on the exit ticket.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Retrieval — evaluating security practices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Cold call · no notes · 3 minutes</a:t>
            </a:r>
            <a:endParaRPr lang="en-US" sz="1500" dirty="0"/>
          </a:p>
        </p:txBody>
      </p:sp>
      <p:sp>
        <p:nvSpPr>
          <p:cNvPr id="8" name="Shape 6"/>
          <p:cNvSpPr/>
          <p:nvPr/>
        </p:nvSpPr>
        <p:spPr>
          <a:xfrm>
            <a:off x="502920" y="1417320"/>
            <a:ext cx="11155680" cy="914400"/>
          </a:xfrm>
          <a:prstGeom prst="roundRect">
            <a:avLst>
              <a:gd name="adj" fmla="val 9000"/>
            </a:avLst>
          </a:prstGeom>
          <a:solidFill>
            <a:srgbClr val="FFFFFF"/>
          </a:solidFill>
          <a:ln w="12700">
            <a:solidFill>
              <a:srgbClr val="D8DDE6"/>
            </a:solidFill>
            <a:prstDash val="solid"/>
          </a:ln>
        </p:spPr>
      </p:sp>
      <p:sp>
        <p:nvSpPr>
          <p:cNvPr id="9" name="Shape 7"/>
          <p:cNvSpPr/>
          <p:nvPr/>
        </p:nvSpPr>
        <p:spPr>
          <a:xfrm>
            <a:off x="758952" y="1636776"/>
            <a:ext cx="475488" cy="475488"/>
          </a:xfrm>
          <a:prstGeom prst="ellipse">
            <a:avLst/>
          </a:prstGeom>
          <a:solidFill>
            <a:srgbClr val="4361EE"/>
          </a:solidFill>
          <a:ln/>
        </p:spPr>
      </p:sp>
      <p:sp>
        <p:nvSpPr>
          <p:cNvPr id="10" name="Text 8"/>
          <p:cNvSpPr/>
          <p:nvPr/>
        </p:nvSpPr>
        <p:spPr>
          <a:xfrm>
            <a:off x="758952" y="16367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1" name="Text 9"/>
          <p:cNvSpPr/>
          <p:nvPr/>
        </p:nvSpPr>
        <p:spPr>
          <a:xfrm>
            <a:off x="1417320" y="141732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Name the four parts of a criterion.</a:t>
            </a:r>
            <a:endParaRPr lang="en-US" sz="1800" dirty="0"/>
          </a:p>
        </p:txBody>
      </p:sp>
      <p:sp>
        <p:nvSpPr>
          <p:cNvPr id="12" name="Shape 10"/>
          <p:cNvSpPr/>
          <p:nvPr/>
        </p:nvSpPr>
        <p:spPr>
          <a:xfrm>
            <a:off x="502920" y="2423160"/>
            <a:ext cx="11155680" cy="914400"/>
          </a:xfrm>
          <a:prstGeom prst="roundRect">
            <a:avLst>
              <a:gd name="adj" fmla="val 9000"/>
            </a:avLst>
          </a:prstGeom>
          <a:solidFill>
            <a:srgbClr val="FFFFFF"/>
          </a:solidFill>
          <a:ln w="12700">
            <a:solidFill>
              <a:srgbClr val="D8DDE6"/>
            </a:solidFill>
            <a:prstDash val="solid"/>
          </a:ln>
        </p:spPr>
      </p:sp>
      <p:sp>
        <p:nvSpPr>
          <p:cNvPr id="13" name="Shape 11"/>
          <p:cNvSpPr/>
          <p:nvPr/>
        </p:nvSpPr>
        <p:spPr>
          <a:xfrm>
            <a:off x="758952" y="2642616"/>
            <a:ext cx="475488" cy="475488"/>
          </a:xfrm>
          <a:prstGeom prst="ellipse">
            <a:avLst/>
          </a:prstGeom>
          <a:solidFill>
            <a:srgbClr val="4361EE"/>
          </a:solidFill>
          <a:ln/>
        </p:spPr>
      </p:sp>
      <p:sp>
        <p:nvSpPr>
          <p:cNvPr id="14" name="Text 12"/>
          <p:cNvSpPr/>
          <p:nvPr/>
        </p:nvSpPr>
        <p:spPr>
          <a:xfrm>
            <a:off x="758952" y="264261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5" name="Text 13"/>
          <p:cNvSpPr/>
          <p:nvPr/>
        </p:nvSpPr>
        <p:spPr>
          <a:xfrm>
            <a:off x="1417320" y="242316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What are the three possible judgements when you apply a criterion to evidence?</a:t>
            </a:r>
            <a:endParaRPr lang="en-US" sz="1800" dirty="0"/>
          </a:p>
        </p:txBody>
      </p:sp>
      <p:sp>
        <p:nvSpPr>
          <p:cNvPr id="16" name="Shape 14"/>
          <p:cNvSpPr/>
          <p:nvPr/>
        </p:nvSpPr>
        <p:spPr>
          <a:xfrm>
            <a:off x="502920" y="3429000"/>
            <a:ext cx="11155680" cy="914400"/>
          </a:xfrm>
          <a:prstGeom prst="roundRect">
            <a:avLst>
              <a:gd name="adj" fmla="val 9000"/>
            </a:avLst>
          </a:prstGeom>
          <a:solidFill>
            <a:srgbClr val="FFFFFF"/>
          </a:solidFill>
          <a:ln w="12700">
            <a:solidFill>
              <a:srgbClr val="D8DDE6"/>
            </a:solidFill>
            <a:prstDash val="solid"/>
          </a:ln>
        </p:spPr>
      </p:sp>
      <p:sp>
        <p:nvSpPr>
          <p:cNvPr id="17" name="Shape 15"/>
          <p:cNvSpPr/>
          <p:nvPr/>
        </p:nvSpPr>
        <p:spPr>
          <a:xfrm>
            <a:off x="758952" y="3648456"/>
            <a:ext cx="475488" cy="475488"/>
          </a:xfrm>
          <a:prstGeom prst="ellipse">
            <a:avLst/>
          </a:prstGeom>
          <a:solidFill>
            <a:srgbClr val="4361EE"/>
          </a:solidFill>
          <a:ln/>
        </p:spPr>
      </p:sp>
      <p:sp>
        <p:nvSpPr>
          <p:cNvPr id="18" name="Text 16"/>
          <p:cNvSpPr/>
          <p:nvPr/>
        </p:nvSpPr>
        <p:spPr>
          <a:xfrm>
            <a:off x="758952" y="36484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19" name="Text 17"/>
          <p:cNvSpPr/>
          <p:nvPr/>
        </p:nvSpPr>
        <p:spPr>
          <a:xfrm>
            <a:off x="1417320" y="342900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Name two of the four qualities of a good recommendation.</a:t>
            </a:r>
            <a:endParaRPr lang="en-US" sz="1800" dirty="0"/>
          </a:p>
        </p:txBody>
      </p:sp>
      <p:sp>
        <p:nvSpPr>
          <p:cNvPr id="20" name="Shape 18"/>
          <p:cNvSpPr/>
          <p:nvPr/>
        </p:nvSpPr>
        <p:spPr>
          <a:xfrm>
            <a:off x="502920" y="4434840"/>
            <a:ext cx="11155680" cy="914400"/>
          </a:xfrm>
          <a:prstGeom prst="roundRect">
            <a:avLst>
              <a:gd name="adj" fmla="val 9000"/>
            </a:avLst>
          </a:prstGeom>
          <a:solidFill>
            <a:srgbClr val="FFFFFF"/>
          </a:solidFill>
          <a:ln w="12700">
            <a:solidFill>
              <a:srgbClr val="D8DDE6"/>
            </a:solidFill>
            <a:prstDash val="solid"/>
          </a:ln>
        </p:spPr>
      </p:sp>
      <p:sp>
        <p:nvSpPr>
          <p:cNvPr id="21" name="Shape 19"/>
          <p:cNvSpPr/>
          <p:nvPr/>
        </p:nvSpPr>
        <p:spPr>
          <a:xfrm>
            <a:off x="758952" y="4654296"/>
            <a:ext cx="475488" cy="475488"/>
          </a:xfrm>
          <a:prstGeom prst="ellipse">
            <a:avLst/>
          </a:prstGeom>
          <a:solidFill>
            <a:srgbClr val="4361EE"/>
          </a:solidFill>
          <a:ln/>
        </p:spPr>
      </p:sp>
      <p:sp>
        <p:nvSpPr>
          <p:cNvPr id="22" name="Text 20"/>
          <p:cNvSpPr/>
          <p:nvPr/>
        </p:nvSpPr>
        <p:spPr>
          <a:xfrm>
            <a:off x="758952" y="46542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4</a:t>
            </a:r>
            <a:endParaRPr lang="en-US" sz="1500" dirty="0"/>
          </a:p>
        </p:txBody>
      </p:sp>
      <p:sp>
        <p:nvSpPr>
          <p:cNvPr id="23" name="Text 21"/>
          <p:cNvSpPr/>
          <p:nvPr/>
        </p:nvSpPr>
        <p:spPr>
          <a:xfrm>
            <a:off x="1417320" y="443484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A criterion needs evidence the organisation does not keep. Is that criterion unmeasurable, or is it failed?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Legislation and frameworks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Five instruments — two kinds of obligation</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44752"/>
            <a:ext cx="11155680" cy="998982"/>
          </a:xfrm>
          <a:prstGeom prst="roundRect">
            <a:avLst>
              <a:gd name="adj" fmla="val 8238"/>
            </a:avLst>
          </a:prstGeom>
          <a:solidFill>
            <a:srgbClr val="FFFFFF"/>
          </a:solidFill>
          <a:ln w="16510">
            <a:solidFill>
              <a:srgbClr val="4361EE"/>
            </a:solidFill>
            <a:prstDash val="solid"/>
          </a:ln>
        </p:spPr>
      </p:sp>
      <p:sp>
        <p:nvSpPr>
          <p:cNvPr id="11" name="Shape 9"/>
          <p:cNvSpPr/>
          <p:nvPr/>
        </p:nvSpPr>
        <p:spPr>
          <a:xfrm>
            <a:off x="731520" y="1752219"/>
            <a:ext cx="2148840" cy="384048"/>
          </a:xfrm>
          <a:prstGeom prst="roundRect">
            <a:avLst>
              <a:gd name="adj" fmla="val 50000"/>
            </a:avLst>
          </a:prstGeom>
          <a:solidFill>
            <a:srgbClr val="4361EE"/>
          </a:solidFill>
          <a:ln/>
        </p:spPr>
      </p:sp>
      <p:sp>
        <p:nvSpPr>
          <p:cNvPr id="12" name="Text 10"/>
          <p:cNvSpPr/>
          <p:nvPr/>
        </p:nvSpPr>
        <p:spPr>
          <a:xfrm>
            <a:off x="731520" y="1752219"/>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LEGISLATION</a:t>
            </a:r>
            <a:endParaRPr lang="en-US" sz="1100" dirty="0"/>
          </a:p>
        </p:txBody>
      </p:sp>
      <p:sp>
        <p:nvSpPr>
          <p:cNvPr id="13" name="Text 11"/>
          <p:cNvSpPr/>
          <p:nvPr/>
        </p:nvSpPr>
        <p:spPr>
          <a:xfrm>
            <a:off x="3063240" y="1444752"/>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Copyright Act 1968 (Cwlth) · Privacy Act 1988 (Cwlth) · Privacy and Data Protection Act 2014 (Vic). Tells you what you MUST do. Breaching it carries penalties.</a:t>
            </a:r>
            <a:endParaRPr lang="en-US" sz="1900" dirty="0"/>
          </a:p>
        </p:txBody>
      </p:sp>
      <p:sp>
        <p:nvSpPr>
          <p:cNvPr id="14" name="Shape 12"/>
          <p:cNvSpPr/>
          <p:nvPr/>
        </p:nvSpPr>
        <p:spPr>
          <a:xfrm>
            <a:off x="502920" y="2535174"/>
            <a:ext cx="11155680" cy="998982"/>
          </a:xfrm>
          <a:prstGeom prst="roundRect">
            <a:avLst>
              <a:gd name="adj" fmla="val 8238"/>
            </a:avLst>
          </a:prstGeom>
          <a:solidFill>
            <a:srgbClr val="FFFFFF"/>
          </a:solidFill>
          <a:ln w="16510">
            <a:solidFill>
              <a:srgbClr val="10B981"/>
            </a:solidFill>
            <a:prstDash val="solid"/>
          </a:ln>
        </p:spPr>
      </p:sp>
      <p:sp>
        <p:nvSpPr>
          <p:cNvPr id="15" name="Shape 13"/>
          <p:cNvSpPr/>
          <p:nvPr/>
        </p:nvSpPr>
        <p:spPr>
          <a:xfrm>
            <a:off x="731520" y="2842641"/>
            <a:ext cx="2148840" cy="384048"/>
          </a:xfrm>
          <a:prstGeom prst="roundRect">
            <a:avLst>
              <a:gd name="adj" fmla="val 50000"/>
            </a:avLst>
          </a:prstGeom>
          <a:solidFill>
            <a:srgbClr val="10B981"/>
          </a:solidFill>
          <a:ln/>
        </p:spPr>
      </p:sp>
      <p:sp>
        <p:nvSpPr>
          <p:cNvPr id="16" name="Text 14"/>
          <p:cNvSpPr/>
          <p:nvPr/>
        </p:nvSpPr>
        <p:spPr>
          <a:xfrm>
            <a:off x="731520" y="2842641"/>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FRAMEWORKS</a:t>
            </a:r>
            <a:endParaRPr lang="en-US" sz="1100" dirty="0"/>
          </a:p>
        </p:txBody>
      </p:sp>
      <p:sp>
        <p:nvSpPr>
          <p:cNvPr id="17" name="Text 15"/>
          <p:cNvSpPr/>
          <p:nvPr/>
        </p:nvSpPr>
        <p:spPr>
          <a:xfrm>
            <a:off x="3063240" y="2535174"/>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The Essential Eight · The Information Security Manual (ISM). Tells you how to do it WELL. Ignoring one carries no penalty at all.</a:t>
            </a:r>
            <a:endParaRPr lang="en-US" sz="1900" dirty="0"/>
          </a:p>
        </p:txBody>
      </p:sp>
      <p:sp>
        <p:nvSpPr>
          <p:cNvPr id="18" name="Shape 16"/>
          <p:cNvSpPr/>
          <p:nvPr/>
        </p:nvSpPr>
        <p:spPr>
          <a:xfrm>
            <a:off x="502920" y="3625596"/>
            <a:ext cx="11155680" cy="998982"/>
          </a:xfrm>
          <a:prstGeom prst="roundRect">
            <a:avLst>
              <a:gd name="adj" fmla="val 8238"/>
            </a:avLst>
          </a:prstGeom>
          <a:solidFill>
            <a:srgbClr val="FFFFFF"/>
          </a:solidFill>
          <a:ln w="16510">
            <a:solidFill>
              <a:srgbClr val="F59E0B"/>
            </a:solidFill>
            <a:prstDash val="solid"/>
          </a:ln>
        </p:spPr>
      </p:sp>
      <p:sp>
        <p:nvSpPr>
          <p:cNvPr id="19" name="Shape 17"/>
          <p:cNvSpPr/>
          <p:nvPr/>
        </p:nvSpPr>
        <p:spPr>
          <a:xfrm>
            <a:off x="731520" y="3933063"/>
            <a:ext cx="2148840" cy="384048"/>
          </a:xfrm>
          <a:prstGeom prst="roundRect">
            <a:avLst>
              <a:gd name="adj" fmla="val 50000"/>
            </a:avLst>
          </a:prstGeom>
          <a:solidFill>
            <a:srgbClr val="F59E0B"/>
          </a:solidFill>
          <a:ln/>
        </p:spPr>
      </p:sp>
      <p:sp>
        <p:nvSpPr>
          <p:cNvPr id="20" name="Text 18"/>
          <p:cNvSpPr/>
          <p:nvPr/>
        </p:nvSpPr>
        <p:spPr>
          <a:xfrm>
            <a:off x="731520" y="3933063"/>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THE LINK</a:t>
            </a:r>
            <a:endParaRPr lang="en-US" sz="1100" dirty="0"/>
          </a:p>
        </p:txBody>
      </p:sp>
      <p:sp>
        <p:nvSpPr>
          <p:cNvPr id="21" name="Text 19"/>
          <p:cNvSpPr/>
          <p:nvPr/>
        </p:nvSpPr>
        <p:spPr>
          <a:xfrm>
            <a:off x="3063240" y="3625596"/>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Legislation sets obligations in general terms — 'reasonable steps'. Frameworks say what reasonable steps actually look like in practice.</a:t>
            </a:r>
            <a:endParaRPr lang="en-US" sz="1900" dirty="0"/>
          </a:p>
        </p:txBody>
      </p:sp>
      <p:sp>
        <p:nvSpPr>
          <p:cNvPr id="22" name="Shape 20"/>
          <p:cNvSpPr/>
          <p:nvPr/>
        </p:nvSpPr>
        <p:spPr>
          <a:xfrm>
            <a:off x="502920" y="4716018"/>
            <a:ext cx="11155680" cy="998982"/>
          </a:xfrm>
          <a:prstGeom prst="roundRect">
            <a:avLst>
              <a:gd name="adj" fmla="val 8238"/>
            </a:avLst>
          </a:prstGeom>
          <a:solidFill>
            <a:srgbClr val="FFFFFF"/>
          </a:solidFill>
          <a:ln w="16510">
            <a:solidFill>
              <a:srgbClr val="8B5CF6"/>
            </a:solidFill>
            <a:prstDash val="solid"/>
          </a:ln>
        </p:spPr>
      </p:sp>
      <p:sp>
        <p:nvSpPr>
          <p:cNvPr id="23" name="Shape 21"/>
          <p:cNvSpPr/>
          <p:nvPr/>
        </p:nvSpPr>
        <p:spPr>
          <a:xfrm>
            <a:off x="731520" y="5023485"/>
            <a:ext cx="2148840" cy="384048"/>
          </a:xfrm>
          <a:prstGeom prst="roundRect">
            <a:avLst>
              <a:gd name="adj" fmla="val 50000"/>
            </a:avLst>
          </a:prstGeom>
          <a:solidFill>
            <a:srgbClr val="8B5CF6"/>
          </a:solidFill>
          <a:ln/>
        </p:spPr>
      </p:sp>
      <p:sp>
        <p:nvSpPr>
          <p:cNvPr id="24" name="Text 22"/>
          <p:cNvSpPr/>
          <p:nvPr/>
        </p:nvSpPr>
        <p:spPr>
          <a:xfrm>
            <a:off x="731520" y="5023485"/>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FOR YOU</a:t>
            </a:r>
            <a:endParaRPr lang="en-US" sz="1100" dirty="0"/>
          </a:p>
        </p:txBody>
      </p:sp>
      <p:sp>
        <p:nvSpPr>
          <p:cNvPr id="25" name="Text 23"/>
          <p:cNvSpPr/>
          <p:nvPr/>
        </p:nvSpPr>
        <p:spPr>
          <a:xfrm>
            <a:off x="3063240" y="4716018"/>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A framework is where your criteria come from, and a benchmark you can name in a recommendation. Legislation is what your findings are measured against.</a:t>
            </a:r>
            <a:endParaRPr lang="en-US" sz="1900" dirty="0"/>
          </a:p>
        </p:txBody>
      </p:sp>
      <p:sp>
        <p:nvSpPr>
          <p:cNvPr id="26" name="Shape 24"/>
          <p:cNvSpPr/>
          <p:nvPr/>
        </p:nvSpPr>
        <p:spPr>
          <a:xfrm>
            <a:off x="502920" y="5861304"/>
            <a:ext cx="11155680" cy="777240"/>
          </a:xfrm>
          <a:prstGeom prst="roundRect">
            <a:avLst>
              <a:gd name="adj" fmla="val 10588"/>
            </a:avLst>
          </a:prstGeom>
          <a:solidFill>
            <a:srgbClr val="EEF2FE"/>
          </a:solidFill>
          <a:ln w="12700">
            <a:solidFill>
              <a:srgbClr val="4361EE"/>
            </a:solidFill>
            <a:prstDash val="solid"/>
          </a:ln>
        </p:spPr>
      </p:sp>
      <p:sp>
        <p:nvSpPr>
          <p:cNvPr id="27" name="Text 25"/>
          <p:cNvSpPr/>
          <p:nvPr/>
        </p:nvSpPr>
        <p:spPr>
          <a:xfrm>
            <a:off x="822960" y="5861304"/>
            <a:ext cx="10515600" cy="777240"/>
          </a:xfrm>
          <a:prstGeom prst="rect">
            <a:avLst/>
          </a:prstGeom>
          <a:noFill/>
          <a:ln/>
        </p:spPr>
        <p:txBody>
          <a:bodyPr wrap="square" lIns="0" tIns="0" rIns="0" bIns="0" rtlCol="0" anchor="ctr"/>
          <a:lstStyle/>
          <a:p>
            <a:pPr indent="0" marL="0">
              <a:lnSpc>
                <a:spcPct val="120000"/>
              </a:lnSpc>
              <a:buNone/>
            </a:pPr>
            <a:r>
              <a:rPr lang="en-US" sz="1800" dirty="0">
                <a:solidFill>
                  <a:srgbClr val="111827"/>
                </a:solidFill>
                <a:latin typeface="Calibri" pitchFamily="34" charset="0"/>
                <a:ea typeface="Calibri" pitchFamily="34" charset="-122"/>
                <a:cs typeface="Calibri" pitchFamily="34" charset="-120"/>
              </a:rPr>
              <a:t>Both matter in the SAC, but they answer different questions: legislation answers "is this allowed?", a framework answers "is this good enough?"</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Copyright Act 1968 (Cwlth)</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Software is a literary work — protected the moment it is written</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63040"/>
            <a:ext cx="11155680" cy="1044702"/>
          </a:xfrm>
          <a:prstGeom prst="roundRect">
            <a:avLst>
              <a:gd name="adj" fmla="val 7877"/>
            </a:avLst>
          </a:prstGeom>
          <a:solidFill>
            <a:srgbClr val="FFFFFF"/>
          </a:solidFill>
          <a:ln w="15240">
            <a:solidFill>
              <a:srgbClr val="4361EE"/>
            </a:solidFill>
            <a:prstDash val="solid"/>
          </a:ln>
        </p:spPr>
      </p:sp>
      <p:sp>
        <p:nvSpPr>
          <p:cNvPr id="11" name="Shape 9"/>
          <p:cNvSpPr/>
          <p:nvPr/>
        </p:nvSpPr>
        <p:spPr>
          <a:xfrm>
            <a:off x="731520" y="1756791"/>
            <a:ext cx="457200" cy="457200"/>
          </a:xfrm>
          <a:prstGeom prst="ellipse">
            <a:avLst/>
          </a:prstGeom>
          <a:solidFill>
            <a:srgbClr val="4361EE"/>
          </a:solidFill>
          <a:ln/>
        </p:spPr>
      </p:sp>
      <p:sp>
        <p:nvSpPr>
          <p:cNvPr id="12" name="Text 10"/>
          <p:cNvSpPr/>
          <p:nvPr/>
        </p:nvSpPr>
        <p:spPr>
          <a:xfrm>
            <a:off x="731520" y="1756791"/>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Protection is automatic</a:t>
            </a:r>
            <a:endParaRPr lang="en-US" sz="1900" dirty="0"/>
          </a:p>
        </p:txBody>
      </p:sp>
      <p:sp>
        <p:nvSpPr>
          <p:cNvPr id="14" name="Text 12"/>
          <p:cNvSpPr/>
          <p:nvPr/>
        </p:nvSpPr>
        <p:spPr>
          <a:xfrm>
            <a:off x="1371600" y="1975104"/>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Source code is treated as a literary work. There is nothing to register and no fee to pay — the protection exists as soon as the code exists.</a:t>
            </a:r>
            <a:endParaRPr lang="en-US" sz="1650" dirty="0"/>
          </a:p>
        </p:txBody>
      </p:sp>
      <p:sp>
        <p:nvSpPr>
          <p:cNvPr id="15" name="Shape 13"/>
          <p:cNvSpPr/>
          <p:nvPr/>
        </p:nvSpPr>
        <p:spPr>
          <a:xfrm>
            <a:off x="502920" y="2608326"/>
            <a:ext cx="11155680" cy="1044702"/>
          </a:xfrm>
          <a:prstGeom prst="roundRect">
            <a:avLst>
              <a:gd name="adj" fmla="val 7877"/>
            </a:avLst>
          </a:prstGeom>
          <a:solidFill>
            <a:srgbClr val="FFFFFF"/>
          </a:solidFill>
          <a:ln w="15240">
            <a:solidFill>
              <a:srgbClr val="4361EE"/>
            </a:solidFill>
            <a:prstDash val="solid"/>
          </a:ln>
        </p:spPr>
      </p:sp>
      <p:sp>
        <p:nvSpPr>
          <p:cNvPr id="16" name="Shape 14"/>
          <p:cNvSpPr/>
          <p:nvPr/>
        </p:nvSpPr>
        <p:spPr>
          <a:xfrm>
            <a:off x="731520" y="2902077"/>
            <a:ext cx="457200" cy="457200"/>
          </a:xfrm>
          <a:prstGeom prst="ellipse">
            <a:avLst/>
          </a:prstGeom>
          <a:solidFill>
            <a:srgbClr val="4361EE"/>
          </a:solidFill>
          <a:ln/>
        </p:spPr>
      </p:sp>
      <p:sp>
        <p:nvSpPr>
          <p:cNvPr id="17" name="Text 15"/>
          <p:cNvSpPr/>
          <p:nvPr/>
        </p:nvSpPr>
        <p:spPr>
          <a:xfrm>
            <a:off x="731520" y="2902077"/>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1371600" y="273634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It protects expression, not ideas</a:t>
            </a:r>
            <a:endParaRPr lang="en-US" sz="1900" dirty="0"/>
          </a:p>
        </p:txBody>
      </p:sp>
      <p:sp>
        <p:nvSpPr>
          <p:cNvPr id="19" name="Text 17"/>
          <p:cNvSpPr/>
          <p:nvPr/>
        </p:nvSpPr>
        <p:spPr>
          <a:xfrm>
            <a:off x="1371600" y="3120390"/>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Ideas, procedures and facts are not covered. A competitor may legally reimplement your concept in code of their own.</a:t>
            </a:r>
            <a:endParaRPr lang="en-US" sz="1650" dirty="0"/>
          </a:p>
        </p:txBody>
      </p:sp>
      <p:sp>
        <p:nvSpPr>
          <p:cNvPr id="20" name="Shape 18"/>
          <p:cNvSpPr/>
          <p:nvPr/>
        </p:nvSpPr>
        <p:spPr>
          <a:xfrm>
            <a:off x="502920" y="3753612"/>
            <a:ext cx="11155680" cy="1044702"/>
          </a:xfrm>
          <a:prstGeom prst="roundRect">
            <a:avLst>
              <a:gd name="adj" fmla="val 7877"/>
            </a:avLst>
          </a:prstGeom>
          <a:solidFill>
            <a:srgbClr val="FFFFFF"/>
          </a:solidFill>
          <a:ln w="15240">
            <a:solidFill>
              <a:srgbClr val="4361EE"/>
            </a:solidFill>
            <a:prstDash val="solid"/>
          </a:ln>
        </p:spPr>
      </p:sp>
      <p:sp>
        <p:nvSpPr>
          <p:cNvPr id="21" name="Shape 19"/>
          <p:cNvSpPr/>
          <p:nvPr/>
        </p:nvSpPr>
        <p:spPr>
          <a:xfrm>
            <a:off x="731520" y="4047363"/>
            <a:ext cx="457200" cy="457200"/>
          </a:xfrm>
          <a:prstGeom prst="ellipse">
            <a:avLst/>
          </a:prstGeom>
          <a:solidFill>
            <a:srgbClr val="4361EE"/>
          </a:solidFill>
          <a:ln/>
        </p:spPr>
      </p:sp>
      <p:sp>
        <p:nvSpPr>
          <p:cNvPr id="22" name="Text 20"/>
          <p:cNvSpPr/>
          <p:nvPr/>
        </p:nvSpPr>
        <p:spPr>
          <a:xfrm>
            <a:off x="731520" y="4047363"/>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1371600" y="388162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Backups are permitted</a:t>
            </a:r>
            <a:endParaRPr lang="en-US" sz="1900" dirty="0"/>
          </a:p>
        </p:txBody>
      </p:sp>
      <p:sp>
        <p:nvSpPr>
          <p:cNvPr id="24" name="Text 22"/>
          <p:cNvSpPr/>
          <p:nvPr/>
        </p:nvSpPr>
        <p:spPr>
          <a:xfrm>
            <a:off x="1371600" y="4265676"/>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The Act allows a backup copy of software you own, and a further backup if the first is destroyed.</a:t>
            </a:r>
            <a:endParaRPr lang="en-US" sz="1650" dirty="0"/>
          </a:p>
        </p:txBody>
      </p:sp>
      <p:sp>
        <p:nvSpPr>
          <p:cNvPr id="25" name="Shape 23"/>
          <p:cNvSpPr/>
          <p:nvPr/>
        </p:nvSpPr>
        <p:spPr>
          <a:xfrm>
            <a:off x="502920" y="4898898"/>
            <a:ext cx="11155680" cy="1044702"/>
          </a:xfrm>
          <a:prstGeom prst="roundRect">
            <a:avLst>
              <a:gd name="adj" fmla="val 7877"/>
            </a:avLst>
          </a:prstGeom>
          <a:solidFill>
            <a:srgbClr val="FFFFFF"/>
          </a:solidFill>
          <a:ln w="15240">
            <a:solidFill>
              <a:srgbClr val="4361EE"/>
            </a:solidFill>
            <a:prstDash val="solid"/>
          </a:ln>
        </p:spPr>
      </p:sp>
      <p:sp>
        <p:nvSpPr>
          <p:cNvPr id="26" name="Shape 24"/>
          <p:cNvSpPr/>
          <p:nvPr/>
        </p:nvSpPr>
        <p:spPr>
          <a:xfrm>
            <a:off x="731520" y="5192649"/>
            <a:ext cx="457200" cy="457200"/>
          </a:xfrm>
          <a:prstGeom prst="ellipse">
            <a:avLst/>
          </a:prstGeom>
          <a:solidFill>
            <a:srgbClr val="4361EE"/>
          </a:solidFill>
          <a:ln/>
        </p:spPr>
      </p:sp>
      <p:sp>
        <p:nvSpPr>
          <p:cNvPr id="27" name="Text 25"/>
          <p:cNvSpPr/>
          <p:nvPr/>
        </p:nvSpPr>
        <p:spPr>
          <a:xfrm>
            <a:off x="731520" y="5192649"/>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8" name="Text 26"/>
          <p:cNvSpPr/>
          <p:nvPr/>
        </p:nvSpPr>
        <p:spPr>
          <a:xfrm>
            <a:off x="1371600" y="5026914"/>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Penalties are substantial</a:t>
            </a:r>
            <a:endParaRPr lang="en-US" sz="1900" dirty="0"/>
          </a:p>
        </p:txBody>
      </p:sp>
      <p:sp>
        <p:nvSpPr>
          <p:cNvPr id="29" name="Text 27"/>
          <p:cNvSpPr/>
          <p:nvPr/>
        </p:nvSpPr>
        <p:spPr>
          <a:xfrm>
            <a:off x="1371600" y="5410962"/>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Up to 850 penalty units for some offences, with aggravated damages available under section 115(4). Amended in 2001 for electronic works and again in 2006.</a:t>
            </a:r>
            <a:endParaRPr lang="en-US" sz="1650" dirty="0"/>
          </a:p>
        </p:txBody>
      </p:sp>
      <p:sp>
        <p:nvSpPr>
          <p:cNvPr id="30" name="Shape 28"/>
          <p:cNvSpPr/>
          <p:nvPr/>
        </p:nvSpPr>
        <p:spPr>
          <a:xfrm>
            <a:off x="502920" y="6099048"/>
            <a:ext cx="11155680" cy="566928"/>
          </a:xfrm>
          <a:prstGeom prst="roundRect">
            <a:avLst>
              <a:gd name="adj" fmla="val 14516"/>
            </a:avLst>
          </a:prstGeom>
          <a:solidFill>
            <a:srgbClr val="FEF6E0"/>
          </a:solidFill>
          <a:ln w="12700">
            <a:solidFill>
              <a:srgbClr val="F59E0B"/>
            </a:solidFill>
            <a:prstDash val="solid"/>
          </a:ln>
        </p:spPr>
      </p:sp>
      <p:sp>
        <p:nvSpPr>
          <p:cNvPr id="31" name="Text 29"/>
          <p:cNvSpPr/>
          <p:nvPr/>
        </p:nvSpPr>
        <p:spPr>
          <a:xfrm>
            <a:off x="822960" y="6099048"/>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Copyright in a photograph belongs to the photographer, not the subject. Where an AI tool generates an image, the prompt author is treated as the owner.</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Why copyright matters when you are building software</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Four places a development team runs into it</a:t>
            </a:r>
            <a:endParaRPr lang="en-US" sz="1500" dirty="0"/>
          </a:p>
        </p:txBody>
      </p:sp>
      <p:sp>
        <p:nvSpPr>
          <p:cNvPr id="8" name="Shape 6"/>
          <p:cNvSpPr/>
          <p:nvPr/>
        </p:nvSpPr>
        <p:spPr>
          <a:xfrm>
            <a:off x="502920" y="1417320"/>
            <a:ext cx="11155680" cy="4343400"/>
          </a:xfrm>
          <a:prstGeom prst="roundRect">
            <a:avLst>
              <a:gd name="adj" fmla="val 1895"/>
            </a:avLst>
          </a:prstGeom>
          <a:solidFill>
            <a:srgbClr val="FFFFFF"/>
          </a:solidFill>
          <a:ln w="12700">
            <a:solidFill>
              <a:srgbClr val="4361EE"/>
            </a:solidFill>
            <a:prstDash val="solid"/>
          </a:ln>
        </p:spPr>
      </p:sp>
      <p:sp>
        <p:nvSpPr>
          <p:cNvPr id="9" name="Text 7"/>
          <p:cNvSpPr/>
          <p:nvPr/>
        </p:nvSpPr>
        <p:spPr>
          <a:xfrm>
            <a:off x="914400" y="1645920"/>
            <a:ext cx="10332720" cy="3886200"/>
          </a:xfrm>
          <a:prstGeom prst="rect">
            <a:avLst/>
          </a:prstGeom>
          <a:noFill/>
          <a:ln/>
        </p:spPr>
        <p:txBody>
          <a:bodyPr wrap="square" lIns="0" tIns="0" rIns="0" bIns="0" rtlCol="0" anchor="t"/>
          <a:lstStyle/>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Using third-party code, libraries or assets without complying with their licence is a breach — of the licence and of the Act.</a:t>
            </a:r>
            <a:endParaRPr lang="en-US" sz="1800" dirty="0"/>
          </a:p>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Open-source licences ARE copyright licences. "Free to use" comes with conditions, and some require you to release your own source code in turn.</a:t>
            </a:r>
            <a:endParaRPr lang="en-US" sz="1800" dirty="0"/>
          </a:p>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Code copied from a forum or a tutorial, or generated by an AI assistant trained on other people's repositories, carries licensing questions nobody has resolved.</a:t>
            </a:r>
            <a:endParaRPr lang="en-US" sz="1800" dirty="0"/>
          </a:p>
          <a:p>
            <a:pPr marL="342900" indent="-342900">
              <a:lnSpc>
                <a:spcPct val="118000"/>
              </a:lnSpc>
              <a:spcAft>
                <a:spcPts val="1000"/>
              </a:spcAft>
              <a:buSzPct val="100000"/>
              <a:buChar char="•"/>
            </a:pPr>
            <a:r>
              <a:rPr lang="en-US" sz="1800" dirty="0">
                <a:solidFill>
                  <a:srgbClr val="111827"/>
                </a:solidFill>
                <a:latin typeface="Calibri" pitchFamily="34" charset="0"/>
                <a:ea typeface="Calibri" pitchFamily="34" charset="-122"/>
                <a:cs typeface="Calibri" pitchFamily="34" charset="-120"/>
              </a:rPr>
              <a:t>Distributing through an app store means agreeing to that store's terms as well — revenue share, acceptable content, and how many devices one copy may be installed on.</a:t>
            </a:r>
            <a:endParaRPr lang="en-US" sz="1800" dirty="0"/>
          </a:p>
        </p:txBody>
      </p:sp>
      <p:sp>
        <p:nvSpPr>
          <p:cNvPr id="10" name="Shape 8"/>
          <p:cNvSpPr/>
          <p:nvPr/>
        </p:nvSpPr>
        <p:spPr>
          <a:xfrm>
            <a:off x="502920" y="5897880"/>
            <a:ext cx="11155680" cy="566928"/>
          </a:xfrm>
          <a:prstGeom prst="roundRect">
            <a:avLst>
              <a:gd name="adj" fmla="val 14516"/>
            </a:avLst>
          </a:prstGeom>
          <a:solidFill>
            <a:srgbClr val="EEF2FE"/>
          </a:solidFill>
          <a:ln w="12700">
            <a:solidFill>
              <a:srgbClr val="4361EE"/>
            </a:solidFill>
            <a:prstDash val="solid"/>
          </a:ln>
        </p:spPr>
      </p:sp>
      <p:sp>
        <p:nvSpPr>
          <p:cNvPr id="11" name="Text 9"/>
          <p:cNvSpPr/>
          <p:nvPr/>
        </p:nvSpPr>
        <p:spPr>
          <a:xfrm>
            <a:off x="822960" y="5897880"/>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In a case study, a team that pulls in libraries with no record of their licences has both a legal exposure and an evaluation finding.</a:t>
            </a:r>
            <a:endParaRPr lang="en-US" sz="1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Privacy Act 1988 (Cwlth) — who it covers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Check this first: if the wrong Act is named, the rest of the answer cannot score</a:t>
            </a:r>
            <a:endParaRPr lang="en-US" sz="1500" dirty="0"/>
          </a:p>
        </p:txBody>
      </p:sp>
      <p:sp>
        <p:nvSpPr>
          <p:cNvPr id="8" name="Shape 6"/>
          <p:cNvSpPr/>
          <p:nvPr/>
        </p:nvSpPr>
        <p:spPr>
          <a:xfrm>
            <a:off x="502920" y="1463040"/>
            <a:ext cx="11155680" cy="1170432"/>
          </a:xfrm>
          <a:prstGeom prst="roundRect">
            <a:avLst>
              <a:gd name="adj" fmla="val 7031"/>
            </a:avLst>
          </a:prstGeom>
          <a:solidFill>
            <a:srgbClr val="FFFFFF"/>
          </a:solidFill>
          <a:ln w="15240">
            <a:solidFill>
              <a:srgbClr val="4361EE"/>
            </a:solidFill>
            <a:prstDash val="solid"/>
          </a:ln>
        </p:spPr>
      </p:sp>
      <p:sp>
        <p:nvSpPr>
          <p:cNvPr id="9" name="Shape 7"/>
          <p:cNvSpPr/>
          <p:nvPr/>
        </p:nvSpPr>
        <p:spPr>
          <a:xfrm>
            <a:off x="731520" y="1819656"/>
            <a:ext cx="457200" cy="457200"/>
          </a:xfrm>
          <a:prstGeom prst="ellipse">
            <a:avLst/>
          </a:prstGeom>
          <a:solidFill>
            <a:srgbClr val="4361EE"/>
          </a:solidFill>
          <a:ln/>
        </p:spPr>
      </p:sp>
      <p:sp>
        <p:nvSpPr>
          <p:cNvPr id="10" name="Text 8"/>
          <p:cNvSpPr/>
          <p:nvPr/>
        </p:nvSpPr>
        <p:spPr>
          <a:xfrm>
            <a:off x="731520" y="18196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1" name="Text 9"/>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What it gives an individual</a:t>
            </a:r>
            <a:endParaRPr lang="en-US" sz="1900" dirty="0"/>
          </a:p>
        </p:txBody>
      </p:sp>
      <p:sp>
        <p:nvSpPr>
          <p:cNvPr id="12" name="Text 10"/>
          <p:cNvSpPr/>
          <p:nvPr/>
        </p:nvSpPr>
        <p:spPr>
          <a:xfrm>
            <a:off x="1371600" y="1975104"/>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Control over how their personal information is handled — to know why it is collected and who it goes to, to access it, to correct it, to opt out of direct marketing, and to complain.</a:t>
            </a:r>
            <a:endParaRPr lang="en-US" sz="1650" dirty="0"/>
          </a:p>
        </p:txBody>
      </p:sp>
      <p:sp>
        <p:nvSpPr>
          <p:cNvPr id="13" name="Shape 11"/>
          <p:cNvSpPr/>
          <p:nvPr/>
        </p:nvSpPr>
        <p:spPr>
          <a:xfrm>
            <a:off x="502920" y="2734056"/>
            <a:ext cx="11155680" cy="1170432"/>
          </a:xfrm>
          <a:prstGeom prst="roundRect">
            <a:avLst>
              <a:gd name="adj" fmla="val 7031"/>
            </a:avLst>
          </a:prstGeom>
          <a:solidFill>
            <a:srgbClr val="FFFFFF"/>
          </a:solidFill>
          <a:ln w="15240">
            <a:solidFill>
              <a:srgbClr val="4361EE"/>
            </a:solidFill>
            <a:prstDash val="solid"/>
          </a:ln>
        </p:spPr>
      </p:sp>
      <p:sp>
        <p:nvSpPr>
          <p:cNvPr id="14" name="Shape 12"/>
          <p:cNvSpPr/>
          <p:nvPr/>
        </p:nvSpPr>
        <p:spPr>
          <a:xfrm>
            <a:off x="731520" y="3090672"/>
            <a:ext cx="457200" cy="457200"/>
          </a:xfrm>
          <a:prstGeom prst="ellipse">
            <a:avLst/>
          </a:prstGeom>
          <a:solidFill>
            <a:srgbClr val="4361EE"/>
          </a:solidFill>
          <a:ln/>
        </p:spPr>
      </p:sp>
      <p:sp>
        <p:nvSpPr>
          <p:cNvPr id="15" name="Text 13"/>
          <p:cNvSpPr/>
          <p:nvPr/>
        </p:nvSpPr>
        <p:spPr>
          <a:xfrm>
            <a:off x="731520" y="30906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6" name="Text 14"/>
          <p:cNvSpPr/>
          <p:nvPr/>
        </p:nvSpPr>
        <p:spPr>
          <a:xfrm>
            <a:off x="1371600" y="286207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Who is bound by it</a:t>
            </a:r>
            <a:endParaRPr lang="en-US" sz="1900" dirty="0"/>
          </a:p>
        </p:txBody>
      </p:sp>
      <p:sp>
        <p:nvSpPr>
          <p:cNvPr id="17" name="Text 15"/>
          <p:cNvSpPr/>
          <p:nvPr/>
        </p:nvSpPr>
        <p:spPr>
          <a:xfrm>
            <a:off x="1371600" y="3246120"/>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Australian Government agencies, all private health service providers, and businesses with annual turnover above $3 million or that trade in personal information. Smaller businesses may opt in.</a:t>
            </a:r>
            <a:endParaRPr lang="en-US" sz="1650" dirty="0"/>
          </a:p>
        </p:txBody>
      </p:sp>
      <p:sp>
        <p:nvSpPr>
          <p:cNvPr id="18" name="Shape 16"/>
          <p:cNvSpPr/>
          <p:nvPr/>
        </p:nvSpPr>
        <p:spPr>
          <a:xfrm>
            <a:off x="502920" y="4005072"/>
            <a:ext cx="11155680" cy="1170432"/>
          </a:xfrm>
          <a:prstGeom prst="roundRect">
            <a:avLst>
              <a:gd name="adj" fmla="val 7031"/>
            </a:avLst>
          </a:prstGeom>
          <a:solidFill>
            <a:srgbClr val="FFFFFF"/>
          </a:solidFill>
          <a:ln w="15240">
            <a:solidFill>
              <a:srgbClr val="4361EE"/>
            </a:solidFill>
            <a:prstDash val="solid"/>
          </a:ln>
        </p:spPr>
      </p:sp>
      <p:sp>
        <p:nvSpPr>
          <p:cNvPr id="19" name="Shape 17"/>
          <p:cNvSpPr/>
          <p:nvPr/>
        </p:nvSpPr>
        <p:spPr>
          <a:xfrm>
            <a:off x="731520" y="4361688"/>
            <a:ext cx="457200" cy="457200"/>
          </a:xfrm>
          <a:prstGeom prst="ellipse">
            <a:avLst/>
          </a:prstGeom>
          <a:solidFill>
            <a:srgbClr val="4361EE"/>
          </a:solidFill>
          <a:ln/>
        </p:spPr>
      </p:sp>
      <p:sp>
        <p:nvSpPr>
          <p:cNvPr id="20" name="Text 18"/>
          <p:cNvSpPr/>
          <p:nvPr/>
        </p:nvSpPr>
        <p:spPr>
          <a:xfrm>
            <a:off x="731520" y="43616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1" name="Text 19"/>
          <p:cNvSpPr/>
          <p:nvPr/>
        </p:nvSpPr>
        <p:spPr>
          <a:xfrm>
            <a:off x="1371600" y="413308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Who is not</a:t>
            </a:r>
            <a:endParaRPr lang="en-US" sz="1900" dirty="0"/>
          </a:p>
        </p:txBody>
      </p:sp>
      <p:sp>
        <p:nvSpPr>
          <p:cNvPr id="22" name="Text 20"/>
          <p:cNvSpPr/>
          <p:nvPr/>
        </p:nvSpPr>
        <p:spPr>
          <a:xfrm>
            <a:off x="1371600" y="4517136"/>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Local councils and state government bodies. Victoria has its own Act — the Privacy and Data Protection Act 2014 — which is coming up in a few slides.</a:t>
            </a:r>
            <a:endParaRPr lang="en-US" sz="1650" dirty="0"/>
          </a:p>
        </p:txBody>
      </p:sp>
      <p:sp>
        <p:nvSpPr>
          <p:cNvPr id="23" name="Shape 21"/>
          <p:cNvSpPr/>
          <p:nvPr/>
        </p:nvSpPr>
        <p:spPr>
          <a:xfrm>
            <a:off x="502920" y="5276088"/>
            <a:ext cx="11155680" cy="1170432"/>
          </a:xfrm>
          <a:prstGeom prst="roundRect">
            <a:avLst>
              <a:gd name="adj" fmla="val 7031"/>
            </a:avLst>
          </a:prstGeom>
          <a:solidFill>
            <a:srgbClr val="FFFFFF"/>
          </a:solidFill>
          <a:ln w="15240">
            <a:solidFill>
              <a:srgbClr val="4361EE"/>
            </a:solidFill>
            <a:prstDash val="solid"/>
          </a:ln>
        </p:spPr>
      </p:sp>
      <p:sp>
        <p:nvSpPr>
          <p:cNvPr id="24" name="Shape 22"/>
          <p:cNvSpPr/>
          <p:nvPr/>
        </p:nvSpPr>
        <p:spPr>
          <a:xfrm>
            <a:off x="731520" y="5632704"/>
            <a:ext cx="457200" cy="457200"/>
          </a:xfrm>
          <a:prstGeom prst="ellipse">
            <a:avLst/>
          </a:prstGeom>
          <a:solidFill>
            <a:srgbClr val="4361EE"/>
          </a:solidFill>
          <a:ln/>
        </p:spPr>
      </p:sp>
      <p:sp>
        <p:nvSpPr>
          <p:cNvPr id="25" name="Text 23"/>
          <p:cNvSpPr/>
          <p:nvPr/>
        </p:nvSpPr>
        <p:spPr>
          <a:xfrm>
            <a:off x="731520" y="5632704"/>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6" name="Text 24"/>
          <p:cNvSpPr/>
          <p:nvPr/>
        </p:nvSpPr>
        <p:spPr>
          <a:xfrm>
            <a:off x="1371600" y="5404104"/>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The test to apply</a:t>
            </a:r>
            <a:endParaRPr lang="en-US" sz="1900" dirty="0"/>
          </a:p>
        </p:txBody>
      </p:sp>
      <p:sp>
        <p:nvSpPr>
          <p:cNvPr id="27" name="Text 25"/>
          <p:cNvSpPr/>
          <p:nvPr/>
        </p:nvSpPr>
        <p:spPr>
          <a:xfrm>
            <a:off x="1371600" y="5788152"/>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Private company? Privacy Act and the APPs. Victorian agency, council, or a contractor working for one? PDPA and the IPPs. A company building software for a Victorian department can be caught by both.</a:t>
            </a:r>
            <a:endParaRPr lang="en-US"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The five examinable Australian Privacy Principles</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Privacy Act 1988 (Cwlth) — name the number, not just "the Privacy Act"</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1005840" cy="438912"/>
          </a:xfrm>
          <a:prstGeom prst="rect">
            <a:avLst/>
          </a:prstGeom>
          <a:solidFill>
            <a:srgbClr val="4361EE"/>
          </a:solidFill>
          <a:ln w="12700">
            <a:solidFill>
              <a:srgbClr val="4361EE"/>
            </a:solidFill>
            <a:prstDash val="solid"/>
          </a:ln>
        </p:spPr>
      </p:sp>
      <p:sp>
        <p:nvSpPr>
          <p:cNvPr id="11" name="Text 9"/>
          <p:cNvSpPr/>
          <p:nvPr/>
        </p:nvSpPr>
        <p:spPr>
          <a:xfrm>
            <a:off x="502920" y="1508760"/>
            <a:ext cx="10058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APP</a:t>
            </a:r>
            <a:endParaRPr lang="en-US" sz="1200" dirty="0"/>
          </a:p>
        </p:txBody>
      </p:sp>
      <p:sp>
        <p:nvSpPr>
          <p:cNvPr id="12" name="Shape 10"/>
          <p:cNvSpPr/>
          <p:nvPr/>
        </p:nvSpPr>
        <p:spPr>
          <a:xfrm>
            <a:off x="1508760" y="1508760"/>
            <a:ext cx="3291840" cy="438912"/>
          </a:xfrm>
          <a:prstGeom prst="rect">
            <a:avLst/>
          </a:prstGeom>
          <a:solidFill>
            <a:srgbClr val="4361EE"/>
          </a:solidFill>
          <a:ln w="12700">
            <a:solidFill>
              <a:srgbClr val="4361EE"/>
            </a:solidFill>
            <a:prstDash val="solid"/>
          </a:ln>
        </p:spPr>
      </p:sp>
      <p:sp>
        <p:nvSpPr>
          <p:cNvPr id="13" name="Text 11"/>
          <p:cNvSpPr/>
          <p:nvPr/>
        </p:nvSpPr>
        <p:spPr>
          <a:xfrm>
            <a:off x="1508760" y="1508760"/>
            <a:ext cx="32918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Title</a:t>
            </a:r>
            <a:endParaRPr lang="en-US" sz="1200" dirty="0"/>
          </a:p>
        </p:txBody>
      </p:sp>
      <p:sp>
        <p:nvSpPr>
          <p:cNvPr id="14" name="Shape 12"/>
          <p:cNvSpPr/>
          <p:nvPr/>
        </p:nvSpPr>
        <p:spPr>
          <a:xfrm>
            <a:off x="4800600" y="1508760"/>
            <a:ext cx="6858000" cy="438912"/>
          </a:xfrm>
          <a:prstGeom prst="rect">
            <a:avLst/>
          </a:prstGeom>
          <a:solidFill>
            <a:srgbClr val="4361EE"/>
          </a:solidFill>
          <a:ln w="12700">
            <a:solidFill>
              <a:srgbClr val="4361EE"/>
            </a:solidFill>
            <a:prstDash val="solid"/>
          </a:ln>
        </p:spPr>
      </p:sp>
      <p:sp>
        <p:nvSpPr>
          <p:cNvPr id="15" name="Text 13"/>
          <p:cNvSpPr/>
          <p:nvPr/>
        </p:nvSpPr>
        <p:spPr>
          <a:xfrm>
            <a:off x="4800600" y="1508760"/>
            <a:ext cx="68580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What it requires</a:t>
            </a:r>
            <a:endParaRPr lang="en-US" sz="1200" dirty="0"/>
          </a:p>
        </p:txBody>
      </p:sp>
      <p:sp>
        <p:nvSpPr>
          <p:cNvPr id="16" name="Shape 14"/>
          <p:cNvSpPr/>
          <p:nvPr/>
        </p:nvSpPr>
        <p:spPr>
          <a:xfrm>
            <a:off x="502920" y="1947672"/>
            <a:ext cx="1005840" cy="811987"/>
          </a:xfrm>
          <a:prstGeom prst="rect">
            <a:avLst/>
          </a:prstGeom>
          <a:solidFill>
            <a:srgbClr val="FFFFFF"/>
          </a:solidFill>
          <a:ln w="12700">
            <a:solidFill>
              <a:srgbClr val="D8DDE6"/>
            </a:solidFill>
            <a:prstDash val="solid"/>
          </a:ln>
        </p:spPr>
      </p:sp>
      <p:sp>
        <p:nvSpPr>
          <p:cNvPr id="17" name="Text 15"/>
          <p:cNvSpPr/>
          <p:nvPr/>
        </p:nvSpPr>
        <p:spPr>
          <a:xfrm>
            <a:off x="594360" y="1947672"/>
            <a:ext cx="822960" cy="81198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APP 1</a:t>
            </a:r>
            <a:endParaRPr lang="en-US" sz="1500" dirty="0"/>
          </a:p>
        </p:txBody>
      </p:sp>
      <p:sp>
        <p:nvSpPr>
          <p:cNvPr id="18" name="Shape 16"/>
          <p:cNvSpPr/>
          <p:nvPr/>
        </p:nvSpPr>
        <p:spPr>
          <a:xfrm>
            <a:off x="1508760" y="1947672"/>
            <a:ext cx="3291840" cy="811987"/>
          </a:xfrm>
          <a:prstGeom prst="rect">
            <a:avLst/>
          </a:prstGeom>
          <a:solidFill>
            <a:srgbClr val="FFFFFF"/>
          </a:solidFill>
          <a:ln w="12700">
            <a:solidFill>
              <a:srgbClr val="D8DDE6"/>
            </a:solidFill>
            <a:prstDash val="solid"/>
          </a:ln>
        </p:spPr>
      </p:sp>
      <p:sp>
        <p:nvSpPr>
          <p:cNvPr id="19" name="Text 17"/>
          <p:cNvSpPr/>
          <p:nvPr/>
        </p:nvSpPr>
        <p:spPr>
          <a:xfrm>
            <a:off x="1600200" y="1947672"/>
            <a:ext cx="310896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Open and transparent management</a:t>
            </a:r>
            <a:endParaRPr lang="en-US" sz="1500" dirty="0"/>
          </a:p>
        </p:txBody>
      </p:sp>
      <p:sp>
        <p:nvSpPr>
          <p:cNvPr id="20" name="Shape 18"/>
          <p:cNvSpPr/>
          <p:nvPr/>
        </p:nvSpPr>
        <p:spPr>
          <a:xfrm>
            <a:off x="4800600" y="1947672"/>
            <a:ext cx="6858000" cy="811987"/>
          </a:xfrm>
          <a:prstGeom prst="rect">
            <a:avLst/>
          </a:prstGeom>
          <a:solidFill>
            <a:srgbClr val="FFFFFF"/>
          </a:solidFill>
          <a:ln w="12700">
            <a:solidFill>
              <a:srgbClr val="D8DDE6"/>
            </a:solidFill>
            <a:prstDash val="solid"/>
          </a:ln>
        </p:spPr>
      </p:sp>
      <p:sp>
        <p:nvSpPr>
          <p:cNvPr id="21" name="Text 19"/>
          <p:cNvSpPr/>
          <p:nvPr/>
        </p:nvSpPr>
        <p:spPr>
          <a:xfrm>
            <a:off x="4892040" y="1947672"/>
            <a:ext cx="667512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Manage personal information openly and transparently, including a clearly expressed and up-to-date privacy policy.</a:t>
            </a:r>
            <a:endParaRPr lang="en-US" sz="1500" dirty="0"/>
          </a:p>
        </p:txBody>
      </p:sp>
      <p:sp>
        <p:nvSpPr>
          <p:cNvPr id="22" name="Shape 20"/>
          <p:cNvSpPr/>
          <p:nvPr/>
        </p:nvSpPr>
        <p:spPr>
          <a:xfrm>
            <a:off x="502920" y="2759659"/>
            <a:ext cx="1005840" cy="811987"/>
          </a:xfrm>
          <a:prstGeom prst="rect">
            <a:avLst/>
          </a:prstGeom>
          <a:solidFill>
            <a:srgbClr val="F4F6FB"/>
          </a:solidFill>
          <a:ln w="12700">
            <a:solidFill>
              <a:srgbClr val="D8DDE6"/>
            </a:solidFill>
            <a:prstDash val="solid"/>
          </a:ln>
        </p:spPr>
      </p:sp>
      <p:sp>
        <p:nvSpPr>
          <p:cNvPr id="23" name="Text 21"/>
          <p:cNvSpPr/>
          <p:nvPr/>
        </p:nvSpPr>
        <p:spPr>
          <a:xfrm>
            <a:off x="594360" y="2759659"/>
            <a:ext cx="822960" cy="81198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APP 6</a:t>
            </a:r>
            <a:endParaRPr lang="en-US" sz="1500" dirty="0"/>
          </a:p>
        </p:txBody>
      </p:sp>
      <p:sp>
        <p:nvSpPr>
          <p:cNvPr id="24" name="Shape 22"/>
          <p:cNvSpPr/>
          <p:nvPr/>
        </p:nvSpPr>
        <p:spPr>
          <a:xfrm>
            <a:off x="1508760" y="2759659"/>
            <a:ext cx="3291840" cy="811987"/>
          </a:xfrm>
          <a:prstGeom prst="rect">
            <a:avLst/>
          </a:prstGeom>
          <a:solidFill>
            <a:srgbClr val="F4F6FB"/>
          </a:solidFill>
          <a:ln w="12700">
            <a:solidFill>
              <a:srgbClr val="D8DDE6"/>
            </a:solidFill>
            <a:prstDash val="solid"/>
          </a:ln>
        </p:spPr>
      </p:sp>
      <p:sp>
        <p:nvSpPr>
          <p:cNvPr id="25" name="Text 23"/>
          <p:cNvSpPr/>
          <p:nvPr/>
        </p:nvSpPr>
        <p:spPr>
          <a:xfrm>
            <a:off x="1600200" y="2759659"/>
            <a:ext cx="310896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Use or disclosure</a:t>
            </a:r>
            <a:endParaRPr lang="en-US" sz="1500" dirty="0"/>
          </a:p>
        </p:txBody>
      </p:sp>
      <p:sp>
        <p:nvSpPr>
          <p:cNvPr id="26" name="Shape 24"/>
          <p:cNvSpPr/>
          <p:nvPr/>
        </p:nvSpPr>
        <p:spPr>
          <a:xfrm>
            <a:off x="4800600" y="2759659"/>
            <a:ext cx="6858000" cy="811987"/>
          </a:xfrm>
          <a:prstGeom prst="rect">
            <a:avLst/>
          </a:prstGeom>
          <a:solidFill>
            <a:srgbClr val="F4F6FB"/>
          </a:solidFill>
          <a:ln w="12700">
            <a:solidFill>
              <a:srgbClr val="D8DDE6"/>
            </a:solidFill>
            <a:prstDash val="solid"/>
          </a:ln>
        </p:spPr>
      </p:sp>
      <p:sp>
        <p:nvSpPr>
          <p:cNvPr id="27" name="Text 25"/>
          <p:cNvSpPr/>
          <p:nvPr/>
        </p:nvSpPr>
        <p:spPr>
          <a:xfrm>
            <a:off x="4892040" y="2759659"/>
            <a:ext cx="667512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Sets out the limited circumstances in which information may be used or disclosed — generally only for the purpose it was collected.</a:t>
            </a:r>
            <a:endParaRPr lang="en-US" sz="1500" dirty="0"/>
          </a:p>
        </p:txBody>
      </p:sp>
      <p:sp>
        <p:nvSpPr>
          <p:cNvPr id="28" name="Shape 26"/>
          <p:cNvSpPr/>
          <p:nvPr/>
        </p:nvSpPr>
        <p:spPr>
          <a:xfrm>
            <a:off x="502920" y="3571646"/>
            <a:ext cx="1005840" cy="811987"/>
          </a:xfrm>
          <a:prstGeom prst="rect">
            <a:avLst/>
          </a:prstGeom>
          <a:solidFill>
            <a:srgbClr val="FFFFFF"/>
          </a:solidFill>
          <a:ln w="12700">
            <a:solidFill>
              <a:srgbClr val="D8DDE6"/>
            </a:solidFill>
            <a:prstDash val="solid"/>
          </a:ln>
        </p:spPr>
      </p:sp>
      <p:sp>
        <p:nvSpPr>
          <p:cNvPr id="29" name="Text 27"/>
          <p:cNvSpPr/>
          <p:nvPr/>
        </p:nvSpPr>
        <p:spPr>
          <a:xfrm>
            <a:off x="594360" y="3571646"/>
            <a:ext cx="822960" cy="81198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APP 8</a:t>
            </a:r>
            <a:endParaRPr lang="en-US" sz="1500" dirty="0"/>
          </a:p>
        </p:txBody>
      </p:sp>
      <p:sp>
        <p:nvSpPr>
          <p:cNvPr id="30" name="Shape 28"/>
          <p:cNvSpPr/>
          <p:nvPr/>
        </p:nvSpPr>
        <p:spPr>
          <a:xfrm>
            <a:off x="1508760" y="3571646"/>
            <a:ext cx="3291840" cy="811987"/>
          </a:xfrm>
          <a:prstGeom prst="rect">
            <a:avLst/>
          </a:prstGeom>
          <a:solidFill>
            <a:srgbClr val="FFFFFF"/>
          </a:solidFill>
          <a:ln w="12700">
            <a:solidFill>
              <a:srgbClr val="D8DDE6"/>
            </a:solidFill>
            <a:prstDash val="solid"/>
          </a:ln>
        </p:spPr>
      </p:sp>
      <p:sp>
        <p:nvSpPr>
          <p:cNvPr id="31" name="Text 29"/>
          <p:cNvSpPr/>
          <p:nvPr/>
        </p:nvSpPr>
        <p:spPr>
          <a:xfrm>
            <a:off x="1600200" y="3571646"/>
            <a:ext cx="310896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Cross-border disclosure</a:t>
            </a:r>
            <a:endParaRPr lang="en-US" sz="1500" dirty="0"/>
          </a:p>
        </p:txBody>
      </p:sp>
      <p:sp>
        <p:nvSpPr>
          <p:cNvPr id="32" name="Shape 30"/>
          <p:cNvSpPr/>
          <p:nvPr/>
        </p:nvSpPr>
        <p:spPr>
          <a:xfrm>
            <a:off x="4800600" y="3571646"/>
            <a:ext cx="6858000" cy="811987"/>
          </a:xfrm>
          <a:prstGeom prst="rect">
            <a:avLst/>
          </a:prstGeom>
          <a:solidFill>
            <a:srgbClr val="FFFFFF"/>
          </a:solidFill>
          <a:ln w="12700">
            <a:solidFill>
              <a:srgbClr val="D8DDE6"/>
            </a:solidFill>
            <a:prstDash val="solid"/>
          </a:ln>
        </p:spPr>
      </p:sp>
      <p:sp>
        <p:nvSpPr>
          <p:cNvPr id="33" name="Text 31"/>
          <p:cNvSpPr/>
          <p:nvPr/>
        </p:nvSpPr>
        <p:spPr>
          <a:xfrm>
            <a:off x="4892040" y="3571646"/>
            <a:ext cx="667512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Sets out the steps that must be taken to protect personal information before it is disclosed overseas.</a:t>
            </a:r>
            <a:endParaRPr lang="en-US" sz="1500" dirty="0"/>
          </a:p>
        </p:txBody>
      </p:sp>
      <p:sp>
        <p:nvSpPr>
          <p:cNvPr id="34" name="Shape 32"/>
          <p:cNvSpPr/>
          <p:nvPr/>
        </p:nvSpPr>
        <p:spPr>
          <a:xfrm>
            <a:off x="502920" y="4383634"/>
            <a:ext cx="1005840" cy="811987"/>
          </a:xfrm>
          <a:prstGeom prst="rect">
            <a:avLst/>
          </a:prstGeom>
          <a:solidFill>
            <a:srgbClr val="F4F6FB"/>
          </a:solidFill>
          <a:ln w="12700">
            <a:solidFill>
              <a:srgbClr val="D8DDE6"/>
            </a:solidFill>
            <a:prstDash val="solid"/>
          </a:ln>
        </p:spPr>
      </p:sp>
      <p:sp>
        <p:nvSpPr>
          <p:cNvPr id="35" name="Text 33"/>
          <p:cNvSpPr/>
          <p:nvPr/>
        </p:nvSpPr>
        <p:spPr>
          <a:xfrm>
            <a:off x="594360" y="4383634"/>
            <a:ext cx="822960" cy="81198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APP 9</a:t>
            </a:r>
            <a:endParaRPr lang="en-US" sz="1500" dirty="0"/>
          </a:p>
        </p:txBody>
      </p:sp>
      <p:sp>
        <p:nvSpPr>
          <p:cNvPr id="36" name="Shape 34"/>
          <p:cNvSpPr/>
          <p:nvPr/>
        </p:nvSpPr>
        <p:spPr>
          <a:xfrm>
            <a:off x="1508760" y="4383634"/>
            <a:ext cx="3291840" cy="811987"/>
          </a:xfrm>
          <a:prstGeom prst="rect">
            <a:avLst/>
          </a:prstGeom>
          <a:solidFill>
            <a:srgbClr val="F4F6FB"/>
          </a:solidFill>
          <a:ln w="12700">
            <a:solidFill>
              <a:srgbClr val="D8DDE6"/>
            </a:solidFill>
            <a:prstDash val="solid"/>
          </a:ln>
        </p:spPr>
      </p:sp>
      <p:sp>
        <p:nvSpPr>
          <p:cNvPr id="37" name="Text 35"/>
          <p:cNvSpPr/>
          <p:nvPr/>
        </p:nvSpPr>
        <p:spPr>
          <a:xfrm>
            <a:off x="1600200" y="4383634"/>
            <a:ext cx="310896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Government related identifiers</a:t>
            </a:r>
            <a:endParaRPr lang="en-US" sz="1500" dirty="0"/>
          </a:p>
        </p:txBody>
      </p:sp>
      <p:sp>
        <p:nvSpPr>
          <p:cNvPr id="38" name="Shape 36"/>
          <p:cNvSpPr/>
          <p:nvPr/>
        </p:nvSpPr>
        <p:spPr>
          <a:xfrm>
            <a:off x="4800600" y="4383634"/>
            <a:ext cx="6858000" cy="811987"/>
          </a:xfrm>
          <a:prstGeom prst="rect">
            <a:avLst/>
          </a:prstGeom>
          <a:solidFill>
            <a:srgbClr val="F4F6FB"/>
          </a:solidFill>
          <a:ln w="12700">
            <a:solidFill>
              <a:srgbClr val="D8DDE6"/>
            </a:solidFill>
            <a:prstDash val="solid"/>
          </a:ln>
        </p:spPr>
      </p:sp>
      <p:sp>
        <p:nvSpPr>
          <p:cNvPr id="39" name="Text 37"/>
          <p:cNvSpPr/>
          <p:nvPr/>
        </p:nvSpPr>
        <p:spPr>
          <a:xfrm>
            <a:off x="4892040" y="4383634"/>
            <a:ext cx="667512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Organisations are generally prohibited from adopting a government identifier — a TFN, a licence number — as their own identifier for a person.</a:t>
            </a:r>
            <a:endParaRPr lang="en-US" sz="1500" dirty="0"/>
          </a:p>
        </p:txBody>
      </p:sp>
      <p:sp>
        <p:nvSpPr>
          <p:cNvPr id="40" name="Shape 38"/>
          <p:cNvSpPr/>
          <p:nvPr/>
        </p:nvSpPr>
        <p:spPr>
          <a:xfrm>
            <a:off x="502920" y="5195621"/>
            <a:ext cx="1005840" cy="811987"/>
          </a:xfrm>
          <a:prstGeom prst="rect">
            <a:avLst/>
          </a:prstGeom>
          <a:solidFill>
            <a:srgbClr val="FFFFFF"/>
          </a:solidFill>
          <a:ln w="12700">
            <a:solidFill>
              <a:srgbClr val="D8DDE6"/>
            </a:solidFill>
            <a:prstDash val="solid"/>
          </a:ln>
        </p:spPr>
      </p:sp>
      <p:sp>
        <p:nvSpPr>
          <p:cNvPr id="41" name="Text 39"/>
          <p:cNvSpPr/>
          <p:nvPr/>
        </p:nvSpPr>
        <p:spPr>
          <a:xfrm>
            <a:off x="594360" y="5195621"/>
            <a:ext cx="822960" cy="81198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APP 11</a:t>
            </a:r>
            <a:endParaRPr lang="en-US" sz="1500" dirty="0"/>
          </a:p>
        </p:txBody>
      </p:sp>
      <p:sp>
        <p:nvSpPr>
          <p:cNvPr id="42" name="Shape 40"/>
          <p:cNvSpPr/>
          <p:nvPr/>
        </p:nvSpPr>
        <p:spPr>
          <a:xfrm>
            <a:off x="1508760" y="5195621"/>
            <a:ext cx="3291840" cy="811987"/>
          </a:xfrm>
          <a:prstGeom prst="rect">
            <a:avLst/>
          </a:prstGeom>
          <a:solidFill>
            <a:srgbClr val="FFFFFF"/>
          </a:solidFill>
          <a:ln w="12700">
            <a:solidFill>
              <a:srgbClr val="D8DDE6"/>
            </a:solidFill>
            <a:prstDash val="solid"/>
          </a:ln>
        </p:spPr>
      </p:sp>
      <p:sp>
        <p:nvSpPr>
          <p:cNvPr id="43" name="Text 41"/>
          <p:cNvSpPr/>
          <p:nvPr/>
        </p:nvSpPr>
        <p:spPr>
          <a:xfrm>
            <a:off x="1600200" y="5195621"/>
            <a:ext cx="310896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Security of personal information</a:t>
            </a:r>
            <a:endParaRPr lang="en-US" sz="1500" dirty="0"/>
          </a:p>
        </p:txBody>
      </p:sp>
      <p:sp>
        <p:nvSpPr>
          <p:cNvPr id="44" name="Shape 42"/>
          <p:cNvSpPr/>
          <p:nvPr/>
        </p:nvSpPr>
        <p:spPr>
          <a:xfrm>
            <a:off x="4800600" y="5195621"/>
            <a:ext cx="6858000" cy="811987"/>
          </a:xfrm>
          <a:prstGeom prst="rect">
            <a:avLst/>
          </a:prstGeom>
          <a:solidFill>
            <a:srgbClr val="FFFFFF"/>
          </a:solidFill>
          <a:ln w="12700">
            <a:solidFill>
              <a:srgbClr val="D8DDE6"/>
            </a:solidFill>
            <a:prstDash val="solid"/>
          </a:ln>
        </p:spPr>
      </p:sp>
      <p:sp>
        <p:nvSpPr>
          <p:cNvPr id="45" name="Text 43"/>
          <p:cNvSpPr/>
          <p:nvPr/>
        </p:nvSpPr>
        <p:spPr>
          <a:xfrm>
            <a:off x="4892040" y="5195621"/>
            <a:ext cx="6675120" cy="81198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Take reasonable steps to protect information from misuse, interference, loss and unauthorised access, modification or disclosure — and destroy or de-identify it when no longer needed.</a:t>
            </a:r>
            <a:endParaRPr lang="en-US" sz="1500" dirty="0"/>
          </a:p>
        </p:txBody>
      </p:sp>
      <p:sp>
        <p:nvSpPr>
          <p:cNvPr id="46" name="Shape 44"/>
          <p:cNvSpPr/>
          <p:nvPr/>
        </p:nvSpPr>
        <p:spPr>
          <a:xfrm>
            <a:off x="502920" y="6089904"/>
            <a:ext cx="11155680" cy="411480"/>
          </a:xfrm>
          <a:prstGeom prst="roundRect">
            <a:avLst>
              <a:gd name="adj" fmla="val 20000"/>
            </a:avLst>
          </a:prstGeom>
          <a:solidFill>
            <a:srgbClr val="FEF3C7"/>
          </a:solidFill>
          <a:ln w="12700">
            <a:solidFill>
              <a:srgbClr val="F59E0B"/>
            </a:solidFill>
            <a:prstDash val="solid"/>
          </a:ln>
        </p:spPr>
      </p:sp>
      <p:sp>
        <p:nvSpPr>
          <p:cNvPr id="47" name="Text 45"/>
          <p:cNvSpPr/>
          <p:nvPr/>
        </p:nvSpPr>
        <p:spPr>
          <a:xfrm>
            <a:off x="822960" y="6089904"/>
            <a:ext cx="10515600" cy="411480"/>
          </a:xfrm>
          <a:prstGeom prst="rect">
            <a:avLst/>
          </a:prstGeom>
          <a:noFill/>
          <a:ln/>
        </p:spPr>
        <p:txBody>
          <a:bodyPr wrap="square" lIns="0" tIns="0" rIns="0" bIns="0" rtlCol="0" anchor="ctr"/>
          <a:lstStyle/>
          <a:p>
            <a:pPr indent="0" marL="0">
              <a:buNone/>
            </a:pPr>
            <a:r>
              <a:rPr lang="en-US" sz="1550" dirty="0">
                <a:solidFill>
                  <a:srgbClr val="111827"/>
                </a:solidFill>
                <a:latin typeface="Calibri" pitchFamily="34" charset="0"/>
                <a:ea typeface="Calibri" pitchFamily="34" charset="-122"/>
                <a:cs typeface="Calibri" pitchFamily="34" charset="-120"/>
              </a:rPr>
              <a:t>APP 11 is the one this entire area of study has been building toward. Learn its wording.</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"Reasonable steps" — and how you prove you took them</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APP 11 does not define the phrase, so the organisation has to demonstrate it</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63040"/>
            <a:ext cx="11155680" cy="1044702"/>
          </a:xfrm>
          <a:prstGeom prst="roundRect">
            <a:avLst>
              <a:gd name="adj" fmla="val 7877"/>
            </a:avLst>
          </a:prstGeom>
          <a:solidFill>
            <a:srgbClr val="FFFFFF"/>
          </a:solidFill>
          <a:ln w="15240">
            <a:solidFill>
              <a:srgbClr val="10B981"/>
            </a:solidFill>
            <a:prstDash val="solid"/>
          </a:ln>
        </p:spPr>
      </p:sp>
      <p:sp>
        <p:nvSpPr>
          <p:cNvPr id="11" name="Shape 9"/>
          <p:cNvSpPr/>
          <p:nvPr/>
        </p:nvSpPr>
        <p:spPr>
          <a:xfrm>
            <a:off x="731520" y="1756791"/>
            <a:ext cx="457200" cy="457200"/>
          </a:xfrm>
          <a:prstGeom prst="ellipse">
            <a:avLst/>
          </a:prstGeom>
          <a:solidFill>
            <a:srgbClr val="10B981"/>
          </a:solidFill>
          <a:ln/>
        </p:spPr>
      </p:sp>
      <p:sp>
        <p:nvSpPr>
          <p:cNvPr id="12" name="Text 10"/>
          <p:cNvSpPr/>
          <p:nvPr/>
        </p:nvSpPr>
        <p:spPr>
          <a:xfrm>
            <a:off x="731520" y="1756791"/>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3" name="Text 11"/>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Security controls that are actually in place</a:t>
            </a:r>
            <a:endParaRPr lang="en-US" sz="1900" dirty="0"/>
          </a:p>
        </p:txBody>
      </p:sp>
      <p:sp>
        <p:nvSpPr>
          <p:cNvPr id="14" name="Text 12"/>
          <p:cNvSpPr/>
          <p:nvPr/>
        </p:nvSpPr>
        <p:spPr>
          <a:xfrm>
            <a:off x="1371600" y="1975104"/>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The six controls from Lesson 4 — version control, identity and access management, encryption, code review, patching, separated environments.</a:t>
            </a:r>
            <a:endParaRPr lang="en-US" sz="1650" dirty="0"/>
          </a:p>
        </p:txBody>
      </p:sp>
      <p:sp>
        <p:nvSpPr>
          <p:cNvPr id="15" name="Shape 13"/>
          <p:cNvSpPr/>
          <p:nvPr/>
        </p:nvSpPr>
        <p:spPr>
          <a:xfrm>
            <a:off x="502920" y="2608326"/>
            <a:ext cx="11155680" cy="1044702"/>
          </a:xfrm>
          <a:prstGeom prst="roundRect">
            <a:avLst>
              <a:gd name="adj" fmla="val 7877"/>
            </a:avLst>
          </a:prstGeom>
          <a:solidFill>
            <a:srgbClr val="FFFFFF"/>
          </a:solidFill>
          <a:ln w="15240">
            <a:solidFill>
              <a:srgbClr val="10B981"/>
            </a:solidFill>
            <a:prstDash val="solid"/>
          </a:ln>
        </p:spPr>
      </p:sp>
      <p:sp>
        <p:nvSpPr>
          <p:cNvPr id="16" name="Shape 14"/>
          <p:cNvSpPr/>
          <p:nvPr/>
        </p:nvSpPr>
        <p:spPr>
          <a:xfrm>
            <a:off x="731520" y="2902077"/>
            <a:ext cx="457200" cy="457200"/>
          </a:xfrm>
          <a:prstGeom prst="ellipse">
            <a:avLst/>
          </a:prstGeom>
          <a:solidFill>
            <a:srgbClr val="10B981"/>
          </a:solidFill>
          <a:ln/>
        </p:spPr>
      </p:sp>
      <p:sp>
        <p:nvSpPr>
          <p:cNvPr id="17" name="Text 15"/>
          <p:cNvSpPr/>
          <p:nvPr/>
        </p:nvSpPr>
        <p:spPr>
          <a:xfrm>
            <a:off x="731520" y="2902077"/>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8" name="Text 16"/>
          <p:cNvSpPr/>
          <p:nvPr/>
        </p:nvSpPr>
        <p:spPr>
          <a:xfrm>
            <a:off x="1371600" y="273634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A threat model that was maintained</a:t>
            </a:r>
            <a:endParaRPr lang="en-US" sz="1900" dirty="0"/>
          </a:p>
        </p:txBody>
      </p:sp>
      <p:sp>
        <p:nvSpPr>
          <p:cNvPr id="19" name="Text 17"/>
          <p:cNvSpPr/>
          <p:nvPr/>
        </p:nvSpPr>
        <p:spPr>
          <a:xfrm>
            <a:off x="1371600" y="3120390"/>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Threats identified, rated by likelihood and consequence, mitigations chosen, and evidence the mitigations were confirmed to work (Lesson 5).</a:t>
            </a:r>
            <a:endParaRPr lang="en-US" sz="1650" dirty="0"/>
          </a:p>
        </p:txBody>
      </p:sp>
      <p:sp>
        <p:nvSpPr>
          <p:cNvPr id="20" name="Shape 18"/>
          <p:cNvSpPr/>
          <p:nvPr/>
        </p:nvSpPr>
        <p:spPr>
          <a:xfrm>
            <a:off x="502920" y="3753612"/>
            <a:ext cx="11155680" cy="1044702"/>
          </a:xfrm>
          <a:prstGeom prst="roundRect">
            <a:avLst>
              <a:gd name="adj" fmla="val 7877"/>
            </a:avLst>
          </a:prstGeom>
          <a:solidFill>
            <a:srgbClr val="FFFFFF"/>
          </a:solidFill>
          <a:ln w="15240">
            <a:solidFill>
              <a:srgbClr val="10B981"/>
            </a:solidFill>
            <a:prstDash val="solid"/>
          </a:ln>
        </p:spPr>
      </p:sp>
      <p:sp>
        <p:nvSpPr>
          <p:cNvPr id="21" name="Shape 19"/>
          <p:cNvSpPr/>
          <p:nvPr/>
        </p:nvSpPr>
        <p:spPr>
          <a:xfrm>
            <a:off x="731520" y="4047363"/>
            <a:ext cx="457200" cy="457200"/>
          </a:xfrm>
          <a:prstGeom prst="ellipse">
            <a:avLst/>
          </a:prstGeom>
          <a:solidFill>
            <a:srgbClr val="10B981"/>
          </a:solidFill>
          <a:ln/>
        </p:spPr>
      </p:sp>
      <p:sp>
        <p:nvSpPr>
          <p:cNvPr id="22" name="Text 20"/>
          <p:cNvSpPr/>
          <p:nvPr/>
        </p:nvSpPr>
        <p:spPr>
          <a:xfrm>
            <a:off x="731520" y="4047363"/>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3" name="Text 21"/>
          <p:cNvSpPr/>
          <p:nvPr/>
        </p:nvSpPr>
        <p:spPr>
          <a:xfrm>
            <a:off x="1371600" y="388162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A criteria-based evaluation</a:t>
            </a:r>
            <a:endParaRPr lang="en-US" sz="1900" dirty="0"/>
          </a:p>
        </p:txBody>
      </p:sp>
      <p:sp>
        <p:nvSpPr>
          <p:cNvPr id="24" name="Text 22"/>
          <p:cNvSpPr/>
          <p:nvPr/>
        </p:nvSpPr>
        <p:spPr>
          <a:xfrm>
            <a:off x="1371600" y="4265676"/>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Criteria proposed and applied, with judgements of met, partially met and not met recorded against dated evidence (Lesson 6).</a:t>
            </a:r>
            <a:endParaRPr lang="en-US" sz="1650" dirty="0"/>
          </a:p>
        </p:txBody>
      </p:sp>
      <p:sp>
        <p:nvSpPr>
          <p:cNvPr id="25" name="Shape 23"/>
          <p:cNvSpPr/>
          <p:nvPr/>
        </p:nvSpPr>
        <p:spPr>
          <a:xfrm>
            <a:off x="502920" y="4898898"/>
            <a:ext cx="11155680" cy="1044702"/>
          </a:xfrm>
          <a:prstGeom prst="roundRect">
            <a:avLst>
              <a:gd name="adj" fmla="val 7877"/>
            </a:avLst>
          </a:prstGeom>
          <a:solidFill>
            <a:srgbClr val="FFFFFF"/>
          </a:solidFill>
          <a:ln w="15240">
            <a:solidFill>
              <a:srgbClr val="10B981"/>
            </a:solidFill>
            <a:prstDash val="solid"/>
          </a:ln>
        </p:spPr>
      </p:sp>
      <p:sp>
        <p:nvSpPr>
          <p:cNvPr id="26" name="Shape 24"/>
          <p:cNvSpPr/>
          <p:nvPr/>
        </p:nvSpPr>
        <p:spPr>
          <a:xfrm>
            <a:off x="731520" y="5192649"/>
            <a:ext cx="457200" cy="457200"/>
          </a:xfrm>
          <a:prstGeom prst="ellipse">
            <a:avLst/>
          </a:prstGeom>
          <a:solidFill>
            <a:srgbClr val="10B981"/>
          </a:solidFill>
          <a:ln/>
        </p:spPr>
      </p:sp>
      <p:sp>
        <p:nvSpPr>
          <p:cNvPr id="27" name="Text 25"/>
          <p:cNvSpPr/>
          <p:nvPr/>
        </p:nvSpPr>
        <p:spPr>
          <a:xfrm>
            <a:off x="731520" y="5192649"/>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4</a:t>
            </a:r>
            <a:endParaRPr lang="en-US" sz="1400" dirty="0"/>
          </a:p>
        </p:txBody>
      </p:sp>
      <p:sp>
        <p:nvSpPr>
          <p:cNvPr id="28" name="Text 26"/>
          <p:cNvSpPr/>
          <p:nvPr/>
        </p:nvSpPr>
        <p:spPr>
          <a:xfrm>
            <a:off x="1371600" y="5026914"/>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A benchmark you can point at</a:t>
            </a:r>
            <a:endParaRPr lang="en-US" sz="1900" dirty="0"/>
          </a:p>
        </p:txBody>
      </p:sp>
      <p:sp>
        <p:nvSpPr>
          <p:cNvPr id="29" name="Text 27"/>
          <p:cNvSpPr/>
          <p:nvPr/>
        </p:nvSpPr>
        <p:spPr>
          <a:xfrm>
            <a:off x="1371600" y="5410962"/>
            <a:ext cx="10058400" cy="44119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Alignment to the Essential Eight or the ISM, so "reasonable" is measured against an external standard rather than the organisation's own opinion.</a:t>
            </a:r>
            <a:endParaRPr lang="en-US" sz="1650" dirty="0"/>
          </a:p>
        </p:txBody>
      </p:sp>
      <p:sp>
        <p:nvSpPr>
          <p:cNvPr id="30" name="Shape 28"/>
          <p:cNvSpPr/>
          <p:nvPr/>
        </p:nvSpPr>
        <p:spPr>
          <a:xfrm>
            <a:off x="502920" y="6099048"/>
            <a:ext cx="11155680" cy="566928"/>
          </a:xfrm>
          <a:prstGeom prst="roundRect">
            <a:avLst>
              <a:gd name="adj" fmla="val 14516"/>
            </a:avLst>
          </a:prstGeom>
          <a:solidFill>
            <a:srgbClr val="D1FAE5"/>
          </a:solidFill>
          <a:ln w="12700">
            <a:solidFill>
              <a:srgbClr val="10B981"/>
            </a:solidFill>
            <a:prstDash val="solid"/>
          </a:ln>
        </p:spPr>
      </p:sp>
      <p:sp>
        <p:nvSpPr>
          <p:cNvPr id="31" name="Text 29"/>
          <p:cNvSpPr/>
          <p:nvPr/>
        </p:nvSpPr>
        <p:spPr>
          <a:xfrm>
            <a:off x="822960" y="6099048"/>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This is why a documented evaluation matters legally, not just technically — it is the evidence that the steps were taken.</a:t>
            </a:r>
            <a:endParaRPr lang="en-US" sz="1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Privacy and Data Protection Act 2014 (Victoria)</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Victorian agencies, councils and their contractors — Information Privacy Principles</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1005840" cy="438912"/>
          </a:xfrm>
          <a:prstGeom prst="rect">
            <a:avLst/>
          </a:prstGeom>
          <a:solidFill>
            <a:srgbClr val="8B5CF6"/>
          </a:solidFill>
          <a:ln w="12700">
            <a:solidFill>
              <a:srgbClr val="8B5CF6"/>
            </a:solidFill>
            <a:prstDash val="solid"/>
          </a:ln>
        </p:spPr>
      </p:sp>
      <p:sp>
        <p:nvSpPr>
          <p:cNvPr id="11" name="Text 9"/>
          <p:cNvSpPr/>
          <p:nvPr/>
        </p:nvSpPr>
        <p:spPr>
          <a:xfrm>
            <a:off x="502920" y="1508760"/>
            <a:ext cx="10058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IPP</a:t>
            </a:r>
            <a:endParaRPr lang="en-US" sz="1200" dirty="0"/>
          </a:p>
        </p:txBody>
      </p:sp>
      <p:sp>
        <p:nvSpPr>
          <p:cNvPr id="12" name="Shape 10"/>
          <p:cNvSpPr/>
          <p:nvPr/>
        </p:nvSpPr>
        <p:spPr>
          <a:xfrm>
            <a:off x="1508760" y="1508760"/>
            <a:ext cx="2926080" cy="438912"/>
          </a:xfrm>
          <a:prstGeom prst="rect">
            <a:avLst/>
          </a:prstGeom>
          <a:solidFill>
            <a:srgbClr val="8B5CF6"/>
          </a:solidFill>
          <a:ln w="12700">
            <a:solidFill>
              <a:srgbClr val="8B5CF6"/>
            </a:solidFill>
            <a:prstDash val="solid"/>
          </a:ln>
        </p:spPr>
      </p:sp>
      <p:sp>
        <p:nvSpPr>
          <p:cNvPr id="13" name="Text 11"/>
          <p:cNvSpPr/>
          <p:nvPr/>
        </p:nvSpPr>
        <p:spPr>
          <a:xfrm>
            <a:off x="1508760" y="1508760"/>
            <a:ext cx="29260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Title</a:t>
            </a:r>
            <a:endParaRPr lang="en-US" sz="1200" dirty="0"/>
          </a:p>
        </p:txBody>
      </p:sp>
      <p:sp>
        <p:nvSpPr>
          <p:cNvPr id="14" name="Shape 12"/>
          <p:cNvSpPr/>
          <p:nvPr/>
        </p:nvSpPr>
        <p:spPr>
          <a:xfrm>
            <a:off x="4434840" y="1508760"/>
            <a:ext cx="7223760" cy="438912"/>
          </a:xfrm>
          <a:prstGeom prst="rect">
            <a:avLst/>
          </a:prstGeom>
          <a:solidFill>
            <a:srgbClr val="8B5CF6"/>
          </a:solidFill>
          <a:ln w="12700">
            <a:solidFill>
              <a:srgbClr val="8B5CF6"/>
            </a:solidFill>
            <a:prstDash val="solid"/>
          </a:ln>
        </p:spPr>
      </p:sp>
      <p:sp>
        <p:nvSpPr>
          <p:cNvPr id="15" name="Text 13"/>
          <p:cNvSpPr/>
          <p:nvPr/>
        </p:nvSpPr>
        <p:spPr>
          <a:xfrm>
            <a:off x="4434840" y="1508760"/>
            <a:ext cx="722376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What it requires</a:t>
            </a:r>
            <a:endParaRPr lang="en-US" sz="1200" dirty="0"/>
          </a:p>
        </p:txBody>
      </p:sp>
      <p:sp>
        <p:nvSpPr>
          <p:cNvPr id="16" name="Shape 14"/>
          <p:cNvSpPr/>
          <p:nvPr/>
        </p:nvSpPr>
        <p:spPr>
          <a:xfrm>
            <a:off x="502920" y="1947672"/>
            <a:ext cx="1005840" cy="738835"/>
          </a:xfrm>
          <a:prstGeom prst="rect">
            <a:avLst/>
          </a:prstGeom>
          <a:solidFill>
            <a:srgbClr val="FFFFFF"/>
          </a:solidFill>
          <a:ln w="12700">
            <a:solidFill>
              <a:srgbClr val="D8DDE6"/>
            </a:solidFill>
            <a:prstDash val="solid"/>
          </a:ln>
        </p:spPr>
      </p:sp>
      <p:sp>
        <p:nvSpPr>
          <p:cNvPr id="17" name="Text 15"/>
          <p:cNvSpPr/>
          <p:nvPr/>
        </p:nvSpPr>
        <p:spPr>
          <a:xfrm>
            <a:off x="594360" y="1947672"/>
            <a:ext cx="822960" cy="738835"/>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IPP 1</a:t>
            </a:r>
            <a:endParaRPr lang="en-US" sz="1500" dirty="0"/>
          </a:p>
        </p:txBody>
      </p:sp>
      <p:sp>
        <p:nvSpPr>
          <p:cNvPr id="18" name="Shape 16"/>
          <p:cNvSpPr/>
          <p:nvPr/>
        </p:nvSpPr>
        <p:spPr>
          <a:xfrm>
            <a:off x="1508760" y="1947672"/>
            <a:ext cx="2926080" cy="738835"/>
          </a:xfrm>
          <a:prstGeom prst="rect">
            <a:avLst/>
          </a:prstGeom>
          <a:solidFill>
            <a:srgbClr val="FFFFFF"/>
          </a:solidFill>
          <a:ln w="12700">
            <a:solidFill>
              <a:srgbClr val="D8DDE6"/>
            </a:solidFill>
            <a:prstDash val="solid"/>
          </a:ln>
        </p:spPr>
      </p:sp>
      <p:sp>
        <p:nvSpPr>
          <p:cNvPr id="19" name="Text 17"/>
          <p:cNvSpPr/>
          <p:nvPr/>
        </p:nvSpPr>
        <p:spPr>
          <a:xfrm>
            <a:off x="1600200" y="1947672"/>
            <a:ext cx="274320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Collection</a:t>
            </a:r>
            <a:endParaRPr lang="en-US" sz="1500" dirty="0"/>
          </a:p>
        </p:txBody>
      </p:sp>
      <p:sp>
        <p:nvSpPr>
          <p:cNvPr id="20" name="Shape 18"/>
          <p:cNvSpPr/>
          <p:nvPr/>
        </p:nvSpPr>
        <p:spPr>
          <a:xfrm>
            <a:off x="4434840" y="1947672"/>
            <a:ext cx="7223760" cy="738835"/>
          </a:xfrm>
          <a:prstGeom prst="rect">
            <a:avLst/>
          </a:prstGeom>
          <a:solidFill>
            <a:srgbClr val="FFFFFF"/>
          </a:solidFill>
          <a:ln w="12700">
            <a:solidFill>
              <a:srgbClr val="D8DDE6"/>
            </a:solidFill>
            <a:prstDash val="solid"/>
          </a:ln>
        </p:spPr>
      </p:sp>
      <p:sp>
        <p:nvSpPr>
          <p:cNvPr id="21" name="Text 19"/>
          <p:cNvSpPr/>
          <p:nvPr/>
        </p:nvSpPr>
        <p:spPr>
          <a:xfrm>
            <a:off x="4526280" y="1947672"/>
            <a:ext cx="704088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Collect only the information the organisation actually needs, and inform people that their information is being collected.</a:t>
            </a:r>
            <a:endParaRPr lang="en-US" sz="1500" dirty="0"/>
          </a:p>
        </p:txBody>
      </p:sp>
      <p:sp>
        <p:nvSpPr>
          <p:cNvPr id="22" name="Shape 20"/>
          <p:cNvSpPr/>
          <p:nvPr/>
        </p:nvSpPr>
        <p:spPr>
          <a:xfrm>
            <a:off x="502920" y="2686507"/>
            <a:ext cx="1005840" cy="738835"/>
          </a:xfrm>
          <a:prstGeom prst="rect">
            <a:avLst/>
          </a:prstGeom>
          <a:solidFill>
            <a:srgbClr val="F4F6FB"/>
          </a:solidFill>
          <a:ln w="12700">
            <a:solidFill>
              <a:srgbClr val="D8DDE6"/>
            </a:solidFill>
            <a:prstDash val="solid"/>
          </a:ln>
        </p:spPr>
      </p:sp>
      <p:sp>
        <p:nvSpPr>
          <p:cNvPr id="23" name="Text 21"/>
          <p:cNvSpPr/>
          <p:nvPr/>
        </p:nvSpPr>
        <p:spPr>
          <a:xfrm>
            <a:off x="594360" y="2686507"/>
            <a:ext cx="822960" cy="738835"/>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IPP 2</a:t>
            </a:r>
            <a:endParaRPr lang="en-US" sz="1500" dirty="0"/>
          </a:p>
        </p:txBody>
      </p:sp>
      <p:sp>
        <p:nvSpPr>
          <p:cNvPr id="24" name="Shape 22"/>
          <p:cNvSpPr/>
          <p:nvPr/>
        </p:nvSpPr>
        <p:spPr>
          <a:xfrm>
            <a:off x="1508760" y="2686507"/>
            <a:ext cx="2926080" cy="738835"/>
          </a:xfrm>
          <a:prstGeom prst="rect">
            <a:avLst/>
          </a:prstGeom>
          <a:solidFill>
            <a:srgbClr val="F4F6FB"/>
          </a:solidFill>
          <a:ln w="12700">
            <a:solidFill>
              <a:srgbClr val="D8DDE6"/>
            </a:solidFill>
            <a:prstDash val="solid"/>
          </a:ln>
        </p:spPr>
      </p:sp>
      <p:sp>
        <p:nvSpPr>
          <p:cNvPr id="25" name="Text 23"/>
          <p:cNvSpPr/>
          <p:nvPr/>
        </p:nvSpPr>
        <p:spPr>
          <a:xfrm>
            <a:off x="1600200" y="2686507"/>
            <a:ext cx="274320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Use and disclosure</a:t>
            </a:r>
            <a:endParaRPr lang="en-US" sz="1500" dirty="0"/>
          </a:p>
        </p:txBody>
      </p:sp>
      <p:sp>
        <p:nvSpPr>
          <p:cNvPr id="26" name="Shape 24"/>
          <p:cNvSpPr/>
          <p:nvPr/>
        </p:nvSpPr>
        <p:spPr>
          <a:xfrm>
            <a:off x="4434840" y="2686507"/>
            <a:ext cx="7223760" cy="738835"/>
          </a:xfrm>
          <a:prstGeom prst="rect">
            <a:avLst/>
          </a:prstGeom>
          <a:solidFill>
            <a:srgbClr val="F4F6FB"/>
          </a:solidFill>
          <a:ln w="12700">
            <a:solidFill>
              <a:srgbClr val="D8DDE6"/>
            </a:solidFill>
            <a:prstDash val="solid"/>
          </a:ln>
        </p:spPr>
      </p:sp>
      <p:sp>
        <p:nvSpPr>
          <p:cNvPr id="27" name="Text 25"/>
          <p:cNvSpPr/>
          <p:nvPr/>
        </p:nvSpPr>
        <p:spPr>
          <a:xfrm>
            <a:off x="4526280" y="2686507"/>
            <a:ext cx="704088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Use and disclose personal information only for the purpose it was collected for, or a secondary purpose a person would reasonably expect.</a:t>
            </a:r>
            <a:endParaRPr lang="en-US" sz="1500" dirty="0"/>
          </a:p>
        </p:txBody>
      </p:sp>
      <p:sp>
        <p:nvSpPr>
          <p:cNvPr id="28" name="Shape 26"/>
          <p:cNvSpPr/>
          <p:nvPr/>
        </p:nvSpPr>
        <p:spPr>
          <a:xfrm>
            <a:off x="502920" y="3425342"/>
            <a:ext cx="1005840" cy="738835"/>
          </a:xfrm>
          <a:prstGeom prst="rect">
            <a:avLst/>
          </a:prstGeom>
          <a:solidFill>
            <a:srgbClr val="FFFFFF"/>
          </a:solidFill>
          <a:ln w="12700">
            <a:solidFill>
              <a:srgbClr val="D8DDE6"/>
            </a:solidFill>
            <a:prstDash val="solid"/>
          </a:ln>
        </p:spPr>
      </p:sp>
      <p:sp>
        <p:nvSpPr>
          <p:cNvPr id="29" name="Text 27"/>
          <p:cNvSpPr/>
          <p:nvPr/>
        </p:nvSpPr>
        <p:spPr>
          <a:xfrm>
            <a:off x="594360" y="3425342"/>
            <a:ext cx="822960" cy="738835"/>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IPP 4</a:t>
            </a:r>
            <a:endParaRPr lang="en-US" sz="1500" dirty="0"/>
          </a:p>
        </p:txBody>
      </p:sp>
      <p:sp>
        <p:nvSpPr>
          <p:cNvPr id="30" name="Shape 28"/>
          <p:cNvSpPr/>
          <p:nvPr/>
        </p:nvSpPr>
        <p:spPr>
          <a:xfrm>
            <a:off x="1508760" y="3425342"/>
            <a:ext cx="2926080" cy="738835"/>
          </a:xfrm>
          <a:prstGeom prst="rect">
            <a:avLst/>
          </a:prstGeom>
          <a:solidFill>
            <a:srgbClr val="FFFFFF"/>
          </a:solidFill>
          <a:ln w="12700">
            <a:solidFill>
              <a:srgbClr val="D8DDE6"/>
            </a:solidFill>
            <a:prstDash val="solid"/>
          </a:ln>
        </p:spPr>
      </p:sp>
      <p:sp>
        <p:nvSpPr>
          <p:cNvPr id="31" name="Text 29"/>
          <p:cNvSpPr/>
          <p:nvPr/>
        </p:nvSpPr>
        <p:spPr>
          <a:xfrm>
            <a:off x="1600200" y="3425342"/>
            <a:ext cx="274320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Data security</a:t>
            </a:r>
            <a:endParaRPr lang="en-US" sz="1500" dirty="0"/>
          </a:p>
        </p:txBody>
      </p:sp>
      <p:sp>
        <p:nvSpPr>
          <p:cNvPr id="32" name="Shape 30"/>
          <p:cNvSpPr/>
          <p:nvPr/>
        </p:nvSpPr>
        <p:spPr>
          <a:xfrm>
            <a:off x="4434840" y="3425342"/>
            <a:ext cx="7223760" cy="738835"/>
          </a:xfrm>
          <a:prstGeom prst="rect">
            <a:avLst/>
          </a:prstGeom>
          <a:solidFill>
            <a:srgbClr val="FFFFFF"/>
          </a:solidFill>
          <a:ln w="12700">
            <a:solidFill>
              <a:srgbClr val="D8DDE6"/>
            </a:solidFill>
            <a:prstDash val="solid"/>
          </a:ln>
        </p:spPr>
      </p:sp>
      <p:sp>
        <p:nvSpPr>
          <p:cNvPr id="33" name="Text 31"/>
          <p:cNvSpPr/>
          <p:nvPr/>
        </p:nvSpPr>
        <p:spPr>
          <a:xfrm>
            <a:off x="4526280" y="3425342"/>
            <a:ext cx="704088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Protect information from misuse, loss and unauthorised access, modification or disclosure, and destroy or de-identify it when no longer needed.</a:t>
            </a:r>
            <a:endParaRPr lang="en-US" sz="1500" dirty="0"/>
          </a:p>
        </p:txBody>
      </p:sp>
      <p:sp>
        <p:nvSpPr>
          <p:cNvPr id="34" name="Shape 32"/>
          <p:cNvSpPr/>
          <p:nvPr/>
        </p:nvSpPr>
        <p:spPr>
          <a:xfrm>
            <a:off x="502920" y="4164178"/>
            <a:ext cx="1005840" cy="738835"/>
          </a:xfrm>
          <a:prstGeom prst="rect">
            <a:avLst/>
          </a:prstGeom>
          <a:solidFill>
            <a:srgbClr val="F4F6FB"/>
          </a:solidFill>
          <a:ln w="12700">
            <a:solidFill>
              <a:srgbClr val="D8DDE6"/>
            </a:solidFill>
            <a:prstDash val="solid"/>
          </a:ln>
        </p:spPr>
      </p:sp>
      <p:sp>
        <p:nvSpPr>
          <p:cNvPr id="35" name="Text 33"/>
          <p:cNvSpPr/>
          <p:nvPr/>
        </p:nvSpPr>
        <p:spPr>
          <a:xfrm>
            <a:off x="594360" y="4164178"/>
            <a:ext cx="822960" cy="738835"/>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IPP 5</a:t>
            </a:r>
            <a:endParaRPr lang="en-US" sz="1500" dirty="0"/>
          </a:p>
        </p:txBody>
      </p:sp>
      <p:sp>
        <p:nvSpPr>
          <p:cNvPr id="36" name="Shape 34"/>
          <p:cNvSpPr/>
          <p:nvPr/>
        </p:nvSpPr>
        <p:spPr>
          <a:xfrm>
            <a:off x="1508760" y="4164178"/>
            <a:ext cx="2926080" cy="738835"/>
          </a:xfrm>
          <a:prstGeom prst="rect">
            <a:avLst/>
          </a:prstGeom>
          <a:solidFill>
            <a:srgbClr val="F4F6FB"/>
          </a:solidFill>
          <a:ln w="12700">
            <a:solidFill>
              <a:srgbClr val="D8DDE6"/>
            </a:solidFill>
            <a:prstDash val="solid"/>
          </a:ln>
        </p:spPr>
      </p:sp>
      <p:sp>
        <p:nvSpPr>
          <p:cNvPr id="37" name="Text 35"/>
          <p:cNvSpPr/>
          <p:nvPr/>
        </p:nvSpPr>
        <p:spPr>
          <a:xfrm>
            <a:off x="1600200" y="4164178"/>
            <a:ext cx="274320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Openness</a:t>
            </a:r>
            <a:endParaRPr lang="en-US" sz="1500" dirty="0"/>
          </a:p>
        </p:txBody>
      </p:sp>
      <p:sp>
        <p:nvSpPr>
          <p:cNvPr id="38" name="Shape 36"/>
          <p:cNvSpPr/>
          <p:nvPr/>
        </p:nvSpPr>
        <p:spPr>
          <a:xfrm>
            <a:off x="4434840" y="4164178"/>
            <a:ext cx="7223760" cy="738835"/>
          </a:xfrm>
          <a:prstGeom prst="rect">
            <a:avLst/>
          </a:prstGeom>
          <a:solidFill>
            <a:srgbClr val="F4F6FB"/>
          </a:solidFill>
          <a:ln w="12700">
            <a:solidFill>
              <a:srgbClr val="D8DDE6"/>
            </a:solidFill>
            <a:prstDash val="solid"/>
          </a:ln>
        </p:spPr>
      </p:sp>
      <p:sp>
        <p:nvSpPr>
          <p:cNvPr id="39" name="Text 37"/>
          <p:cNvSpPr/>
          <p:nvPr/>
        </p:nvSpPr>
        <p:spPr>
          <a:xfrm>
            <a:off x="4526280" y="4164178"/>
            <a:ext cx="704088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Be transparent about what the organisation does with information. Maximum penalty 3000 penalty units for a body corporate, 600 for an individual.</a:t>
            </a:r>
            <a:endParaRPr lang="en-US" sz="1500" dirty="0"/>
          </a:p>
        </p:txBody>
      </p:sp>
      <p:sp>
        <p:nvSpPr>
          <p:cNvPr id="40" name="Shape 38"/>
          <p:cNvSpPr/>
          <p:nvPr/>
        </p:nvSpPr>
        <p:spPr>
          <a:xfrm>
            <a:off x="502920" y="4903013"/>
            <a:ext cx="1005840" cy="738835"/>
          </a:xfrm>
          <a:prstGeom prst="rect">
            <a:avLst/>
          </a:prstGeom>
          <a:solidFill>
            <a:srgbClr val="FFFFFF"/>
          </a:solidFill>
          <a:ln w="12700">
            <a:solidFill>
              <a:srgbClr val="D8DDE6"/>
            </a:solidFill>
            <a:prstDash val="solid"/>
          </a:ln>
        </p:spPr>
      </p:sp>
      <p:sp>
        <p:nvSpPr>
          <p:cNvPr id="41" name="Text 39"/>
          <p:cNvSpPr/>
          <p:nvPr/>
        </p:nvSpPr>
        <p:spPr>
          <a:xfrm>
            <a:off x="594360" y="4903013"/>
            <a:ext cx="822960" cy="738835"/>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IPP 9</a:t>
            </a:r>
            <a:endParaRPr lang="en-US" sz="1500" dirty="0"/>
          </a:p>
        </p:txBody>
      </p:sp>
      <p:sp>
        <p:nvSpPr>
          <p:cNvPr id="42" name="Shape 40"/>
          <p:cNvSpPr/>
          <p:nvPr/>
        </p:nvSpPr>
        <p:spPr>
          <a:xfrm>
            <a:off x="1508760" y="4903013"/>
            <a:ext cx="2926080" cy="738835"/>
          </a:xfrm>
          <a:prstGeom prst="rect">
            <a:avLst/>
          </a:prstGeom>
          <a:solidFill>
            <a:srgbClr val="FFFFFF"/>
          </a:solidFill>
          <a:ln w="12700">
            <a:solidFill>
              <a:srgbClr val="D8DDE6"/>
            </a:solidFill>
            <a:prstDash val="solid"/>
          </a:ln>
        </p:spPr>
      </p:sp>
      <p:sp>
        <p:nvSpPr>
          <p:cNvPr id="43" name="Text 41"/>
          <p:cNvSpPr/>
          <p:nvPr/>
        </p:nvSpPr>
        <p:spPr>
          <a:xfrm>
            <a:off x="1600200" y="4903013"/>
            <a:ext cx="274320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Transborder data flows</a:t>
            </a:r>
            <a:endParaRPr lang="en-US" sz="1500" dirty="0"/>
          </a:p>
        </p:txBody>
      </p:sp>
      <p:sp>
        <p:nvSpPr>
          <p:cNvPr id="44" name="Shape 42"/>
          <p:cNvSpPr/>
          <p:nvPr/>
        </p:nvSpPr>
        <p:spPr>
          <a:xfrm>
            <a:off x="4434840" y="4903013"/>
            <a:ext cx="7223760" cy="738835"/>
          </a:xfrm>
          <a:prstGeom prst="rect">
            <a:avLst/>
          </a:prstGeom>
          <a:solidFill>
            <a:srgbClr val="FFFFFF"/>
          </a:solidFill>
          <a:ln w="12700">
            <a:solidFill>
              <a:srgbClr val="D8DDE6"/>
            </a:solidFill>
            <a:prstDash val="solid"/>
          </a:ln>
        </p:spPr>
      </p:sp>
      <p:sp>
        <p:nvSpPr>
          <p:cNvPr id="45" name="Text 43"/>
          <p:cNvSpPr/>
          <p:nvPr/>
        </p:nvSpPr>
        <p:spPr>
          <a:xfrm>
            <a:off x="4526280" y="4903013"/>
            <a:ext cx="7040880" cy="738835"/>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If personal information travels outside Victoria, its privacy protections must travel with it.</a:t>
            </a:r>
            <a:endParaRPr lang="en-US" sz="1500" dirty="0"/>
          </a:p>
        </p:txBody>
      </p:sp>
      <p:sp>
        <p:nvSpPr>
          <p:cNvPr id="46" name="Shape 44"/>
          <p:cNvSpPr/>
          <p:nvPr/>
        </p:nvSpPr>
        <p:spPr>
          <a:xfrm>
            <a:off x="502920" y="5724144"/>
            <a:ext cx="11155680" cy="777240"/>
          </a:xfrm>
          <a:prstGeom prst="roundRect">
            <a:avLst>
              <a:gd name="adj" fmla="val 10588"/>
            </a:avLst>
          </a:prstGeom>
          <a:solidFill>
            <a:srgbClr val="F3EEFE"/>
          </a:solidFill>
          <a:ln w="12700">
            <a:solidFill>
              <a:srgbClr val="8B5CF6"/>
            </a:solidFill>
            <a:prstDash val="solid"/>
          </a:ln>
        </p:spPr>
      </p:sp>
      <p:sp>
        <p:nvSpPr>
          <p:cNvPr id="47" name="Text 45"/>
          <p:cNvSpPr/>
          <p:nvPr/>
        </p:nvSpPr>
        <p:spPr>
          <a:xfrm>
            <a:off x="822960" y="5724144"/>
            <a:ext cx="10515600" cy="777240"/>
          </a:xfrm>
          <a:prstGeom prst="rect">
            <a:avLst/>
          </a:prstGeom>
          <a:noFill/>
          <a:ln/>
        </p:spPr>
        <p:txBody>
          <a:bodyPr wrap="square" lIns="0" tIns="0" rIns="0" bIns="0" rtlCol="0" anchor="ctr"/>
          <a:lstStyle/>
          <a:p>
            <a:pPr indent="0" marL="0">
              <a:buNone/>
            </a:pPr>
            <a:r>
              <a:rPr lang="en-US" sz="1550" dirty="0">
                <a:solidFill>
                  <a:srgbClr val="111827"/>
                </a:solidFill>
                <a:latin typeface="Calibri" pitchFamily="34" charset="0"/>
                <a:ea typeface="Calibri" pitchFamily="34" charset="-122"/>
                <a:cs typeface="Calibri" pitchFamily="34" charset="-120"/>
              </a:rPr>
              <a:t>It replaced the Information Privacy Act 2000 and created the Privacy and Data Protection Commissioner. A penalty unit is a fixed dollar amount indexed each financial year, so the Act never has to name a figure that would date.</a:t>
            </a:r>
            <a:endParaRPr lang="en-US" sz="15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Discussion — which Act, and which principle?</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8 minutes · groups of three</a:t>
            </a:r>
            <a:endParaRPr lang="en-US" sz="1500" dirty="0"/>
          </a:p>
        </p:txBody>
      </p:sp>
      <p:sp>
        <p:nvSpPr>
          <p:cNvPr id="8" name="Shape 6"/>
          <p:cNvSpPr/>
          <p:nvPr/>
        </p:nvSpPr>
        <p:spPr>
          <a:xfrm>
            <a:off x="502920" y="1298448"/>
            <a:ext cx="11155680" cy="868680"/>
          </a:xfrm>
          <a:prstGeom prst="roundRect">
            <a:avLst>
              <a:gd name="adj" fmla="val 9474"/>
            </a:avLst>
          </a:prstGeom>
          <a:solidFill>
            <a:srgbClr val="EEF2FE"/>
          </a:solidFill>
          <a:ln w="12700">
            <a:solidFill>
              <a:srgbClr val="4361EE"/>
            </a:solidFill>
            <a:prstDash val="solid"/>
          </a:ln>
        </p:spPr>
      </p:sp>
      <p:sp>
        <p:nvSpPr>
          <p:cNvPr id="9" name="Text 7"/>
          <p:cNvSpPr/>
          <p:nvPr/>
        </p:nvSpPr>
        <p:spPr>
          <a:xfrm>
            <a:off x="804672" y="1298448"/>
            <a:ext cx="10552176" cy="868680"/>
          </a:xfrm>
          <a:prstGeom prst="rect">
            <a:avLst/>
          </a:prstGeom>
          <a:noFill/>
          <a:ln/>
        </p:spPr>
        <p:txBody>
          <a:bodyPr wrap="square" lIns="0" tIns="0" rIns="0" bIns="0" rtlCol="0" anchor="ctr"/>
          <a:lstStyle/>
          <a:p>
            <a:pPr indent="0" marL="0">
              <a:lnSpc>
                <a:spcPct val="120000"/>
              </a:lnSpc>
              <a:buNone/>
            </a:pPr>
            <a:r>
              <a:rPr lang="en-US" sz="1800" dirty="0">
                <a:solidFill>
                  <a:srgbClr val="111827"/>
                </a:solidFill>
                <a:latin typeface="Calibri" pitchFamily="34" charset="0"/>
                <a:ea typeface="Calibri" pitchFamily="34" charset="-122"/>
                <a:cs typeface="Calibri" pitchFamily="34" charset="-120"/>
              </a:rPr>
              <a:t>For each organisation: name the Act that applies, the specific principle at issue, and one sentence on what has gone wrong. Some may be caught by more than one instrument.</a:t>
            </a:r>
            <a:endParaRPr lang="en-US" sz="1800" dirty="0"/>
          </a:p>
        </p:txBody>
      </p:sp>
      <p:sp>
        <p:nvSpPr>
          <p:cNvPr id="10" name="Shape 8"/>
          <p:cNvSpPr/>
          <p:nvPr/>
        </p:nvSpPr>
        <p:spPr>
          <a:xfrm>
            <a:off x="502920" y="2386584"/>
            <a:ext cx="2686050" cy="2743200"/>
          </a:xfrm>
          <a:prstGeom prst="roundRect">
            <a:avLst>
              <a:gd name="adj" fmla="val 3064"/>
            </a:avLst>
          </a:prstGeom>
          <a:solidFill>
            <a:srgbClr val="FFFFFF"/>
          </a:solidFill>
          <a:ln w="12700">
            <a:solidFill>
              <a:srgbClr val="D8DDE6"/>
            </a:solidFill>
            <a:prstDash val="solid"/>
          </a:ln>
        </p:spPr>
      </p:sp>
      <p:sp>
        <p:nvSpPr>
          <p:cNvPr id="11" name="Shape 9"/>
          <p:cNvSpPr/>
          <p:nvPr/>
        </p:nvSpPr>
        <p:spPr>
          <a:xfrm>
            <a:off x="704088" y="2569464"/>
            <a:ext cx="411480" cy="411480"/>
          </a:xfrm>
          <a:prstGeom prst="ellipse">
            <a:avLst/>
          </a:prstGeom>
          <a:solidFill>
            <a:srgbClr val="5B6472"/>
          </a:solidFill>
          <a:ln/>
        </p:spPr>
      </p:sp>
      <p:sp>
        <p:nvSpPr>
          <p:cNvPr id="12" name="Text 10"/>
          <p:cNvSpPr/>
          <p:nvPr/>
        </p:nvSpPr>
        <p:spPr>
          <a:xfrm>
            <a:off x="704088" y="256946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1</a:t>
            </a:r>
            <a:endParaRPr lang="en-US" sz="1300" dirty="0"/>
          </a:p>
        </p:txBody>
      </p:sp>
      <p:sp>
        <p:nvSpPr>
          <p:cNvPr id="13" name="Text 11"/>
          <p:cNvSpPr/>
          <p:nvPr/>
        </p:nvSpPr>
        <p:spPr>
          <a:xfrm>
            <a:off x="704088" y="3099816"/>
            <a:ext cx="2283714" cy="1234440"/>
          </a:xfrm>
          <a:prstGeom prst="rect">
            <a:avLst/>
          </a:prstGeom>
          <a:noFill/>
          <a:ln/>
        </p:spPr>
        <p:txBody>
          <a:bodyPr wrap="square" lIns="0" tIns="0" rIns="0" bIns="0" rtlCol="0" anchor="t"/>
          <a:lstStyle/>
          <a:p>
            <a:pPr indent="0" marL="0">
              <a:lnSpc>
                <a:spcPct val="115000"/>
              </a:lnSpc>
              <a:buNone/>
            </a:pPr>
            <a:r>
              <a:rPr lang="en-US" sz="1600" b="1" dirty="0">
                <a:solidFill>
                  <a:srgbClr val="111827"/>
                </a:solidFill>
                <a:latin typeface="Calibri" pitchFamily="34" charset="0"/>
                <a:ea typeface="Calibri" pitchFamily="34" charset="-122"/>
                <a:cs typeface="Calibri" pitchFamily="34" charset="-120"/>
              </a:rPr>
              <a:t>A ticketing company, $9m turnover, stores unencrypted customer records on a shared drive.</a:t>
            </a:r>
            <a:endParaRPr lang="en-US" sz="1600" dirty="0"/>
          </a:p>
        </p:txBody>
      </p:sp>
      <p:sp>
        <p:nvSpPr>
          <p:cNvPr id="14" name="Text 12"/>
          <p:cNvSpPr/>
          <p:nvPr/>
        </p:nvSpPr>
        <p:spPr>
          <a:xfrm>
            <a:off x="704088" y="4352544"/>
            <a:ext cx="2283714" cy="640080"/>
          </a:xfrm>
          <a:prstGeom prst="rect">
            <a:avLst/>
          </a:prstGeom>
          <a:noFill/>
          <a:ln/>
        </p:spPr>
        <p:txBody>
          <a:bodyPr wrap="square" lIns="0" tIns="0" rIns="0" bIns="0" rtlCol="0" anchor="t"/>
          <a:lstStyle/>
          <a:p>
            <a:pPr indent="0" marL="0">
              <a:lnSpc>
                <a:spcPct val="115000"/>
              </a:lnSpc>
              <a:buNone/>
            </a:pPr>
            <a:r>
              <a:rPr lang="en-US" sz="1500" i="1" dirty="0">
                <a:solidFill>
                  <a:srgbClr val="5B6472"/>
                </a:solidFill>
                <a:latin typeface="Calibri" pitchFamily="34" charset="0"/>
                <a:ea typeface="Calibri" pitchFamily="34" charset="-122"/>
                <a:cs typeface="Calibri" pitchFamily="34" charset="-120"/>
              </a:rPr>
              <a:t>No access log exists. Six former staff still have accounts.</a:t>
            </a:r>
            <a:endParaRPr lang="en-US" sz="1500" dirty="0"/>
          </a:p>
        </p:txBody>
      </p:sp>
      <p:sp>
        <p:nvSpPr>
          <p:cNvPr id="15" name="Shape 13"/>
          <p:cNvSpPr/>
          <p:nvPr/>
        </p:nvSpPr>
        <p:spPr>
          <a:xfrm>
            <a:off x="3326130" y="2386584"/>
            <a:ext cx="2686050" cy="2743200"/>
          </a:xfrm>
          <a:prstGeom prst="roundRect">
            <a:avLst>
              <a:gd name="adj" fmla="val 3064"/>
            </a:avLst>
          </a:prstGeom>
          <a:solidFill>
            <a:srgbClr val="FFFFFF"/>
          </a:solidFill>
          <a:ln w="12700">
            <a:solidFill>
              <a:srgbClr val="D8DDE6"/>
            </a:solidFill>
            <a:prstDash val="solid"/>
          </a:ln>
        </p:spPr>
      </p:sp>
      <p:sp>
        <p:nvSpPr>
          <p:cNvPr id="16" name="Shape 14"/>
          <p:cNvSpPr/>
          <p:nvPr/>
        </p:nvSpPr>
        <p:spPr>
          <a:xfrm>
            <a:off x="3527298" y="2569464"/>
            <a:ext cx="411480" cy="411480"/>
          </a:xfrm>
          <a:prstGeom prst="ellipse">
            <a:avLst/>
          </a:prstGeom>
          <a:solidFill>
            <a:srgbClr val="5B6472"/>
          </a:solidFill>
          <a:ln/>
        </p:spPr>
      </p:sp>
      <p:sp>
        <p:nvSpPr>
          <p:cNvPr id="17" name="Text 15"/>
          <p:cNvSpPr/>
          <p:nvPr/>
        </p:nvSpPr>
        <p:spPr>
          <a:xfrm>
            <a:off x="3527298" y="256946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2</a:t>
            </a:r>
            <a:endParaRPr lang="en-US" sz="1300" dirty="0"/>
          </a:p>
        </p:txBody>
      </p:sp>
      <p:sp>
        <p:nvSpPr>
          <p:cNvPr id="18" name="Text 16"/>
          <p:cNvSpPr/>
          <p:nvPr/>
        </p:nvSpPr>
        <p:spPr>
          <a:xfrm>
            <a:off x="3527298" y="3099816"/>
            <a:ext cx="2283714" cy="1234440"/>
          </a:xfrm>
          <a:prstGeom prst="rect">
            <a:avLst/>
          </a:prstGeom>
          <a:noFill/>
          <a:ln/>
        </p:spPr>
        <p:txBody>
          <a:bodyPr wrap="square" lIns="0" tIns="0" rIns="0" bIns="0" rtlCol="0" anchor="t"/>
          <a:lstStyle/>
          <a:p>
            <a:pPr indent="0" marL="0">
              <a:lnSpc>
                <a:spcPct val="115000"/>
              </a:lnSpc>
              <a:buNone/>
            </a:pPr>
            <a:r>
              <a:rPr lang="en-US" sz="1600" b="1" dirty="0">
                <a:solidFill>
                  <a:srgbClr val="111827"/>
                </a:solidFill>
                <a:latin typeface="Calibri" pitchFamily="34" charset="0"/>
                <a:ea typeface="Calibri" pitchFamily="34" charset="-122"/>
                <a:cs typeface="Calibri" pitchFamily="34" charset="-120"/>
              </a:rPr>
              <a:t>A Victorian council's app sends resident addresses to an analytics provider hosted in Singapore.</a:t>
            </a:r>
            <a:endParaRPr lang="en-US" sz="1600" dirty="0"/>
          </a:p>
        </p:txBody>
      </p:sp>
      <p:sp>
        <p:nvSpPr>
          <p:cNvPr id="19" name="Text 17"/>
          <p:cNvSpPr/>
          <p:nvPr/>
        </p:nvSpPr>
        <p:spPr>
          <a:xfrm>
            <a:off x="3527298" y="4352544"/>
            <a:ext cx="2283714" cy="640080"/>
          </a:xfrm>
          <a:prstGeom prst="rect">
            <a:avLst/>
          </a:prstGeom>
          <a:noFill/>
          <a:ln/>
        </p:spPr>
        <p:txBody>
          <a:bodyPr wrap="square" lIns="0" tIns="0" rIns="0" bIns="0" rtlCol="0" anchor="t"/>
          <a:lstStyle/>
          <a:p>
            <a:pPr indent="0" marL="0">
              <a:lnSpc>
                <a:spcPct val="115000"/>
              </a:lnSpc>
              <a:buNone/>
            </a:pPr>
            <a:r>
              <a:rPr lang="en-US" sz="1500" i="1" dirty="0">
                <a:solidFill>
                  <a:srgbClr val="5B6472"/>
                </a:solidFill>
                <a:latin typeface="Calibri" pitchFamily="34" charset="0"/>
                <a:ea typeface="Calibri" pitchFamily="34" charset="-122"/>
                <a:cs typeface="Calibri" pitchFamily="34" charset="-120"/>
              </a:rPr>
              <a:t>The provider's contract says nothing about privacy obligations.</a:t>
            </a:r>
            <a:endParaRPr lang="en-US" sz="1500" dirty="0"/>
          </a:p>
        </p:txBody>
      </p:sp>
      <p:sp>
        <p:nvSpPr>
          <p:cNvPr id="20" name="Shape 18"/>
          <p:cNvSpPr/>
          <p:nvPr/>
        </p:nvSpPr>
        <p:spPr>
          <a:xfrm>
            <a:off x="6149340" y="2386584"/>
            <a:ext cx="2686050" cy="2743200"/>
          </a:xfrm>
          <a:prstGeom prst="roundRect">
            <a:avLst>
              <a:gd name="adj" fmla="val 3064"/>
            </a:avLst>
          </a:prstGeom>
          <a:solidFill>
            <a:srgbClr val="FFFFFF"/>
          </a:solidFill>
          <a:ln w="12700">
            <a:solidFill>
              <a:srgbClr val="D8DDE6"/>
            </a:solidFill>
            <a:prstDash val="solid"/>
          </a:ln>
        </p:spPr>
      </p:sp>
      <p:sp>
        <p:nvSpPr>
          <p:cNvPr id="21" name="Shape 19"/>
          <p:cNvSpPr/>
          <p:nvPr/>
        </p:nvSpPr>
        <p:spPr>
          <a:xfrm>
            <a:off x="6350508" y="2569464"/>
            <a:ext cx="411480" cy="411480"/>
          </a:xfrm>
          <a:prstGeom prst="ellipse">
            <a:avLst/>
          </a:prstGeom>
          <a:solidFill>
            <a:srgbClr val="5B6472"/>
          </a:solidFill>
          <a:ln/>
        </p:spPr>
      </p:sp>
      <p:sp>
        <p:nvSpPr>
          <p:cNvPr id="22" name="Text 20"/>
          <p:cNvSpPr/>
          <p:nvPr/>
        </p:nvSpPr>
        <p:spPr>
          <a:xfrm>
            <a:off x="6350508" y="256946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23" name="Text 21"/>
          <p:cNvSpPr/>
          <p:nvPr/>
        </p:nvSpPr>
        <p:spPr>
          <a:xfrm>
            <a:off x="6350508" y="3099816"/>
            <a:ext cx="2283714" cy="1234440"/>
          </a:xfrm>
          <a:prstGeom prst="rect">
            <a:avLst/>
          </a:prstGeom>
          <a:noFill/>
          <a:ln/>
        </p:spPr>
        <p:txBody>
          <a:bodyPr wrap="square" lIns="0" tIns="0" rIns="0" bIns="0" rtlCol="0" anchor="t"/>
          <a:lstStyle/>
          <a:p>
            <a:pPr indent="0" marL="0">
              <a:lnSpc>
                <a:spcPct val="115000"/>
              </a:lnSpc>
              <a:buNone/>
            </a:pPr>
            <a:r>
              <a:rPr lang="en-US" sz="1600" b="1" dirty="0">
                <a:solidFill>
                  <a:srgbClr val="111827"/>
                </a:solidFill>
                <a:latin typeface="Calibri" pitchFamily="34" charset="0"/>
                <a:ea typeface="Calibri" pitchFamily="34" charset="-122"/>
                <a:cs typeface="Calibri" pitchFamily="34" charset="-120"/>
              </a:rPr>
              <a:t>A start-up ships a product built on a library whose licence requires source code release.</a:t>
            </a:r>
            <a:endParaRPr lang="en-US" sz="1600" dirty="0"/>
          </a:p>
        </p:txBody>
      </p:sp>
      <p:sp>
        <p:nvSpPr>
          <p:cNvPr id="24" name="Text 22"/>
          <p:cNvSpPr/>
          <p:nvPr/>
        </p:nvSpPr>
        <p:spPr>
          <a:xfrm>
            <a:off x="6350508" y="4352544"/>
            <a:ext cx="2283714" cy="640080"/>
          </a:xfrm>
          <a:prstGeom prst="rect">
            <a:avLst/>
          </a:prstGeom>
          <a:noFill/>
          <a:ln/>
        </p:spPr>
        <p:txBody>
          <a:bodyPr wrap="square" lIns="0" tIns="0" rIns="0" bIns="0" rtlCol="0" anchor="t"/>
          <a:lstStyle/>
          <a:p>
            <a:pPr indent="0" marL="0">
              <a:lnSpc>
                <a:spcPct val="115000"/>
              </a:lnSpc>
              <a:buNone/>
            </a:pPr>
            <a:r>
              <a:rPr lang="en-US" sz="1500" i="1" dirty="0">
                <a:solidFill>
                  <a:srgbClr val="5B6472"/>
                </a:solidFill>
                <a:latin typeface="Calibri" pitchFamily="34" charset="0"/>
                <a:ea typeface="Calibri" pitchFamily="34" charset="-122"/>
                <a:cs typeface="Calibri" pitchFamily="34" charset="-120"/>
              </a:rPr>
              <a:t>The team never read the licence. Turnover is $600,000.</a:t>
            </a:r>
            <a:endParaRPr lang="en-US" sz="1500" dirty="0"/>
          </a:p>
        </p:txBody>
      </p:sp>
      <p:sp>
        <p:nvSpPr>
          <p:cNvPr id="25" name="Shape 23"/>
          <p:cNvSpPr/>
          <p:nvPr/>
        </p:nvSpPr>
        <p:spPr>
          <a:xfrm>
            <a:off x="8972550" y="2386584"/>
            <a:ext cx="2686050" cy="2743200"/>
          </a:xfrm>
          <a:prstGeom prst="roundRect">
            <a:avLst>
              <a:gd name="adj" fmla="val 3064"/>
            </a:avLst>
          </a:prstGeom>
          <a:solidFill>
            <a:srgbClr val="FFFFFF"/>
          </a:solidFill>
          <a:ln w="12700">
            <a:solidFill>
              <a:srgbClr val="D8DDE6"/>
            </a:solidFill>
            <a:prstDash val="solid"/>
          </a:ln>
        </p:spPr>
      </p:sp>
      <p:sp>
        <p:nvSpPr>
          <p:cNvPr id="26" name="Shape 24"/>
          <p:cNvSpPr/>
          <p:nvPr/>
        </p:nvSpPr>
        <p:spPr>
          <a:xfrm>
            <a:off x="9173718" y="2569464"/>
            <a:ext cx="411480" cy="411480"/>
          </a:xfrm>
          <a:prstGeom prst="ellipse">
            <a:avLst/>
          </a:prstGeom>
          <a:solidFill>
            <a:srgbClr val="5B6472"/>
          </a:solidFill>
          <a:ln/>
        </p:spPr>
      </p:sp>
      <p:sp>
        <p:nvSpPr>
          <p:cNvPr id="27" name="Text 25"/>
          <p:cNvSpPr/>
          <p:nvPr/>
        </p:nvSpPr>
        <p:spPr>
          <a:xfrm>
            <a:off x="9173718" y="256946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4</a:t>
            </a:r>
            <a:endParaRPr lang="en-US" sz="1300" dirty="0"/>
          </a:p>
        </p:txBody>
      </p:sp>
      <p:sp>
        <p:nvSpPr>
          <p:cNvPr id="28" name="Text 26"/>
          <p:cNvSpPr/>
          <p:nvPr/>
        </p:nvSpPr>
        <p:spPr>
          <a:xfrm>
            <a:off x="9173718" y="3099816"/>
            <a:ext cx="2283714" cy="1234440"/>
          </a:xfrm>
          <a:prstGeom prst="rect">
            <a:avLst/>
          </a:prstGeom>
          <a:noFill/>
          <a:ln/>
        </p:spPr>
        <p:txBody>
          <a:bodyPr wrap="square" lIns="0" tIns="0" rIns="0" bIns="0" rtlCol="0" anchor="t"/>
          <a:lstStyle/>
          <a:p>
            <a:pPr indent="0" marL="0">
              <a:lnSpc>
                <a:spcPct val="115000"/>
              </a:lnSpc>
              <a:buNone/>
            </a:pPr>
            <a:r>
              <a:rPr lang="en-US" sz="1600" b="1" dirty="0">
                <a:solidFill>
                  <a:srgbClr val="111827"/>
                </a:solidFill>
                <a:latin typeface="Calibri" pitchFamily="34" charset="0"/>
                <a:ea typeface="Calibri" pitchFamily="34" charset="-122"/>
                <a:cs typeface="Calibri" pitchFamily="34" charset="-120"/>
              </a:rPr>
              <a:t>A health clinic reuses appointment data collected for bookings to build a marketing list.</a:t>
            </a:r>
            <a:endParaRPr lang="en-US" sz="1600" dirty="0"/>
          </a:p>
        </p:txBody>
      </p:sp>
      <p:sp>
        <p:nvSpPr>
          <p:cNvPr id="29" name="Text 27"/>
          <p:cNvSpPr/>
          <p:nvPr/>
        </p:nvSpPr>
        <p:spPr>
          <a:xfrm>
            <a:off x="9173718" y="4352544"/>
            <a:ext cx="2283714" cy="640080"/>
          </a:xfrm>
          <a:prstGeom prst="rect">
            <a:avLst/>
          </a:prstGeom>
          <a:noFill/>
          <a:ln/>
        </p:spPr>
        <p:txBody>
          <a:bodyPr wrap="square" lIns="0" tIns="0" rIns="0" bIns="0" rtlCol="0" anchor="t"/>
          <a:lstStyle/>
          <a:p>
            <a:pPr indent="0" marL="0">
              <a:lnSpc>
                <a:spcPct val="115000"/>
              </a:lnSpc>
              <a:buNone/>
            </a:pPr>
            <a:r>
              <a:rPr lang="en-US" sz="1500" i="1" dirty="0">
                <a:solidFill>
                  <a:srgbClr val="5B6472"/>
                </a:solidFill>
                <a:latin typeface="Calibri" pitchFamily="34" charset="0"/>
                <a:ea typeface="Calibri" pitchFamily="34" charset="-122"/>
                <a:cs typeface="Calibri" pitchFamily="34" charset="-120"/>
              </a:rPr>
              <a:t>Patients were told the data was for scheduling only.</a:t>
            </a:r>
            <a:endParaRPr lang="en-US" sz="1500" dirty="0"/>
          </a:p>
        </p:txBody>
      </p:sp>
      <p:sp>
        <p:nvSpPr>
          <p:cNvPr id="30" name="Shape 28"/>
          <p:cNvSpPr/>
          <p:nvPr/>
        </p:nvSpPr>
        <p:spPr>
          <a:xfrm>
            <a:off x="502920" y="5276088"/>
            <a:ext cx="11155680" cy="777240"/>
          </a:xfrm>
          <a:prstGeom prst="roundRect">
            <a:avLst>
              <a:gd name="adj" fmla="val 10588"/>
            </a:avLst>
          </a:prstGeom>
          <a:solidFill>
            <a:srgbClr val="FFFFFF"/>
          </a:solidFill>
          <a:ln w="12700">
            <a:solidFill>
              <a:srgbClr val="8B5CF6"/>
            </a:solidFill>
            <a:prstDash val="solid"/>
          </a:ln>
        </p:spPr>
      </p:sp>
      <p:sp>
        <p:nvSpPr>
          <p:cNvPr id="31" name="Text 29"/>
          <p:cNvSpPr/>
          <p:nvPr/>
        </p:nvSpPr>
        <p:spPr>
          <a:xfrm>
            <a:off x="822960" y="5276088"/>
            <a:ext cx="10515600" cy="777240"/>
          </a:xfrm>
          <a:prstGeom prst="rect">
            <a:avLst/>
          </a:prstGeom>
          <a:noFill/>
          <a:ln/>
        </p:spPr>
        <p:txBody>
          <a:bodyPr wrap="square" lIns="0" tIns="0" rIns="0" bIns="0" rtlCol="0" anchor="ctr"/>
          <a:lstStyle/>
          <a:p>
            <a:pPr indent="0" marL="0">
              <a:lnSpc>
                <a:spcPct val="120000"/>
              </a:lnSpc>
              <a:buNone/>
            </a:pPr>
            <a:r>
              <a:rPr lang="en-US" sz="1700" b="1" dirty="0">
                <a:solidFill>
                  <a:srgbClr val="8B5CF6"/>
                </a:solidFill>
                <a:latin typeface="Calibri" pitchFamily="34" charset="0"/>
                <a:ea typeface="Calibri" pitchFamily="34" charset="-122"/>
                <a:cs typeface="Calibri" pitchFamily="34" charset="-120"/>
              </a:rPr>
              <a:t>Extending: case 3 has a turnover below the Privacy Act threshold. Does that mean the start-up has no legal exposure at all?</a:t>
            </a:r>
            <a:endParaRPr lang="en-US"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5B6472"/>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BREAK</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Shape 4"/>
          <p:cNvSpPr/>
          <p:nvPr/>
        </p:nvSpPr>
        <p:spPr>
          <a:xfrm>
            <a:off x="2194560" y="1737360"/>
            <a:ext cx="7772400" cy="3429000"/>
          </a:xfrm>
          <a:prstGeom prst="roundRect">
            <a:avLst>
              <a:gd name="adj" fmla="val 2400"/>
            </a:avLst>
          </a:prstGeom>
          <a:solidFill>
            <a:srgbClr val="F4F6FB"/>
          </a:solidFill>
          <a:ln w="12700">
            <a:solidFill>
              <a:srgbClr val="D8DDE6"/>
            </a:solidFill>
            <a:prstDash val="solid"/>
          </a:ln>
        </p:spPr>
      </p:sp>
      <p:sp>
        <p:nvSpPr>
          <p:cNvPr id="7" name="Text 5"/>
          <p:cNvSpPr/>
          <p:nvPr/>
        </p:nvSpPr>
        <p:spPr>
          <a:xfrm>
            <a:off x="2194560" y="2103120"/>
            <a:ext cx="7772400" cy="731520"/>
          </a:xfrm>
          <a:prstGeom prst="rect">
            <a:avLst/>
          </a:prstGeom>
          <a:noFill/>
          <a:ln/>
        </p:spPr>
        <p:txBody>
          <a:bodyPr wrap="square" lIns="0" tIns="0" rIns="0" bIns="0" rtlCol="0" anchor="ctr"/>
          <a:lstStyle/>
          <a:p>
            <a:pPr algn="ctr" indent="0" marL="0">
              <a:buNone/>
            </a:pPr>
            <a:r>
              <a:rPr lang="en-US" sz="4000" b="1" dirty="0">
                <a:solidFill>
                  <a:srgbClr val="111827"/>
                </a:solidFill>
                <a:latin typeface="Bookman Old Style" pitchFamily="34" charset="0"/>
                <a:ea typeface="Bookman Old Style" pitchFamily="34" charset="-122"/>
                <a:cs typeface="Bookman Old Style" pitchFamily="34" charset="-120"/>
              </a:rPr>
              <a:t>Brain break</a:t>
            </a:r>
            <a:endParaRPr lang="en-US" sz="4000" dirty="0"/>
          </a:p>
        </p:txBody>
      </p:sp>
      <p:sp>
        <p:nvSpPr>
          <p:cNvPr id="8" name="Text 6"/>
          <p:cNvSpPr/>
          <p:nvPr/>
        </p:nvSpPr>
        <p:spPr>
          <a:xfrm>
            <a:off x="2194560" y="2926080"/>
            <a:ext cx="7772400" cy="457200"/>
          </a:xfrm>
          <a:prstGeom prst="rect">
            <a:avLst/>
          </a:prstGeom>
          <a:noFill/>
          <a:ln/>
        </p:spPr>
        <p:txBody>
          <a:bodyPr wrap="square" lIns="0" tIns="0" rIns="0" bIns="0" rtlCol="0" anchor="ctr"/>
          <a:lstStyle/>
          <a:p>
            <a:pPr algn="ctr" indent="0" marL="0">
              <a:buNone/>
            </a:pPr>
            <a:r>
              <a:rPr lang="en-US" sz="2000" dirty="0">
                <a:solidFill>
                  <a:srgbClr val="5B6472"/>
                </a:solidFill>
                <a:latin typeface="Calibri" pitchFamily="34" charset="0"/>
                <a:ea typeface="Calibri" pitchFamily="34" charset="-122"/>
                <a:cs typeface="Calibri" pitchFamily="34" charset="-120"/>
              </a:rPr>
              <a:t>Two minutes. Stand up, stretch, look out the window.</a:t>
            </a:r>
            <a:endParaRPr lang="en-US" sz="2000" dirty="0"/>
          </a:p>
        </p:txBody>
      </p:sp>
      <p:sp>
        <p:nvSpPr>
          <p:cNvPr id="9" name="Shape 7"/>
          <p:cNvSpPr/>
          <p:nvPr/>
        </p:nvSpPr>
        <p:spPr>
          <a:xfrm>
            <a:off x="3108960" y="3703320"/>
            <a:ext cx="5943600" cy="1005840"/>
          </a:xfrm>
          <a:prstGeom prst="roundRect">
            <a:avLst>
              <a:gd name="adj" fmla="val 8182"/>
            </a:avLst>
          </a:prstGeom>
          <a:solidFill>
            <a:srgbClr val="FFFFFF"/>
          </a:solidFill>
          <a:ln w="12700">
            <a:solidFill>
              <a:srgbClr val="D8DDE6"/>
            </a:solidFill>
            <a:prstDash val="solid"/>
          </a:ln>
        </p:spPr>
      </p:sp>
      <p:sp>
        <p:nvSpPr>
          <p:cNvPr id="10" name="Text 8"/>
          <p:cNvSpPr/>
          <p:nvPr/>
        </p:nvSpPr>
        <p:spPr>
          <a:xfrm>
            <a:off x="3291840" y="3703320"/>
            <a:ext cx="5577840" cy="1005840"/>
          </a:xfrm>
          <a:prstGeom prst="rect">
            <a:avLst/>
          </a:prstGeom>
          <a:noFill/>
          <a:ln/>
        </p:spPr>
        <p:txBody>
          <a:bodyPr wrap="square" lIns="0" tIns="0" rIns="0" bIns="0" rtlCol="0" anchor="ctr"/>
          <a:lstStyle/>
          <a:p>
            <a:pPr algn="ctr" indent="0" marL="0">
              <a:lnSpc>
                <a:spcPct val="120000"/>
              </a:lnSpc>
              <a:buNone/>
            </a:pPr>
            <a:r>
              <a:rPr lang="en-US" sz="1800" dirty="0">
                <a:solidFill>
                  <a:srgbClr val="111827"/>
                </a:solidFill>
                <a:latin typeface="Calibri" pitchFamily="34" charset="0"/>
                <a:ea typeface="Calibri" pitchFamily="34" charset="-122"/>
                <a:cs typeface="Calibri" pitchFamily="34" charset="-120"/>
              </a:rPr>
              <a:t>Coming up: the Essential Eight and the ISM — the frameworks your recommendations should name.</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The Essential Eight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Published by the Australian Cyber Security Centre · guidance, not law</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4206240" cy="438912"/>
          </a:xfrm>
          <a:prstGeom prst="rect">
            <a:avLst/>
          </a:prstGeom>
          <a:solidFill>
            <a:srgbClr val="10B981"/>
          </a:solidFill>
          <a:ln w="12700">
            <a:solidFill>
              <a:srgbClr val="10B981"/>
            </a:solidFill>
            <a:prstDash val="solid"/>
          </a:ln>
        </p:spPr>
      </p:sp>
      <p:sp>
        <p:nvSpPr>
          <p:cNvPr id="11" name="Text 9"/>
          <p:cNvSpPr/>
          <p:nvPr/>
        </p:nvSpPr>
        <p:spPr>
          <a:xfrm>
            <a:off x="502920" y="1508760"/>
            <a:ext cx="42062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Mitigation strategy</a:t>
            </a:r>
            <a:endParaRPr lang="en-US" sz="1200" dirty="0"/>
          </a:p>
        </p:txBody>
      </p:sp>
      <p:sp>
        <p:nvSpPr>
          <p:cNvPr id="12" name="Shape 10"/>
          <p:cNvSpPr/>
          <p:nvPr/>
        </p:nvSpPr>
        <p:spPr>
          <a:xfrm>
            <a:off x="4709160" y="1508760"/>
            <a:ext cx="6949440" cy="438912"/>
          </a:xfrm>
          <a:prstGeom prst="rect">
            <a:avLst/>
          </a:prstGeom>
          <a:solidFill>
            <a:srgbClr val="10B981"/>
          </a:solidFill>
          <a:ln w="12700">
            <a:solidFill>
              <a:srgbClr val="10B981"/>
            </a:solidFill>
            <a:prstDash val="solid"/>
          </a:ln>
        </p:spPr>
      </p:sp>
      <p:sp>
        <p:nvSpPr>
          <p:cNvPr id="13" name="Text 11"/>
          <p:cNvSpPr/>
          <p:nvPr/>
        </p:nvSpPr>
        <p:spPr>
          <a:xfrm>
            <a:off x="4709160" y="1508760"/>
            <a:ext cx="69494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What it does</a:t>
            </a:r>
            <a:endParaRPr lang="en-US" sz="1200" dirty="0"/>
          </a:p>
        </p:txBody>
      </p:sp>
      <p:sp>
        <p:nvSpPr>
          <p:cNvPr id="14" name="Shape 12"/>
          <p:cNvSpPr/>
          <p:nvPr/>
        </p:nvSpPr>
        <p:spPr>
          <a:xfrm>
            <a:off x="502920" y="1947672"/>
            <a:ext cx="4206240" cy="478917"/>
          </a:xfrm>
          <a:prstGeom prst="rect">
            <a:avLst/>
          </a:prstGeom>
          <a:solidFill>
            <a:srgbClr val="FFFFFF"/>
          </a:solidFill>
          <a:ln w="12700">
            <a:solidFill>
              <a:srgbClr val="D8DDE6"/>
            </a:solidFill>
            <a:prstDash val="solid"/>
          </a:ln>
        </p:spPr>
      </p:sp>
      <p:sp>
        <p:nvSpPr>
          <p:cNvPr id="15" name="Text 13"/>
          <p:cNvSpPr/>
          <p:nvPr/>
        </p:nvSpPr>
        <p:spPr>
          <a:xfrm>
            <a:off x="594360" y="1947672"/>
            <a:ext cx="4023360" cy="47891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Application control</a:t>
            </a:r>
            <a:endParaRPr lang="en-US" sz="1500" dirty="0"/>
          </a:p>
        </p:txBody>
      </p:sp>
      <p:sp>
        <p:nvSpPr>
          <p:cNvPr id="16" name="Shape 14"/>
          <p:cNvSpPr/>
          <p:nvPr/>
        </p:nvSpPr>
        <p:spPr>
          <a:xfrm>
            <a:off x="4709160" y="1947672"/>
            <a:ext cx="6949440" cy="478917"/>
          </a:xfrm>
          <a:prstGeom prst="rect">
            <a:avLst/>
          </a:prstGeom>
          <a:solidFill>
            <a:srgbClr val="FFFFFF"/>
          </a:solidFill>
          <a:ln w="12700">
            <a:solidFill>
              <a:srgbClr val="D8DDE6"/>
            </a:solidFill>
            <a:prstDash val="solid"/>
          </a:ln>
        </p:spPr>
      </p:sp>
      <p:sp>
        <p:nvSpPr>
          <p:cNvPr id="17" name="Text 15"/>
          <p:cNvSpPr/>
          <p:nvPr/>
        </p:nvSpPr>
        <p:spPr>
          <a:xfrm>
            <a:off x="4800600" y="1947672"/>
            <a:ext cx="6766560" cy="47891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Allow only approved executables to run</a:t>
            </a:r>
            <a:endParaRPr lang="en-US" sz="1500" dirty="0"/>
          </a:p>
        </p:txBody>
      </p:sp>
      <p:sp>
        <p:nvSpPr>
          <p:cNvPr id="18" name="Shape 16"/>
          <p:cNvSpPr/>
          <p:nvPr/>
        </p:nvSpPr>
        <p:spPr>
          <a:xfrm>
            <a:off x="502920" y="2426589"/>
            <a:ext cx="4206240" cy="478917"/>
          </a:xfrm>
          <a:prstGeom prst="rect">
            <a:avLst/>
          </a:prstGeom>
          <a:solidFill>
            <a:srgbClr val="F4F6FB"/>
          </a:solidFill>
          <a:ln w="12700">
            <a:solidFill>
              <a:srgbClr val="D8DDE6"/>
            </a:solidFill>
            <a:prstDash val="solid"/>
          </a:ln>
        </p:spPr>
      </p:sp>
      <p:sp>
        <p:nvSpPr>
          <p:cNvPr id="19" name="Text 17"/>
          <p:cNvSpPr/>
          <p:nvPr/>
        </p:nvSpPr>
        <p:spPr>
          <a:xfrm>
            <a:off x="594360" y="2426589"/>
            <a:ext cx="4023360" cy="47891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Patch applications</a:t>
            </a:r>
            <a:endParaRPr lang="en-US" sz="1500" dirty="0"/>
          </a:p>
        </p:txBody>
      </p:sp>
      <p:sp>
        <p:nvSpPr>
          <p:cNvPr id="20" name="Shape 18"/>
          <p:cNvSpPr/>
          <p:nvPr/>
        </p:nvSpPr>
        <p:spPr>
          <a:xfrm>
            <a:off x="4709160" y="2426589"/>
            <a:ext cx="6949440" cy="478917"/>
          </a:xfrm>
          <a:prstGeom prst="rect">
            <a:avLst/>
          </a:prstGeom>
          <a:solidFill>
            <a:srgbClr val="F4F6FB"/>
          </a:solidFill>
          <a:ln w="12700">
            <a:solidFill>
              <a:srgbClr val="D8DDE6"/>
            </a:solidFill>
            <a:prstDash val="solid"/>
          </a:ln>
        </p:spPr>
      </p:sp>
      <p:sp>
        <p:nvSpPr>
          <p:cNvPr id="21" name="Text 19"/>
          <p:cNvSpPr/>
          <p:nvPr/>
        </p:nvSpPr>
        <p:spPr>
          <a:xfrm>
            <a:off x="4800600" y="2426589"/>
            <a:ext cx="6766560" cy="47891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Update software to address known vulnerabilities</a:t>
            </a:r>
            <a:endParaRPr lang="en-US" sz="1500" dirty="0"/>
          </a:p>
        </p:txBody>
      </p:sp>
      <p:sp>
        <p:nvSpPr>
          <p:cNvPr id="22" name="Shape 20"/>
          <p:cNvSpPr/>
          <p:nvPr/>
        </p:nvSpPr>
        <p:spPr>
          <a:xfrm>
            <a:off x="502920" y="2905506"/>
            <a:ext cx="4206240" cy="478917"/>
          </a:xfrm>
          <a:prstGeom prst="rect">
            <a:avLst/>
          </a:prstGeom>
          <a:solidFill>
            <a:srgbClr val="FFFFFF"/>
          </a:solidFill>
          <a:ln w="12700">
            <a:solidFill>
              <a:srgbClr val="D8DDE6"/>
            </a:solidFill>
            <a:prstDash val="solid"/>
          </a:ln>
        </p:spPr>
      </p:sp>
      <p:sp>
        <p:nvSpPr>
          <p:cNvPr id="23" name="Text 21"/>
          <p:cNvSpPr/>
          <p:nvPr/>
        </p:nvSpPr>
        <p:spPr>
          <a:xfrm>
            <a:off x="594360" y="2905506"/>
            <a:ext cx="4023360" cy="47891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Configure Office macro settings</a:t>
            </a:r>
            <a:endParaRPr lang="en-US" sz="1500" dirty="0"/>
          </a:p>
        </p:txBody>
      </p:sp>
      <p:sp>
        <p:nvSpPr>
          <p:cNvPr id="24" name="Shape 22"/>
          <p:cNvSpPr/>
          <p:nvPr/>
        </p:nvSpPr>
        <p:spPr>
          <a:xfrm>
            <a:off x="4709160" y="2905506"/>
            <a:ext cx="6949440" cy="478917"/>
          </a:xfrm>
          <a:prstGeom prst="rect">
            <a:avLst/>
          </a:prstGeom>
          <a:solidFill>
            <a:srgbClr val="FFFFFF"/>
          </a:solidFill>
          <a:ln w="12700">
            <a:solidFill>
              <a:srgbClr val="D8DDE6"/>
            </a:solidFill>
            <a:prstDash val="solid"/>
          </a:ln>
        </p:spPr>
      </p:sp>
      <p:sp>
        <p:nvSpPr>
          <p:cNvPr id="25" name="Text 23"/>
          <p:cNvSpPr/>
          <p:nvPr/>
        </p:nvSpPr>
        <p:spPr>
          <a:xfrm>
            <a:off x="4800600" y="2905506"/>
            <a:ext cx="6766560" cy="47891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Prevent malicious macros running</a:t>
            </a:r>
            <a:endParaRPr lang="en-US" sz="1500" dirty="0"/>
          </a:p>
        </p:txBody>
      </p:sp>
      <p:sp>
        <p:nvSpPr>
          <p:cNvPr id="26" name="Shape 24"/>
          <p:cNvSpPr/>
          <p:nvPr/>
        </p:nvSpPr>
        <p:spPr>
          <a:xfrm>
            <a:off x="502920" y="3384423"/>
            <a:ext cx="4206240" cy="478917"/>
          </a:xfrm>
          <a:prstGeom prst="rect">
            <a:avLst/>
          </a:prstGeom>
          <a:solidFill>
            <a:srgbClr val="F4F6FB"/>
          </a:solidFill>
          <a:ln w="12700">
            <a:solidFill>
              <a:srgbClr val="D8DDE6"/>
            </a:solidFill>
            <a:prstDash val="solid"/>
          </a:ln>
        </p:spPr>
      </p:sp>
      <p:sp>
        <p:nvSpPr>
          <p:cNvPr id="27" name="Text 25"/>
          <p:cNvSpPr/>
          <p:nvPr/>
        </p:nvSpPr>
        <p:spPr>
          <a:xfrm>
            <a:off x="594360" y="3384423"/>
            <a:ext cx="4023360" cy="47891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User application hardening</a:t>
            </a:r>
            <a:endParaRPr lang="en-US" sz="1500" dirty="0"/>
          </a:p>
        </p:txBody>
      </p:sp>
      <p:sp>
        <p:nvSpPr>
          <p:cNvPr id="28" name="Shape 26"/>
          <p:cNvSpPr/>
          <p:nvPr/>
        </p:nvSpPr>
        <p:spPr>
          <a:xfrm>
            <a:off x="4709160" y="3384423"/>
            <a:ext cx="6949440" cy="478917"/>
          </a:xfrm>
          <a:prstGeom prst="rect">
            <a:avLst/>
          </a:prstGeom>
          <a:solidFill>
            <a:srgbClr val="F4F6FB"/>
          </a:solidFill>
          <a:ln w="12700">
            <a:solidFill>
              <a:srgbClr val="D8DDE6"/>
            </a:solidFill>
            <a:prstDash val="solid"/>
          </a:ln>
        </p:spPr>
      </p:sp>
      <p:sp>
        <p:nvSpPr>
          <p:cNvPr id="29" name="Text 27"/>
          <p:cNvSpPr/>
          <p:nvPr/>
        </p:nvSpPr>
        <p:spPr>
          <a:xfrm>
            <a:off x="4800600" y="3384423"/>
            <a:ext cx="6766560" cy="47891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Limit browser and application functionality to reduce attack surface</a:t>
            </a:r>
            <a:endParaRPr lang="en-US" sz="1500" dirty="0"/>
          </a:p>
        </p:txBody>
      </p:sp>
      <p:sp>
        <p:nvSpPr>
          <p:cNvPr id="30" name="Shape 28"/>
          <p:cNvSpPr/>
          <p:nvPr/>
        </p:nvSpPr>
        <p:spPr>
          <a:xfrm>
            <a:off x="502920" y="3863340"/>
            <a:ext cx="4206240" cy="478917"/>
          </a:xfrm>
          <a:prstGeom prst="rect">
            <a:avLst/>
          </a:prstGeom>
          <a:solidFill>
            <a:srgbClr val="FFFFFF"/>
          </a:solidFill>
          <a:ln w="12700">
            <a:solidFill>
              <a:srgbClr val="D8DDE6"/>
            </a:solidFill>
            <a:prstDash val="solid"/>
          </a:ln>
        </p:spPr>
      </p:sp>
      <p:sp>
        <p:nvSpPr>
          <p:cNvPr id="31" name="Text 29"/>
          <p:cNvSpPr/>
          <p:nvPr/>
        </p:nvSpPr>
        <p:spPr>
          <a:xfrm>
            <a:off x="594360" y="3863340"/>
            <a:ext cx="4023360" cy="47891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Restrict administrative privileges</a:t>
            </a:r>
            <a:endParaRPr lang="en-US" sz="1500" dirty="0"/>
          </a:p>
        </p:txBody>
      </p:sp>
      <p:sp>
        <p:nvSpPr>
          <p:cNvPr id="32" name="Shape 30"/>
          <p:cNvSpPr/>
          <p:nvPr/>
        </p:nvSpPr>
        <p:spPr>
          <a:xfrm>
            <a:off x="4709160" y="3863340"/>
            <a:ext cx="6949440" cy="478917"/>
          </a:xfrm>
          <a:prstGeom prst="rect">
            <a:avLst/>
          </a:prstGeom>
          <a:solidFill>
            <a:srgbClr val="FFFFFF"/>
          </a:solidFill>
          <a:ln w="12700">
            <a:solidFill>
              <a:srgbClr val="D8DDE6"/>
            </a:solidFill>
            <a:prstDash val="solid"/>
          </a:ln>
        </p:spPr>
      </p:sp>
      <p:sp>
        <p:nvSpPr>
          <p:cNvPr id="33" name="Text 31"/>
          <p:cNvSpPr/>
          <p:nvPr/>
        </p:nvSpPr>
        <p:spPr>
          <a:xfrm>
            <a:off x="4800600" y="3863340"/>
            <a:ext cx="6766560" cy="47891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Limit who holds administrative access</a:t>
            </a:r>
            <a:endParaRPr lang="en-US" sz="1500" dirty="0"/>
          </a:p>
        </p:txBody>
      </p:sp>
      <p:sp>
        <p:nvSpPr>
          <p:cNvPr id="34" name="Shape 32"/>
          <p:cNvSpPr/>
          <p:nvPr/>
        </p:nvSpPr>
        <p:spPr>
          <a:xfrm>
            <a:off x="502920" y="4342257"/>
            <a:ext cx="4206240" cy="478917"/>
          </a:xfrm>
          <a:prstGeom prst="rect">
            <a:avLst/>
          </a:prstGeom>
          <a:solidFill>
            <a:srgbClr val="F4F6FB"/>
          </a:solidFill>
          <a:ln w="12700">
            <a:solidFill>
              <a:srgbClr val="D8DDE6"/>
            </a:solidFill>
            <a:prstDash val="solid"/>
          </a:ln>
        </p:spPr>
      </p:sp>
      <p:sp>
        <p:nvSpPr>
          <p:cNvPr id="35" name="Text 33"/>
          <p:cNvSpPr/>
          <p:nvPr/>
        </p:nvSpPr>
        <p:spPr>
          <a:xfrm>
            <a:off x="594360" y="4342257"/>
            <a:ext cx="4023360" cy="47891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Patch operating systems</a:t>
            </a:r>
            <a:endParaRPr lang="en-US" sz="1500" dirty="0"/>
          </a:p>
        </p:txBody>
      </p:sp>
      <p:sp>
        <p:nvSpPr>
          <p:cNvPr id="36" name="Shape 34"/>
          <p:cNvSpPr/>
          <p:nvPr/>
        </p:nvSpPr>
        <p:spPr>
          <a:xfrm>
            <a:off x="4709160" y="4342257"/>
            <a:ext cx="6949440" cy="478917"/>
          </a:xfrm>
          <a:prstGeom prst="rect">
            <a:avLst/>
          </a:prstGeom>
          <a:solidFill>
            <a:srgbClr val="F4F6FB"/>
          </a:solidFill>
          <a:ln w="12700">
            <a:solidFill>
              <a:srgbClr val="D8DDE6"/>
            </a:solidFill>
            <a:prstDash val="solid"/>
          </a:ln>
        </p:spPr>
      </p:sp>
      <p:sp>
        <p:nvSpPr>
          <p:cNvPr id="37" name="Text 35"/>
          <p:cNvSpPr/>
          <p:nvPr/>
        </p:nvSpPr>
        <p:spPr>
          <a:xfrm>
            <a:off x="4800600" y="4342257"/>
            <a:ext cx="6766560" cy="47891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Keep operating systems current with security patches</a:t>
            </a:r>
            <a:endParaRPr lang="en-US" sz="1500" dirty="0"/>
          </a:p>
        </p:txBody>
      </p:sp>
      <p:sp>
        <p:nvSpPr>
          <p:cNvPr id="38" name="Shape 36"/>
          <p:cNvSpPr/>
          <p:nvPr/>
        </p:nvSpPr>
        <p:spPr>
          <a:xfrm>
            <a:off x="502920" y="4821174"/>
            <a:ext cx="4206240" cy="478917"/>
          </a:xfrm>
          <a:prstGeom prst="rect">
            <a:avLst/>
          </a:prstGeom>
          <a:solidFill>
            <a:srgbClr val="FFFFFF"/>
          </a:solidFill>
          <a:ln w="12700">
            <a:solidFill>
              <a:srgbClr val="D8DDE6"/>
            </a:solidFill>
            <a:prstDash val="solid"/>
          </a:ln>
        </p:spPr>
      </p:sp>
      <p:sp>
        <p:nvSpPr>
          <p:cNvPr id="39" name="Text 37"/>
          <p:cNvSpPr/>
          <p:nvPr/>
        </p:nvSpPr>
        <p:spPr>
          <a:xfrm>
            <a:off x="594360" y="4821174"/>
            <a:ext cx="4023360" cy="47891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Multi-factor authentication</a:t>
            </a:r>
            <a:endParaRPr lang="en-US" sz="1500" dirty="0"/>
          </a:p>
        </p:txBody>
      </p:sp>
      <p:sp>
        <p:nvSpPr>
          <p:cNvPr id="40" name="Shape 38"/>
          <p:cNvSpPr/>
          <p:nvPr/>
        </p:nvSpPr>
        <p:spPr>
          <a:xfrm>
            <a:off x="4709160" y="4821174"/>
            <a:ext cx="6949440" cy="478917"/>
          </a:xfrm>
          <a:prstGeom prst="rect">
            <a:avLst/>
          </a:prstGeom>
          <a:solidFill>
            <a:srgbClr val="FFFFFF"/>
          </a:solidFill>
          <a:ln w="12700">
            <a:solidFill>
              <a:srgbClr val="D8DDE6"/>
            </a:solidFill>
            <a:prstDash val="solid"/>
          </a:ln>
        </p:spPr>
      </p:sp>
      <p:sp>
        <p:nvSpPr>
          <p:cNvPr id="41" name="Text 39"/>
          <p:cNvSpPr/>
          <p:nvPr/>
        </p:nvSpPr>
        <p:spPr>
          <a:xfrm>
            <a:off x="4800600" y="4821174"/>
            <a:ext cx="6766560" cy="47891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Require verification beyond a password</a:t>
            </a:r>
            <a:endParaRPr lang="en-US" sz="1500" dirty="0"/>
          </a:p>
        </p:txBody>
      </p:sp>
      <p:sp>
        <p:nvSpPr>
          <p:cNvPr id="42" name="Shape 40"/>
          <p:cNvSpPr/>
          <p:nvPr/>
        </p:nvSpPr>
        <p:spPr>
          <a:xfrm>
            <a:off x="502920" y="5300091"/>
            <a:ext cx="4206240" cy="478917"/>
          </a:xfrm>
          <a:prstGeom prst="rect">
            <a:avLst/>
          </a:prstGeom>
          <a:solidFill>
            <a:srgbClr val="F4F6FB"/>
          </a:solidFill>
          <a:ln w="12700">
            <a:solidFill>
              <a:srgbClr val="D8DDE6"/>
            </a:solidFill>
            <a:prstDash val="solid"/>
          </a:ln>
        </p:spPr>
      </p:sp>
      <p:sp>
        <p:nvSpPr>
          <p:cNvPr id="43" name="Text 41"/>
          <p:cNvSpPr/>
          <p:nvPr/>
        </p:nvSpPr>
        <p:spPr>
          <a:xfrm>
            <a:off x="594360" y="5300091"/>
            <a:ext cx="4023360" cy="47891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Regular backups</a:t>
            </a:r>
            <a:endParaRPr lang="en-US" sz="1500" dirty="0"/>
          </a:p>
        </p:txBody>
      </p:sp>
      <p:sp>
        <p:nvSpPr>
          <p:cNvPr id="44" name="Shape 42"/>
          <p:cNvSpPr/>
          <p:nvPr/>
        </p:nvSpPr>
        <p:spPr>
          <a:xfrm>
            <a:off x="4709160" y="5300091"/>
            <a:ext cx="6949440" cy="478917"/>
          </a:xfrm>
          <a:prstGeom prst="rect">
            <a:avLst/>
          </a:prstGeom>
          <a:solidFill>
            <a:srgbClr val="F4F6FB"/>
          </a:solidFill>
          <a:ln w="12700">
            <a:solidFill>
              <a:srgbClr val="D8DDE6"/>
            </a:solidFill>
            <a:prstDash val="solid"/>
          </a:ln>
        </p:spPr>
      </p:sp>
      <p:sp>
        <p:nvSpPr>
          <p:cNvPr id="45" name="Text 43"/>
          <p:cNvSpPr/>
          <p:nvPr/>
        </p:nvSpPr>
        <p:spPr>
          <a:xfrm>
            <a:off x="4800600" y="5300091"/>
            <a:ext cx="6766560" cy="47891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Back up critical data so it can be recovered after an incident</a:t>
            </a:r>
            <a:endParaRPr lang="en-US" sz="1500" dirty="0"/>
          </a:p>
        </p:txBody>
      </p:sp>
      <p:sp>
        <p:nvSpPr>
          <p:cNvPr id="46" name="Shape 44"/>
          <p:cNvSpPr/>
          <p:nvPr/>
        </p:nvSpPr>
        <p:spPr>
          <a:xfrm>
            <a:off x="502920" y="5861304"/>
            <a:ext cx="11155680" cy="640080"/>
          </a:xfrm>
          <a:prstGeom prst="roundRect">
            <a:avLst>
              <a:gd name="adj" fmla="val 12857"/>
            </a:avLst>
          </a:prstGeom>
          <a:solidFill>
            <a:srgbClr val="D1FAE5"/>
          </a:solidFill>
          <a:ln w="12700">
            <a:solidFill>
              <a:srgbClr val="10B981"/>
            </a:solidFill>
            <a:prstDash val="solid"/>
          </a:ln>
        </p:spPr>
      </p:sp>
      <p:sp>
        <p:nvSpPr>
          <p:cNvPr id="47" name="Text 45"/>
          <p:cNvSpPr/>
          <p:nvPr/>
        </p:nvSpPr>
        <p:spPr>
          <a:xfrm>
            <a:off x="822960" y="5861304"/>
            <a:ext cx="10515600" cy="640080"/>
          </a:xfrm>
          <a:prstGeom prst="rect">
            <a:avLst/>
          </a:prstGeom>
          <a:noFill/>
          <a:ln/>
        </p:spPr>
        <p:txBody>
          <a:bodyPr wrap="square" lIns="0" tIns="0" rIns="0" bIns="0" rtlCol="0" anchor="ctr"/>
          <a:lstStyle/>
          <a:p>
            <a:pPr indent="0" marL="0">
              <a:buNone/>
            </a:pPr>
            <a:r>
              <a:rPr lang="en-US" sz="1550" dirty="0">
                <a:solidFill>
                  <a:srgbClr val="111827"/>
                </a:solidFill>
                <a:latin typeface="Calibri" pitchFamily="34" charset="0"/>
                <a:ea typeface="Calibri" pitchFamily="34" charset="-122"/>
                <a:cs typeface="Calibri" pitchFamily="34" charset="-120"/>
              </a:rPr>
              <a:t>Read this as a ready-made criteria set. Every row is a practice you could write a criterion about and measure.</a:t>
            </a:r>
            <a:endParaRPr lang="en-US" sz="15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Essential Eight maturity levels</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A risk-based approach — the organisation chooses the level it is aiming for</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2377440" cy="438912"/>
          </a:xfrm>
          <a:prstGeom prst="rect">
            <a:avLst/>
          </a:prstGeom>
          <a:solidFill>
            <a:srgbClr val="10B981"/>
          </a:solidFill>
          <a:ln w="12700">
            <a:solidFill>
              <a:srgbClr val="10B981"/>
            </a:solidFill>
            <a:prstDash val="solid"/>
          </a:ln>
        </p:spPr>
      </p:sp>
      <p:sp>
        <p:nvSpPr>
          <p:cNvPr id="11" name="Text 9"/>
          <p:cNvSpPr/>
          <p:nvPr/>
        </p:nvSpPr>
        <p:spPr>
          <a:xfrm>
            <a:off x="502920" y="1508760"/>
            <a:ext cx="23774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Level</a:t>
            </a:r>
            <a:endParaRPr lang="en-US" sz="1200" dirty="0"/>
          </a:p>
        </p:txBody>
      </p:sp>
      <p:sp>
        <p:nvSpPr>
          <p:cNvPr id="12" name="Shape 10"/>
          <p:cNvSpPr/>
          <p:nvPr/>
        </p:nvSpPr>
        <p:spPr>
          <a:xfrm>
            <a:off x="2880360" y="1508760"/>
            <a:ext cx="8778240" cy="438912"/>
          </a:xfrm>
          <a:prstGeom prst="rect">
            <a:avLst/>
          </a:prstGeom>
          <a:solidFill>
            <a:srgbClr val="10B981"/>
          </a:solidFill>
          <a:ln w="12700">
            <a:solidFill>
              <a:srgbClr val="10B981"/>
            </a:solidFill>
            <a:prstDash val="solid"/>
          </a:ln>
        </p:spPr>
      </p:sp>
      <p:sp>
        <p:nvSpPr>
          <p:cNvPr id="13" name="Text 11"/>
          <p:cNvSpPr/>
          <p:nvPr/>
        </p:nvSpPr>
        <p:spPr>
          <a:xfrm>
            <a:off x="2880360" y="1508760"/>
            <a:ext cx="87782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What it means</a:t>
            </a:r>
            <a:endParaRPr lang="en-US" sz="1200" dirty="0"/>
          </a:p>
        </p:txBody>
      </p:sp>
      <p:sp>
        <p:nvSpPr>
          <p:cNvPr id="14" name="Shape 12"/>
          <p:cNvSpPr/>
          <p:nvPr/>
        </p:nvSpPr>
        <p:spPr>
          <a:xfrm>
            <a:off x="502920" y="1947672"/>
            <a:ext cx="2377440" cy="777240"/>
          </a:xfrm>
          <a:prstGeom prst="rect">
            <a:avLst/>
          </a:prstGeom>
          <a:solidFill>
            <a:srgbClr val="FFFFFF"/>
          </a:solidFill>
          <a:ln w="12700">
            <a:solidFill>
              <a:srgbClr val="D8DDE6"/>
            </a:solidFill>
            <a:prstDash val="solid"/>
          </a:ln>
        </p:spPr>
      </p:sp>
      <p:sp>
        <p:nvSpPr>
          <p:cNvPr id="15" name="Text 13"/>
          <p:cNvSpPr/>
          <p:nvPr/>
        </p:nvSpPr>
        <p:spPr>
          <a:xfrm>
            <a:off x="594360" y="1947672"/>
            <a:ext cx="2194560" cy="777240"/>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Level Zero</a:t>
            </a:r>
            <a:endParaRPr lang="en-US" sz="1500" dirty="0"/>
          </a:p>
        </p:txBody>
      </p:sp>
      <p:sp>
        <p:nvSpPr>
          <p:cNvPr id="16" name="Shape 14"/>
          <p:cNvSpPr/>
          <p:nvPr/>
        </p:nvSpPr>
        <p:spPr>
          <a:xfrm>
            <a:off x="2880360" y="1947672"/>
            <a:ext cx="8778240" cy="777240"/>
          </a:xfrm>
          <a:prstGeom prst="rect">
            <a:avLst/>
          </a:prstGeom>
          <a:solidFill>
            <a:srgbClr val="FFFFFF"/>
          </a:solidFill>
          <a:ln w="12700">
            <a:solidFill>
              <a:srgbClr val="D8DDE6"/>
            </a:solidFill>
            <a:prstDash val="solid"/>
          </a:ln>
        </p:spPr>
      </p:sp>
      <p:sp>
        <p:nvSpPr>
          <p:cNvPr id="17" name="Text 15"/>
          <p:cNvSpPr/>
          <p:nvPr/>
        </p:nvSpPr>
        <p:spPr>
          <a:xfrm>
            <a:off x="2971800" y="1947672"/>
            <a:ext cx="8595360" cy="777240"/>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There are weaknesses in the organisation's overall cyber security posture.</a:t>
            </a:r>
            <a:endParaRPr lang="en-US" sz="1500" dirty="0"/>
          </a:p>
        </p:txBody>
      </p:sp>
      <p:sp>
        <p:nvSpPr>
          <p:cNvPr id="18" name="Shape 16"/>
          <p:cNvSpPr/>
          <p:nvPr/>
        </p:nvSpPr>
        <p:spPr>
          <a:xfrm>
            <a:off x="502920" y="2724912"/>
            <a:ext cx="2377440" cy="777240"/>
          </a:xfrm>
          <a:prstGeom prst="rect">
            <a:avLst/>
          </a:prstGeom>
          <a:solidFill>
            <a:srgbClr val="F4F6FB"/>
          </a:solidFill>
          <a:ln w="12700">
            <a:solidFill>
              <a:srgbClr val="D8DDE6"/>
            </a:solidFill>
            <a:prstDash val="solid"/>
          </a:ln>
        </p:spPr>
      </p:sp>
      <p:sp>
        <p:nvSpPr>
          <p:cNvPr id="19" name="Text 17"/>
          <p:cNvSpPr/>
          <p:nvPr/>
        </p:nvSpPr>
        <p:spPr>
          <a:xfrm>
            <a:off x="594360" y="2724912"/>
            <a:ext cx="2194560" cy="777240"/>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Level One</a:t>
            </a:r>
            <a:endParaRPr lang="en-US" sz="1500" dirty="0"/>
          </a:p>
        </p:txBody>
      </p:sp>
      <p:sp>
        <p:nvSpPr>
          <p:cNvPr id="20" name="Shape 18"/>
          <p:cNvSpPr/>
          <p:nvPr/>
        </p:nvSpPr>
        <p:spPr>
          <a:xfrm>
            <a:off x="2880360" y="2724912"/>
            <a:ext cx="8778240" cy="777240"/>
          </a:xfrm>
          <a:prstGeom prst="rect">
            <a:avLst/>
          </a:prstGeom>
          <a:solidFill>
            <a:srgbClr val="F4F6FB"/>
          </a:solidFill>
          <a:ln w="12700">
            <a:solidFill>
              <a:srgbClr val="D8DDE6"/>
            </a:solidFill>
            <a:prstDash val="solid"/>
          </a:ln>
        </p:spPr>
      </p:sp>
      <p:sp>
        <p:nvSpPr>
          <p:cNvPr id="21" name="Text 19"/>
          <p:cNvSpPr/>
          <p:nvPr/>
        </p:nvSpPr>
        <p:spPr>
          <a:xfrm>
            <a:off x="2971800" y="2724912"/>
            <a:ext cx="8595360" cy="777240"/>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Focused on preventing access by malicious actors and mitigating simple exploits.</a:t>
            </a:r>
            <a:endParaRPr lang="en-US" sz="1500" dirty="0"/>
          </a:p>
        </p:txBody>
      </p:sp>
      <p:sp>
        <p:nvSpPr>
          <p:cNvPr id="22" name="Shape 20"/>
          <p:cNvSpPr/>
          <p:nvPr/>
        </p:nvSpPr>
        <p:spPr>
          <a:xfrm>
            <a:off x="502920" y="3502152"/>
            <a:ext cx="2377440" cy="777240"/>
          </a:xfrm>
          <a:prstGeom prst="rect">
            <a:avLst/>
          </a:prstGeom>
          <a:solidFill>
            <a:srgbClr val="FFFFFF"/>
          </a:solidFill>
          <a:ln w="12700">
            <a:solidFill>
              <a:srgbClr val="D8DDE6"/>
            </a:solidFill>
            <a:prstDash val="solid"/>
          </a:ln>
        </p:spPr>
      </p:sp>
      <p:sp>
        <p:nvSpPr>
          <p:cNvPr id="23" name="Text 21"/>
          <p:cNvSpPr/>
          <p:nvPr/>
        </p:nvSpPr>
        <p:spPr>
          <a:xfrm>
            <a:off x="594360" y="3502152"/>
            <a:ext cx="2194560" cy="777240"/>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Level Two</a:t>
            </a:r>
            <a:endParaRPr lang="en-US" sz="1500" dirty="0"/>
          </a:p>
        </p:txBody>
      </p:sp>
      <p:sp>
        <p:nvSpPr>
          <p:cNvPr id="24" name="Shape 22"/>
          <p:cNvSpPr/>
          <p:nvPr/>
        </p:nvSpPr>
        <p:spPr>
          <a:xfrm>
            <a:off x="2880360" y="3502152"/>
            <a:ext cx="8778240" cy="777240"/>
          </a:xfrm>
          <a:prstGeom prst="rect">
            <a:avLst/>
          </a:prstGeom>
          <a:solidFill>
            <a:srgbClr val="FFFFFF"/>
          </a:solidFill>
          <a:ln w="12700">
            <a:solidFill>
              <a:srgbClr val="D8DDE6"/>
            </a:solidFill>
            <a:prstDash val="solid"/>
          </a:ln>
        </p:spPr>
      </p:sp>
      <p:sp>
        <p:nvSpPr>
          <p:cNvPr id="25" name="Text 23"/>
          <p:cNvSpPr/>
          <p:nvPr/>
        </p:nvSpPr>
        <p:spPr>
          <a:xfrm>
            <a:off x="2971800" y="3502152"/>
            <a:ext cx="8595360" cy="777240"/>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Prepared for weak authentication and phishing exploits by actors intent on stealing or destroying data.</a:t>
            </a:r>
            <a:endParaRPr lang="en-US" sz="1500" dirty="0"/>
          </a:p>
        </p:txBody>
      </p:sp>
      <p:sp>
        <p:nvSpPr>
          <p:cNvPr id="26" name="Shape 24"/>
          <p:cNvSpPr/>
          <p:nvPr/>
        </p:nvSpPr>
        <p:spPr>
          <a:xfrm>
            <a:off x="502920" y="4279392"/>
            <a:ext cx="2377440" cy="777240"/>
          </a:xfrm>
          <a:prstGeom prst="rect">
            <a:avLst/>
          </a:prstGeom>
          <a:solidFill>
            <a:srgbClr val="F4F6FB"/>
          </a:solidFill>
          <a:ln w="12700">
            <a:solidFill>
              <a:srgbClr val="D8DDE6"/>
            </a:solidFill>
            <a:prstDash val="solid"/>
          </a:ln>
        </p:spPr>
      </p:sp>
      <p:sp>
        <p:nvSpPr>
          <p:cNvPr id="27" name="Text 25"/>
          <p:cNvSpPr/>
          <p:nvPr/>
        </p:nvSpPr>
        <p:spPr>
          <a:xfrm>
            <a:off x="594360" y="4279392"/>
            <a:ext cx="2194560" cy="777240"/>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Level Three</a:t>
            </a:r>
            <a:endParaRPr lang="en-US" sz="1500" dirty="0"/>
          </a:p>
        </p:txBody>
      </p:sp>
      <p:sp>
        <p:nvSpPr>
          <p:cNvPr id="28" name="Shape 26"/>
          <p:cNvSpPr/>
          <p:nvPr/>
        </p:nvSpPr>
        <p:spPr>
          <a:xfrm>
            <a:off x="2880360" y="4279392"/>
            <a:ext cx="8778240" cy="777240"/>
          </a:xfrm>
          <a:prstGeom prst="rect">
            <a:avLst/>
          </a:prstGeom>
          <a:solidFill>
            <a:srgbClr val="F4F6FB"/>
          </a:solidFill>
          <a:ln w="12700">
            <a:solidFill>
              <a:srgbClr val="D8DDE6"/>
            </a:solidFill>
            <a:prstDash val="solid"/>
          </a:ln>
        </p:spPr>
      </p:sp>
      <p:sp>
        <p:nvSpPr>
          <p:cNvPr id="29" name="Text 27"/>
          <p:cNvSpPr/>
          <p:nvPr/>
        </p:nvSpPr>
        <p:spPr>
          <a:xfrm>
            <a:off x="2971800" y="4279392"/>
            <a:ext cx="8595360" cy="777240"/>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Prepared for organised actors who exploit unpatched software, circumvent authentication controls and disguise their activity inside the organisation.</a:t>
            </a:r>
            <a:endParaRPr lang="en-US" sz="1500" dirty="0"/>
          </a:p>
        </p:txBody>
      </p:sp>
      <p:sp>
        <p:nvSpPr>
          <p:cNvPr id="30" name="Shape 28"/>
          <p:cNvSpPr/>
          <p:nvPr/>
        </p:nvSpPr>
        <p:spPr>
          <a:xfrm>
            <a:off x="502920" y="5138928"/>
            <a:ext cx="11155680" cy="777240"/>
          </a:xfrm>
          <a:prstGeom prst="roundRect">
            <a:avLst>
              <a:gd name="adj" fmla="val 10588"/>
            </a:avLst>
          </a:prstGeom>
          <a:solidFill>
            <a:srgbClr val="D1FAE5"/>
          </a:solidFill>
          <a:ln w="12700">
            <a:solidFill>
              <a:srgbClr val="10B981"/>
            </a:solidFill>
            <a:prstDash val="solid"/>
          </a:ln>
        </p:spPr>
      </p:sp>
      <p:sp>
        <p:nvSpPr>
          <p:cNvPr id="31" name="Text 29"/>
          <p:cNvSpPr/>
          <p:nvPr/>
        </p:nvSpPr>
        <p:spPr>
          <a:xfrm>
            <a:off x="822960" y="5138928"/>
            <a:ext cx="10515600" cy="777240"/>
          </a:xfrm>
          <a:prstGeom prst="rect">
            <a:avLst/>
          </a:prstGeom>
          <a:noFill/>
          <a:ln/>
        </p:spPr>
        <p:txBody>
          <a:bodyPr wrap="square" lIns="0" tIns="0" rIns="0" bIns="0" rtlCol="0" anchor="ctr"/>
          <a:lstStyle/>
          <a:p>
            <a:pPr indent="0" marL="0">
              <a:buNone/>
            </a:pPr>
            <a:r>
              <a:rPr lang="en-US" sz="1550" dirty="0">
                <a:solidFill>
                  <a:srgbClr val="111827"/>
                </a:solidFill>
                <a:latin typeface="Calibri" pitchFamily="34" charset="0"/>
                <a:ea typeface="Calibri" pitchFamily="34" charset="-122"/>
                <a:cs typeface="Calibri" pitchFamily="34" charset="-120"/>
              </a:rPr>
              <a:t>Maturity is self-assessed, not externally accredited. The levels encourage continuous improvement rather than a pass/fail verdict — which is why "adopt Maturity Level Two, beginning with MFA and application patching" is a specific, benchmarked, re-measurable recommendation.</a:t>
            </a:r>
            <a:endParaRPr lang="en-US" sz="15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The Information Security Manual (ISM)</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Also published by the ACSC · more detailed than the Essential Eight · four cyber security activities</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444752"/>
            <a:ext cx="11155680" cy="998982"/>
          </a:xfrm>
          <a:prstGeom prst="roundRect">
            <a:avLst>
              <a:gd name="adj" fmla="val 8238"/>
            </a:avLst>
          </a:prstGeom>
          <a:solidFill>
            <a:srgbClr val="FFFFFF"/>
          </a:solidFill>
          <a:ln w="16510">
            <a:solidFill>
              <a:srgbClr val="4361EE"/>
            </a:solidFill>
            <a:prstDash val="solid"/>
          </a:ln>
        </p:spPr>
      </p:sp>
      <p:sp>
        <p:nvSpPr>
          <p:cNvPr id="11" name="Shape 9"/>
          <p:cNvSpPr/>
          <p:nvPr/>
        </p:nvSpPr>
        <p:spPr>
          <a:xfrm>
            <a:off x="731520" y="1752219"/>
            <a:ext cx="2148840" cy="384048"/>
          </a:xfrm>
          <a:prstGeom prst="roundRect">
            <a:avLst>
              <a:gd name="adj" fmla="val 50000"/>
            </a:avLst>
          </a:prstGeom>
          <a:solidFill>
            <a:srgbClr val="4361EE"/>
          </a:solidFill>
          <a:ln/>
        </p:spPr>
      </p:sp>
      <p:sp>
        <p:nvSpPr>
          <p:cNvPr id="12" name="Text 10"/>
          <p:cNvSpPr/>
          <p:nvPr/>
        </p:nvSpPr>
        <p:spPr>
          <a:xfrm>
            <a:off x="731520" y="1752219"/>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GOVERN</a:t>
            </a:r>
            <a:endParaRPr lang="en-US" sz="1100" dirty="0"/>
          </a:p>
        </p:txBody>
      </p:sp>
      <p:sp>
        <p:nvSpPr>
          <p:cNvPr id="13" name="Text 11"/>
          <p:cNvSpPr/>
          <p:nvPr/>
        </p:nvSpPr>
        <p:spPr>
          <a:xfrm>
            <a:off x="3063240" y="1444752"/>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Identifying and managing security risks — risks are identified, documented and managed before and during deployment.</a:t>
            </a:r>
            <a:endParaRPr lang="en-US" sz="1900" dirty="0"/>
          </a:p>
        </p:txBody>
      </p:sp>
      <p:sp>
        <p:nvSpPr>
          <p:cNvPr id="14" name="Shape 12"/>
          <p:cNvSpPr/>
          <p:nvPr/>
        </p:nvSpPr>
        <p:spPr>
          <a:xfrm>
            <a:off x="502920" y="2535174"/>
            <a:ext cx="11155680" cy="998982"/>
          </a:xfrm>
          <a:prstGeom prst="roundRect">
            <a:avLst>
              <a:gd name="adj" fmla="val 8238"/>
            </a:avLst>
          </a:prstGeom>
          <a:solidFill>
            <a:srgbClr val="FFFFFF"/>
          </a:solidFill>
          <a:ln w="16510">
            <a:solidFill>
              <a:srgbClr val="10B981"/>
            </a:solidFill>
            <a:prstDash val="solid"/>
          </a:ln>
        </p:spPr>
      </p:sp>
      <p:sp>
        <p:nvSpPr>
          <p:cNvPr id="15" name="Shape 13"/>
          <p:cNvSpPr/>
          <p:nvPr/>
        </p:nvSpPr>
        <p:spPr>
          <a:xfrm>
            <a:off x="731520" y="2842641"/>
            <a:ext cx="2148840" cy="384048"/>
          </a:xfrm>
          <a:prstGeom prst="roundRect">
            <a:avLst>
              <a:gd name="adj" fmla="val 50000"/>
            </a:avLst>
          </a:prstGeom>
          <a:solidFill>
            <a:srgbClr val="10B981"/>
          </a:solidFill>
          <a:ln/>
        </p:spPr>
      </p:sp>
      <p:sp>
        <p:nvSpPr>
          <p:cNvPr id="16" name="Text 14"/>
          <p:cNvSpPr/>
          <p:nvPr/>
        </p:nvSpPr>
        <p:spPr>
          <a:xfrm>
            <a:off x="731520" y="2842641"/>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PROTECT</a:t>
            </a:r>
            <a:endParaRPr lang="en-US" sz="1100" dirty="0"/>
          </a:p>
        </p:txBody>
      </p:sp>
      <p:sp>
        <p:nvSpPr>
          <p:cNvPr id="17" name="Text 15"/>
          <p:cNvSpPr/>
          <p:nvPr/>
        </p:nvSpPr>
        <p:spPr>
          <a:xfrm>
            <a:off x="3063240" y="2535174"/>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Implementing controls to reduce risk — only trusted users, systems, applications and code are permitted; access is restricted; data is encrypted, controlled and backed up.</a:t>
            </a:r>
            <a:endParaRPr lang="en-US" sz="1900" dirty="0"/>
          </a:p>
        </p:txBody>
      </p:sp>
      <p:sp>
        <p:nvSpPr>
          <p:cNvPr id="18" name="Shape 16"/>
          <p:cNvSpPr/>
          <p:nvPr/>
        </p:nvSpPr>
        <p:spPr>
          <a:xfrm>
            <a:off x="502920" y="3625596"/>
            <a:ext cx="11155680" cy="998982"/>
          </a:xfrm>
          <a:prstGeom prst="roundRect">
            <a:avLst>
              <a:gd name="adj" fmla="val 8238"/>
            </a:avLst>
          </a:prstGeom>
          <a:solidFill>
            <a:srgbClr val="FFFFFF"/>
          </a:solidFill>
          <a:ln w="16510">
            <a:solidFill>
              <a:srgbClr val="F59E0B"/>
            </a:solidFill>
            <a:prstDash val="solid"/>
          </a:ln>
        </p:spPr>
      </p:sp>
      <p:sp>
        <p:nvSpPr>
          <p:cNvPr id="19" name="Shape 17"/>
          <p:cNvSpPr/>
          <p:nvPr/>
        </p:nvSpPr>
        <p:spPr>
          <a:xfrm>
            <a:off x="731520" y="3933063"/>
            <a:ext cx="2148840" cy="384048"/>
          </a:xfrm>
          <a:prstGeom prst="roundRect">
            <a:avLst>
              <a:gd name="adj" fmla="val 50000"/>
            </a:avLst>
          </a:prstGeom>
          <a:solidFill>
            <a:srgbClr val="F59E0B"/>
          </a:solidFill>
          <a:ln/>
        </p:spPr>
      </p:sp>
      <p:sp>
        <p:nvSpPr>
          <p:cNvPr id="20" name="Text 18"/>
          <p:cNvSpPr/>
          <p:nvPr/>
        </p:nvSpPr>
        <p:spPr>
          <a:xfrm>
            <a:off x="731520" y="3933063"/>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DETECT</a:t>
            </a:r>
            <a:endParaRPr lang="en-US" sz="1100" dirty="0"/>
          </a:p>
        </p:txBody>
      </p:sp>
      <p:sp>
        <p:nvSpPr>
          <p:cNvPr id="21" name="Text 19"/>
          <p:cNvSpPr/>
          <p:nvPr/>
        </p:nvSpPr>
        <p:spPr>
          <a:xfrm>
            <a:off x="3063240" y="3625596"/>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Collecting and analysing event logs, and analysing security events to identify incidents.</a:t>
            </a:r>
            <a:endParaRPr lang="en-US" sz="1900" dirty="0"/>
          </a:p>
        </p:txBody>
      </p:sp>
      <p:sp>
        <p:nvSpPr>
          <p:cNvPr id="22" name="Shape 20"/>
          <p:cNvSpPr/>
          <p:nvPr/>
        </p:nvSpPr>
        <p:spPr>
          <a:xfrm>
            <a:off x="502920" y="4716018"/>
            <a:ext cx="11155680" cy="998982"/>
          </a:xfrm>
          <a:prstGeom prst="roundRect">
            <a:avLst>
              <a:gd name="adj" fmla="val 8238"/>
            </a:avLst>
          </a:prstGeom>
          <a:solidFill>
            <a:srgbClr val="FFFFFF"/>
          </a:solidFill>
          <a:ln w="16510">
            <a:solidFill>
              <a:srgbClr val="8B5CF6"/>
            </a:solidFill>
            <a:prstDash val="solid"/>
          </a:ln>
        </p:spPr>
      </p:sp>
      <p:sp>
        <p:nvSpPr>
          <p:cNvPr id="23" name="Shape 21"/>
          <p:cNvSpPr/>
          <p:nvPr/>
        </p:nvSpPr>
        <p:spPr>
          <a:xfrm>
            <a:off x="731520" y="5023485"/>
            <a:ext cx="2148840" cy="384048"/>
          </a:xfrm>
          <a:prstGeom prst="roundRect">
            <a:avLst>
              <a:gd name="adj" fmla="val 50000"/>
            </a:avLst>
          </a:prstGeom>
          <a:solidFill>
            <a:srgbClr val="8B5CF6"/>
          </a:solidFill>
          <a:ln/>
        </p:spPr>
      </p:sp>
      <p:sp>
        <p:nvSpPr>
          <p:cNvPr id="24" name="Text 22"/>
          <p:cNvSpPr/>
          <p:nvPr/>
        </p:nvSpPr>
        <p:spPr>
          <a:xfrm>
            <a:off x="731520" y="5023485"/>
            <a:ext cx="2148840" cy="384048"/>
          </a:xfrm>
          <a:prstGeom prst="rect">
            <a:avLst/>
          </a:prstGeom>
          <a:noFill/>
          <a:ln/>
        </p:spPr>
        <p:txBody>
          <a:bodyPr wrap="square" lIns="0" tIns="0" rIns="0" bIns="0" rtlCol="0" anchor="ctr"/>
          <a:lstStyle/>
          <a:p>
            <a:pPr algn="ctr" indent="0" marL="0">
              <a:buNone/>
            </a:pPr>
            <a:r>
              <a:rPr lang="en-US" sz="1100" b="1" spc="60" kern="0" dirty="0">
                <a:solidFill>
                  <a:srgbClr val="FFFFFF"/>
                </a:solidFill>
                <a:latin typeface="Courier New" pitchFamily="34" charset="0"/>
                <a:ea typeface="Courier New" pitchFamily="34" charset="-122"/>
                <a:cs typeface="Courier New" pitchFamily="34" charset="-120"/>
              </a:rPr>
              <a:t>RESPOND</a:t>
            </a:r>
            <a:endParaRPr lang="en-US" sz="1100" dirty="0"/>
          </a:p>
        </p:txBody>
      </p:sp>
      <p:sp>
        <p:nvSpPr>
          <p:cNvPr id="25" name="Text 23"/>
          <p:cNvSpPr/>
          <p:nvPr/>
        </p:nvSpPr>
        <p:spPr>
          <a:xfrm>
            <a:off x="3063240" y="4716018"/>
            <a:ext cx="8321040" cy="998982"/>
          </a:xfrm>
          <a:prstGeom prst="rect">
            <a:avLst/>
          </a:prstGeom>
          <a:noFill/>
          <a:ln/>
        </p:spPr>
        <p:txBody>
          <a:bodyPr wrap="square" lIns="0" tIns="0" rIns="0" bIns="0" rtlCol="0" anchor="ctr"/>
          <a:lstStyle/>
          <a:p>
            <a:pPr indent="0" marL="0">
              <a:lnSpc>
                <a:spcPct val="115000"/>
              </a:lnSpc>
              <a:buNone/>
            </a:pPr>
            <a:r>
              <a:rPr lang="en-US" sz="1900" dirty="0">
                <a:solidFill>
                  <a:srgbClr val="111827"/>
                </a:solidFill>
                <a:latin typeface="Calibri" pitchFamily="34" charset="0"/>
                <a:ea typeface="Calibri" pitchFamily="34" charset="-122"/>
                <a:cs typeface="Calibri" pitchFamily="34" charset="-120"/>
              </a:rPr>
              <a:t>Reporting incidents internally and externally, containing them, and enacting recovery.</a:t>
            </a:r>
            <a:endParaRPr lang="en-US" sz="1900" dirty="0"/>
          </a:p>
        </p:txBody>
      </p:sp>
      <p:sp>
        <p:nvSpPr>
          <p:cNvPr id="26" name="Shape 24"/>
          <p:cNvSpPr/>
          <p:nvPr/>
        </p:nvSpPr>
        <p:spPr>
          <a:xfrm>
            <a:off x="502920" y="5861304"/>
            <a:ext cx="11155680" cy="777240"/>
          </a:xfrm>
          <a:prstGeom prst="roundRect">
            <a:avLst>
              <a:gd name="adj" fmla="val 10588"/>
            </a:avLst>
          </a:prstGeom>
          <a:solidFill>
            <a:srgbClr val="EEF2FE"/>
          </a:solidFill>
          <a:ln w="12700">
            <a:solidFill>
              <a:srgbClr val="4361EE"/>
            </a:solidFill>
            <a:prstDash val="solid"/>
          </a:ln>
        </p:spPr>
      </p:sp>
      <p:sp>
        <p:nvSpPr>
          <p:cNvPr id="27" name="Text 25"/>
          <p:cNvSpPr/>
          <p:nvPr/>
        </p:nvSpPr>
        <p:spPr>
          <a:xfrm>
            <a:off x="822960" y="5861304"/>
            <a:ext cx="10515600" cy="777240"/>
          </a:xfrm>
          <a:prstGeom prst="rect">
            <a:avLst/>
          </a:prstGeom>
          <a:noFill/>
          <a:ln/>
        </p:spPr>
        <p:txBody>
          <a:bodyPr wrap="square" lIns="0" tIns="0" rIns="0" bIns="0" rtlCol="0" anchor="ctr"/>
          <a:lstStyle/>
          <a:p>
            <a:pPr indent="0" marL="0">
              <a:lnSpc>
                <a:spcPct val="120000"/>
              </a:lnSpc>
              <a:buNone/>
            </a:pPr>
            <a:r>
              <a:rPr lang="en-US" sz="1800" dirty="0">
                <a:solidFill>
                  <a:srgbClr val="111827"/>
                </a:solidFill>
                <a:latin typeface="Calibri" pitchFamily="34" charset="0"/>
                <a:ea typeface="Calibri" pitchFamily="34" charset="-122"/>
                <a:cs typeface="Calibri" pitchFamily="34" charset="-120"/>
              </a:rPr>
              <a:t>Govern → Protect → Detect → Respond is a lifecycle, not a checklist. An organisation strong on Protect and blind on Detect will not know it has been breached.</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ISM guidelines for software development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Three sections named in the study design</a:t>
            </a:r>
            <a:endParaRPr lang="en-US" sz="1500" dirty="0"/>
          </a:p>
        </p:txBody>
      </p:sp>
      <p:sp>
        <p:nvSpPr>
          <p:cNvPr id="8" name="Shape 6"/>
          <p:cNvSpPr/>
          <p:nvPr/>
        </p:nvSpPr>
        <p:spPr>
          <a:xfrm>
            <a:off x="502920" y="1463040"/>
            <a:ext cx="11155680" cy="1170432"/>
          </a:xfrm>
          <a:prstGeom prst="roundRect">
            <a:avLst>
              <a:gd name="adj" fmla="val 7031"/>
            </a:avLst>
          </a:prstGeom>
          <a:solidFill>
            <a:srgbClr val="FFFFFF"/>
          </a:solidFill>
          <a:ln w="15240">
            <a:solidFill>
              <a:srgbClr val="4361EE"/>
            </a:solidFill>
            <a:prstDash val="solid"/>
          </a:ln>
        </p:spPr>
      </p:sp>
      <p:sp>
        <p:nvSpPr>
          <p:cNvPr id="9" name="Shape 7"/>
          <p:cNvSpPr/>
          <p:nvPr/>
        </p:nvSpPr>
        <p:spPr>
          <a:xfrm>
            <a:off x="731520" y="1819656"/>
            <a:ext cx="457200" cy="457200"/>
          </a:xfrm>
          <a:prstGeom prst="ellipse">
            <a:avLst/>
          </a:prstGeom>
          <a:solidFill>
            <a:srgbClr val="4361EE"/>
          </a:solidFill>
          <a:ln/>
        </p:spPr>
      </p:sp>
      <p:sp>
        <p:nvSpPr>
          <p:cNvPr id="10" name="Text 8"/>
          <p:cNvSpPr/>
          <p:nvPr/>
        </p:nvSpPr>
        <p:spPr>
          <a:xfrm>
            <a:off x="731520" y="18196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1" name="Text 9"/>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Development, testing and production environments</a:t>
            </a:r>
            <a:endParaRPr lang="en-US" sz="1900" dirty="0"/>
          </a:p>
        </p:txBody>
      </p:sp>
      <p:sp>
        <p:nvSpPr>
          <p:cNvPr id="12" name="Text 10"/>
          <p:cNvSpPr/>
          <p:nvPr/>
        </p:nvSpPr>
        <p:spPr>
          <a:xfrm>
            <a:off x="1371600" y="1975104"/>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Segregated areas for each, so that malicious code introduced in one cannot spread to the others — and so live data is not exposed in a lower-security environment.</a:t>
            </a:r>
            <a:endParaRPr lang="en-US" sz="1650" dirty="0"/>
          </a:p>
        </p:txBody>
      </p:sp>
      <p:sp>
        <p:nvSpPr>
          <p:cNvPr id="13" name="Shape 11"/>
          <p:cNvSpPr/>
          <p:nvPr/>
        </p:nvSpPr>
        <p:spPr>
          <a:xfrm>
            <a:off x="502920" y="2734056"/>
            <a:ext cx="11155680" cy="1170432"/>
          </a:xfrm>
          <a:prstGeom prst="roundRect">
            <a:avLst>
              <a:gd name="adj" fmla="val 7031"/>
            </a:avLst>
          </a:prstGeom>
          <a:solidFill>
            <a:srgbClr val="FFFFFF"/>
          </a:solidFill>
          <a:ln w="15240">
            <a:solidFill>
              <a:srgbClr val="4361EE"/>
            </a:solidFill>
            <a:prstDash val="solid"/>
          </a:ln>
        </p:spPr>
      </p:sp>
      <p:sp>
        <p:nvSpPr>
          <p:cNvPr id="14" name="Shape 12"/>
          <p:cNvSpPr/>
          <p:nvPr/>
        </p:nvSpPr>
        <p:spPr>
          <a:xfrm>
            <a:off x="731520" y="3090672"/>
            <a:ext cx="457200" cy="457200"/>
          </a:xfrm>
          <a:prstGeom prst="ellipse">
            <a:avLst/>
          </a:prstGeom>
          <a:solidFill>
            <a:srgbClr val="4361EE"/>
          </a:solidFill>
          <a:ln/>
        </p:spPr>
      </p:sp>
      <p:sp>
        <p:nvSpPr>
          <p:cNvPr id="15" name="Text 13"/>
          <p:cNvSpPr/>
          <p:nvPr/>
        </p:nvSpPr>
        <p:spPr>
          <a:xfrm>
            <a:off x="731520" y="30906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6" name="Text 14"/>
          <p:cNvSpPr/>
          <p:nvPr/>
        </p:nvSpPr>
        <p:spPr>
          <a:xfrm>
            <a:off x="1371600" y="286207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Secure software design and development</a:t>
            </a:r>
            <a:endParaRPr lang="en-US" sz="1900" dirty="0"/>
          </a:p>
        </p:txBody>
      </p:sp>
      <p:sp>
        <p:nvSpPr>
          <p:cNvPr id="17" name="Text 15"/>
          <p:cNvSpPr/>
          <p:nvPr/>
        </p:nvSpPr>
        <p:spPr>
          <a:xfrm>
            <a:off x="1371600" y="3246120"/>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Protection of software source; secure-by-design and secure-by-default principles; use of memory-safe programming languages such as C#, Go, Java, Ruby, Rust and Swift.</a:t>
            </a:r>
            <a:endParaRPr lang="en-US" sz="1650" dirty="0"/>
          </a:p>
        </p:txBody>
      </p:sp>
      <p:sp>
        <p:nvSpPr>
          <p:cNvPr id="18" name="Shape 16"/>
          <p:cNvSpPr/>
          <p:nvPr/>
        </p:nvSpPr>
        <p:spPr>
          <a:xfrm>
            <a:off x="502920" y="4005072"/>
            <a:ext cx="11155680" cy="1170432"/>
          </a:xfrm>
          <a:prstGeom prst="roundRect">
            <a:avLst>
              <a:gd name="adj" fmla="val 7031"/>
            </a:avLst>
          </a:prstGeom>
          <a:solidFill>
            <a:srgbClr val="FFFFFF"/>
          </a:solidFill>
          <a:ln w="15240">
            <a:solidFill>
              <a:srgbClr val="4361EE"/>
            </a:solidFill>
            <a:prstDash val="solid"/>
          </a:ln>
        </p:spPr>
      </p:sp>
      <p:sp>
        <p:nvSpPr>
          <p:cNvPr id="19" name="Shape 17"/>
          <p:cNvSpPr/>
          <p:nvPr/>
        </p:nvSpPr>
        <p:spPr>
          <a:xfrm>
            <a:off x="731520" y="4361688"/>
            <a:ext cx="457200" cy="457200"/>
          </a:xfrm>
          <a:prstGeom prst="ellipse">
            <a:avLst/>
          </a:prstGeom>
          <a:solidFill>
            <a:srgbClr val="4361EE"/>
          </a:solidFill>
          <a:ln/>
        </p:spPr>
      </p:sp>
      <p:sp>
        <p:nvSpPr>
          <p:cNvPr id="20" name="Text 18"/>
          <p:cNvSpPr/>
          <p:nvPr/>
        </p:nvSpPr>
        <p:spPr>
          <a:xfrm>
            <a:off x="731520" y="43616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1" name="Text 19"/>
          <p:cNvSpPr/>
          <p:nvPr/>
        </p:nvSpPr>
        <p:spPr>
          <a:xfrm>
            <a:off x="1371600" y="413308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Application security testing</a:t>
            </a:r>
            <a:endParaRPr lang="en-US" sz="1900" dirty="0"/>
          </a:p>
        </p:txBody>
      </p:sp>
      <p:sp>
        <p:nvSpPr>
          <p:cNvPr id="22" name="Text 20"/>
          <p:cNvSpPr/>
          <p:nvPr/>
        </p:nvSpPr>
        <p:spPr>
          <a:xfrm>
            <a:off x="1371600" y="4517136"/>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Testing applications for vulnerabilities both before and after release — because a product that was secure at launch does not stay secure on its own.</a:t>
            </a:r>
            <a:endParaRPr lang="en-US" sz="1650" dirty="0"/>
          </a:p>
        </p:txBody>
      </p:sp>
      <p:sp>
        <p:nvSpPr>
          <p:cNvPr id="23" name="Shape 21"/>
          <p:cNvSpPr/>
          <p:nvPr/>
        </p:nvSpPr>
        <p:spPr>
          <a:xfrm>
            <a:off x="502920" y="5330952"/>
            <a:ext cx="11155680" cy="566928"/>
          </a:xfrm>
          <a:prstGeom prst="roundRect">
            <a:avLst>
              <a:gd name="adj" fmla="val 14516"/>
            </a:avLst>
          </a:prstGeom>
          <a:solidFill>
            <a:srgbClr val="EEF2FE"/>
          </a:solidFill>
          <a:ln w="12700">
            <a:solidFill>
              <a:srgbClr val="4361EE"/>
            </a:solidFill>
            <a:prstDash val="solid"/>
          </a:ln>
        </p:spPr>
      </p:sp>
      <p:sp>
        <p:nvSpPr>
          <p:cNvPr id="24" name="Text 22"/>
          <p:cNvSpPr/>
          <p:nvPr/>
        </p:nvSpPr>
        <p:spPr>
          <a:xfrm>
            <a:off x="822960" y="5330952"/>
            <a:ext cx="10515600" cy="566928"/>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Every one of these is a Lesson 4 control with an industry standard behind it. Cite the standard and the recommendation stops being your opinion.</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4361EE"/>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LEARNING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2600" b="1" dirty="0">
                <a:solidFill>
                  <a:srgbClr val="111827"/>
                </a:solidFill>
                <a:latin typeface="Bookman Old Style" pitchFamily="34" charset="0"/>
                <a:ea typeface="Bookman Old Style" pitchFamily="34" charset="-122"/>
                <a:cs typeface="Bookman Old Style" pitchFamily="34" charset="-120"/>
              </a:rPr>
              <a:t>Legal consequences of ineffective practices</a:t>
            </a:r>
            <a:endParaRPr lang="en-US" sz="26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What the failure is, and what follows from it</a:t>
            </a:r>
            <a:endParaRPr lang="en-US" sz="1500" dirty="0"/>
          </a:p>
        </p:txBody>
      </p:sp>
      <p:sp>
        <p:nvSpPr>
          <p:cNvPr id="8" name="Shape 6"/>
          <p:cNvSpPr/>
          <p:nvPr/>
        </p:nvSpPr>
        <p:spPr>
          <a:xfrm>
            <a:off x="9464040" y="868680"/>
            <a:ext cx="2148840" cy="329184"/>
          </a:xfrm>
          <a:prstGeom prst="roundRect">
            <a:avLst>
              <a:gd name="adj" fmla="val 50000"/>
            </a:avLst>
          </a:prstGeom>
          <a:solidFill>
            <a:srgbClr val="FEF3C7"/>
          </a:solidFill>
          <a:ln w="12700">
            <a:solidFill>
              <a:srgbClr val="F59E0B"/>
            </a:solidFill>
            <a:prstDash val="solid"/>
          </a:ln>
        </p:spPr>
      </p:sp>
      <p:sp>
        <p:nvSpPr>
          <p:cNvPr id="9" name="Text 7"/>
          <p:cNvSpPr/>
          <p:nvPr/>
        </p:nvSpPr>
        <p:spPr>
          <a:xfrm>
            <a:off x="9464040" y="868680"/>
            <a:ext cx="2148840" cy="329184"/>
          </a:xfrm>
          <a:prstGeom prst="rect">
            <a:avLst/>
          </a:prstGeom>
          <a:noFill/>
          <a:ln/>
        </p:spPr>
        <p:txBody>
          <a:bodyPr wrap="square" lIns="0" tIns="0" rIns="0" bIns="0" rtlCol="0" anchor="ctr"/>
          <a:lstStyle/>
          <a:p>
            <a:pPr algn="ctr" indent="0" marL="0">
              <a:buNone/>
            </a:pPr>
            <a:r>
              <a:rPr lang="en-US" sz="1000" b="1" spc="60" kern="0" dirty="0">
                <a:solidFill>
                  <a:srgbClr val="92400E"/>
                </a:solidFill>
                <a:latin typeface="Courier New" pitchFamily="34" charset="0"/>
                <a:ea typeface="Courier New" pitchFamily="34" charset="-122"/>
                <a:cs typeface="Courier New" pitchFamily="34" charset="-120"/>
              </a:rPr>
              <a:t>COPY INTO NOTES</a:t>
            </a:r>
            <a:endParaRPr lang="en-US" sz="1000" dirty="0"/>
          </a:p>
        </p:txBody>
      </p:sp>
      <p:sp>
        <p:nvSpPr>
          <p:cNvPr id="10" name="Shape 8"/>
          <p:cNvSpPr/>
          <p:nvPr/>
        </p:nvSpPr>
        <p:spPr>
          <a:xfrm>
            <a:off x="502920" y="1508760"/>
            <a:ext cx="4754880" cy="438912"/>
          </a:xfrm>
          <a:prstGeom prst="rect">
            <a:avLst/>
          </a:prstGeom>
          <a:solidFill>
            <a:srgbClr val="EF4444"/>
          </a:solidFill>
          <a:ln w="12700">
            <a:solidFill>
              <a:srgbClr val="EF4444"/>
            </a:solidFill>
            <a:prstDash val="solid"/>
          </a:ln>
        </p:spPr>
      </p:sp>
      <p:sp>
        <p:nvSpPr>
          <p:cNvPr id="11" name="Text 9"/>
          <p:cNvSpPr/>
          <p:nvPr/>
        </p:nvSpPr>
        <p:spPr>
          <a:xfrm>
            <a:off x="502920" y="1508760"/>
            <a:ext cx="47548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The failure</a:t>
            </a:r>
            <a:endParaRPr lang="en-US" sz="1200" dirty="0"/>
          </a:p>
        </p:txBody>
      </p:sp>
      <p:sp>
        <p:nvSpPr>
          <p:cNvPr id="12" name="Shape 10"/>
          <p:cNvSpPr/>
          <p:nvPr/>
        </p:nvSpPr>
        <p:spPr>
          <a:xfrm>
            <a:off x="5257800" y="1508760"/>
            <a:ext cx="6400800" cy="438912"/>
          </a:xfrm>
          <a:prstGeom prst="rect">
            <a:avLst/>
          </a:prstGeom>
          <a:solidFill>
            <a:srgbClr val="EF4444"/>
          </a:solidFill>
          <a:ln w="12700">
            <a:solidFill>
              <a:srgbClr val="EF4444"/>
            </a:solidFill>
            <a:prstDash val="solid"/>
          </a:ln>
        </p:spPr>
      </p:sp>
      <p:sp>
        <p:nvSpPr>
          <p:cNvPr id="13" name="Text 11"/>
          <p:cNvSpPr/>
          <p:nvPr/>
        </p:nvSpPr>
        <p:spPr>
          <a:xfrm>
            <a:off x="5257800" y="1508760"/>
            <a:ext cx="640080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The consequence</a:t>
            </a:r>
            <a:endParaRPr lang="en-US" sz="1200" dirty="0"/>
          </a:p>
        </p:txBody>
      </p:sp>
      <p:sp>
        <p:nvSpPr>
          <p:cNvPr id="14" name="Shape 12"/>
          <p:cNvSpPr/>
          <p:nvPr/>
        </p:nvSpPr>
        <p:spPr>
          <a:xfrm>
            <a:off x="502920" y="1947672"/>
            <a:ext cx="4754880" cy="749808"/>
          </a:xfrm>
          <a:prstGeom prst="rect">
            <a:avLst/>
          </a:prstGeom>
          <a:solidFill>
            <a:srgbClr val="FFFFFF"/>
          </a:solidFill>
          <a:ln w="12700">
            <a:solidFill>
              <a:srgbClr val="D8DDE6"/>
            </a:solidFill>
            <a:prstDash val="solid"/>
          </a:ln>
        </p:spPr>
      </p:sp>
      <p:sp>
        <p:nvSpPr>
          <p:cNvPr id="15" name="Text 13"/>
          <p:cNvSpPr/>
          <p:nvPr/>
        </p:nvSpPr>
        <p:spPr>
          <a:xfrm>
            <a:off x="594360" y="1947672"/>
            <a:ext cx="4572000" cy="749808"/>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Personal information exposed in a breach</a:t>
            </a:r>
            <a:endParaRPr lang="en-US" sz="1500" dirty="0"/>
          </a:p>
        </p:txBody>
      </p:sp>
      <p:sp>
        <p:nvSpPr>
          <p:cNvPr id="16" name="Shape 14"/>
          <p:cNvSpPr/>
          <p:nvPr/>
        </p:nvSpPr>
        <p:spPr>
          <a:xfrm>
            <a:off x="5257800" y="1947672"/>
            <a:ext cx="6400800" cy="749808"/>
          </a:xfrm>
          <a:prstGeom prst="rect">
            <a:avLst/>
          </a:prstGeom>
          <a:solidFill>
            <a:srgbClr val="FFFFFF"/>
          </a:solidFill>
          <a:ln w="12700">
            <a:solidFill>
              <a:srgbClr val="D8DDE6"/>
            </a:solidFill>
            <a:prstDash val="solid"/>
          </a:ln>
        </p:spPr>
      </p:sp>
      <p:sp>
        <p:nvSpPr>
          <p:cNvPr id="17" name="Text 15"/>
          <p:cNvSpPr/>
          <p:nvPr/>
        </p:nvSpPr>
        <p:spPr>
          <a:xfrm>
            <a:off x="5349240" y="1947672"/>
            <a:ext cx="6217920" cy="749808"/>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Breach of APP 11 or IPP 4; notification obligations; investigation by the Information Commissioner; penalties.</a:t>
            </a:r>
            <a:endParaRPr lang="en-US" sz="1500" dirty="0"/>
          </a:p>
        </p:txBody>
      </p:sp>
      <p:sp>
        <p:nvSpPr>
          <p:cNvPr id="18" name="Shape 16"/>
          <p:cNvSpPr/>
          <p:nvPr/>
        </p:nvSpPr>
        <p:spPr>
          <a:xfrm>
            <a:off x="502920" y="2697480"/>
            <a:ext cx="4754880" cy="749808"/>
          </a:xfrm>
          <a:prstGeom prst="rect">
            <a:avLst/>
          </a:prstGeom>
          <a:solidFill>
            <a:srgbClr val="F4F6FB"/>
          </a:solidFill>
          <a:ln w="12700">
            <a:solidFill>
              <a:srgbClr val="D8DDE6"/>
            </a:solidFill>
            <a:prstDash val="solid"/>
          </a:ln>
        </p:spPr>
      </p:sp>
      <p:sp>
        <p:nvSpPr>
          <p:cNvPr id="19" name="Text 17"/>
          <p:cNvSpPr/>
          <p:nvPr/>
        </p:nvSpPr>
        <p:spPr>
          <a:xfrm>
            <a:off x="594360" y="2697480"/>
            <a:ext cx="4572000" cy="749808"/>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Data sent to an overseas provider without protection</a:t>
            </a:r>
            <a:endParaRPr lang="en-US" sz="1500" dirty="0"/>
          </a:p>
        </p:txBody>
      </p:sp>
      <p:sp>
        <p:nvSpPr>
          <p:cNvPr id="20" name="Shape 18"/>
          <p:cNvSpPr/>
          <p:nvPr/>
        </p:nvSpPr>
        <p:spPr>
          <a:xfrm>
            <a:off x="5257800" y="2697480"/>
            <a:ext cx="6400800" cy="749808"/>
          </a:xfrm>
          <a:prstGeom prst="rect">
            <a:avLst/>
          </a:prstGeom>
          <a:solidFill>
            <a:srgbClr val="F4F6FB"/>
          </a:solidFill>
          <a:ln w="12700">
            <a:solidFill>
              <a:srgbClr val="D8DDE6"/>
            </a:solidFill>
            <a:prstDash val="solid"/>
          </a:ln>
        </p:spPr>
      </p:sp>
      <p:sp>
        <p:nvSpPr>
          <p:cNvPr id="21" name="Text 19"/>
          <p:cNvSpPr/>
          <p:nvPr/>
        </p:nvSpPr>
        <p:spPr>
          <a:xfrm>
            <a:off x="5349240" y="2697480"/>
            <a:ext cx="6217920" cy="749808"/>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Breach of APP 8 or IPP 9 — the organisation remains responsible for information it sends offshore.</a:t>
            </a:r>
            <a:endParaRPr lang="en-US" sz="1500" dirty="0"/>
          </a:p>
        </p:txBody>
      </p:sp>
      <p:sp>
        <p:nvSpPr>
          <p:cNvPr id="22" name="Shape 20"/>
          <p:cNvSpPr/>
          <p:nvPr/>
        </p:nvSpPr>
        <p:spPr>
          <a:xfrm>
            <a:off x="502920" y="3447288"/>
            <a:ext cx="4754880" cy="749808"/>
          </a:xfrm>
          <a:prstGeom prst="rect">
            <a:avLst/>
          </a:prstGeom>
          <a:solidFill>
            <a:srgbClr val="FFFFFF"/>
          </a:solidFill>
          <a:ln w="12700">
            <a:solidFill>
              <a:srgbClr val="D8DDE6"/>
            </a:solidFill>
            <a:prstDash val="solid"/>
          </a:ln>
        </p:spPr>
      </p:sp>
      <p:sp>
        <p:nvSpPr>
          <p:cNvPr id="23" name="Text 21"/>
          <p:cNvSpPr/>
          <p:nvPr/>
        </p:nvSpPr>
        <p:spPr>
          <a:xfrm>
            <a:off x="594360" y="3447288"/>
            <a:ext cx="4572000" cy="749808"/>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Personal data reused for a purpose it was not collected for</a:t>
            </a:r>
            <a:endParaRPr lang="en-US" sz="1500" dirty="0"/>
          </a:p>
        </p:txBody>
      </p:sp>
      <p:sp>
        <p:nvSpPr>
          <p:cNvPr id="24" name="Shape 22"/>
          <p:cNvSpPr/>
          <p:nvPr/>
        </p:nvSpPr>
        <p:spPr>
          <a:xfrm>
            <a:off x="5257800" y="3447288"/>
            <a:ext cx="6400800" cy="749808"/>
          </a:xfrm>
          <a:prstGeom prst="rect">
            <a:avLst/>
          </a:prstGeom>
          <a:solidFill>
            <a:srgbClr val="FFFFFF"/>
          </a:solidFill>
          <a:ln w="12700">
            <a:solidFill>
              <a:srgbClr val="D8DDE6"/>
            </a:solidFill>
            <a:prstDash val="solid"/>
          </a:ln>
        </p:spPr>
      </p:sp>
      <p:sp>
        <p:nvSpPr>
          <p:cNvPr id="25" name="Text 23"/>
          <p:cNvSpPr/>
          <p:nvPr/>
        </p:nvSpPr>
        <p:spPr>
          <a:xfrm>
            <a:off x="5349240" y="3447288"/>
            <a:ext cx="6217920" cy="749808"/>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Breach of APP 6 or IPP 2.</a:t>
            </a:r>
            <a:endParaRPr lang="en-US" sz="1500" dirty="0"/>
          </a:p>
        </p:txBody>
      </p:sp>
      <p:sp>
        <p:nvSpPr>
          <p:cNvPr id="26" name="Shape 24"/>
          <p:cNvSpPr/>
          <p:nvPr/>
        </p:nvSpPr>
        <p:spPr>
          <a:xfrm>
            <a:off x="502920" y="4197096"/>
            <a:ext cx="4754880" cy="749808"/>
          </a:xfrm>
          <a:prstGeom prst="rect">
            <a:avLst/>
          </a:prstGeom>
          <a:solidFill>
            <a:srgbClr val="F4F6FB"/>
          </a:solidFill>
          <a:ln w="12700">
            <a:solidFill>
              <a:srgbClr val="D8DDE6"/>
            </a:solidFill>
            <a:prstDash val="solid"/>
          </a:ln>
        </p:spPr>
      </p:sp>
      <p:sp>
        <p:nvSpPr>
          <p:cNvPr id="27" name="Text 25"/>
          <p:cNvSpPr/>
          <p:nvPr/>
        </p:nvSpPr>
        <p:spPr>
          <a:xfrm>
            <a:off x="594360" y="4197096"/>
            <a:ext cx="4572000" cy="749808"/>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Third-party code used outside its licence</a:t>
            </a:r>
            <a:endParaRPr lang="en-US" sz="1500" dirty="0"/>
          </a:p>
        </p:txBody>
      </p:sp>
      <p:sp>
        <p:nvSpPr>
          <p:cNvPr id="28" name="Shape 26"/>
          <p:cNvSpPr/>
          <p:nvPr/>
        </p:nvSpPr>
        <p:spPr>
          <a:xfrm>
            <a:off x="5257800" y="4197096"/>
            <a:ext cx="6400800" cy="749808"/>
          </a:xfrm>
          <a:prstGeom prst="rect">
            <a:avLst/>
          </a:prstGeom>
          <a:solidFill>
            <a:srgbClr val="F4F6FB"/>
          </a:solidFill>
          <a:ln w="12700">
            <a:solidFill>
              <a:srgbClr val="D8DDE6"/>
            </a:solidFill>
            <a:prstDash val="solid"/>
          </a:ln>
        </p:spPr>
      </p:sp>
      <p:sp>
        <p:nvSpPr>
          <p:cNvPr id="29" name="Text 27"/>
          <p:cNvSpPr/>
          <p:nvPr/>
        </p:nvSpPr>
        <p:spPr>
          <a:xfrm>
            <a:off x="5349240" y="4197096"/>
            <a:ext cx="6217920" cy="749808"/>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Breach of the Copyright Act; damages, and possible removal of the product from distribution.</a:t>
            </a:r>
            <a:endParaRPr lang="en-US" sz="1500" dirty="0"/>
          </a:p>
        </p:txBody>
      </p:sp>
      <p:sp>
        <p:nvSpPr>
          <p:cNvPr id="30" name="Shape 28"/>
          <p:cNvSpPr/>
          <p:nvPr/>
        </p:nvSpPr>
        <p:spPr>
          <a:xfrm>
            <a:off x="502920" y="4946904"/>
            <a:ext cx="4754880" cy="749808"/>
          </a:xfrm>
          <a:prstGeom prst="rect">
            <a:avLst/>
          </a:prstGeom>
          <a:solidFill>
            <a:srgbClr val="FFFFFF"/>
          </a:solidFill>
          <a:ln w="12700">
            <a:solidFill>
              <a:srgbClr val="D8DDE6"/>
            </a:solidFill>
            <a:prstDash val="solid"/>
          </a:ln>
        </p:spPr>
      </p:sp>
      <p:sp>
        <p:nvSpPr>
          <p:cNvPr id="31" name="Text 29"/>
          <p:cNvSpPr/>
          <p:nvPr/>
        </p:nvSpPr>
        <p:spPr>
          <a:xfrm>
            <a:off x="594360" y="4946904"/>
            <a:ext cx="4572000" cy="749808"/>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No privacy policy, or an out-of-date one</a:t>
            </a:r>
            <a:endParaRPr lang="en-US" sz="1500" dirty="0"/>
          </a:p>
        </p:txBody>
      </p:sp>
      <p:sp>
        <p:nvSpPr>
          <p:cNvPr id="32" name="Shape 30"/>
          <p:cNvSpPr/>
          <p:nvPr/>
        </p:nvSpPr>
        <p:spPr>
          <a:xfrm>
            <a:off x="5257800" y="4946904"/>
            <a:ext cx="6400800" cy="749808"/>
          </a:xfrm>
          <a:prstGeom prst="rect">
            <a:avLst/>
          </a:prstGeom>
          <a:solidFill>
            <a:srgbClr val="FFFFFF"/>
          </a:solidFill>
          <a:ln w="12700">
            <a:solidFill>
              <a:srgbClr val="D8DDE6"/>
            </a:solidFill>
            <a:prstDash val="solid"/>
          </a:ln>
        </p:spPr>
      </p:sp>
      <p:sp>
        <p:nvSpPr>
          <p:cNvPr id="33" name="Text 31"/>
          <p:cNvSpPr/>
          <p:nvPr/>
        </p:nvSpPr>
        <p:spPr>
          <a:xfrm>
            <a:off x="5349240" y="4946904"/>
            <a:ext cx="6217920" cy="749808"/>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Breach of APP 1 or IPP 5.</a:t>
            </a:r>
            <a:endParaRPr lang="en-US" sz="1500" dirty="0"/>
          </a:p>
        </p:txBody>
      </p:sp>
      <p:sp>
        <p:nvSpPr>
          <p:cNvPr id="34" name="Shape 32"/>
          <p:cNvSpPr/>
          <p:nvPr/>
        </p:nvSpPr>
        <p:spPr>
          <a:xfrm>
            <a:off x="502920" y="5779008"/>
            <a:ext cx="11155680" cy="640080"/>
          </a:xfrm>
          <a:prstGeom prst="roundRect">
            <a:avLst>
              <a:gd name="adj" fmla="val 12857"/>
            </a:avLst>
          </a:prstGeom>
          <a:solidFill>
            <a:srgbClr val="FDE2E2"/>
          </a:solidFill>
          <a:ln w="12700">
            <a:solidFill>
              <a:srgbClr val="EF4444"/>
            </a:solidFill>
            <a:prstDash val="solid"/>
          </a:ln>
        </p:spPr>
      </p:sp>
      <p:sp>
        <p:nvSpPr>
          <p:cNvPr id="35" name="Text 33"/>
          <p:cNvSpPr/>
          <p:nvPr/>
        </p:nvSpPr>
        <p:spPr>
          <a:xfrm>
            <a:off x="822960" y="5779008"/>
            <a:ext cx="10515600" cy="640080"/>
          </a:xfrm>
          <a:prstGeom prst="rect">
            <a:avLst/>
          </a:prstGeom>
          <a:noFill/>
          <a:ln/>
        </p:spPr>
        <p:txBody>
          <a:bodyPr wrap="square" lIns="0" tIns="0" rIns="0" bIns="0" rtlCol="0" anchor="ctr"/>
          <a:lstStyle/>
          <a:p>
            <a:pPr indent="0" marL="0">
              <a:buNone/>
            </a:pPr>
            <a:r>
              <a:rPr lang="en-US" sz="1550" dirty="0">
                <a:solidFill>
                  <a:srgbClr val="111827"/>
                </a:solidFill>
                <a:latin typeface="Calibri" pitchFamily="34" charset="0"/>
                <a:ea typeface="Calibri" pitchFamily="34" charset="-122"/>
                <a:cs typeface="Calibri" pitchFamily="34" charset="-120"/>
              </a:rPr>
              <a:t>In a SAC answer, name the failure, name the Act and principle, state the consequence, then say how it is resolved. Four moves, four marks.</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F59E0B"/>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REFLECTING</a:t>
            </a:r>
            <a:endParaRPr lang="en-US" sz="1000" dirty="0"/>
          </a:p>
        </p:txBody>
      </p:sp>
      <p:sp>
        <p:nvSpPr>
          <p:cNvPr id="4" name="Shape 2"/>
          <p:cNvSpPr/>
          <p:nvPr/>
        </p:nvSpPr>
        <p:spPr>
          <a:xfrm>
            <a:off x="10908792" y="256032"/>
            <a:ext cx="822960" cy="310896"/>
          </a:xfrm>
          <a:prstGeom prst="roundRect">
            <a:avLst>
              <a:gd name="adj" fmla="val 50000"/>
            </a:avLst>
          </a:prstGeom>
          <a:solidFill>
            <a:srgbClr val="FFFFFF"/>
          </a:solidFill>
          <a:ln w="12700">
            <a:solidFill>
              <a:srgbClr val="5B6472"/>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5B6472"/>
                </a:solidFill>
                <a:latin typeface="Courier New" pitchFamily="34" charset="0"/>
                <a:ea typeface="Courier New" pitchFamily="34" charset="-122"/>
                <a:cs typeface="Courier New" pitchFamily="34" charset="-120"/>
              </a:rPr>
              <a:t>NO TECH</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Three things that go wrong here</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Check your own work against each</a:t>
            </a:r>
            <a:endParaRPr lang="en-US" sz="1500" dirty="0"/>
          </a:p>
        </p:txBody>
      </p:sp>
      <p:sp>
        <p:nvSpPr>
          <p:cNvPr id="8" name="Shape 6"/>
          <p:cNvSpPr/>
          <p:nvPr/>
        </p:nvSpPr>
        <p:spPr>
          <a:xfrm>
            <a:off x="502920" y="1463040"/>
            <a:ext cx="11155680" cy="1170432"/>
          </a:xfrm>
          <a:prstGeom prst="roundRect">
            <a:avLst>
              <a:gd name="adj" fmla="val 7031"/>
            </a:avLst>
          </a:prstGeom>
          <a:solidFill>
            <a:srgbClr val="FFFFFF"/>
          </a:solidFill>
          <a:ln w="15240">
            <a:solidFill>
              <a:srgbClr val="EF4444"/>
            </a:solidFill>
            <a:prstDash val="solid"/>
          </a:ln>
        </p:spPr>
      </p:sp>
      <p:sp>
        <p:nvSpPr>
          <p:cNvPr id="9" name="Shape 7"/>
          <p:cNvSpPr/>
          <p:nvPr/>
        </p:nvSpPr>
        <p:spPr>
          <a:xfrm>
            <a:off x="731520" y="1819656"/>
            <a:ext cx="457200" cy="457200"/>
          </a:xfrm>
          <a:prstGeom prst="ellipse">
            <a:avLst/>
          </a:prstGeom>
          <a:solidFill>
            <a:srgbClr val="EF4444"/>
          </a:solidFill>
          <a:ln/>
        </p:spPr>
      </p:sp>
      <p:sp>
        <p:nvSpPr>
          <p:cNvPr id="10" name="Text 8"/>
          <p:cNvSpPr/>
          <p:nvPr/>
        </p:nvSpPr>
        <p:spPr>
          <a:xfrm>
            <a:off x="731520" y="1819656"/>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1</a:t>
            </a:r>
            <a:endParaRPr lang="en-US" sz="1400" dirty="0"/>
          </a:p>
        </p:txBody>
      </p:sp>
      <p:sp>
        <p:nvSpPr>
          <p:cNvPr id="11" name="Text 9"/>
          <p:cNvSpPr/>
          <p:nvPr/>
        </p:nvSpPr>
        <p:spPr>
          <a:xfrm>
            <a:off x="1371600" y="1591056"/>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"The Privacy Act" with no principle named</a:t>
            </a:r>
            <a:endParaRPr lang="en-US" sz="1900" dirty="0"/>
          </a:p>
        </p:txBody>
      </p:sp>
      <p:sp>
        <p:nvSpPr>
          <p:cNvPr id="12" name="Text 10"/>
          <p:cNvSpPr/>
          <p:nvPr/>
        </p:nvSpPr>
        <p:spPr>
          <a:xfrm>
            <a:off x="1371600" y="1975104"/>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Naming the Act shows you recognised the topic. Naming APP 11 and saying what it requires is what earns the mark. Always take it to the number.</a:t>
            </a:r>
            <a:endParaRPr lang="en-US" sz="1650" dirty="0"/>
          </a:p>
        </p:txBody>
      </p:sp>
      <p:sp>
        <p:nvSpPr>
          <p:cNvPr id="13" name="Shape 11"/>
          <p:cNvSpPr/>
          <p:nvPr/>
        </p:nvSpPr>
        <p:spPr>
          <a:xfrm>
            <a:off x="502920" y="2734056"/>
            <a:ext cx="11155680" cy="1170432"/>
          </a:xfrm>
          <a:prstGeom prst="roundRect">
            <a:avLst>
              <a:gd name="adj" fmla="val 7031"/>
            </a:avLst>
          </a:prstGeom>
          <a:solidFill>
            <a:srgbClr val="FFFFFF"/>
          </a:solidFill>
          <a:ln w="15240">
            <a:solidFill>
              <a:srgbClr val="EF4444"/>
            </a:solidFill>
            <a:prstDash val="solid"/>
          </a:ln>
        </p:spPr>
      </p:sp>
      <p:sp>
        <p:nvSpPr>
          <p:cNvPr id="14" name="Shape 12"/>
          <p:cNvSpPr/>
          <p:nvPr/>
        </p:nvSpPr>
        <p:spPr>
          <a:xfrm>
            <a:off x="731520" y="3090672"/>
            <a:ext cx="457200" cy="457200"/>
          </a:xfrm>
          <a:prstGeom prst="ellipse">
            <a:avLst/>
          </a:prstGeom>
          <a:solidFill>
            <a:srgbClr val="EF4444"/>
          </a:solidFill>
          <a:ln/>
        </p:spPr>
      </p:sp>
      <p:sp>
        <p:nvSpPr>
          <p:cNvPr id="15" name="Text 13"/>
          <p:cNvSpPr/>
          <p:nvPr/>
        </p:nvSpPr>
        <p:spPr>
          <a:xfrm>
            <a:off x="731520" y="3090672"/>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2</a:t>
            </a:r>
            <a:endParaRPr lang="en-US" sz="1400" dirty="0"/>
          </a:p>
        </p:txBody>
      </p:sp>
      <p:sp>
        <p:nvSpPr>
          <p:cNvPr id="16" name="Text 14"/>
          <p:cNvSpPr/>
          <p:nvPr/>
        </p:nvSpPr>
        <p:spPr>
          <a:xfrm>
            <a:off x="1371600" y="2862072"/>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The wrong Act, because the organisation was never checked</a:t>
            </a:r>
            <a:endParaRPr lang="en-US" sz="1900" dirty="0"/>
          </a:p>
        </p:txBody>
      </p:sp>
      <p:sp>
        <p:nvSpPr>
          <p:cNvPr id="17" name="Text 15"/>
          <p:cNvSpPr/>
          <p:nvPr/>
        </p:nvSpPr>
        <p:spPr>
          <a:xfrm>
            <a:off x="1371600" y="3246120"/>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A private company is not covered by the PDPA and a council is not covered by the Privacy Act. Decide what kind of body it is before writing anything.</a:t>
            </a:r>
            <a:endParaRPr lang="en-US" sz="1650" dirty="0"/>
          </a:p>
        </p:txBody>
      </p:sp>
      <p:sp>
        <p:nvSpPr>
          <p:cNvPr id="18" name="Shape 16"/>
          <p:cNvSpPr/>
          <p:nvPr/>
        </p:nvSpPr>
        <p:spPr>
          <a:xfrm>
            <a:off x="502920" y="4005072"/>
            <a:ext cx="11155680" cy="1170432"/>
          </a:xfrm>
          <a:prstGeom prst="roundRect">
            <a:avLst>
              <a:gd name="adj" fmla="val 7031"/>
            </a:avLst>
          </a:prstGeom>
          <a:solidFill>
            <a:srgbClr val="FFFFFF"/>
          </a:solidFill>
          <a:ln w="15240">
            <a:solidFill>
              <a:srgbClr val="EF4444"/>
            </a:solidFill>
            <a:prstDash val="solid"/>
          </a:ln>
        </p:spPr>
      </p:sp>
      <p:sp>
        <p:nvSpPr>
          <p:cNvPr id="19" name="Shape 17"/>
          <p:cNvSpPr/>
          <p:nvPr/>
        </p:nvSpPr>
        <p:spPr>
          <a:xfrm>
            <a:off x="731520" y="4361688"/>
            <a:ext cx="457200" cy="457200"/>
          </a:xfrm>
          <a:prstGeom prst="ellipse">
            <a:avLst/>
          </a:prstGeom>
          <a:solidFill>
            <a:srgbClr val="EF4444"/>
          </a:solidFill>
          <a:ln/>
        </p:spPr>
      </p:sp>
      <p:sp>
        <p:nvSpPr>
          <p:cNvPr id="20" name="Text 18"/>
          <p:cNvSpPr/>
          <p:nvPr/>
        </p:nvSpPr>
        <p:spPr>
          <a:xfrm>
            <a:off x="731520" y="4361688"/>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ourier New" pitchFamily="34" charset="0"/>
                <a:ea typeface="Courier New" pitchFamily="34" charset="-122"/>
                <a:cs typeface="Courier New" pitchFamily="34" charset="-120"/>
              </a:rPr>
              <a:t>3</a:t>
            </a:r>
            <a:endParaRPr lang="en-US" sz="1400" dirty="0"/>
          </a:p>
        </p:txBody>
      </p:sp>
      <p:sp>
        <p:nvSpPr>
          <p:cNvPr id="21" name="Text 19"/>
          <p:cNvSpPr/>
          <p:nvPr/>
        </p:nvSpPr>
        <p:spPr>
          <a:xfrm>
            <a:off x="1371600" y="4133088"/>
            <a:ext cx="10058400" cy="384048"/>
          </a:xfrm>
          <a:prstGeom prst="rect">
            <a:avLst/>
          </a:prstGeom>
          <a:noFill/>
          <a:ln/>
        </p:spPr>
        <p:txBody>
          <a:bodyPr wrap="square" lIns="0" tIns="0" rIns="0" bIns="0" rtlCol="0" anchor="ctr"/>
          <a:lstStyle/>
          <a:p>
            <a:pPr indent="0" marL="0">
              <a:buNone/>
            </a:pPr>
            <a:r>
              <a:rPr lang="en-US" sz="1900" b="1" dirty="0">
                <a:solidFill>
                  <a:srgbClr val="111827"/>
                </a:solidFill>
                <a:latin typeface="Bookman Old Style" pitchFamily="34" charset="0"/>
                <a:ea typeface="Bookman Old Style" pitchFamily="34" charset="-122"/>
                <a:cs typeface="Bookman Old Style" pitchFamily="34" charset="-120"/>
              </a:rPr>
              <a:t>Treating the Essential Eight as though it were law</a:t>
            </a:r>
            <a:endParaRPr lang="en-US" sz="1900" dirty="0"/>
          </a:p>
        </p:txBody>
      </p:sp>
      <p:sp>
        <p:nvSpPr>
          <p:cNvPr id="22" name="Text 20"/>
          <p:cNvSpPr/>
          <p:nvPr/>
        </p:nvSpPr>
        <p:spPr>
          <a:xfrm>
            <a:off x="1371600" y="4517136"/>
            <a:ext cx="10058400" cy="566928"/>
          </a:xfrm>
          <a:prstGeom prst="rect">
            <a:avLst/>
          </a:prstGeom>
          <a:noFill/>
          <a:ln/>
        </p:spPr>
        <p:txBody>
          <a:bodyPr wrap="square" lIns="0" tIns="0" rIns="0" bIns="0" rtlCol="0" anchor="t"/>
          <a:lstStyle/>
          <a:p>
            <a:pPr indent="0" marL="0">
              <a:lnSpc>
                <a:spcPct val="115000"/>
              </a:lnSpc>
              <a:buNone/>
            </a:pPr>
            <a:r>
              <a:rPr lang="en-US" sz="1650" dirty="0">
                <a:solidFill>
                  <a:srgbClr val="5B6472"/>
                </a:solidFill>
                <a:latin typeface="Calibri" pitchFamily="34" charset="0"/>
                <a:ea typeface="Calibri" pitchFamily="34" charset="-122"/>
                <a:cs typeface="Calibri" pitchFamily="34" charset="-120"/>
              </a:rPr>
              <a:t>It is guidance. An organisation that ignores it breaks no law — which is exactly why a recommendation has to argue for it on risk, not on obligation.</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10B981"/>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APPLYING</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Laptop gate — open your workbook</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L7_LegislationFrameworks_workbook.html · Sections 1–7 · 30 minutes</a:t>
            </a:r>
            <a:endParaRPr lang="en-US" sz="1500" dirty="0"/>
          </a:p>
        </p:txBody>
      </p:sp>
      <p:sp>
        <p:nvSpPr>
          <p:cNvPr id="8" name="Shape 6"/>
          <p:cNvSpPr/>
          <p:nvPr/>
        </p:nvSpPr>
        <p:spPr>
          <a:xfrm>
            <a:off x="502920" y="1298448"/>
            <a:ext cx="11155680" cy="713232"/>
          </a:xfrm>
          <a:prstGeom prst="roundRect">
            <a:avLst>
              <a:gd name="adj" fmla="val 11538"/>
            </a:avLst>
          </a:prstGeom>
          <a:solidFill>
            <a:srgbClr val="D1FAE5"/>
          </a:solidFill>
          <a:ln w="12700">
            <a:solidFill>
              <a:srgbClr val="10B981"/>
            </a:solidFill>
            <a:prstDash val="solid"/>
          </a:ln>
        </p:spPr>
      </p:sp>
      <p:sp>
        <p:nvSpPr>
          <p:cNvPr id="9" name="Text 7"/>
          <p:cNvSpPr/>
          <p:nvPr/>
        </p:nvSpPr>
        <p:spPr>
          <a:xfrm>
            <a:off x="822960" y="1298448"/>
            <a:ext cx="10515600" cy="713232"/>
          </a:xfrm>
          <a:prstGeom prst="rect">
            <a:avLst/>
          </a:prstGeom>
          <a:noFill/>
          <a:ln/>
        </p:spPr>
        <p:txBody>
          <a:bodyPr wrap="square" lIns="0" tIns="0" rIns="0" bIns="0" rtlCol="0" anchor="ctr"/>
          <a:lstStyle/>
          <a:p>
            <a:pPr indent="0" marL="0">
              <a:lnSpc>
                <a:spcPct val="120000"/>
              </a:lnSpc>
              <a:buNone/>
            </a:pPr>
            <a:r>
              <a:rPr lang="en-US" sz="1900" b="1" dirty="0">
                <a:solidFill>
                  <a:srgbClr val="111827"/>
                </a:solidFill>
                <a:latin typeface="Calibri" pitchFamily="34" charset="0"/>
                <a:ea typeface="Calibri" pitchFamily="34" charset="-122"/>
                <a:cs typeface="Calibri" pitchFamily="34" charset="-120"/>
              </a:rPr>
              <a:t>Laptops open now. Sections 1 and 2 are recall drills — do them without your notes first, then check, then correct.</a:t>
            </a:r>
            <a:endParaRPr lang="en-US" sz="1900" dirty="0"/>
          </a:p>
        </p:txBody>
      </p:sp>
      <p:sp>
        <p:nvSpPr>
          <p:cNvPr id="10" name="Shape 8"/>
          <p:cNvSpPr/>
          <p:nvPr/>
        </p:nvSpPr>
        <p:spPr>
          <a:xfrm>
            <a:off x="502920" y="2286000"/>
            <a:ext cx="3611880" cy="3246120"/>
          </a:xfrm>
          <a:prstGeom prst="roundRect">
            <a:avLst>
              <a:gd name="adj" fmla="val 2535"/>
            </a:avLst>
          </a:prstGeom>
          <a:solidFill>
            <a:srgbClr val="FFFFFF"/>
          </a:solidFill>
          <a:ln w="19050">
            <a:solidFill>
              <a:srgbClr val="10B981"/>
            </a:solidFill>
            <a:prstDash val="solid"/>
          </a:ln>
        </p:spPr>
      </p:sp>
      <p:sp>
        <p:nvSpPr>
          <p:cNvPr id="11" name="Shape 9"/>
          <p:cNvSpPr/>
          <p:nvPr/>
        </p:nvSpPr>
        <p:spPr>
          <a:xfrm>
            <a:off x="731520" y="2487168"/>
            <a:ext cx="1298448" cy="274320"/>
          </a:xfrm>
          <a:prstGeom prst="roundRect">
            <a:avLst>
              <a:gd name="adj" fmla="val 50000"/>
            </a:avLst>
          </a:prstGeom>
          <a:solidFill>
            <a:srgbClr val="10B981"/>
          </a:solidFill>
          <a:ln/>
        </p:spPr>
      </p:sp>
      <p:sp>
        <p:nvSpPr>
          <p:cNvPr id="12" name="Text 10"/>
          <p:cNvSpPr/>
          <p:nvPr/>
        </p:nvSpPr>
        <p:spPr>
          <a:xfrm>
            <a:off x="731520" y="2487168"/>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FOUNDATION</a:t>
            </a:r>
            <a:endParaRPr lang="en-US" sz="900" dirty="0"/>
          </a:p>
        </p:txBody>
      </p:sp>
      <p:sp>
        <p:nvSpPr>
          <p:cNvPr id="13" name="Text 11"/>
          <p:cNvSpPr/>
          <p:nvPr/>
        </p:nvSpPr>
        <p:spPr>
          <a:xfrm>
            <a:off x="2130552" y="2487168"/>
            <a:ext cx="178308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Sections 1–3</a:t>
            </a:r>
            <a:endParaRPr lang="en-US" sz="1200" dirty="0"/>
          </a:p>
        </p:txBody>
      </p:sp>
      <p:sp>
        <p:nvSpPr>
          <p:cNvPr id="14" name="Text 12"/>
          <p:cNvSpPr/>
          <p:nvPr/>
        </p:nvSpPr>
        <p:spPr>
          <a:xfrm>
            <a:off x="777240" y="2926080"/>
            <a:ext cx="3108960" cy="23774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Sort statements into law and framework</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Match APPs and IPPs to what they require</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Identify Essential Eight strategies and maturity levels</a:t>
            </a:r>
            <a:endParaRPr lang="en-US" sz="1600" dirty="0"/>
          </a:p>
        </p:txBody>
      </p:sp>
      <p:sp>
        <p:nvSpPr>
          <p:cNvPr id="15" name="Shape 13"/>
          <p:cNvSpPr/>
          <p:nvPr/>
        </p:nvSpPr>
        <p:spPr>
          <a:xfrm>
            <a:off x="4325112" y="2286000"/>
            <a:ext cx="3611880" cy="3246120"/>
          </a:xfrm>
          <a:prstGeom prst="roundRect">
            <a:avLst>
              <a:gd name="adj" fmla="val 2535"/>
            </a:avLst>
          </a:prstGeom>
          <a:solidFill>
            <a:srgbClr val="FFFFFF"/>
          </a:solidFill>
          <a:ln w="19050">
            <a:solidFill>
              <a:srgbClr val="F59E0B"/>
            </a:solidFill>
            <a:prstDash val="solid"/>
          </a:ln>
        </p:spPr>
      </p:sp>
      <p:sp>
        <p:nvSpPr>
          <p:cNvPr id="16" name="Shape 14"/>
          <p:cNvSpPr/>
          <p:nvPr/>
        </p:nvSpPr>
        <p:spPr>
          <a:xfrm>
            <a:off x="4553712" y="2487168"/>
            <a:ext cx="1298448" cy="274320"/>
          </a:xfrm>
          <a:prstGeom prst="roundRect">
            <a:avLst>
              <a:gd name="adj" fmla="val 50000"/>
            </a:avLst>
          </a:prstGeom>
          <a:solidFill>
            <a:srgbClr val="F59E0B"/>
          </a:solidFill>
          <a:ln/>
        </p:spPr>
      </p:sp>
      <p:sp>
        <p:nvSpPr>
          <p:cNvPr id="17" name="Text 15"/>
          <p:cNvSpPr/>
          <p:nvPr/>
        </p:nvSpPr>
        <p:spPr>
          <a:xfrm>
            <a:off x="4553712" y="2487168"/>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DEVELOPING</a:t>
            </a:r>
            <a:endParaRPr lang="en-US" sz="900" dirty="0"/>
          </a:p>
        </p:txBody>
      </p:sp>
      <p:sp>
        <p:nvSpPr>
          <p:cNvPr id="18" name="Text 16"/>
          <p:cNvSpPr/>
          <p:nvPr/>
        </p:nvSpPr>
        <p:spPr>
          <a:xfrm>
            <a:off x="5952744" y="2487168"/>
            <a:ext cx="178308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Sections 4–5</a:t>
            </a:r>
            <a:endParaRPr lang="en-US" sz="1200" dirty="0"/>
          </a:p>
        </p:txBody>
      </p:sp>
      <p:sp>
        <p:nvSpPr>
          <p:cNvPr id="19" name="Text 17"/>
          <p:cNvSpPr/>
          <p:nvPr/>
        </p:nvSpPr>
        <p:spPr>
          <a:xfrm>
            <a:off x="4599432" y="2926080"/>
            <a:ext cx="3108960" cy="23774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Decide which Act applies to six organisations</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Name the principle breached and state the consequence</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Turn Essential Eight rows into measurable criteria</a:t>
            </a:r>
            <a:endParaRPr lang="en-US" sz="1600" dirty="0"/>
          </a:p>
        </p:txBody>
      </p:sp>
      <p:sp>
        <p:nvSpPr>
          <p:cNvPr id="20" name="Shape 18"/>
          <p:cNvSpPr/>
          <p:nvPr/>
        </p:nvSpPr>
        <p:spPr>
          <a:xfrm>
            <a:off x="8147304" y="2286000"/>
            <a:ext cx="3611880" cy="3246120"/>
          </a:xfrm>
          <a:prstGeom prst="roundRect">
            <a:avLst>
              <a:gd name="adj" fmla="val 2535"/>
            </a:avLst>
          </a:prstGeom>
          <a:solidFill>
            <a:srgbClr val="FFFFFF"/>
          </a:solidFill>
          <a:ln w="19050">
            <a:solidFill>
              <a:srgbClr val="8B5CF6"/>
            </a:solidFill>
            <a:prstDash val="solid"/>
          </a:ln>
        </p:spPr>
      </p:sp>
      <p:sp>
        <p:nvSpPr>
          <p:cNvPr id="21" name="Shape 19"/>
          <p:cNvSpPr/>
          <p:nvPr/>
        </p:nvSpPr>
        <p:spPr>
          <a:xfrm>
            <a:off x="8375904" y="2487168"/>
            <a:ext cx="1298448" cy="274320"/>
          </a:xfrm>
          <a:prstGeom prst="roundRect">
            <a:avLst>
              <a:gd name="adj" fmla="val 50000"/>
            </a:avLst>
          </a:prstGeom>
          <a:solidFill>
            <a:srgbClr val="8B5CF6"/>
          </a:solidFill>
          <a:ln/>
        </p:spPr>
      </p:sp>
      <p:sp>
        <p:nvSpPr>
          <p:cNvPr id="22" name="Text 20"/>
          <p:cNvSpPr/>
          <p:nvPr/>
        </p:nvSpPr>
        <p:spPr>
          <a:xfrm>
            <a:off x="8375904" y="2487168"/>
            <a:ext cx="1298448" cy="274320"/>
          </a:xfrm>
          <a:prstGeom prst="rect">
            <a:avLst/>
          </a:prstGeom>
          <a:noFill/>
          <a:ln/>
        </p:spPr>
        <p:txBody>
          <a:bodyPr wrap="square" lIns="0" tIns="0" rIns="0" bIns="0" rtlCol="0" anchor="ctr"/>
          <a:lstStyle/>
          <a:p>
            <a:pPr algn="ctr" indent="0" marL="0">
              <a:buNone/>
            </a:pPr>
            <a:r>
              <a:rPr lang="en-US" sz="900" b="1" spc="60" kern="0" dirty="0">
                <a:solidFill>
                  <a:srgbClr val="FFFFFF"/>
                </a:solidFill>
                <a:latin typeface="Courier New" pitchFamily="34" charset="0"/>
                <a:ea typeface="Courier New" pitchFamily="34" charset="-122"/>
                <a:cs typeface="Courier New" pitchFamily="34" charset="-120"/>
              </a:rPr>
              <a:t>EXTENDING</a:t>
            </a:r>
            <a:endParaRPr lang="en-US" sz="900" dirty="0"/>
          </a:p>
        </p:txBody>
      </p:sp>
      <p:sp>
        <p:nvSpPr>
          <p:cNvPr id="23" name="Text 21"/>
          <p:cNvSpPr/>
          <p:nvPr/>
        </p:nvSpPr>
        <p:spPr>
          <a:xfrm>
            <a:off x="9774936" y="2487168"/>
            <a:ext cx="1783080" cy="274320"/>
          </a:xfrm>
          <a:prstGeom prst="rect">
            <a:avLst/>
          </a:prstGeom>
          <a:noFill/>
          <a:ln/>
        </p:spPr>
        <p:txBody>
          <a:bodyPr wrap="square" lIns="0" tIns="0" rIns="0" bIns="0" rtlCol="0" anchor="ctr"/>
          <a:lstStyle/>
          <a:p>
            <a:pPr indent="0" marL="0">
              <a:buNone/>
            </a:pPr>
            <a:r>
              <a:rPr lang="en-US" sz="1200" b="1" dirty="0">
                <a:solidFill>
                  <a:srgbClr val="5B6472"/>
                </a:solidFill>
                <a:latin typeface="Courier New" pitchFamily="34" charset="0"/>
                <a:ea typeface="Courier New" pitchFamily="34" charset="-122"/>
                <a:cs typeface="Courier New" pitchFamily="34" charset="-120"/>
              </a:rPr>
              <a:t>Section 6</a:t>
            </a:r>
            <a:endParaRPr lang="en-US" sz="1200" dirty="0"/>
          </a:p>
        </p:txBody>
      </p:sp>
      <p:sp>
        <p:nvSpPr>
          <p:cNvPr id="24" name="Text 22"/>
          <p:cNvSpPr/>
          <p:nvPr/>
        </p:nvSpPr>
        <p:spPr>
          <a:xfrm>
            <a:off x="8421624" y="2926080"/>
            <a:ext cx="3108960" cy="2377440"/>
          </a:xfrm>
          <a:prstGeom prst="rect">
            <a:avLst/>
          </a:prstGeom>
          <a:noFill/>
          <a:ln/>
        </p:spPr>
        <p:txBody>
          <a:bodyPr wrap="square" lIns="0" tIns="0" rIns="0" bIns="0" rtlCol="0" anchor="t"/>
          <a:lstStyle/>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Justify a recommendation using a named framework</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Argue whether compliance and security are the same thing</a:t>
            </a:r>
            <a:endParaRPr lang="en-US" sz="1600" dirty="0"/>
          </a:p>
          <a:p>
            <a:pPr marL="342900" indent="-342900">
              <a:lnSpc>
                <a:spcPct val="115000"/>
              </a:lnSpc>
              <a:spcAft>
                <a:spcPts val="800"/>
              </a:spcAft>
              <a:buSzPct val="100000"/>
              <a:buChar char="•"/>
            </a:pPr>
            <a:r>
              <a:rPr lang="en-US" sz="1600" dirty="0">
                <a:solidFill>
                  <a:srgbClr val="111827"/>
                </a:solidFill>
                <a:latin typeface="Calibri" pitchFamily="34" charset="0"/>
                <a:ea typeface="Calibri" pitchFamily="34" charset="-122"/>
                <a:cs typeface="Calibri" pitchFamily="34" charset="-120"/>
              </a:rPr>
              <a:t>Explain how an evaluation demonstrates reasonable steps</a:t>
            </a:r>
            <a:endParaRPr lang="en-US" sz="1600" dirty="0"/>
          </a:p>
        </p:txBody>
      </p:sp>
      <p:sp>
        <p:nvSpPr>
          <p:cNvPr id="25" name="Shape 23"/>
          <p:cNvSpPr/>
          <p:nvPr/>
        </p:nvSpPr>
        <p:spPr>
          <a:xfrm>
            <a:off x="502920" y="5715000"/>
            <a:ext cx="11155680" cy="749808"/>
          </a:xfrm>
          <a:prstGeom prst="roundRect">
            <a:avLst>
              <a:gd name="adj" fmla="val 10976"/>
            </a:avLst>
          </a:prstGeom>
          <a:solidFill>
            <a:srgbClr val="FFFFFF"/>
          </a:solidFill>
          <a:ln w="12700">
            <a:solidFill>
              <a:srgbClr val="4361EE"/>
            </a:solidFill>
            <a:prstDash val="solid"/>
          </a:ln>
        </p:spPr>
      </p:sp>
      <p:sp>
        <p:nvSpPr>
          <p:cNvPr id="26" name="Text 24"/>
          <p:cNvSpPr/>
          <p:nvPr/>
        </p:nvSpPr>
        <p:spPr>
          <a:xfrm>
            <a:off x="822960" y="5715000"/>
            <a:ext cx="10515600" cy="749808"/>
          </a:xfrm>
          <a:prstGeom prst="rect">
            <a:avLst/>
          </a:prstGeom>
          <a:noFill/>
          <a:ln/>
        </p:spPr>
        <p:txBody>
          <a:bodyPr wrap="square" lIns="0" tIns="0" rIns="0" bIns="0" rtlCol="0" anchor="ctr"/>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Everyone completes Foundation, and everyone should attempt Section 4 — deciding which Act applies is worth more marks in the SAC than reciting all ten principles.</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F59E0B"/>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REFLECTING</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Check in — where should you be?</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10 minutes before the exit ticket</a:t>
            </a:r>
            <a:endParaRPr lang="en-US" sz="1500" dirty="0"/>
          </a:p>
        </p:txBody>
      </p:sp>
      <p:sp>
        <p:nvSpPr>
          <p:cNvPr id="8" name="Shape 6"/>
          <p:cNvSpPr/>
          <p:nvPr/>
        </p:nvSpPr>
        <p:spPr>
          <a:xfrm>
            <a:off x="502920" y="1508760"/>
            <a:ext cx="3291840" cy="438912"/>
          </a:xfrm>
          <a:prstGeom prst="rect">
            <a:avLst/>
          </a:prstGeom>
          <a:solidFill>
            <a:srgbClr val="F59E0B"/>
          </a:solidFill>
          <a:ln w="12700">
            <a:solidFill>
              <a:srgbClr val="F59E0B"/>
            </a:solidFill>
            <a:prstDash val="solid"/>
          </a:ln>
        </p:spPr>
      </p:sp>
      <p:sp>
        <p:nvSpPr>
          <p:cNvPr id="9" name="Text 7"/>
          <p:cNvSpPr/>
          <p:nvPr/>
        </p:nvSpPr>
        <p:spPr>
          <a:xfrm>
            <a:off x="502920" y="1508760"/>
            <a:ext cx="329184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Success criterion</a:t>
            </a:r>
            <a:endParaRPr lang="en-US" sz="1200" dirty="0"/>
          </a:p>
        </p:txBody>
      </p:sp>
      <p:sp>
        <p:nvSpPr>
          <p:cNvPr id="10" name="Shape 8"/>
          <p:cNvSpPr/>
          <p:nvPr/>
        </p:nvSpPr>
        <p:spPr>
          <a:xfrm>
            <a:off x="3794760" y="1508760"/>
            <a:ext cx="4023360" cy="438912"/>
          </a:xfrm>
          <a:prstGeom prst="rect">
            <a:avLst/>
          </a:prstGeom>
          <a:solidFill>
            <a:srgbClr val="F59E0B"/>
          </a:solidFill>
          <a:ln w="12700">
            <a:solidFill>
              <a:srgbClr val="F59E0B"/>
            </a:solidFill>
            <a:prstDash val="solid"/>
          </a:ln>
        </p:spPr>
      </p:sp>
      <p:sp>
        <p:nvSpPr>
          <p:cNvPr id="11" name="Text 9"/>
          <p:cNvSpPr/>
          <p:nvPr/>
        </p:nvSpPr>
        <p:spPr>
          <a:xfrm>
            <a:off x="3794760" y="1508760"/>
            <a:ext cx="402336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You are on track if…</a:t>
            </a:r>
            <a:endParaRPr lang="en-US" sz="1200" dirty="0"/>
          </a:p>
        </p:txBody>
      </p:sp>
      <p:sp>
        <p:nvSpPr>
          <p:cNvPr id="12" name="Shape 10"/>
          <p:cNvSpPr/>
          <p:nvPr/>
        </p:nvSpPr>
        <p:spPr>
          <a:xfrm>
            <a:off x="7818120" y="1508760"/>
            <a:ext cx="3840480" cy="438912"/>
          </a:xfrm>
          <a:prstGeom prst="rect">
            <a:avLst/>
          </a:prstGeom>
          <a:solidFill>
            <a:srgbClr val="F59E0B"/>
          </a:solidFill>
          <a:ln w="12700">
            <a:solidFill>
              <a:srgbClr val="F59E0B"/>
            </a:solidFill>
            <a:prstDash val="solid"/>
          </a:ln>
        </p:spPr>
      </p:sp>
      <p:sp>
        <p:nvSpPr>
          <p:cNvPr id="13" name="Text 11"/>
          <p:cNvSpPr/>
          <p:nvPr/>
        </p:nvSpPr>
        <p:spPr>
          <a:xfrm>
            <a:off x="7818120" y="1508760"/>
            <a:ext cx="38404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Stuck? Try this</a:t>
            </a:r>
            <a:endParaRPr lang="en-US" sz="1200" dirty="0"/>
          </a:p>
        </p:txBody>
      </p:sp>
      <p:sp>
        <p:nvSpPr>
          <p:cNvPr id="14" name="Shape 12"/>
          <p:cNvSpPr/>
          <p:nvPr/>
        </p:nvSpPr>
        <p:spPr>
          <a:xfrm>
            <a:off x="502920" y="1947672"/>
            <a:ext cx="3291840" cy="766267"/>
          </a:xfrm>
          <a:prstGeom prst="rect">
            <a:avLst/>
          </a:prstGeom>
          <a:solidFill>
            <a:srgbClr val="FFFFFF"/>
          </a:solidFill>
          <a:ln w="12700">
            <a:solidFill>
              <a:srgbClr val="D8DDE6"/>
            </a:solidFill>
            <a:prstDash val="solid"/>
          </a:ln>
        </p:spPr>
      </p:sp>
      <p:sp>
        <p:nvSpPr>
          <p:cNvPr id="15" name="Text 13"/>
          <p:cNvSpPr/>
          <p:nvPr/>
        </p:nvSpPr>
        <p:spPr>
          <a:xfrm>
            <a:off x="594360" y="1947672"/>
            <a:ext cx="310896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Name the five instruments</a:t>
            </a:r>
            <a:endParaRPr lang="en-US" sz="1500" dirty="0"/>
          </a:p>
        </p:txBody>
      </p:sp>
      <p:sp>
        <p:nvSpPr>
          <p:cNvPr id="16" name="Shape 14"/>
          <p:cNvSpPr/>
          <p:nvPr/>
        </p:nvSpPr>
        <p:spPr>
          <a:xfrm>
            <a:off x="3794760" y="1947672"/>
            <a:ext cx="4023360" cy="766267"/>
          </a:xfrm>
          <a:prstGeom prst="rect">
            <a:avLst/>
          </a:prstGeom>
          <a:solidFill>
            <a:srgbClr val="FFFFFF"/>
          </a:solidFill>
          <a:ln w="12700">
            <a:solidFill>
              <a:srgbClr val="D8DDE6"/>
            </a:solidFill>
            <a:prstDash val="solid"/>
          </a:ln>
        </p:spPr>
      </p:sp>
      <p:sp>
        <p:nvSpPr>
          <p:cNvPr id="17" name="Text 15"/>
          <p:cNvSpPr/>
          <p:nvPr/>
        </p:nvSpPr>
        <p:spPr>
          <a:xfrm>
            <a:off x="3886200" y="1947672"/>
            <a:ext cx="384048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You can say which are law and which are guidance</a:t>
            </a:r>
            <a:endParaRPr lang="en-US" sz="1500" dirty="0"/>
          </a:p>
        </p:txBody>
      </p:sp>
      <p:sp>
        <p:nvSpPr>
          <p:cNvPr id="18" name="Shape 16"/>
          <p:cNvSpPr/>
          <p:nvPr/>
        </p:nvSpPr>
        <p:spPr>
          <a:xfrm>
            <a:off x="7818120" y="1947672"/>
            <a:ext cx="3840480" cy="766267"/>
          </a:xfrm>
          <a:prstGeom prst="rect">
            <a:avLst/>
          </a:prstGeom>
          <a:solidFill>
            <a:srgbClr val="FFFFFF"/>
          </a:solidFill>
          <a:ln w="12700">
            <a:solidFill>
              <a:srgbClr val="D8DDE6"/>
            </a:solidFill>
            <a:prstDash val="solid"/>
          </a:ln>
        </p:spPr>
      </p:sp>
      <p:sp>
        <p:nvSpPr>
          <p:cNvPr id="19" name="Text 17"/>
          <p:cNvSpPr/>
          <p:nvPr/>
        </p:nvSpPr>
        <p:spPr>
          <a:xfrm>
            <a:off x="7909560" y="1947672"/>
            <a:ext cx="365760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Ask what happens if each one is ignored</a:t>
            </a:r>
            <a:endParaRPr lang="en-US" sz="1500" dirty="0"/>
          </a:p>
        </p:txBody>
      </p:sp>
      <p:sp>
        <p:nvSpPr>
          <p:cNvPr id="20" name="Shape 18"/>
          <p:cNvSpPr/>
          <p:nvPr/>
        </p:nvSpPr>
        <p:spPr>
          <a:xfrm>
            <a:off x="502920" y="2713939"/>
            <a:ext cx="3291840" cy="766267"/>
          </a:xfrm>
          <a:prstGeom prst="rect">
            <a:avLst/>
          </a:prstGeom>
          <a:solidFill>
            <a:srgbClr val="F4F6FB"/>
          </a:solidFill>
          <a:ln w="12700">
            <a:solidFill>
              <a:srgbClr val="D8DDE6"/>
            </a:solidFill>
            <a:prstDash val="solid"/>
          </a:ln>
        </p:spPr>
      </p:sp>
      <p:sp>
        <p:nvSpPr>
          <p:cNvPr id="21" name="Text 19"/>
          <p:cNvSpPr/>
          <p:nvPr/>
        </p:nvSpPr>
        <p:spPr>
          <a:xfrm>
            <a:off x="594360" y="2713939"/>
            <a:ext cx="310896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State what APP 11 requires</a:t>
            </a:r>
            <a:endParaRPr lang="en-US" sz="1500" dirty="0"/>
          </a:p>
        </p:txBody>
      </p:sp>
      <p:sp>
        <p:nvSpPr>
          <p:cNvPr id="22" name="Shape 20"/>
          <p:cNvSpPr/>
          <p:nvPr/>
        </p:nvSpPr>
        <p:spPr>
          <a:xfrm>
            <a:off x="3794760" y="2713939"/>
            <a:ext cx="4023360" cy="766267"/>
          </a:xfrm>
          <a:prstGeom prst="rect">
            <a:avLst/>
          </a:prstGeom>
          <a:solidFill>
            <a:srgbClr val="F4F6FB"/>
          </a:solidFill>
          <a:ln w="12700">
            <a:solidFill>
              <a:srgbClr val="D8DDE6"/>
            </a:solidFill>
            <a:prstDash val="solid"/>
          </a:ln>
        </p:spPr>
      </p:sp>
      <p:sp>
        <p:nvSpPr>
          <p:cNvPr id="23" name="Text 21"/>
          <p:cNvSpPr/>
          <p:nvPr/>
        </p:nvSpPr>
        <p:spPr>
          <a:xfrm>
            <a:off x="3886200" y="2713939"/>
            <a:ext cx="384048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You can say it without the phrase "keeps data safe"</a:t>
            </a:r>
            <a:endParaRPr lang="en-US" sz="1500" dirty="0"/>
          </a:p>
        </p:txBody>
      </p:sp>
      <p:sp>
        <p:nvSpPr>
          <p:cNvPr id="24" name="Shape 22"/>
          <p:cNvSpPr/>
          <p:nvPr/>
        </p:nvSpPr>
        <p:spPr>
          <a:xfrm>
            <a:off x="7818120" y="2713939"/>
            <a:ext cx="3840480" cy="766267"/>
          </a:xfrm>
          <a:prstGeom prst="rect">
            <a:avLst/>
          </a:prstGeom>
          <a:solidFill>
            <a:srgbClr val="F4F6FB"/>
          </a:solidFill>
          <a:ln w="12700">
            <a:solidFill>
              <a:srgbClr val="D8DDE6"/>
            </a:solidFill>
            <a:prstDash val="solid"/>
          </a:ln>
        </p:spPr>
      </p:sp>
      <p:sp>
        <p:nvSpPr>
          <p:cNvPr id="25" name="Text 23"/>
          <p:cNvSpPr/>
          <p:nvPr/>
        </p:nvSpPr>
        <p:spPr>
          <a:xfrm>
            <a:off x="7909560" y="2713939"/>
            <a:ext cx="365760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The wording is about reasonable steps, and about destruction</a:t>
            </a:r>
            <a:endParaRPr lang="en-US" sz="1500" dirty="0"/>
          </a:p>
        </p:txBody>
      </p:sp>
      <p:sp>
        <p:nvSpPr>
          <p:cNvPr id="26" name="Shape 24"/>
          <p:cNvSpPr/>
          <p:nvPr/>
        </p:nvSpPr>
        <p:spPr>
          <a:xfrm>
            <a:off x="502920" y="3480206"/>
            <a:ext cx="3291840" cy="766267"/>
          </a:xfrm>
          <a:prstGeom prst="rect">
            <a:avLst/>
          </a:prstGeom>
          <a:solidFill>
            <a:srgbClr val="FFFFFF"/>
          </a:solidFill>
          <a:ln w="12700">
            <a:solidFill>
              <a:srgbClr val="D8DDE6"/>
            </a:solidFill>
            <a:prstDash val="solid"/>
          </a:ln>
        </p:spPr>
      </p:sp>
      <p:sp>
        <p:nvSpPr>
          <p:cNvPr id="27" name="Text 25"/>
          <p:cNvSpPr/>
          <p:nvPr/>
        </p:nvSpPr>
        <p:spPr>
          <a:xfrm>
            <a:off x="594360" y="3480206"/>
            <a:ext cx="310896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Choose the right Act</a:t>
            </a:r>
            <a:endParaRPr lang="en-US" sz="1500" dirty="0"/>
          </a:p>
        </p:txBody>
      </p:sp>
      <p:sp>
        <p:nvSpPr>
          <p:cNvPr id="28" name="Shape 26"/>
          <p:cNvSpPr/>
          <p:nvPr/>
        </p:nvSpPr>
        <p:spPr>
          <a:xfrm>
            <a:off x="3794760" y="3480206"/>
            <a:ext cx="4023360" cy="766267"/>
          </a:xfrm>
          <a:prstGeom prst="rect">
            <a:avLst/>
          </a:prstGeom>
          <a:solidFill>
            <a:srgbClr val="FFFFFF"/>
          </a:solidFill>
          <a:ln w="12700">
            <a:solidFill>
              <a:srgbClr val="D8DDE6"/>
            </a:solidFill>
            <a:prstDash val="solid"/>
          </a:ln>
        </p:spPr>
      </p:sp>
      <p:sp>
        <p:nvSpPr>
          <p:cNvPr id="29" name="Text 27"/>
          <p:cNvSpPr/>
          <p:nvPr/>
        </p:nvSpPr>
        <p:spPr>
          <a:xfrm>
            <a:off x="3886200" y="3480206"/>
            <a:ext cx="384048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You checked what kind of organisation it is first</a:t>
            </a:r>
            <a:endParaRPr lang="en-US" sz="1500" dirty="0"/>
          </a:p>
        </p:txBody>
      </p:sp>
      <p:sp>
        <p:nvSpPr>
          <p:cNvPr id="30" name="Shape 28"/>
          <p:cNvSpPr/>
          <p:nvPr/>
        </p:nvSpPr>
        <p:spPr>
          <a:xfrm>
            <a:off x="7818120" y="3480206"/>
            <a:ext cx="3840480" cy="766267"/>
          </a:xfrm>
          <a:prstGeom prst="rect">
            <a:avLst/>
          </a:prstGeom>
          <a:solidFill>
            <a:srgbClr val="FFFFFF"/>
          </a:solidFill>
          <a:ln w="12700">
            <a:solidFill>
              <a:srgbClr val="D8DDE6"/>
            </a:solidFill>
            <a:prstDash val="solid"/>
          </a:ln>
        </p:spPr>
      </p:sp>
      <p:sp>
        <p:nvSpPr>
          <p:cNvPr id="31" name="Text 29"/>
          <p:cNvSpPr/>
          <p:nvPr/>
        </p:nvSpPr>
        <p:spPr>
          <a:xfrm>
            <a:off x="7909560" y="3480206"/>
            <a:ext cx="365760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Private company, or Victorian public body?</a:t>
            </a:r>
            <a:endParaRPr lang="en-US" sz="1500" dirty="0"/>
          </a:p>
        </p:txBody>
      </p:sp>
      <p:sp>
        <p:nvSpPr>
          <p:cNvPr id="32" name="Shape 30"/>
          <p:cNvSpPr/>
          <p:nvPr/>
        </p:nvSpPr>
        <p:spPr>
          <a:xfrm>
            <a:off x="502920" y="4246474"/>
            <a:ext cx="3291840" cy="766267"/>
          </a:xfrm>
          <a:prstGeom prst="rect">
            <a:avLst/>
          </a:prstGeom>
          <a:solidFill>
            <a:srgbClr val="F4F6FB"/>
          </a:solidFill>
          <a:ln w="12700">
            <a:solidFill>
              <a:srgbClr val="D8DDE6"/>
            </a:solidFill>
            <a:prstDash val="solid"/>
          </a:ln>
        </p:spPr>
      </p:sp>
      <p:sp>
        <p:nvSpPr>
          <p:cNvPr id="33" name="Text 31"/>
          <p:cNvSpPr/>
          <p:nvPr/>
        </p:nvSpPr>
        <p:spPr>
          <a:xfrm>
            <a:off x="594360" y="4246474"/>
            <a:ext cx="310896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List the Essential Eight</a:t>
            </a:r>
            <a:endParaRPr lang="en-US" sz="1500" dirty="0"/>
          </a:p>
        </p:txBody>
      </p:sp>
      <p:sp>
        <p:nvSpPr>
          <p:cNvPr id="34" name="Shape 32"/>
          <p:cNvSpPr/>
          <p:nvPr/>
        </p:nvSpPr>
        <p:spPr>
          <a:xfrm>
            <a:off x="3794760" y="4246474"/>
            <a:ext cx="4023360" cy="766267"/>
          </a:xfrm>
          <a:prstGeom prst="rect">
            <a:avLst/>
          </a:prstGeom>
          <a:solidFill>
            <a:srgbClr val="F4F6FB"/>
          </a:solidFill>
          <a:ln w="12700">
            <a:solidFill>
              <a:srgbClr val="D8DDE6"/>
            </a:solidFill>
            <a:prstDash val="solid"/>
          </a:ln>
        </p:spPr>
      </p:sp>
      <p:sp>
        <p:nvSpPr>
          <p:cNvPr id="35" name="Text 33"/>
          <p:cNvSpPr/>
          <p:nvPr/>
        </p:nvSpPr>
        <p:spPr>
          <a:xfrm>
            <a:off x="3886200" y="4246474"/>
            <a:ext cx="384048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You reached eight without prompting</a:t>
            </a:r>
            <a:endParaRPr lang="en-US" sz="1500" dirty="0"/>
          </a:p>
        </p:txBody>
      </p:sp>
      <p:sp>
        <p:nvSpPr>
          <p:cNvPr id="36" name="Shape 34"/>
          <p:cNvSpPr/>
          <p:nvPr/>
        </p:nvSpPr>
        <p:spPr>
          <a:xfrm>
            <a:off x="7818120" y="4246474"/>
            <a:ext cx="3840480" cy="766267"/>
          </a:xfrm>
          <a:prstGeom prst="rect">
            <a:avLst/>
          </a:prstGeom>
          <a:solidFill>
            <a:srgbClr val="F4F6FB"/>
          </a:solidFill>
          <a:ln w="12700">
            <a:solidFill>
              <a:srgbClr val="D8DDE6"/>
            </a:solidFill>
            <a:prstDash val="solid"/>
          </a:ln>
        </p:spPr>
      </p:sp>
      <p:sp>
        <p:nvSpPr>
          <p:cNvPr id="37" name="Text 35"/>
          <p:cNvSpPr/>
          <p:nvPr/>
        </p:nvSpPr>
        <p:spPr>
          <a:xfrm>
            <a:off x="7909560" y="4246474"/>
            <a:ext cx="365760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Group them: what runs, what is patched, who gets in, what is kept</a:t>
            </a:r>
            <a:endParaRPr lang="en-US" sz="1500" dirty="0"/>
          </a:p>
        </p:txBody>
      </p:sp>
      <p:sp>
        <p:nvSpPr>
          <p:cNvPr id="38" name="Shape 36"/>
          <p:cNvSpPr/>
          <p:nvPr/>
        </p:nvSpPr>
        <p:spPr>
          <a:xfrm>
            <a:off x="502920" y="5012741"/>
            <a:ext cx="3291840" cy="766267"/>
          </a:xfrm>
          <a:prstGeom prst="rect">
            <a:avLst/>
          </a:prstGeom>
          <a:solidFill>
            <a:srgbClr val="FFFFFF"/>
          </a:solidFill>
          <a:ln w="12700">
            <a:solidFill>
              <a:srgbClr val="D8DDE6"/>
            </a:solidFill>
            <a:prstDash val="solid"/>
          </a:ln>
        </p:spPr>
      </p:sp>
      <p:sp>
        <p:nvSpPr>
          <p:cNvPr id="39" name="Text 37"/>
          <p:cNvSpPr/>
          <p:nvPr/>
        </p:nvSpPr>
        <p:spPr>
          <a:xfrm>
            <a:off x="594360" y="5012741"/>
            <a:ext cx="3108960" cy="766267"/>
          </a:xfrm>
          <a:prstGeom prst="rect">
            <a:avLst/>
          </a:prstGeom>
          <a:noFill/>
          <a:ln/>
        </p:spPr>
        <p:txBody>
          <a:bodyPr wrap="square" lIns="0" tIns="0" rIns="0" bIns="0" rtlCol="0" anchor="ctr"/>
          <a:lstStyle/>
          <a:p>
            <a:pPr indent="0" marL="0">
              <a:lnSpc>
                <a:spcPct val="110000"/>
              </a:lnSpc>
              <a:buNone/>
            </a:pPr>
            <a:r>
              <a:rPr lang="en-US" sz="1500" b="1" dirty="0">
                <a:solidFill>
                  <a:srgbClr val="111827"/>
                </a:solidFill>
                <a:latin typeface="Calibri" pitchFamily="34" charset="0"/>
                <a:ea typeface="Calibri" pitchFamily="34" charset="-122"/>
                <a:cs typeface="Calibri" pitchFamily="34" charset="-120"/>
              </a:rPr>
              <a:t>Use a framework in a recommendation</a:t>
            </a:r>
            <a:endParaRPr lang="en-US" sz="1500" dirty="0"/>
          </a:p>
        </p:txBody>
      </p:sp>
      <p:sp>
        <p:nvSpPr>
          <p:cNvPr id="40" name="Shape 38"/>
          <p:cNvSpPr/>
          <p:nvPr/>
        </p:nvSpPr>
        <p:spPr>
          <a:xfrm>
            <a:off x="3794760" y="5012741"/>
            <a:ext cx="4023360" cy="766267"/>
          </a:xfrm>
          <a:prstGeom prst="rect">
            <a:avLst/>
          </a:prstGeom>
          <a:solidFill>
            <a:srgbClr val="FFFFFF"/>
          </a:solidFill>
          <a:ln w="12700">
            <a:solidFill>
              <a:srgbClr val="D8DDE6"/>
            </a:solidFill>
            <a:prstDash val="solid"/>
          </a:ln>
        </p:spPr>
      </p:sp>
      <p:sp>
        <p:nvSpPr>
          <p:cNvPr id="41" name="Text 39"/>
          <p:cNvSpPr/>
          <p:nvPr/>
        </p:nvSpPr>
        <p:spPr>
          <a:xfrm>
            <a:off x="3886200" y="5012741"/>
            <a:ext cx="384048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Your recommendation names a level or a strategy</a:t>
            </a:r>
            <a:endParaRPr lang="en-US" sz="1500" dirty="0"/>
          </a:p>
        </p:txBody>
      </p:sp>
      <p:sp>
        <p:nvSpPr>
          <p:cNvPr id="42" name="Shape 40"/>
          <p:cNvSpPr/>
          <p:nvPr/>
        </p:nvSpPr>
        <p:spPr>
          <a:xfrm>
            <a:off x="7818120" y="5012741"/>
            <a:ext cx="3840480" cy="766267"/>
          </a:xfrm>
          <a:prstGeom prst="rect">
            <a:avLst/>
          </a:prstGeom>
          <a:solidFill>
            <a:srgbClr val="FFFFFF"/>
          </a:solidFill>
          <a:ln w="12700">
            <a:solidFill>
              <a:srgbClr val="D8DDE6"/>
            </a:solidFill>
            <a:prstDash val="solid"/>
          </a:ln>
        </p:spPr>
      </p:sp>
      <p:sp>
        <p:nvSpPr>
          <p:cNvPr id="43" name="Text 41"/>
          <p:cNvSpPr/>
          <p:nvPr/>
        </p:nvSpPr>
        <p:spPr>
          <a:xfrm>
            <a:off x="7909560" y="5012741"/>
            <a:ext cx="3657600" cy="766267"/>
          </a:xfrm>
          <a:prstGeom prst="rect">
            <a:avLst/>
          </a:prstGeom>
          <a:noFill/>
          <a:ln/>
        </p:spPr>
        <p:txBody>
          <a:bodyPr wrap="square" lIns="0" tIns="0" rIns="0" bIns="0" rtlCol="0" anchor="ctr"/>
          <a:lstStyle/>
          <a:p>
            <a:pPr indent="0" marL="0">
              <a:lnSpc>
                <a:spcPct val="110000"/>
              </a:lnSpc>
              <a:buNone/>
            </a:pPr>
            <a:r>
              <a:rPr lang="en-US" sz="1500" dirty="0">
                <a:solidFill>
                  <a:srgbClr val="111827"/>
                </a:solidFill>
                <a:latin typeface="Calibri" pitchFamily="34" charset="0"/>
                <a:ea typeface="Calibri" pitchFamily="34" charset="-122"/>
                <a:cs typeface="Calibri" pitchFamily="34" charset="-120"/>
              </a:rPr>
              <a:t>Add "benchmarked against…" to a recommendation you already wrote</a:t>
            </a:r>
            <a:endParaRPr lang="en-US" sz="1500" dirty="0"/>
          </a:p>
        </p:txBody>
      </p:sp>
      <p:sp>
        <p:nvSpPr>
          <p:cNvPr id="44" name="Shape 42"/>
          <p:cNvSpPr/>
          <p:nvPr/>
        </p:nvSpPr>
        <p:spPr>
          <a:xfrm>
            <a:off x="502920" y="5861304"/>
            <a:ext cx="11155680" cy="640080"/>
          </a:xfrm>
          <a:prstGeom prst="roundRect">
            <a:avLst>
              <a:gd name="adj" fmla="val 12857"/>
            </a:avLst>
          </a:prstGeom>
          <a:solidFill>
            <a:srgbClr val="EEF2FE"/>
          </a:solidFill>
          <a:ln w="12700">
            <a:solidFill>
              <a:srgbClr val="4361EE"/>
            </a:solidFill>
            <a:prstDash val="solid"/>
          </a:ln>
        </p:spPr>
      </p:sp>
      <p:sp>
        <p:nvSpPr>
          <p:cNvPr id="45" name="Text 43"/>
          <p:cNvSpPr/>
          <p:nvPr/>
        </p:nvSpPr>
        <p:spPr>
          <a:xfrm>
            <a:off x="822960" y="5861304"/>
            <a:ext cx="10515600" cy="640080"/>
          </a:xfrm>
          <a:prstGeom prst="rect">
            <a:avLst/>
          </a:prstGeom>
          <a:noFill/>
          <a:ln/>
        </p:spPr>
        <p:txBody>
          <a:bodyPr wrap="square" lIns="0" tIns="0" rIns="0" bIns="0" rtlCol="0" anchor="ctr"/>
          <a:lstStyle/>
          <a:p>
            <a:pPr indent="0" marL="0">
              <a:buNone/>
            </a:pPr>
            <a:r>
              <a:rPr lang="en-US" sz="1550" dirty="0">
                <a:solidFill>
                  <a:srgbClr val="111827"/>
                </a:solidFill>
                <a:latin typeface="Calibri" pitchFamily="34" charset="0"/>
                <a:ea typeface="Calibri" pitchFamily="34" charset="-122"/>
                <a:cs typeface="Calibri" pitchFamily="34" charset="-120"/>
              </a:rPr>
              <a:t>Outcome 2 tracker: you can now attempt the legal consequences section of the practice case study.</a:t>
            </a:r>
            <a:endParaRPr lang="en-US" sz="15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EF4444"/>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EXIT</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Exit ticket</a:t>
            </a:r>
            <a:endParaRPr lang="en-US" sz="3000" dirty="0"/>
          </a:p>
        </p:txBody>
      </p:sp>
      <p:sp>
        <p:nvSpPr>
          <p:cNvPr id="7" name="Text 5"/>
          <p:cNvSpPr/>
          <p:nvPr/>
        </p:nvSpPr>
        <p:spPr>
          <a:xfrm>
            <a:off x="502920" y="841248"/>
            <a:ext cx="10058400" cy="310896"/>
          </a:xfrm>
          <a:prstGeom prst="rect">
            <a:avLst/>
          </a:prstGeom>
          <a:noFill/>
          <a:ln/>
        </p:spPr>
        <p:txBody>
          <a:bodyPr wrap="square" lIns="0" tIns="0" rIns="0" bIns="0" rtlCol="0" anchor="ctr"/>
          <a:lstStyle/>
          <a:p>
            <a:pPr indent="0" marL="0">
              <a:buNone/>
            </a:pPr>
            <a:r>
              <a:rPr lang="en-US" sz="1500" dirty="0">
                <a:solidFill>
                  <a:srgbClr val="5B6472"/>
                </a:solidFill>
                <a:latin typeface="Calibri" pitchFamily="34" charset="0"/>
                <a:ea typeface="Calibri" pitchFamily="34" charset="-122"/>
                <a:cs typeface="Calibri" pitchFamily="34" charset="-120"/>
              </a:rPr>
              <a:t>Workbook Section 7 · 5 minutes · no notes</a:t>
            </a:r>
            <a:endParaRPr lang="en-US" sz="1500" dirty="0"/>
          </a:p>
        </p:txBody>
      </p:sp>
      <p:sp>
        <p:nvSpPr>
          <p:cNvPr id="8" name="Shape 6"/>
          <p:cNvSpPr/>
          <p:nvPr/>
        </p:nvSpPr>
        <p:spPr>
          <a:xfrm>
            <a:off x="502920" y="1417320"/>
            <a:ext cx="11155680" cy="914400"/>
          </a:xfrm>
          <a:prstGeom prst="roundRect">
            <a:avLst>
              <a:gd name="adj" fmla="val 9000"/>
            </a:avLst>
          </a:prstGeom>
          <a:solidFill>
            <a:srgbClr val="FFFFFF"/>
          </a:solidFill>
          <a:ln w="17780">
            <a:solidFill>
              <a:srgbClr val="EF4444"/>
            </a:solidFill>
            <a:prstDash val="solid"/>
          </a:ln>
        </p:spPr>
      </p:sp>
      <p:sp>
        <p:nvSpPr>
          <p:cNvPr id="9" name="Shape 7"/>
          <p:cNvSpPr/>
          <p:nvPr/>
        </p:nvSpPr>
        <p:spPr>
          <a:xfrm>
            <a:off x="758952" y="1636776"/>
            <a:ext cx="475488" cy="475488"/>
          </a:xfrm>
          <a:prstGeom prst="ellipse">
            <a:avLst/>
          </a:prstGeom>
          <a:solidFill>
            <a:srgbClr val="EF4444"/>
          </a:solidFill>
          <a:ln/>
        </p:spPr>
      </p:sp>
      <p:sp>
        <p:nvSpPr>
          <p:cNvPr id="10" name="Text 8"/>
          <p:cNvSpPr/>
          <p:nvPr/>
        </p:nvSpPr>
        <p:spPr>
          <a:xfrm>
            <a:off x="758952" y="163677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1</a:t>
            </a:r>
            <a:endParaRPr lang="en-US" sz="1500" dirty="0"/>
          </a:p>
        </p:txBody>
      </p:sp>
      <p:sp>
        <p:nvSpPr>
          <p:cNvPr id="11" name="Text 9"/>
          <p:cNvSpPr/>
          <p:nvPr/>
        </p:nvSpPr>
        <p:spPr>
          <a:xfrm>
            <a:off x="1417320" y="141732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Name the three pieces of legislation and the two frameworks covered today.</a:t>
            </a:r>
            <a:endParaRPr lang="en-US" sz="1800" dirty="0"/>
          </a:p>
        </p:txBody>
      </p:sp>
      <p:sp>
        <p:nvSpPr>
          <p:cNvPr id="12" name="Shape 10"/>
          <p:cNvSpPr/>
          <p:nvPr/>
        </p:nvSpPr>
        <p:spPr>
          <a:xfrm>
            <a:off x="502920" y="2423160"/>
            <a:ext cx="11155680" cy="914400"/>
          </a:xfrm>
          <a:prstGeom prst="roundRect">
            <a:avLst>
              <a:gd name="adj" fmla="val 9000"/>
            </a:avLst>
          </a:prstGeom>
          <a:solidFill>
            <a:srgbClr val="FFFFFF"/>
          </a:solidFill>
          <a:ln w="17780">
            <a:solidFill>
              <a:srgbClr val="EF4444"/>
            </a:solidFill>
            <a:prstDash val="solid"/>
          </a:ln>
        </p:spPr>
      </p:sp>
      <p:sp>
        <p:nvSpPr>
          <p:cNvPr id="13" name="Shape 11"/>
          <p:cNvSpPr/>
          <p:nvPr/>
        </p:nvSpPr>
        <p:spPr>
          <a:xfrm>
            <a:off x="758952" y="2642616"/>
            <a:ext cx="475488" cy="475488"/>
          </a:xfrm>
          <a:prstGeom prst="ellipse">
            <a:avLst/>
          </a:prstGeom>
          <a:solidFill>
            <a:srgbClr val="EF4444"/>
          </a:solidFill>
          <a:ln/>
        </p:spPr>
      </p:sp>
      <p:sp>
        <p:nvSpPr>
          <p:cNvPr id="14" name="Text 12"/>
          <p:cNvSpPr/>
          <p:nvPr/>
        </p:nvSpPr>
        <p:spPr>
          <a:xfrm>
            <a:off x="758952" y="264261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a:t>
            </a:r>
            <a:endParaRPr lang="en-US" sz="1500" dirty="0"/>
          </a:p>
        </p:txBody>
      </p:sp>
      <p:sp>
        <p:nvSpPr>
          <p:cNvPr id="15" name="Text 13"/>
          <p:cNvSpPr/>
          <p:nvPr/>
        </p:nvSpPr>
        <p:spPr>
          <a:xfrm>
            <a:off x="1417320" y="242316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What does APP 11 require an organisation to do?</a:t>
            </a:r>
            <a:endParaRPr lang="en-US" sz="1800" dirty="0"/>
          </a:p>
        </p:txBody>
      </p:sp>
      <p:sp>
        <p:nvSpPr>
          <p:cNvPr id="16" name="Shape 14"/>
          <p:cNvSpPr/>
          <p:nvPr/>
        </p:nvSpPr>
        <p:spPr>
          <a:xfrm>
            <a:off x="502920" y="3429000"/>
            <a:ext cx="11155680" cy="914400"/>
          </a:xfrm>
          <a:prstGeom prst="roundRect">
            <a:avLst>
              <a:gd name="adj" fmla="val 9000"/>
            </a:avLst>
          </a:prstGeom>
          <a:solidFill>
            <a:srgbClr val="FFFFFF"/>
          </a:solidFill>
          <a:ln w="17780">
            <a:solidFill>
              <a:srgbClr val="EF4444"/>
            </a:solidFill>
            <a:prstDash val="solid"/>
          </a:ln>
        </p:spPr>
      </p:sp>
      <p:sp>
        <p:nvSpPr>
          <p:cNvPr id="17" name="Shape 15"/>
          <p:cNvSpPr/>
          <p:nvPr/>
        </p:nvSpPr>
        <p:spPr>
          <a:xfrm>
            <a:off x="758952" y="3648456"/>
            <a:ext cx="475488" cy="475488"/>
          </a:xfrm>
          <a:prstGeom prst="ellipse">
            <a:avLst/>
          </a:prstGeom>
          <a:solidFill>
            <a:srgbClr val="EF4444"/>
          </a:solidFill>
          <a:ln/>
        </p:spPr>
      </p:sp>
      <p:sp>
        <p:nvSpPr>
          <p:cNvPr id="18" name="Text 16"/>
          <p:cNvSpPr/>
          <p:nvPr/>
        </p:nvSpPr>
        <p:spPr>
          <a:xfrm>
            <a:off x="758952" y="364845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3</a:t>
            </a:r>
            <a:endParaRPr lang="en-US" sz="1500" dirty="0"/>
          </a:p>
        </p:txBody>
      </p:sp>
      <p:sp>
        <p:nvSpPr>
          <p:cNvPr id="19" name="Text 17"/>
          <p:cNvSpPr/>
          <p:nvPr/>
        </p:nvSpPr>
        <p:spPr>
          <a:xfrm>
            <a:off x="1417320" y="342900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A Victorian council mishandles resident data. Which Act applies, and which principle?</a:t>
            </a:r>
            <a:endParaRPr lang="en-US" sz="1800" dirty="0"/>
          </a:p>
        </p:txBody>
      </p:sp>
      <p:sp>
        <p:nvSpPr>
          <p:cNvPr id="20" name="Shape 18"/>
          <p:cNvSpPr/>
          <p:nvPr/>
        </p:nvSpPr>
        <p:spPr>
          <a:xfrm>
            <a:off x="502920" y="4434840"/>
            <a:ext cx="11155680" cy="914400"/>
          </a:xfrm>
          <a:prstGeom prst="roundRect">
            <a:avLst>
              <a:gd name="adj" fmla="val 9000"/>
            </a:avLst>
          </a:prstGeom>
          <a:solidFill>
            <a:srgbClr val="FFFFFF"/>
          </a:solidFill>
          <a:ln w="17780">
            <a:solidFill>
              <a:srgbClr val="EF4444"/>
            </a:solidFill>
            <a:prstDash val="solid"/>
          </a:ln>
        </p:spPr>
      </p:sp>
      <p:sp>
        <p:nvSpPr>
          <p:cNvPr id="21" name="Shape 19"/>
          <p:cNvSpPr/>
          <p:nvPr/>
        </p:nvSpPr>
        <p:spPr>
          <a:xfrm>
            <a:off x="758952" y="4654296"/>
            <a:ext cx="475488" cy="475488"/>
          </a:xfrm>
          <a:prstGeom prst="ellipse">
            <a:avLst/>
          </a:prstGeom>
          <a:solidFill>
            <a:srgbClr val="EF4444"/>
          </a:solidFill>
          <a:ln/>
        </p:spPr>
      </p:sp>
      <p:sp>
        <p:nvSpPr>
          <p:cNvPr id="22" name="Text 20"/>
          <p:cNvSpPr/>
          <p:nvPr/>
        </p:nvSpPr>
        <p:spPr>
          <a:xfrm>
            <a:off x="758952" y="4654296"/>
            <a:ext cx="475488" cy="475488"/>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4</a:t>
            </a:r>
            <a:endParaRPr lang="en-US" sz="1500" dirty="0"/>
          </a:p>
        </p:txBody>
      </p:sp>
      <p:sp>
        <p:nvSpPr>
          <p:cNvPr id="23" name="Text 21"/>
          <p:cNvSpPr/>
          <p:nvPr/>
        </p:nvSpPr>
        <p:spPr>
          <a:xfrm>
            <a:off x="1417320" y="4434840"/>
            <a:ext cx="9966960" cy="914400"/>
          </a:xfrm>
          <a:prstGeom prst="rect">
            <a:avLst/>
          </a:prstGeom>
          <a:noFill/>
          <a:ln/>
        </p:spPr>
        <p:txBody>
          <a:bodyPr wrap="square" lIns="0" tIns="0" rIns="0" bIns="0" rtlCol="0" anchor="ctr"/>
          <a:lstStyle/>
          <a:p>
            <a:pPr indent="0" marL="0">
              <a:lnSpc>
                <a:spcPct val="115000"/>
              </a:lnSpc>
              <a:buNone/>
            </a:pPr>
            <a:r>
              <a:rPr lang="en-US" sz="1800" dirty="0">
                <a:solidFill>
                  <a:srgbClr val="111827"/>
                </a:solidFill>
                <a:latin typeface="Calibri" pitchFamily="34" charset="0"/>
                <a:ea typeface="Calibri" pitchFamily="34" charset="-122"/>
                <a:cs typeface="Calibri" pitchFamily="34" charset="-120"/>
              </a:rPr>
              <a:t>Name three of the Essential Eight, and explain why naming a framework strengthens a recommendation.</a:t>
            </a:r>
            <a:endParaRPr lang="en-US" sz="1800" dirty="0"/>
          </a:p>
        </p:txBody>
      </p:sp>
      <p:sp>
        <p:nvSpPr>
          <p:cNvPr id="24" name="Shape 22"/>
          <p:cNvSpPr/>
          <p:nvPr/>
        </p:nvSpPr>
        <p:spPr>
          <a:xfrm>
            <a:off x="502920" y="5486400"/>
            <a:ext cx="11155680" cy="548640"/>
          </a:xfrm>
          <a:prstGeom prst="roundRect">
            <a:avLst>
              <a:gd name="adj" fmla="val 15000"/>
            </a:avLst>
          </a:prstGeom>
          <a:solidFill>
            <a:srgbClr val="FDE2E2"/>
          </a:solidFill>
          <a:ln w="12700">
            <a:solidFill>
              <a:srgbClr val="EF4444"/>
            </a:solidFill>
            <a:prstDash val="solid"/>
          </a:ln>
        </p:spPr>
      </p:sp>
      <p:sp>
        <p:nvSpPr>
          <p:cNvPr id="25" name="Text 23"/>
          <p:cNvSpPr/>
          <p:nvPr/>
        </p:nvSpPr>
        <p:spPr>
          <a:xfrm>
            <a:off x="822960" y="5486400"/>
            <a:ext cx="10515600" cy="548640"/>
          </a:xfrm>
          <a:prstGeom prst="rect">
            <a:avLst/>
          </a:prstGeom>
          <a:noFill/>
          <a:ln/>
        </p:spPr>
        <p:txBody>
          <a:bodyPr wrap="square" lIns="0" tIns="0" rIns="0" bIns="0" rtlCol="0" anchor="ctr"/>
          <a:lstStyle/>
          <a:p>
            <a:pPr indent="0" marL="0">
              <a:buNone/>
            </a:pPr>
            <a:r>
              <a:rPr lang="en-US" sz="1700" b="1" dirty="0">
                <a:solidFill>
                  <a:srgbClr val="111827"/>
                </a:solidFill>
                <a:latin typeface="Calibri" pitchFamily="34" charset="0"/>
                <a:ea typeface="Calibri" pitchFamily="34" charset="-122"/>
                <a:cs typeface="Calibri" pitchFamily="34" charset="-120"/>
              </a:rPr>
              <a:t>Then rate yourself against the success criteria and press Submit. Closed workbooks are not marked.</a:t>
            </a:r>
            <a:endParaRPr lang="en-US" sz="17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9646920" y="256032"/>
            <a:ext cx="1170432" cy="310896"/>
          </a:xfrm>
          <a:prstGeom prst="roundRect">
            <a:avLst>
              <a:gd name="adj" fmla="val 50000"/>
            </a:avLst>
          </a:prstGeom>
          <a:solidFill>
            <a:srgbClr val="8B5CF6"/>
          </a:solidFill>
          <a:ln/>
        </p:spPr>
      </p:sp>
      <p:sp>
        <p:nvSpPr>
          <p:cNvPr id="3" name="Text 1"/>
          <p:cNvSpPr/>
          <p:nvPr/>
        </p:nvSpPr>
        <p:spPr>
          <a:xfrm>
            <a:off x="9646920" y="256032"/>
            <a:ext cx="1170432" cy="310896"/>
          </a:xfrm>
          <a:prstGeom prst="rect">
            <a:avLst/>
          </a:prstGeom>
          <a:noFill/>
          <a:ln/>
        </p:spPr>
        <p:txBody>
          <a:bodyPr wrap="square" lIns="0" tIns="0" rIns="0" bIns="0" rtlCol="0" anchor="ctr"/>
          <a:lstStyle/>
          <a:p>
            <a:pPr algn="ctr" indent="0" marL="0">
              <a:buNone/>
            </a:pPr>
            <a:r>
              <a:rPr lang="en-US" sz="1000" b="1" spc="60" kern="0" dirty="0">
                <a:solidFill>
                  <a:srgbClr val="FFFFFF"/>
                </a:solidFill>
                <a:latin typeface="Courier New" pitchFamily="34" charset="0"/>
                <a:ea typeface="Courier New" pitchFamily="34" charset="-122"/>
                <a:cs typeface="Courier New" pitchFamily="34" charset="-120"/>
              </a:rPr>
              <a:t>NEXT STEPS</a:t>
            </a:r>
            <a:endParaRPr lang="en-US" sz="1000" dirty="0"/>
          </a:p>
        </p:txBody>
      </p:sp>
      <p:sp>
        <p:nvSpPr>
          <p:cNvPr id="4" name="Shape 2"/>
          <p:cNvSpPr/>
          <p:nvPr/>
        </p:nvSpPr>
        <p:spPr>
          <a:xfrm>
            <a:off x="10908792" y="256032"/>
            <a:ext cx="822960" cy="310896"/>
          </a:xfrm>
          <a:prstGeom prst="roundRect">
            <a:avLst>
              <a:gd name="adj" fmla="val 50000"/>
            </a:avLst>
          </a:prstGeom>
          <a:solidFill>
            <a:srgbClr val="10B981"/>
          </a:solidFill>
          <a:ln w="12700">
            <a:solidFill>
              <a:srgbClr val="10B981"/>
            </a:solidFill>
            <a:prstDash val="solid"/>
          </a:ln>
        </p:spPr>
      </p:sp>
      <p:sp>
        <p:nvSpPr>
          <p:cNvPr id="5" name="Text 3"/>
          <p:cNvSpPr/>
          <p:nvPr/>
        </p:nvSpPr>
        <p:spPr>
          <a:xfrm>
            <a:off x="10908792" y="256032"/>
            <a:ext cx="822960" cy="310896"/>
          </a:xfrm>
          <a:prstGeom prst="rect">
            <a:avLst/>
          </a:prstGeom>
          <a:noFill/>
          <a:ln/>
        </p:spPr>
        <p:txBody>
          <a:bodyPr wrap="square" lIns="0" tIns="0" rIns="0" bIns="0" rtlCol="0" anchor="ctr"/>
          <a:lstStyle/>
          <a:p>
            <a:pPr algn="ctr" indent="0" marL="0">
              <a:buNone/>
            </a:pPr>
            <a:r>
              <a:rPr lang="en-US" sz="850" b="1" spc="60" kern="0" dirty="0">
                <a:solidFill>
                  <a:srgbClr val="FFFFFF"/>
                </a:solidFill>
                <a:latin typeface="Courier New" pitchFamily="34" charset="0"/>
                <a:ea typeface="Courier New" pitchFamily="34" charset="-122"/>
                <a:cs typeface="Courier New" pitchFamily="34" charset="-120"/>
              </a:rPr>
              <a:t>LAPTOPS</a:t>
            </a:r>
            <a:endParaRPr lang="en-US" sz="850" dirty="0"/>
          </a:p>
        </p:txBody>
      </p:sp>
      <p:sp>
        <p:nvSpPr>
          <p:cNvPr id="6" name="Text 4"/>
          <p:cNvSpPr/>
          <p:nvPr/>
        </p:nvSpPr>
        <p:spPr>
          <a:xfrm>
            <a:off x="502920" y="256032"/>
            <a:ext cx="9006840" cy="566928"/>
          </a:xfrm>
          <a:prstGeom prst="rect">
            <a:avLst/>
          </a:prstGeom>
          <a:noFill/>
          <a:ln/>
        </p:spPr>
        <p:txBody>
          <a:bodyPr wrap="square" lIns="0" tIns="0" rIns="0" bIns="0" rtlCol="0" anchor="ctr"/>
          <a:lstStyle/>
          <a:p>
            <a:pPr indent="0" marL="0">
              <a:buNone/>
            </a:pPr>
            <a:r>
              <a:rPr lang="en-US" sz="3000" b="1" dirty="0">
                <a:solidFill>
                  <a:srgbClr val="111827"/>
                </a:solidFill>
                <a:latin typeface="Bookman Old Style" pitchFamily="34" charset="0"/>
                <a:ea typeface="Bookman Old Style" pitchFamily="34" charset="-122"/>
                <a:cs typeface="Bookman Old Style" pitchFamily="34" charset="-120"/>
              </a:rPr>
              <a:t>Next steps</a:t>
            </a:r>
            <a:endParaRPr lang="en-US" sz="3000" dirty="0"/>
          </a:p>
        </p:txBody>
      </p:sp>
      <p:sp>
        <p:nvSpPr>
          <p:cNvPr id="7" name="Shape 5"/>
          <p:cNvSpPr/>
          <p:nvPr/>
        </p:nvSpPr>
        <p:spPr>
          <a:xfrm>
            <a:off x="502920" y="1280160"/>
            <a:ext cx="5468112" cy="2423160"/>
          </a:xfrm>
          <a:prstGeom prst="roundRect">
            <a:avLst>
              <a:gd name="adj" fmla="val 3396"/>
            </a:avLst>
          </a:prstGeom>
          <a:solidFill>
            <a:srgbClr val="FFFFFF"/>
          </a:solidFill>
          <a:ln w="16510">
            <a:solidFill>
              <a:srgbClr val="8B5CF6"/>
            </a:solidFill>
            <a:prstDash val="solid"/>
          </a:ln>
        </p:spPr>
      </p:sp>
      <p:sp>
        <p:nvSpPr>
          <p:cNvPr id="8" name="Text 6"/>
          <p:cNvSpPr/>
          <p:nvPr/>
        </p:nvSpPr>
        <p:spPr>
          <a:xfrm>
            <a:off x="731520" y="1444752"/>
            <a:ext cx="5029200" cy="274320"/>
          </a:xfrm>
          <a:prstGeom prst="rect">
            <a:avLst/>
          </a:prstGeom>
          <a:noFill/>
          <a:ln/>
        </p:spPr>
        <p:txBody>
          <a:bodyPr wrap="square" lIns="0" tIns="0" rIns="0" bIns="0" rtlCol="0" anchor="ctr"/>
          <a:lstStyle/>
          <a:p>
            <a:pPr indent="0" marL="0">
              <a:buNone/>
            </a:pPr>
            <a:r>
              <a:rPr lang="en-US" sz="1300" b="1" dirty="0">
                <a:solidFill>
                  <a:srgbClr val="8B5CF6"/>
                </a:solidFill>
                <a:latin typeface="Courier New" pitchFamily="34" charset="0"/>
                <a:ea typeface="Courier New" pitchFamily="34" charset="-122"/>
                <a:cs typeface="Courier New" pitchFamily="34" charset="-120"/>
              </a:rPr>
              <a:t>Next lesson — L8</a:t>
            </a:r>
            <a:endParaRPr lang="en-US" sz="1300" dirty="0"/>
          </a:p>
        </p:txBody>
      </p:sp>
      <p:sp>
        <p:nvSpPr>
          <p:cNvPr id="9" name="Text 7"/>
          <p:cNvSpPr/>
          <p:nvPr/>
        </p:nvSpPr>
        <p:spPr>
          <a:xfrm>
            <a:off x="731520" y="1792224"/>
            <a:ext cx="5029200" cy="777240"/>
          </a:xfrm>
          <a:prstGeom prst="rect">
            <a:avLst/>
          </a:prstGeom>
          <a:noFill/>
          <a:ln/>
        </p:spPr>
        <p:txBody>
          <a:bodyPr wrap="square" lIns="0" tIns="0" rIns="0" bIns="0" rtlCol="0" anchor="t"/>
          <a:lstStyle/>
          <a:p>
            <a:pPr indent="0" marL="0">
              <a:lnSpc>
                <a:spcPct val="105000"/>
              </a:lnSpc>
              <a:buNone/>
            </a:pPr>
            <a:r>
              <a:rPr lang="en-US" sz="2300" b="1" dirty="0">
                <a:solidFill>
                  <a:srgbClr val="111827"/>
                </a:solidFill>
                <a:latin typeface="Bookman Old Style" pitchFamily="34" charset="0"/>
                <a:ea typeface="Bookman Old Style" pitchFamily="34" charset="-122"/>
                <a:cs typeface="Bookman Old Style" pitchFamily="34" charset="-120"/>
              </a:rPr>
              <a:t>Ethics and improving practices</a:t>
            </a:r>
            <a:endParaRPr lang="en-US" sz="2300" dirty="0"/>
          </a:p>
        </p:txBody>
      </p:sp>
      <p:sp>
        <p:nvSpPr>
          <p:cNvPr id="10" name="Text 8"/>
          <p:cNvSpPr/>
          <p:nvPr/>
        </p:nvSpPr>
        <p:spPr>
          <a:xfrm>
            <a:off x="731520" y="2633472"/>
            <a:ext cx="5029200" cy="1024128"/>
          </a:xfrm>
          <a:prstGeom prst="rect">
            <a:avLst/>
          </a:prstGeom>
          <a:noFill/>
          <a:ln/>
        </p:spPr>
        <p:txBody>
          <a:bodyPr wrap="square" lIns="0" tIns="0" rIns="0" bIns="0" rtlCol="0" anchor="t"/>
          <a:lstStyle/>
          <a:p>
            <a:pPr indent="0" marL="0">
              <a:lnSpc>
                <a:spcPct val="120000"/>
              </a:lnSpc>
              <a:buNone/>
            </a:pPr>
            <a:r>
              <a:rPr lang="en-US" sz="1600" dirty="0">
                <a:solidFill>
                  <a:srgbClr val="5B6472"/>
                </a:solidFill>
                <a:latin typeface="Calibri" pitchFamily="34" charset="0"/>
                <a:ea typeface="Calibri" pitchFamily="34" charset="-122"/>
                <a:cs typeface="Calibri" pitchFamily="34" charset="-120"/>
              </a:rPr>
              <a:t>Where the law runs out: AI, intellectual property, "safe" programs — and the strategies that keep an organisation improving after the evaluation is finished.</a:t>
            </a:r>
            <a:endParaRPr lang="en-US" sz="1600" dirty="0"/>
          </a:p>
        </p:txBody>
      </p:sp>
      <p:sp>
        <p:nvSpPr>
          <p:cNvPr id="11" name="Shape 9"/>
          <p:cNvSpPr/>
          <p:nvPr/>
        </p:nvSpPr>
        <p:spPr>
          <a:xfrm>
            <a:off x="6190488" y="1280160"/>
            <a:ext cx="5468112" cy="2423160"/>
          </a:xfrm>
          <a:prstGeom prst="roundRect">
            <a:avLst>
              <a:gd name="adj" fmla="val 3396"/>
            </a:avLst>
          </a:prstGeom>
          <a:solidFill>
            <a:srgbClr val="FFFFFF"/>
          </a:solidFill>
          <a:ln w="16510">
            <a:solidFill>
              <a:srgbClr val="4361EE"/>
            </a:solidFill>
            <a:prstDash val="solid"/>
          </a:ln>
        </p:spPr>
      </p:sp>
      <p:sp>
        <p:nvSpPr>
          <p:cNvPr id="12" name="Text 10"/>
          <p:cNvSpPr/>
          <p:nvPr/>
        </p:nvSpPr>
        <p:spPr>
          <a:xfrm>
            <a:off x="6419088" y="1444752"/>
            <a:ext cx="5029200" cy="274320"/>
          </a:xfrm>
          <a:prstGeom prst="rect">
            <a:avLst/>
          </a:prstGeom>
          <a:noFill/>
          <a:ln/>
        </p:spPr>
        <p:txBody>
          <a:bodyPr wrap="square" lIns="0" tIns="0" rIns="0" bIns="0" rtlCol="0" anchor="ctr"/>
          <a:lstStyle/>
          <a:p>
            <a:pPr indent="0" marL="0">
              <a:buNone/>
            </a:pPr>
            <a:r>
              <a:rPr lang="en-US" sz="1300" b="1" dirty="0">
                <a:solidFill>
                  <a:srgbClr val="4361EE"/>
                </a:solidFill>
                <a:latin typeface="Courier New" pitchFamily="34" charset="0"/>
                <a:ea typeface="Courier New" pitchFamily="34" charset="-122"/>
                <a:cs typeface="Courier New" pitchFamily="34" charset="-120"/>
              </a:rPr>
              <a:t>Homework</a:t>
            </a:r>
            <a:endParaRPr lang="en-US" sz="1300" dirty="0"/>
          </a:p>
        </p:txBody>
      </p:sp>
      <p:sp>
        <p:nvSpPr>
          <p:cNvPr id="13" name="Text 11"/>
          <p:cNvSpPr/>
          <p:nvPr/>
        </p:nvSpPr>
        <p:spPr>
          <a:xfrm>
            <a:off x="6446520" y="1792224"/>
            <a:ext cx="4983480" cy="1783080"/>
          </a:xfrm>
          <a:prstGeom prst="rect">
            <a:avLst/>
          </a:prstGeom>
          <a:noFill/>
          <a:ln/>
        </p:spPr>
        <p:txBody>
          <a:bodyPr wrap="square" lIns="0" tIns="0" rIns="0" bIns="0" rtlCol="0" anchor="t"/>
          <a:lstStyle/>
          <a:p>
            <a:pPr marL="342900" indent="-342900">
              <a:lnSpc>
                <a:spcPct val="115000"/>
              </a:lnSpc>
              <a:spcAft>
                <a:spcPts val="700"/>
              </a:spcAft>
              <a:buSzPct val="100000"/>
              <a:buChar char="•"/>
            </a:pPr>
            <a:r>
              <a:rPr lang="en-US" sz="1600" dirty="0">
                <a:solidFill>
                  <a:srgbClr val="111827"/>
                </a:solidFill>
                <a:latin typeface="Calibri" pitchFamily="34" charset="0"/>
                <a:ea typeface="Calibri" pitchFamily="34" charset="-122"/>
                <a:cs typeface="Calibri" pitchFamily="34" charset="-120"/>
              </a:rPr>
              <a:t>Finish any unfinished workbook sections and submit</a:t>
            </a:r>
            <a:endParaRPr lang="en-US" sz="1600" dirty="0"/>
          </a:p>
          <a:p>
            <a:pPr marL="342900" indent="-342900">
              <a:lnSpc>
                <a:spcPct val="115000"/>
              </a:lnSpc>
              <a:spcAft>
                <a:spcPts val="700"/>
              </a:spcAft>
              <a:buSzPct val="100000"/>
              <a:buChar char="•"/>
            </a:pPr>
            <a:r>
              <a:rPr lang="en-US" sz="1600" dirty="0">
                <a:solidFill>
                  <a:srgbClr val="111827"/>
                </a:solidFill>
                <a:latin typeface="Calibri" pitchFamily="34" charset="0"/>
                <a:ea typeface="Calibri" pitchFamily="34" charset="-122"/>
                <a:cs typeface="Calibri" pitchFamily="34" charset="-120"/>
              </a:rPr>
              <a:t>Nelson Software Development 2E, Chapter 7 — legislation and frameworks</a:t>
            </a:r>
            <a:endParaRPr lang="en-US" sz="1600" dirty="0"/>
          </a:p>
          <a:p>
            <a:pPr marL="342900" indent="-342900">
              <a:lnSpc>
                <a:spcPct val="115000"/>
              </a:lnSpc>
              <a:spcAft>
                <a:spcPts val="700"/>
              </a:spcAft>
              <a:buSzPct val="100000"/>
              <a:buChar char="•"/>
            </a:pPr>
            <a:r>
              <a:rPr lang="en-US" sz="1600" dirty="0">
                <a:solidFill>
                  <a:srgbClr val="111827"/>
                </a:solidFill>
                <a:latin typeface="Calibri" pitchFamily="34" charset="0"/>
                <a:ea typeface="Calibri" pitchFamily="34" charset="-122"/>
                <a:cs typeface="Calibri" pitchFamily="34" charset="-120"/>
              </a:rPr>
              <a:t>Learn APP 1, 6, 8, 9, 11 and IPP 1, 2, 4, 5, 9 by number — there will be a recall check next lesson</a:t>
            </a:r>
            <a:endParaRPr lang="en-US" sz="1600" dirty="0"/>
          </a:p>
        </p:txBody>
      </p:sp>
      <p:sp>
        <p:nvSpPr>
          <p:cNvPr id="14" name="Shape 12"/>
          <p:cNvSpPr/>
          <p:nvPr/>
        </p:nvSpPr>
        <p:spPr>
          <a:xfrm>
            <a:off x="502920" y="3858768"/>
            <a:ext cx="11155680" cy="1463040"/>
          </a:xfrm>
          <a:prstGeom prst="roundRect">
            <a:avLst>
              <a:gd name="adj" fmla="val 5625"/>
            </a:avLst>
          </a:prstGeom>
          <a:solidFill>
            <a:srgbClr val="EEF2FE"/>
          </a:solidFill>
          <a:ln w="12700">
            <a:solidFill>
              <a:srgbClr val="4361EE"/>
            </a:solidFill>
            <a:prstDash val="solid"/>
          </a:ln>
        </p:spPr>
      </p:sp>
      <p:sp>
        <p:nvSpPr>
          <p:cNvPr id="15" name="Text 13"/>
          <p:cNvSpPr/>
          <p:nvPr/>
        </p:nvSpPr>
        <p:spPr>
          <a:xfrm>
            <a:off x="822960" y="4023360"/>
            <a:ext cx="10515600" cy="384048"/>
          </a:xfrm>
          <a:prstGeom prst="rect">
            <a:avLst/>
          </a:prstGeom>
          <a:noFill/>
          <a:ln/>
        </p:spPr>
        <p:txBody>
          <a:bodyPr wrap="square" lIns="0" tIns="0" rIns="0" bIns="0" rtlCol="0" anchor="ctr"/>
          <a:lstStyle/>
          <a:p>
            <a:pPr indent="0" marL="0">
              <a:buNone/>
            </a:pPr>
            <a:r>
              <a:rPr lang="en-US" sz="2000" b="1" dirty="0">
                <a:solidFill>
                  <a:srgbClr val="111827"/>
                </a:solidFill>
                <a:latin typeface="Bookman Old Style" pitchFamily="34" charset="0"/>
                <a:ea typeface="Bookman Old Style" pitchFamily="34" charset="-122"/>
                <a:cs typeface="Bookman Old Style" pitchFamily="34" charset="-120"/>
              </a:rPr>
              <a:t>Outcome 2 assessment — where you should be</a:t>
            </a:r>
            <a:endParaRPr lang="en-US" sz="2000" dirty="0"/>
          </a:p>
        </p:txBody>
      </p:sp>
      <p:sp>
        <p:nvSpPr>
          <p:cNvPr id="16" name="Shape 14"/>
          <p:cNvSpPr/>
          <p:nvPr/>
        </p:nvSpPr>
        <p:spPr>
          <a:xfrm>
            <a:off x="822960" y="4526280"/>
            <a:ext cx="1661160" cy="658368"/>
          </a:xfrm>
          <a:prstGeom prst="roundRect">
            <a:avLst>
              <a:gd name="adj" fmla="val 12500"/>
            </a:avLst>
          </a:prstGeom>
          <a:solidFill>
            <a:srgbClr val="D1FAE5"/>
          </a:solidFill>
          <a:ln w="12700">
            <a:solidFill>
              <a:srgbClr val="10B981"/>
            </a:solidFill>
            <a:prstDash val="solid"/>
          </a:ln>
        </p:spPr>
      </p:sp>
      <p:sp>
        <p:nvSpPr>
          <p:cNvPr id="17" name="Text 15"/>
          <p:cNvSpPr/>
          <p:nvPr/>
        </p:nvSpPr>
        <p:spPr>
          <a:xfrm>
            <a:off x="896112"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Organisation described</a:t>
            </a:r>
            <a:endParaRPr lang="en-US" sz="1300" dirty="0"/>
          </a:p>
        </p:txBody>
      </p:sp>
      <p:sp>
        <p:nvSpPr>
          <p:cNvPr id="18" name="Shape 16"/>
          <p:cNvSpPr/>
          <p:nvPr/>
        </p:nvSpPr>
        <p:spPr>
          <a:xfrm>
            <a:off x="2593848" y="4526280"/>
            <a:ext cx="1661160" cy="658368"/>
          </a:xfrm>
          <a:prstGeom prst="roundRect">
            <a:avLst>
              <a:gd name="adj" fmla="val 12500"/>
            </a:avLst>
          </a:prstGeom>
          <a:solidFill>
            <a:srgbClr val="D1FAE5"/>
          </a:solidFill>
          <a:ln w="12700">
            <a:solidFill>
              <a:srgbClr val="10B981"/>
            </a:solidFill>
            <a:prstDash val="solid"/>
          </a:ln>
        </p:spPr>
      </p:sp>
      <p:sp>
        <p:nvSpPr>
          <p:cNvPr id="19" name="Text 17"/>
          <p:cNvSpPr/>
          <p:nvPr/>
        </p:nvSpPr>
        <p:spPr>
          <a:xfrm>
            <a:off x="2667000"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Practices analysed</a:t>
            </a:r>
            <a:endParaRPr lang="en-US" sz="1300" dirty="0"/>
          </a:p>
        </p:txBody>
      </p:sp>
      <p:sp>
        <p:nvSpPr>
          <p:cNvPr id="20" name="Shape 18"/>
          <p:cNvSpPr/>
          <p:nvPr/>
        </p:nvSpPr>
        <p:spPr>
          <a:xfrm>
            <a:off x="4364736" y="4526280"/>
            <a:ext cx="1661160" cy="658368"/>
          </a:xfrm>
          <a:prstGeom prst="roundRect">
            <a:avLst>
              <a:gd name="adj" fmla="val 12500"/>
            </a:avLst>
          </a:prstGeom>
          <a:solidFill>
            <a:srgbClr val="D1FAE5"/>
          </a:solidFill>
          <a:ln w="12700">
            <a:solidFill>
              <a:srgbClr val="10B981"/>
            </a:solidFill>
            <a:prstDash val="solid"/>
          </a:ln>
        </p:spPr>
      </p:sp>
      <p:sp>
        <p:nvSpPr>
          <p:cNvPr id="21" name="Text 19"/>
          <p:cNvSpPr/>
          <p:nvPr/>
        </p:nvSpPr>
        <p:spPr>
          <a:xfrm>
            <a:off x="4437888"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Threats identified &amp; rated</a:t>
            </a:r>
            <a:endParaRPr lang="en-US" sz="1300" dirty="0"/>
          </a:p>
        </p:txBody>
      </p:sp>
      <p:sp>
        <p:nvSpPr>
          <p:cNvPr id="22" name="Shape 20"/>
          <p:cNvSpPr/>
          <p:nvPr/>
        </p:nvSpPr>
        <p:spPr>
          <a:xfrm>
            <a:off x="6135624" y="4526280"/>
            <a:ext cx="1661160" cy="658368"/>
          </a:xfrm>
          <a:prstGeom prst="roundRect">
            <a:avLst>
              <a:gd name="adj" fmla="val 12500"/>
            </a:avLst>
          </a:prstGeom>
          <a:solidFill>
            <a:srgbClr val="D1FAE5"/>
          </a:solidFill>
          <a:ln w="12700">
            <a:solidFill>
              <a:srgbClr val="10B981"/>
            </a:solidFill>
            <a:prstDash val="solid"/>
          </a:ln>
        </p:spPr>
      </p:sp>
      <p:sp>
        <p:nvSpPr>
          <p:cNvPr id="23" name="Text 21"/>
          <p:cNvSpPr/>
          <p:nvPr/>
        </p:nvSpPr>
        <p:spPr>
          <a:xfrm>
            <a:off x="6208776"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Criteria applied</a:t>
            </a:r>
            <a:endParaRPr lang="en-US" sz="1300" dirty="0"/>
          </a:p>
        </p:txBody>
      </p:sp>
      <p:sp>
        <p:nvSpPr>
          <p:cNvPr id="24" name="Shape 22"/>
          <p:cNvSpPr/>
          <p:nvPr/>
        </p:nvSpPr>
        <p:spPr>
          <a:xfrm>
            <a:off x="7906512" y="4526280"/>
            <a:ext cx="1661160" cy="658368"/>
          </a:xfrm>
          <a:prstGeom prst="roundRect">
            <a:avLst>
              <a:gd name="adj" fmla="val 12500"/>
            </a:avLst>
          </a:prstGeom>
          <a:solidFill>
            <a:srgbClr val="D1FAE5"/>
          </a:solidFill>
          <a:ln w="12700">
            <a:solidFill>
              <a:srgbClr val="10B981"/>
            </a:solidFill>
            <a:prstDash val="solid"/>
          </a:ln>
        </p:spPr>
      </p:sp>
      <p:sp>
        <p:nvSpPr>
          <p:cNvPr id="25" name="Text 23"/>
          <p:cNvSpPr/>
          <p:nvPr/>
        </p:nvSpPr>
        <p:spPr>
          <a:xfrm>
            <a:off x="7979664" y="4526280"/>
            <a:ext cx="1514856" cy="658368"/>
          </a:xfrm>
          <a:prstGeom prst="rect">
            <a:avLst/>
          </a:prstGeom>
          <a:noFill/>
          <a:ln/>
        </p:spPr>
        <p:txBody>
          <a:bodyPr wrap="square" lIns="0" tIns="0" rIns="0" bIns="0" rtlCol="0" anchor="ctr"/>
          <a:lstStyle/>
          <a:p>
            <a:pPr algn="ctr" indent="0" marL="0">
              <a:lnSpc>
                <a:spcPct val="110000"/>
              </a:lnSpc>
              <a:buNone/>
            </a:pPr>
            <a:r>
              <a:rPr lang="en-US" sz="1300" b="1" dirty="0">
                <a:solidFill>
                  <a:srgbClr val="065F46"/>
                </a:solidFill>
                <a:latin typeface="Calibri" pitchFamily="34" charset="0"/>
                <a:ea typeface="Calibri" pitchFamily="34" charset="-122"/>
                <a:cs typeface="Calibri" pitchFamily="34" charset="-120"/>
              </a:rPr>
              <a:t>✓  Legal issues named</a:t>
            </a:r>
            <a:endParaRPr lang="en-US" sz="1300" dirty="0"/>
          </a:p>
        </p:txBody>
      </p:sp>
      <p:sp>
        <p:nvSpPr>
          <p:cNvPr id="26" name="Shape 24"/>
          <p:cNvSpPr/>
          <p:nvPr/>
        </p:nvSpPr>
        <p:spPr>
          <a:xfrm>
            <a:off x="9677400" y="4526280"/>
            <a:ext cx="1661160" cy="658368"/>
          </a:xfrm>
          <a:prstGeom prst="roundRect">
            <a:avLst>
              <a:gd name="adj" fmla="val 12500"/>
            </a:avLst>
          </a:prstGeom>
          <a:solidFill>
            <a:srgbClr val="FFFFFF"/>
          </a:solidFill>
          <a:ln w="12700">
            <a:solidFill>
              <a:srgbClr val="D8DDE6"/>
            </a:solidFill>
            <a:prstDash val="solid"/>
          </a:ln>
        </p:spPr>
      </p:sp>
      <p:sp>
        <p:nvSpPr>
          <p:cNvPr id="27" name="Text 25"/>
          <p:cNvSpPr/>
          <p:nvPr/>
        </p:nvSpPr>
        <p:spPr>
          <a:xfrm>
            <a:off x="9750552" y="4526280"/>
            <a:ext cx="1514856" cy="658368"/>
          </a:xfrm>
          <a:prstGeom prst="rect">
            <a:avLst/>
          </a:prstGeom>
          <a:noFill/>
          <a:ln/>
        </p:spPr>
        <p:txBody>
          <a:bodyPr wrap="square" lIns="0" tIns="0" rIns="0" bIns="0" rtlCol="0" anchor="ctr"/>
          <a:lstStyle/>
          <a:p>
            <a:pPr algn="ctr" indent="0" marL="0">
              <a:lnSpc>
                <a:spcPct val="110000"/>
              </a:lnSpc>
              <a:buNone/>
            </a:pPr>
            <a:r>
              <a:rPr lang="en-US" sz="1300" dirty="0">
                <a:solidFill>
                  <a:srgbClr val="5B6472"/>
                </a:solidFill>
                <a:latin typeface="Calibri" pitchFamily="34" charset="0"/>
                <a:ea typeface="Calibri" pitchFamily="34" charset="-122"/>
                <a:cs typeface="Calibri" pitchFamily="34" charset="-120"/>
              </a:rPr>
              <a:t>Recommendations written</a:t>
            </a:r>
            <a:endParaRPr lang="en-US" sz="1300" dirty="0"/>
          </a:p>
        </p:txBody>
      </p:sp>
      <p:sp>
        <p:nvSpPr>
          <p:cNvPr id="28" name="Shape 26"/>
          <p:cNvSpPr/>
          <p:nvPr/>
        </p:nvSpPr>
        <p:spPr>
          <a:xfrm>
            <a:off x="502920" y="5486400"/>
            <a:ext cx="11155680" cy="914400"/>
          </a:xfrm>
          <a:prstGeom prst="roundRect">
            <a:avLst>
              <a:gd name="adj" fmla="val 9000"/>
            </a:avLst>
          </a:prstGeom>
          <a:solidFill>
            <a:srgbClr val="FFFFFF"/>
          </a:solidFill>
          <a:ln w="12700">
            <a:solidFill>
              <a:srgbClr val="D8DDE6"/>
            </a:solidFill>
            <a:prstDash val="solid"/>
          </a:ln>
        </p:spPr>
      </p:sp>
      <p:sp>
        <p:nvSpPr>
          <p:cNvPr id="29" name="Text 27"/>
          <p:cNvSpPr/>
          <p:nvPr/>
        </p:nvSpPr>
        <p:spPr>
          <a:xfrm>
            <a:off x="822960" y="5486400"/>
            <a:ext cx="10515600" cy="914400"/>
          </a:xfrm>
          <a:prstGeom prst="rect">
            <a:avLst/>
          </a:prstGeom>
          <a:noFill/>
          <a:ln/>
        </p:spPr>
        <p:txBody>
          <a:bodyPr wrap="square" lIns="0" tIns="0" rIns="0" bIns="0" rtlCol="0" anchor="ctr"/>
          <a:lstStyle/>
          <a:p>
            <a:pPr indent="0" marL="0">
              <a:lnSpc>
                <a:spcPct val="120000"/>
              </a:lnSpc>
              <a:buNone/>
            </a:pPr>
            <a:r>
              <a:rPr lang="en-US" sz="1700" dirty="0">
                <a:solidFill>
                  <a:srgbClr val="111827"/>
                </a:solidFill>
                <a:latin typeface="Calibri" pitchFamily="34" charset="0"/>
                <a:ea typeface="Calibri" pitchFamily="34" charset="-122"/>
                <a:cs typeface="Calibri" pitchFamily="34" charset="-120"/>
              </a:rPr>
              <a:t>Need help? Unit site Lesson 7 has the full APP and IPP tables, the Essential Eight and the ISM guidelines written out. The practice SAC is now open — attempt everything except the ethics questions.</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L7 — Legislation and Industry Frameworks</dc:title>
  <dc:subject>PptxGenJS Presentation</dc:subject>
  <dc:creator>EduPortal</dc:creator>
  <cp:lastModifiedBy>EduPortal</cp:lastModifiedBy>
  <cp:revision>1</cp:revision>
  <dcterms:created xsi:type="dcterms:W3CDTF">2026-08-12T12:53:26Z</dcterms:created>
  <dcterms:modified xsi:type="dcterms:W3CDTF">2026-08-12T12:53:26Z</dcterms:modified>
</cp:coreProperties>
</file>