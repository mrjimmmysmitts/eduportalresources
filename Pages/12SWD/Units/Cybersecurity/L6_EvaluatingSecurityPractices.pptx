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of 8. This is the lesson that carries the most Outcome 2 marks: the key skill is 'propose and apply criteria to evaluate the effectiveness of the current software development practices'. Note the verb pair — propose AND apply. Students who only list criteria without measuring anything against them will cap out at a middling mark. Laptops closed until slide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pairs, 2 minutes share. B and D are checkable; A, C and E are not. Draw out the pattern before you name it: the checkable ones are closed questions about an observable practice, and you can name the evidence that would answer them. That distinction IS the lesson, so let students find it themselves rather than telling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two verbs in the objective — propose and apply. The study design key skill uses both, and the second one is where students lose marks: they write a beautiful criteria table and never measure anything against it. Have them copy the objective and their target tier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is the bridge into today: 'we have a firewall' names a control but gives you nothing to measure. Today's lesson is about building the measuring instrument. Keep to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 3 is worth flagging forward: it is the hook into next lesson's legislation content. An organisation subject to the Privacy Act needs to be able to show it took reasonable steps, and a criteria-based evaluation is exactly the artefact that demonstrates that. Reason 1 lands well with a school analogy — a rubric exists so two teachers mark the same essay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four-part structure is the single most transferable thing in the lesson and mirrors the structure used in the Nelson textbook's sample criteria table. Insist on all four parts in the workbook — students habitually write the criterion question and stop, which leaves them unable to apply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live if you can — start from the bad version and ask the class what is missing at each step. The measurement row is where to slow down: a percentage of merges reviewed can be tracked term by term, which is what continuous improvement actually looks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this table — it is the scaffold for the workbook and for the Outcome 2 case study. Stress that the Measurement column has been dropped here for space; they must add it themselves. Point out that each criterion maps directly onto a control they already know, so this is not new content so much as a new use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4 is the one to push on: the absence of evidence is itself a finding. If nobody can produce a list of who has production access, that criterion is not 'unmeasurable' — it is failed, and the recommendation writes itself. Students find this counter-intuitive and it is a genuinely useful insight for the case study. Case 3 similarly: no dependency inventory is a finding, not an obstacle.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judgement is the shape of a full-mark Outcome 2 response in miniature: evidence, judgement, recommendation, re-measure. Draw attention to the fact that the recommendation addresses the CAUSE the evidence revealed — seniority bypass — rather than restating the criterion. A recommendation that just says 'review all code' ignores what the evidence actually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idea: criteria sets drift toward what is easy to count, and an organisation can pass an evaluation while remaining genuinely insecure. This is the strongest Extending point available in this topic and a great line for an evaluation answer. For question 2, steer toward simulated phishing campaigns with a measured click and report rate — an actual behavioural measurement, which links straight back to L5's confirmation evidence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two minutes, around the 55-minute mark. The recommendations content after the break is the part that maps most directly onto the assessment, so make sure attention is reset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out the closing loop sentence — it is the sentence that ties the whole area of study together and is a strong opening or closing line for an extended response. Emphasise point 1: unanchored recommendations are the single most common weakness in student case-study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 1 is the most common by a distance. A quick diagnostic: read out five statements and have students call 'control' or 'criterion'. If more than a few get it wrong, spend two extra minutes here rather than pressing on — the workbook's first section depends on this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The predictable sticking point is Section 5: students judge everything 'not met' because they are looking for perfection, or everything 'met' because evidence exists at all. Prompt with: what does the evidence actually show, and what does it fail to show? Fast finishers go to the Outcome 2 practice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per row. Row 3 is the one worth re-teaching on the spot if it goes badly, since the measurement component is what makes the whole approach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discriminator — it tests the control/criterion distinction from both directions. Scan responses before next lesson; the legislation lesson leans on the idea that criteria demonstrate compliance, so this distinction needs to be solid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recommendations column of the tracker remains open after this lesson, and L8 closes it. Flag that L7's legislation content is where students find the external benchmarks their criteria should be measured against — the Essential Eight in particular reads like a ready-made criteria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640080"/>
            <a:ext cx="11155680" cy="5577840"/>
          </a:xfrm>
          <a:prstGeom prst="roundRect">
            <a:avLst>
              <a:gd name="adj" fmla="val 2295"/>
            </a:avLst>
          </a:prstGeom>
          <a:solidFill>
            <a:srgbClr val="F4F6FB"/>
          </a:solidFill>
          <a:ln w="12700">
            <a:solidFill>
              <a:srgbClr val="D8DDE6"/>
            </a:solidFill>
            <a:prstDash val="solid"/>
          </a:ln>
        </p:spPr>
      </p:sp>
      <p:sp>
        <p:nvSpPr>
          <p:cNvPr id="3" name="Text 1"/>
          <p:cNvSpPr/>
          <p:nvPr/>
        </p:nvSpPr>
        <p:spPr>
          <a:xfrm>
            <a:off x="1005840" y="1371600"/>
            <a:ext cx="10058400" cy="365760"/>
          </a:xfrm>
          <a:prstGeom prst="rect">
            <a:avLst/>
          </a:prstGeom>
          <a:noFill/>
          <a:ln/>
        </p:spPr>
        <p:txBody>
          <a:bodyPr wrap="square" lIns="0" tIns="0" rIns="0" bIns="0" rtlCol="0" anchor="ctr"/>
          <a:lstStyle/>
          <a:p>
            <a:pPr indent="0" marL="0">
              <a:buNone/>
            </a:pPr>
            <a:r>
              <a:rPr lang="en-US" sz="1400" b="1" spc="150" kern="0" dirty="0">
                <a:solidFill>
                  <a:srgbClr val="4361EE"/>
                </a:solidFill>
                <a:latin typeface="Courier New" pitchFamily="34" charset="0"/>
                <a:ea typeface="Courier New" pitchFamily="34" charset="-122"/>
                <a:cs typeface="Courier New" pitchFamily="34" charset="-120"/>
              </a:rPr>
              <a:t>UNIT 4 · AREA OF STUDY 2 · CYBER SECURITY</a:t>
            </a:r>
            <a:endParaRPr lang="en-US" sz="1400" dirty="0"/>
          </a:p>
        </p:txBody>
      </p:sp>
      <p:sp>
        <p:nvSpPr>
          <p:cNvPr id="4" name="Text 2"/>
          <p:cNvSpPr/>
          <p:nvPr/>
        </p:nvSpPr>
        <p:spPr>
          <a:xfrm>
            <a:off x="1005840" y="1874520"/>
            <a:ext cx="10058400" cy="1371600"/>
          </a:xfrm>
          <a:prstGeom prst="rect">
            <a:avLst/>
          </a:prstGeom>
          <a:noFill/>
          <a:ln/>
        </p:spPr>
        <p:txBody>
          <a:bodyPr wrap="square" lIns="0" tIns="0" rIns="0" bIns="0" rtlCol="0" anchor="ctr"/>
          <a:lstStyle/>
          <a:p>
            <a:pPr indent="0" marL="0">
              <a:buNone/>
            </a:pPr>
            <a:r>
              <a:rPr lang="en-US" sz="4400" b="1" dirty="0">
                <a:solidFill>
                  <a:srgbClr val="111827"/>
                </a:solidFill>
                <a:latin typeface="Bookman Old Style" pitchFamily="34" charset="0"/>
                <a:ea typeface="Bookman Old Style" pitchFamily="34" charset="-122"/>
                <a:cs typeface="Bookman Old Style" pitchFamily="34" charset="-120"/>
              </a:rPr>
              <a:t>Lesson 6 — Evaluating Security Practices</a:t>
            </a:r>
            <a:endParaRPr lang="en-US" sz="4400" dirty="0"/>
          </a:p>
        </p:txBody>
      </p:sp>
      <p:sp>
        <p:nvSpPr>
          <p:cNvPr id="5" name="Text 3"/>
          <p:cNvSpPr/>
          <p:nvPr/>
        </p:nvSpPr>
        <p:spPr>
          <a:xfrm>
            <a:off x="1005840" y="3246120"/>
            <a:ext cx="9875520" cy="640080"/>
          </a:xfrm>
          <a:prstGeom prst="rect">
            <a:avLst/>
          </a:prstGeom>
          <a:noFill/>
          <a:ln/>
        </p:spPr>
        <p:txBody>
          <a:bodyPr wrap="square" lIns="0" tIns="0" rIns="0" bIns="0" rtlCol="0" anchor="ctr"/>
          <a:lstStyle/>
          <a:p>
            <a:pPr indent="0" marL="0">
              <a:buNone/>
            </a:pPr>
            <a:r>
              <a:rPr lang="en-US" sz="1900" dirty="0">
                <a:solidFill>
                  <a:srgbClr val="5B6472"/>
                </a:solidFill>
                <a:latin typeface="Calibri" pitchFamily="34" charset="0"/>
                <a:ea typeface="Calibri" pitchFamily="34" charset="-122"/>
                <a:cs typeface="Calibri" pitchFamily="34" charset="-120"/>
              </a:rPr>
              <a:t>Writing criteria · Collecting evidence · Measuring · Turning findings into recommendations</a:t>
            </a:r>
            <a:endParaRPr lang="en-US" sz="1900" dirty="0"/>
          </a:p>
        </p:txBody>
      </p:sp>
      <p:sp>
        <p:nvSpPr>
          <p:cNvPr id="6" name="Shape 4"/>
          <p:cNvSpPr/>
          <p:nvPr/>
        </p:nvSpPr>
        <p:spPr>
          <a:xfrm>
            <a:off x="1005840" y="4114800"/>
            <a:ext cx="4937760" cy="1371600"/>
          </a:xfrm>
          <a:prstGeom prst="roundRect">
            <a:avLst>
              <a:gd name="adj" fmla="val 6667"/>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7" name="Text 5"/>
          <p:cNvSpPr/>
          <p:nvPr/>
        </p:nvSpPr>
        <p:spPr>
          <a:xfrm>
            <a:off x="1234440" y="4251960"/>
            <a:ext cx="4572000" cy="1097280"/>
          </a:xfrm>
          <a:prstGeom prst="rect">
            <a:avLst/>
          </a:prstGeom>
          <a:noFill/>
          <a:ln/>
        </p:spPr>
        <p:txBody>
          <a:bodyPr wrap="square" lIns="0" tIns="0" rIns="0" bIns="0" rtlCol="0" anchor="ctr"/>
          <a:lstStyle/>
          <a:p>
            <a:pPr indent="0" marL="0">
              <a:lnSpc>
                <a:spcPts val="2200"/>
              </a:lnSpc>
              <a:buNone/>
            </a:pPr>
            <a:r>
              <a:rPr lang="en-US" sz="1600" b="1" dirty="0">
                <a:solidFill>
                  <a:srgbClr val="111827"/>
                </a:solidFill>
                <a:latin typeface="Calibri" pitchFamily="34" charset="0"/>
                <a:ea typeface="Calibri" pitchFamily="34" charset="-122"/>
                <a:cs typeface="Calibri" pitchFamily="34" charset="-120"/>
              </a:rPr>
              <a:t>Year 12 Software Development</a:t>
            </a:r>
            <a:endParaRPr lang="en-US" sz="1600" dirty="0"/>
          </a:p>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Double period · 100 minutes</a:t>
            </a:r>
            <a:endParaRPr lang="en-US" sz="1600" dirty="0"/>
          </a:p>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Case organisation: Aurora Ticketing</a:t>
            </a:r>
            <a:endParaRPr lang="en-US" sz="1600" dirty="0"/>
          </a:p>
        </p:txBody>
      </p:sp>
      <p:sp>
        <p:nvSpPr>
          <p:cNvPr id="8" name="Shape 6"/>
          <p:cNvSpPr/>
          <p:nvPr/>
        </p:nvSpPr>
        <p:spPr>
          <a:xfrm>
            <a:off x="6263640" y="4114800"/>
            <a:ext cx="4617720" cy="1371600"/>
          </a:xfrm>
          <a:prstGeom prst="roundRect">
            <a:avLst>
              <a:gd name="adj" fmla="val 6667"/>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6492240" y="4251960"/>
            <a:ext cx="4206240" cy="1097280"/>
          </a:xfrm>
          <a:prstGeom prst="rect">
            <a:avLst/>
          </a:prstGeom>
          <a:noFill/>
          <a:ln/>
        </p:spPr>
        <p:txBody>
          <a:bodyPr wrap="square" lIns="0" tIns="0" rIns="0" bIns="0" rtlCol="0" anchor="ctr"/>
          <a:lstStyle/>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Last lesson: Threat Modelling</a:t>
            </a:r>
            <a:endParaRPr lang="en-US" sz="1600" dirty="0"/>
          </a:p>
          <a:p>
            <a:pPr indent="0" marL="0">
              <a:lnSpc>
                <a:spcPts val="2200"/>
              </a:lnSpc>
              <a:buNone/>
            </a:pPr>
            <a:r>
              <a:rPr lang="en-US" sz="1600" b="1" dirty="0">
                <a:solidFill>
                  <a:srgbClr val="111827"/>
                </a:solidFill>
                <a:latin typeface="Calibri" pitchFamily="34" charset="0"/>
                <a:ea typeface="Calibri" pitchFamily="34" charset="-122"/>
                <a:cs typeface="Calibri" pitchFamily="34" charset="-120"/>
              </a:rPr>
              <a:t>Today: judging how good practices are</a:t>
            </a:r>
            <a:endParaRPr lang="en-US" sz="1600" dirty="0"/>
          </a:p>
          <a:p>
            <a:pPr indent="0" marL="0">
              <a:lnSpc>
                <a:spcPts val="2200"/>
              </a:lnSpc>
              <a:buNone/>
            </a:pPr>
            <a:r>
              <a:rPr lang="en-US" sz="1600" dirty="0">
                <a:solidFill>
                  <a:srgbClr val="111827"/>
                </a:solidFill>
                <a:latin typeface="Calibri" pitchFamily="34" charset="0"/>
                <a:ea typeface="Calibri" pitchFamily="34" charset="-122"/>
                <a:cs typeface="Calibri" pitchFamily="34" charset="-120"/>
              </a:rPr>
              <a:t>Notebooks out — laptops stay shut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WARM UP</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Warm up — Can you actually check it?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5 minutes · in pairs · notebooks only</a:t>
            </a:r>
            <a:endParaRPr lang="en-US" sz="1500" dirty="0"/>
          </a:p>
        </p:txBody>
      </p:sp>
      <p:sp>
        <p:nvSpPr>
          <p:cNvPr id="8" name="Shape 6"/>
          <p:cNvSpPr/>
          <p:nvPr/>
        </p:nvSpPr>
        <p:spPr>
          <a:xfrm>
            <a:off x="502920" y="1325880"/>
            <a:ext cx="11155680" cy="731520"/>
          </a:xfrm>
          <a:prstGeom prst="roundRect">
            <a:avLst>
              <a:gd name="adj" fmla="val 11250"/>
            </a:avLst>
          </a:prstGeom>
          <a:solidFill>
            <a:srgbClr val="EEF2FF"/>
          </a:solidFill>
          <a:ln w="12700">
            <a:solidFill>
              <a:srgbClr val="4361EE"/>
            </a:solidFill>
            <a:prstDash val="solid"/>
          </a:ln>
        </p:spPr>
      </p:sp>
      <p:sp>
        <p:nvSpPr>
          <p:cNvPr id="9" name="Text 7"/>
          <p:cNvSpPr/>
          <p:nvPr/>
        </p:nvSpPr>
        <p:spPr>
          <a:xfrm>
            <a:off x="822960" y="1325880"/>
            <a:ext cx="10515600" cy="731520"/>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Five statements below are supposed to help judge whether Aurora Ticketing's development practices are secure. For each: could you actually answer it with evidence? Mark it YES or NO.</a:t>
            </a:r>
            <a:endParaRPr lang="en-US" sz="1800" dirty="0"/>
          </a:p>
        </p:txBody>
      </p:sp>
      <p:sp>
        <p:nvSpPr>
          <p:cNvPr id="10" name="Shape 8"/>
          <p:cNvSpPr/>
          <p:nvPr/>
        </p:nvSpPr>
        <p:spPr>
          <a:xfrm>
            <a:off x="502920" y="2286000"/>
            <a:ext cx="11155680" cy="658368"/>
          </a:xfrm>
          <a:prstGeom prst="roundRect">
            <a:avLst>
              <a:gd name="adj" fmla="val 11111"/>
            </a:avLst>
          </a:prstGeom>
          <a:solidFill>
            <a:srgbClr val="FFFFFF"/>
          </a:solidFill>
          <a:ln w="12700">
            <a:solidFill>
              <a:srgbClr val="D8DDE6"/>
            </a:solidFill>
            <a:prstDash val="solid"/>
          </a:ln>
        </p:spPr>
      </p:sp>
      <p:sp>
        <p:nvSpPr>
          <p:cNvPr id="11" name="Shape 9"/>
          <p:cNvSpPr/>
          <p:nvPr/>
        </p:nvSpPr>
        <p:spPr>
          <a:xfrm>
            <a:off x="658368" y="2414016"/>
            <a:ext cx="402336" cy="402336"/>
          </a:xfrm>
          <a:prstGeom prst="roundRect">
            <a:avLst>
              <a:gd name="adj" fmla="val 50000"/>
            </a:avLst>
          </a:prstGeom>
          <a:solidFill>
            <a:srgbClr val="F4F6FB"/>
          </a:solidFill>
          <a:ln w="12700">
            <a:solidFill>
              <a:srgbClr val="D8DDE6"/>
            </a:solidFill>
            <a:prstDash val="solid"/>
          </a:ln>
        </p:spPr>
      </p:sp>
      <p:sp>
        <p:nvSpPr>
          <p:cNvPr id="12" name="Text 10"/>
          <p:cNvSpPr/>
          <p:nvPr/>
        </p:nvSpPr>
        <p:spPr>
          <a:xfrm>
            <a:off x="658368" y="2414016"/>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A</a:t>
            </a:r>
            <a:endParaRPr lang="en-US" sz="1300" dirty="0"/>
          </a:p>
        </p:txBody>
      </p:sp>
      <p:sp>
        <p:nvSpPr>
          <p:cNvPr id="13" name="Text 11"/>
          <p:cNvSpPr/>
          <p:nvPr/>
        </p:nvSpPr>
        <p:spPr>
          <a:xfrm>
            <a:off x="1207008" y="2286000"/>
            <a:ext cx="1033272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Is the code secure?</a:t>
            </a:r>
            <a:endParaRPr lang="en-US" sz="1900" dirty="0"/>
          </a:p>
        </p:txBody>
      </p:sp>
      <p:sp>
        <p:nvSpPr>
          <p:cNvPr id="14" name="Shape 12"/>
          <p:cNvSpPr/>
          <p:nvPr/>
        </p:nvSpPr>
        <p:spPr>
          <a:xfrm>
            <a:off x="502920" y="3054096"/>
            <a:ext cx="11155680" cy="658368"/>
          </a:xfrm>
          <a:prstGeom prst="roundRect">
            <a:avLst>
              <a:gd name="adj" fmla="val 11111"/>
            </a:avLst>
          </a:prstGeom>
          <a:solidFill>
            <a:srgbClr val="FFFFFF"/>
          </a:solidFill>
          <a:ln w="12700">
            <a:solidFill>
              <a:srgbClr val="D8DDE6"/>
            </a:solidFill>
            <a:prstDash val="solid"/>
          </a:ln>
        </p:spPr>
      </p:sp>
      <p:sp>
        <p:nvSpPr>
          <p:cNvPr id="15" name="Shape 13"/>
          <p:cNvSpPr/>
          <p:nvPr/>
        </p:nvSpPr>
        <p:spPr>
          <a:xfrm>
            <a:off x="658368" y="3182112"/>
            <a:ext cx="402336" cy="402336"/>
          </a:xfrm>
          <a:prstGeom prst="roundRect">
            <a:avLst>
              <a:gd name="adj" fmla="val 50000"/>
            </a:avLst>
          </a:prstGeom>
          <a:solidFill>
            <a:srgbClr val="F4F6FB"/>
          </a:solidFill>
          <a:ln w="12700">
            <a:solidFill>
              <a:srgbClr val="D8DDE6"/>
            </a:solidFill>
            <a:prstDash val="solid"/>
          </a:ln>
        </p:spPr>
      </p:sp>
      <p:sp>
        <p:nvSpPr>
          <p:cNvPr id="16" name="Text 14"/>
          <p:cNvSpPr/>
          <p:nvPr/>
        </p:nvSpPr>
        <p:spPr>
          <a:xfrm>
            <a:off x="658368" y="3182112"/>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B</a:t>
            </a:r>
            <a:endParaRPr lang="en-US" sz="1300" dirty="0"/>
          </a:p>
        </p:txBody>
      </p:sp>
      <p:sp>
        <p:nvSpPr>
          <p:cNvPr id="17" name="Text 15"/>
          <p:cNvSpPr/>
          <p:nvPr/>
        </p:nvSpPr>
        <p:spPr>
          <a:xfrm>
            <a:off x="1207008" y="3054096"/>
            <a:ext cx="1033272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Are all code changes peer-reviewed before they are merged into the main branch?</a:t>
            </a:r>
            <a:endParaRPr lang="en-US" sz="1900" dirty="0"/>
          </a:p>
        </p:txBody>
      </p:sp>
      <p:sp>
        <p:nvSpPr>
          <p:cNvPr id="18" name="Shape 16"/>
          <p:cNvSpPr/>
          <p:nvPr/>
        </p:nvSpPr>
        <p:spPr>
          <a:xfrm>
            <a:off x="502920" y="3822192"/>
            <a:ext cx="11155680" cy="658368"/>
          </a:xfrm>
          <a:prstGeom prst="roundRect">
            <a:avLst>
              <a:gd name="adj" fmla="val 11111"/>
            </a:avLst>
          </a:prstGeom>
          <a:solidFill>
            <a:srgbClr val="FFFFFF"/>
          </a:solidFill>
          <a:ln w="12700">
            <a:solidFill>
              <a:srgbClr val="D8DDE6"/>
            </a:solidFill>
            <a:prstDash val="solid"/>
          </a:ln>
        </p:spPr>
      </p:sp>
      <p:sp>
        <p:nvSpPr>
          <p:cNvPr id="19" name="Shape 17"/>
          <p:cNvSpPr/>
          <p:nvPr/>
        </p:nvSpPr>
        <p:spPr>
          <a:xfrm>
            <a:off x="658368" y="3950208"/>
            <a:ext cx="402336" cy="402336"/>
          </a:xfrm>
          <a:prstGeom prst="roundRect">
            <a:avLst>
              <a:gd name="adj" fmla="val 50000"/>
            </a:avLst>
          </a:prstGeom>
          <a:solidFill>
            <a:srgbClr val="F4F6FB"/>
          </a:solidFill>
          <a:ln w="12700">
            <a:solidFill>
              <a:srgbClr val="D8DDE6"/>
            </a:solidFill>
            <a:prstDash val="solid"/>
          </a:ln>
        </p:spPr>
      </p:sp>
      <p:sp>
        <p:nvSpPr>
          <p:cNvPr id="20" name="Text 18"/>
          <p:cNvSpPr/>
          <p:nvPr/>
        </p:nvSpPr>
        <p:spPr>
          <a:xfrm>
            <a:off x="658368" y="3950208"/>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C</a:t>
            </a:r>
            <a:endParaRPr lang="en-US" sz="1300" dirty="0"/>
          </a:p>
        </p:txBody>
      </p:sp>
      <p:sp>
        <p:nvSpPr>
          <p:cNvPr id="21" name="Text 19"/>
          <p:cNvSpPr/>
          <p:nvPr/>
        </p:nvSpPr>
        <p:spPr>
          <a:xfrm>
            <a:off x="1207008" y="3822192"/>
            <a:ext cx="1033272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Do the developers care about security?</a:t>
            </a:r>
            <a:endParaRPr lang="en-US" sz="1900" dirty="0"/>
          </a:p>
        </p:txBody>
      </p:sp>
      <p:sp>
        <p:nvSpPr>
          <p:cNvPr id="22" name="Shape 20"/>
          <p:cNvSpPr/>
          <p:nvPr/>
        </p:nvSpPr>
        <p:spPr>
          <a:xfrm>
            <a:off x="502920" y="4590288"/>
            <a:ext cx="11155680" cy="658368"/>
          </a:xfrm>
          <a:prstGeom prst="roundRect">
            <a:avLst>
              <a:gd name="adj" fmla="val 11111"/>
            </a:avLst>
          </a:prstGeom>
          <a:solidFill>
            <a:srgbClr val="FFFFFF"/>
          </a:solidFill>
          <a:ln w="12700">
            <a:solidFill>
              <a:srgbClr val="D8DDE6"/>
            </a:solidFill>
            <a:prstDash val="solid"/>
          </a:ln>
        </p:spPr>
      </p:sp>
      <p:sp>
        <p:nvSpPr>
          <p:cNvPr id="23" name="Shape 21"/>
          <p:cNvSpPr/>
          <p:nvPr/>
        </p:nvSpPr>
        <p:spPr>
          <a:xfrm>
            <a:off x="658368" y="4718304"/>
            <a:ext cx="402336" cy="402336"/>
          </a:xfrm>
          <a:prstGeom prst="roundRect">
            <a:avLst>
              <a:gd name="adj" fmla="val 50000"/>
            </a:avLst>
          </a:prstGeom>
          <a:solidFill>
            <a:srgbClr val="F4F6FB"/>
          </a:solidFill>
          <a:ln w="12700">
            <a:solidFill>
              <a:srgbClr val="D8DDE6"/>
            </a:solidFill>
            <a:prstDash val="solid"/>
          </a:ln>
        </p:spPr>
      </p:sp>
      <p:sp>
        <p:nvSpPr>
          <p:cNvPr id="24" name="Text 22"/>
          <p:cNvSpPr/>
          <p:nvPr/>
        </p:nvSpPr>
        <p:spPr>
          <a:xfrm>
            <a:off x="658368" y="4718304"/>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D</a:t>
            </a:r>
            <a:endParaRPr lang="en-US" sz="1300" dirty="0"/>
          </a:p>
        </p:txBody>
      </p:sp>
      <p:sp>
        <p:nvSpPr>
          <p:cNvPr id="25" name="Text 23"/>
          <p:cNvSpPr/>
          <p:nvPr/>
        </p:nvSpPr>
        <p:spPr>
          <a:xfrm>
            <a:off x="1207008" y="4590288"/>
            <a:ext cx="1033272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Is multi-factor authentication enforced on every repository account?</a:t>
            </a:r>
            <a:endParaRPr lang="en-US" sz="1900" dirty="0"/>
          </a:p>
        </p:txBody>
      </p:sp>
      <p:sp>
        <p:nvSpPr>
          <p:cNvPr id="26" name="Shape 24"/>
          <p:cNvSpPr/>
          <p:nvPr/>
        </p:nvSpPr>
        <p:spPr>
          <a:xfrm>
            <a:off x="502920" y="5358384"/>
            <a:ext cx="11155680" cy="658368"/>
          </a:xfrm>
          <a:prstGeom prst="roundRect">
            <a:avLst>
              <a:gd name="adj" fmla="val 11111"/>
            </a:avLst>
          </a:prstGeom>
          <a:solidFill>
            <a:srgbClr val="FFFFFF"/>
          </a:solidFill>
          <a:ln w="12700">
            <a:solidFill>
              <a:srgbClr val="D8DDE6"/>
            </a:solidFill>
            <a:prstDash val="solid"/>
          </a:ln>
        </p:spPr>
      </p:sp>
      <p:sp>
        <p:nvSpPr>
          <p:cNvPr id="27" name="Shape 25"/>
          <p:cNvSpPr/>
          <p:nvPr/>
        </p:nvSpPr>
        <p:spPr>
          <a:xfrm>
            <a:off x="658368" y="5486400"/>
            <a:ext cx="402336" cy="402336"/>
          </a:xfrm>
          <a:prstGeom prst="roundRect">
            <a:avLst>
              <a:gd name="adj" fmla="val 50000"/>
            </a:avLst>
          </a:prstGeom>
          <a:solidFill>
            <a:srgbClr val="F4F6FB"/>
          </a:solidFill>
          <a:ln w="12700">
            <a:solidFill>
              <a:srgbClr val="D8DDE6"/>
            </a:solidFill>
            <a:prstDash val="solid"/>
          </a:ln>
        </p:spPr>
      </p:sp>
      <p:sp>
        <p:nvSpPr>
          <p:cNvPr id="28" name="Text 26"/>
          <p:cNvSpPr/>
          <p:nvPr/>
        </p:nvSpPr>
        <p:spPr>
          <a:xfrm>
            <a:off x="658368" y="5486400"/>
            <a:ext cx="402336" cy="402336"/>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E</a:t>
            </a:r>
            <a:endParaRPr lang="en-US" sz="1300" dirty="0"/>
          </a:p>
        </p:txBody>
      </p:sp>
      <p:sp>
        <p:nvSpPr>
          <p:cNvPr id="29" name="Text 27"/>
          <p:cNvSpPr/>
          <p:nvPr/>
        </p:nvSpPr>
        <p:spPr>
          <a:xfrm>
            <a:off x="1207008" y="5358384"/>
            <a:ext cx="1033272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Is our system safe from hackers?</a:t>
            </a:r>
            <a:endParaRPr lang="en-US" sz="1900" dirty="0"/>
          </a:p>
        </p:txBody>
      </p:sp>
      <p:sp>
        <p:nvSpPr>
          <p:cNvPr id="30" name="Shape 28"/>
          <p:cNvSpPr/>
          <p:nvPr/>
        </p:nvSpPr>
        <p:spPr>
          <a:xfrm>
            <a:off x="502920" y="6126480"/>
            <a:ext cx="11155680" cy="548640"/>
          </a:xfrm>
          <a:prstGeom prst="roundRect">
            <a:avLst>
              <a:gd name="adj" fmla="val 15000"/>
            </a:avLst>
          </a:prstGeom>
          <a:solidFill>
            <a:srgbClr val="FEF3C7"/>
          </a:solidFill>
          <a:ln w="12700">
            <a:solidFill>
              <a:srgbClr val="F59E0B"/>
            </a:solidFill>
            <a:prstDash val="solid"/>
          </a:ln>
        </p:spPr>
      </p:sp>
      <p:sp>
        <p:nvSpPr>
          <p:cNvPr id="31" name="Text 29"/>
          <p:cNvSpPr/>
          <p:nvPr/>
        </p:nvSpPr>
        <p:spPr>
          <a:xfrm>
            <a:off x="822960" y="6126480"/>
            <a:ext cx="10515600" cy="54864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what makes the checkable ones different from the rest?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Learning objective</a:t>
            </a:r>
            <a:endParaRPr lang="en-US" sz="3000" dirty="0"/>
          </a:p>
        </p:txBody>
      </p:sp>
      <p:sp>
        <p:nvSpPr>
          <p:cNvPr id="7" name="Shape 5"/>
          <p:cNvSpPr/>
          <p:nvPr/>
        </p:nvSpPr>
        <p:spPr>
          <a:xfrm>
            <a:off x="502920" y="1143000"/>
            <a:ext cx="11155680" cy="960120"/>
          </a:xfrm>
          <a:prstGeom prst="roundRect">
            <a:avLst>
              <a:gd name="adj" fmla="val 8571"/>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8" name="Text 6"/>
          <p:cNvSpPr/>
          <p:nvPr/>
        </p:nvSpPr>
        <p:spPr>
          <a:xfrm>
            <a:off x="777240" y="1143000"/>
            <a:ext cx="10607040" cy="960120"/>
          </a:xfrm>
          <a:prstGeom prst="rect">
            <a:avLst/>
          </a:prstGeom>
          <a:noFill/>
          <a:ln/>
        </p:spPr>
        <p:txBody>
          <a:bodyPr wrap="square" lIns="0" tIns="0" rIns="0" bIns="0" rtlCol="0" anchor="ctr"/>
          <a:lstStyle/>
          <a:p>
            <a:pPr indent="0" marL="0">
              <a:buNone/>
            </a:pPr>
            <a:r>
              <a:rPr lang="en-US" sz="2200" b="1" dirty="0">
                <a:solidFill>
                  <a:srgbClr val="111827"/>
                </a:solidFill>
                <a:latin typeface="Bookman Old Style" pitchFamily="34" charset="0"/>
                <a:ea typeface="Bookman Old Style" pitchFamily="34" charset="-122"/>
                <a:cs typeface="Bookman Old Style" pitchFamily="34" charset="-120"/>
              </a:rPr>
              <a:t>To be able to propose criteria for evaluating an organisation's software development practices, and apply them to reach a judgement.</a:t>
            </a:r>
            <a:endParaRPr lang="en-US" sz="2200" dirty="0"/>
          </a:p>
        </p:txBody>
      </p:sp>
      <p:sp>
        <p:nvSpPr>
          <p:cNvPr id="9" name="Text 7"/>
          <p:cNvSpPr/>
          <p:nvPr/>
        </p:nvSpPr>
        <p:spPr>
          <a:xfrm>
            <a:off x="502920" y="2240280"/>
            <a:ext cx="5486400" cy="365760"/>
          </a:xfrm>
          <a:prstGeom prst="rect">
            <a:avLst/>
          </a:prstGeom>
          <a:noFill/>
          <a:ln/>
        </p:spPr>
        <p:txBody>
          <a:bodyPr wrap="square" lIns="0" tIns="0" rIns="0" bIns="0" rtlCol="0" anchor="ctr"/>
          <a:lstStyle/>
          <a:p>
            <a:pPr indent="0" marL="0">
              <a:buNone/>
            </a:pPr>
            <a:r>
              <a:rPr lang="en-US" sz="2100" b="1" dirty="0">
                <a:solidFill>
                  <a:srgbClr val="111827"/>
                </a:solidFill>
                <a:latin typeface="Bookman Old Style" pitchFamily="34" charset="0"/>
                <a:ea typeface="Bookman Old Style" pitchFamily="34" charset="-122"/>
                <a:cs typeface="Bookman Old Style" pitchFamily="34" charset="-120"/>
              </a:rPr>
              <a:t>Success criteria</a:t>
            </a:r>
            <a:endParaRPr lang="en-US" sz="2100" dirty="0"/>
          </a:p>
        </p:txBody>
      </p:sp>
      <p:sp>
        <p:nvSpPr>
          <p:cNvPr id="10" name="Shape 8"/>
          <p:cNvSpPr/>
          <p:nvPr/>
        </p:nvSpPr>
        <p:spPr>
          <a:xfrm>
            <a:off x="502920" y="2697480"/>
            <a:ext cx="3611880" cy="3063240"/>
          </a:xfrm>
          <a:prstGeom prst="roundRect">
            <a:avLst>
              <a:gd name="adj" fmla="val 2687"/>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2880360"/>
            <a:ext cx="1298448" cy="274320"/>
          </a:xfrm>
          <a:prstGeom prst="roundRect">
            <a:avLst>
              <a:gd name="adj" fmla="val 50000"/>
            </a:avLst>
          </a:prstGeom>
          <a:solidFill>
            <a:srgbClr val="10B981"/>
          </a:solidFill>
          <a:ln/>
        </p:spPr>
      </p:sp>
      <p:sp>
        <p:nvSpPr>
          <p:cNvPr id="12" name="Text 10"/>
          <p:cNvSpPr/>
          <p:nvPr/>
        </p:nvSpPr>
        <p:spPr>
          <a:xfrm>
            <a:off x="731520" y="2880360"/>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731520" y="3310128"/>
            <a:ext cx="3154680" cy="137160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I can explain why an organisation uses criteria to evaluate its security practices.</a:t>
            </a:r>
            <a:endParaRPr lang="en-US" sz="1700" dirty="0"/>
          </a:p>
        </p:txBody>
      </p:sp>
      <p:sp>
        <p:nvSpPr>
          <p:cNvPr id="14" name="Shape 12"/>
          <p:cNvSpPr/>
          <p:nvPr/>
        </p:nvSpPr>
        <p:spPr>
          <a:xfrm>
            <a:off x="731520" y="4736592"/>
            <a:ext cx="3154680" cy="0"/>
          </a:xfrm>
          <a:prstGeom prst="line">
            <a:avLst/>
          </a:prstGeom>
          <a:noFill/>
          <a:ln w="12700">
            <a:solidFill>
              <a:srgbClr val="D8DDE6"/>
            </a:solidFill>
            <a:prstDash val="solid"/>
          </a:ln>
        </p:spPr>
      </p:sp>
      <p:sp>
        <p:nvSpPr>
          <p:cNvPr id="15" name="Text 13"/>
          <p:cNvSpPr/>
          <p:nvPr/>
        </p:nvSpPr>
        <p:spPr>
          <a:xfrm>
            <a:off x="731520" y="4846320"/>
            <a:ext cx="3154680" cy="77724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 can tell a usable criterion from an unusable one.</a:t>
            </a:r>
            <a:endParaRPr lang="en-US" sz="1600" dirty="0"/>
          </a:p>
        </p:txBody>
      </p:sp>
      <p:sp>
        <p:nvSpPr>
          <p:cNvPr id="16" name="Shape 14"/>
          <p:cNvSpPr/>
          <p:nvPr/>
        </p:nvSpPr>
        <p:spPr>
          <a:xfrm>
            <a:off x="4325112" y="2697480"/>
            <a:ext cx="3611880" cy="3063240"/>
          </a:xfrm>
          <a:prstGeom prst="roundRect">
            <a:avLst>
              <a:gd name="adj" fmla="val 2687"/>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4553712" y="2880360"/>
            <a:ext cx="1298448" cy="274320"/>
          </a:xfrm>
          <a:prstGeom prst="roundRect">
            <a:avLst>
              <a:gd name="adj" fmla="val 50000"/>
            </a:avLst>
          </a:prstGeom>
          <a:solidFill>
            <a:srgbClr val="F59E0B"/>
          </a:solidFill>
          <a:ln/>
        </p:spPr>
      </p:sp>
      <p:sp>
        <p:nvSpPr>
          <p:cNvPr id="18" name="Text 16"/>
          <p:cNvSpPr/>
          <p:nvPr/>
        </p:nvSpPr>
        <p:spPr>
          <a:xfrm>
            <a:off x="4553712" y="2880360"/>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9" name="Text 17"/>
          <p:cNvSpPr/>
          <p:nvPr/>
        </p:nvSpPr>
        <p:spPr>
          <a:xfrm>
            <a:off x="4553712" y="3310128"/>
            <a:ext cx="3154680" cy="137160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I can write criteria for a practice, naming the data to collect and how it will be measured.</a:t>
            </a:r>
            <a:endParaRPr lang="en-US" sz="1700" dirty="0"/>
          </a:p>
        </p:txBody>
      </p:sp>
      <p:sp>
        <p:nvSpPr>
          <p:cNvPr id="20" name="Shape 18"/>
          <p:cNvSpPr/>
          <p:nvPr/>
        </p:nvSpPr>
        <p:spPr>
          <a:xfrm>
            <a:off x="4553712" y="4736592"/>
            <a:ext cx="3154680" cy="0"/>
          </a:xfrm>
          <a:prstGeom prst="line">
            <a:avLst/>
          </a:prstGeom>
          <a:noFill/>
          <a:ln w="12700">
            <a:solidFill>
              <a:srgbClr val="D8DDE6"/>
            </a:solidFill>
            <a:prstDash val="solid"/>
          </a:ln>
        </p:spPr>
      </p:sp>
      <p:sp>
        <p:nvSpPr>
          <p:cNvPr id="21" name="Text 19"/>
          <p:cNvSpPr/>
          <p:nvPr/>
        </p:nvSpPr>
        <p:spPr>
          <a:xfrm>
            <a:off x="4553712" y="4846320"/>
            <a:ext cx="3154680" cy="77724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 can apply criteria to evidence and reach a met / partially met / not met judgement.</a:t>
            </a:r>
            <a:endParaRPr lang="en-US" sz="1600" dirty="0"/>
          </a:p>
        </p:txBody>
      </p:sp>
      <p:sp>
        <p:nvSpPr>
          <p:cNvPr id="22" name="Shape 20"/>
          <p:cNvSpPr/>
          <p:nvPr/>
        </p:nvSpPr>
        <p:spPr>
          <a:xfrm>
            <a:off x="8147304" y="2697480"/>
            <a:ext cx="3611880" cy="3063240"/>
          </a:xfrm>
          <a:prstGeom prst="roundRect">
            <a:avLst>
              <a:gd name="adj" fmla="val 2687"/>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23" name="Shape 21"/>
          <p:cNvSpPr/>
          <p:nvPr/>
        </p:nvSpPr>
        <p:spPr>
          <a:xfrm>
            <a:off x="8375904" y="2880360"/>
            <a:ext cx="1298448" cy="274320"/>
          </a:xfrm>
          <a:prstGeom prst="roundRect">
            <a:avLst>
              <a:gd name="adj" fmla="val 50000"/>
            </a:avLst>
          </a:prstGeom>
          <a:solidFill>
            <a:srgbClr val="8B5CF6"/>
          </a:solidFill>
          <a:ln/>
        </p:spPr>
      </p:sp>
      <p:sp>
        <p:nvSpPr>
          <p:cNvPr id="24" name="Text 22"/>
          <p:cNvSpPr/>
          <p:nvPr/>
        </p:nvSpPr>
        <p:spPr>
          <a:xfrm>
            <a:off x="8375904" y="2880360"/>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5" name="Text 23"/>
          <p:cNvSpPr/>
          <p:nvPr/>
        </p:nvSpPr>
        <p:spPr>
          <a:xfrm>
            <a:off x="8375904" y="3310128"/>
            <a:ext cx="3154680" cy="1371600"/>
          </a:xfrm>
          <a:prstGeom prst="rect">
            <a:avLst/>
          </a:prstGeom>
          <a:noFill/>
          <a:ln/>
        </p:spPr>
        <p:txBody>
          <a:bodyPr wrap="square" lIns="0" tIns="0" rIns="0" bIns="0" rtlCol="0" anchor="t"/>
          <a:lstStyle/>
          <a:p>
            <a:pPr indent="0" marL="0">
              <a:buNone/>
            </a:pPr>
            <a:r>
              <a:rPr lang="en-US" sz="1700" dirty="0">
                <a:solidFill>
                  <a:srgbClr val="111827"/>
                </a:solidFill>
                <a:latin typeface="Calibri" pitchFamily="34" charset="0"/>
                <a:ea typeface="Calibri" pitchFamily="34" charset="-122"/>
                <a:cs typeface="Calibri" pitchFamily="34" charset="-120"/>
              </a:rPr>
              <a:t>I can evaluate a criteria set, identify what it fails to capture, and justify recommendations from my findings.</a:t>
            </a:r>
            <a:endParaRPr lang="en-US" sz="1700" dirty="0"/>
          </a:p>
        </p:txBody>
      </p:sp>
      <p:sp>
        <p:nvSpPr>
          <p:cNvPr id="26" name="Shape 24"/>
          <p:cNvSpPr/>
          <p:nvPr/>
        </p:nvSpPr>
        <p:spPr>
          <a:xfrm>
            <a:off x="8375904" y="4736592"/>
            <a:ext cx="3154680" cy="0"/>
          </a:xfrm>
          <a:prstGeom prst="line">
            <a:avLst/>
          </a:prstGeom>
          <a:noFill/>
          <a:ln w="12700">
            <a:solidFill>
              <a:srgbClr val="D8DDE6"/>
            </a:solidFill>
            <a:prstDash val="solid"/>
          </a:ln>
        </p:spPr>
      </p:sp>
      <p:sp>
        <p:nvSpPr>
          <p:cNvPr id="27" name="Text 25"/>
          <p:cNvSpPr/>
          <p:nvPr/>
        </p:nvSpPr>
        <p:spPr>
          <a:xfrm>
            <a:off x="8375904" y="4846320"/>
            <a:ext cx="3154680" cy="77724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I can weigh a criterion that is easy to measure against one that matters more.</a:t>
            </a:r>
            <a:endParaRPr lang="en-US" sz="1600" dirty="0"/>
          </a:p>
        </p:txBody>
      </p:sp>
      <p:sp>
        <p:nvSpPr>
          <p:cNvPr id="28" name="Text 26"/>
          <p:cNvSpPr/>
          <p:nvPr/>
        </p:nvSpPr>
        <p:spPr>
          <a:xfrm>
            <a:off x="502920" y="6355080"/>
            <a:ext cx="11155680" cy="274320"/>
          </a:xfrm>
          <a:prstGeom prst="rect">
            <a:avLst/>
          </a:prstGeom>
          <a:noFill/>
          <a:ln/>
        </p:spPr>
        <p:txBody>
          <a:bodyPr wrap="square" lIns="0" tIns="0" rIns="0" bIns="0" rtlCol="0" anchor="ctr"/>
          <a:lstStyle/>
          <a:p>
            <a:pPr indent="0" marL="0">
              <a:buNone/>
            </a:pPr>
            <a:r>
              <a:rPr lang="en-US" sz="1100" dirty="0">
                <a:solidFill>
                  <a:srgbClr val="5B6472"/>
                </a:solidFill>
                <a:latin typeface="Courier New" pitchFamily="34" charset="0"/>
                <a:ea typeface="Courier New" pitchFamily="34" charset="-122"/>
                <a:cs typeface="Courier New" pitchFamily="34" charset="-120"/>
              </a:rPr>
              <a:t>You will self-assess against these criteria on the exit ticket.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Retrieval — threat modelling</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Cold call · no notes · 3 minutes</a:t>
            </a:r>
            <a:endParaRPr lang="en-US" sz="1500" dirty="0"/>
          </a:p>
        </p:txBody>
      </p:sp>
      <p:sp>
        <p:nvSpPr>
          <p:cNvPr id="8" name="Shape 6"/>
          <p:cNvSpPr/>
          <p:nvPr/>
        </p:nvSpPr>
        <p:spPr>
          <a:xfrm>
            <a:off x="502920" y="1600200"/>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13232" y="1819656"/>
            <a:ext cx="512064" cy="512064"/>
          </a:xfrm>
          <a:prstGeom prst="roundRect">
            <a:avLst>
              <a:gd name="adj" fmla="val 50000"/>
            </a:avLst>
          </a:prstGeom>
          <a:solidFill>
            <a:srgbClr val="4361EE"/>
          </a:solidFill>
          <a:ln/>
        </p:spPr>
      </p:sp>
      <p:sp>
        <p:nvSpPr>
          <p:cNvPr id="10" name="Text 8"/>
          <p:cNvSpPr/>
          <p:nvPr/>
        </p:nvSpPr>
        <p:spPr>
          <a:xfrm>
            <a:off x="713232" y="181965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p>
        </p:txBody>
      </p:sp>
      <p:sp>
        <p:nvSpPr>
          <p:cNvPr id="11" name="Text 9"/>
          <p:cNvSpPr/>
          <p:nvPr/>
        </p:nvSpPr>
        <p:spPr>
          <a:xfrm>
            <a:off x="1417320" y="1600200"/>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Name the three threat modelling principles.</a:t>
            </a:r>
            <a:endParaRPr lang="en-US" sz="2000" dirty="0"/>
          </a:p>
        </p:txBody>
      </p:sp>
      <p:sp>
        <p:nvSpPr>
          <p:cNvPr id="12" name="Shape 10"/>
          <p:cNvSpPr/>
          <p:nvPr/>
        </p:nvSpPr>
        <p:spPr>
          <a:xfrm>
            <a:off x="502920" y="2715768"/>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3" name="Shape 11"/>
          <p:cNvSpPr/>
          <p:nvPr/>
        </p:nvSpPr>
        <p:spPr>
          <a:xfrm>
            <a:off x="713232" y="2935224"/>
            <a:ext cx="512064" cy="512064"/>
          </a:xfrm>
          <a:prstGeom prst="roundRect">
            <a:avLst>
              <a:gd name="adj" fmla="val 50000"/>
            </a:avLst>
          </a:prstGeom>
          <a:solidFill>
            <a:srgbClr val="4361EE"/>
          </a:solidFill>
          <a:ln/>
        </p:spPr>
      </p:sp>
      <p:sp>
        <p:nvSpPr>
          <p:cNvPr id="14" name="Text 12"/>
          <p:cNvSpPr/>
          <p:nvPr/>
        </p:nvSpPr>
        <p:spPr>
          <a:xfrm>
            <a:off x="713232" y="293522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2</a:t>
            </a:r>
            <a:endParaRPr lang="en-US" sz="1600" dirty="0"/>
          </a:p>
        </p:txBody>
      </p:sp>
      <p:sp>
        <p:nvSpPr>
          <p:cNvPr id="15" name="Text 13"/>
          <p:cNvSpPr/>
          <p:nvPr/>
        </p:nvSpPr>
        <p:spPr>
          <a:xfrm>
            <a:off x="1417320" y="2715768"/>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What is the difference between a mitigation and a confirmation?</a:t>
            </a:r>
            <a:endParaRPr lang="en-US" sz="2000" dirty="0"/>
          </a:p>
        </p:txBody>
      </p:sp>
      <p:sp>
        <p:nvSpPr>
          <p:cNvPr id="16" name="Shape 14"/>
          <p:cNvSpPr/>
          <p:nvPr/>
        </p:nvSpPr>
        <p:spPr>
          <a:xfrm>
            <a:off x="502920" y="3831336"/>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713232" y="4050792"/>
            <a:ext cx="512064" cy="512064"/>
          </a:xfrm>
          <a:prstGeom prst="roundRect">
            <a:avLst>
              <a:gd name="adj" fmla="val 50000"/>
            </a:avLst>
          </a:prstGeom>
          <a:solidFill>
            <a:srgbClr val="4361EE"/>
          </a:solidFill>
          <a:ln/>
        </p:spPr>
      </p:sp>
      <p:sp>
        <p:nvSpPr>
          <p:cNvPr id="18" name="Text 16"/>
          <p:cNvSpPr/>
          <p:nvPr/>
        </p:nvSpPr>
        <p:spPr>
          <a:xfrm>
            <a:off x="713232" y="40507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3</a:t>
            </a:r>
            <a:endParaRPr lang="en-US" sz="1600" dirty="0"/>
          </a:p>
        </p:txBody>
      </p:sp>
      <p:sp>
        <p:nvSpPr>
          <p:cNvPr id="19" name="Text 17"/>
          <p:cNvSpPr/>
          <p:nvPr/>
        </p:nvSpPr>
        <p:spPr>
          <a:xfrm>
            <a:off x="1417320" y="3831336"/>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Give one event that should trigger a review of a threat model.</a:t>
            </a:r>
            <a:endParaRPr lang="en-US" sz="2000" dirty="0"/>
          </a:p>
        </p:txBody>
      </p:sp>
      <p:sp>
        <p:nvSpPr>
          <p:cNvPr id="20" name="Shape 18"/>
          <p:cNvSpPr/>
          <p:nvPr/>
        </p:nvSpPr>
        <p:spPr>
          <a:xfrm>
            <a:off x="502920" y="4946904"/>
            <a:ext cx="11155680" cy="960120"/>
          </a:xfrm>
          <a:prstGeom prst="roundRect">
            <a:avLst>
              <a:gd name="adj" fmla="val 857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713232" y="5166360"/>
            <a:ext cx="512064" cy="512064"/>
          </a:xfrm>
          <a:prstGeom prst="roundRect">
            <a:avLst>
              <a:gd name="adj" fmla="val 50000"/>
            </a:avLst>
          </a:prstGeom>
          <a:solidFill>
            <a:srgbClr val="4361EE"/>
          </a:solidFill>
          <a:ln/>
        </p:spPr>
      </p:sp>
      <p:sp>
        <p:nvSpPr>
          <p:cNvPr id="22" name="Text 20"/>
          <p:cNvSpPr/>
          <p:nvPr/>
        </p:nvSpPr>
        <p:spPr>
          <a:xfrm>
            <a:off x="713232" y="516636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4</a:t>
            </a:r>
            <a:endParaRPr lang="en-US" sz="1600" dirty="0"/>
          </a:p>
        </p:txBody>
      </p:sp>
      <p:sp>
        <p:nvSpPr>
          <p:cNvPr id="23" name="Text 21"/>
          <p:cNvSpPr/>
          <p:nvPr/>
        </p:nvSpPr>
        <p:spPr>
          <a:xfrm>
            <a:off x="1417320" y="4946904"/>
            <a:ext cx="9966960" cy="96012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Why is "we have a firewall" a weak entry in a threat model?</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Why use criteria at all?</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Four reasons an organisation writes them down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54480"/>
            <a:ext cx="2697480" cy="3657600"/>
          </a:xfrm>
          <a:prstGeom prst="roundRect">
            <a:avLst>
              <a:gd name="adj" fmla="val 3051"/>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04088" y="1755648"/>
            <a:ext cx="457200" cy="457200"/>
          </a:xfrm>
          <a:prstGeom prst="roundRect">
            <a:avLst>
              <a:gd name="adj" fmla="val 50000"/>
            </a:avLst>
          </a:prstGeom>
          <a:solidFill>
            <a:srgbClr val="4361EE"/>
          </a:solidFill>
          <a:ln/>
        </p:spPr>
      </p:sp>
      <p:sp>
        <p:nvSpPr>
          <p:cNvPr id="12" name="Text 10"/>
          <p:cNvSpPr/>
          <p:nvPr/>
        </p:nvSpPr>
        <p:spPr>
          <a:xfrm>
            <a:off x="704088" y="17556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704088" y="2331720"/>
            <a:ext cx="2286000" cy="105156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Consistency and standardisation</a:t>
            </a:r>
            <a:endParaRPr lang="en-US" sz="1800" dirty="0"/>
          </a:p>
        </p:txBody>
      </p:sp>
      <p:sp>
        <p:nvSpPr>
          <p:cNvPr id="14" name="Text 12"/>
          <p:cNvSpPr/>
          <p:nvPr/>
        </p:nvSpPr>
        <p:spPr>
          <a:xfrm>
            <a:off x="704088" y="3383280"/>
            <a:ext cx="2286000" cy="1691640"/>
          </a:xfrm>
          <a:prstGeom prst="rect">
            <a:avLst/>
          </a:prstGeom>
          <a:noFill/>
          <a:ln/>
        </p:spPr>
        <p:txBody>
          <a:bodyPr wrap="square" lIns="0" tIns="0" rIns="0" bIns="0" rtlCol="0" anchor="t"/>
          <a:lstStyle/>
          <a:p>
            <a:pPr indent="0" marL="0">
              <a:buNone/>
            </a:pPr>
            <a:r>
              <a:rPr lang="en-US" sz="1550" dirty="0">
                <a:solidFill>
                  <a:srgbClr val="111827"/>
                </a:solidFill>
                <a:latin typeface="Calibri" pitchFamily="34" charset="0"/>
                <a:ea typeface="Calibri" pitchFamily="34" charset="-122"/>
                <a:cs typeface="Calibri" pitchFamily="34" charset="-120"/>
              </a:rPr>
              <a:t>Every team and every project is assessed the same way, so nothing gets overlooked because one team was judged more gently than another.</a:t>
            </a:r>
            <a:endParaRPr lang="en-US" sz="1550" dirty="0"/>
          </a:p>
        </p:txBody>
      </p:sp>
      <p:sp>
        <p:nvSpPr>
          <p:cNvPr id="15" name="Shape 13"/>
          <p:cNvSpPr/>
          <p:nvPr/>
        </p:nvSpPr>
        <p:spPr>
          <a:xfrm>
            <a:off x="3328416" y="1554480"/>
            <a:ext cx="2697480" cy="365760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3529584" y="1755648"/>
            <a:ext cx="457200" cy="457200"/>
          </a:xfrm>
          <a:prstGeom prst="roundRect">
            <a:avLst>
              <a:gd name="adj" fmla="val 50000"/>
            </a:avLst>
          </a:prstGeom>
          <a:solidFill>
            <a:srgbClr val="4361EE"/>
          </a:solidFill>
          <a:ln/>
        </p:spPr>
      </p:sp>
      <p:sp>
        <p:nvSpPr>
          <p:cNvPr id="17" name="Text 15"/>
          <p:cNvSpPr/>
          <p:nvPr/>
        </p:nvSpPr>
        <p:spPr>
          <a:xfrm>
            <a:off x="3529584" y="17556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3529584" y="2331720"/>
            <a:ext cx="2286000" cy="105156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Proactive risk identification</a:t>
            </a:r>
            <a:endParaRPr lang="en-US" sz="1800" dirty="0"/>
          </a:p>
        </p:txBody>
      </p:sp>
      <p:sp>
        <p:nvSpPr>
          <p:cNvPr id="19" name="Text 17"/>
          <p:cNvSpPr/>
          <p:nvPr/>
        </p:nvSpPr>
        <p:spPr>
          <a:xfrm>
            <a:off x="3529584" y="3383280"/>
            <a:ext cx="2286000" cy="1691640"/>
          </a:xfrm>
          <a:prstGeom prst="rect">
            <a:avLst/>
          </a:prstGeom>
          <a:noFill/>
          <a:ln/>
        </p:spPr>
        <p:txBody>
          <a:bodyPr wrap="square" lIns="0" tIns="0" rIns="0" bIns="0" rtlCol="0" anchor="t"/>
          <a:lstStyle/>
          <a:p>
            <a:pPr indent="0" marL="0">
              <a:buNone/>
            </a:pPr>
            <a:r>
              <a:rPr lang="en-US" sz="1550" dirty="0">
                <a:solidFill>
                  <a:srgbClr val="111827"/>
                </a:solidFill>
                <a:latin typeface="Calibri" pitchFamily="34" charset="0"/>
                <a:ea typeface="Calibri" pitchFamily="34" charset="-122"/>
                <a:cs typeface="Calibri" pitchFamily="34" charset="-120"/>
              </a:rPr>
              <a:t>Systematically checking practices against criteria surfaces weaknesses before they become incidents, rather than after.</a:t>
            </a:r>
            <a:endParaRPr lang="en-US" sz="1550" dirty="0"/>
          </a:p>
        </p:txBody>
      </p:sp>
      <p:sp>
        <p:nvSpPr>
          <p:cNvPr id="20" name="Shape 18"/>
          <p:cNvSpPr/>
          <p:nvPr/>
        </p:nvSpPr>
        <p:spPr>
          <a:xfrm>
            <a:off x="6153912" y="1554480"/>
            <a:ext cx="2697480" cy="3657600"/>
          </a:xfrm>
          <a:prstGeom prst="roundRect">
            <a:avLst>
              <a:gd name="adj" fmla="val 3051"/>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6355080" y="1755648"/>
            <a:ext cx="457200" cy="457200"/>
          </a:xfrm>
          <a:prstGeom prst="roundRect">
            <a:avLst>
              <a:gd name="adj" fmla="val 50000"/>
            </a:avLst>
          </a:prstGeom>
          <a:solidFill>
            <a:srgbClr val="4361EE"/>
          </a:solidFill>
          <a:ln/>
        </p:spPr>
      </p:sp>
      <p:sp>
        <p:nvSpPr>
          <p:cNvPr id="22" name="Text 20"/>
          <p:cNvSpPr/>
          <p:nvPr/>
        </p:nvSpPr>
        <p:spPr>
          <a:xfrm>
            <a:off x="6355080" y="17556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6355080" y="2331720"/>
            <a:ext cx="2286000" cy="105156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Benchmarks for compliance</a:t>
            </a:r>
            <a:endParaRPr lang="en-US" sz="1800" dirty="0"/>
          </a:p>
        </p:txBody>
      </p:sp>
      <p:sp>
        <p:nvSpPr>
          <p:cNvPr id="24" name="Text 22"/>
          <p:cNvSpPr/>
          <p:nvPr/>
        </p:nvSpPr>
        <p:spPr>
          <a:xfrm>
            <a:off x="6355080" y="3383280"/>
            <a:ext cx="2286000" cy="1691640"/>
          </a:xfrm>
          <a:prstGeom prst="rect">
            <a:avLst/>
          </a:prstGeom>
          <a:noFill/>
          <a:ln/>
        </p:spPr>
        <p:txBody>
          <a:bodyPr wrap="square" lIns="0" tIns="0" rIns="0" bIns="0" rtlCol="0" anchor="t"/>
          <a:lstStyle/>
          <a:p>
            <a:pPr indent="0" marL="0">
              <a:buNone/>
            </a:pPr>
            <a:r>
              <a:rPr lang="en-US" sz="1550" dirty="0">
                <a:solidFill>
                  <a:srgbClr val="111827"/>
                </a:solidFill>
                <a:latin typeface="Calibri" pitchFamily="34" charset="0"/>
                <a:ea typeface="Calibri" pitchFamily="34" charset="-122"/>
                <a:cs typeface="Calibri" pitchFamily="34" charset="-120"/>
              </a:rPr>
              <a:t>Criteria give a clear point of comparison against industry standards and legal obligations — important for any organisation holding sensitive data.</a:t>
            </a:r>
            <a:endParaRPr lang="en-US" sz="1550" dirty="0"/>
          </a:p>
        </p:txBody>
      </p:sp>
      <p:sp>
        <p:nvSpPr>
          <p:cNvPr id="25" name="Shape 23"/>
          <p:cNvSpPr/>
          <p:nvPr/>
        </p:nvSpPr>
        <p:spPr>
          <a:xfrm>
            <a:off x="8979408" y="1554480"/>
            <a:ext cx="2697480" cy="365760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6" name="Shape 24"/>
          <p:cNvSpPr/>
          <p:nvPr/>
        </p:nvSpPr>
        <p:spPr>
          <a:xfrm>
            <a:off x="9180576" y="1755648"/>
            <a:ext cx="457200" cy="457200"/>
          </a:xfrm>
          <a:prstGeom prst="roundRect">
            <a:avLst>
              <a:gd name="adj" fmla="val 50000"/>
            </a:avLst>
          </a:prstGeom>
          <a:solidFill>
            <a:srgbClr val="4361EE"/>
          </a:solidFill>
          <a:ln/>
        </p:spPr>
      </p:sp>
      <p:sp>
        <p:nvSpPr>
          <p:cNvPr id="27" name="Text 25"/>
          <p:cNvSpPr/>
          <p:nvPr/>
        </p:nvSpPr>
        <p:spPr>
          <a:xfrm>
            <a:off x="9180576" y="17556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9180576" y="2331720"/>
            <a:ext cx="2286000" cy="1051560"/>
          </a:xfrm>
          <a:prstGeom prst="rect">
            <a:avLst/>
          </a:prstGeom>
          <a:noFill/>
          <a:ln/>
        </p:spPr>
        <p:txBody>
          <a:bodyPr wrap="square" lIns="0" tIns="0" rIns="0" bIns="0" rtlCol="0" anchor="t"/>
          <a:lstStyle/>
          <a:p>
            <a:pPr indent="0" marL="0">
              <a:buNone/>
            </a:pPr>
            <a:r>
              <a:rPr lang="en-US" sz="1800" b="1" dirty="0">
                <a:solidFill>
                  <a:srgbClr val="4361EE"/>
                </a:solidFill>
                <a:latin typeface="Bookman Old Style" pitchFamily="34" charset="0"/>
                <a:ea typeface="Bookman Old Style" pitchFamily="34" charset="-122"/>
                <a:cs typeface="Bookman Old Style" pitchFamily="34" charset="-120"/>
              </a:rPr>
              <a:t>Continuous improvement</a:t>
            </a:r>
            <a:endParaRPr lang="en-US" sz="1800" dirty="0"/>
          </a:p>
        </p:txBody>
      </p:sp>
      <p:sp>
        <p:nvSpPr>
          <p:cNvPr id="29" name="Text 27"/>
          <p:cNvSpPr/>
          <p:nvPr/>
        </p:nvSpPr>
        <p:spPr>
          <a:xfrm>
            <a:off x="9180576" y="3383280"/>
            <a:ext cx="2286000" cy="1691640"/>
          </a:xfrm>
          <a:prstGeom prst="rect">
            <a:avLst/>
          </a:prstGeom>
          <a:noFill/>
          <a:ln/>
        </p:spPr>
        <p:txBody>
          <a:bodyPr wrap="square" lIns="0" tIns="0" rIns="0" bIns="0" rtlCol="0" anchor="t"/>
          <a:lstStyle/>
          <a:p>
            <a:pPr indent="0" marL="0">
              <a:buNone/>
            </a:pPr>
            <a:r>
              <a:rPr lang="en-US" sz="1550" dirty="0">
                <a:solidFill>
                  <a:srgbClr val="111827"/>
                </a:solidFill>
                <a:latin typeface="Calibri" pitchFamily="34" charset="0"/>
                <a:ea typeface="Calibri" pitchFamily="34" charset="-122"/>
                <a:cs typeface="Calibri" pitchFamily="34" charset="-120"/>
              </a:rPr>
              <a:t>Criteria are reviewed and updated as threats change, which keeps the evaluation honest and builds a culture of security awareness.</a:t>
            </a:r>
            <a:endParaRPr lang="en-US" sz="1550" dirty="0"/>
          </a:p>
        </p:txBody>
      </p:sp>
      <p:sp>
        <p:nvSpPr>
          <p:cNvPr id="30" name="Shape 28"/>
          <p:cNvSpPr/>
          <p:nvPr/>
        </p:nvSpPr>
        <p:spPr>
          <a:xfrm>
            <a:off x="502920" y="5440680"/>
            <a:ext cx="11155680" cy="685800"/>
          </a:xfrm>
          <a:prstGeom prst="roundRect">
            <a:avLst>
              <a:gd name="adj" fmla="val 12000"/>
            </a:avLst>
          </a:prstGeom>
          <a:solidFill>
            <a:srgbClr val="FEF3C7"/>
          </a:solidFill>
          <a:ln w="12700">
            <a:solidFill>
              <a:srgbClr val="F59E0B"/>
            </a:solidFill>
            <a:prstDash val="solid"/>
          </a:ln>
        </p:spPr>
      </p:sp>
      <p:sp>
        <p:nvSpPr>
          <p:cNvPr id="31" name="Text 29"/>
          <p:cNvSpPr/>
          <p:nvPr/>
        </p:nvSpPr>
        <p:spPr>
          <a:xfrm>
            <a:off x="822960" y="5440680"/>
            <a:ext cx="10515600" cy="68580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Without criteria, an evaluation is just an opinion — and an opinion cannot be defended to a board, an auditor, or a court.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Anatomy of a criterion</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Four parts — a criterion missing any one of them cannot be applied</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960120"/>
          </a:xfrm>
          <a:prstGeom prst="roundRect">
            <a:avLst>
              <a:gd name="adj" fmla="val 8571"/>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1755648"/>
            <a:ext cx="2148840" cy="384048"/>
          </a:xfrm>
          <a:prstGeom prst="roundRect">
            <a:avLst>
              <a:gd name="adj" fmla="val 50000"/>
            </a:avLst>
          </a:prstGeom>
          <a:solidFill>
            <a:srgbClr val="4361EE"/>
          </a:solidFill>
          <a:ln/>
        </p:spPr>
      </p:sp>
      <p:sp>
        <p:nvSpPr>
          <p:cNvPr id="12" name="Text 10"/>
          <p:cNvSpPr/>
          <p:nvPr/>
        </p:nvSpPr>
        <p:spPr>
          <a:xfrm>
            <a:off x="731520" y="1755648"/>
            <a:ext cx="2148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PRACTICE</a:t>
            </a:r>
            <a:endParaRPr lang="en-US" sz="1100" dirty="0"/>
          </a:p>
        </p:txBody>
      </p:sp>
      <p:sp>
        <p:nvSpPr>
          <p:cNvPr id="13" name="Text 11"/>
          <p:cNvSpPr/>
          <p:nvPr/>
        </p:nvSpPr>
        <p:spPr>
          <a:xfrm>
            <a:off x="3108960" y="1463040"/>
            <a:ext cx="8321040" cy="96012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Which of the six security controls is being evaluated?</a:t>
            </a:r>
            <a:endParaRPr lang="en-US" sz="1900" dirty="0"/>
          </a:p>
        </p:txBody>
      </p:sp>
      <p:sp>
        <p:nvSpPr>
          <p:cNvPr id="14" name="Shape 12"/>
          <p:cNvSpPr/>
          <p:nvPr/>
        </p:nvSpPr>
        <p:spPr>
          <a:xfrm>
            <a:off x="502920" y="2523744"/>
            <a:ext cx="11155680" cy="960120"/>
          </a:xfrm>
          <a:prstGeom prst="roundRect">
            <a:avLst>
              <a:gd name="adj" fmla="val 8571"/>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5" name="Shape 13"/>
          <p:cNvSpPr/>
          <p:nvPr/>
        </p:nvSpPr>
        <p:spPr>
          <a:xfrm>
            <a:off x="731520" y="2816352"/>
            <a:ext cx="2148840" cy="384048"/>
          </a:xfrm>
          <a:prstGeom prst="roundRect">
            <a:avLst>
              <a:gd name="adj" fmla="val 50000"/>
            </a:avLst>
          </a:prstGeom>
          <a:solidFill>
            <a:srgbClr val="10B981"/>
          </a:solidFill>
          <a:ln/>
        </p:spPr>
      </p:sp>
      <p:sp>
        <p:nvSpPr>
          <p:cNvPr id="16" name="Text 14"/>
          <p:cNvSpPr/>
          <p:nvPr/>
        </p:nvSpPr>
        <p:spPr>
          <a:xfrm>
            <a:off x="731520" y="2816352"/>
            <a:ext cx="2148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CRITERION</a:t>
            </a:r>
            <a:endParaRPr lang="en-US" sz="1100" dirty="0"/>
          </a:p>
        </p:txBody>
      </p:sp>
      <p:sp>
        <p:nvSpPr>
          <p:cNvPr id="17" name="Text 15"/>
          <p:cNvSpPr/>
          <p:nvPr/>
        </p:nvSpPr>
        <p:spPr>
          <a:xfrm>
            <a:off x="3108960" y="2523744"/>
            <a:ext cx="8321040" cy="96012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A closed question about that practice, answerable with evidence.</a:t>
            </a:r>
            <a:endParaRPr lang="en-US" sz="1900" dirty="0"/>
          </a:p>
        </p:txBody>
      </p:sp>
      <p:sp>
        <p:nvSpPr>
          <p:cNvPr id="18" name="Shape 16"/>
          <p:cNvSpPr/>
          <p:nvPr/>
        </p:nvSpPr>
        <p:spPr>
          <a:xfrm>
            <a:off x="502920" y="3584448"/>
            <a:ext cx="11155680" cy="960120"/>
          </a:xfrm>
          <a:prstGeom prst="roundRect">
            <a:avLst>
              <a:gd name="adj" fmla="val 8571"/>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9" name="Shape 17"/>
          <p:cNvSpPr/>
          <p:nvPr/>
        </p:nvSpPr>
        <p:spPr>
          <a:xfrm>
            <a:off x="731520" y="3877056"/>
            <a:ext cx="2148840" cy="384048"/>
          </a:xfrm>
          <a:prstGeom prst="roundRect">
            <a:avLst>
              <a:gd name="adj" fmla="val 50000"/>
            </a:avLst>
          </a:prstGeom>
          <a:solidFill>
            <a:srgbClr val="F59E0B"/>
          </a:solidFill>
          <a:ln/>
        </p:spPr>
      </p:sp>
      <p:sp>
        <p:nvSpPr>
          <p:cNvPr id="20" name="Text 18"/>
          <p:cNvSpPr/>
          <p:nvPr/>
        </p:nvSpPr>
        <p:spPr>
          <a:xfrm>
            <a:off x="731520" y="3877056"/>
            <a:ext cx="2148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DATA TO COLLECT</a:t>
            </a:r>
            <a:endParaRPr lang="en-US" sz="1100" dirty="0"/>
          </a:p>
        </p:txBody>
      </p:sp>
      <p:sp>
        <p:nvSpPr>
          <p:cNvPr id="21" name="Text 19"/>
          <p:cNvSpPr/>
          <p:nvPr/>
        </p:nvSpPr>
        <p:spPr>
          <a:xfrm>
            <a:off x="3108960" y="3584448"/>
            <a:ext cx="8321040" cy="96012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The specific records, logs or documents you would gather.</a:t>
            </a:r>
            <a:endParaRPr lang="en-US" sz="1900" dirty="0"/>
          </a:p>
        </p:txBody>
      </p:sp>
      <p:sp>
        <p:nvSpPr>
          <p:cNvPr id="22" name="Shape 20"/>
          <p:cNvSpPr/>
          <p:nvPr/>
        </p:nvSpPr>
        <p:spPr>
          <a:xfrm>
            <a:off x="502920" y="4645152"/>
            <a:ext cx="11155680" cy="960120"/>
          </a:xfrm>
          <a:prstGeom prst="roundRect">
            <a:avLst>
              <a:gd name="adj" fmla="val 8571"/>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23" name="Shape 21"/>
          <p:cNvSpPr/>
          <p:nvPr/>
        </p:nvSpPr>
        <p:spPr>
          <a:xfrm>
            <a:off x="731520" y="4937760"/>
            <a:ext cx="2148840" cy="384048"/>
          </a:xfrm>
          <a:prstGeom prst="roundRect">
            <a:avLst>
              <a:gd name="adj" fmla="val 50000"/>
            </a:avLst>
          </a:prstGeom>
          <a:solidFill>
            <a:srgbClr val="8B5CF6"/>
          </a:solidFill>
          <a:ln/>
        </p:spPr>
      </p:sp>
      <p:sp>
        <p:nvSpPr>
          <p:cNvPr id="24" name="Text 22"/>
          <p:cNvSpPr/>
          <p:nvPr/>
        </p:nvSpPr>
        <p:spPr>
          <a:xfrm>
            <a:off x="731520" y="4937760"/>
            <a:ext cx="21488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MEASUREMENT</a:t>
            </a:r>
            <a:endParaRPr lang="en-US" sz="1100" dirty="0"/>
          </a:p>
        </p:txBody>
      </p:sp>
      <p:sp>
        <p:nvSpPr>
          <p:cNvPr id="25" name="Text 23"/>
          <p:cNvSpPr/>
          <p:nvPr/>
        </p:nvSpPr>
        <p:spPr>
          <a:xfrm>
            <a:off x="3108960" y="4645152"/>
            <a:ext cx="8321040" cy="96012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What you do with that data to reach a judgement.</a:t>
            </a:r>
            <a:endParaRPr lang="en-US" sz="1900" dirty="0"/>
          </a:p>
        </p:txBody>
      </p:sp>
      <p:sp>
        <p:nvSpPr>
          <p:cNvPr id="26" name="Shape 24"/>
          <p:cNvSpPr/>
          <p:nvPr/>
        </p:nvSpPr>
        <p:spPr>
          <a:xfrm>
            <a:off x="502920" y="5760720"/>
            <a:ext cx="11155680" cy="868680"/>
          </a:xfrm>
          <a:prstGeom prst="roundRect">
            <a:avLst>
              <a:gd name="adj" fmla="val 9474"/>
            </a:avLst>
          </a:prstGeom>
          <a:solidFill>
            <a:srgbClr val="EEF2FF"/>
          </a:solidFill>
          <a:ln w="12700">
            <a:solidFill>
              <a:srgbClr val="4361EE"/>
            </a:solidFill>
            <a:prstDash val="solid"/>
          </a:ln>
        </p:spPr>
      </p:sp>
      <p:sp>
        <p:nvSpPr>
          <p:cNvPr id="27" name="Text 25"/>
          <p:cNvSpPr/>
          <p:nvPr/>
        </p:nvSpPr>
        <p:spPr>
          <a:xfrm>
            <a:off x="822960" y="5760720"/>
            <a:ext cx="10515600" cy="8686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Test for any criterion you write:  </a:t>
            </a:r>
            <a:pPr indent="0" marL="0">
              <a:buNone/>
            </a:pPr>
            <a:r>
              <a:rPr lang="en-US" sz="1800" dirty="0">
                <a:solidFill>
                  <a:srgbClr val="111827"/>
                </a:solidFill>
                <a:latin typeface="Calibri" pitchFamily="34" charset="0"/>
                <a:ea typeface="Calibri" pitchFamily="34" charset="-122"/>
                <a:cs typeface="Calibri" pitchFamily="34" charset="-120"/>
              </a:rPr>
              <a:t>could two different people gather the same evidence and reach the same answer? If not, it is a wish, not a criterion.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Worked example — writing a criterion</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Aurora Ticketing · practice: code review</a:t>
            </a:r>
            <a:endParaRPr lang="en-US" sz="1500" dirty="0"/>
          </a:p>
        </p:txBody>
      </p:sp>
      <p:sp>
        <p:nvSpPr>
          <p:cNvPr id="8" name="Shape 6"/>
          <p:cNvSpPr/>
          <p:nvPr/>
        </p:nvSpPr>
        <p:spPr>
          <a:xfrm>
            <a:off x="502920" y="1234440"/>
            <a:ext cx="11155680" cy="960120"/>
          </a:xfrm>
          <a:prstGeom prst="roundRect">
            <a:avLst>
              <a:gd name="adj" fmla="val 8571"/>
            </a:avLst>
          </a:prstGeom>
          <a:solidFill>
            <a:srgbClr val="FEE2E2"/>
          </a:solidFill>
          <a:ln w="12700">
            <a:solidFill>
              <a:srgbClr val="EF4444"/>
            </a:solidFill>
            <a:prstDash val="solid"/>
          </a:ln>
        </p:spPr>
      </p:sp>
      <p:sp>
        <p:nvSpPr>
          <p:cNvPr id="9" name="Text 7"/>
          <p:cNvSpPr/>
          <p:nvPr/>
        </p:nvSpPr>
        <p:spPr>
          <a:xfrm>
            <a:off x="822960" y="1234440"/>
            <a:ext cx="10515600" cy="960120"/>
          </a:xfrm>
          <a:prstGeom prst="rect">
            <a:avLst/>
          </a:prstGeom>
          <a:noFill/>
          <a:ln/>
        </p:spPr>
        <p:txBody>
          <a:bodyPr wrap="square" lIns="0" tIns="0" rIns="0" bIns="0" rtlCol="0" anchor="ctr"/>
          <a:lstStyle/>
          <a:p>
            <a:pPr indent="0" marL="0">
              <a:lnSpc>
                <a:spcPts val="2600"/>
              </a:lnSpc>
              <a:buNone/>
            </a:pPr>
            <a:r>
              <a:rPr lang="en-US" sz="1800" b="1" dirty="0">
                <a:solidFill>
                  <a:srgbClr val="EF4444"/>
                </a:solidFill>
                <a:latin typeface="Courier New" pitchFamily="34" charset="0"/>
                <a:ea typeface="Courier New" pitchFamily="34" charset="-122"/>
                <a:cs typeface="Courier New" pitchFamily="34" charset="-120"/>
              </a:rPr>
              <a:t>Attempt 1:  </a:t>
            </a:r>
            <a:pPr indent="0" marL="0">
              <a:lnSpc>
                <a:spcPts val="2600"/>
              </a:lnSpc>
              <a:buNone/>
            </a:pPr>
            <a:r>
              <a:rPr lang="en-US" sz="1800" b="1" dirty="0">
                <a:solidFill>
                  <a:srgbClr val="111827"/>
                </a:solidFill>
                <a:latin typeface="Calibri" pitchFamily="34" charset="0"/>
                <a:ea typeface="Calibri" pitchFamily="34" charset="-122"/>
                <a:cs typeface="Calibri" pitchFamily="34" charset="-120"/>
              </a:rPr>
              <a:t>"Code should be reviewed properly."</a:t>
            </a:r>
            <a:endParaRPr lang="en-US" sz="1800" dirty="0"/>
          </a:p>
          <a:p>
            <a:pPr indent="0" marL="0">
              <a:lnSpc>
                <a:spcPts val="2600"/>
              </a:lnSpc>
              <a:buNone/>
            </a:pPr>
            <a:r>
              <a:rPr lang="en-US" sz="1800" i="1" dirty="0">
                <a:solidFill>
                  <a:srgbClr val="5B6472"/>
                </a:solidFill>
                <a:latin typeface="Calibri" pitchFamily="34" charset="0"/>
                <a:ea typeface="Calibri" pitchFamily="34" charset="-122"/>
                <a:cs typeface="Calibri" pitchFamily="34" charset="-120"/>
              </a:rPr>
              <a:t>Nothing to collect, nothing to measure, and 'properly' means whatever the reader wants it to mean.</a:t>
            </a:r>
            <a:endParaRPr lang="en-US" sz="1800" dirty="0"/>
          </a:p>
        </p:txBody>
      </p:sp>
      <p:sp>
        <p:nvSpPr>
          <p:cNvPr id="10" name="Shape 8"/>
          <p:cNvSpPr/>
          <p:nvPr/>
        </p:nvSpPr>
        <p:spPr>
          <a:xfrm>
            <a:off x="502920" y="2423160"/>
            <a:ext cx="2377440" cy="438912"/>
          </a:xfrm>
          <a:prstGeom prst="rect">
            <a:avLst/>
          </a:prstGeom>
          <a:solidFill>
            <a:srgbClr val="10B981"/>
          </a:solidFill>
          <a:ln w="12700">
            <a:solidFill>
              <a:srgbClr val="FFFFFF"/>
            </a:solidFill>
            <a:prstDash val="solid"/>
          </a:ln>
        </p:spPr>
      </p:sp>
      <p:sp>
        <p:nvSpPr>
          <p:cNvPr id="11" name="Text 9"/>
          <p:cNvSpPr/>
          <p:nvPr/>
        </p:nvSpPr>
        <p:spPr>
          <a:xfrm>
            <a:off x="502920" y="2423160"/>
            <a:ext cx="23774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Part</a:t>
            </a:r>
            <a:endParaRPr lang="en-US" sz="1200" dirty="0"/>
          </a:p>
        </p:txBody>
      </p:sp>
      <p:sp>
        <p:nvSpPr>
          <p:cNvPr id="12" name="Shape 10"/>
          <p:cNvSpPr/>
          <p:nvPr/>
        </p:nvSpPr>
        <p:spPr>
          <a:xfrm>
            <a:off x="2880360" y="2423160"/>
            <a:ext cx="8778240" cy="438912"/>
          </a:xfrm>
          <a:prstGeom prst="rect">
            <a:avLst/>
          </a:prstGeom>
          <a:solidFill>
            <a:srgbClr val="10B981"/>
          </a:solidFill>
          <a:ln w="12700">
            <a:solidFill>
              <a:srgbClr val="FFFFFF"/>
            </a:solidFill>
            <a:prstDash val="solid"/>
          </a:ln>
        </p:spPr>
      </p:sp>
      <p:sp>
        <p:nvSpPr>
          <p:cNvPr id="13" name="Text 11"/>
          <p:cNvSpPr/>
          <p:nvPr/>
        </p:nvSpPr>
        <p:spPr>
          <a:xfrm>
            <a:off x="2880360" y="2423160"/>
            <a:ext cx="87782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Content</a:t>
            </a:r>
            <a:endParaRPr lang="en-US" sz="1200" dirty="0"/>
          </a:p>
        </p:txBody>
      </p:sp>
      <p:sp>
        <p:nvSpPr>
          <p:cNvPr id="14" name="Shape 12"/>
          <p:cNvSpPr/>
          <p:nvPr/>
        </p:nvSpPr>
        <p:spPr>
          <a:xfrm>
            <a:off x="502920" y="2862072"/>
            <a:ext cx="2377440" cy="841248"/>
          </a:xfrm>
          <a:prstGeom prst="rect">
            <a:avLst/>
          </a:prstGeom>
          <a:solidFill>
            <a:srgbClr val="FFFFFF"/>
          </a:solidFill>
          <a:ln w="12700">
            <a:solidFill>
              <a:srgbClr val="D8DDE6"/>
            </a:solidFill>
            <a:prstDash val="solid"/>
          </a:ln>
        </p:spPr>
      </p:sp>
      <p:sp>
        <p:nvSpPr>
          <p:cNvPr id="15" name="Text 13"/>
          <p:cNvSpPr/>
          <p:nvPr/>
        </p:nvSpPr>
        <p:spPr>
          <a:xfrm>
            <a:off x="594360" y="2862072"/>
            <a:ext cx="2194560" cy="841248"/>
          </a:xfrm>
          <a:prstGeom prst="rect">
            <a:avLst/>
          </a:prstGeom>
          <a:noFill/>
          <a:ln/>
        </p:spPr>
        <p:txBody>
          <a:bodyPr wrap="square" lIns="0" tIns="0" rIns="0" bIns="0" rtlCol="0" anchor="ctr"/>
          <a:lstStyle/>
          <a:p>
            <a:pPr indent="0" marL="0">
              <a:buNone/>
            </a:pPr>
            <a:r>
              <a:rPr lang="en-US" sz="1300" b="1" dirty="0">
                <a:solidFill>
                  <a:srgbClr val="10B981"/>
                </a:solidFill>
                <a:latin typeface="Courier New" pitchFamily="34" charset="0"/>
                <a:ea typeface="Courier New" pitchFamily="34" charset="-122"/>
                <a:cs typeface="Courier New" pitchFamily="34" charset="-120"/>
              </a:rPr>
              <a:t>Practice</a:t>
            </a:r>
            <a:endParaRPr lang="en-US" sz="1300" dirty="0"/>
          </a:p>
        </p:txBody>
      </p:sp>
      <p:sp>
        <p:nvSpPr>
          <p:cNvPr id="16" name="Shape 14"/>
          <p:cNvSpPr/>
          <p:nvPr/>
        </p:nvSpPr>
        <p:spPr>
          <a:xfrm>
            <a:off x="2880360" y="2862072"/>
            <a:ext cx="8778240" cy="841248"/>
          </a:xfrm>
          <a:prstGeom prst="rect">
            <a:avLst/>
          </a:prstGeom>
          <a:solidFill>
            <a:srgbClr val="FFFFFF"/>
          </a:solidFill>
          <a:ln w="12700">
            <a:solidFill>
              <a:srgbClr val="D8DDE6"/>
            </a:solidFill>
            <a:prstDash val="solid"/>
          </a:ln>
        </p:spPr>
      </p:sp>
      <p:sp>
        <p:nvSpPr>
          <p:cNvPr id="17" name="Text 15"/>
          <p:cNvSpPr/>
          <p:nvPr/>
        </p:nvSpPr>
        <p:spPr>
          <a:xfrm>
            <a:off x="2971800" y="2862072"/>
            <a:ext cx="8595360" cy="841248"/>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Code review</a:t>
            </a:r>
            <a:endParaRPr lang="en-US" sz="1600" dirty="0"/>
          </a:p>
        </p:txBody>
      </p:sp>
      <p:sp>
        <p:nvSpPr>
          <p:cNvPr id="18" name="Shape 16"/>
          <p:cNvSpPr/>
          <p:nvPr/>
        </p:nvSpPr>
        <p:spPr>
          <a:xfrm>
            <a:off x="502920" y="3703320"/>
            <a:ext cx="2377440" cy="841248"/>
          </a:xfrm>
          <a:prstGeom prst="rect">
            <a:avLst/>
          </a:prstGeom>
          <a:solidFill>
            <a:srgbClr val="F4F6FB"/>
          </a:solidFill>
          <a:ln w="12700">
            <a:solidFill>
              <a:srgbClr val="D8DDE6"/>
            </a:solidFill>
            <a:prstDash val="solid"/>
          </a:ln>
        </p:spPr>
      </p:sp>
      <p:sp>
        <p:nvSpPr>
          <p:cNvPr id="19" name="Text 17"/>
          <p:cNvSpPr/>
          <p:nvPr/>
        </p:nvSpPr>
        <p:spPr>
          <a:xfrm>
            <a:off x="594360" y="3703320"/>
            <a:ext cx="2194560" cy="841248"/>
          </a:xfrm>
          <a:prstGeom prst="rect">
            <a:avLst/>
          </a:prstGeom>
          <a:noFill/>
          <a:ln/>
        </p:spPr>
        <p:txBody>
          <a:bodyPr wrap="square" lIns="0" tIns="0" rIns="0" bIns="0" rtlCol="0" anchor="ctr"/>
          <a:lstStyle/>
          <a:p>
            <a:pPr indent="0" marL="0">
              <a:buNone/>
            </a:pPr>
            <a:r>
              <a:rPr lang="en-US" sz="1300" b="1" dirty="0">
                <a:solidFill>
                  <a:srgbClr val="10B981"/>
                </a:solidFill>
                <a:latin typeface="Courier New" pitchFamily="34" charset="0"/>
                <a:ea typeface="Courier New" pitchFamily="34" charset="-122"/>
                <a:cs typeface="Courier New" pitchFamily="34" charset="-120"/>
              </a:rPr>
              <a:t>Criterion</a:t>
            </a:r>
            <a:endParaRPr lang="en-US" sz="1300" dirty="0"/>
          </a:p>
        </p:txBody>
      </p:sp>
      <p:sp>
        <p:nvSpPr>
          <p:cNvPr id="20" name="Shape 18"/>
          <p:cNvSpPr/>
          <p:nvPr/>
        </p:nvSpPr>
        <p:spPr>
          <a:xfrm>
            <a:off x="2880360" y="3703320"/>
            <a:ext cx="8778240" cy="841248"/>
          </a:xfrm>
          <a:prstGeom prst="rect">
            <a:avLst/>
          </a:prstGeom>
          <a:solidFill>
            <a:srgbClr val="F4F6FB"/>
          </a:solidFill>
          <a:ln w="12700">
            <a:solidFill>
              <a:srgbClr val="D8DDE6"/>
            </a:solidFill>
            <a:prstDash val="solid"/>
          </a:ln>
        </p:spPr>
      </p:sp>
      <p:sp>
        <p:nvSpPr>
          <p:cNvPr id="21" name="Text 19"/>
          <p:cNvSpPr/>
          <p:nvPr/>
        </p:nvSpPr>
        <p:spPr>
          <a:xfrm>
            <a:off x="2971800" y="3703320"/>
            <a:ext cx="8595360" cy="841248"/>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Does every code change undergo peer review before it is merged into the main branch?</a:t>
            </a:r>
            <a:endParaRPr lang="en-US" sz="1600" dirty="0"/>
          </a:p>
        </p:txBody>
      </p:sp>
      <p:sp>
        <p:nvSpPr>
          <p:cNvPr id="22" name="Shape 20"/>
          <p:cNvSpPr/>
          <p:nvPr/>
        </p:nvSpPr>
        <p:spPr>
          <a:xfrm>
            <a:off x="502920" y="4544568"/>
            <a:ext cx="2377440" cy="841248"/>
          </a:xfrm>
          <a:prstGeom prst="rect">
            <a:avLst/>
          </a:prstGeom>
          <a:solidFill>
            <a:srgbClr val="FFFFFF"/>
          </a:solidFill>
          <a:ln w="12700">
            <a:solidFill>
              <a:srgbClr val="D8DDE6"/>
            </a:solidFill>
            <a:prstDash val="solid"/>
          </a:ln>
        </p:spPr>
      </p:sp>
      <p:sp>
        <p:nvSpPr>
          <p:cNvPr id="23" name="Text 21"/>
          <p:cNvSpPr/>
          <p:nvPr/>
        </p:nvSpPr>
        <p:spPr>
          <a:xfrm>
            <a:off x="594360" y="4544568"/>
            <a:ext cx="2194560" cy="841248"/>
          </a:xfrm>
          <a:prstGeom prst="rect">
            <a:avLst/>
          </a:prstGeom>
          <a:noFill/>
          <a:ln/>
        </p:spPr>
        <p:txBody>
          <a:bodyPr wrap="square" lIns="0" tIns="0" rIns="0" bIns="0" rtlCol="0" anchor="ctr"/>
          <a:lstStyle/>
          <a:p>
            <a:pPr indent="0" marL="0">
              <a:buNone/>
            </a:pPr>
            <a:r>
              <a:rPr lang="en-US" sz="1300" b="1" dirty="0">
                <a:solidFill>
                  <a:srgbClr val="10B981"/>
                </a:solidFill>
                <a:latin typeface="Courier New" pitchFamily="34" charset="0"/>
                <a:ea typeface="Courier New" pitchFamily="34" charset="-122"/>
                <a:cs typeface="Courier New" pitchFamily="34" charset="-120"/>
              </a:rPr>
              <a:t>Data to collect</a:t>
            </a:r>
            <a:endParaRPr lang="en-US" sz="1300" dirty="0"/>
          </a:p>
        </p:txBody>
      </p:sp>
      <p:sp>
        <p:nvSpPr>
          <p:cNvPr id="24" name="Shape 22"/>
          <p:cNvSpPr/>
          <p:nvPr/>
        </p:nvSpPr>
        <p:spPr>
          <a:xfrm>
            <a:off x="2880360" y="4544568"/>
            <a:ext cx="8778240" cy="841248"/>
          </a:xfrm>
          <a:prstGeom prst="rect">
            <a:avLst/>
          </a:prstGeom>
          <a:solidFill>
            <a:srgbClr val="FFFFFF"/>
          </a:solidFill>
          <a:ln w="12700">
            <a:solidFill>
              <a:srgbClr val="D8DDE6"/>
            </a:solidFill>
            <a:prstDash val="solid"/>
          </a:ln>
        </p:spPr>
      </p:sp>
      <p:sp>
        <p:nvSpPr>
          <p:cNvPr id="25" name="Text 23"/>
          <p:cNvSpPr/>
          <p:nvPr/>
        </p:nvSpPr>
        <p:spPr>
          <a:xfrm>
            <a:off x="2971800" y="4544568"/>
            <a:ext cx="8595360" cy="841248"/>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Pull request logs from the repository for the last 90 days, showing reviewer approval on each merge</a:t>
            </a:r>
            <a:endParaRPr lang="en-US" sz="1600" dirty="0"/>
          </a:p>
        </p:txBody>
      </p:sp>
      <p:sp>
        <p:nvSpPr>
          <p:cNvPr id="26" name="Shape 24"/>
          <p:cNvSpPr/>
          <p:nvPr/>
        </p:nvSpPr>
        <p:spPr>
          <a:xfrm>
            <a:off x="502920" y="5385816"/>
            <a:ext cx="2377440" cy="841248"/>
          </a:xfrm>
          <a:prstGeom prst="rect">
            <a:avLst/>
          </a:prstGeom>
          <a:solidFill>
            <a:srgbClr val="F4F6FB"/>
          </a:solidFill>
          <a:ln w="12700">
            <a:solidFill>
              <a:srgbClr val="D8DDE6"/>
            </a:solidFill>
            <a:prstDash val="solid"/>
          </a:ln>
        </p:spPr>
      </p:sp>
      <p:sp>
        <p:nvSpPr>
          <p:cNvPr id="27" name="Text 25"/>
          <p:cNvSpPr/>
          <p:nvPr/>
        </p:nvSpPr>
        <p:spPr>
          <a:xfrm>
            <a:off x="594360" y="5385816"/>
            <a:ext cx="2194560" cy="841248"/>
          </a:xfrm>
          <a:prstGeom prst="rect">
            <a:avLst/>
          </a:prstGeom>
          <a:noFill/>
          <a:ln/>
        </p:spPr>
        <p:txBody>
          <a:bodyPr wrap="square" lIns="0" tIns="0" rIns="0" bIns="0" rtlCol="0" anchor="ctr"/>
          <a:lstStyle/>
          <a:p>
            <a:pPr indent="0" marL="0">
              <a:buNone/>
            </a:pPr>
            <a:r>
              <a:rPr lang="en-US" sz="1300" b="1" dirty="0">
                <a:solidFill>
                  <a:srgbClr val="10B981"/>
                </a:solidFill>
                <a:latin typeface="Courier New" pitchFamily="34" charset="0"/>
                <a:ea typeface="Courier New" pitchFamily="34" charset="-122"/>
                <a:cs typeface="Courier New" pitchFamily="34" charset="-120"/>
              </a:rPr>
              <a:t>Measurement</a:t>
            </a:r>
            <a:endParaRPr lang="en-US" sz="1300" dirty="0"/>
          </a:p>
        </p:txBody>
      </p:sp>
      <p:sp>
        <p:nvSpPr>
          <p:cNvPr id="28" name="Shape 26"/>
          <p:cNvSpPr/>
          <p:nvPr/>
        </p:nvSpPr>
        <p:spPr>
          <a:xfrm>
            <a:off x="2880360" y="5385816"/>
            <a:ext cx="8778240" cy="841248"/>
          </a:xfrm>
          <a:prstGeom prst="rect">
            <a:avLst/>
          </a:prstGeom>
          <a:solidFill>
            <a:srgbClr val="F4F6FB"/>
          </a:solidFill>
          <a:ln w="12700">
            <a:solidFill>
              <a:srgbClr val="D8DDE6"/>
            </a:solidFill>
            <a:prstDash val="solid"/>
          </a:ln>
        </p:spPr>
      </p:sp>
      <p:sp>
        <p:nvSpPr>
          <p:cNvPr id="29" name="Text 27"/>
          <p:cNvSpPr/>
          <p:nvPr/>
        </p:nvSpPr>
        <p:spPr>
          <a:xfrm>
            <a:off x="2971800" y="5385816"/>
            <a:ext cx="8595360" cy="841248"/>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Count merges with a recorded approval from someone other than the author, as a percentage of all merges. Below 100% is a finding.</a:t>
            </a:r>
            <a:endParaRPr lang="en-US" sz="1600" dirty="0"/>
          </a:p>
        </p:txBody>
      </p:sp>
      <p:sp>
        <p:nvSpPr>
          <p:cNvPr id="30" name="Shape 28"/>
          <p:cNvSpPr/>
          <p:nvPr/>
        </p:nvSpPr>
        <p:spPr>
          <a:xfrm>
            <a:off x="502920" y="6309360"/>
            <a:ext cx="11155680" cy="457200"/>
          </a:xfrm>
          <a:prstGeom prst="roundRect">
            <a:avLst>
              <a:gd name="adj" fmla="val 18000"/>
            </a:avLst>
          </a:prstGeom>
          <a:solidFill>
            <a:srgbClr val="D1FAE5"/>
          </a:solidFill>
          <a:ln w="12700">
            <a:solidFill>
              <a:srgbClr val="10B981"/>
            </a:solidFill>
            <a:prstDash val="solid"/>
          </a:ln>
        </p:spPr>
      </p:sp>
      <p:sp>
        <p:nvSpPr>
          <p:cNvPr id="31" name="Text 29"/>
          <p:cNvSpPr/>
          <p:nvPr/>
        </p:nvSpPr>
        <p:spPr>
          <a:xfrm>
            <a:off x="822960" y="6309360"/>
            <a:ext cx="10515600" cy="457200"/>
          </a:xfrm>
          <a:prstGeom prst="rect">
            <a:avLst/>
          </a:prstGeom>
          <a:noFill/>
          <a:ln/>
        </p:spPr>
        <p:txBody>
          <a:bodyPr wrap="square" lIns="0" tIns="0" rIns="0" bIns="0" rtlCol="0" anchor="ctr"/>
          <a:lstStyle/>
          <a:p>
            <a:pPr indent="0" marL="0">
              <a:buNone/>
            </a:pPr>
            <a:r>
              <a:rPr lang="en-US" sz="1600" b="1" dirty="0">
                <a:solidFill>
                  <a:srgbClr val="111827"/>
                </a:solidFill>
                <a:latin typeface="Calibri" pitchFamily="34" charset="0"/>
                <a:ea typeface="Calibri" pitchFamily="34" charset="-122"/>
                <a:cs typeface="Calibri" pitchFamily="34" charset="-120"/>
              </a:rPr>
              <a:t>Notice the measurement produces a number. Numbers can be compared over time; adjectives cannot.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One criterion per practice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Sample criteria across all six security controls from Lesson 4</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3108960" cy="438912"/>
          </a:xfrm>
          <a:prstGeom prst="rect">
            <a:avLst/>
          </a:prstGeom>
          <a:solidFill>
            <a:srgbClr val="4361EE"/>
          </a:solidFill>
          <a:ln w="12700">
            <a:solidFill>
              <a:srgbClr val="FFFFFF"/>
            </a:solidFill>
            <a:prstDash val="solid"/>
          </a:ln>
        </p:spPr>
      </p:sp>
      <p:sp>
        <p:nvSpPr>
          <p:cNvPr id="11" name="Text 9"/>
          <p:cNvSpPr/>
          <p:nvPr/>
        </p:nvSpPr>
        <p:spPr>
          <a:xfrm>
            <a:off x="502920" y="1508760"/>
            <a:ext cx="310896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Practice</a:t>
            </a:r>
            <a:endParaRPr lang="en-US" sz="1200" dirty="0"/>
          </a:p>
        </p:txBody>
      </p:sp>
      <p:sp>
        <p:nvSpPr>
          <p:cNvPr id="12" name="Shape 10"/>
          <p:cNvSpPr/>
          <p:nvPr/>
        </p:nvSpPr>
        <p:spPr>
          <a:xfrm>
            <a:off x="3611880" y="1508760"/>
            <a:ext cx="4754880" cy="438912"/>
          </a:xfrm>
          <a:prstGeom prst="rect">
            <a:avLst/>
          </a:prstGeom>
          <a:solidFill>
            <a:srgbClr val="4361EE"/>
          </a:solidFill>
          <a:ln w="12700">
            <a:solidFill>
              <a:srgbClr val="FFFFFF"/>
            </a:solidFill>
            <a:prstDash val="solid"/>
          </a:ln>
        </p:spPr>
      </p:sp>
      <p:sp>
        <p:nvSpPr>
          <p:cNvPr id="13" name="Text 11"/>
          <p:cNvSpPr/>
          <p:nvPr/>
        </p:nvSpPr>
        <p:spPr>
          <a:xfrm>
            <a:off x="3611880" y="1508760"/>
            <a:ext cx="47548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Sample criterion</a:t>
            </a:r>
            <a:endParaRPr lang="en-US" sz="1200" dirty="0"/>
          </a:p>
        </p:txBody>
      </p:sp>
      <p:sp>
        <p:nvSpPr>
          <p:cNvPr id="14" name="Shape 12"/>
          <p:cNvSpPr/>
          <p:nvPr/>
        </p:nvSpPr>
        <p:spPr>
          <a:xfrm>
            <a:off x="8366760" y="1508760"/>
            <a:ext cx="3291840" cy="438912"/>
          </a:xfrm>
          <a:prstGeom prst="rect">
            <a:avLst/>
          </a:prstGeom>
          <a:solidFill>
            <a:srgbClr val="4361EE"/>
          </a:solidFill>
          <a:ln w="12700">
            <a:solidFill>
              <a:srgbClr val="FFFFFF"/>
            </a:solidFill>
            <a:prstDash val="solid"/>
          </a:ln>
        </p:spPr>
      </p:sp>
      <p:sp>
        <p:nvSpPr>
          <p:cNvPr id="15" name="Text 13"/>
          <p:cNvSpPr/>
          <p:nvPr/>
        </p:nvSpPr>
        <p:spPr>
          <a:xfrm>
            <a:off x="8366760" y="1508760"/>
            <a:ext cx="32918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Data to collect</a:t>
            </a:r>
            <a:endParaRPr lang="en-US" sz="1200" dirty="0"/>
          </a:p>
        </p:txBody>
      </p:sp>
      <p:sp>
        <p:nvSpPr>
          <p:cNvPr id="16" name="Shape 14"/>
          <p:cNvSpPr/>
          <p:nvPr/>
        </p:nvSpPr>
        <p:spPr>
          <a:xfrm>
            <a:off x="502920" y="1947672"/>
            <a:ext cx="3108960" cy="713232"/>
          </a:xfrm>
          <a:prstGeom prst="rect">
            <a:avLst/>
          </a:prstGeom>
          <a:solidFill>
            <a:srgbClr val="FFFFFF"/>
          </a:solidFill>
          <a:ln w="12700">
            <a:solidFill>
              <a:srgbClr val="D8DDE6"/>
            </a:solidFill>
            <a:prstDash val="solid"/>
          </a:ln>
        </p:spPr>
      </p:sp>
      <p:sp>
        <p:nvSpPr>
          <p:cNvPr id="17" name="Text 15"/>
          <p:cNvSpPr/>
          <p:nvPr/>
        </p:nvSpPr>
        <p:spPr>
          <a:xfrm>
            <a:off x="594360" y="1947672"/>
            <a:ext cx="2926080" cy="71323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Version control and repositories</a:t>
            </a:r>
            <a:endParaRPr lang="en-US" sz="1400" dirty="0"/>
          </a:p>
        </p:txBody>
      </p:sp>
      <p:sp>
        <p:nvSpPr>
          <p:cNvPr id="18" name="Shape 16"/>
          <p:cNvSpPr/>
          <p:nvPr/>
        </p:nvSpPr>
        <p:spPr>
          <a:xfrm>
            <a:off x="3611880" y="1947672"/>
            <a:ext cx="4754880" cy="713232"/>
          </a:xfrm>
          <a:prstGeom prst="rect">
            <a:avLst/>
          </a:prstGeom>
          <a:solidFill>
            <a:srgbClr val="FFFFFF"/>
          </a:solidFill>
          <a:ln w="12700">
            <a:solidFill>
              <a:srgbClr val="D8DDE6"/>
            </a:solidFill>
            <a:prstDash val="solid"/>
          </a:ln>
        </p:spPr>
      </p:sp>
      <p:sp>
        <p:nvSpPr>
          <p:cNvPr id="19" name="Text 17"/>
          <p:cNvSpPr/>
          <p:nvPr/>
        </p:nvSpPr>
        <p:spPr>
          <a:xfrm>
            <a:off x="3703320" y="1947672"/>
            <a:ext cx="457200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Are only authorised personnel able to access the code repositories?</a:t>
            </a:r>
            <a:endParaRPr lang="en-US" sz="1400" dirty="0"/>
          </a:p>
        </p:txBody>
      </p:sp>
      <p:sp>
        <p:nvSpPr>
          <p:cNvPr id="20" name="Shape 18"/>
          <p:cNvSpPr/>
          <p:nvPr/>
        </p:nvSpPr>
        <p:spPr>
          <a:xfrm>
            <a:off x="8366760" y="1947672"/>
            <a:ext cx="3291840" cy="713232"/>
          </a:xfrm>
          <a:prstGeom prst="rect">
            <a:avLst/>
          </a:prstGeom>
          <a:solidFill>
            <a:srgbClr val="FFFFFF"/>
          </a:solidFill>
          <a:ln w="12700">
            <a:solidFill>
              <a:srgbClr val="D8DDE6"/>
            </a:solidFill>
            <a:prstDash val="solid"/>
          </a:ln>
        </p:spPr>
      </p:sp>
      <p:sp>
        <p:nvSpPr>
          <p:cNvPr id="21" name="Text 19"/>
          <p:cNvSpPr/>
          <p:nvPr/>
        </p:nvSpPr>
        <p:spPr>
          <a:xfrm>
            <a:off x="8458200" y="1947672"/>
            <a:ext cx="310896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Repository audit logs showing permissions and activity</a:t>
            </a:r>
            <a:endParaRPr lang="en-US" sz="1400" dirty="0"/>
          </a:p>
        </p:txBody>
      </p:sp>
      <p:sp>
        <p:nvSpPr>
          <p:cNvPr id="22" name="Shape 20"/>
          <p:cNvSpPr/>
          <p:nvPr/>
        </p:nvSpPr>
        <p:spPr>
          <a:xfrm>
            <a:off x="502920" y="2660904"/>
            <a:ext cx="3108960" cy="713232"/>
          </a:xfrm>
          <a:prstGeom prst="rect">
            <a:avLst/>
          </a:prstGeom>
          <a:solidFill>
            <a:srgbClr val="F4F6FB"/>
          </a:solidFill>
          <a:ln w="12700">
            <a:solidFill>
              <a:srgbClr val="D8DDE6"/>
            </a:solidFill>
            <a:prstDash val="solid"/>
          </a:ln>
        </p:spPr>
      </p:sp>
      <p:sp>
        <p:nvSpPr>
          <p:cNvPr id="23" name="Text 21"/>
          <p:cNvSpPr/>
          <p:nvPr/>
        </p:nvSpPr>
        <p:spPr>
          <a:xfrm>
            <a:off x="594360" y="2660904"/>
            <a:ext cx="2926080" cy="71323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Robust identity and access management</a:t>
            </a:r>
            <a:endParaRPr lang="en-US" sz="1400" dirty="0"/>
          </a:p>
        </p:txBody>
      </p:sp>
      <p:sp>
        <p:nvSpPr>
          <p:cNvPr id="24" name="Shape 22"/>
          <p:cNvSpPr/>
          <p:nvPr/>
        </p:nvSpPr>
        <p:spPr>
          <a:xfrm>
            <a:off x="3611880" y="2660904"/>
            <a:ext cx="4754880" cy="713232"/>
          </a:xfrm>
          <a:prstGeom prst="rect">
            <a:avLst/>
          </a:prstGeom>
          <a:solidFill>
            <a:srgbClr val="F4F6FB"/>
          </a:solidFill>
          <a:ln w="12700">
            <a:solidFill>
              <a:srgbClr val="D8DDE6"/>
            </a:solidFill>
            <a:prstDash val="solid"/>
          </a:ln>
        </p:spPr>
      </p:sp>
      <p:sp>
        <p:nvSpPr>
          <p:cNvPr id="25" name="Text 23"/>
          <p:cNvSpPr/>
          <p:nvPr/>
        </p:nvSpPr>
        <p:spPr>
          <a:xfrm>
            <a:off x="3703320" y="2660904"/>
            <a:ext cx="457200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Is MFA enforced on every account with access to development tools?</a:t>
            </a:r>
            <a:endParaRPr lang="en-US" sz="1400" dirty="0"/>
          </a:p>
        </p:txBody>
      </p:sp>
      <p:sp>
        <p:nvSpPr>
          <p:cNvPr id="26" name="Shape 24"/>
          <p:cNvSpPr/>
          <p:nvPr/>
        </p:nvSpPr>
        <p:spPr>
          <a:xfrm>
            <a:off x="8366760" y="2660904"/>
            <a:ext cx="3291840" cy="713232"/>
          </a:xfrm>
          <a:prstGeom prst="rect">
            <a:avLst/>
          </a:prstGeom>
          <a:solidFill>
            <a:srgbClr val="F4F6FB"/>
          </a:solidFill>
          <a:ln w="12700">
            <a:solidFill>
              <a:srgbClr val="D8DDE6"/>
            </a:solidFill>
            <a:prstDash val="solid"/>
          </a:ln>
        </p:spPr>
      </p:sp>
      <p:sp>
        <p:nvSpPr>
          <p:cNvPr id="27" name="Text 25"/>
          <p:cNvSpPr/>
          <p:nvPr/>
        </p:nvSpPr>
        <p:spPr>
          <a:xfrm>
            <a:off x="8458200" y="2660904"/>
            <a:ext cx="310896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Authentication logs confirming MFA status per account</a:t>
            </a:r>
            <a:endParaRPr lang="en-US" sz="1400" dirty="0"/>
          </a:p>
        </p:txBody>
      </p:sp>
      <p:sp>
        <p:nvSpPr>
          <p:cNvPr id="28" name="Shape 26"/>
          <p:cNvSpPr/>
          <p:nvPr/>
        </p:nvSpPr>
        <p:spPr>
          <a:xfrm>
            <a:off x="502920" y="3374136"/>
            <a:ext cx="3108960" cy="713232"/>
          </a:xfrm>
          <a:prstGeom prst="rect">
            <a:avLst/>
          </a:prstGeom>
          <a:solidFill>
            <a:srgbClr val="FFFFFF"/>
          </a:solidFill>
          <a:ln w="12700">
            <a:solidFill>
              <a:srgbClr val="D8DDE6"/>
            </a:solidFill>
            <a:prstDash val="solid"/>
          </a:ln>
        </p:spPr>
      </p:sp>
      <p:sp>
        <p:nvSpPr>
          <p:cNvPr id="29" name="Text 27"/>
          <p:cNvSpPr/>
          <p:nvPr/>
        </p:nvSpPr>
        <p:spPr>
          <a:xfrm>
            <a:off x="594360" y="3374136"/>
            <a:ext cx="2926080" cy="71323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Encryption</a:t>
            </a:r>
            <a:endParaRPr lang="en-US" sz="1400" dirty="0"/>
          </a:p>
        </p:txBody>
      </p:sp>
      <p:sp>
        <p:nvSpPr>
          <p:cNvPr id="30" name="Shape 28"/>
          <p:cNvSpPr/>
          <p:nvPr/>
        </p:nvSpPr>
        <p:spPr>
          <a:xfrm>
            <a:off x="3611880" y="3374136"/>
            <a:ext cx="4754880" cy="713232"/>
          </a:xfrm>
          <a:prstGeom prst="rect">
            <a:avLst/>
          </a:prstGeom>
          <a:solidFill>
            <a:srgbClr val="FFFFFF"/>
          </a:solidFill>
          <a:ln w="12700">
            <a:solidFill>
              <a:srgbClr val="D8DDE6"/>
            </a:solidFill>
            <a:prstDash val="solid"/>
          </a:ln>
        </p:spPr>
      </p:sp>
      <p:sp>
        <p:nvSpPr>
          <p:cNvPr id="31" name="Text 29"/>
          <p:cNvSpPr/>
          <p:nvPr/>
        </p:nvSpPr>
        <p:spPr>
          <a:xfrm>
            <a:off x="3703320" y="3374136"/>
            <a:ext cx="457200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Is sensitive data encrypted both at rest and in transit?</a:t>
            </a:r>
            <a:endParaRPr lang="en-US" sz="1400" dirty="0"/>
          </a:p>
        </p:txBody>
      </p:sp>
      <p:sp>
        <p:nvSpPr>
          <p:cNvPr id="32" name="Shape 30"/>
          <p:cNvSpPr/>
          <p:nvPr/>
        </p:nvSpPr>
        <p:spPr>
          <a:xfrm>
            <a:off x="8366760" y="3374136"/>
            <a:ext cx="3291840" cy="713232"/>
          </a:xfrm>
          <a:prstGeom prst="rect">
            <a:avLst/>
          </a:prstGeom>
          <a:solidFill>
            <a:srgbClr val="FFFFFF"/>
          </a:solidFill>
          <a:ln w="12700">
            <a:solidFill>
              <a:srgbClr val="D8DDE6"/>
            </a:solidFill>
            <a:prstDash val="solid"/>
          </a:ln>
        </p:spPr>
      </p:sp>
      <p:sp>
        <p:nvSpPr>
          <p:cNvPr id="33" name="Text 31"/>
          <p:cNvSpPr/>
          <p:nvPr/>
        </p:nvSpPr>
        <p:spPr>
          <a:xfrm>
            <a:off x="8458200" y="3374136"/>
            <a:ext cx="310896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Database and network configuration files; protocol logs</a:t>
            </a:r>
            <a:endParaRPr lang="en-US" sz="1400" dirty="0"/>
          </a:p>
        </p:txBody>
      </p:sp>
      <p:sp>
        <p:nvSpPr>
          <p:cNvPr id="34" name="Shape 32"/>
          <p:cNvSpPr/>
          <p:nvPr/>
        </p:nvSpPr>
        <p:spPr>
          <a:xfrm>
            <a:off x="502920" y="4087368"/>
            <a:ext cx="3108960" cy="713232"/>
          </a:xfrm>
          <a:prstGeom prst="rect">
            <a:avLst/>
          </a:prstGeom>
          <a:solidFill>
            <a:srgbClr val="F4F6FB"/>
          </a:solidFill>
          <a:ln w="12700">
            <a:solidFill>
              <a:srgbClr val="D8DDE6"/>
            </a:solidFill>
            <a:prstDash val="solid"/>
          </a:ln>
        </p:spPr>
      </p:sp>
      <p:sp>
        <p:nvSpPr>
          <p:cNvPr id="35" name="Text 33"/>
          <p:cNvSpPr/>
          <p:nvPr/>
        </p:nvSpPr>
        <p:spPr>
          <a:xfrm>
            <a:off x="594360" y="4087368"/>
            <a:ext cx="2926080" cy="71323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Code review</a:t>
            </a:r>
            <a:endParaRPr lang="en-US" sz="1400" dirty="0"/>
          </a:p>
        </p:txBody>
      </p:sp>
      <p:sp>
        <p:nvSpPr>
          <p:cNvPr id="36" name="Shape 34"/>
          <p:cNvSpPr/>
          <p:nvPr/>
        </p:nvSpPr>
        <p:spPr>
          <a:xfrm>
            <a:off x="3611880" y="4087368"/>
            <a:ext cx="4754880" cy="713232"/>
          </a:xfrm>
          <a:prstGeom prst="rect">
            <a:avLst/>
          </a:prstGeom>
          <a:solidFill>
            <a:srgbClr val="F4F6FB"/>
          </a:solidFill>
          <a:ln w="12700">
            <a:solidFill>
              <a:srgbClr val="D8DDE6"/>
            </a:solidFill>
            <a:prstDash val="solid"/>
          </a:ln>
        </p:spPr>
      </p:sp>
      <p:sp>
        <p:nvSpPr>
          <p:cNvPr id="37" name="Text 35"/>
          <p:cNvSpPr/>
          <p:nvPr/>
        </p:nvSpPr>
        <p:spPr>
          <a:xfrm>
            <a:off x="3703320" y="4087368"/>
            <a:ext cx="457200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Are automated static analysis tools run on the codebase?</a:t>
            </a:r>
            <a:endParaRPr lang="en-US" sz="1400" dirty="0"/>
          </a:p>
        </p:txBody>
      </p:sp>
      <p:sp>
        <p:nvSpPr>
          <p:cNvPr id="38" name="Shape 36"/>
          <p:cNvSpPr/>
          <p:nvPr/>
        </p:nvSpPr>
        <p:spPr>
          <a:xfrm>
            <a:off x="8366760" y="4087368"/>
            <a:ext cx="3291840" cy="713232"/>
          </a:xfrm>
          <a:prstGeom prst="rect">
            <a:avLst/>
          </a:prstGeom>
          <a:solidFill>
            <a:srgbClr val="F4F6FB"/>
          </a:solidFill>
          <a:ln w="12700">
            <a:solidFill>
              <a:srgbClr val="D8DDE6"/>
            </a:solidFill>
            <a:prstDash val="solid"/>
          </a:ln>
        </p:spPr>
      </p:sp>
      <p:sp>
        <p:nvSpPr>
          <p:cNvPr id="39" name="Text 37"/>
          <p:cNvSpPr/>
          <p:nvPr/>
        </p:nvSpPr>
        <p:spPr>
          <a:xfrm>
            <a:off x="8458200" y="4087368"/>
            <a:ext cx="310896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Static analysis reports and records of issues resolved</a:t>
            </a:r>
            <a:endParaRPr lang="en-US" sz="1400" dirty="0"/>
          </a:p>
        </p:txBody>
      </p:sp>
      <p:sp>
        <p:nvSpPr>
          <p:cNvPr id="40" name="Shape 38"/>
          <p:cNvSpPr/>
          <p:nvPr/>
        </p:nvSpPr>
        <p:spPr>
          <a:xfrm>
            <a:off x="502920" y="4800600"/>
            <a:ext cx="3108960" cy="713232"/>
          </a:xfrm>
          <a:prstGeom prst="rect">
            <a:avLst/>
          </a:prstGeom>
          <a:solidFill>
            <a:srgbClr val="FFFFFF"/>
          </a:solidFill>
          <a:ln w="12700">
            <a:solidFill>
              <a:srgbClr val="D8DDE6"/>
            </a:solidFill>
            <a:prstDash val="solid"/>
          </a:ln>
        </p:spPr>
      </p:sp>
      <p:sp>
        <p:nvSpPr>
          <p:cNvPr id="41" name="Text 39"/>
          <p:cNvSpPr/>
          <p:nvPr/>
        </p:nvSpPr>
        <p:spPr>
          <a:xfrm>
            <a:off x="594360" y="4800600"/>
            <a:ext cx="2926080" cy="71323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Regular updates and patches</a:t>
            </a:r>
            <a:endParaRPr lang="en-US" sz="1400" dirty="0"/>
          </a:p>
        </p:txBody>
      </p:sp>
      <p:sp>
        <p:nvSpPr>
          <p:cNvPr id="42" name="Shape 40"/>
          <p:cNvSpPr/>
          <p:nvPr/>
        </p:nvSpPr>
        <p:spPr>
          <a:xfrm>
            <a:off x="3611880" y="4800600"/>
            <a:ext cx="4754880" cy="713232"/>
          </a:xfrm>
          <a:prstGeom prst="rect">
            <a:avLst/>
          </a:prstGeom>
          <a:solidFill>
            <a:srgbClr val="FFFFFF"/>
          </a:solidFill>
          <a:ln w="12700">
            <a:solidFill>
              <a:srgbClr val="D8DDE6"/>
            </a:solidFill>
            <a:prstDash val="solid"/>
          </a:ln>
        </p:spPr>
      </p:sp>
      <p:sp>
        <p:nvSpPr>
          <p:cNvPr id="43" name="Text 41"/>
          <p:cNvSpPr/>
          <p:nvPr/>
        </p:nvSpPr>
        <p:spPr>
          <a:xfrm>
            <a:off x="3703320" y="4800600"/>
            <a:ext cx="457200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Is there a documented policy for applying security patches within a set time?</a:t>
            </a:r>
            <a:endParaRPr lang="en-US" sz="1400" dirty="0"/>
          </a:p>
        </p:txBody>
      </p:sp>
      <p:sp>
        <p:nvSpPr>
          <p:cNvPr id="44" name="Shape 42"/>
          <p:cNvSpPr/>
          <p:nvPr/>
        </p:nvSpPr>
        <p:spPr>
          <a:xfrm>
            <a:off x="8366760" y="4800600"/>
            <a:ext cx="3291840" cy="713232"/>
          </a:xfrm>
          <a:prstGeom prst="rect">
            <a:avLst/>
          </a:prstGeom>
          <a:solidFill>
            <a:srgbClr val="FFFFFF"/>
          </a:solidFill>
          <a:ln w="12700">
            <a:solidFill>
              <a:srgbClr val="D8DDE6"/>
            </a:solidFill>
            <a:prstDash val="solid"/>
          </a:ln>
        </p:spPr>
      </p:sp>
      <p:sp>
        <p:nvSpPr>
          <p:cNvPr id="45" name="Text 43"/>
          <p:cNvSpPr/>
          <p:nvPr/>
        </p:nvSpPr>
        <p:spPr>
          <a:xfrm>
            <a:off x="8458200" y="4800600"/>
            <a:ext cx="310896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Patch policy document; patch application timelines</a:t>
            </a:r>
            <a:endParaRPr lang="en-US" sz="1400" dirty="0"/>
          </a:p>
        </p:txBody>
      </p:sp>
      <p:sp>
        <p:nvSpPr>
          <p:cNvPr id="46" name="Shape 44"/>
          <p:cNvSpPr/>
          <p:nvPr/>
        </p:nvSpPr>
        <p:spPr>
          <a:xfrm>
            <a:off x="502920" y="5513832"/>
            <a:ext cx="3108960" cy="713232"/>
          </a:xfrm>
          <a:prstGeom prst="rect">
            <a:avLst/>
          </a:prstGeom>
          <a:solidFill>
            <a:srgbClr val="F4F6FB"/>
          </a:solidFill>
          <a:ln w="12700">
            <a:solidFill>
              <a:srgbClr val="D8DDE6"/>
            </a:solidFill>
            <a:prstDash val="solid"/>
          </a:ln>
        </p:spPr>
      </p:sp>
      <p:sp>
        <p:nvSpPr>
          <p:cNvPr id="47" name="Text 45"/>
          <p:cNvSpPr/>
          <p:nvPr/>
        </p:nvSpPr>
        <p:spPr>
          <a:xfrm>
            <a:off x="594360" y="5513832"/>
            <a:ext cx="2926080" cy="713232"/>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Separated dev / test / production</a:t>
            </a:r>
            <a:endParaRPr lang="en-US" sz="1400" dirty="0"/>
          </a:p>
        </p:txBody>
      </p:sp>
      <p:sp>
        <p:nvSpPr>
          <p:cNvPr id="48" name="Shape 46"/>
          <p:cNvSpPr/>
          <p:nvPr/>
        </p:nvSpPr>
        <p:spPr>
          <a:xfrm>
            <a:off x="3611880" y="5513832"/>
            <a:ext cx="4754880" cy="713232"/>
          </a:xfrm>
          <a:prstGeom prst="rect">
            <a:avLst/>
          </a:prstGeom>
          <a:solidFill>
            <a:srgbClr val="F4F6FB"/>
          </a:solidFill>
          <a:ln w="12700">
            <a:solidFill>
              <a:srgbClr val="D8DDE6"/>
            </a:solidFill>
            <a:prstDash val="solid"/>
          </a:ln>
        </p:spPr>
      </p:sp>
      <p:sp>
        <p:nvSpPr>
          <p:cNvPr id="49" name="Text 47"/>
          <p:cNvSpPr/>
          <p:nvPr/>
        </p:nvSpPr>
        <p:spPr>
          <a:xfrm>
            <a:off x="3703320" y="5513832"/>
            <a:ext cx="457200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Are the three environments physically or logically separated?</a:t>
            </a:r>
            <a:endParaRPr lang="en-US" sz="1400" dirty="0"/>
          </a:p>
        </p:txBody>
      </p:sp>
      <p:sp>
        <p:nvSpPr>
          <p:cNvPr id="50" name="Shape 48"/>
          <p:cNvSpPr/>
          <p:nvPr/>
        </p:nvSpPr>
        <p:spPr>
          <a:xfrm>
            <a:off x="8366760" y="5513832"/>
            <a:ext cx="3291840" cy="713232"/>
          </a:xfrm>
          <a:prstGeom prst="rect">
            <a:avLst/>
          </a:prstGeom>
          <a:solidFill>
            <a:srgbClr val="F4F6FB"/>
          </a:solidFill>
          <a:ln w="12700">
            <a:solidFill>
              <a:srgbClr val="D8DDE6"/>
            </a:solidFill>
            <a:prstDash val="solid"/>
          </a:ln>
        </p:spPr>
      </p:sp>
      <p:sp>
        <p:nvSpPr>
          <p:cNvPr id="51" name="Text 49"/>
          <p:cNvSpPr/>
          <p:nvPr/>
        </p:nvSpPr>
        <p:spPr>
          <a:xfrm>
            <a:off x="8458200" y="5513832"/>
            <a:ext cx="3108960" cy="71323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Network diagrams and access control policies</a:t>
            </a:r>
            <a:endParaRPr lang="en-US" sz="1400" dirty="0"/>
          </a:p>
        </p:txBody>
      </p:sp>
      <p:sp>
        <p:nvSpPr>
          <p:cNvPr id="52" name="Shape 50"/>
          <p:cNvSpPr/>
          <p:nvPr/>
        </p:nvSpPr>
        <p:spPr>
          <a:xfrm>
            <a:off x="502920" y="6309360"/>
            <a:ext cx="11155680" cy="411480"/>
          </a:xfrm>
          <a:prstGeom prst="roundRect">
            <a:avLst>
              <a:gd name="adj" fmla="val 20000"/>
            </a:avLst>
          </a:prstGeom>
          <a:solidFill>
            <a:srgbClr val="FEF3C7"/>
          </a:solidFill>
          <a:ln w="12700">
            <a:solidFill>
              <a:srgbClr val="F59E0B"/>
            </a:solidFill>
            <a:prstDash val="solid"/>
          </a:ln>
        </p:spPr>
      </p:sp>
      <p:sp>
        <p:nvSpPr>
          <p:cNvPr id="53" name="Text 51"/>
          <p:cNvSpPr/>
          <p:nvPr/>
        </p:nvSpPr>
        <p:spPr>
          <a:xfrm>
            <a:off x="822960" y="6309360"/>
            <a:ext cx="10515600" cy="411480"/>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One criterion per practice is a starting point, not a finished evaluation — a real evaluation uses several per practice.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Discussion — Can you actually get the data?</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8 minutes · groups of three</a:t>
            </a:r>
            <a:endParaRPr lang="en-US" sz="1500" dirty="0"/>
          </a:p>
        </p:txBody>
      </p:sp>
      <p:sp>
        <p:nvSpPr>
          <p:cNvPr id="8" name="Shape 6"/>
          <p:cNvSpPr/>
          <p:nvPr/>
        </p:nvSpPr>
        <p:spPr>
          <a:xfrm>
            <a:off x="502920" y="1325880"/>
            <a:ext cx="11155680" cy="960120"/>
          </a:xfrm>
          <a:prstGeom prst="roundRect">
            <a:avLst>
              <a:gd name="adj" fmla="val 8571"/>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822960" y="1325880"/>
            <a:ext cx="10515600" cy="960120"/>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A criterion is worthless if the evidence it needs does not exist or cannot be obtained. For each criterion below, decide: is the data available, hard to get, or impossible? What would you do about it?</a:t>
            </a:r>
            <a:endParaRPr lang="en-US" sz="1900" dirty="0"/>
          </a:p>
        </p:txBody>
      </p:sp>
      <p:sp>
        <p:nvSpPr>
          <p:cNvPr id="10" name="Shape 8"/>
          <p:cNvSpPr/>
          <p:nvPr/>
        </p:nvSpPr>
        <p:spPr>
          <a:xfrm>
            <a:off x="502920" y="2514600"/>
            <a:ext cx="2697480" cy="274320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04088" y="2697480"/>
            <a:ext cx="438912" cy="438912"/>
          </a:xfrm>
          <a:prstGeom prst="roundRect">
            <a:avLst>
              <a:gd name="adj" fmla="val 50000"/>
            </a:avLst>
          </a:prstGeom>
          <a:solidFill>
            <a:srgbClr val="5B6472"/>
          </a:solidFill>
          <a:ln/>
        </p:spPr>
      </p:sp>
      <p:sp>
        <p:nvSpPr>
          <p:cNvPr id="12" name="Text 10"/>
          <p:cNvSpPr/>
          <p:nvPr/>
        </p:nvSpPr>
        <p:spPr>
          <a:xfrm>
            <a:off x="704088" y="26974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704088" y="3246120"/>
            <a:ext cx="2286000" cy="12344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Are all repository commits cryptographically signed?</a:t>
            </a:r>
            <a:endParaRPr lang="en-US" sz="1600" dirty="0"/>
          </a:p>
        </p:txBody>
      </p:sp>
      <p:sp>
        <p:nvSpPr>
          <p:cNvPr id="14" name="Text 12"/>
          <p:cNvSpPr/>
          <p:nvPr/>
        </p:nvSpPr>
        <p:spPr>
          <a:xfrm>
            <a:off x="704088" y="4480560"/>
            <a:ext cx="2286000" cy="731520"/>
          </a:xfrm>
          <a:prstGeom prst="rect">
            <a:avLst/>
          </a:prstGeom>
          <a:noFill/>
          <a:ln/>
        </p:spPr>
        <p:txBody>
          <a:bodyPr wrap="square" lIns="0" tIns="0" rIns="0" bIns="0" rtlCol="0" anchor="t"/>
          <a:lstStyle/>
          <a:p>
            <a:pPr indent="0" marL="0">
              <a:buNone/>
            </a:pPr>
            <a:r>
              <a:rPr lang="en-US" sz="1500" i="1" dirty="0">
                <a:solidFill>
                  <a:srgbClr val="5B6472"/>
                </a:solidFill>
                <a:latin typeface="Calibri" pitchFamily="34" charset="0"/>
                <a:ea typeface="Calibri" pitchFamily="34" charset="-122"/>
                <a:cs typeface="Calibri" pitchFamily="34" charset="-120"/>
              </a:rPr>
              <a:t>Aurora uses a standard hosted repository service.</a:t>
            </a:r>
            <a:endParaRPr lang="en-US" sz="1500" dirty="0"/>
          </a:p>
        </p:txBody>
      </p:sp>
      <p:sp>
        <p:nvSpPr>
          <p:cNvPr id="15" name="Shape 13"/>
          <p:cNvSpPr/>
          <p:nvPr/>
        </p:nvSpPr>
        <p:spPr>
          <a:xfrm>
            <a:off x="3328416" y="2514600"/>
            <a:ext cx="2697480" cy="274320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3529584" y="2697480"/>
            <a:ext cx="438912" cy="438912"/>
          </a:xfrm>
          <a:prstGeom prst="roundRect">
            <a:avLst>
              <a:gd name="adj" fmla="val 50000"/>
            </a:avLst>
          </a:prstGeom>
          <a:solidFill>
            <a:srgbClr val="5B6472"/>
          </a:solidFill>
          <a:ln/>
        </p:spPr>
      </p:sp>
      <p:sp>
        <p:nvSpPr>
          <p:cNvPr id="17" name="Text 15"/>
          <p:cNvSpPr/>
          <p:nvPr/>
        </p:nvSpPr>
        <p:spPr>
          <a:xfrm>
            <a:off x="3529584" y="26974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3529584" y="3246120"/>
            <a:ext cx="2286000" cy="12344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Do developers understand the secure coding policy?</a:t>
            </a:r>
            <a:endParaRPr lang="en-US" sz="1600" dirty="0"/>
          </a:p>
        </p:txBody>
      </p:sp>
      <p:sp>
        <p:nvSpPr>
          <p:cNvPr id="19" name="Text 17"/>
          <p:cNvSpPr/>
          <p:nvPr/>
        </p:nvSpPr>
        <p:spPr>
          <a:xfrm>
            <a:off x="3529584" y="4480560"/>
            <a:ext cx="2286000" cy="731520"/>
          </a:xfrm>
          <a:prstGeom prst="rect">
            <a:avLst/>
          </a:prstGeom>
          <a:noFill/>
          <a:ln/>
        </p:spPr>
        <p:txBody>
          <a:bodyPr wrap="square" lIns="0" tIns="0" rIns="0" bIns="0" rtlCol="0" anchor="t"/>
          <a:lstStyle/>
          <a:p>
            <a:pPr indent="0" marL="0">
              <a:buNone/>
            </a:pPr>
            <a:r>
              <a:rPr lang="en-US" sz="1500" i="1" dirty="0">
                <a:solidFill>
                  <a:srgbClr val="5B6472"/>
                </a:solidFill>
                <a:latin typeface="Calibri" pitchFamily="34" charset="0"/>
                <a:ea typeface="Calibri" pitchFamily="34" charset="-122"/>
                <a:cs typeface="Calibri" pitchFamily="34" charset="-120"/>
              </a:rPr>
              <a:t>There is a policy document and an annual sign-off sheet.</a:t>
            </a:r>
            <a:endParaRPr lang="en-US" sz="1500" dirty="0"/>
          </a:p>
        </p:txBody>
      </p:sp>
      <p:sp>
        <p:nvSpPr>
          <p:cNvPr id="20" name="Shape 18"/>
          <p:cNvSpPr/>
          <p:nvPr/>
        </p:nvSpPr>
        <p:spPr>
          <a:xfrm>
            <a:off x="6153912" y="2514600"/>
            <a:ext cx="2697480" cy="274320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6355080" y="2697480"/>
            <a:ext cx="438912" cy="438912"/>
          </a:xfrm>
          <a:prstGeom prst="roundRect">
            <a:avLst>
              <a:gd name="adj" fmla="val 50000"/>
            </a:avLst>
          </a:prstGeom>
          <a:solidFill>
            <a:srgbClr val="5B6472"/>
          </a:solidFill>
          <a:ln/>
        </p:spPr>
      </p:sp>
      <p:sp>
        <p:nvSpPr>
          <p:cNvPr id="22" name="Text 20"/>
          <p:cNvSpPr/>
          <p:nvPr/>
        </p:nvSpPr>
        <p:spPr>
          <a:xfrm>
            <a:off x="6355080" y="26974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6355080" y="3246120"/>
            <a:ext cx="2286000" cy="12344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Has every third-party library been checked for known vulnerabilities?</a:t>
            </a:r>
            <a:endParaRPr lang="en-US" sz="1600" dirty="0"/>
          </a:p>
        </p:txBody>
      </p:sp>
      <p:sp>
        <p:nvSpPr>
          <p:cNvPr id="24" name="Text 22"/>
          <p:cNvSpPr/>
          <p:nvPr/>
        </p:nvSpPr>
        <p:spPr>
          <a:xfrm>
            <a:off x="6355080" y="4480560"/>
            <a:ext cx="2286000" cy="731520"/>
          </a:xfrm>
          <a:prstGeom prst="rect">
            <a:avLst/>
          </a:prstGeom>
          <a:noFill/>
          <a:ln/>
        </p:spPr>
        <p:txBody>
          <a:bodyPr wrap="square" lIns="0" tIns="0" rIns="0" bIns="0" rtlCol="0" anchor="t"/>
          <a:lstStyle/>
          <a:p>
            <a:pPr indent="0" marL="0">
              <a:buNone/>
            </a:pPr>
            <a:r>
              <a:rPr lang="en-US" sz="1500" i="1" dirty="0">
                <a:solidFill>
                  <a:srgbClr val="5B6472"/>
                </a:solidFill>
                <a:latin typeface="Calibri" pitchFamily="34" charset="0"/>
                <a:ea typeface="Calibri" pitchFamily="34" charset="-122"/>
                <a:cs typeface="Calibri" pitchFamily="34" charset="-120"/>
              </a:rPr>
              <a:t>There are 214 dependencies and no inventory of them.</a:t>
            </a:r>
            <a:endParaRPr lang="en-US" sz="1500" dirty="0"/>
          </a:p>
        </p:txBody>
      </p:sp>
      <p:sp>
        <p:nvSpPr>
          <p:cNvPr id="25" name="Shape 23"/>
          <p:cNvSpPr/>
          <p:nvPr/>
        </p:nvSpPr>
        <p:spPr>
          <a:xfrm>
            <a:off x="8979408" y="2514600"/>
            <a:ext cx="2697480" cy="2743200"/>
          </a:xfrm>
          <a:prstGeom prst="roundRect">
            <a:avLst>
              <a:gd name="adj" fmla="val 3051"/>
            </a:avLst>
          </a:prstGeom>
          <a:solidFill>
            <a:srgbClr val="FFFFFF"/>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26" name="Shape 24"/>
          <p:cNvSpPr/>
          <p:nvPr/>
        </p:nvSpPr>
        <p:spPr>
          <a:xfrm>
            <a:off x="9180576" y="2697480"/>
            <a:ext cx="438912" cy="438912"/>
          </a:xfrm>
          <a:prstGeom prst="roundRect">
            <a:avLst>
              <a:gd name="adj" fmla="val 50000"/>
            </a:avLst>
          </a:prstGeom>
          <a:solidFill>
            <a:srgbClr val="5B6472"/>
          </a:solidFill>
          <a:ln/>
        </p:spPr>
      </p:sp>
      <p:sp>
        <p:nvSpPr>
          <p:cNvPr id="27" name="Text 25"/>
          <p:cNvSpPr/>
          <p:nvPr/>
        </p:nvSpPr>
        <p:spPr>
          <a:xfrm>
            <a:off x="9180576" y="26974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9180576" y="3246120"/>
            <a:ext cx="2286000" cy="12344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Is access to production restricted to authorised staff?</a:t>
            </a:r>
            <a:endParaRPr lang="en-US" sz="1600" dirty="0"/>
          </a:p>
        </p:txBody>
      </p:sp>
      <p:sp>
        <p:nvSpPr>
          <p:cNvPr id="29" name="Text 27"/>
          <p:cNvSpPr/>
          <p:nvPr/>
        </p:nvSpPr>
        <p:spPr>
          <a:xfrm>
            <a:off x="9180576" y="4480560"/>
            <a:ext cx="2286000" cy="731520"/>
          </a:xfrm>
          <a:prstGeom prst="rect">
            <a:avLst/>
          </a:prstGeom>
          <a:noFill/>
          <a:ln/>
        </p:spPr>
        <p:txBody>
          <a:bodyPr wrap="square" lIns="0" tIns="0" rIns="0" bIns="0" rtlCol="0" anchor="t"/>
          <a:lstStyle/>
          <a:p>
            <a:pPr indent="0" marL="0">
              <a:buNone/>
            </a:pPr>
            <a:r>
              <a:rPr lang="en-US" sz="1500" i="1" dirty="0">
                <a:solidFill>
                  <a:srgbClr val="5B6472"/>
                </a:solidFill>
                <a:latin typeface="Calibri" pitchFamily="34" charset="0"/>
                <a:ea typeface="Calibri" pitchFamily="34" charset="-122"/>
                <a:cs typeface="Calibri" pitchFamily="34" charset="-120"/>
              </a:rPr>
              <a:t>Access is granted by one administrator who keeps no list.</a:t>
            </a:r>
            <a:endParaRPr lang="en-US" sz="1500" dirty="0"/>
          </a:p>
        </p:txBody>
      </p:sp>
      <p:sp>
        <p:nvSpPr>
          <p:cNvPr id="30" name="Shape 28"/>
          <p:cNvSpPr/>
          <p:nvPr/>
        </p:nvSpPr>
        <p:spPr>
          <a:xfrm>
            <a:off x="502920" y="5440680"/>
            <a:ext cx="11155680" cy="960120"/>
          </a:xfrm>
          <a:prstGeom prst="roundRect">
            <a:avLst>
              <a:gd name="adj" fmla="val 8571"/>
            </a:avLst>
          </a:prstGeom>
          <a:solidFill>
            <a:srgbClr val="FFFFFF"/>
          </a:solidFill>
          <a:ln w="12700">
            <a:solidFill>
              <a:srgbClr val="8B5CF6"/>
            </a:solidFill>
            <a:prstDash val="solid"/>
          </a:ln>
        </p:spPr>
      </p:sp>
      <p:sp>
        <p:nvSpPr>
          <p:cNvPr id="31" name="Text 29"/>
          <p:cNvSpPr/>
          <p:nvPr/>
        </p:nvSpPr>
        <p:spPr>
          <a:xfrm>
            <a:off x="822960" y="5440680"/>
            <a:ext cx="10515600" cy="960120"/>
          </a:xfrm>
          <a:prstGeom prst="rect">
            <a:avLst/>
          </a:prstGeom>
          <a:noFill/>
          <a:ln/>
        </p:spPr>
        <p:txBody>
          <a:bodyPr wrap="square" lIns="0" tIns="0" rIns="0" bIns="0" rtlCol="0" anchor="ctr"/>
          <a:lstStyle/>
          <a:p>
            <a:pPr indent="0" marL="0">
              <a:buNone/>
            </a:pPr>
            <a:r>
              <a:rPr lang="en-US" sz="1700" b="1" dirty="0">
                <a:solidFill>
                  <a:srgbClr val="8B5CF6"/>
                </a:solidFill>
                <a:latin typeface="Calibri" pitchFamily="34" charset="0"/>
                <a:ea typeface="Calibri" pitchFamily="34" charset="-122"/>
                <a:cs typeface="Calibri" pitchFamily="34" charset="-120"/>
              </a:rPr>
              <a:t>Extending: case 2 asks about understanding, but the only evidence is a signature. What would you have to change to make that criterion measurable — the criterion, or the organisation?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Applying criteria — from evidence to judgement</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Propose the criteria, then actually use them</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600200"/>
            <a:ext cx="26974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04088" y="1801368"/>
            <a:ext cx="457200" cy="457200"/>
          </a:xfrm>
          <a:prstGeom prst="roundRect">
            <a:avLst>
              <a:gd name="adj" fmla="val 50000"/>
            </a:avLst>
          </a:prstGeom>
          <a:solidFill>
            <a:srgbClr val="4361EE"/>
          </a:solidFill>
          <a:ln/>
        </p:spPr>
      </p:sp>
      <p:sp>
        <p:nvSpPr>
          <p:cNvPr id="12" name="Text 10"/>
          <p:cNvSpPr/>
          <p:nvPr/>
        </p:nvSpPr>
        <p:spPr>
          <a:xfrm>
            <a:off x="704088"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704088" y="2377440"/>
            <a:ext cx="2286000" cy="45720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Collect</a:t>
            </a:r>
            <a:endParaRPr lang="en-US" sz="2000" dirty="0"/>
          </a:p>
        </p:txBody>
      </p:sp>
      <p:sp>
        <p:nvSpPr>
          <p:cNvPr id="14" name="Text 12"/>
          <p:cNvSpPr/>
          <p:nvPr/>
        </p:nvSpPr>
        <p:spPr>
          <a:xfrm>
            <a:off x="704088" y="2852928"/>
            <a:ext cx="2286000" cy="1005840"/>
          </a:xfrm>
          <a:prstGeom prst="rect">
            <a:avLst/>
          </a:prstGeom>
          <a:noFill/>
          <a:ln/>
        </p:spPr>
        <p:txBody>
          <a:bodyPr wrap="square" lIns="0" tIns="0" rIns="0" bIns="0" rtlCol="0" anchor="t"/>
          <a:lstStyle/>
          <a:p>
            <a:pPr indent="0" marL="0">
              <a:buNone/>
            </a:pPr>
            <a:r>
              <a:rPr lang="en-US" sz="1550" dirty="0">
                <a:solidFill>
                  <a:srgbClr val="5B6472"/>
                </a:solidFill>
                <a:latin typeface="Calibri" pitchFamily="34" charset="0"/>
                <a:ea typeface="Calibri" pitchFamily="34" charset="-122"/>
                <a:cs typeface="Calibri" pitchFamily="34" charset="-120"/>
              </a:rPr>
              <a:t>Gather the data your criterion named — logs, policies, configurations, records.</a:t>
            </a:r>
            <a:endParaRPr lang="en-US" sz="1550" dirty="0"/>
          </a:p>
        </p:txBody>
      </p:sp>
      <p:sp>
        <p:nvSpPr>
          <p:cNvPr id="15" name="Shape 13"/>
          <p:cNvSpPr/>
          <p:nvPr/>
        </p:nvSpPr>
        <p:spPr>
          <a:xfrm>
            <a:off x="3328416" y="1600200"/>
            <a:ext cx="26974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3529584" y="1801368"/>
            <a:ext cx="457200" cy="457200"/>
          </a:xfrm>
          <a:prstGeom prst="roundRect">
            <a:avLst>
              <a:gd name="adj" fmla="val 50000"/>
            </a:avLst>
          </a:prstGeom>
          <a:solidFill>
            <a:srgbClr val="4361EE"/>
          </a:solidFill>
          <a:ln/>
        </p:spPr>
      </p:sp>
      <p:sp>
        <p:nvSpPr>
          <p:cNvPr id="17" name="Text 15"/>
          <p:cNvSpPr/>
          <p:nvPr/>
        </p:nvSpPr>
        <p:spPr>
          <a:xfrm>
            <a:off x="3529584"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3529584" y="2377440"/>
            <a:ext cx="2286000" cy="45720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Measure</a:t>
            </a:r>
            <a:endParaRPr lang="en-US" sz="2000" dirty="0"/>
          </a:p>
        </p:txBody>
      </p:sp>
      <p:sp>
        <p:nvSpPr>
          <p:cNvPr id="19" name="Text 17"/>
          <p:cNvSpPr/>
          <p:nvPr/>
        </p:nvSpPr>
        <p:spPr>
          <a:xfrm>
            <a:off x="3529584" y="2852928"/>
            <a:ext cx="2286000" cy="1005840"/>
          </a:xfrm>
          <a:prstGeom prst="rect">
            <a:avLst/>
          </a:prstGeom>
          <a:noFill/>
          <a:ln/>
        </p:spPr>
        <p:txBody>
          <a:bodyPr wrap="square" lIns="0" tIns="0" rIns="0" bIns="0" rtlCol="0" anchor="t"/>
          <a:lstStyle/>
          <a:p>
            <a:pPr indent="0" marL="0">
              <a:buNone/>
            </a:pPr>
            <a:r>
              <a:rPr lang="en-US" sz="1550" dirty="0">
                <a:solidFill>
                  <a:srgbClr val="5B6472"/>
                </a:solidFill>
                <a:latin typeface="Calibri" pitchFamily="34" charset="0"/>
                <a:ea typeface="Calibri" pitchFamily="34" charset="-122"/>
                <a:cs typeface="Calibri" pitchFamily="34" charset="-120"/>
              </a:rPr>
              <a:t>Do what the measurement column says. Count, compare, inspect.</a:t>
            </a:r>
            <a:endParaRPr lang="en-US" sz="1550" dirty="0"/>
          </a:p>
        </p:txBody>
      </p:sp>
      <p:sp>
        <p:nvSpPr>
          <p:cNvPr id="20" name="Shape 18"/>
          <p:cNvSpPr/>
          <p:nvPr/>
        </p:nvSpPr>
        <p:spPr>
          <a:xfrm>
            <a:off x="6153912" y="1600200"/>
            <a:ext cx="26974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6355080" y="1801368"/>
            <a:ext cx="457200" cy="457200"/>
          </a:xfrm>
          <a:prstGeom prst="roundRect">
            <a:avLst>
              <a:gd name="adj" fmla="val 50000"/>
            </a:avLst>
          </a:prstGeom>
          <a:solidFill>
            <a:srgbClr val="4361EE"/>
          </a:solidFill>
          <a:ln/>
        </p:spPr>
      </p:sp>
      <p:sp>
        <p:nvSpPr>
          <p:cNvPr id="22" name="Text 20"/>
          <p:cNvSpPr/>
          <p:nvPr/>
        </p:nvSpPr>
        <p:spPr>
          <a:xfrm>
            <a:off x="6355080"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6355080" y="2377440"/>
            <a:ext cx="2286000" cy="45720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Judge</a:t>
            </a:r>
            <a:endParaRPr lang="en-US" sz="2000" dirty="0"/>
          </a:p>
        </p:txBody>
      </p:sp>
      <p:sp>
        <p:nvSpPr>
          <p:cNvPr id="24" name="Text 22"/>
          <p:cNvSpPr/>
          <p:nvPr/>
        </p:nvSpPr>
        <p:spPr>
          <a:xfrm>
            <a:off x="6355080" y="2852928"/>
            <a:ext cx="2286000" cy="1005840"/>
          </a:xfrm>
          <a:prstGeom prst="rect">
            <a:avLst/>
          </a:prstGeom>
          <a:noFill/>
          <a:ln/>
        </p:spPr>
        <p:txBody>
          <a:bodyPr wrap="square" lIns="0" tIns="0" rIns="0" bIns="0" rtlCol="0" anchor="t"/>
          <a:lstStyle/>
          <a:p>
            <a:pPr indent="0" marL="0">
              <a:buNone/>
            </a:pPr>
            <a:r>
              <a:rPr lang="en-US" sz="1550" dirty="0">
                <a:solidFill>
                  <a:srgbClr val="5B6472"/>
                </a:solidFill>
                <a:latin typeface="Calibri" pitchFamily="34" charset="0"/>
                <a:ea typeface="Calibri" pitchFamily="34" charset="-122"/>
                <a:cs typeface="Calibri" pitchFamily="34" charset="-120"/>
              </a:rPr>
              <a:t>Met · Partially met · Not met — with the evidence attached to the judgement.</a:t>
            </a:r>
            <a:endParaRPr lang="en-US" sz="1550" dirty="0"/>
          </a:p>
        </p:txBody>
      </p:sp>
      <p:sp>
        <p:nvSpPr>
          <p:cNvPr id="25" name="Shape 23"/>
          <p:cNvSpPr/>
          <p:nvPr/>
        </p:nvSpPr>
        <p:spPr>
          <a:xfrm>
            <a:off x="8979408" y="1600200"/>
            <a:ext cx="269748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6" name="Shape 24"/>
          <p:cNvSpPr/>
          <p:nvPr/>
        </p:nvSpPr>
        <p:spPr>
          <a:xfrm>
            <a:off x="9180576" y="1801368"/>
            <a:ext cx="457200" cy="457200"/>
          </a:xfrm>
          <a:prstGeom prst="roundRect">
            <a:avLst>
              <a:gd name="adj" fmla="val 50000"/>
            </a:avLst>
          </a:prstGeom>
          <a:solidFill>
            <a:srgbClr val="4361EE"/>
          </a:solidFill>
          <a:ln/>
        </p:spPr>
      </p:sp>
      <p:sp>
        <p:nvSpPr>
          <p:cNvPr id="27" name="Text 25"/>
          <p:cNvSpPr/>
          <p:nvPr/>
        </p:nvSpPr>
        <p:spPr>
          <a:xfrm>
            <a:off x="9180576"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9180576" y="2377440"/>
            <a:ext cx="2286000" cy="457200"/>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Recommend</a:t>
            </a:r>
            <a:endParaRPr lang="en-US" sz="2000" dirty="0"/>
          </a:p>
        </p:txBody>
      </p:sp>
      <p:sp>
        <p:nvSpPr>
          <p:cNvPr id="29" name="Text 27"/>
          <p:cNvSpPr/>
          <p:nvPr/>
        </p:nvSpPr>
        <p:spPr>
          <a:xfrm>
            <a:off x="9180576" y="2852928"/>
            <a:ext cx="2286000" cy="1005840"/>
          </a:xfrm>
          <a:prstGeom prst="rect">
            <a:avLst/>
          </a:prstGeom>
          <a:noFill/>
          <a:ln/>
        </p:spPr>
        <p:txBody>
          <a:bodyPr wrap="square" lIns="0" tIns="0" rIns="0" bIns="0" rtlCol="0" anchor="t"/>
          <a:lstStyle/>
          <a:p>
            <a:pPr indent="0" marL="0">
              <a:buNone/>
            </a:pPr>
            <a:r>
              <a:rPr lang="en-US" sz="1550" dirty="0">
                <a:solidFill>
                  <a:srgbClr val="5B6472"/>
                </a:solidFill>
                <a:latin typeface="Calibri" pitchFamily="34" charset="0"/>
                <a:ea typeface="Calibri" pitchFamily="34" charset="-122"/>
                <a:cs typeface="Calibri" pitchFamily="34" charset="-120"/>
              </a:rPr>
              <a:t>Every 'not met' or 'partially met' becomes a recommendation, ranked by risk.</a:t>
            </a:r>
            <a:endParaRPr lang="en-US" sz="1550" dirty="0"/>
          </a:p>
        </p:txBody>
      </p:sp>
      <p:sp>
        <p:nvSpPr>
          <p:cNvPr id="30" name="Shape 28"/>
          <p:cNvSpPr/>
          <p:nvPr/>
        </p:nvSpPr>
        <p:spPr>
          <a:xfrm>
            <a:off x="502920" y="4206240"/>
            <a:ext cx="11155680" cy="2331720"/>
          </a:xfrm>
          <a:prstGeom prst="roundRect">
            <a:avLst>
              <a:gd name="adj" fmla="val 3529"/>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31" name="Text 29"/>
          <p:cNvSpPr/>
          <p:nvPr/>
        </p:nvSpPr>
        <p:spPr>
          <a:xfrm>
            <a:off x="822960" y="4343400"/>
            <a:ext cx="105156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Worked judgement — Aurora Ticketing, code review criterion</a:t>
            </a:r>
            <a:endParaRPr lang="en-US" sz="2000" dirty="0"/>
          </a:p>
        </p:txBody>
      </p:sp>
      <p:sp>
        <p:nvSpPr>
          <p:cNvPr id="32" name="Text 30"/>
          <p:cNvSpPr/>
          <p:nvPr/>
        </p:nvSpPr>
        <p:spPr>
          <a:xfrm>
            <a:off x="822960" y="4754880"/>
            <a:ext cx="10515600" cy="1691640"/>
          </a:xfrm>
          <a:prstGeom prst="rect">
            <a:avLst/>
          </a:prstGeom>
          <a:noFill/>
          <a:ln/>
        </p:spPr>
        <p:txBody>
          <a:bodyPr wrap="square" lIns="0" tIns="0" rIns="0" bIns="0" rtlCol="0" anchor="t"/>
          <a:lstStyle/>
          <a:p>
            <a:pPr indent="0" marL="0">
              <a:lnSpc>
                <a:spcPts val="2500"/>
              </a:lnSpc>
              <a:buNone/>
            </a:pPr>
            <a:r>
              <a:rPr lang="en-US" sz="1700" b="1" dirty="0">
                <a:solidFill>
                  <a:srgbClr val="111827"/>
                </a:solidFill>
                <a:latin typeface="Courier New" pitchFamily="34" charset="0"/>
                <a:ea typeface="Courier New" pitchFamily="34" charset="-122"/>
                <a:cs typeface="Courier New" pitchFamily="34" charset="-120"/>
              </a:rPr>
              <a:t>Evidence:  </a:t>
            </a:r>
            <a:pPr indent="0" marL="0">
              <a:lnSpc>
                <a:spcPts val="2500"/>
              </a:lnSpc>
              <a:buNone/>
            </a:pPr>
            <a:r>
              <a:rPr lang="en-US" sz="1700" dirty="0">
                <a:solidFill>
                  <a:srgbClr val="111827"/>
                </a:solidFill>
                <a:latin typeface="Calibri" pitchFamily="34" charset="0"/>
                <a:ea typeface="Calibri" pitchFamily="34" charset="-122"/>
                <a:cs typeface="Calibri" pitchFamily="34" charset="-120"/>
              </a:rPr>
              <a:t>Of 168 merges in the last 90 days, 141 carried a reviewer approval. All 27 unreviewed merges came from the two most senior developers.</a:t>
            </a:r>
            <a:endParaRPr lang="en-US" sz="1700" dirty="0"/>
          </a:p>
          <a:p>
            <a:pPr indent="0" marL="0">
              <a:lnSpc>
                <a:spcPts val="2500"/>
              </a:lnSpc>
              <a:buNone/>
            </a:pPr>
            <a:r>
              <a:rPr lang="en-US" sz="1700" b="1" dirty="0">
                <a:solidFill>
                  <a:srgbClr val="F59E0B"/>
                </a:solidFill>
                <a:latin typeface="Courier New" pitchFamily="34" charset="0"/>
                <a:ea typeface="Courier New" pitchFamily="34" charset="-122"/>
                <a:cs typeface="Courier New" pitchFamily="34" charset="-120"/>
              </a:rPr>
              <a:t>Judgement:  </a:t>
            </a:r>
            <a:pPr indent="0" marL="0">
              <a:lnSpc>
                <a:spcPts val="2500"/>
              </a:lnSpc>
              <a:buNone/>
            </a:pPr>
            <a:r>
              <a:rPr lang="en-US" sz="1700" dirty="0">
                <a:solidFill>
                  <a:srgbClr val="111827"/>
                </a:solidFill>
                <a:latin typeface="Calibri" pitchFamily="34" charset="0"/>
                <a:ea typeface="Calibri" pitchFamily="34" charset="-122"/>
                <a:cs typeface="Calibri" pitchFamily="34" charset="-120"/>
              </a:rPr>
              <a:t>Partially met — 84% coverage, with a consistent exemption pattern at senior level.</a:t>
            </a:r>
            <a:endParaRPr lang="en-US" sz="1700" dirty="0"/>
          </a:p>
          <a:p>
            <a:pPr indent="0" marL="0">
              <a:lnSpc>
                <a:spcPts val="2500"/>
              </a:lnSpc>
              <a:buNone/>
            </a:pPr>
            <a:r>
              <a:rPr lang="en-US" sz="1700" b="1" dirty="0">
                <a:solidFill>
                  <a:srgbClr val="10B981"/>
                </a:solidFill>
                <a:latin typeface="Courier New" pitchFamily="34" charset="0"/>
                <a:ea typeface="Courier New" pitchFamily="34" charset="-122"/>
                <a:cs typeface="Courier New" pitchFamily="34" charset="-120"/>
              </a:rPr>
              <a:t>Recommendation:  </a:t>
            </a:r>
            <a:pPr indent="0" marL="0">
              <a:lnSpc>
                <a:spcPts val="2500"/>
              </a:lnSpc>
              <a:buNone/>
            </a:pPr>
            <a:r>
              <a:rPr lang="en-US" sz="1700" dirty="0">
                <a:solidFill>
                  <a:srgbClr val="111827"/>
                </a:solidFill>
                <a:latin typeface="Calibri" pitchFamily="34" charset="0"/>
                <a:ea typeface="Calibri" pitchFamily="34" charset="-122"/>
                <a:cs typeface="Calibri" pitchFamily="34" charset="-120"/>
              </a:rPr>
              <a:t>Enforce review at the repository level so approval cannot be bypassed by seniority; re-measure next term.</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Discussion — Easy to measure vs worth measuring</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6 minutes · whole class</a:t>
            </a:r>
            <a:endParaRPr lang="en-US" sz="1500" dirty="0"/>
          </a:p>
        </p:txBody>
      </p:sp>
      <p:sp>
        <p:nvSpPr>
          <p:cNvPr id="8" name="Shape 6"/>
          <p:cNvSpPr/>
          <p:nvPr/>
        </p:nvSpPr>
        <p:spPr>
          <a:xfrm>
            <a:off x="502920" y="1371600"/>
            <a:ext cx="5440680" cy="2194560"/>
          </a:xfrm>
          <a:prstGeom prst="roundRect">
            <a:avLst>
              <a:gd name="adj" fmla="val 3750"/>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9" name="Text 7"/>
          <p:cNvSpPr/>
          <p:nvPr/>
        </p:nvSpPr>
        <p:spPr>
          <a:xfrm>
            <a:off x="731520" y="1554480"/>
            <a:ext cx="4937760" cy="365760"/>
          </a:xfrm>
          <a:prstGeom prst="rect">
            <a:avLst/>
          </a:prstGeom>
          <a:noFill/>
          <a:ln/>
        </p:spPr>
        <p:txBody>
          <a:bodyPr wrap="square" lIns="0" tIns="0" rIns="0" bIns="0" rtlCol="0" anchor="ctr"/>
          <a:lstStyle/>
          <a:p>
            <a:pPr indent="0" marL="0">
              <a:buNone/>
            </a:pPr>
            <a:r>
              <a:rPr lang="en-US" sz="1300" b="1" dirty="0">
                <a:solidFill>
                  <a:srgbClr val="10B981"/>
                </a:solidFill>
                <a:latin typeface="Courier New" pitchFamily="34" charset="0"/>
                <a:ea typeface="Courier New" pitchFamily="34" charset="-122"/>
                <a:cs typeface="Courier New" pitchFamily="34" charset="-120"/>
              </a:rPr>
              <a:t>Criterion A</a:t>
            </a:r>
            <a:endParaRPr lang="en-US" sz="1300" dirty="0"/>
          </a:p>
        </p:txBody>
      </p:sp>
      <p:sp>
        <p:nvSpPr>
          <p:cNvPr id="10" name="Text 8"/>
          <p:cNvSpPr/>
          <p:nvPr/>
        </p:nvSpPr>
        <p:spPr>
          <a:xfrm>
            <a:off x="731520" y="1920240"/>
            <a:ext cx="4937760" cy="8229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"Is antivirus software installed on every developer machine?"</a:t>
            </a:r>
            <a:endParaRPr lang="en-US" sz="1900" dirty="0"/>
          </a:p>
        </p:txBody>
      </p:sp>
      <p:sp>
        <p:nvSpPr>
          <p:cNvPr id="11" name="Text 9"/>
          <p:cNvSpPr/>
          <p:nvPr/>
        </p:nvSpPr>
        <p:spPr>
          <a:xfrm>
            <a:off x="731520" y="2788920"/>
            <a:ext cx="4937760" cy="6400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Trivially easy to measure. One report answers it completely.</a:t>
            </a:r>
            <a:endParaRPr lang="en-US" sz="1600" dirty="0"/>
          </a:p>
        </p:txBody>
      </p:sp>
      <p:sp>
        <p:nvSpPr>
          <p:cNvPr id="12" name="Shape 10"/>
          <p:cNvSpPr/>
          <p:nvPr/>
        </p:nvSpPr>
        <p:spPr>
          <a:xfrm>
            <a:off x="6217920" y="1371600"/>
            <a:ext cx="5440680" cy="2194560"/>
          </a:xfrm>
          <a:prstGeom prst="roundRect">
            <a:avLst>
              <a:gd name="adj" fmla="val 3750"/>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13" name="Text 11"/>
          <p:cNvSpPr/>
          <p:nvPr/>
        </p:nvSpPr>
        <p:spPr>
          <a:xfrm>
            <a:off x="6446520" y="1554480"/>
            <a:ext cx="4937760" cy="36576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Criterion B</a:t>
            </a:r>
            <a:endParaRPr lang="en-US" sz="1300" dirty="0"/>
          </a:p>
        </p:txBody>
      </p:sp>
      <p:sp>
        <p:nvSpPr>
          <p:cNvPr id="14" name="Text 12"/>
          <p:cNvSpPr/>
          <p:nvPr/>
        </p:nvSpPr>
        <p:spPr>
          <a:xfrm>
            <a:off x="6446520" y="1920240"/>
            <a:ext cx="4937760" cy="100584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"Would a developer recognise and report a phishing email targeting the release pipeline?"</a:t>
            </a:r>
            <a:endParaRPr lang="en-US" sz="1900" dirty="0"/>
          </a:p>
        </p:txBody>
      </p:sp>
      <p:sp>
        <p:nvSpPr>
          <p:cNvPr id="15" name="Text 13"/>
          <p:cNvSpPr/>
          <p:nvPr/>
        </p:nvSpPr>
        <p:spPr>
          <a:xfrm>
            <a:off x="6446520" y="2880360"/>
            <a:ext cx="4937760" cy="59436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Much harder to measure — but far closer to how the organisation actually gets breached.</a:t>
            </a:r>
            <a:endParaRPr lang="en-US" sz="1600" dirty="0"/>
          </a:p>
        </p:txBody>
      </p:sp>
      <p:sp>
        <p:nvSpPr>
          <p:cNvPr id="16" name="Shape 14"/>
          <p:cNvSpPr/>
          <p:nvPr/>
        </p:nvSpPr>
        <p:spPr>
          <a:xfrm>
            <a:off x="502920" y="3749040"/>
            <a:ext cx="11155680" cy="2514600"/>
          </a:xfrm>
          <a:prstGeom prst="roundRect">
            <a:avLst>
              <a:gd name="adj" fmla="val 3273"/>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7" name="Text 15"/>
          <p:cNvSpPr/>
          <p:nvPr/>
        </p:nvSpPr>
        <p:spPr>
          <a:xfrm>
            <a:off x="822960" y="3886200"/>
            <a:ext cx="10515600" cy="384048"/>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Work through these</a:t>
            </a:r>
            <a:endParaRPr lang="en-US" sz="2000" dirty="0"/>
          </a:p>
        </p:txBody>
      </p:sp>
      <p:sp>
        <p:nvSpPr>
          <p:cNvPr id="18" name="Text 16"/>
          <p:cNvSpPr/>
          <p:nvPr/>
        </p:nvSpPr>
        <p:spPr>
          <a:xfrm>
            <a:off x="868680" y="4343400"/>
            <a:ext cx="1042416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11827"/>
                </a:solidFill>
                <a:latin typeface="Calibri" pitchFamily="34" charset="0"/>
                <a:ea typeface="Calibri" pitchFamily="34" charset="-122"/>
                <a:cs typeface="Calibri" pitchFamily="34" charset="-120"/>
              </a:rPr>
              <a:t>If an evaluation contains only criteria like A, what will it conclude — and will that conclusion be true?</a:t>
            </a:r>
            <a:endParaRPr lang="en-US" sz="1800" dirty="0"/>
          </a:p>
          <a:p>
            <a:pPr marL="342900" indent="-342900">
              <a:spcAft>
                <a:spcPts val="1200"/>
              </a:spcAft>
              <a:buSzPct val="100000"/>
              <a:buChar char="•"/>
            </a:pPr>
            <a:r>
              <a:rPr lang="en-US" sz="1800" dirty="0">
                <a:solidFill>
                  <a:srgbClr val="111827"/>
                </a:solidFill>
                <a:latin typeface="Calibri" pitchFamily="34" charset="0"/>
                <a:ea typeface="Calibri" pitchFamily="34" charset="-122"/>
                <a:cs typeface="Calibri" pitchFamily="34" charset="-120"/>
              </a:rPr>
              <a:t>How could Criterion B be made measurable without turning it back into a signature on a form?</a:t>
            </a:r>
            <a:endParaRPr lang="en-US" sz="1800" dirty="0"/>
          </a:p>
          <a:p>
            <a:pPr marL="342900" indent="-342900">
              <a:spcAft>
                <a:spcPts val="1200"/>
              </a:spcAft>
              <a:buSzPct val="100000"/>
              <a:buChar char="•"/>
            </a:pPr>
            <a:r>
              <a:rPr lang="en-US" sz="1800" dirty="0">
                <a:solidFill>
                  <a:srgbClr val="111827"/>
                </a:solidFill>
                <a:latin typeface="Calibri" pitchFamily="34" charset="0"/>
                <a:ea typeface="Calibri" pitchFamily="34" charset="-122"/>
                <a:cs typeface="Calibri" pitchFamily="34" charset="-120"/>
              </a:rPr>
              <a:t>Is an evaluation that reports 90% of criteria met necessarily a secure organisation? What would change your answer?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BREAK</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Shape 4"/>
          <p:cNvSpPr/>
          <p:nvPr/>
        </p:nvSpPr>
        <p:spPr>
          <a:xfrm>
            <a:off x="2194560" y="1737360"/>
            <a:ext cx="7772400" cy="3383280"/>
          </a:xfrm>
          <a:prstGeom prst="roundRect">
            <a:avLst>
              <a:gd name="adj" fmla="val 2432"/>
            </a:avLst>
          </a:prstGeom>
          <a:solidFill>
            <a:srgbClr val="F4F6FB"/>
          </a:solidFill>
          <a:ln w="12700">
            <a:solidFill>
              <a:srgbClr val="D8DDE6"/>
            </a:solidFill>
            <a:prstDash val="solid"/>
          </a:ln>
          <a:effectLst>
            <a:outerShdw sx="100000" sy="100000" kx="0" ky="0" algn="bl" rotWithShape="0" blurRad="101600" dist="25400" dir="5400000">
              <a:srgbClr val="9AA3B2">
                <a:alpha val="18000"/>
              </a:srgbClr>
            </a:outerShdw>
          </a:effectLst>
        </p:spPr>
      </p:sp>
      <p:sp>
        <p:nvSpPr>
          <p:cNvPr id="7" name="Text 5"/>
          <p:cNvSpPr/>
          <p:nvPr/>
        </p:nvSpPr>
        <p:spPr>
          <a:xfrm>
            <a:off x="2194560" y="2103120"/>
            <a:ext cx="7772400" cy="822960"/>
          </a:xfrm>
          <a:prstGeom prst="rect">
            <a:avLst/>
          </a:prstGeom>
          <a:noFill/>
          <a:ln/>
        </p:spPr>
        <p:txBody>
          <a:bodyPr wrap="square" lIns="0" tIns="0" rIns="0" bIns="0" rtlCol="0" anchor="ctr"/>
          <a:lstStyle/>
          <a:p>
            <a:pPr algn="ctr" indent="0" marL="0">
              <a:buNone/>
            </a:pPr>
            <a:r>
              <a:rPr lang="en-US" sz="4000" b="1" dirty="0">
                <a:solidFill>
                  <a:srgbClr val="111827"/>
                </a:solidFill>
                <a:latin typeface="Bookman Old Style" pitchFamily="34" charset="0"/>
                <a:ea typeface="Bookman Old Style" pitchFamily="34" charset="-122"/>
                <a:cs typeface="Bookman Old Style" pitchFamily="34" charset="-120"/>
              </a:rPr>
              <a:t>Brain break</a:t>
            </a:r>
            <a:endParaRPr lang="en-US" sz="4000" dirty="0"/>
          </a:p>
        </p:txBody>
      </p:sp>
      <p:sp>
        <p:nvSpPr>
          <p:cNvPr id="8" name="Text 6"/>
          <p:cNvSpPr/>
          <p:nvPr/>
        </p:nvSpPr>
        <p:spPr>
          <a:xfrm>
            <a:off x="2194560" y="2971800"/>
            <a:ext cx="7772400" cy="457200"/>
          </a:xfrm>
          <a:prstGeom prst="rect">
            <a:avLst/>
          </a:prstGeom>
          <a:noFill/>
          <a:ln/>
        </p:spPr>
        <p:txBody>
          <a:bodyPr wrap="square" lIns="0" tIns="0" rIns="0" bIns="0" rtlCol="0" anchor="ctr"/>
          <a:lstStyle/>
          <a:p>
            <a:pPr algn="ctr" indent="0" marL="0">
              <a:buNone/>
            </a:pPr>
            <a:r>
              <a:rPr lang="en-US" sz="2000" dirty="0">
                <a:solidFill>
                  <a:srgbClr val="5B6472"/>
                </a:solidFill>
                <a:latin typeface="Calibri" pitchFamily="34" charset="0"/>
                <a:ea typeface="Calibri" pitchFamily="34" charset="-122"/>
                <a:cs typeface="Calibri" pitchFamily="34" charset="-120"/>
              </a:rPr>
              <a:t>Two minutes. Stand up, stretch, look out the window.</a:t>
            </a:r>
            <a:endParaRPr lang="en-US" sz="2000" dirty="0"/>
          </a:p>
        </p:txBody>
      </p:sp>
      <p:sp>
        <p:nvSpPr>
          <p:cNvPr id="9" name="Shape 7"/>
          <p:cNvSpPr/>
          <p:nvPr/>
        </p:nvSpPr>
        <p:spPr>
          <a:xfrm>
            <a:off x="3108960" y="3703320"/>
            <a:ext cx="5943600" cy="1005840"/>
          </a:xfrm>
          <a:prstGeom prst="roundRect">
            <a:avLst>
              <a:gd name="adj" fmla="val 9091"/>
            </a:avLst>
          </a:prstGeom>
          <a:solidFill>
            <a:srgbClr val="FFFFFF"/>
          </a:solidFill>
          <a:ln w="12700">
            <a:solidFill>
              <a:srgbClr val="D8DDE6"/>
            </a:solidFill>
            <a:prstDash val="solid"/>
          </a:ln>
        </p:spPr>
      </p:sp>
      <p:sp>
        <p:nvSpPr>
          <p:cNvPr id="10" name="Text 8"/>
          <p:cNvSpPr/>
          <p:nvPr/>
        </p:nvSpPr>
        <p:spPr>
          <a:xfrm>
            <a:off x="3291840" y="3703320"/>
            <a:ext cx="5577840" cy="1005840"/>
          </a:xfrm>
          <a:prstGeom prst="rect">
            <a:avLst/>
          </a:prstGeom>
          <a:noFill/>
          <a:ln/>
        </p:spPr>
        <p:txBody>
          <a:bodyPr wrap="square" lIns="0" tIns="0" rIns="0" bIns="0" rtlCol="0" anchor="ctr"/>
          <a:lstStyle/>
          <a:p>
            <a:pPr algn="ctr" indent="0" marL="0">
              <a:buNone/>
            </a:pPr>
            <a:r>
              <a:rPr lang="en-US" sz="1700" dirty="0">
                <a:solidFill>
                  <a:srgbClr val="111827"/>
                </a:solidFill>
                <a:latin typeface="Calibri" pitchFamily="34" charset="0"/>
                <a:ea typeface="Calibri" pitchFamily="34" charset="-122"/>
                <a:cs typeface="Calibri" pitchFamily="34" charset="-120"/>
              </a:rPr>
              <a:t>Coming up: turning findings into recommendations — then laptops open.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From findings to recommendations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This is the last key skill in the outcome — and the highest-value one</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051560"/>
          </a:xfrm>
          <a:prstGeom prst="roundRect">
            <a:avLst>
              <a:gd name="adj" fmla="val 7826"/>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1764792"/>
            <a:ext cx="457200" cy="457200"/>
          </a:xfrm>
          <a:prstGeom prst="roundRect">
            <a:avLst>
              <a:gd name="adj" fmla="val 50000"/>
            </a:avLst>
          </a:prstGeom>
          <a:solidFill>
            <a:srgbClr val="4361EE"/>
          </a:solidFill>
          <a:ln/>
        </p:spPr>
      </p:sp>
      <p:sp>
        <p:nvSpPr>
          <p:cNvPr id="12" name="Text 10"/>
          <p:cNvSpPr/>
          <p:nvPr/>
        </p:nvSpPr>
        <p:spPr>
          <a:xfrm>
            <a:off x="731520" y="17647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3017520" cy="41148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Anchored in evidence</a:t>
            </a:r>
            <a:endParaRPr lang="en-US" sz="1900" dirty="0"/>
          </a:p>
        </p:txBody>
      </p:sp>
      <p:sp>
        <p:nvSpPr>
          <p:cNvPr id="14" name="Text 12"/>
          <p:cNvSpPr/>
          <p:nvPr/>
        </p:nvSpPr>
        <p:spPr>
          <a:xfrm>
            <a:off x="1371600" y="1993392"/>
            <a:ext cx="10058400" cy="457200"/>
          </a:xfrm>
          <a:prstGeom prst="rect">
            <a:avLst/>
          </a:prstGeom>
          <a:noFill/>
          <a:ln/>
        </p:spPr>
        <p:txBody>
          <a:bodyPr wrap="square" lIns="0" tIns="0" rIns="0" bIns="0" rtlCol="0" anchor="t"/>
          <a:lstStyle/>
          <a:p>
            <a:pPr indent="0" marL="0">
              <a:buNone/>
            </a:pPr>
            <a:r>
              <a:rPr lang="en-US" sz="1650" dirty="0">
                <a:solidFill>
                  <a:srgbClr val="5B6472"/>
                </a:solidFill>
                <a:latin typeface="Calibri" pitchFamily="34" charset="0"/>
                <a:ea typeface="Calibri" pitchFamily="34" charset="-122"/>
                <a:cs typeface="Calibri" pitchFamily="34" charset="-120"/>
              </a:rPr>
              <a:t>It names the finding it responds to. 'Because 27 merges bypassed review…' not 'because security is important'.</a:t>
            </a:r>
            <a:endParaRPr lang="en-US" sz="1650" dirty="0"/>
          </a:p>
        </p:txBody>
      </p:sp>
      <p:sp>
        <p:nvSpPr>
          <p:cNvPr id="15" name="Shape 13"/>
          <p:cNvSpPr/>
          <p:nvPr/>
        </p:nvSpPr>
        <p:spPr>
          <a:xfrm>
            <a:off x="502920" y="2615184"/>
            <a:ext cx="11155680" cy="1051560"/>
          </a:xfrm>
          <a:prstGeom prst="roundRect">
            <a:avLst>
              <a:gd name="adj" fmla="val 7826"/>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731520" y="2916936"/>
            <a:ext cx="457200" cy="457200"/>
          </a:xfrm>
          <a:prstGeom prst="roundRect">
            <a:avLst>
              <a:gd name="adj" fmla="val 50000"/>
            </a:avLst>
          </a:prstGeom>
          <a:solidFill>
            <a:srgbClr val="4361EE"/>
          </a:solidFill>
          <a:ln/>
        </p:spPr>
      </p:sp>
      <p:sp>
        <p:nvSpPr>
          <p:cNvPr id="17" name="Text 15"/>
          <p:cNvSpPr/>
          <p:nvPr/>
        </p:nvSpPr>
        <p:spPr>
          <a:xfrm>
            <a:off x="731520" y="2916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743200"/>
            <a:ext cx="3017520" cy="41148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Specific and actionable</a:t>
            </a:r>
            <a:endParaRPr lang="en-US" sz="1900" dirty="0"/>
          </a:p>
        </p:txBody>
      </p:sp>
      <p:sp>
        <p:nvSpPr>
          <p:cNvPr id="19" name="Text 17"/>
          <p:cNvSpPr/>
          <p:nvPr/>
        </p:nvSpPr>
        <p:spPr>
          <a:xfrm>
            <a:off x="1371600" y="3145536"/>
            <a:ext cx="10058400" cy="457200"/>
          </a:xfrm>
          <a:prstGeom prst="rect">
            <a:avLst/>
          </a:prstGeom>
          <a:noFill/>
          <a:ln/>
        </p:spPr>
        <p:txBody>
          <a:bodyPr wrap="square" lIns="0" tIns="0" rIns="0" bIns="0" rtlCol="0" anchor="t"/>
          <a:lstStyle/>
          <a:p>
            <a:pPr indent="0" marL="0">
              <a:buNone/>
            </a:pPr>
            <a:r>
              <a:rPr lang="en-US" sz="1650" dirty="0">
                <a:solidFill>
                  <a:srgbClr val="5B6472"/>
                </a:solidFill>
                <a:latin typeface="Calibri" pitchFamily="34" charset="0"/>
                <a:ea typeface="Calibri" pitchFamily="34" charset="-122"/>
                <a:cs typeface="Calibri" pitchFamily="34" charset="-120"/>
              </a:rPr>
              <a:t>Someone could be assigned it on Monday. 'Improve security culture' cannot be assigned to anyone.</a:t>
            </a:r>
            <a:endParaRPr lang="en-US" sz="1650" dirty="0"/>
          </a:p>
        </p:txBody>
      </p:sp>
      <p:sp>
        <p:nvSpPr>
          <p:cNvPr id="20" name="Shape 18"/>
          <p:cNvSpPr/>
          <p:nvPr/>
        </p:nvSpPr>
        <p:spPr>
          <a:xfrm>
            <a:off x="502920" y="3767328"/>
            <a:ext cx="11155680" cy="1051560"/>
          </a:xfrm>
          <a:prstGeom prst="roundRect">
            <a:avLst>
              <a:gd name="adj" fmla="val 7826"/>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731520" y="4069080"/>
            <a:ext cx="457200" cy="457200"/>
          </a:xfrm>
          <a:prstGeom prst="roundRect">
            <a:avLst>
              <a:gd name="adj" fmla="val 50000"/>
            </a:avLst>
          </a:prstGeom>
          <a:solidFill>
            <a:srgbClr val="4361EE"/>
          </a:solidFill>
          <a:ln/>
        </p:spPr>
      </p:sp>
      <p:sp>
        <p:nvSpPr>
          <p:cNvPr id="22" name="Text 20"/>
          <p:cNvSpPr/>
          <p:nvPr/>
        </p:nvSpPr>
        <p:spPr>
          <a:xfrm>
            <a:off x="731520" y="4069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3895344"/>
            <a:ext cx="3017520" cy="41148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Prioritised</a:t>
            </a:r>
            <a:endParaRPr lang="en-US" sz="1900" dirty="0"/>
          </a:p>
        </p:txBody>
      </p:sp>
      <p:sp>
        <p:nvSpPr>
          <p:cNvPr id="24" name="Text 22"/>
          <p:cNvSpPr/>
          <p:nvPr/>
        </p:nvSpPr>
        <p:spPr>
          <a:xfrm>
            <a:off x="1371600" y="4297680"/>
            <a:ext cx="10058400" cy="457200"/>
          </a:xfrm>
          <a:prstGeom prst="rect">
            <a:avLst/>
          </a:prstGeom>
          <a:noFill/>
          <a:ln/>
        </p:spPr>
        <p:txBody>
          <a:bodyPr wrap="square" lIns="0" tIns="0" rIns="0" bIns="0" rtlCol="0" anchor="t"/>
          <a:lstStyle/>
          <a:p>
            <a:pPr indent="0" marL="0">
              <a:buNone/>
            </a:pPr>
            <a:r>
              <a:rPr lang="en-US" sz="1650" dirty="0">
                <a:solidFill>
                  <a:srgbClr val="5B6472"/>
                </a:solidFill>
                <a:latin typeface="Calibri" pitchFamily="34" charset="0"/>
                <a:ea typeface="Calibri" pitchFamily="34" charset="-122"/>
                <a:cs typeface="Calibri" pitchFamily="34" charset="-120"/>
              </a:rPr>
              <a:t>Ranked by the risk it addresses and what it costs, because the organisation cannot do all of them at once.</a:t>
            </a:r>
            <a:endParaRPr lang="en-US" sz="1650" dirty="0"/>
          </a:p>
        </p:txBody>
      </p:sp>
      <p:sp>
        <p:nvSpPr>
          <p:cNvPr id="25" name="Shape 23"/>
          <p:cNvSpPr/>
          <p:nvPr/>
        </p:nvSpPr>
        <p:spPr>
          <a:xfrm>
            <a:off x="502920" y="4919472"/>
            <a:ext cx="11155680" cy="1051560"/>
          </a:xfrm>
          <a:prstGeom prst="roundRect">
            <a:avLst>
              <a:gd name="adj" fmla="val 7826"/>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26" name="Shape 24"/>
          <p:cNvSpPr/>
          <p:nvPr/>
        </p:nvSpPr>
        <p:spPr>
          <a:xfrm>
            <a:off x="731520" y="5221224"/>
            <a:ext cx="457200" cy="457200"/>
          </a:xfrm>
          <a:prstGeom prst="roundRect">
            <a:avLst>
              <a:gd name="adj" fmla="val 50000"/>
            </a:avLst>
          </a:prstGeom>
          <a:solidFill>
            <a:srgbClr val="4361EE"/>
          </a:solidFill>
          <a:ln/>
        </p:spPr>
      </p:sp>
      <p:sp>
        <p:nvSpPr>
          <p:cNvPr id="27" name="Text 25"/>
          <p:cNvSpPr/>
          <p:nvPr/>
        </p:nvSpPr>
        <p:spPr>
          <a:xfrm>
            <a:off x="731520" y="52212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1371600" y="5047488"/>
            <a:ext cx="3017520" cy="41148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Re-measurable</a:t>
            </a:r>
            <a:endParaRPr lang="en-US" sz="1900" dirty="0"/>
          </a:p>
        </p:txBody>
      </p:sp>
      <p:sp>
        <p:nvSpPr>
          <p:cNvPr id="29" name="Text 27"/>
          <p:cNvSpPr/>
          <p:nvPr/>
        </p:nvSpPr>
        <p:spPr>
          <a:xfrm>
            <a:off x="1371600" y="5449824"/>
            <a:ext cx="10058400" cy="457200"/>
          </a:xfrm>
          <a:prstGeom prst="rect">
            <a:avLst/>
          </a:prstGeom>
          <a:noFill/>
          <a:ln/>
        </p:spPr>
        <p:txBody>
          <a:bodyPr wrap="square" lIns="0" tIns="0" rIns="0" bIns="0" rtlCol="0" anchor="t"/>
          <a:lstStyle/>
          <a:p>
            <a:pPr indent="0" marL="0">
              <a:buNone/>
            </a:pPr>
            <a:r>
              <a:rPr lang="en-US" sz="1650" dirty="0">
                <a:solidFill>
                  <a:srgbClr val="5B6472"/>
                </a:solidFill>
                <a:latin typeface="Calibri" pitchFamily="34" charset="0"/>
                <a:ea typeface="Calibri" pitchFamily="34" charset="-122"/>
                <a:cs typeface="Calibri" pitchFamily="34" charset="-120"/>
              </a:rPr>
              <a:t>It names how you will know it worked — which returns you to the criterion you started from.</a:t>
            </a:r>
            <a:endParaRPr lang="en-US" sz="1650" dirty="0"/>
          </a:p>
        </p:txBody>
      </p:sp>
      <p:sp>
        <p:nvSpPr>
          <p:cNvPr id="30" name="Shape 28"/>
          <p:cNvSpPr/>
          <p:nvPr/>
        </p:nvSpPr>
        <p:spPr>
          <a:xfrm>
            <a:off x="502920" y="6035040"/>
            <a:ext cx="11155680" cy="594360"/>
          </a:xfrm>
          <a:prstGeom prst="roundRect">
            <a:avLst>
              <a:gd name="adj" fmla="val 13846"/>
            </a:avLst>
          </a:prstGeom>
          <a:solidFill>
            <a:srgbClr val="D1FAE5"/>
          </a:solidFill>
          <a:ln w="12700">
            <a:solidFill>
              <a:srgbClr val="10B981"/>
            </a:solidFill>
            <a:prstDash val="solid"/>
          </a:ln>
        </p:spPr>
      </p:sp>
      <p:sp>
        <p:nvSpPr>
          <p:cNvPr id="31" name="Text 29"/>
          <p:cNvSpPr/>
          <p:nvPr/>
        </p:nvSpPr>
        <p:spPr>
          <a:xfrm>
            <a:off x="822960" y="6035040"/>
            <a:ext cx="10515600" cy="59436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 loop closes: criterion → evidence → judgement → recommendation → re-measure against the same criterion.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Three things that go wrong here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Check your own work against each</a:t>
            </a:r>
            <a:endParaRPr lang="en-US" sz="1500" dirty="0"/>
          </a:p>
        </p:txBody>
      </p:sp>
      <p:sp>
        <p:nvSpPr>
          <p:cNvPr id="8" name="Shape 6"/>
          <p:cNvSpPr/>
          <p:nvPr/>
        </p:nvSpPr>
        <p:spPr>
          <a:xfrm>
            <a:off x="502920" y="1463040"/>
            <a:ext cx="11155680" cy="1536192"/>
          </a:xfrm>
          <a:prstGeom prst="roundRect">
            <a:avLst>
              <a:gd name="adj" fmla="val 5357"/>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31520" y="1993392"/>
            <a:ext cx="457200" cy="457200"/>
          </a:xfrm>
          <a:prstGeom prst="roundRect">
            <a:avLst>
              <a:gd name="adj" fmla="val 50000"/>
            </a:avLst>
          </a:prstGeom>
          <a:solidFill>
            <a:srgbClr val="EF4444"/>
          </a:solidFill>
          <a:ln/>
        </p:spPr>
      </p:sp>
      <p:sp>
        <p:nvSpPr>
          <p:cNvPr id="10" name="Text 8"/>
          <p:cNvSpPr/>
          <p:nvPr/>
        </p:nvSpPr>
        <p:spPr>
          <a:xfrm>
            <a:off x="731520" y="19933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371600" y="1645920"/>
            <a:ext cx="10058400" cy="45720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A control is written where a criterion belongs</a:t>
            </a:r>
            <a:endParaRPr lang="en-US" sz="1900" dirty="0"/>
          </a:p>
        </p:txBody>
      </p:sp>
      <p:sp>
        <p:nvSpPr>
          <p:cNvPr id="12" name="Text 10"/>
          <p:cNvSpPr/>
          <p:nvPr/>
        </p:nvSpPr>
        <p:spPr>
          <a:xfrm>
            <a:off x="1371600" y="2121408"/>
            <a:ext cx="10058400" cy="77724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"Use MFA" is a control. "Is MFA enforced on every account with development access?" is a criterion. One is an action, the other is a question you can answer with evidence.</a:t>
            </a:r>
            <a:endParaRPr lang="en-US" sz="1700" dirty="0"/>
          </a:p>
        </p:txBody>
      </p:sp>
      <p:sp>
        <p:nvSpPr>
          <p:cNvPr id="13" name="Shape 11"/>
          <p:cNvSpPr/>
          <p:nvPr/>
        </p:nvSpPr>
        <p:spPr>
          <a:xfrm>
            <a:off x="502920" y="3108960"/>
            <a:ext cx="11155680" cy="1536192"/>
          </a:xfrm>
          <a:prstGeom prst="roundRect">
            <a:avLst>
              <a:gd name="adj" fmla="val 5357"/>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4" name="Shape 12"/>
          <p:cNvSpPr/>
          <p:nvPr/>
        </p:nvSpPr>
        <p:spPr>
          <a:xfrm>
            <a:off x="731520" y="3639312"/>
            <a:ext cx="457200" cy="457200"/>
          </a:xfrm>
          <a:prstGeom prst="roundRect">
            <a:avLst>
              <a:gd name="adj" fmla="val 50000"/>
            </a:avLst>
          </a:prstGeom>
          <a:solidFill>
            <a:srgbClr val="EF4444"/>
          </a:solidFill>
          <a:ln/>
        </p:spPr>
      </p:sp>
      <p:sp>
        <p:nvSpPr>
          <p:cNvPr id="15" name="Text 13"/>
          <p:cNvSpPr/>
          <p:nvPr/>
        </p:nvSpPr>
        <p:spPr>
          <a:xfrm>
            <a:off x="731520" y="36393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6" name="Text 14"/>
          <p:cNvSpPr/>
          <p:nvPr/>
        </p:nvSpPr>
        <p:spPr>
          <a:xfrm>
            <a:off x="1371600" y="3291840"/>
            <a:ext cx="10058400" cy="45720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Criteria are proposed but never applied</a:t>
            </a:r>
            <a:endParaRPr lang="en-US" sz="1900" dirty="0"/>
          </a:p>
        </p:txBody>
      </p:sp>
      <p:sp>
        <p:nvSpPr>
          <p:cNvPr id="17" name="Text 15"/>
          <p:cNvSpPr/>
          <p:nvPr/>
        </p:nvSpPr>
        <p:spPr>
          <a:xfrm>
            <a:off x="1371600" y="3767328"/>
            <a:ext cx="10058400" cy="77724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The key skill says propose AND apply. A criteria table with no evidence, no measurement and no judgement has done half the task.</a:t>
            </a:r>
            <a:endParaRPr lang="en-US" sz="1700" dirty="0"/>
          </a:p>
        </p:txBody>
      </p:sp>
      <p:sp>
        <p:nvSpPr>
          <p:cNvPr id="18" name="Shape 16"/>
          <p:cNvSpPr/>
          <p:nvPr/>
        </p:nvSpPr>
        <p:spPr>
          <a:xfrm>
            <a:off x="502920" y="4754880"/>
            <a:ext cx="11155680" cy="1536192"/>
          </a:xfrm>
          <a:prstGeom prst="roundRect">
            <a:avLst>
              <a:gd name="adj" fmla="val 5357"/>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9" name="Shape 17"/>
          <p:cNvSpPr/>
          <p:nvPr/>
        </p:nvSpPr>
        <p:spPr>
          <a:xfrm>
            <a:off x="731520" y="5285232"/>
            <a:ext cx="457200" cy="457200"/>
          </a:xfrm>
          <a:prstGeom prst="roundRect">
            <a:avLst>
              <a:gd name="adj" fmla="val 50000"/>
            </a:avLst>
          </a:prstGeom>
          <a:solidFill>
            <a:srgbClr val="EF4444"/>
          </a:solidFill>
          <a:ln/>
        </p:spPr>
      </p:sp>
      <p:sp>
        <p:nvSpPr>
          <p:cNvPr id="20" name="Text 18"/>
          <p:cNvSpPr/>
          <p:nvPr/>
        </p:nvSpPr>
        <p:spPr>
          <a:xfrm>
            <a:off x="731520" y="52852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21" name="Text 19"/>
          <p:cNvSpPr/>
          <p:nvPr/>
        </p:nvSpPr>
        <p:spPr>
          <a:xfrm>
            <a:off x="1371600" y="4937760"/>
            <a:ext cx="10058400" cy="457200"/>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Recommendations float free of the findings</a:t>
            </a:r>
            <a:endParaRPr lang="en-US" sz="1900" dirty="0"/>
          </a:p>
        </p:txBody>
      </p:sp>
      <p:sp>
        <p:nvSpPr>
          <p:cNvPr id="22" name="Text 20"/>
          <p:cNvSpPr/>
          <p:nvPr/>
        </p:nvSpPr>
        <p:spPr>
          <a:xfrm>
            <a:off x="1371600" y="5413248"/>
            <a:ext cx="10058400" cy="77724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If a recommendation could have been written before the evaluation started, the evaluation did not inform it.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10B981"/>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APPLYING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Laptop gate — open your workbook</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L6_EvaluatingSecurityPractices_workbook.html · Sections 1–7 · 30 minutes</a:t>
            </a:r>
            <a:endParaRPr lang="en-US" sz="1500" dirty="0"/>
          </a:p>
        </p:txBody>
      </p:sp>
      <p:sp>
        <p:nvSpPr>
          <p:cNvPr id="8" name="Shape 6"/>
          <p:cNvSpPr/>
          <p:nvPr/>
        </p:nvSpPr>
        <p:spPr>
          <a:xfrm>
            <a:off x="502920" y="1280160"/>
            <a:ext cx="11155680" cy="777240"/>
          </a:xfrm>
          <a:prstGeom prst="roundRect">
            <a:avLst>
              <a:gd name="adj" fmla="val 10588"/>
            </a:avLst>
          </a:prstGeom>
          <a:solidFill>
            <a:srgbClr val="D1FAE5"/>
          </a:solidFill>
          <a:ln w="12700">
            <a:solidFill>
              <a:srgbClr val="10B981"/>
            </a:solidFill>
            <a:prstDash val="solid"/>
          </a:ln>
        </p:spPr>
      </p:sp>
      <p:sp>
        <p:nvSpPr>
          <p:cNvPr id="9" name="Text 7"/>
          <p:cNvSpPr/>
          <p:nvPr/>
        </p:nvSpPr>
        <p:spPr>
          <a:xfrm>
            <a:off x="822960" y="1280160"/>
            <a:ext cx="10515600" cy="777240"/>
          </a:xfrm>
          <a:prstGeom prst="rect">
            <a:avLst/>
          </a:prstGeom>
          <a:noFill/>
          <a:ln/>
        </p:spPr>
        <p:txBody>
          <a:bodyPr wrap="square" lIns="0" tIns="0" rIns="0" bIns="0" rtlCol="0" anchor="ctr"/>
          <a:lstStyle/>
          <a:p>
            <a:pPr indent="0" marL="0">
              <a:buNone/>
            </a:pPr>
            <a:r>
              <a:rPr lang="en-US" sz="1900" b="1" dirty="0">
                <a:solidFill>
                  <a:srgbClr val="111827"/>
                </a:solidFill>
                <a:latin typeface="Calibri" pitchFamily="34" charset="0"/>
                <a:ea typeface="Calibri" pitchFamily="34" charset="-122"/>
                <a:cs typeface="Calibri" pitchFamily="34" charset="-120"/>
              </a:rPr>
              <a:t>Laptops open now. Your paper notes stay open beside you — Section 4 gives you an evidence pack to judge, not a slide to copy.</a:t>
            </a:r>
            <a:endParaRPr lang="en-US" sz="1900" dirty="0"/>
          </a:p>
        </p:txBody>
      </p:sp>
      <p:sp>
        <p:nvSpPr>
          <p:cNvPr id="10" name="Shape 8"/>
          <p:cNvSpPr/>
          <p:nvPr/>
        </p:nvSpPr>
        <p:spPr>
          <a:xfrm>
            <a:off x="502920" y="2286000"/>
            <a:ext cx="3611880" cy="3246120"/>
          </a:xfrm>
          <a:prstGeom prst="roundRect">
            <a:avLst>
              <a:gd name="adj" fmla="val 2535"/>
            </a:avLst>
          </a:prstGeom>
          <a:solidFill>
            <a:srgbClr val="FFFFFF"/>
          </a:solidFill>
          <a:ln w="12700">
            <a:solidFill>
              <a:srgbClr val="10B981"/>
            </a:solidFill>
            <a:prstDash val="solid"/>
          </a:ln>
          <a:effectLst>
            <a:outerShdw sx="100000" sy="100000" kx="0" ky="0" algn="bl" rotWithShape="0" blurRad="101600" dist="25400" dir="5400000">
              <a:srgbClr val="9AA3B2">
                <a:alpha val="18000"/>
              </a:srgbClr>
            </a:outerShdw>
          </a:effectLst>
        </p:spPr>
      </p:sp>
      <p:sp>
        <p:nvSpPr>
          <p:cNvPr id="11" name="Shape 9"/>
          <p:cNvSpPr/>
          <p:nvPr/>
        </p:nvSpPr>
        <p:spPr>
          <a:xfrm>
            <a:off x="731520" y="2487168"/>
            <a:ext cx="1298448" cy="274320"/>
          </a:xfrm>
          <a:prstGeom prst="roundRect">
            <a:avLst>
              <a:gd name="adj" fmla="val 50000"/>
            </a:avLst>
          </a:prstGeom>
          <a:solidFill>
            <a:srgbClr val="10B981"/>
          </a:solidFill>
          <a:ln/>
        </p:spPr>
      </p:sp>
      <p:sp>
        <p:nvSpPr>
          <p:cNvPr id="12" name="Text 10"/>
          <p:cNvSpPr/>
          <p:nvPr/>
        </p:nvSpPr>
        <p:spPr>
          <a:xfrm>
            <a:off x="731520" y="2487168"/>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2148840" y="2487168"/>
            <a:ext cx="173736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1–3</a:t>
            </a:r>
            <a:endParaRPr lang="en-US" sz="1200" dirty="0"/>
          </a:p>
        </p:txBody>
      </p:sp>
      <p:sp>
        <p:nvSpPr>
          <p:cNvPr id="14" name="Text 12"/>
          <p:cNvSpPr/>
          <p:nvPr/>
        </p:nvSpPr>
        <p:spPr>
          <a:xfrm>
            <a:off x="777240" y="2926080"/>
            <a:ext cx="31089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Sort statements into criteria and controls</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Label the four parts of a criterion</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Rewrite four unusable criteria so they can be checked</a:t>
            </a:r>
            <a:endParaRPr lang="en-US" sz="1600" dirty="0"/>
          </a:p>
        </p:txBody>
      </p:sp>
      <p:sp>
        <p:nvSpPr>
          <p:cNvPr id="15" name="Shape 13"/>
          <p:cNvSpPr/>
          <p:nvPr/>
        </p:nvSpPr>
        <p:spPr>
          <a:xfrm>
            <a:off x="4325112" y="2286000"/>
            <a:ext cx="3611880" cy="3246120"/>
          </a:xfrm>
          <a:prstGeom prst="roundRect">
            <a:avLst>
              <a:gd name="adj" fmla="val 2535"/>
            </a:avLst>
          </a:prstGeom>
          <a:solidFill>
            <a:srgbClr val="FFFFFF"/>
          </a:solidFill>
          <a:ln w="12700">
            <a:solidFill>
              <a:srgbClr val="F59E0B"/>
            </a:solidFill>
            <a:prstDash val="solid"/>
          </a:ln>
          <a:effectLst>
            <a:outerShdw sx="100000" sy="100000" kx="0" ky="0" algn="bl" rotWithShape="0" blurRad="101600" dist="25400" dir="5400000">
              <a:srgbClr val="9AA3B2">
                <a:alpha val="18000"/>
              </a:srgbClr>
            </a:outerShdw>
          </a:effectLst>
        </p:spPr>
      </p:sp>
      <p:sp>
        <p:nvSpPr>
          <p:cNvPr id="16" name="Shape 14"/>
          <p:cNvSpPr/>
          <p:nvPr/>
        </p:nvSpPr>
        <p:spPr>
          <a:xfrm>
            <a:off x="4553712" y="2487168"/>
            <a:ext cx="1298448" cy="274320"/>
          </a:xfrm>
          <a:prstGeom prst="roundRect">
            <a:avLst>
              <a:gd name="adj" fmla="val 50000"/>
            </a:avLst>
          </a:prstGeom>
          <a:solidFill>
            <a:srgbClr val="F59E0B"/>
          </a:solidFill>
          <a:ln/>
        </p:spPr>
      </p:sp>
      <p:sp>
        <p:nvSpPr>
          <p:cNvPr id="17" name="Text 15"/>
          <p:cNvSpPr/>
          <p:nvPr/>
        </p:nvSpPr>
        <p:spPr>
          <a:xfrm>
            <a:off x="4553712" y="2487168"/>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8" name="Text 16"/>
          <p:cNvSpPr/>
          <p:nvPr/>
        </p:nvSpPr>
        <p:spPr>
          <a:xfrm>
            <a:off x="5971032" y="2487168"/>
            <a:ext cx="173736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4–5</a:t>
            </a:r>
            <a:endParaRPr lang="en-US" sz="1200" dirty="0"/>
          </a:p>
        </p:txBody>
      </p:sp>
      <p:sp>
        <p:nvSpPr>
          <p:cNvPr id="19" name="Text 17"/>
          <p:cNvSpPr/>
          <p:nvPr/>
        </p:nvSpPr>
        <p:spPr>
          <a:xfrm>
            <a:off x="4599432" y="2926080"/>
            <a:ext cx="31089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Write full criteria for four Aurora practices</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Judge an evidence pack: met, partially met, not met</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Write a recommendation anchored to each finding</a:t>
            </a:r>
            <a:endParaRPr lang="en-US" sz="1600" dirty="0"/>
          </a:p>
        </p:txBody>
      </p:sp>
      <p:sp>
        <p:nvSpPr>
          <p:cNvPr id="20" name="Shape 18"/>
          <p:cNvSpPr/>
          <p:nvPr/>
        </p:nvSpPr>
        <p:spPr>
          <a:xfrm>
            <a:off x="8147304" y="2286000"/>
            <a:ext cx="3611880" cy="3246120"/>
          </a:xfrm>
          <a:prstGeom prst="roundRect">
            <a:avLst>
              <a:gd name="adj" fmla="val 2535"/>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8375904" y="2487168"/>
            <a:ext cx="1298448" cy="274320"/>
          </a:xfrm>
          <a:prstGeom prst="roundRect">
            <a:avLst>
              <a:gd name="adj" fmla="val 50000"/>
            </a:avLst>
          </a:prstGeom>
          <a:solidFill>
            <a:srgbClr val="8B5CF6"/>
          </a:solidFill>
          <a:ln/>
        </p:spPr>
      </p:sp>
      <p:sp>
        <p:nvSpPr>
          <p:cNvPr id="22" name="Text 20"/>
          <p:cNvSpPr/>
          <p:nvPr/>
        </p:nvSpPr>
        <p:spPr>
          <a:xfrm>
            <a:off x="8375904" y="2487168"/>
            <a:ext cx="12984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3" name="Text 21"/>
          <p:cNvSpPr/>
          <p:nvPr/>
        </p:nvSpPr>
        <p:spPr>
          <a:xfrm>
            <a:off x="9793224" y="2487168"/>
            <a:ext cx="173736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 6</a:t>
            </a:r>
            <a:endParaRPr lang="en-US" sz="1200" dirty="0"/>
          </a:p>
        </p:txBody>
      </p:sp>
      <p:sp>
        <p:nvSpPr>
          <p:cNvPr id="24" name="Text 22"/>
          <p:cNvSpPr/>
          <p:nvPr/>
        </p:nvSpPr>
        <p:spPr>
          <a:xfrm>
            <a:off x="8421624" y="2926080"/>
            <a:ext cx="3108960" cy="23774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Evaluate a supplied criteria set for blind spots</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Rank recommendations against cost and risk</a:t>
            </a:r>
            <a:endParaRPr lang="en-US" sz="1600" dirty="0"/>
          </a:p>
          <a:p>
            <a:pPr marL="342900" indent="-342900">
              <a:spcAft>
                <a:spcPts val="1200"/>
              </a:spcAft>
              <a:buSzPct val="100000"/>
              <a:buChar char="•"/>
            </a:pPr>
            <a:r>
              <a:rPr lang="en-US" sz="1600" dirty="0">
                <a:solidFill>
                  <a:srgbClr val="111827"/>
                </a:solidFill>
                <a:latin typeface="Calibri" pitchFamily="34" charset="0"/>
                <a:ea typeface="Calibri" pitchFamily="34" charset="-122"/>
                <a:cs typeface="Calibri" pitchFamily="34" charset="-120"/>
              </a:rPr>
              <a:t>Argue what a 90%-met score does not tell you</a:t>
            </a:r>
            <a:endParaRPr lang="en-US" sz="1600" dirty="0"/>
          </a:p>
        </p:txBody>
      </p:sp>
      <p:sp>
        <p:nvSpPr>
          <p:cNvPr id="25" name="Shape 23"/>
          <p:cNvSpPr/>
          <p:nvPr/>
        </p:nvSpPr>
        <p:spPr>
          <a:xfrm>
            <a:off x="502920" y="5715000"/>
            <a:ext cx="11155680" cy="658368"/>
          </a:xfrm>
          <a:prstGeom prst="roundRect">
            <a:avLst>
              <a:gd name="adj" fmla="val 12500"/>
            </a:avLst>
          </a:prstGeom>
          <a:solidFill>
            <a:srgbClr val="FFFFFF"/>
          </a:solidFill>
          <a:ln w="12700">
            <a:solidFill>
              <a:srgbClr val="4361EE"/>
            </a:solidFill>
            <a:prstDash val="solid"/>
          </a:ln>
        </p:spPr>
      </p:sp>
      <p:sp>
        <p:nvSpPr>
          <p:cNvPr id="26" name="Text 24"/>
          <p:cNvSpPr/>
          <p:nvPr/>
        </p:nvSpPr>
        <p:spPr>
          <a:xfrm>
            <a:off x="822960" y="5715000"/>
            <a:ext cx="10515600" cy="658368"/>
          </a:xfrm>
          <a:prstGeom prst="rect">
            <a:avLst/>
          </a:prstGeom>
          <a:noFill/>
          <a:ln/>
        </p:spPr>
        <p:txBody>
          <a:bodyPr wrap="square" lIns="0" tIns="0" rIns="0" bIns="0" rtlCol="0" anchor="ctr"/>
          <a:lstStyle/>
          <a:p>
            <a:pPr indent="0" marL="0">
              <a:buNone/>
            </a:pPr>
            <a:r>
              <a:rPr lang="en-US" sz="1700" dirty="0">
                <a:solidFill>
                  <a:srgbClr val="111827"/>
                </a:solidFill>
                <a:latin typeface="Calibri" pitchFamily="34" charset="0"/>
                <a:ea typeface="Calibri" pitchFamily="34" charset="-122"/>
                <a:cs typeface="Calibri" pitchFamily="34" charset="-120"/>
              </a:rPr>
              <a:t>Everyone completes Foundation. Section 4 is the one that most resembles the Outcome 2 task — attempt it even if you do not finish it.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Check in — where should you be?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10 minutes before the exit ticket</a:t>
            </a:r>
            <a:endParaRPr lang="en-US" sz="1500" dirty="0"/>
          </a:p>
        </p:txBody>
      </p:sp>
      <p:sp>
        <p:nvSpPr>
          <p:cNvPr id="8" name="Shape 6"/>
          <p:cNvSpPr/>
          <p:nvPr/>
        </p:nvSpPr>
        <p:spPr>
          <a:xfrm>
            <a:off x="502920" y="1463040"/>
            <a:ext cx="3200400" cy="457200"/>
          </a:xfrm>
          <a:prstGeom prst="rect">
            <a:avLst/>
          </a:prstGeom>
          <a:solidFill>
            <a:srgbClr val="F59E0B"/>
          </a:solidFill>
          <a:ln w="12700">
            <a:solidFill>
              <a:srgbClr val="FFFFFF"/>
            </a:solidFill>
            <a:prstDash val="solid"/>
          </a:ln>
        </p:spPr>
      </p:sp>
      <p:sp>
        <p:nvSpPr>
          <p:cNvPr id="9" name="Text 7"/>
          <p:cNvSpPr/>
          <p:nvPr/>
        </p:nvSpPr>
        <p:spPr>
          <a:xfrm>
            <a:off x="502920" y="1463040"/>
            <a:ext cx="3200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Success criterion</a:t>
            </a:r>
            <a:endParaRPr lang="en-US" sz="1200" dirty="0"/>
          </a:p>
        </p:txBody>
      </p:sp>
      <p:sp>
        <p:nvSpPr>
          <p:cNvPr id="10" name="Shape 8"/>
          <p:cNvSpPr/>
          <p:nvPr/>
        </p:nvSpPr>
        <p:spPr>
          <a:xfrm>
            <a:off x="3703320" y="1463040"/>
            <a:ext cx="4206240" cy="457200"/>
          </a:xfrm>
          <a:prstGeom prst="rect">
            <a:avLst/>
          </a:prstGeom>
          <a:solidFill>
            <a:srgbClr val="F59E0B"/>
          </a:solidFill>
          <a:ln w="12700">
            <a:solidFill>
              <a:srgbClr val="FFFFFF"/>
            </a:solidFill>
            <a:prstDash val="solid"/>
          </a:ln>
        </p:spPr>
      </p:sp>
      <p:sp>
        <p:nvSpPr>
          <p:cNvPr id="11" name="Text 9"/>
          <p:cNvSpPr/>
          <p:nvPr/>
        </p:nvSpPr>
        <p:spPr>
          <a:xfrm>
            <a:off x="3703320" y="1463040"/>
            <a:ext cx="42062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You are on track if…</a:t>
            </a:r>
            <a:endParaRPr lang="en-US" sz="1200" dirty="0"/>
          </a:p>
        </p:txBody>
      </p:sp>
      <p:sp>
        <p:nvSpPr>
          <p:cNvPr id="12" name="Shape 10"/>
          <p:cNvSpPr/>
          <p:nvPr/>
        </p:nvSpPr>
        <p:spPr>
          <a:xfrm>
            <a:off x="7909560" y="1463040"/>
            <a:ext cx="3749040" cy="457200"/>
          </a:xfrm>
          <a:prstGeom prst="rect">
            <a:avLst/>
          </a:prstGeom>
          <a:solidFill>
            <a:srgbClr val="F59E0B"/>
          </a:solidFill>
          <a:ln w="12700">
            <a:solidFill>
              <a:srgbClr val="FFFFFF"/>
            </a:solidFill>
            <a:prstDash val="solid"/>
          </a:ln>
        </p:spPr>
      </p:sp>
      <p:sp>
        <p:nvSpPr>
          <p:cNvPr id="13" name="Text 11"/>
          <p:cNvSpPr/>
          <p:nvPr/>
        </p:nvSpPr>
        <p:spPr>
          <a:xfrm>
            <a:off x="7909560" y="146304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Stuck? Try this</a:t>
            </a:r>
            <a:endParaRPr lang="en-US" sz="1200" dirty="0"/>
          </a:p>
        </p:txBody>
      </p:sp>
      <p:sp>
        <p:nvSpPr>
          <p:cNvPr id="14" name="Shape 12"/>
          <p:cNvSpPr/>
          <p:nvPr/>
        </p:nvSpPr>
        <p:spPr>
          <a:xfrm>
            <a:off x="502920" y="1920240"/>
            <a:ext cx="3200400" cy="841248"/>
          </a:xfrm>
          <a:prstGeom prst="rect">
            <a:avLst/>
          </a:prstGeom>
          <a:solidFill>
            <a:srgbClr val="FFFFFF"/>
          </a:solidFill>
          <a:ln w="12700">
            <a:solidFill>
              <a:srgbClr val="D8DDE6"/>
            </a:solidFill>
            <a:prstDash val="solid"/>
          </a:ln>
        </p:spPr>
      </p:sp>
      <p:sp>
        <p:nvSpPr>
          <p:cNvPr id="15" name="Text 13"/>
          <p:cNvSpPr/>
          <p:nvPr/>
        </p:nvSpPr>
        <p:spPr>
          <a:xfrm>
            <a:off x="594360" y="1920240"/>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Explain why criteria are used</a:t>
            </a:r>
            <a:endParaRPr lang="en-US" sz="1500" dirty="0"/>
          </a:p>
        </p:txBody>
      </p:sp>
      <p:sp>
        <p:nvSpPr>
          <p:cNvPr id="16" name="Shape 14"/>
          <p:cNvSpPr/>
          <p:nvPr/>
        </p:nvSpPr>
        <p:spPr>
          <a:xfrm>
            <a:off x="3703320" y="1920240"/>
            <a:ext cx="4206240" cy="841248"/>
          </a:xfrm>
          <a:prstGeom prst="rect">
            <a:avLst/>
          </a:prstGeom>
          <a:solidFill>
            <a:srgbClr val="FFFFFF"/>
          </a:solidFill>
          <a:ln w="12700">
            <a:solidFill>
              <a:srgbClr val="D8DDE6"/>
            </a:solidFill>
            <a:prstDash val="solid"/>
          </a:ln>
        </p:spPr>
      </p:sp>
      <p:sp>
        <p:nvSpPr>
          <p:cNvPr id="17" name="Text 15"/>
          <p:cNvSpPr/>
          <p:nvPr/>
        </p:nvSpPr>
        <p:spPr>
          <a:xfrm>
            <a:off x="3794760" y="1920240"/>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 can give two distinct reasons without looking</a:t>
            </a:r>
            <a:endParaRPr lang="en-US" sz="1500" dirty="0"/>
          </a:p>
        </p:txBody>
      </p:sp>
      <p:sp>
        <p:nvSpPr>
          <p:cNvPr id="18" name="Shape 16"/>
          <p:cNvSpPr/>
          <p:nvPr/>
        </p:nvSpPr>
        <p:spPr>
          <a:xfrm>
            <a:off x="7909560" y="1920240"/>
            <a:ext cx="3749040" cy="841248"/>
          </a:xfrm>
          <a:prstGeom prst="rect">
            <a:avLst/>
          </a:prstGeom>
          <a:solidFill>
            <a:srgbClr val="FFFFFF"/>
          </a:solidFill>
          <a:ln w="12700">
            <a:solidFill>
              <a:srgbClr val="D8DDE6"/>
            </a:solidFill>
            <a:prstDash val="solid"/>
          </a:ln>
        </p:spPr>
      </p:sp>
      <p:sp>
        <p:nvSpPr>
          <p:cNvPr id="19" name="Text 17"/>
          <p:cNvSpPr/>
          <p:nvPr/>
        </p:nvSpPr>
        <p:spPr>
          <a:xfrm>
            <a:off x="8001000" y="1920240"/>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Think about two teams being judged by two different people</a:t>
            </a:r>
            <a:endParaRPr lang="en-US" sz="1500" dirty="0"/>
          </a:p>
        </p:txBody>
      </p:sp>
      <p:sp>
        <p:nvSpPr>
          <p:cNvPr id="20" name="Shape 18"/>
          <p:cNvSpPr/>
          <p:nvPr/>
        </p:nvSpPr>
        <p:spPr>
          <a:xfrm>
            <a:off x="502920" y="2761488"/>
            <a:ext cx="3200400" cy="841248"/>
          </a:xfrm>
          <a:prstGeom prst="rect">
            <a:avLst/>
          </a:prstGeom>
          <a:solidFill>
            <a:srgbClr val="F4F6FB"/>
          </a:solidFill>
          <a:ln w="12700">
            <a:solidFill>
              <a:srgbClr val="D8DDE6"/>
            </a:solidFill>
            <a:prstDash val="solid"/>
          </a:ln>
        </p:spPr>
      </p:sp>
      <p:sp>
        <p:nvSpPr>
          <p:cNvPr id="21" name="Text 19"/>
          <p:cNvSpPr/>
          <p:nvPr/>
        </p:nvSpPr>
        <p:spPr>
          <a:xfrm>
            <a:off x="594360" y="2761488"/>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Spot a usable criterion</a:t>
            </a:r>
            <a:endParaRPr lang="en-US" sz="1500" dirty="0"/>
          </a:p>
        </p:txBody>
      </p:sp>
      <p:sp>
        <p:nvSpPr>
          <p:cNvPr id="22" name="Shape 20"/>
          <p:cNvSpPr/>
          <p:nvPr/>
        </p:nvSpPr>
        <p:spPr>
          <a:xfrm>
            <a:off x="3703320" y="2761488"/>
            <a:ext cx="4206240" cy="841248"/>
          </a:xfrm>
          <a:prstGeom prst="rect">
            <a:avLst/>
          </a:prstGeom>
          <a:solidFill>
            <a:srgbClr val="F4F6FB"/>
          </a:solidFill>
          <a:ln w="12700">
            <a:solidFill>
              <a:srgbClr val="D8DDE6"/>
            </a:solidFill>
            <a:prstDash val="solid"/>
          </a:ln>
        </p:spPr>
      </p:sp>
      <p:sp>
        <p:nvSpPr>
          <p:cNvPr id="23" name="Text 21"/>
          <p:cNvSpPr/>
          <p:nvPr/>
        </p:nvSpPr>
        <p:spPr>
          <a:xfrm>
            <a:off x="3794760" y="2761488"/>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 sorted the statements with no more than one error</a:t>
            </a:r>
            <a:endParaRPr lang="en-US" sz="1500" dirty="0"/>
          </a:p>
        </p:txBody>
      </p:sp>
      <p:sp>
        <p:nvSpPr>
          <p:cNvPr id="24" name="Shape 22"/>
          <p:cNvSpPr/>
          <p:nvPr/>
        </p:nvSpPr>
        <p:spPr>
          <a:xfrm>
            <a:off x="7909560" y="2761488"/>
            <a:ext cx="3749040" cy="841248"/>
          </a:xfrm>
          <a:prstGeom prst="rect">
            <a:avLst/>
          </a:prstGeom>
          <a:solidFill>
            <a:srgbClr val="F4F6FB"/>
          </a:solidFill>
          <a:ln w="12700">
            <a:solidFill>
              <a:srgbClr val="D8DDE6"/>
            </a:solidFill>
            <a:prstDash val="solid"/>
          </a:ln>
        </p:spPr>
      </p:sp>
      <p:sp>
        <p:nvSpPr>
          <p:cNvPr id="25" name="Text 23"/>
          <p:cNvSpPr/>
          <p:nvPr/>
        </p:nvSpPr>
        <p:spPr>
          <a:xfrm>
            <a:off x="8001000" y="2761488"/>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Ask: what would I go and look at to answer this?</a:t>
            </a:r>
            <a:endParaRPr lang="en-US" sz="1500" dirty="0"/>
          </a:p>
        </p:txBody>
      </p:sp>
      <p:sp>
        <p:nvSpPr>
          <p:cNvPr id="26" name="Shape 24"/>
          <p:cNvSpPr/>
          <p:nvPr/>
        </p:nvSpPr>
        <p:spPr>
          <a:xfrm>
            <a:off x="502920" y="3602736"/>
            <a:ext cx="3200400" cy="841248"/>
          </a:xfrm>
          <a:prstGeom prst="rect">
            <a:avLst/>
          </a:prstGeom>
          <a:solidFill>
            <a:srgbClr val="FFFFFF"/>
          </a:solidFill>
          <a:ln w="12700">
            <a:solidFill>
              <a:srgbClr val="D8DDE6"/>
            </a:solidFill>
            <a:prstDash val="solid"/>
          </a:ln>
        </p:spPr>
      </p:sp>
      <p:sp>
        <p:nvSpPr>
          <p:cNvPr id="27" name="Text 25"/>
          <p:cNvSpPr/>
          <p:nvPr/>
        </p:nvSpPr>
        <p:spPr>
          <a:xfrm>
            <a:off x="594360" y="3602736"/>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Write a full criterion</a:t>
            </a:r>
            <a:endParaRPr lang="en-US" sz="1500" dirty="0"/>
          </a:p>
        </p:txBody>
      </p:sp>
      <p:sp>
        <p:nvSpPr>
          <p:cNvPr id="28" name="Shape 26"/>
          <p:cNvSpPr/>
          <p:nvPr/>
        </p:nvSpPr>
        <p:spPr>
          <a:xfrm>
            <a:off x="3703320" y="3602736"/>
            <a:ext cx="4206240" cy="841248"/>
          </a:xfrm>
          <a:prstGeom prst="rect">
            <a:avLst/>
          </a:prstGeom>
          <a:solidFill>
            <a:srgbClr val="FFFFFF"/>
          </a:solidFill>
          <a:ln w="12700">
            <a:solidFill>
              <a:srgbClr val="D8DDE6"/>
            </a:solidFill>
            <a:prstDash val="solid"/>
          </a:ln>
        </p:spPr>
      </p:sp>
      <p:sp>
        <p:nvSpPr>
          <p:cNvPr id="29" name="Text 27"/>
          <p:cNvSpPr/>
          <p:nvPr/>
        </p:nvSpPr>
        <p:spPr>
          <a:xfrm>
            <a:off x="3794760" y="3602736"/>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All four parts are present, including measurement</a:t>
            </a:r>
            <a:endParaRPr lang="en-US" sz="1500" dirty="0"/>
          </a:p>
        </p:txBody>
      </p:sp>
      <p:sp>
        <p:nvSpPr>
          <p:cNvPr id="30" name="Shape 28"/>
          <p:cNvSpPr/>
          <p:nvPr/>
        </p:nvSpPr>
        <p:spPr>
          <a:xfrm>
            <a:off x="7909560" y="3602736"/>
            <a:ext cx="3749040" cy="841248"/>
          </a:xfrm>
          <a:prstGeom prst="rect">
            <a:avLst/>
          </a:prstGeom>
          <a:solidFill>
            <a:srgbClr val="FFFFFF"/>
          </a:solidFill>
          <a:ln w="12700">
            <a:solidFill>
              <a:srgbClr val="D8DDE6"/>
            </a:solidFill>
            <a:prstDash val="solid"/>
          </a:ln>
        </p:spPr>
      </p:sp>
      <p:sp>
        <p:nvSpPr>
          <p:cNvPr id="31" name="Text 29"/>
          <p:cNvSpPr/>
          <p:nvPr/>
        </p:nvSpPr>
        <p:spPr>
          <a:xfrm>
            <a:off x="8001000" y="3602736"/>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Your measurement should end in a number or a comparison</a:t>
            </a:r>
            <a:endParaRPr lang="en-US" sz="1500" dirty="0"/>
          </a:p>
        </p:txBody>
      </p:sp>
      <p:sp>
        <p:nvSpPr>
          <p:cNvPr id="32" name="Shape 30"/>
          <p:cNvSpPr/>
          <p:nvPr/>
        </p:nvSpPr>
        <p:spPr>
          <a:xfrm>
            <a:off x="502920" y="4443984"/>
            <a:ext cx="3200400" cy="841248"/>
          </a:xfrm>
          <a:prstGeom prst="rect">
            <a:avLst/>
          </a:prstGeom>
          <a:solidFill>
            <a:srgbClr val="F4F6FB"/>
          </a:solidFill>
          <a:ln w="12700">
            <a:solidFill>
              <a:srgbClr val="D8DDE6"/>
            </a:solidFill>
            <a:prstDash val="solid"/>
          </a:ln>
        </p:spPr>
      </p:sp>
      <p:sp>
        <p:nvSpPr>
          <p:cNvPr id="33" name="Text 31"/>
          <p:cNvSpPr/>
          <p:nvPr/>
        </p:nvSpPr>
        <p:spPr>
          <a:xfrm>
            <a:off x="594360" y="4443984"/>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Apply criteria to evidence</a:t>
            </a:r>
            <a:endParaRPr lang="en-US" sz="1500" dirty="0"/>
          </a:p>
        </p:txBody>
      </p:sp>
      <p:sp>
        <p:nvSpPr>
          <p:cNvPr id="34" name="Shape 32"/>
          <p:cNvSpPr/>
          <p:nvPr/>
        </p:nvSpPr>
        <p:spPr>
          <a:xfrm>
            <a:off x="3703320" y="4443984"/>
            <a:ext cx="4206240" cy="841248"/>
          </a:xfrm>
          <a:prstGeom prst="rect">
            <a:avLst/>
          </a:prstGeom>
          <a:solidFill>
            <a:srgbClr val="F4F6FB"/>
          </a:solidFill>
          <a:ln w="12700">
            <a:solidFill>
              <a:srgbClr val="D8DDE6"/>
            </a:solidFill>
            <a:prstDash val="solid"/>
          </a:ln>
        </p:spPr>
      </p:sp>
      <p:sp>
        <p:nvSpPr>
          <p:cNvPr id="35" name="Text 33"/>
          <p:cNvSpPr/>
          <p:nvPr/>
        </p:nvSpPr>
        <p:spPr>
          <a:xfrm>
            <a:off x="3794760" y="4443984"/>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Your judgements differ across the four practices</a:t>
            </a:r>
            <a:endParaRPr lang="en-US" sz="1500" dirty="0"/>
          </a:p>
        </p:txBody>
      </p:sp>
      <p:sp>
        <p:nvSpPr>
          <p:cNvPr id="36" name="Shape 34"/>
          <p:cNvSpPr/>
          <p:nvPr/>
        </p:nvSpPr>
        <p:spPr>
          <a:xfrm>
            <a:off x="7909560" y="4443984"/>
            <a:ext cx="3749040" cy="841248"/>
          </a:xfrm>
          <a:prstGeom prst="rect">
            <a:avLst/>
          </a:prstGeom>
          <a:solidFill>
            <a:srgbClr val="F4F6FB"/>
          </a:solidFill>
          <a:ln w="12700">
            <a:solidFill>
              <a:srgbClr val="D8DDE6"/>
            </a:solidFill>
            <a:prstDash val="solid"/>
          </a:ln>
        </p:spPr>
      </p:sp>
      <p:sp>
        <p:nvSpPr>
          <p:cNvPr id="37" name="Text 35"/>
          <p:cNvSpPr/>
          <p:nvPr/>
        </p:nvSpPr>
        <p:spPr>
          <a:xfrm>
            <a:off x="8001000" y="4443984"/>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If everything scored the same, reread what the evidence omits</a:t>
            </a:r>
            <a:endParaRPr lang="en-US" sz="1500" dirty="0"/>
          </a:p>
        </p:txBody>
      </p:sp>
      <p:sp>
        <p:nvSpPr>
          <p:cNvPr id="38" name="Shape 36"/>
          <p:cNvSpPr/>
          <p:nvPr/>
        </p:nvSpPr>
        <p:spPr>
          <a:xfrm>
            <a:off x="502920" y="5285232"/>
            <a:ext cx="3200400" cy="841248"/>
          </a:xfrm>
          <a:prstGeom prst="rect">
            <a:avLst/>
          </a:prstGeom>
          <a:solidFill>
            <a:srgbClr val="FFFFFF"/>
          </a:solidFill>
          <a:ln w="12700">
            <a:solidFill>
              <a:srgbClr val="D8DDE6"/>
            </a:solidFill>
            <a:prstDash val="solid"/>
          </a:ln>
        </p:spPr>
      </p:sp>
      <p:sp>
        <p:nvSpPr>
          <p:cNvPr id="39" name="Text 37"/>
          <p:cNvSpPr/>
          <p:nvPr/>
        </p:nvSpPr>
        <p:spPr>
          <a:xfrm>
            <a:off x="594360" y="5285232"/>
            <a:ext cx="3017520" cy="841248"/>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Write recommendations</a:t>
            </a:r>
            <a:endParaRPr lang="en-US" sz="1500" dirty="0"/>
          </a:p>
        </p:txBody>
      </p:sp>
      <p:sp>
        <p:nvSpPr>
          <p:cNvPr id="40" name="Shape 38"/>
          <p:cNvSpPr/>
          <p:nvPr/>
        </p:nvSpPr>
        <p:spPr>
          <a:xfrm>
            <a:off x="3703320" y="5285232"/>
            <a:ext cx="4206240" cy="841248"/>
          </a:xfrm>
          <a:prstGeom prst="rect">
            <a:avLst/>
          </a:prstGeom>
          <a:solidFill>
            <a:srgbClr val="FFFFFF"/>
          </a:solidFill>
          <a:ln w="12700">
            <a:solidFill>
              <a:srgbClr val="D8DDE6"/>
            </a:solidFill>
            <a:prstDash val="solid"/>
          </a:ln>
        </p:spPr>
      </p:sp>
      <p:sp>
        <p:nvSpPr>
          <p:cNvPr id="41" name="Text 39"/>
          <p:cNvSpPr/>
          <p:nvPr/>
        </p:nvSpPr>
        <p:spPr>
          <a:xfrm>
            <a:off x="3794760" y="5285232"/>
            <a:ext cx="40233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Each one names the finding it responds to</a:t>
            </a:r>
            <a:endParaRPr lang="en-US" sz="1500" dirty="0"/>
          </a:p>
        </p:txBody>
      </p:sp>
      <p:sp>
        <p:nvSpPr>
          <p:cNvPr id="42" name="Shape 40"/>
          <p:cNvSpPr/>
          <p:nvPr/>
        </p:nvSpPr>
        <p:spPr>
          <a:xfrm>
            <a:off x="7909560" y="5285232"/>
            <a:ext cx="3749040" cy="841248"/>
          </a:xfrm>
          <a:prstGeom prst="rect">
            <a:avLst/>
          </a:prstGeom>
          <a:solidFill>
            <a:srgbClr val="FFFFFF"/>
          </a:solidFill>
          <a:ln w="12700">
            <a:solidFill>
              <a:srgbClr val="D8DDE6"/>
            </a:solidFill>
            <a:prstDash val="solid"/>
          </a:ln>
        </p:spPr>
      </p:sp>
      <p:sp>
        <p:nvSpPr>
          <p:cNvPr id="43" name="Text 41"/>
          <p:cNvSpPr/>
          <p:nvPr/>
        </p:nvSpPr>
        <p:spPr>
          <a:xfrm>
            <a:off x="8001000" y="5285232"/>
            <a:ext cx="356616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Start the sentence with 'Because the evidence showed…'</a:t>
            </a:r>
            <a:endParaRPr lang="en-US" sz="1500" dirty="0"/>
          </a:p>
        </p:txBody>
      </p:sp>
      <p:sp>
        <p:nvSpPr>
          <p:cNvPr id="44" name="Shape 42"/>
          <p:cNvSpPr/>
          <p:nvPr/>
        </p:nvSpPr>
        <p:spPr>
          <a:xfrm>
            <a:off x="502920" y="6172200"/>
            <a:ext cx="11155680" cy="502920"/>
          </a:xfrm>
          <a:prstGeom prst="roundRect">
            <a:avLst>
              <a:gd name="adj" fmla="val 16364"/>
            </a:avLst>
          </a:prstGeom>
          <a:solidFill>
            <a:srgbClr val="EEF2FF"/>
          </a:solidFill>
          <a:ln w="12700">
            <a:solidFill>
              <a:srgbClr val="4361EE"/>
            </a:solidFill>
            <a:prstDash val="solid"/>
          </a:ln>
        </p:spPr>
      </p:sp>
      <p:sp>
        <p:nvSpPr>
          <p:cNvPr id="45" name="Text 43"/>
          <p:cNvSpPr/>
          <p:nvPr/>
        </p:nvSpPr>
        <p:spPr>
          <a:xfrm>
            <a:off x="822960" y="6172200"/>
            <a:ext cx="10515600" cy="502920"/>
          </a:xfrm>
          <a:prstGeom prst="rect">
            <a:avLst/>
          </a:prstGeom>
          <a:noFill/>
          <a:ln/>
        </p:spPr>
        <p:txBody>
          <a:bodyPr wrap="square" lIns="0" tIns="0" rIns="0" bIns="0" rtlCol="0" anchor="ctr"/>
          <a:lstStyle/>
          <a:p>
            <a:pPr indent="0" marL="0">
              <a:buNone/>
            </a:pPr>
            <a:r>
              <a:rPr lang="en-US" sz="1600" dirty="0">
                <a:solidFill>
                  <a:srgbClr val="111827"/>
                </a:solidFill>
                <a:latin typeface="Calibri" pitchFamily="34" charset="0"/>
                <a:ea typeface="Calibri" pitchFamily="34" charset="-122"/>
                <a:cs typeface="Calibri" pitchFamily="34" charset="-120"/>
              </a:rPr>
              <a:t>Outcome 2 tracker: you can now attempt the evaluation and recommendation sections of the practice case study.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EF4444"/>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EXIT</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Exit ticket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Workbook Section 7 · 5 minutes · no notes</a:t>
            </a:r>
            <a:endParaRPr lang="en-US" sz="1500" dirty="0"/>
          </a:p>
        </p:txBody>
      </p:sp>
      <p:sp>
        <p:nvSpPr>
          <p:cNvPr id="8" name="Shape 6"/>
          <p:cNvSpPr/>
          <p:nvPr/>
        </p:nvSpPr>
        <p:spPr>
          <a:xfrm>
            <a:off x="502920" y="1417320"/>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9" name="Shape 7"/>
          <p:cNvSpPr/>
          <p:nvPr/>
        </p:nvSpPr>
        <p:spPr>
          <a:xfrm>
            <a:off x="731520" y="1691640"/>
            <a:ext cx="475488" cy="475488"/>
          </a:xfrm>
          <a:prstGeom prst="roundRect">
            <a:avLst>
              <a:gd name="adj" fmla="val 50000"/>
            </a:avLst>
          </a:prstGeom>
          <a:solidFill>
            <a:srgbClr val="EF4444"/>
          </a:solidFill>
          <a:ln/>
        </p:spPr>
      </p:sp>
      <p:sp>
        <p:nvSpPr>
          <p:cNvPr id="10" name="Text 8"/>
          <p:cNvSpPr/>
          <p:nvPr/>
        </p:nvSpPr>
        <p:spPr>
          <a:xfrm>
            <a:off x="731520" y="169164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417320" y="1417320"/>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Give two reasons an organisation writes down criteria for evaluating its security practices.</a:t>
            </a:r>
            <a:endParaRPr lang="en-US" sz="1800" dirty="0"/>
          </a:p>
        </p:txBody>
      </p:sp>
      <p:sp>
        <p:nvSpPr>
          <p:cNvPr id="12" name="Shape 10"/>
          <p:cNvSpPr/>
          <p:nvPr/>
        </p:nvSpPr>
        <p:spPr>
          <a:xfrm>
            <a:off x="502920" y="2551176"/>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3" name="Shape 11"/>
          <p:cNvSpPr/>
          <p:nvPr/>
        </p:nvSpPr>
        <p:spPr>
          <a:xfrm>
            <a:off x="731520" y="2825496"/>
            <a:ext cx="475488" cy="475488"/>
          </a:xfrm>
          <a:prstGeom prst="roundRect">
            <a:avLst>
              <a:gd name="adj" fmla="val 50000"/>
            </a:avLst>
          </a:prstGeom>
          <a:solidFill>
            <a:srgbClr val="EF4444"/>
          </a:solidFill>
          <a:ln/>
        </p:spPr>
      </p:sp>
      <p:sp>
        <p:nvSpPr>
          <p:cNvPr id="14" name="Text 12"/>
          <p:cNvSpPr/>
          <p:nvPr/>
        </p:nvSpPr>
        <p:spPr>
          <a:xfrm>
            <a:off x="731520" y="28254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5" name="Text 13"/>
          <p:cNvSpPr/>
          <p:nvPr/>
        </p:nvSpPr>
        <p:spPr>
          <a:xfrm>
            <a:off x="1417320" y="2551176"/>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Name the four parts of a criterion.</a:t>
            </a:r>
            <a:endParaRPr lang="en-US" sz="1800" dirty="0"/>
          </a:p>
        </p:txBody>
      </p:sp>
      <p:sp>
        <p:nvSpPr>
          <p:cNvPr id="16" name="Shape 14"/>
          <p:cNvSpPr/>
          <p:nvPr/>
        </p:nvSpPr>
        <p:spPr>
          <a:xfrm>
            <a:off x="502920" y="3685032"/>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17" name="Shape 15"/>
          <p:cNvSpPr/>
          <p:nvPr/>
        </p:nvSpPr>
        <p:spPr>
          <a:xfrm>
            <a:off x="731520" y="3959352"/>
            <a:ext cx="475488" cy="475488"/>
          </a:xfrm>
          <a:prstGeom prst="roundRect">
            <a:avLst>
              <a:gd name="adj" fmla="val 50000"/>
            </a:avLst>
          </a:prstGeom>
          <a:solidFill>
            <a:srgbClr val="EF4444"/>
          </a:solidFill>
          <a:ln/>
        </p:spPr>
      </p:sp>
      <p:sp>
        <p:nvSpPr>
          <p:cNvPr id="18" name="Text 16"/>
          <p:cNvSpPr/>
          <p:nvPr/>
        </p:nvSpPr>
        <p:spPr>
          <a:xfrm>
            <a:off x="731520" y="39593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9" name="Text 17"/>
          <p:cNvSpPr/>
          <p:nvPr/>
        </p:nvSpPr>
        <p:spPr>
          <a:xfrm>
            <a:off x="1417320" y="3685032"/>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"Encrypt all customer data." Is this a control or a criterion? Rewrite it as the other one.</a:t>
            </a:r>
            <a:endParaRPr lang="en-US" sz="1800" dirty="0"/>
          </a:p>
        </p:txBody>
      </p:sp>
      <p:sp>
        <p:nvSpPr>
          <p:cNvPr id="20" name="Shape 18"/>
          <p:cNvSpPr/>
          <p:nvPr/>
        </p:nvSpPr>
        <p:spPr>
          <a:xfrm>
            <a:off x="502920" y="4818888"/>
            <a:ext cx="11155680" cy="1024128"/>
          </a:xfrm>
          <a:prstGeom prst="roundRect">
            <a:avLst>
              <a:gd name="adj" fmla="val 8036"/>
            </a:avLst>
          </a:prstGeom>
          <a:solidFill>
            <a:srgbClr val="FFFFFF"/>
          </a:solidFill>
          <a:ln w="12700">
            <a:solidFill>
              <a:srgbClr val="EF4444"/>
            </a:solidFill>
            <a:prstDash val="solid"/>
          </a:ln>
          <a:effectLst>
            <a:outerShdw sx="100000" sy="100000" kx="0" ky="0" algn="bl" rotWithShape="0" blurRad="101600" dist="25400" dir="5400000">
              <a:srgbClr val="9AA3B2">
                <a:alpha val="18000"/>
              </a:srgbClr>
            </a:outerShdw>
          </a:effectLst>
        </p:spPr>
      </p:sp>
      <p:sp>
        <p:nvSpPr>
          <p:cNvPr id="21" name="Shape 19"/>
          <p:cNvSpPr/>
          <p:nvPr/>
        </p:nvSpPr>
        <p:spPr>
          <a:xfrm>
            <a:off x="731520" y="5093208"/>
            <a:ext cx="475488" cy="475488"/>
          </a:xfrm>
          <a:prstGeom prst="roundRect">
            <a:avLst>
              <a:gd name="adj" fmla="val 50000"/>
            </a:avLst>
          </a:prstGeom>
          <a:solidFill>
            <a:srgbClr val="EF4444"/>
          </a:solidFill>
          <a:ln/>
        </p:spPr>
      </p:sp>
      <p:sp>
        <p:nvSpPr>
          <p:cNvPr id="22" name="Text 20"/>
          <p:cNvSpPr/>
          <p:nvPr/>
        </p:nvSpPr>
        <p:spPr>
          <a:xfrm>
            <a:off x="731520" y="50932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3" name="Text 21"/>
          <p:cNvSpPr/>
          <p:nvPr/>
        </p:nvSpPr>
        <p:spPr>
          <a:xfrm>
            <a:off x="1417320" y="4818888"/>
            <a:ext cx="9966960" cy="1024128"/>
          </a:xfrm>
          <a:prstGeom prst="rect">
            <a:avLst/>
          </a:prstGeom>
          <a:noFill/>
          <a:ln/>
        </p:spPr>
        <p:txBody>
          <a:bodyPr wrap="square" lIns="0" tIns="0" rIns="0" bIns="0" rtlCol="0" anchor="ctr"/>
          <a:lstStyle/>
          <a:p>
            <a:pPr indent="0" marL="0">
              <a:buNone/>
            </a:pPr>
            <a:r>
              <a:rPr lang="en-US" sz="1800" dirty="0">
                <a:solidFill>
                  <a:srgbClr val="111827"/>
                </a:solidFill>
                <a:latin typeface="Calibri" pitchFamily="34" charset="0"/>
                <a:ea typeface="Calibri" pitchFamily="34" charset="-122"/>
                <a:cs typeface="Calibri" pitchFamily="34" charset="-120"/>
              </a:rPr>
              <a:t>An evaluation finds a criterion partially met. What must the recommendation include to be worth writing?</a:t>
            </a:r>
            <a:endParaRPr lang="en-US" sz="1800" dirty="0"/>
          </a:p>
        </p:txBody>
      </p:sp>
      <p:sp>
        <p:nvSpPr>
          <p:cNvPr id="24" name="Shape 22"/>
          <p:cNvSpPr/>
          <p:nvPr/>
        </p:nvSpPr>
        <p:spPr>
          <a:xfrm>
            <a:off x="502920" y="5989320"/>
            <a:ext cx="11155680" cy="621792"/>
          </a:xfrm>
          <a:prstGeom prst="roundRect">
            <a:avLst>
              <a:gd name="adj" fmla="val 13235"/>
            </a:avLst>
          </a:prstGeom>
          <a:solidFill>
            <a:srgbClr val="FEE2E2"/>
          </a:solidFill>
          <a:ln w="12700">
            <a:solidFill>
              <a:srgbClr val="EF4444"/>
            </a:solidFill>
            <a:prstDash val="solid"/>
          </a:ln>
        </p:spPr>
      </p:sp>
      <p:sp>
        <p:nvSpPr>
          <p:cNvPr id="25" name="Text 23"/>
          <p:cNvSpPr/>
          <p:nvPr/>
        </p:nvSpPr>
        <p:spPr>
          <a:xfrm>
            <a:off x="822960" y="5989320"/>
            <a:ext cx="10515600" cy="621792"/>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rate yourself against the success criteria and press Submit. Closed workbooks are not marked.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8B5CF6"/>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NEXT STEPS</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Next steps</a:t>
            </a:r>
            <a:endParaRPr lang="en-US" sz="3000" dirty="0"/>
          </a:p>
        </p:txBody>
      </p:sp>
      <p:sp>
        <p:nvSpPr>
          <p:cNvPr id="7" name="Shape 5"/>
          <p:cNvSpPr/>
          <p:nvPr/>
        </p:nvSpPr>
        <p:spPr>
          <a:xfrm>
            <a:off x="502920" y="1280160"/>
            <a:ext cx="5486400" cy="2377440"/>
          </a:xfrm>
          <a:prstGeom prst="roundRect">
            <a:avLst>
              <a:gd name="adj" fmla="val 3462"/>
            </a:avLst>
          </a:prstGeom>
          <a:solidFill>
            <a:srgbClr val="FFFFFF"/>
          </a:solidFill>
          <a:ln w="12700">
            <a:solidFill>
              <a:srgbClr val="8B5CF6"/>
            </a:solidFill>
            <a:prstDash val="solid"/>
          </a:ln>
          <a:effectLst>
            <a:outerShdw sx="100000" sy="100000" kx="0" ky="0" algn="bl" rotWithShape="0" blurRad="101600" dist="25400" dir="5400000">
              <a:srgbClr val="9AA3B2">
                <a:alpha val="18000"/>
              </a:srgbClr>
            </a:outerShdw>
          </a:effectLst>
        </p:spPr>
      </p:sp>
      <p:sp>
        <p:nvSpPr>
          <p:cNvPr id="8" name="Text 6"/>
          <p:cNvSpPr/>
          <p:nvPr/>
        </p:nvSpPr>
        <p:spPr>
          <a:xfrm>
            <a:off x="731520" y="1463040"/>
            <a:ext cx="5029200" cy="41148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Next lesson — L7</a:t>
            </a:r>
            <a:endParaRPr lang="en-US" sz="1300" dirty="0"/>
          </a:p>
        </p:txBody>
      </p:sp>
      <p:sp>
        <p:nvSpPr>
          <p:cNvPr id="9" name="Text 7"/>
          <p:cNvSpPr/>
          <p:nvPr/>
        </p:nvSpPr>
        <p:spPr>
          <a:xfrm>
            <a:off x="731520" y="1874520"/>
            <a:ext cx="5029200" cy="822960"/>
          </a:xfrm>
          <a:prstGeom prst="rect">
            <a:avLst/>
          </a:prstGeom>
          <a:noFill/>
          <a:ln/>
        </p:spPr>
        <p:txBody>
          <a:bodyPr wrap="square" lIns="0" tIns="0" rIns="0" bIns="0" rtlCol="0" anchor="t"/>
          <a:lstStyle/>
          <a:p>
            <a:pPr indent="0" marL="0">
              <a:buNone/>
            </a:pPr>
            <a:r>
              <a:rPr lang="en-US" sz="2300" b="1" dirty="0">
                <a:solidFill>
                  <a:srgbClr val="111827"/>
                </a:solidFill>
                <a:latin typeface="Bookman Old Style" pitchFamily="34" charset="0"/>
                <a:ea typeface="Bookman Old Style" pitchFamily="34" charset="-122"/>
                <a:cs typeface="Bookman Old Style" pitchFamily="34" charset="-120"/>
              </a:rPr>
              <a:t>Legislation and industry frameworks</a:t>
            </a:r>
            <a:endParaRPr lang="en-US" sz="2300" dirty="0"/>
          </a:p>
        </p:txBody>
      </p:sp>
      <p:sp>
        <p:nvSpPr>
          <p:cNvPr id="10" name="Text 8"/>
          <p:cNvSpPr/>
          <p:nvPr/>
        </p:nvSpPr>
        <p:spPr>
          <a:xfrm>
            <a:off x="731520" y="2697480"/>
            <a:ext cx="5029200" cy="91440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The Privacy Act, the Privacy and Data Protection Act, the Copyright Act, the Essential Eight and the Information Security Manual — and where your criteria come from.</a:t>
            </a:r>
            <a:endParaRPr lang="en-US" sz="1600" dirty="0"/>
          </a:p>
        </p:txBody>
      </p:sp>
      <p:sp>
        <p:nvSpPr>
          <p:cNvPr id="11" name="Shape 9"/>
          <p:cNvSpPr/>
          <p:nvPr/>
        </p:nvSpPr>
        <p:spPr>
          <a:xfrm>
            <a:off x="6172200" y="1280160"/>
            <a:ext cx="5486400" cy="2377440"/>
          </a:xfrm>
          <a:prstGeom prst="roundRect">
            <a:avLst>
              <a:gd name="adj" fmla="val 3462"/>
            </a:avLst>
          </a:prstGeom>
          <a:solidFill>
            <a:srgbClr val="FFFF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2" name="Text 10"/>
          <p:cNvSpPr/>
          <p:nvPr/>
        </p:nvSpPr>
        <p:spPr>
          <a:xfrm>
            <a:off x="6400800" y="1463040"/>
            <a:ext cx="5029200" cy="411480"/>
          </a:xfrm>
          <a:prstGeom prst="rect">
            <a:avLst/>
          </a:prstGeom>
          <a:noFill/>
          <a:ln/>
        </p:spPr>
        <p:txBody>
          <a:bodyPr wrap="square" lIns="0" tIns="0" rIns="0" bIns="0" rtlCol="0" anchor="ctr"/>
          <a:lstStyle/>
          <a:p>
            <a:pPr indent="0" marL="0">
              <a:buNone/>
            </a:pPr>
            <a:r>
              <a:rPr lang="en-US" sz="1300" b="1" dirty="0">
                <a:solidFill>
                  <a:srgbClr val="4361EE"/>
                </a:solidFill>
                <a:latin typeface="Courier New" pitchFamily="34" charset="0"/>
                <a:ea typeface="Courier New" pitchFamily="34" charset="-122"/>
                <a:cs typeface="Courier New" pitchFamily="34" charset="-120"/>
              </a:rPr>
              <a:t>Homework</a:t>
            </a:r>
            <a:endParaRPr lang="en-US" sz="1300" dirty="0"/>
          </a:p>
        </p:txBody>
      </p:sp>
      <p:sp>
        <p:nvSpPr>
          <p:cNvPr id="13" name="Text 11"/>
          <p:cNvSpPr/>
          <p:nvPr/>
        </p:nvSpPr>
        <p:spPr>
          <a:xfrm>
            <a:off x="6446520" y="1920240"/>
            <a:ext cx="502920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Finish any unfinished workbook sections and submit</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Nelson Software Development 2E, Chapter 7 — read the evaluating security practices section and Table 7.7</a:t>
            </a:r>
            <a:endParaRPr lang="en-US" sz="1600" dirty="0"/>
          </a:p>
          <a:p>
            <a:pPr marL="342900" indent="-342900">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Write one extra criterion for a practice not covered in class</a:t>
            </a:r>
            <a:endParaRPr lang="en-US" sz="1600" dirty="0"/>
          </a:p>
        </p:txBody>
      </p:sp>
      <p:sp>
        <p:nvSpPr>
          <p:cNvPr id="14" name="Shape 12"/>
          <p:cNvSpPr/>
          <p:nvPr/>
        </p:nvSpPr>
        <p:spPr>
          <a:xfrm>
            <a:off x="502920" y="3840480"/>
            <a:ext cx="11155680" cy="1463040"/>
          </a:xfrm>
          <a:prstGeom prst="roundRect">
            <a:avLst>
              <a:gd name="adj" fmla="val 5625"/>
            </a:avLst>
          </a:prstGeom>
          <a:solidFill>
            <a:srgbClr val="EEF2FF"/>
          </a:solidFill>
          <a:ln w="12700">
            <a:solidFill>
              <a:srgbClr val="4361EE"/>
            </a:solidFill>
            <a:prstDash val="solid"/>
          </a:ln>
          <a:effectLst>
            <a:outerShdw sx="100000" sy="100000" kx="0" ky="0" algn="bl" rotWithShape="0" blurRad="101600" dist="25400" dir="5400000">
              <a:srgbClr val="9AA3B2">
                <a:alpha val="18000"/>
              </a:srgbClr>
            </a:outerShdw>
          </a:effectLst>
        </p:spPr>
      </p:sp>
      <p:sp>
        <p:nvSpPr>
          <p:cNvPr id="15" name="Text 13"/>
          <p:cNvSpPr/>
          <p:nvPr/>
        </p:nvSpPr>
        <p:spPr>
          <a:xfrm>
            <a:off x="822960" y="3977640"/>
            <a:ext cx="10515600" cy="384048"/>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Outcome 2 assessment — where you should be</a:t>
            </a:r>
            <a:endParaRPr lang="en-US" sz="2000" dirty="0"/>
          </a:p>
        </p:txBody>
      </p:sp>
      <p:sp>
        <p:nvSpPr>
          <p:cNvPr id="16" name="Shape 14"/>
          <p:cNvSpPr/>
          <p:nvPr/>
        </p:nvSpPr>
        <p:spPr>
          <a:xfrm>
            <a:off x="822960" y="4480560"/>
            <a:ext cx="2103120" cy="640080"/>
          </a:xfrm>
          <a:prstGeom prst="roundRect">
            <a:avLst>
              <a:gd name="adj" fmla="val 12857"/>
            </a:avLst>
          </a:prstGeom>
          <a:solidFill>
            <a:srgbClr val="D1FAE5"/>
          </a:solidFill>
          <a:ln w="12700">
            <a:solidFill>
              <a:srgbClr val="10B981"/>
            </a:solidFill>
            <a:prstDash val="solid"/>
          </a:ln>
        </p:spPr>
      </p:sp>
      <p:sp>
        <p:nvSpPr>
          <p:cNvPr id="17" name="Text 15"/>
          <p:cNvSpPr/>
          <p:nvPr/>
        </p:nvSpPr>
        <p:spPr>
          <a:xfrm>
            <a:off x="896112"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Organisation described</a:t>
            </a:r>
            <a:endParaRPr lang="en-US" sz="1300" dirty="0"/>
          </a:p>
        </p:txBody>
      </p:sp>
      <p:sp>
        <p:nvSpPr>
          <p:cNvPr id="18" name="Shape 16"/>
          <p:cNvSpPr/>
          <p:nvPr/>
        </p:nvSpPr>
        <p:spPr>
          <a:xfrm>
            <a:off x="2999232" y="4480560"/>
            <a:ext cx="2103120" cy="640080"/>
          </a:xfrm>
          <a:prstGeom prst="roundRect">
            <a:avLst>
              <a:gd name="adj" fmla="val 12857"/>
            </a:avLst>
          </a:prstGeom>
          <a:solidFill>
            <a:srgbClr val="D1FAE5"/>
          </a:solidFill>
          <a:ln w="12700">
            <a:solidFill>
              <a:srgbClr val="10B981"/>
            </a:solidFill>
            <a:prstDash val="solid"/>
          </a:ln>
        </p:spPr>
      </p:sp>
      <p:sp>
        <p:nvSpPr>
          <p:cNvPr id="19" name="Text 17"/>
          <p:cNvSpPr/>
          <p:nvPr/>
        </p:nvSpPr>
        <p:spPr>
          <a:xfrm>
            <a:off x="3072384"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Practices analysed</a:t>
            </a:r>
            <a:endParaRPr lang="en-US" sz="1300" dirty="0"/>
          </a:p>
        </p:txBody>
      </p:sp>
      <p:sp>
        <p:nvSpPr>
          <p:cNvPr id="20" name="Shape 18"/>
          <p:cNvSpPr/>
          <p:nvPr/>
        </p:nvSpPr>
        <p:spPr>
          <a:xfrm>
            <a:off x="5175504" y="4480560"/>
            <a:ext cx="2103120" cy="640080"/>
          </a:xfrm>
          <a:prstGeom prst="roundRect">
            <a:avLst>
              <a:gd name="adj" fmla="val 12857"/>
            </a:avLst>
          </a:prstGeom>
          <a:solidFill>
            <a:srgbClr val="D1FAE5"/>
          </a:solidFill>
          <a:ln w="12700">
            <a:solidFill>
              <a:srgbClr val="10B981"/>
            </a:solidFill>
            <a:prstDash val="solid"/>
          </a:ln>
        </p:spPr>
      </p:sp>
      <p:sp>
        <p:nvSpPr>
          <p:cNvPr id="21" name="Text 19"/>
          <p:cNvSpPr/>
          <p:nvPr/>
        </p:nvSpPr>
        <p:spPr>
          <a:xfrm>
            <a:off x="5248656"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Threats identified &amp; rated</a:t>
            </a:r>
            <a:endParaRPr lang="en-US" sz="1300" dirty="0"/>
          </a:p>
        </p:txBody>
      </p:sp>
      <p:sp>
        <p:nvSpPr>
          <p:cNvPr id="22" name="Shape 20"/>
          <p:cNvSpPr/>
          <p:nvPr/>
        </p:nvSpPr>
        <p:spPr>
          <a:xfrm>
            <a:off x="7351776" y="4480560"/>
            <a:ext cx="2103120" cy="640080"/>
          </a:xfrm>
          <a:prstGeom prst="roundRect">
            <a:avLst>
              <a:gd name="adj" fmla="val 12857"/>
            </a:avLst>
          </a:prstGeom>
          <a:solidFill>
            <a:srgbClr val="D1FAE5"/>
          </a:solidFill>
          <a:ln w="12700">
            <a:solidFill>
              <a:srgbClr val="10B981"/>
            </a:solidFill>
            <a:prstDash val="solid"/>
          </a:ln>
        </p:spPr>
      </p:sp>
      <p:sp>
        <p:nvSpPr>
          <p:cNvPr id="23" name="Text 21"/>
          <p:cNvSpPr/>
          <p:nvPr/>
        </p:nvSpPr>
        <p:spPr>
          <a:xfrm>
            <a:off x="7424928" y="4480560"/>
            <a:ext cx="1956816" cy="640080"/>
          </a:xfrm>
          <a:prstGeom prst="rect">
            <a:avLst/>
          </a:prstGeom>
          <a:noFill/>
          <a:ln/>
        </p:spPr>
        <p:txBody>
          <a:bodyPr wrap="square" lIns="0" tIns="0" rIns="0" bIns="0" rtlCol="0" anchor="ctr"/>
          <a:lstStyle/>
          <a:p>
            <a:pPr algn="ctr" indent="0" marL="0">
              <a:buNone/>
            </a:pPr>
            <a:r>
              <a:rPr lang="en-US" sz="1300" b="1" dirty="0">
                <a:solidFill>
                  <a:srgbClr val="065F46"/>
                </a:solidFill>
                <a:latin typeface="Calibri" pitchFamily="34" charset="0"/>
                <a:ea typeface="Calibri" pitchFamily="34" charset="-122"/>
                <a:cs typeface="Calibri" pitchFamily="34" charset="-120"/>
              </a:rPr>
              <a:t>✓  Criteria applied</a:t>
            </a:r>
            <a:endParaRPr lang="en-US" sz="1300" dirty="0"/>
          </a:p>
        </p:txBody>
      </p:sp>
      <p:sp>
        <p:nvSpPr>
          <p:cNvPr id="24" name="Shape 22"/>
          <p:cNvSpPr/>
          <p:nvPr/>
        </p:nvSpPr>
        <p:spPr>
          <a:xfrm>
            <a:off x="9528048" y="4480560"/>
            <a:ext cx="2103120" cy="640080"/>
          </a:xfrm>
          <a:prstGeom prst="roundRect">
            <a:avLst>
              <a:gd name="adj" fmla="val 12857"/>
            </a:avLst>
          </a:prstGeom>
          <a:solidFill>
            <a:srgbClr val="FFFFFF"/>
          </a:solidFill>
          <a:ln w="12700">
            <a:solidFill>
              <a:srgbClr val="D8DDE6"/>
            </a:solidFill>
            <a:prstDash val="solid"/>
          </a:ln>
        </p:spPr>
      </p:sp>
      <p:sp>
        <p:nvSpPr>
          <p:cNvPr id="25" name="Text 23"/>
          <p:cNvSpPr/>
          <p:nvPr/>
        </p:nvSpPr>
        <p:spPr>
          <a:xfrm>
            <a:off x="9601200" y="4480560"/>
            <a:ext cx="1956816" cy="640080"/>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Recommendations written</a:t>
            </a:r>
            <a:endParaRPr lang="en-US" sz="1300" dirty="0"/>
          </a:p>
        </p:txBody>
      </p:sp>
      <p:sp>
        <p:nvSpPr>
          <p:cNvPr id="26" name="Shape 24"/>
          <p:cNvSpPr/>
          <p:nvPr/>
        </p:nvSpPr>
        <p:spPr>
          <a:xfrm>
            <a:off x="502920" y="5486400"/>
            <a:ext cx="11155680" cy="914400"/>
          </a:xfrm>
          <a:prstGeom prst="roundRect">
            <a:avLst>
              <a:gd name="adj" fmla="val 9000"/>
            </a:avLst>
          </a:prstGeom>
          <a:solidFill>
            <a:srgbClr val="FFFFFF"/>
          </a:solidFill>
          <a:ln w="12700">
            <a:solidFill>
              <a:srgbClr val="D8DDE6"/>
            </a:solidFill>
            <a:prstDash val="solid"/>
          </a:ln>
        </p:spPr>
      </p:sp>
      <p:sp>
        <p:nvSpPr>
          <p:cNvPr id="27" name="Text 25"/>
          <p:cNvSpPr/>
          <p:nvPr/>
        </p:nvSpPr>
        <p:spPr>
          <a:xfrm>
            <a:off x="822960" y="5486400"/>
            <a:ext cx="10515600" cy="914400"/>
          </a:xfrm>
          <a:prstGeom prst="rect">
            <a:avLst/>
          </a:prstGeom>
          <a:noFill/>
          <a:ln/>
        </p:spPr>
        <p:txBody>
          <a:bodyPr wrap="square" lIns="0" tIns="0" rIns="0" bIns="0" rtlCol="0" anchor="ctr"/>
          <a:lstStyle/>
          <a:p>
            <a:pPr indent="0" marL="0">
              <a:buNone/>
            </a:pPr>
            <a:r>
              <a:rPr lang="en-US" sz="1700" dirty="0">
                <a:solidFill>
                  <a:srgbClr val="111827"/>
                </a:solidFill>
                <a:latin typeface="Calibri" pitchFamily="34" charset="0"/>
                <a:ea typeface="Calibri" pitchFamily="34" charset="-122"/>
                <a:cs typeface="Calibri" pitchFamily="34" charset="-120"/>
              </a:rPr>
              <a:t>Need help? Unit site Lesson 6 has the full criteria bank and the worked judgement. Bring specific questions to the start of next lesson, or email before Friday.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L6 — Evaluating Security Practices</dc:title>
  <dc:subject>PptxGenJS Presentation</dc:subject>
  <dc:creator>Mr Smith</dc:creator>
  <cp:lastModifiedBy>Mr Smith</cp:lastModifiedBy>
  <cp:revision>1</cp:revision>
  <dcterms:created xsi:type="dcterms:W3CDTF">2026-08-11T22:41:34Z</dcterms:created>
  <dcterms:modified xsi:type="dcterms:W3CDTF">2026-08-11T22:41:34Z</dcterms:modified>
</cp:coreProperties>
</file>