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Confirm with students this is a checkpoint / formative lesson — not graded like the SAT, but it will show you (and them) where the gaps are before the unit assessment. Fill in class/date on the board or projector before students arrive. Timing: this deck assumes a ~55 minute single period; adjust pacing notes if your period is longer or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scenario aloud, pause for thumbs up/down, then reveal. Answers: 1) Attack — phishing. 2) Not an attack (though pause here — ask 'how would you tell a real update from a fake one?' to seed later discussion on spoofing). 3) Attack — scam/malicious pop-up. 4) Attack — tailgating, a social engineering / physical security technique; many students miss this one, it's a good discussion point. 5) Not an attack — this is a control working correctly. Keep this brisk, 4-5 minutes — the goal is activating prior knowledge, not re-teaching.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 aloud in plain language: 'today we're not learning anything new — we're testing whether you can use what you already know.' Point out the three tiers now so students know what 'good' looks like before they start the task. Students are not expected to write this slide into their workbook (there's no COPY flag) — success criteria are echoed in the workbook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recap of content already taught, not new teaching — move briskly (aim for under 3 minutes on this slide). Students copy this table into Workbook Section 1 (flagged with the COPY icon). Full definitions and extra examples are on the unit reference site if anyone needs a refresher before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recap — copy into Workbook Section 1 alongside the threat table. The closing line about layered defence is worth saying aloud; it's the concept Extending-tier students will need for the trade-off evaluation in the main task. Full notes are on the unit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worked example — don't over-teach it, it exists to model the four-question structure students will reuse independently. Think aloud genuinely: pause after step 1 and ask 'what do we still not know yet?' before moving to step 2. This scenario deliberately differs from every scenario in the workbook task, so students can't just copy it.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Devices on from here. Set a visible timer. Roaming and targeted questioning during this stage is your main formative-assessment data point — note which students default to 🟢 vs attempt 🟡/🟣, and who can justify (not just name) a control. This feeds the Responsive Teaching discussion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scenario difficulty is about ambiguity and number of factors, not length. A student capable of D/E work but low on confidence can still start at A to warm up — encourage attempting an extra tier rather than stopping at one. Full scenario text lives only in the workbook, deliberately, so this slide stays a menu/overview.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Stand-and-stretch moment roughly midway through the task, ~1-2 minutes. Answers: FIREWALL, PHISHING, RANSOMWARE. Keep it light — this is a reset, not another assessment item. Skip it if the class is in flow and doesn't need it; use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rather than hands-up to surface real spread of understanding, especially for Q2 (disagreement) — that's where misconceptions usually hide. The matching grid is shown here already paired for teacher reference during discussion; the workbook version for students is shuffled and unpaired so they complete it themselves as a formative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is submitted through the workbook (Submit button triggers autosave + progress sync). Give a firm 5-minute warning before this — students often rush it if it's sprung on them. Q3 (open question) is the most useful data for planning next lesson's starter; skim these before the next lesson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 'next lesson' and the assessment checklist items to match your actual scheduled sequence and SAT/assessment structure — these are placeholders since this lesson was generated standalone as a checkpoint. If students struggled broadly today, consider inserting a short reteach lesson before moving on to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31720"/>
          </a:xfrm>
          <a:prstGeom prst="rect">
            <a:avLst/>
          </a:prstGeom>
          <a:solidFill>
            <a:srgbClr val="16192B"/>
          </a:solidFill>
          <a:ln/>
        </p:spPr>
      </p:sp>
      <p:sp>
        <p:nvSpPr>
          <p:cNvPr id="3" name="Text 1"/>
          <p:cNvSpPr/>
          <p:nvPr/>
        </p:nvSpPr>
        <p:spPr>
          <a:xfrm>
            <a:off x="548640" y="502920"/>
            <a:ext cx="10058400" cy="365760"/>
          </a:xfrm>
          <a:prstGeom prst="rect">
            <a:avLst/>
          </a:prstGeom>
          <a:noFill/>
          <a:ln/>
        </p:spPr>
        <p:txBody>
          <a:bodyPr wrap="square" lIns="0" tIns="0" rIns="0" bIns="0" rtlCol="0" anchor="ctr"/>
          <a:lstStyle/>
          <a:p>
            <a:pPr indent="0" marL="0">
              <a:buNone/>
            </a:pPr>
            <a:r>
              <a:rPr lang="en-US" sz="1300" b="1" spc="200" kern="0" dirty="0">
                <a:solidFill>
                  <a:srgbClr val="9AA6FF"/>
                </a:solidFill>
                <a:latin typeface="Calibri" pitchFamily="34" charset="0"/>
                <a:ea typeface="Calibri" pitchFamily="34" charset="-122"/>
                <a:cs typeface="Calibri" pitchFamily="34" charset="-120"/>
              </a:rPr>
              <a:t>YEAR 12 · DIGITAL TECHNOLOGIES · CYBERSECURITY UNIT</a:t>
            </a:r>
            <a:endParaRPr lang="en-US" sz="1300" dirty="0"/>
          </a:p>
        </p:txBody>
      </p:sp>
      <p:sp>
        <p:nvSpPr>
          <p:cNvPr id="4" name="Text 2"/>
          <p:cNvSpPr/>
          <p:nvPr/>
        </p:nvSpPr>
        <p:spPr>
          <a:xfrm>
            <a:off x="548640" y="91440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Incident Response: You Be the Analyst</a:t>
            </a:r>
            <a:endParaRPr lang="en-US" sz="4000" dirty="0"/>
          </a:p>
        </p:txBody>
      </p:sp>
      <p:sp>
        <p:nvSpPr>
          <p:cNvPr id="5" name="Text 3"/>
          <p:cNvSpPr/>
          <p:nvPr/>
        </p:nvSpPr>
        <p:spPr>
          <a:xfrm>
            <a:off x="548640" y="1783080"/>
            <a:ext cx="10058400" cy="457200"/>
          </a:xfrm>
          <a:prstGeom prst="rect">
            <a:avLst/>
          </a:prstGeom>
          <a:noFill/>
          <a:ln/>
        </p:spPr>
        <p:txBody>
          <a:bodyPr wrap="square" lIns="0" tIns="0" rIns="0" bIns="0" rtlCol="0" anchor="ctr"/>
          <a:lstStyle/>
          <a:p>
            <a:pPr indent="0" marL="0">
              <a:buNone/>
            </a:pPr>
            <a:r>
              <a:rPr lang="en-US" sz="1600" i="1" dirty="0">
                <a:solidFill>
                  <a:srgbClr val="C7CCE8"/>
                </a:solidFill>
                <a:latin typeface="Calibri" pitchFamily="34" charset="0"/>
                <a:ea typeface="Calibri" pitchFamily="34" charset="-122"/>
                <a:cs typeface="Calibri" pitchFamily="34" charset="-120"/>
              </a:rPr>
              <a:t>A checkpoint lesson applying what you know about threats and defences</a:t>
            </a:r>
            <a:endParaRPr lang="en-US" sz="1600" dirty="0"/>
          </a:p>
        </p:txBody>
      </p:sp>
      <p:sp>
        <p:nvSpPr>
          <p:cNvPr id="6" name="Text 4"/>
          <p:cNvSpPr/>
          <p:nvPr/>
        </p:nvSpPr>
        <p:spPr>
          <a:xfrm>
            <a:off x="548640" y="2880360"/>
            <a:ext cx="493776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CLASS</a:t>
            </a:r>
            <a:endParaRPr lang="en-US" sz="1100" dirty="0"/>
          </a:p>
        </p:txBody>
      </p:sp>
      <p:sp>
        <p:nvSpPr>
          <p:cNvPr id="7" name="Text 5"/>
          <p:cNvSpPr/>
          <p:nvPr/>
        </p:nvSpPr>
        <p:spPr>
          <a:xfrm>
            <a:off x="548640" y="3154680"/>
            <a:ext cx="4937760" cy="411480"/>
          </a:xfrm>
          <a:prstGeom prst="rect">
            <a:avLst/>
          </a:prstGeom>
          <a:noFill/>
          <a:ln/>
        </p:spPr>
        <p:txBody>
          <a:bodyPr wrap="square" lIns="0" tIns="0" rIns="0" bIns="0" rtlCol="0" anchor="ctr"/>
          <a:lstStyle/>
          <a:p>
            <a:pPr indent="0" marL="0">
              <a:buNone/>
            </a:pPr>
            <a:r>
              <a:rPr lang="en-US" sz="1800" dirty="0">
                <a:solidFill>
                  <a:srgbClr val="16192B"/>
                </a:solidFill>
                <a:latin typeface="Calibri" pitchFamily="34" charset="0"/>
                <a:ea typeface="Calibri" pitchFamily="34" charset="-122"/>
                <a:cs typeface="Calibri" pitchFamily="34" charset="-120"/>
              </a:rPr>
              <a:t>________________________</a:t>
            </a:r>
            <a:endParaRPr lang="en-US" sz="1800" dirty="0"/>
          </a:p>
        </p:txBody>
      </p:sp>
      <p:sp>
        <p:nvSpPr>
          <p:cNvPr id="8" name="Text 6"/>
          <p:cNvSpPr/>
          <p:nvPr/>
        </p:nvSpPr>
        <p:spPr>
          <a:xfrm>
            <a:off x="5943600" y="2880360"/>
            <a:ext cx="493776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DATE</a:t>
            </a:r>
            <a:endParaRPr lang="en-US" sz="1100" dirty="0"/>
          </a:p>
        </p:txBody>
      </p:sp>
      <p:sp>
        <p:nvSpPr>
          <p:cNvPr id="9" name="Text 7"/>
          <p:cNvSpPr/>
          <p:nvPr/>
        </p:nvSpPr>
        <p:spPr>
          <a:xfrm>
            <a:off x="5943600" y="3154680"/>
            <a:ext cx="4937760" cy="411480"/>
          </a:xfrm>
          <a:prstGeom prst="rect">
            <a:avLst/>
          </a:prstGeom>
          <a:noFill/>
          <a:ln/>
        </p:spPr>
        <p:txBody>
          <a:bodyPr wrap="square" lIns="0" tIns="0" rIns="0" bIns="0" rtlCol="0" anchor="ctr"/>
          <a:lstStyle/>
          <a:p>
            <a:pPr indent="0" marL="0">
              <a:buNone/>
            </a:pPr>
            <a:r>
              <a:rPr lang="en-US" sz="1800" dirty="0">
                <a:solidFill>
                  <a:srgbClr val="16192B"/>
                </a:solidFill>
                <a:latin typeface="Calibri" pitchFamily="34" charset="0"/>
                <a:ea typeface="Calibri" pitchFamily="34" charset="-122"/>
                <a:cs typeface="Calibri" pitchFamily="34" charset="-120"/>
              </a:rPr>
              <a:t>YYYY-MM-DD</a:t>
            </a:r>
            <a:endParaRPr lang="en-US" sz="1800" dirty="0"/>
          </a:p>
        </p:txBody>
      </p:sp>
      <p:sp>
        <p:nvSpPr>
          <p:cNvPr id="10" name="Text 8"/>
          <p:cNvSpPr/>
          <p:nvPr/>
        </p:nvSpPr>
        <p:spPr>
          <a:xfrm>
            <a:off x="548640" y="3703320"/>
            <a:ext cx="493776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TEACHER</a:t>
            </a:r>
            <a:endParaRPr lang="en-US" sz="1100" dirty="0"/>
          </a:p>
        </p:txBody>
      </p:sp>
      <p:sp>
        <p:nvSpPr>
          <p:cNvPr id="11" name="Text 9"/>
          <p:cNvSpPr/>
          <p:nvPr/>
        </p:nvSpPr>
        <p:spPr>
          <a:xfrm>
            <a:off x="548640" y="3977640"/>
            <a:ext cx="4937760" cy="411480"/>
          </a:xfrm>
          <a:prstGeom prst="rect">
            <a:avLst/>
          </a:prstGeom>
          <a:noFill/>
          <a:ln/>
        </p:spPr>
        <p:txBody>
          <a:bodyPr wrap="square" lIns="0" tIns="0" rIns="0" bIns="0" rtlCol="0" anchor="ctr"/>
          <a:lstStyle/>
          <a:p>
            <a:pPr indent="0" marL="0">
              <a:buNone/>
            </a:pPr>
            <a:r>
              <a:rPr lang="en-US" sz="1800" dirty="0">
                <a:solidFill>
                  <a:srgbClr val="16192B"/>
                </a:solidFill>
                <a:latin typeface="Calibri" pitchFamily="34" charset="0"/>
                <a:ea typeface="Calibri" pitchFamily="34" charset="-122"/>
                <a:cs typeface="Calibri" pitchFamily="34" charset="-120"/>
              </a:rPr>
              <a:t>________________________</a:t>
            </a:r>
            <a:endParaRPr lang="en-US" sz="1800" dirty="0"/>
          </a:p>
        </p:txBody>
      </p:sp>
      <p:sp>
        <p:nvSpPr>
          <p:cNvPr id="12" name="Text 10"/>
          <p:cNvSpPr/>
          <p:nvPr/>
        </p:nvSpPr>
        <p:spPr>
          <a:xfrm>
            <a:off x="5943600" y="3703320"/>
            <a:ext cx="493776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DURATION</a:t>
            </a:r>
            <a:endParaRPr lang="en-US" sz="1100" dirty="0"/>
          </a:p>
        </p:txBody>
      </p:sp>
      <p:sp>
        <p:nvSpPr>
          <p:cNvPr id="13" name="Text 11"/>
          <p:cNvSpPr/>
          <p:nvPr/>
        </p:nvSpPr>
        <p:spPr>
          <a:xfrm>
            <a:off x="5943600" y="3977640"/>
            <a:ext cx="4937760" cy="411480"/>
          </a:xfrm>
          <a:prstGeom prst="rect">
            <a:avLst/>
          </a:prstGeom>
          <a:noFill/>
          <a:ln/>
        </p:spPr>
        <p:txBody>
          <a:bodyPr wrap="square" lIns="0" tIns="0" rIns="0" bIns="0" rtlCol="0" anchor="ctr"/>
          <a:lstStyle/>
          <a:p>
            <a:pPr indent="0" marL="0">
              <a:buNone/>
            </a:pPr>
            <a:r>
              <a:rPr lang="en-US" sz="1800" dirty="0">
                <a:solidFill>
                  <a:srgbClr val="16192B"/>
                </a:solidFill>
                <a:latin typeface="Calibri" pitchFamily="34" charset="0"/>
                <a:ea typeface="Calibri" pitchFamily="34" charset="-122"/>
                <a:cs typeface="Calibri" pitchFamily="34" charset="-120"/>
              </a:rPr>
              <a:t>Single period (~55 min)</a:t>
            </a:r>
            <a:endParaRPr lang="en-US" sz="1800" dirty="0"/>
          </a:p>
        </p:txBody>
      </p:sp>
      <p:sp>
        <p:nvSpPr>
          <p:cNvPr id="14" name="Shape 12"/>
          <p:cNvSpPr/>
          <p:nvPr/>
        </p:nvSpPr>
        <p:spPr>
          <a:xfrm>
            <a:off x="548640" y="4709160"/>
            <a:ext cx="11064240" cy="1417320"/>
          </a:xfrm>
          <a:prstGeom prst="roundRect">
            <a:avLst>
              <a:gd name="adj" fmla="val 6452"/>
            </a:avLst>
          </a:prstGeom>
          <a:solidFill>
            <a:srgbClr val="F5F7FC"/>
          </a:solidFill>
          <a:ln w="12700">
            <a:solidFill>
              <a:srgbClr val="DDE2EE"/>
            </a:solidFill>
            <a:prstDash val="solid"/>
          </a:ln>
        </p:spPr>
      </p:sp>
      <p:sp>
        <p:nvSpPr>
          <p:cNvPr id="15" name="Text 13"/>
          <p:cNvSpPr/>
          <p:nvPr/>
        </p:nvSpPr>
        <p:spPr>
          <a:xfrm>
            <a:off x="868680" y="4892040"/>
            <a:ext cx="5486400" cy="320040"/>
          </a:xfrm>
          <a:prstGeom prst="rect">
            <a:avLst/>
          </a:prstGeom>
          <a:noFill/>
          <a:ln/>
        </p:spPr>
        <p:txBody>
          <a:bodyPr wrap="square" lIns="0" tIns="0" rIns="0" bIns="0" rtlCol="0" anchor="ctr"/>
          <a:lstStyle/>
          <a:p>
            <a:pPr indent="0" marL="0">
              <a:buNone/>
            </a:pPr>
            <a:r>
              <a:rPr lang="en-US" sz="1300" b="1" dirty="0">
                <a:solidFill>
                  <a:srgbClr val="2F46C4"/>
                </a:solidFill>
                <a:latin typeface="Calibri" pitchFamily="34" charset="0"/>
                <a:ea typeface="Calibri" pitchFamily="34" charset="-122"/>
                <a:cs typeface="Calibri" pitchFamily="34" charset="-120"/>
              </a:rPr>
              <a:t>Where this sits in the unit</a:t>
            </a:r>
            <a:endParaRPr lang="en-US" sz="1300" dirty="0"/>
          </a:p>
        </p:txBody>
      </p:sp>
      <p:sp>
        <p:nvSpPr>
          <p:cNvPr id="16" name="Text 14"/>
          <p:cNvSpPr/>
          <p:nvPr/>
        </p:nvSpPr>
        <p:spPr>
          <a:xfrm>
            <a:off x="868680" y="5193792"/>
            <a:ext cx="10424160" cy="822960"/>
          </a:xfrm>
          <a:prstGeom prst="rect">
            <a:avLst/>
          </a:prstGeom>
          <a:noFill/>
          <a:ln/>
        </p:spPr>
        <p:txBody>
          <a:bodyPr wrap="square" lIns="0" tIns="0" rIns="0" bIns="0" rtlCol="0" anchor="t"/>
          <a:lstStyle/>
          <a:p>
            <a:pPr indent="0" marL="0">
              <a:buNone/>
            </a:pPr>
            <a:r>
              <a:rPr lang="en-US" sz="1400" dirty="0">
                <a:solidFill>
                  <a:srgbClr val="16192B"/>
                </a:solidFill>
                <a:latin typeface="Calibri" pitchFamily="34" charset="0"/>
                <a:ea typeface="Calibri" pitchFamily="34" charset="-122"/>
                <a:cs typeface="Calibri" pitchFamily="34" charset="-120"/>
              </a:rPr>
              <a:t>We've covered threats &amp; attack types and security controls &amp; defences so far. Today you'll apply both to realistic incidents — no new content, just putting the pieces together.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WARM UP</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3000" b="1" dirty="0">
                <a:solidFill>
                  <a:srgbClr val="16192B"/>
                </a:solidFill>
                <a:latin typeface="Cambria" pitchFamily="34" charset="0"/>
                <a:ea typeface="Cambria" pitchFamily="34" charset="-122"/>
                <a:cs typeface="Cambria" pitchFamily="34" charset="-120"/>
              </a:rPr>
              <a:t>Attack or Not?</a:t>
            </a:r>
            <a:endParaRPr lang="en-US" sz="3000" dirty="0"/>
          </a:p>
        </p:txBody>
      </p:sp>
      <p:sp>
        <p:nvSpPr>
          <p:cNvPr id="8" name="Text 6"/>
          <p:cNvSpPr/>
          <p:nvPr/>
        </p:nvSpPr>
        <p:spPr>
          <a:xfrm>
            <a:off x="457200" y="1417320"/>
            <a:ext cx="10515600" cy="457200"/>
          </a:xfrm>
          <a:prstGeom prst="rect">
            <a:avLst/>
          </a:prstGeom>
          <a:noFill/>
          <a:ln/>
        </p:spPr>
        <p:txBody>
          <a:bodyPr wrap="square" lIns="0" tIns="0" rIns="0" bIns="0" rtlCol="0" anchor="ctr"/>
          <a:lstStyle/>
          <a:p>
            <a:pPr indent="0" marL="0">
              <a:buNone/>
            </a:pPr>
            <a:r>
              <a:rPr lang="en-US" sz="1800" dirty="0">
                <a:solidFill>
                  <a:srgbClr val="5B6178"/>
                </a:solidFill>
                <a:latin typeface="Calibri" pitchFamily="34" charset="0"/>
                <a:ea typeface="Calibri" pitchFamily="34" charset="-122"/>
                <a:cs typeface="Calibri" pitchFamily="34" charset="-120"/>
              </a:rPr>
              <a:t>Thumbs up = this IS an attack. Thumbs down = it is NOT. No devices — call it out as a class.</a:t>
            </a:r>
            <a:endParaRPr lang="en-US" sz="1800" dirty="0"/>
          </a:p>
        </p:txBody>
      </p:sp>
      <p:sp>
        <p:nvSpPr>
          <p:cNvPr id="9" name="Shape 7"/>
          <p:cNvSpPr/>
          <p:nvPr/>
        </p:nvSpPr>
        <p:spPr>
          <a:xfrm>
            <a:off x="457200" y="2148840"/>
            <a:ext cx="11247120" cy="713232"/>
          </a:xfrm>
          <a:prstGeom prst="roundRect">
            <a:avLst>
              <a:gd name="adj" fmla="val 10256"/>
            </a:avLst>
          </a:prstGeom>
          <a:solidFill>
            <a:srgbClr val="F5F7FC"/>
          </a:solidFill>
          <a:ln w="12700">
            <a:solidFill>
              <a:srgbClr val="DDE2EE"/>
            </a:solidFill>
            <a:prstDash val="solid"/>
          </a:ln>
        </p:spPr>
      </p:sp>
      <p:sp>
        <p:nvSpPr>
          <p:cNvPr id="10" name="Text 8"/>
          <p:cNvSpPr/>
          <p:nvPr/>
        </p:nvSpPr>
        <p:spPr>
          <a:xfrm>
            <a:off x="777240" y="2148840"/>
            <a:ext cx="10607040" cy="713232"/>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1.  An email from “your bank” asking you to click a link and re-enter your password.</a:t>
            </a:r>
            <a:endParaRPr lang="en-US" sz="1600" dirty="0"/>
          </a:p>
        </p:txBody>
      </p:sp>
      <p:sp>
        <p:nvSpPr>
          <p:cNvPr id="11" name="Shape 9"/>
          <p:cNvSpPr/>
          <p:nvPr/>
        </p:nvSpPr>
        <p:spPr>
          <a:xfrm>
            <a:off x="457200" y="2999232"/>
            <a:ext cx="11247120" cy="713232"/>
          </a:xfrm>
          <a:prstGeom prst="roundRect">
            <a:avLst>
              <a:gd name="adj" fmla="val 10256"/>
            </a:avLst>
          </a:prstGeom>
          <a:solidFill>
            <a:srgbClr val="F5F7FC"/>
          </a:solidFill>
          <a:ln w="12700">
            <a:solidFill>
              <a:srgbClr val="DDE2EE"/>
            </a:solidFill>
            <a:prstDash val="solid"/>
          </a:ln>
        </p:spPr>
      </p:sp>
      <p:sp>
        <p:nvSpPr>
          <p:cNvPr id="12" name="Text 10"/>
          <p:cNvSpPr/>
          <p:nvPr/>
        </p:nvSpPr>
        <p:spPr>
          <a:xfrm>
            <a:off x="777240" y="2999232"/>
            <a:ext cx="10607040" cy="713232"/>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2.  A routine software update notification from your operating system vendor.</a:t>
            </a:r>
            <a:endParaRPr lang="en-US" sz="1600" dirty="0"/>
          </a:p>
        </p:txBody>
      </p:sp>
      <p:sp>
        <p:nvSpPr>
          <p:cNvPr id="13" name="Shape 11"/>
          <p:cNvSpPr/>
          <p:nvPr/>
        </p:nvSpPr>
        <p:spPr>
          <a:xfrm>
            <a:off x="457200" y="3849624"/>
            <a:ext cx="11247120" cy="713232"/>
          </a:xfrm>
          <a:prstGeom prst="roundRect">
            <a:avLst>
              <a:gd name="adj" fmla="val 10256"/>
            </a:avLst>
          </a:prstGeom>
          <a:solidFill>
            <a:srgbClr val="F5F7FC"/>
          </a:solidFill>
          <a:ln w="12700">
            <a:solidFill>
              <a:srgbClr val="DDE2EE"/>
            </a:solidFill>
            <a:prstDash val="solid"/>
          </a:ln>
        </p:spPr>
      </p:sp>
      <p:sp>
        <p:nvSpPr>
          <p:cNvPr id="14" name="Text 12"/>
          <p:cNvSpPr/>
          <p:nvPr/>
        </p:nvSpPr>
        <p:spPr>
          <a:xfrm>
            <a:off x="777240" y="3849624"/>
            <a:ext cx="10607040" cy="713232"/>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3.  A pop-up saying “You’ve won a prize — enter your card details to claim it!”</a:t>
            </a:r>
            <a:endParaRPr lang="en-US" sz="1600" dirty="0"/>
          </a:p>
        </p:txBody>
      </p:sp>
      <p:sp>
        <p:nvSpPr>
          <p:cNvPr id="15" name="Shape 13"/>
          <p:cNvSpPr/>
          <p:nvPr/>
        </p:nvSpPr>
        <p:spPr>
          <a:xfrm>
            <a:off x="457200" y="4700016"/>
            <a:ext cx="11247120" cy="713232"/>
          </a:xfrm>
          <a:prstGeom prst="roundRect">
            <a:avLst>
              <a:gd name="adj" fmla="val 10256"/>
            </a:avLst>
          </a:prstGeom>
          <a:solidFill>
            <a:srgbClr val="F5F7FC"/>
          </a:solidFill>
          <a:ln w="12700">
            <a:solidFill>
              <a:srgbClr val="DDE2EE"/>
            </a:solidFill>
            <a:prstDash val="solid"/>
          </a:ln>
        </p:spPr>
      </p:sp>
      <p:sp>
        <p:nvSpPr>
          <p:cNvPr id="16" name="Text 14"/>
          <p:cNvSpPr/>
          <p:nvPr/>
        </p:nvSpPr>
        <p:spPr>
          <a:xfrm>
            <a:off x="777240" y="4700016"/>
            <a:ext cx="10607040" cy="713232"/>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4.  A colleague asks you to hold the office door open because their hands are full.</a:t>
            </a:r>
            <a:endParaRPr lang="en-US" sz="1600" dirty="0"/>
          </a:p>
        </p:txBody>
      </p:sp>
      <p:sp>
        <p:nvSpPr>
          <p:cNvPr id="17" name="Shape 15"/>
          <p:cNvSpPr/>
          <p:nvPr/>
        </p:nvSpPr>
        <p:spPr>
          <a:xfrm>
            <a:off x="457200" y="5550408"/>
            <a:ext cx="11247120" cy="713232"/>
          </a:xfrm>
          <a:prstGeom prst="roundRect">
            <a:avLst>
              <a:gd name="adj" fmla="val 10256"/>
            </a:avLst>
          </a:prstGeom>
          <a:solidFill>
            <a:srgbClr val="F5F7FC"/>
          </a:solidFill>
          <a:ln w="12700">
            <a:solidFill>
              <a:srgbClr val="DDE2EE"/>
            </a:solidFill>
            <a:prstDash val="solid"/>
          </a:ln>
        </p:spPr>
      </p:sp>
      <p:sp>
        <p:nvSpPr>
          <p:cNvPr id="18" name="Text 16"/>
          <p:cNvSpPr/>
          <p:nvPr/>
        </p:nvSpPr>
        <p:spPr>
          <a:xfrm>
            <a:off x="777240" y="5550408"/>
            <a:ext cx="10607040" cy="713232"/>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5.  A firewall blocks an unusual connection attempt from an unfamiliar IP address.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LEARNING OBJECTIVE</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2600" b="1" dirty="0">
                <a:solidFill>
                  <a:srgbClr val="16192B"/>
                </a:solidFill>
                <a:latin typeface="Cambria" pitchFamily="34" charset="0"/>
                <a:ea typeface="Cambria" pitchFamily="34" charset="-122"/>
                <a:cs typeface="Cambria" pitchFamily="34" charset="-120"/>
              </a:rPr>
              <a:t>To apply threat and control knowledge to a real incident</a:t>
            </a:r>
            <a:endParaRPr lang="en-US" sz="2600" dirty="0"/>
          </a:p>
        </p:txBody>
      </p:sp>
      <p:sp>
        <p:nvSpPr>
          <p:cNvPr id="8" name="Shape 6"/>
          <p:cNvSpPr/>
          <p:nvPr/>
        </p:nvSpPr>
        <p:spPr>
          <a:xfrm>
            <a:off x="457200" y="1600200"/>
            <a:ext cx="11247120" cy="777240"/>
          </a:xfrm>
          <a:prstGeom prst="roundRect">
            <a:avLst>
              <a:gd name="adj" fmla="val 11765"/>
            </a:avLst>
          </a:prstGeom>
          <a:solidFill>
            <a:srgbClr val="EEF1FF"/>
          </a:solidFill>
          <a:ln/>
        </p:spPr>
      </p:sp>
      <p:sp>
        <p:nvSpPr>
          <p:cNvPr id="9" name="Text 7"/>
          <p:cNvSpPr/>
          <p:nvPr/>
        </p:nvSpPr>
        <p:spPr>
          <a:xfrm>
            <a:off x="777240" y="1600200"/>
            <a:ext cx="10607040" cy="777240"/>
          </a:xfrm>
          <a:prstGeom prst="rect">
            <a:avLst/>
          </a:prstGeom>
          <a:noFill/>
          <a:ln/>
        </p:spPr>
        <p:txBody>
          <a:bodyPr wrap="square" lIns="0" tIns="0" rIns="0" bIns="0" rtlCol="0" anchor="ctr"/>
          <a:lstStyle/>
          <a:p>
            <a:pPr indent="0" marL="0">
              <a:buNone/>
            </a:pPr>
            <a:r>
              <a:rPr lang="en-US" sz="1900" i="1" dirty="0">
                <a:solidFill>
                  <a:srgbClr val="2F46C4"/>
                </a:solidFill>
                <a:latin typeface="Calibri" pitchFamily="34" charset="0"/>
                <a:ea typeface="Calibri" pitchFamily="34" charset="-122"/>
                <a:cs typeface="Calibri" pitchFamily="34" charset="-120"/>
              </a:rPr>
              <a:t>To apply your knowledge of cyber threats and security controls to analyse a security incident and recommend defences.</a:t>
            </a:r>
            <a:endParaRPr lang="en-US" sz="1900" dirty="0"/>
          </a:p>
        </p:txBody>
      </p:sp>
      <p:sp>
        <p:nvSpPr>
          <p:cNvPr id="10" name="Text 8"/>
          <p:cNvSpPr/>
          <p:nvPr/>
        </p:nvSpPr>
        <p:spPr>
          <a:xfrm>
            <a:off x="457200" y="2606040"/>
            <a:ext cx="7315200" cy="365760"/>
          </a:xfrm>
          <a:prstGeom prst="rect">
            <a:avLst/>
          </a:prstGeom>
          <a:noFill/>
          <a:ln/>
        </p:spPr>
        <p:txBody>
          <a:bodyPr wrap="square" lIns="0" tIns="0" rIns="0" bIns="0" rtlCol="0" anchor="ctr"/>
          <a:lstStyle/>
          <a:p>
            <a:pPr indent="0" marL="0">
              <a:buNone/>
            </a:pPr>
            <a:r>
              <a:rPr lang="en-US" sz="1300" b="1" spc="100" kern="0" dirty="0">
                <a:solidFill>
                  <a:srgbClr val="5B6178"/>
                </a:solidFill>
                <a:latin typeface="Calibri" pitchFamily="34" charset="0"/>
                <a:ea typeface="Calibri" pitchFamily="34" charset="-122"/>
                <a:cs typeface="Calibri" pitchFamily="34" charset="-120"/>
              </a:rPr>
              <a:t>SUCCESS CRITERIA — I can...</a:t>
            </a:r>
            <a:endParaRPr lang="en-US" sz="1300" dirty="0"/>
          </a:p>
        </p:txBody>
      </p:sp>
      <p:sp>
        <p:nvSpPr>
          <p:cNvPr id="11" name="Shape 9"/>
          <p:cNvSpPr/>
          <p:nvPr/>
        </p:nvSpPr>
        <p:spPr>
          <a:xfrm>
            <a:off x="457200" y="3136392"/>
            <a:ext cx="2103120" cy="347472"/>
          </a:xfrm>
          <a:prstGeom prst="roundRect">
            <a:avLst>
              <a:gd name="adj" fmla="val 50000"/>
            </a:avLst>
          </a:prstGeom>
          <a:solidFill>
            <a:srgbClr val="E7F9F1"/>
          </a:solidFill>
          <a:ln w="12700">
            <a:solidFill>
              <a:srgbClr val="10B981"/>
            </a:solidFill>
            <a:prstDash val="solid"/>
          </a:ln>
        </p:spPr>
      </p:sp>
      <p:sp>
        <p:nvSpPr>
          <p:cNvPr id="12" name="Text 10"/>
          <p:cNvSpPr/>
          <p:nvPr/>
        </p:nvSpPr>
        <p:spPr>
          <a:xfrm>
            <a:off x="457200" y="3136392"/>
            <a:ext cx="21031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FOUNDATION</a:t>
            </a:r>
            <a:endParaRPr lang="en-US" sz="1100" dirty="0"/>
          </a:p>
        </p:txBody>
      </p:sp>
      <p:sp>
        <p:nvSpPr>
          <p:cNvPr id="13" name="Shape 11"/>
          <p:cNvSpPr/>
          <p:nvPr/>
        </p:nvSpPr>
        <p:spPr>
          <a:xfrm>
            <a:off x="2743200" y="3063240"/>
            <a:ext cx="8961120" cy="868680"/>
          </a:xfrm>
          <a:prstGeom prst="roundRect">
            <a:avLst>
              <a:gd name="adj" fmla="val 8421"/>
            </a:avLst>
          </a:prstGeom>
          <a:solidFill>
            <a:srgbClr val="F5F7FC"/>
          </a:solidFill>
          <a:ln w="12700">
            <a:solidFill>
              <a:srgbClr val="DDE2EE"/>
            </a:solidFill>
            <a:prstDash val="solid"/>
          </a:ln>
        </p:spPr>
      </p:sp>
      <p:sp>
        <p:nvSpPr>
          <p:cNvPr id="14" name="Text 12"/>
          <p:cNvSpPr/>
          <p:nvPr/>
        </p:nvSpPr>
        <p:spPr>
          <a:xfrm>
            <a:off x="2971800" y="3063240"/>
            <a:ext cx="8549640" cy="86868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Identify the type of attack in a given scenario and name one control that could help prevent it.</a:t>
            </a:r>
            <a:endParaRPr lang="en-US" sz="1500" dirty="0"/>
          </a:p>
        </p:txBody>
      </p:sp>
      <p:sp>
        <p:nvSpPr>
          <p:cNvPr id="15" name="Shape 13"/>
          <p:cNvSpPr/>
          <p:nvPr/>
        </p:nvSpPr>
        <p:spPr>
          <a:xfrm>
            <a:off x="457200" y="4142232"/>
            <a:ext cx="2103120" cy="347472"/>
          </a:xfrm>
          <a:prstGeom prst="roundRect">
            <a:avLst>
              <a:gd name="adj" fmla="val 50000"/>
            </a:avLst>
          </a:prstGeom>
          <a:solidFill>
            <a:srgbClr val="FEF3DE"/>
          </a:solidFill>
          <a:ln w="12700">
            <a:solidFill>
              <a:srgbClr val="F59E0B"/>
            </a:solidFill>
            <a:prstDash val="solid"/>
          </a:ln>
        </p:spPr>
      </p:sp>
      <p:sp>
        <p:nvSpPr>
          <p:cNvPr id="16" name="Text 14"/>
          <p:cNvSpPr/>
          <p:nvPr/>
        </p:nvSpPr>
        <p:spPr>
          <a:xfrm>
            <a:off x="457200" y="4142232"/>
            <a:ext cx="21031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DEVELOPING</a:t>
            </a:r>
            <a:endParaRPr lang="en-US" sz="1100" dirty="0"/>
          </a:p>
        </p:txBody>
      </p:sp>
      <p:sp>
        <p:nvSpPr>
          <p:cNvPr id="17" name="Shape 15"/>
          <p:cNvSpPr/>
          <p:nvPr/>
        </p:nvSpPr>
        <p:spPr>
          <a:xfrm>
            <a:off x="2743200" y="4069080"/>
            <a:ext cx="8961120" cy="868680"/>
          </a:xfrm>
          <a:prstGeom prst="roundRect">
            <a:avLst>
              <a:gd name="adj" fmla="val 8421"/>
            </a:avLst>
          </a:prstGeom>
          <a:solidFill>
            <a:srgbClr val="F5F7FC"/>
          </a:solidFill>
          <a:ln w="12700">
            <a:solidFill>
              <a:srgbClr val="DDE2EE"/>
            </a:solidFill>
            <a:prstDash val="solid"/>
          </a:ln>
        </p:spPr>
      </p:sp>
      <p:sp>
        <p:nvSpPr>
          <p:cNvPr id="18" name="Text 16"/>
          <p:cNvSpPr/>
          <p:nvPr/>
        </p:nvSpPr>
        <p:spPr>
          <a:xfrm>
            <a:off x="2971800" y="4069080"/>
            <a:ext cx="8549640" cy="86868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Explain how a specific control failure or gap allowed the attack to succeed, and justify a suitable defence.</a:t>
            </a:r>
            <a:endParaRPr lang="en-US" sz="1500" dirty="0"/>
          </a:p>
        </p:txBody>
      </p:sp>
      <p:sp>
        <p:nvSpPr>
          <p:cNvPr id="19" name="Shape 17"/>
          <p:cNvSpPr/>
          <p:nvPr/>
        </p:nvSpPr>
        <p:spPr>
          <a:xfrm>
            <a:off x="457200" y="5148072"/>
            <a:ext cx="2103120" cy="347472"/>
          </a:xfrm>
          <a:prstGeom prst="roundRect">
            <a:avLst>
              <a:gd name="adj" fmla="val 50000"/>
            </a:avLst>
          </a:prstGeom>
          <a:solidFill>
            <a:srgbClr val="F1EBFE"/>
          </a:solidFill>
          <a:ln w="12700">
            <a:solidFill>
              <a:srgbClr val="8B5CF6"/>
            </a:solidFill>
            <a:prstDash val="solid"/>
          </a:ln>
        </p:spPr>
      </p:sp>
      <p:sp>
        <p:nvSpPr>
          <p:cNvPr id="20" name="Text 18"/>
          <p:cNvSpPr/>
          <p:nvPr/>
        </p:nvSpPr>
        <p:spPr>
          <a:xfrm>
            <a:off x="457200" y="5148072"/>
            <a:ext cx="21031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EXTENDING</a:t>
            </a:r>
            <a:endParaRPr lang="en-US" sz="1100" dirty="0"/>
          </a:p>
        </p:txBody>
      </p:sp>
      <p:sp>
        <p:nvSpPr>
          <p:cNvPr id="21" name="Shape 19"/>
          <p:cNvSpPr/>
          <p:nvPr/>
        </p:nvSpPr>
        <p:spPr>
          <a:xfrm>
            <a:off x="2743200" y="5074920"/>
            <a:ext cx="8961120" cy="868680"/>
          </a:xfrm>
          <a:prstGeom prst="roundRect">
            <a:avLst>
              <a:gd name="adj" fmla="val 8421"/>
            </a:avLst>
          </a:prstGeom>
          <a:solidFill>
            <a:srgbClr val="F5F7FC"/>
          </a:solidFill>
          <a:ln w="12700">
            <a:solidFill>
              <a:srgbClr val="DDE2EE"/>
            </a:solidFill>
            <a:prstDash val="solid"/>
          </a:ln>
        </p:spPr>
      </p:sp>
      <p:sp>
        <p:nvSpPr>
          <p:cNvPr id="22" name="Text 20"/>
          <p:cNvSpPr/>
          <p:nvPr/>
        </p:nvSpPr>
        <p:spPr>
          <a:xfrm>
            <a:off x="2971800" y="5074920"/>
            <a:ext cx="8549640" cy="86868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Evaluate multiple layers of defence for a scenario, weighing effectiveness, cost, and usability trade-offs.</a:t>
            </a:r>
            <a:endParaRPr lang="en-US" sz="1500" dirty="0"/>
          </a:p>
        </p:txBody>
      </p:sp>
      <p:sp>
        <p:nvSpPr>
          <p:cNvPr id="23" name="Text 21"/>
          <p:cNvSpPr/>
          <p:nvPr/>
        </p:nvSpPr>
        <p:spPr>
          <a:xfrm>
            <a:off x="457200" y="6172200"/>
            <a:ext cx="10515600" cy="365760"/>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You'll self-assess against these criteria on your exit ticket at the end of the lesson.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EXPLICIT TEACHING — RECAP</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Shape 5"/>
          <p:cNvSpPr/>
          <p:nvPr/>
        </p:nvSpPr>
        <p:spPr>
          <a:xfrm>
            <a:off x="7955280" y="347472"/>
            <a:ext cx="1371600" cy="365760"/>
          </a:xfrm>
          <a:prstGeom prst="roundRect">
            <a:avLst>
              <a:gd name="adj" fmla="val 20000"/>
            </a:avLst>
          </a:prstGeom>
          <a:solidFill>
            <a:srgbClr val="FEF3DE"/>
          </a:solidFill>
          <a:ln w="12700">
            <a:solidFill>
              <a:srgbClr val="F59E0B"/>
            </a:solidFill>
            <a:prstDash val="solid"/>
          </a:ln>
        </p:spPr>
      </p:sp>
      <p:sp>
        <p:nvSpPr>
          <p:cNvPr id="8" name="Text 6"/>
          <p:cNvSpPr/>
          <p:nvPr/>
        </p:nvSpPr>
        <p:spPr>
          <a:xfrm>
            <a:off x="7955280" y="347472"/>
            <a:ext cx="1371600" cy="365760"/>
          </a:xfrm>
          <a:prstGeom prst="rect">
            <a:avLst/>
          </a:prstGeom>
          <a:noFill/>
          <a:ln/>
        </p:spPr>
        <p:txBody>
          <a:bodyPr wrap="square" lIns="0" tIns="0" rIns="0" bIns="0" rtlCol="0" anchor="ctr"/>
          <a:lstStyle/>
          <a:p>
            <a:pPr algn="ctr" indent="0" marL="0">
              <a:buNone/>
            </a:pPr>
            <a:r>
              <a:rPr lang="en-US" sz="1100" b="1" dirty="0">
                <a:solidFill>
                  <a:srgbClr val="8A5A00"/>
                </a:solidFill>
                <a:latin typeface="Calibri" pitchFamily="34" charset="0"/>
                <a:ea typeface="Calibri" pitchFamily="34" charset="-122"/>
                <a:cs typeface="Calibri" pitchFamily="34" charset="-120"/>
              </a:rPr>
              <a:t>📋 COPY THIS</a:t>
            </a:r>
            <a:endParaRPr lang="en-US" sz="1100" dirty="0"/>
          </a:p>
        </p:txBody>
      </p:sp>
      <p:sp>
        <p:nvSpPr>
          <p:cNvPr id="9" name="Text 7"/>
          <p:cNvSpPr/>
          <p:nvPr/>
        </p:nvSpPr>
        <p:spPr>
          <a:xfrm>
            <a:off x="457200" y="841248"/>
            <a:ext cx="10515600" cy="640080"/>
          </a:xfrm>
          <a:prstGeom prst="rect">
            <a:avLst/>
          </a:prstGeom>
          <a:noFill/>
          <a:ln/>
        </p:spPr>
        <p:txBody>
          <a:bodyPr wrap="square" lIns="0" tIns="0" rIns="0" bIns="0" rtlCol="0" anchor="ctr"/>
          <a:lstStyle/>
          <a:p>
            <a:pPr indent="0" marL="0">
              <a:buNone/>
            </a:pPr>
            <a:r>
              <a:rPr lang="en-US" sz="2800" b="1" dirty="0">
                <a:solidFill>
                  <a:srgbClr val="16192B"/>
                </a:solidFill>
                <a:latin typeface="Cambria" pitchFamily="34" charset="0"/>
                <a:ea typeface="Cambria" pitchFamily="34" charset="-122"/>
                <a:cs typeface="Cambria" pitchFamily="34" charset="-120"/>
              </a:rPr>
              <a:t>Recap: Threats &amp; Attack Types</a:t>
            </a:r>
            <a:endParaRPr lang="en-US" sz="2800" dirty="0"/>
          </a:p>
        </p:txBody>
      </p:sp>
      <p:sp>
        <p:nvSpPr>
          <p:cNvPr id="10" name="Text 8"/>
          <p:cNvSpPr/>
          <p:nvPr/>
        </p:nvSpPr>
        <p:spPr>
          <a:xfrm>
            <a:off x="457200" y="1572768"/>
            <a:ext cx="2377440" cy="32004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ATTACK TYPE</a:t>
            </a:r>
            <a:endParaRPr lang="en-US" sz="1200" dirty="0"/>
          </a:p>
        </p:txBody>
      </p:sp>
      <p:sp>
        <p:nvSpPr>
          <p:cNvPr id="11" name="Text 9"/>
          <p:cNvSpPr/>
          <p:nvPr/>
        </p:nvSpPr>
        <p:spPr>
          <a:xfrm>
            <a:off x="2926080" y="1572768"/>
            <a:ext cx="4937760" cy="32004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DEFINITION</a:t>
            </a:r>
            <a:endParaRPr lang="en-US" sz="1200" dirty="0"/>
          </a:p>
        </p:txBody>
      </p:sp>
      <p:sp>
        <p:nvSpPr>
          <p:cNvPr id="12" name="Text 10"/>
          <p:cNvSpPr/>
          <p:nvPr/>
        </p:nvSpPr>
        <p:spPr>
          <a:xfrm>
            <a:off x="7955280" y="1572768"/>
            <a:ext cx="3383280" cy="32004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EXAMPLE</a:t>
            </a:r>
            <a:endParaRPr lang="en-US" sz="1200" dirty="0"/>
          </a:p>
        </p:txBody>
      </p:sp>
      <p:sp>
        <p:nvSpPr>
          <p:cNvPr id="13" name="Shape 11"/>
          <p:cNvSpPr/>
          <p:nvPr/>
        </p:nvSpPr>
        <p:spPr>
          <a:xfrm>
            <a:off x="457200" y="1920240"/>
            <a:ext cx="11247120" cy="0"/>
          </a:xfrm>
          <a:prstGeom prst="line">
            <a:avLst/>
          </a:prstGeom>
          <a:noFill/>
          <a:ln w="19050">
            <a:solidFill>
              <a:srgbClr val="DDE2EE"/>
            </a:solidFill>
            <a:prstDash val="solid"/>
          </a:ln>
        </p:spPr>
      </p:sp>
      <p:sp>
        <p:nvSpPr>
          <p:cNvPr id="14" name="Text 12"/>
          <p:cNvSpPr/>
          <p:nvPr/>
        </p:nvSpPr>
        <p:spPr>
          <a:xfrm>
            <a:off x="457200" y="2029968"/>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Malware</a:t>
            </a:r>
            <a:endParaRPr lang="en-US" sz="1400" dirty="0"/>
          </a:p>
        </p:txBody>
      </p:sp>
      <p:sp>
        <p:nvSpPr>
          <p:cNvPr id="15" name="Text 13"/>
          <p:cNvSpPr/>
          <p:nvPr/>
        </p:nvSpPr>
        <p:spPr>
          <a:xfrm>
            <a:off x="2926080" y="2029968"/>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Malicious software designed to damage or gain unauthorised access to a system.</a:t>
            </a:r>
            <a:endParaRPr lang="en-US" sz="1300" dirty="0"/>
          </a:p>
        </p:txBody>
      </p:sp>
      <p:sp>
        <p:nvSpPr>
          <p:cNvPr id="16" name="Text 14"/>
          <p:cNvSpPr/>
          <p:nvPr/>
        </p:nvSpPr>
        <p:spPr>
          <a:xfrm>
            <a:off x="7955280" y="2029968"/>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Ransomware, viruses, spyware</a:t>
            </a:r>
            <a:endParaRPr lang="en-US" sz="1300" dirty="0"/>
          </a:p>
        </p:txBody>
      </p:sp>
      <p:sp>
        <p:nvSpPr>
          <p:cNvPr id="17" name="Shape 15"/>
          <p:cNvSpPr/>
          <p:nvPr/>
        </p:nvSpPr>
        <p:spPr>
          <a:xfrm>
            <a:off x="411480" y="2706624"/>
            <a:ext cx="11338560" cy="713232"/>
          </a:xfrm>
          <a:prstGeom prst="rect">
            <a:avLst/>
          </a:prstGeom>
          <a:solidFill>
            <a:srgbClr val="F5F7FC"/>
          </a:solidFill>
          <a:ln/>
        </p:spPr>
      </p:sp>
      <p:sp>
        <p:nvSpPr>
          <p:cNvPr id="18" name="Text 16"/>
          <p:cNvSpPr/>
          <p:nvPr/>
        </p:nvSpPr>
        <p:spPr>
          <a:xfrm>
            <a:off x="457200" y="2743200"/>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Phishing</a:t>
            </a:r>
            <a:endParaRPr lang="en-US" sz="1400" dirty="0"/>
          </a:p>
        </p:txBody>
      </p:sp>
      <p:sp>
        <p:nvSpPr>
          <p:cNvPr id="19" name="Text 17"/>
          <p:cNvSpPr/>
          <p:nvPr/>
        </p:nvSpPr>
        <p:spPr>
          <a:xfrm>
            <a:off x="2926080" y="2743200"/>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Fraudulent messages tricking a user into revealing information or clicking a link.</a:t>
            </a:r>
            <a:endParaRPr lang="en-US" sz="1300" dirty="0"/>
          </a:p>
        </p:txBody>
      </p:sp>
      <p:sp>
        <p:nvSpPr>
          <p:cNvPr id="20" name="Text 18"/>
          <p:cNvSpPr/>
          <p:nvPr/>
        </p:nvSpPr>
        <p:spPr>
          <a:xfrm>
            <a:off x="7955280" y="2743200"/>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Fake bank email</a:t>
            </a:r>
            <a:endParaRPr lang="en-US" sz="1300" dirty="0"/>
          </a:p>
        </p:txBody>
      </p:sp>
      <p:sp>
        <p:nvSpPr>
          <p:cNvPr id="21" name="Text 19"/>
          <p:cNvSpPr/>
          <p:nvPr/>
        </p:nvSpPr>
        <p:spPr>
          <a:xfrm>
            <a:off x="457200" y="3456432"/>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Social engineering</a:t>
            </a:r>
            <a:endParaRPr lang="en-US" sz="1400" dirty="0"/>
          </a:p>
        </p:txBody>
      </p:sp>
      <p:sp>
        <p:nvSpPr>
          <p:cNvPr id="22" name="Text 20"/>
          <p:cNvSpPr/>
          <p:nvPr/>
        </p:nvSpPr>
        <p:spPr>
          <a:xfrm>
            <a:off x="2926080" y="3456432"/>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Manipulating people (not systems) into breaking normal security procedure.</a:t>
            </a:r>
            <a:endParaRPr lang="en-US" sz="1300" dirty="0"/>
          </a:p>
        </p:txBody>
      </p:sp>
      <p:sp>
        <p:nvSpPr>
          <p:cNvPr id="23" name="Text 21"/>
          <p:cNvSpPr/>
          <p:nvPr/>
        </p:nvSpPr>
        <p:spPr>
          <a:xfrm>
            <a:off x="7955280" y="3456432"/>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Tailgating, pretexting</a:t>
            </a:r>
            <a:endParaRPr lang="en-US" sz="1300" dirty="0"/>
          </a:p>
        </p:txBody>
      </p:sp>
      <p:sp>
        <p:nvSpPr>
          <p:cNvPr id="24" name="Shape 22"/>
          <p:cNvSpPr/>
          <p:nvPr/>
        </p:nvSpPr>
        <p:spPr>
          <a:xfrm>
            <a:off x="411480" y="4133088"/>
            <a:ext cx="11338560" cy="713232"/>
          </a:xfrm>
          <a:prstGeom prst="rect">
            <a:avLst/>
          </a:prstGeom>
          <a:solidFill>
            <a:srgbClr val="F5F7FC"/>
          </a:solidFill>
          <a:ln/>
        </p:spPr>
      </p:sp>
      <p:sp>
        <p:nvSpPr>
          <p:cNvPr id="25" name="Text 23"/>
          <p:cNvSpPr/>
          <p:nvPr/>
        </p:nvSpPr>
        <p:spPr>
          <a:xfrm>
            <a:off x="457200" y="4169664"/>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DoS / DDoS</a:t>
            </a:r>
            <a:endParaRPr lang="en-US" sz="1400" dirty="0"/>
          </a:p>
        </p:txBody>
      </p:sp>
      <p:sp>
        <p:nvSpPr>
          <p:cNvPr id="26" name="Text 24"/>
          <p:cNvSpPr/>
          <p:nvPr/>
        </p:nvSpPr>
        <p:spPr>
          <a:xfrm>
            <a:off x="2926080" y="4169664"/>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Flooding a system with traffic so legitimate users can't access it.</a:t>
            </a:r>
            <a:endParaRPr lang="en-US" sz="1300" dirty="0"/>
          </a:p>
        </p:txBody>
      </p:sp>
      <p:sp>
        <p:nvSpPr>
          <p:cNvPr id="27" name="Text 25"/>
          <p:cNvSpPr/>
          <p:nvPr/>
        </p:nvSpPr>
        <p:spPr>
          <a:xfrm>
            <a:off x="7955280" y="4169664"/>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Website taken offline</a:t>
            </a:r>
            <a:endParaRPr lang="en-US" sz="1300" dirty="0"/>
          </a:p>
        </p:txBody>
      </p:sp>
      <p:sp>
        <p:nvSpPr>
          <p:cNvPr id="28" name="Text 26"/>
          <p:cNvSpPr/>
          <p:nvPr/>
        </p:nvSpPr>
        <p:spPr>
          <a:xfrm>
            <a:off x="457200" y="4882896"/>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Insider threat</a:t>
            </a:r>
            <a:endParaRPr lang="en-US" sz="1400" dirty="0"/>
          </a:p>
        </p:txBody>
      </p:sp>
      <p:sp>
        <p:nvSpPr>
          <p:cNvPr id="29" name="Text 27"/>
          <p:cNvSpPr/>
          <p:nvPr/>
        </p:nvSpPr>
        <p:spPr>
          <a:xfrm>
            <a:off x="2926080" y="4882896"/>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A person with legitimate access misuses it, deliberately or by accident.</a:t>
            </a:r>
            <a:endParaRPr lang="en-US" sz="1300" dirty="0"/>
          </a:p>
        </p:txBody>
      </p:sp>
      <p:sp>
        <p:nvSpPr>
          <p:cNvPr id="30" name="Text 28"/>
          <p:cNvSpPr/>
          <p:nvPr/>
        </p:nvSpPr>
        <p:spPr>
          <a:xfrm>
            <a:off x="7955280" y="4882896"/>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Staff member leaks data</a:t>
            </a:r>
            <a:endParaRPr lang="en-US" sz="1300" dirty="0"/>
          </a:p>
        </p:txBody>
      </p:sp>
      <p:sp>
        <p:nvSpPr>
          <p:cNvPr id="31" name="Shape 29"/>
          <p:cNvSpPr/>
          <p:nvPr/>
        </p:nvSpPr>
        <p:spPr>
          <a:xfrm>
            <a:off x="411480" y="5559552"/>
            <a:ext cx="11338560" cy="713232"/>
          </a:xfrm>
          <a:prstGeom prst="rect">
            <a:avLst/>
          </a:prstGeom>
          <a:solidFill>
            <a:srgbClr val="F5F7FC"/>
          </a:solidFill>
          <a:ln/>
        </p:spPr>
      </p:sp>
      <p:sp>
        <p:nvSpPr>
          <p:cNvPr id="32" name="Text 30"/>
          <p:cNvSpPr/>
          <p:nvPr/>
        </p:nvSpPr>
        <p:spPr>
          <a:xfrm>
            <a:off x="457200" y="5596128"/>
            <a:ext cx="2377440" cy="713232"/>
          </a:xfrm>
          <a:prstGeom prst="rect">
            <a:avLst/>
          </a:prstGeom>
          <a:noFill/>
          <a:ln/>
        </p:spPr>
        <p:txBody>
          <a:bodyPr wrap="square" lIns="0" tIns="0" rIns="0" bIns="0" rtlCol="0" anchor="ctr"/>
          <a:lstStyle/>
          <a:p>
            <a:pPr indent="0" marL="0">
              <a:buNone/>
            </a:pPr>
            <a:r>
              <a:rPr lang="en-US" sz="1400" b="1" dirty="0">
                <a:solidFill>
                  <a:srgbClr val="16192B"/>
                </a:solidFill>
                <a:latin typeface="Calibri" pitchFamily="34" charset="0"/>
                <a:ea typeface="Calibri" pitchFamily="34" charset="-122"/>
                <a:cs typeface="Calibri" pitchFamily="34" charset="-120"/>
              </a:rPr>
              <a:t>Brute force</a:t>
            </a:r>
            <a:endParaRPr lang="en-US" sz="1400" dirty="0"/>
          </a:p>
        </p:txBody>
      </p:sp>
      <p:sp>
        <p:nvSpPr>
          <p:cNvPr id="33" name="Text 31"/>
          <p:cNvSpPr/>
          <p:nvPr/>
        </p:nvSpPr>
        <p:spPr>
          <a:xfrm>
            <a:off x="2926080" y="5596128"/>
            <a:ext cx="4937760" cy="713232"/>
          </a:xfrm>
          <a:prstGeom prst="rect">
            <a:avLst/>
          </a:prstGeom>
          <a:noFill/>
          <a:ln/>
        </p:spPr>
        <p:txBody>
          <a:bodyPr wrap="square" lIns="0" tIns="0" rIns="0" bIns="0" rtlCol="0" anchor="ctr"/>
          <a:lstStyle/>
          <a:p>
            <a:pPr indent="0" marL="0">
              <a:buNone/>
            </a:pPr>
            <a:r>
              <a:rPr lang="en-US" sz="1300" dirty="0">
                <a:solidFill>
                  <a:srgbClr val="16192B"/>
                </a:solidFill>
                <a:latin typeface="Calibri" pitchFamily="34" charset="0"/>
                <a:ea typeface="Calibri" pitchFamily="34" charset="-122"/>
                <a:cs typeface="Calibri" pitchFamily="34" charset="-120"/>
              </a:rPr>
              <a:t>Repeatedly guessing credentials until one combination works.</a:t>
            </a:r>
            <a:endParaRPr lang="en-US" sz="1300" dirty="0"/>
          </a:p>
        </p:txBody>
      </p:sp>
      <p:sp>
        <p:nvSpPr>
          <p:cNvPr id="34" name="Text 32"/>
          <p:cNvSpPr/>
          <p:nvPr/>
        </p:nvSpPr>
        <p:spPr>
          <a:xfrm>
            <a:off x="7955280" y="5596128"/>
            <a:ext cx="3383280" cy="713232"/>
          </a:xfrm>
          <a:prstGeom prst="rect">
            <a:avLst/>
          </a:prstGeom>
          <a:noFill/>
          <a:ln/>
        </p:spPr>
        <p:txBody>
          <a:bodyPr wrap="square" lIns="0" tIns="0" rIns="0" bIns="0" rtlCol="0" anchor="ctr"/>
          <a:lstStyle/>
          <a:p>
            <a:pPr indent="0" marL="0">
              <a:buNone/>
            </a:pPr>
            <a:r>
              <a:rPr lang="en-US" sz="1300" i="1" dirty="0">
                <a:solidFill>
                  <a:srgbClr val="5B6178"/>
                </a:solidFill>
                <a:latin typeface="Calibri" pitchFamily="34" charset="0"/>
                <a:ea typeface="Calibri" pitchFamily="34" charset="-122"/>
                <a:cs typeface="Calibri" pitchFamily="34" charset="-120"/>
              </a:rPr>
              <a:t>Automated password cracking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EXPLICIT TEACHING — RECAP</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Shape 5"/>
          <p:cNvSpPr/>
          <p:nvPr/>
        </p:nvSpPr>
        <p:spPr>
          <a:xfrm>
            <a:off x="7955280" y="347472"/>
            <a:ext cx="1371600" cy="365760"/>
          </a:xfrm>
          <a:prstGeom prst="roundRect">
            <a:avLst>
              <a:gd name="adj" fmla="val 20000"/>
            </a:avLst>
          </a:prstGeom>
          <a:solidFill>
            <a:srgbClr val="FEF3DE"/>
          </a:solidFill>
          <a:ln w="12700">
            <a:solidFill>
              <a:srgbClr val="F59E0B"/>
            </a:solidFill>
            <a:prstDash val="solid"/>
          </a:ln>
        </p:spPr>
      </p:sp>
      <p:sp>
        <p:nvSpPr>
          <p:cNvPr id="8" name="Text 6"/>
          <p:cNvSpPr/>
          <p:nvPr/>
        </p:nvSpPr>
        <p:spPr>
          <a:xfrm>
            <a:off x="7955280" y="347472"/>
            <a:ext cx="1371600" cy="365760"/>
          </a:xfrm>
          <a:prstGeom prst="rect">
            <a:avLst/>
          </a:prstGeom>
          <a:noFill/>
          <a:ln/>
        </p:spPr>
        <p:txBody>
          <a:bodyPr wrap="square" lIns="0" tIns="0" rIns="0" bIns="0" rtlCol="0" anchor="ctr"/>
          <a:lstStyle/>
          <a:p>
            <a:pPr algn="ctr" indent="0" marL="0">
              <a:buNone/>
            </a:pPr>
            <a:r>
              <a:rPr lang="en-US" sz="1100" b="1" dirty="0">
                <a:solidFill>
                  <a:srgbClr val="8A5A00"/>
                </a:solidFill>
                <a:latin typeface="Calibri" pitchFamily="34" charset="0"/>
                <a:ea typeface="Calibri" pitchFamily="34" charset="-122"/>
                <a:cs typeface="Calibri" pitchFamily="34" charset="-120"/>
              </a:rPr>
              <a:t>📋 COPY THIS</a:t>
            </a:r>
            <a:endParaRPr lang="en-US" sz="1100" dirty="0"/>
          </a:p>
        </p:txBody>
      </p:sp>
      <p:sp>
        <p:nvSpPr>
          <p:cNvPr id="9" name="Text 7"/>
          <p:cNvSpPr/>
          <p:nvPr/>
        </p:nvSpPr>
        <p:spPr>
          <a:xfrm>
            <a:off x="457200" y="841248"/>
            <a:ext cx="10515600" cy="640080"/>
          </a:xfrm>
          <a:prstGeom prst="rect">
            <a:avLst/>
          </a:prstGeom>
          <a:noFill/>
          <a:ln/>
        </p:spPr>
        <p:txBody>
          <a:bodyPr wrap="square" lIns="0" tIns="0" rIns="0" bIns="0" rtlCol="0" anchor="ctr"/>
          <a:lstStyle/>
          <a:p>
            <a:pPr indent="0" marL="0">
              <a:buNone/>
            </a:pPr>
            <a:r>
              <a:rPr lang="en-US" sz="2800" b="1" dirty="0">
                <a:solidFill>
                  <a:srgbClr val="16192B"/>
                </a:solidFill>
                <a:latin typeface="Cambria" pitchFamily="34" charset="0"/>
                <a:ea typeface="Cambria" pitchFamily="34" charset="-122"/>
                <a:cs typeface="Cambria" pitchFamily="34" charset="-120"/>
              </a:rPr>
              <a:t>Recap: Security Controls &amp; Defences</a:t>
            </a:r>
            <a:endParaRPr lang="en-US" sz="2800" dirty="0"/>
          </a:p>
        </p:txBody>
      </p:sp>
      <p:sp>
        <p:nvSpPr>
          <p:cNvPr id="10" name="Shape 8"/>
          <p:cNvSpPr/>
          <p:nvPr/>
        </p:nvSpPr>
        <p:spPr>
          <a:xfrm>
            <a:off x="457200" y="1691640"/>
            <a:ext cx="3630168" cy="3657600"/>
          </a:xfrm>
          <a:prstGeom prst="roundRect">
            <a:avLst>
              <a:gd name="adj" fmla="val 2519"/>
            </a:avLst>
          </a:prstGeom>
          <a:solidFill>
            <a:srgbClr val="FFFFFF"/>
          </a:solidFill>
          <a:ln w="15875">
            <a:solidFill>
              <a:srgbClr val="DDE2EE"/>
            </a:solidFill>
            <a:prstDash val="solid"/>
          </a:ln>
        </p:spPr>
      </p:sp>
      <p:sp>
        <p:nvSpPr>
          <p:cNvPr id="11" name="Shape 9"/>
          <p:cNvSpPr/>
          <p:nvPr/>
        </p:nvSpPr>
        <p:spPr>
          <a:xfrm>
            <a:off x="457200" y="1691640"/>
            <a:ext cx="3630168" cy="1188720"/>
          </a:xfrm>
          <a:prstGeom prst="roundRect">
            <a:avLst>
              <a:gd name="adj" fmla="val 7692"/>
            </a:avLst>
          </a:prstGeom>
          <a:solidFill>
            <a:srgbClr val="4361EE"/>
          </a:solidFill>
          <a:ln/>
        </p:spPr>
      </p:sp>
      <p:sp>
        <p:nvSpPr>
          <p:cNvPr id="12" name="Shape 10"/>
          <p:cNvSpPr/>
          <p:nvPr/>
        </p:nvSpPr>
        <p:spPr>
          <a:xfrm>
            <a:off x="457200" y="2286000"/>
            <a:ext cx="3630168" cy="594360"/>
          </a:xfrm>
          <a:prstGeom prst="rect">
            <a:avLst/>
          </a:prstGeom>
          <a:solidFill>
            <a:srgbClr val="4361EE"/>
          </a:solidFill>
          <a:ln/>
        </p:spPr>
      </p:sp>
      <p:sp>
        <p:nvSpPr>
          <p:cNvPr id="13" name="Text 11"/>
          <p:cNvSpPr/>
          <p:nvPr/>
        </p:nvSpPr>
        <p:spPr>
          <a:xfrm>
            <a:off x="457200" y="1801368"/>
            <a:ext cx="3630168" cy="4572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640080" y="2258568"/>
            <a:ext cx="3264408"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Physical</a:t>
            </a:r>
            <a:endParaRPr lang="en-US" sz="1700" dirty="0"/>
          </a:p>
        </p:txBody>
      </p:sp>
      <p:sp>
        <p:nvSpPr>
          <p:cNvPr id="15" name="Text 13"/>
          <p:cNvSpPr/>
          <p:nvPr/>
        </p:nvSpPr>
        <p:spPr>
          <a:xfrm>
            <a:off x="777240" y="3063240"/>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Locks &amp; access cards</a:t>
            </a:r>
            <a:endParaRPr lang="en-US" sz="1500" dirty="0"/>
          </a:p>
        </p:txBody>
      </p:sp>
      <p:sp>
        <p:nvSpPr>
          <p:cNvPr id="16" name="Text 14"/>
          <p:cNvSpPr/>
          <p:nvPr/>
        </p:nvSpPr>
        <p:spPr>
          <a:xfrm>
            <a:off x="777240" y="3685032"/>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Biometric scanners</a:t>
            </a:r>
            <a:endParaRPr lang="en-US" sz="1500" dirty="0"/>
          </a:p>
        </p:txBody>
      </p:sp>
      <p:sp>
        <p:nvSpPr>
          <p:cNvPr id="17" name="Text 15"/>
          <p:cNvSpPr/>
          <p:nvPr/>
        </p:nvSpPr>
        <p:spPr>
          <a:xfrm>
            <a:off x="777240" y="4306824"/>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Server room security</a:t>
            </a:r>
            <a:endParaRPr lang="en-US" sz="1500" dirty="0"/>
          </a:p>
        </p:txBody>
      </p:sp>
      <p:sp>
        <p:nvSpPr>
          <p:cNvPr id="18" name="Shape 16"/>
          <p:cNvSpPr/>
          <p:nvPr/>
        </p:nvSpPr>
        <p:spPr>
          <a:xfrm>
            <a:off x="4270248" y="1691640"/>
            <a:ext cx="3630168" cy="3657600"/>
          </a:xfrm>
          <a:prstGeom prst="roundRect">
            <a:avLst>
              <a:gd name="adj" fmla="val 2519"/>
            </a:avLst>
          </a:prstGeom>
          <a:solidFill>
            <a:srgbClr val="FFFFFF"/>
          </a:solidFill>
          <a:ln w="15875">
            <a:solidFill>
              <a:srgbClr val="DDE2EE"/>
            </a:solidFill>
            <a:prstDash val="solid"/>
          </a:ln>
        </p:spPr>
      </p:sp>
      <p:sp>
        <p:nvSpPr>
          <p:cNvPr id="19" name="Shape 17"/>
          <p:cNvSpPr/>
          <p:nvPr/>
        </p:nvSpPr>
        <p:spPr>
          <a:xfrm>
            <a:off x="4270248" y="1691640"/>
            <a:ext cx="3630168" cy="1188720"/>
          </a:xfrm>
          <a:prstGeom prst="roundRect">
            <a:avLst>
              <a:gd name="adj" fmla="val 7692"/>
            </a:avLst>
          </a:prstGeom>
          <a:solidFill>
            <a:srgbClr val="8B5CF6"/>
          </a:solidFill>
          <a:ln/>
        </p:spPr>
      </p:sp>
      <p:sp>
        <p:nvSpPr>
          <p:cNvPr id="20" name="Shape 18"/>
          <p:cNvSpPr/>
          <p:nvPr/>
        </p:nvSpPr>
        <p:spPr>
          <a:xfrm>
            <a:off x="4270248" y="2286000"/>
            <a:ext cx="3630168" cy="594360"/>
          </a:xfrm>
          <a:prstGeom prst="rect">
            <a:avLst/>
          </a:prstGeom>
          <a:solidFill>
            <a:srgbClr val="8B5CF6"/>
          </a:solidFill>
          <a:ln/>
        </p:spPr>
      </p:sp>
      <p:sp>
        <p:nvSpPr>
          <p:cNvPr id="21" name="Text 19"/>
          <p:cNvSpPr/>
          <p:nvPr/>
        </p:nvSpPr>
        <p:spPr>
          <a:xfrm>
            <a:off x="4270248" y="1801368"/>
            <a:ext cx="3630168" cy="4572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453128" y="2258568"/>
            <a:ext cx="3264408"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Technical / Software</a:t>
            </a:r>
            <a:endParaRPr lang="en-US" sz="1700" dirty="0"/>
          </a:p>
        </p:txBody>
      </p:sp>
      <p:sp>
        <p:nvSpPr>
          <p:cNvPr id="23" name="Text 21"/>
          <p:cNvSpPr/>
          <p:nvPr/>
        </p:nvSpPr>
        <p:spPr>
          <a:xfrm>
            <a:off x="4590288" y="3063240"/>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Firewalls &amp; encryption</a:t>
            </a:r>
            <a:endParaRPr lang="en-US" sz="1500" dirty="0"/>
          </a:p>
        </p:txBody>
      </p:sp>
      <p:sp>
        <p:nvSpPr>
          <p:cNvPr id="24" name="Text 22"/>
          <p:cNvSpPr/>
          <p:nvPr/>
        </p:nvSpPr>
        <p:spPr>
          <a:xfrm>
            <a:off x="4590288" y="3685032"/>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Multi-factor authentication</a:t>
            </a:r>
            <a:endParaRPr lang="en-US" sz="1500" dirty="0"/>
          </a:p>
        </p:txBody>
      </p:sp>
      <p:sp>
        <p:nvSpPr>
          <p:cNvPr id="25" name="Text 23"/>
          <p:cNvSpPr/>
          <p:nvPr/>
        </p:nvSpPr>
        <p:spPr>
          <a:xfrm>
            <a:off x="4590288" y="4306824"/>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Patching &amp; antivirus</a:t>
            </a:r>
            <a:endParaRPr lang="en-US" sz="1500" dirty="0"/>
          </a:p>
        </p:txBody>
      </p:sp>
      <p:sp>
        <p:nvSpPr>
          <p:cNvPr id="26" name="Shape 24"/>
          <p:cNvSpPr/>
          <p:nvPr/>
        </p:nvSpPr>
        <p:spPr>
          <a:xfrm>
            <a:off x="8083296" y="1691640"/>
            <a:ext cx="3630168" cy="3657600"/>
          </a:xfrm>
          <a:prstGeom prst="roundRect">
            <a:avLst>
              <a:gd name="adj" fmla="val 2519"/>
            </a:avLst>
          </a:prstGeom>
          <a:solidFill>
            <a:srgbClr val="FFFFFF"/>
          </a:solidFill>
          <a:ln w="15875">
            <a:solidFill>
              <a:srgbClr val="DDE2EE"/>
            </a:solidFill>
            <a:prstDash val="solid"/>
          </a:ln>
        </p:spPr>
      </p:sp>
      <p:sp>
        <p:nvSpPr>
          <p:cNvPr id="27" name="Shape 25"/>
          <p:cNvSpPr/>
          <p:nvPr/>
        </p:nvSpPr>
        <p:spPr>
          <a:xfrm>
            <a:off x="8083296" y="1691640"/>
            <a:ext cx="3630168" cy="1188720"/>
          </a:xfrm>
          <a:prstGeom prst="roundRect">
            <a:avLst>
              <a:gd name="adj" fmla="val 7692"/>
            </a:avLst>
          </a:prstGeom>
          <a:solidFill>
            <a:srgbClr val="10B981"/>
          </a:solidFill>
          <a:ln/>
        </p:spPr>
      </p:sp>
      <p:sp>
        <p:nvSpPr>
          <p:cNvPr id="28" name="Shape 26"/>
          <p:cNvSpPr/>
          <p:nvPr/>
        </p:nvSpPr>
        <p:spPr>
          <a:xfrm>
            <a:off x="8083296" y="2286000"/>
            <a:ext cx="3630168" cy="594360"/>
          </a:xfrm>
          <a:prstGeom prst="rect">
            <a:avLst/>
          </a:prstGeom>
          <a:solidFill>
            <a:srgbClr val="10B981"/>
          </a:solidFill>
          <a:ln/>
        </p:spPr>
      </p:sp>
      <p:sp>
        <p:nvSpPr>
          <p:cNvPr id="29" name="Text 27"/>
          <p:cNvSpPr/>
          <p:nvPr/>
        </p:nvSpPr>
        <p:spPr>
          <a:xfrm>
            <a:off x="8083296" y="1801368"/>
            <a:ext cx="3630168" cy="4572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30" name="Text 28"/>
          <p:cNvSpPr/>
          <p:nvPr/>
        </p:nvSpPr>
        <p:spPr>
          <a:xfrm>
            <a:off x="8266176" y="2258568"/>
            <a:ext cx="3264408"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Procedural</a:t>
            </a:r>
            <a:endParaRPr lang="en-US" sz="1700" dirty="0"/>
          </a:p>
        </p:txBody>
      </p:sp>
      <p:sp>
        <p:nvSpPr>
          <p:cNvPr id="31" name="Text 29"/>
          <p:cNvSpPr/>
          <p:nvPr/>
        </p:nvSpPr>
        <p:spPr>
          <a:xfrm>
            <a:off x="8403336" y="3063240"/>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Security policies</a:t>
            </a:r>
            <a:endParaRPr lang="en-US" sz="1500" dirty="0"/>
          </a:p>
        </p:txBody>
      </p:sp>
      <p:sp>
        <p:nvSpPr>
          <p:cNvPr id="32" name="Text 30"/>
          <p:cNvSpPr/>
          <p:nvPr/>
        </p:nvSpPr>
        <p:spPr>
          <a:xfrm>
            <a:off x="8403336" y="3685032"/>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Staff training</a:t>
            </a:r>
            <a:endParaRPr lang="en-US" sz="1500" dirty="0"/>
          </a:p>
        </p:txBody>
      </p:sp>
      <p:sp>
        <p:nvSpPr>
          <p:cNvPr id="33" name="Text 31"/>
          <p:cNvSpPr/>
          <p:nvPr/>
        </p:nvSpPr>
        <p:spPr>
          <a:xfrm>
            <a:off x="8403336" y="4306824"/>
            <a:ext cx="2990088" cy="502920"/>
          </a:xfrm>
          <a:prstGeom prst="rect">
            <a:avLst/>
          </a:prstGeom>
          <a:noFill/>
          <a:ln/>
        </p:spPr>
        <p:txBody>
          <a:bodyPr wrap="square" lIns="0" tIns="0" rIns="0" bIns="0" rtlCol="0" anchor="ctr"/>
          <a:lstStyle/>
          <a:p>
            <a:pPr indent="0" marL="0">
              <a:buNone/>
            </a:pPr>
            <a:r>
              <a:rPr lang="en-US" sz="1500" dirty="0">
                <a:solidFill>
                  <a:srgbClr val="16192B"/>
                </a:solidFill>
                <a:latin typeface="Calibri" pitchFamily="34" charset="0"/>
                <a:ea typeface="Calibri" pitchFamily="34" charset="-122"/>
                <a:cs typeface="Calibri" pitchFamily="34" charset="-120"/>
              </a:rPr>
              <a:t>•  Incident response plans</a:t>
            </a:r>
            <a:endParaRPr lang="en-US" sz="1500" dirty="0"/>
          </a:p>
        </p:txBody>
      </p:sp>
      <p:sp>
        <p:nvSpPr>
          <p:cNvPr id="34" name="Text 32"/>
          <p:cNvSpPr/>
          <p:nvPr/>
        </p:nvSpPr>
        <p:spPr>
          <a:xfrm>
            <a:off x="457200" y="5623560"/>
            <a:ext cx="11247120" cy="457200"/>
          </a:xfrm>
          <a:prstGeom prst="rect">
            <a:avLst/>
          </a:prstGeom>
          <a:noFill/>
          <a:ln/>
        </p:spPr>
        <p:txBody>
          <a:bodyPr wrap="square" lIns="0" tIns="0" rIns="0" bIns="0" rtlCol="0" anchor="ctr"/>
          <a:lstStyle/>
          <a:p>
            <a:pPr indent="0" marL="0">
              <a:buNone/>
            </a:pPr>
            <a:r>
              <a:rPr lang="en-US" sz="1400" i="1" dirty="0">
                <a:solidFill>
                  <a:srgbClr val="5B6178"/>
                </a:solidFill>
                <a:latin typeface="Calibri" pitchFamily="34" charset="0"/>
                <a:ea typeface="Calibri" pitchFamily="34" charset="-122"/>
                <a:cs typeface="Calibri" pitchFamily="34" charset="-120"/>
              </a:rPr>
              <a:t>A strong defence usually layers all three categories — one control failing shouldn't mean the whole system fails.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EXPLICIT TEACHING — MODELLING</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2600" b="1" dirty="0">
                <a:solidFill>
                  <a:srgbClr val="16192B"/>
                </a:solidFill>
                <a:latin typeface="Cambria" pitchFamily="34" charset="0"/>
                <a:ea typeface="Cambria" pitchFamily="34" charset="-122"/>
                <a:cs typeface="Cambria" pitchFamily="34" charset="-120"/>
              </a:rPr>
              <a:t>Worked Example — Let's Analyse One Together</a:t>
            </a:r>
            <a:endParaRPr lang="en-US" sz="2600" dirty="0"/>
          </a:p>
        </p:txBody>
      </p:sp>
      <p:sp>
        <p:nvSpPr>
          <p:cNvPr id="8" name="Shape 6"/>
          <p:cNvSpPr/>
          <p:nvPr/>
        </p:nvSpPr>
        <p:spPr>
          <a:xfrm>
            <a:off x="457200" y="1554480"/>
            <a:ext cx="11247120" cy="1188720"/>
          </a:xfrm>
          <a:prstGeom prst="roundRect">
            <a:avLst>
              <a:gd name="adj" fmla="val 7692"/>
            </a:avLst>
          </a:prstGeom>
          <a:solidFill>
            <a:srgbClr val="F5F7FC"/>
          </a:solidFill>
          <a:ln w="12700">
            <a:solidFill>
              <a:srgbClr val="DDE2EE"/>
            </a:solidFill>
            <a:prstDash val="solid"/>
          </a:ln>
        </p:spPr>
      </p:sp>
      <p:sp>
        <p:nvSpPr>
          <p:cNvPr id="9" name="Text 7"/>
          <p:cNvSpPr/>
          <p:nvPr/>
        </p:nvSpPr>
        <p:spPr>
          <a:xfrm>
            <a:off x="731520" y="1691640"/>
            <a:ext cx="365760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INCIDENT REPORT</a:t>
            </a:r>
            <a:endParaRPr lang="en-US" sz="1100" dirty="0"/>
          </a:p>
        </p:txBody>
      </p:sp>
      <p:sp>
        <p:nvSpPr>
          <p:cNvPr id="10" name="Text 8"/>
          <p:cNvSpPr/>
          <p:nvPr/>
        </p:nvSpPr>
        <p:spPr>
          <a:xfrm>
            <a:off x="731520" y="1920240"/>
            <a:ext cx="10698480" cy="777240"/>
          </a:xfrm>
          <a:prstGeom prst="rect">
            <a:avLst/>
          </a:prstGeom>
          <a:noFill/>
          <a:ln/>
        </p:spPr>
        <p:txBody>
          <a:bodyPr wrap="square" lIns="0" tIns="0" rIns="0" bIns="0" rtlCol="0" anchor="t"/>
          <a:lstStyle/>
          <a:p>
            <a:pPr indent="0" marL="0">
              <a:buNone/>
            </a:pPr>
            <a:r>
              <a:rPr lang="en-US" sz="1500" dirty="0">
                <a:solidFill>
                  <a:srgbClr val="16192B"/>
                </a:solidFill>
                <a:latin typeface="Calibri" pitchFamily="34" charset="0"/>
                <a:ea typeface="Calibri" pitchFamily="34" charset="-122"/>
                <a:cs typeface="Calibri" pitchFamily="34" charset="-120"/>
              </a:rPr>
              <a:t>A café's public Wi-Fi router still uses its factory-default admin password. An attacker on the same network logs into the router and redirects customers to a fake payment page.</a:t>
            </a:r>
            <a:endParaRPr lang="en-US" sz="1500" dirty="0"/>
          </a:p>
        </p:txBody>
      </p:sp>
      <p:sp>
        <p:nvSpPr>
          <p:cNvPr id="11" name="Shape 9"/>
          <p:cNvSpPr/>
          <p:nvPr/>
        </p:nvSpPr>
        <p:spPr>
          <a:xfrm>
            <a:off x="457200" y="2926080"/>
            <a:ext cx="384048" cy="384048"/>
          </a:xfrm>
          <a:prstGeom prst="ellipse">
            <a:avLst/>
          </a:prstGeom>
          <a:solidFill>
            <a:srgbClr val="4361EE"/>
          </a:solidFill>
          <a:ln/>
        </p:spPr>
      </p:sp>
      <p:sp>
        <p:nvSpPr>
          <p:cNvPr id="12" name="Text 10"/>
          <p:cNvSpPr/>
          <p:nvPr/>
        </p:nvSpPr>
        <p:spPr>
          <a:xfrm>
            <a:off x="457200" y="2926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p:nvPr/>
        </p:nvSpPr>
        <p:spPr>
          <a:xfrm>
            <a:off x="1005840" y="2907792"/>
            <a:ext cx="3657600" cy="420624"/>
          </a:xfrm>
          <a:prstGeom prst="rect">
            <a:avLst/>
          </a:prstGeom>
          <a:noFill/>
          <a:ln/>
        </p:spPr>
        <p:txBody>
          <a:bodyPr wrap="square" lIns="0" tIns="0" rIns="0" bIns="0" rtlCol="0" anchor="ctr"/>
          <a:lstStyle/>
          <a:p>
            <a:pPr indent="0" marL="0">
              <a:buNone/>
            </a:pPr>
            <a:r>
              <a:rPr lang="en-US" sz="1400" b="1" dirty="0">
                <a:solidFill>
                  <a:srgbClr val="2F46C4"/>
                </a:solidFill>
                <a:latin typeface="Calibri" pitchFamily="34" charset="0"/>
                <a:ea typeface="Calibri" pitchFamily="34" charset="-122"/>
                <a:cs typeface="Calibri" pitchFamily="34" charset="-120"/>
              </a:rPr>
              <a:t>What happened?</a:t>
            </a:r>
            <a:endParaRPr lang="en-US" sz="1400" dirty="0"/>
          </a:p>
        </p:txBody>
      </p:sp>
      <p:sp>
        <p:nvSpPr>
          <p:cNvPr id="14" name="Text 12"/>
          <p:cNvSpPr/>
          <p:nvPr/>
        </p:nvSpPr>
        <p:spPr>
          <a:xfrm>
            <a:off x="4754880" y="2907792"/>
            <a:ext cx="6949440" cy="420624"/>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Attacker gained admin access to the router using default credentials, then redirected traffic.</a:t>
            </a:r>
            <a:endParaRPr lang="en-US" sz="1350" dirty="0"/>
          </a:p>
        </p:txBody>
      </p:sp>
      <p:sp>
        <p:nvSpPr>
          <p:cNvPr id="15" name="Shape 13"/>
          <p:cNvSpPr/>
          <p:nvPr/>
        </p:nvSpPr>
        <p:spPr>
          <a:xfrm>
            <a:off x="457200" y="3529584"/>
            <a:ext cx="384048" cy="384048"/>
          </a:xfrm>
          <a:prstGeom prst="ellipse">
            <a:avLst/>
          </a:prstGeom>
          <a:solidFill>
            <a:srgbClr val="4361EE"/>
          </a:solidFill>
          <a:ln/>
        </p:spPr>
      </p:sp>
      <p:sp>
        <p:nvSpPr>
          <p:cNvPr id="16" name="Text 14"/>
          <p:cNvSpPr/>
          <p:nvPr/>
        </p:nvSpPr>
        <p:spPr>
          <a:xfrm>
            <a:off x="457200" y="35295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1005840" y="3511296"/>
            <a:ext cx="3657600" cy="420624"/>
          </a:xfrm>
          <a:prstGeom prst="rect">
            <a:avLst/>
          </a:prstGeom>
          <a:noFill/>
          <a:ln/>
        </p:spPr>
        <p:txBody>
          <a:bodyPr wrap="square" lIns="0" tIns="0" rIns="0" bIns="0" rtlCol="0" anchor="ctr"/>
          <a:lstStyle/>
          <a:p>
            <a:pPr indent="0" marL="0">
              <a:buNone/>
            </a:pPr>
            <a:r>
              <a:rPr lang="en-US" sz="1400" b="1" dirty="0">
                <a:solidFill>
                  <a:srgbClr val="2F46C4"/>
                </a:solidFill>
                <a:latin typeface="Calibri" pitchFamily="34" charset="0"/>
                <a:ea typeface="Calibri" pitchFamily="34" charset="-122"/>
                <a:cs typeface="Calibri" pitchFamily="34" charset="-120"/>
              </a:rPr>
              <a:t>What TYPE of attack is this?</a:t>
            </a:r>
            <a:endParaRPr lang="en-US" sz="1400" dirty="0"/>
          </a:p>
        </p:txBody>
      </p:sp>
      <p:sp>
        <p:nvSpPr>
          <p:cNvPr id="18" name="Text 16"/>
          <p:cNvSpPr/>
          <p:nvPr/>
        </p:nvSpPr>
        <p:spPr>
          <a:xfrm>
            <a:off x="4754880" y="3511296"/>
            <a:ext cx="6949440" cy="420624"/>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Unauthorised access via weak/default credentials, enabling a follow-on phishing-style redirect.</a:t>
            </a:r>
            <a:endParaRPr lang="en-US" sz="1350" dirty="0"/>
          </a:p>
        </p:txBody>
      </p:sp>
      <p:sp>
        <p:nvSpPr>
          <p:cNvPr id="19" name="Shape 17"/>
          <p:cNvSpPr/>
          <p:nvPr/>
        </p:nvSpPr>
        <p:spPr>
          <a:xfrm>
            <a:off x="457200" y="4133088"/>
            <a:ext cx="384048" cy="384048"/>
          </a:xfrm>
          <a:prstGeom prst="ellipse">
            <a:avLst/>
          </a:prstGeom>
          <a:solidFill>
            <a:srgbClr val="4361EE"/>
          </a:solidFill>
          <a:ln/>
        </p:spPr>
      </p:sp>
      <p:sp>
        <p:nvSpPr>
          <p:cNvPr id="20" name="Text 18"/>
          <p:cNvSpPr/>
          <p:nvPr/>
        </p:nvSpPr>
        <p:spPr>
          <a:xfrm>
            <a:off x="457200" y="4133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005840" y="4114800"/>
            <a:ext cx="3657600" cy="420624"/>
          </a:xfrm>
          <a:prstGeom prst="rect">
            <a:avLst/>
          </a:prstGeom>
          <a:noFill/>
          <a:ln/>
        </p:spPr>
        <p:txBody>
          <a:bodyPr wrap="square" lIns="0" tIns="0" rIns="0" bIns="0" rtlCol="0" anchor="ctr"/>
          <a:lstStyle/>
          <a:p>
            <a:pPr indent="0" marL="0">
              <a:buNone/>
            </a:pPr>
            <a:r>
              <a:rPr lang="en-US" sz="1400" b="1" dirty="0">
                <a:solidFill>
                  <a:srgbClr val="2F46C4"/>
                </a:solidFill>
                <a:latin typeface="Calibri" pitchFamily="34" charset="0"/>
                <a:ea typeface="Calibri" pitchFamily="34" charset="-122"/>
                <a:cs typeface="Calibri" pitchFamily="34" charset="-120"/>
              </a:rPr>
              <a:t>What control was missing or failed?</a:t>
            </a:r>
            <a:endParaRPr lang="en-US" sz="1400" dirty="0"/>
          </a:p>
        </p:txBody>
      </p:sp>
      <p:sp>
        <p:nvSpPr>
          <p:cNvPr id="22" name="Text 20"/>
          <p:cNvSpPr/>
          <p:nvPr/>
        </p:nvSpPr>
        <p:spPr>
          <a:xfrm>
            <a:off x="4754880" y="4114800"/>
            <a:ext cx="6949440" cy="420624"/>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Technical: default password was never changed. Procedural: no policy requiring credential changes on setup.</a:t>
            </a:r>
            <a:endParaRPr lang="en-US" sz="1350" dirty="0"/>
          </a:p>
        </p:txBody>
      </p:sp>
      <p:sp>
        <p:nvSpPr>
          <p:cNvPr id="23" name="Shape 21"/>
          <p:cNvSpPr/>
          <p:nvPr/>
        </p:nvSpPr>
        <p:spPr>
          <a:xfrm>
            <a:off x="457200" y="4736592"/>
            <a:ext cx="384048" cy="384048"/>
          </a:xfrm>
          <a:prstGeom prst="ellipse">
            <a:avLst/>
          </a:prstGeom>
          <a:solidFill>
            <a:srgbClr val="4361EE"/>
          </a:solidFill>
          <a:ln/>
        </p:spPr>
      </p:sp>
      <p:sp>
        <p:nvSpPr>
          <p:cNvPr id="24" name="Text 22"/>
          <p:cNvSpPr/>
          <p:nvPr/>
        </p:nvSpPr>
        <p:spPr>
          <a:xfrm>
            <a:off x="457200" y="4736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005840" y="4718304"/>
            <a:ext cx="3657600" cy="420624"/>
          </a:xfrm>
          <a:prstGeom prst="rect">
            <a:avLst/>
          </a:prstGeom>
          <a:noFill/>
          <a:ln/>
        </p:spPr>
        <p:txBody>
          <a:bodyPr wrap="square" lIns="0" tIns="0" rIns="0" bIns="0" rtlCol="0" anchor="ctr"/>
          <a:lstStyle/>
          <a:p>
            <a:pPr indent="0" marL="0">
              <a:buNone/>
            </a:pPr>
            <a:r>
              <a:rPr lang="en-US" sz="1400" b="1" dirty="0">
                <a:solidFill>
                  <a:srgbClr val="2F46C4"/>
                </a:solidFill>
                <a:latin typeface="Calibri" pitchFamily="34" charset="0"/>
                <a:ea typeface="Calibri" pitchFamily="34" charset="-122"/>
                <a:cs typeface="Calibri" pitchFamily="34" charset="-120"/>
              </a:rPr>
              <a:t>What would you recommend?</a:t>
            </a:r>
            <a:endParaRPr lang="en-US" sz="1400" dirty="0"/>
          </a:p>
        </p:txBody>
      </p:sp>
      <p:sp>
        <p:nvSpPr>
          <p:cNvPr id="26" name="Text 24"/>
          <p:cNvSpPr/>
          <p:nvPr/>
        </p:nvSpPr>
        <p:spPr>
          <a:xfrm>
            <a:off x="4754880" y="4718304"/>
            <a:ext cx="6949440" cy="420624"/>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Change default credentials immediately; enforce a router hardening checklist as standard procedure.</a:t>
            </a:r>
            <a:endParaRPr lang="en-US" sz="1350" dirty="0"/>
          </a:p>
        </p:txBody>
      </p:sp>
      <p:sp>
        <p:nvSpPr>
          <p:cNvPr id="27" name="Text 25"/>
          <p:cNvSpPr/>
          <p:nvPr/>
        </p:nvSpPr>
        <p:spPr>
          <a:xfrm>
            <a:off x="457200" y="6172200"/>
            <a:ext cx="10515600" cy="365760"/>
          </a:xfrm>
          <a:prstGeom prst="rect">
            <a:avLst/>
          </a:prstGeom>
          <a:noFill/>
          <a:ln/>
        </p:spPr>
        <p:txBody>
          <a:bodyPr wrap="square" lIns="0" tIns="0" rIns="0" bIns="0" rtlCol="0" anchor="ctr"/>
          <a:lstStyle/>
          <a:p>
            <a:pPr indent="0" marL="0">
              <a:buNone/>
            </a:pPr>
            <a:r>
              <a:rPr lang="en-US" sz="1200" i="1" dirty="0">
                <a:solidFill>
                  <a:srgbClr val="5B6178"/>
                </a:solidFill>
                <a:latin typeface="Calibri" pitchFamily="34" charset="0"/>
                <a:ea typeface="Calibri" pitchFamily="34" charset="-122"/>
                <a:cs typeface="Calibri" pitchFamily="34" charset="-120"/>
              </a:rPr>
              <a:t>Teacher think-aloud — talk through each step before students see their own scenarios.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APPLICATION OF LEARNING</a:t>
            </a:r>
            <a:endParaRPr lang="en-US" sz="1300" dirty="0"/>
          </a:p>
        </p:txBody>
      </p:sp>
      <p:sp>
        <p:nvSpPr>
          <p:cNvPr id="5" name="Shape 3"/>
          <p:cNvSpPr/>
          <p:nvPr/>
        </p:nvSpPr>
        <p:spPr>
          <a:xfrm>
            <a:off x="9646920" y="347472"/>
            <a:ext cx="2103120" cy="420624"/>
          </a:xfrm>
          <a:prstGeom prst="roundRect">
            <a:avLst>
              <a:gd name="adj" fmla="val 50000"/>
            </a:avLst>
          </a:prstGeom>
          <a:solidFill>
            <a:srgbClr val="E7F9F1"/>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  DEVICES ON</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3000" b="1" dirty="0">
                <a:solidFill>
                  <a:srgbClr val="16192B"/>
                </a:solidFill>
                <a:latin typeface="Cambria" pitchFamily="34" charset="0"/>
                <a:ea typeface="Cambria" pitchFamily="34" charset="-122"/>
                <a:cs typeface="Cambria" pitchFamily="34" charset="-120"/>
              </a:rPr>
              <a:t>Now You Be the Analyst</a:t>
            </a:r>
            <a:endParaRPr lang="en-US" sz="3000" dirty="0"/>
          </a:p>
        </p:txBody>
      </p:sp>
      <p:sp>
        <p:nvSpPr>
          <p:cNvPr id="8" name="Text 6"/>
          <p:cNvSpPr/>
          <p:nvPr/>
        </p:nvSpPr>
        <p:spPr>
          <a:xfrm>
            <a:off x="457200" y="1508760"/>
            <a:ext cx="7315200" cy="411480"/>
          </a:xfrm>
          <a:prstGeom prst="rect">
            <a:avLst/>
          </a:prstGeom>
          <a:noFill/>
          <a:ln/>
        </p:spPr>
        <p:txBody>
          <a:bodyPr wrap="square" lIns="0" tIns="0" rIns="0" bIns="0" rtlCol="0" anchor="ctr"/>
          <a:lstStyle/>
          <a:p>
            <a:pPr indent="0" marL="0">
              <a:buNone/>
            </a:pPr>
            <a:r>
              <a:rPr lang="en-US" sz="1600" b="1" dirty="0">
                <a:solidFill>
                  <a:srgbClr val="2F46C4"/>
                </a:solidFill>
                <a:latin typeface="Calibri" pitchFamily="34" charset="0"/>
                <a:ea typeface="Calibri" pitchFamily="34" charset="-122"/>
                <a:cs typeface="Calibri" pitchFamily="34" charset="-120"/>
              </a:rPr>
              <a:t>➜ Open your workbook — Section 2</a:t>
            </a:r>
            <a:endParaRPr lang="en-US" sz="1600" dirty="0"/>
          </a:p>
        </p:txBody>
      </p:sp>
      <p:sp>
        <p:nvSpPr>
          <p:cNvPr id="9" name="Shape 7"/>
          <p:cNvSpPr/>
          <p:nvPr/>
        </p:nvSpPr>
        <p:spPr>
          <a:xfrm>
            <a:off x="457200" y="2103120"/>
            <a:ext cx="3630168" cy="2194560"/>
          </a:xfrm>
          <a:prstGeom prst="roundRect">
            <a:avLst>
              <a:gd name="adj" fmla="val 4167"/>
            </a:avLst>
          </a:prstGeom>
          <a:solidFill>
            <a:srgbClr val="F5F7FC"/>
          </a:solidFill>
          <a:ln w="12700">
            <a:solidFill>
              <a:srgbClr val="DDE2EE"/>
            </a:solidFill>
            <a:prstDash val="solid"/>
          </a:ln>
        </p:spPr>
      </p:sp>
      <p:sp>
        <p:nvSpPr>
          <p:cNvPr id="10" name="Text 8"/>
          <p:cNvSpPr/>
          <p:nvPr/>
        </p:nvSpPr>
        <p:spPr>
          <a:xfrm>
            <a:off x="685800" y="2286000"/>
            <a:ext cx="3172968" cy="411480"/>
          </a:xfrm>
          <a:prstGeom prst="rect">
            <a:avLst/>
          </a:prstGeom>
          <a:noFill/>
          <a:ln/>
        </p:spPr>
        <p:txBody>
          <a:bodyPr wrap="square" lIns="0" tIns="0" rIns="0" bIns="0" rtlCol="0" anchor="ctr"/>
          <a:lstStyle/>
          <a:p>
            <a:pPr indent="0" marL="0">
              <a:buNone/>
            </a:pPr>
            <a:r>
              <a:rPr lang="en-US" sz="1600" b="1" dirty="0">
                <a:solidFill>
                  <a:srgbClr val="2F46C4"/>
                </a:solidFill>
                <a:latin typeface="Calibri" pitchFamily="34" charset="0"/>
                <a:ea typeface="Calibri" pitchFamily="34" charset="-122"/>
                <a:cs typeface="Calibri" pitchFamily="34" charset="-120"/>
              </a:rPr>
              <a:t>What you'll do</a:t>
            </a:r>
            <a:endParaRPr lang="en-US" sz="1600" dirty="0"/>
          </a:p>
        </p:txBody>
      </p:sp>
      <p:sp>
        <p:nvSpPr>
          <p:cNvPr id="11" name="Text 9"/>
          <p:cNvSpPr/>
          <p:nvPr/>
        </p:nvSpPr>
        <p:spPr>
          <a:xfrm>
            <a:off x="685800" y="2724912"/>
            <a:ext cx="3172968" cy="1417320"/>
          </a:xfrm>
          <a:prstGeom prst="rect">
            <a:avLst/>
          </a:prstGeom>
          <a:noFill/>
          <a:ln/>
        </p:spPr>
        <p:txBody>
          <a:bodyPr wrap="square" lIns="0" tIns="0" rIns="0" bIns="0" rtlCol="0" anchor="t"/>
          <a:lstStyle/>
          <a:p>
            <a:pPr indent="0" marL="0">
              <a:buNone/>
            </a:pPr>
            <a:r>
              <a:rPr lang="en-US" sz="1350" dirty="0">
                <a:solidFill>
                  <a:srgbClr val="16192B"/>
                </a:solidFill>
                <a:latin typeface="Calibri" pitchFamily="34" charset="0"/>
                <a:ea typeface="Calibri" pitchFamily="34" charset="-122"/>
                <a:cs typeface="Calibri" pitchFamily="34" charset="-120"/>
              </a:rPr>
              <a:t>Work through incident-report scenarios and answer the same 4 questions we just modelled together.</a:t>
            </a:r>
            <a:endParaRPr lang="en-US" sz="1350" dirty="0"/>
          </a:p>
        </p:txBody>
      </p:sp>
      <p:sp>
        <p:nvSpPr>
          <p:cNvPr id="12" name="Shape 10"/>
          <p:cNvSpPr/>
          <p:nvPr/>
        </p:nvSpPr>
        <p:spPr>
          <a:xfrm>
            <a:off x="4270248" y="2103120"/>
            <a:ext cx="3630168" cy="2194560"/>
          </a:xfrm>
          <a:prstGeom prst="roundRect">
            <a:avLst>
              <a:gd name="adj" fmla="val 4167"/>
            </a:avLst>
          </a:prstGeom>
          <a:solidFill>
            <a:srgbClr val="F5F7FC"/>
          </a:solidFill>
          <a:ln w="12700">
            <a:solidFill>
              <a:srgbClr val="DDE2EE"/>
            </a:solidFill>
            <a:prstDash val="solid"/>
          </a:ln>
        </p:spPr>
      </p:sp>
      <p:sp>
        <p:nvSpPr>
          <p:cNvPr id="13" name="Text 11"/>
          <p:cNvSpPr/>
          <p:nvPr/>
        </p:nvSpPr>
        <p:spPr>
          <a:xfrm>
            <a:off x="4498848" y="2286000"/>
            <a:ext cx="3172968" cy="411480"/>
          </a:xfrm>
          <a:prstGeom prst="rect">
            <a:avLst/>
          </a:prstGeom>
          <a:noFill/>
          <a:ln/>
        </p:spPr>
        <p:txBody>
          <a:bodyPr wrap="square" lIns="0" tIns="0" rIns="0" bIns="0" rtlCol="0" anchor="ctr"/>
          <a:lstStyle/>
          <a:p>
            <a:pPr indent="0" marL="0">
              <a:buNone/>
            </a:pPr>
            <a:r>
              <a:rPr lang="en-US" sz="1600" b="1" dirty="0">
                <a:solidFill>
                  <a:srgbClr val="2F46C4"/>
                </a:solidFill>
                <a:latin typeface="Calibri" pitchFamily="34" charset="0"/>
                <a:ea typeface="Calibri" pitchFamily="34" charset="-122"/>
                <a:cs typeface="Calibri" pitchFamily="34" charset="-120"/>
              </a:rPr>
              <a:t>How</a:t>
            </a:r>
            <a:endParaRPr lang="en-US" sz="1600" dirty="0"/>
          </a:p>
        </p:txBody>
      </p:sp>
      <p:sp>
        <p:nvSpPr>
          <p:cNvPr id="14" name="Text 12"/>
          <p:cNvSpPr/>
          <p:nvPr/>
        </p:nvSpPr>
        <p:spPr>
          <a:xfrm>
            <a:off x="4498848" y="2724912"/>
            <a:ext cx="3172968" cy="1417320"/>
          </a:xfrm>
          <a:prstGeom prst="rect">
            <a:avLst/>
          </a:prstGeom>
          <a:noFill/>
          <a:ln/>
        </p:spPr>
        <p:txBody>
          <a:bodyPr wrap="square" lIns="0" tIns="0" rIns="0" bIns="0" rtlCol="0" anchor="t"/>
          <a:lstStyle/>
          <a:p>
            <a:pPr indent="0" marL="0">
              <a:buNone/>
            </a:pPr>
            <a:r>
              <a:rPr lang="en-US" sz="1350" dirty="0">
                <a:solidFill>
                  <a:srgbClr val="16192B"/>
                </a:solidFill>
                <a:latin typeface="Calibri" pitchFamily="34" charset="0"/>
                <a:ea typeface="Calibri" pitchFamily="34" charset="-122"/>
                <a:cs typeface="Calibri" pitchFamily="34" charset="-120"/>
              </a:rPr>
              <a:t>Individually or in pairs — your teacher will tell you which. Use your recap notes and the unit site if you get stuck.</a:t>
            </a:r>
            <a:endParaRPr lang="en-US" sz="1350" dirty="0"/>
          </a:p>
        </p:txBody>
      </p:sp>
      <p:sp>
        <p:nvSpPr>
          <p:cNvPr id="15" name="Shape 13"/>
          <p:cNvSpPr/>
          <p:nvPr/>
        </p:nvSpPr>
        <p:spPr>
          <a:xfrm>
            <a:off x="8083296" y="2103120"/>
            <a:ext cx="3630168" cy="2194560"/>
          </a:xfrm>
          <a:prstGeom prst="roundRect">
            <a:avLst>
              <a:gd name="adj" fmla="val 4167"/>
            </a:avLst>
          </a:prstGeom>
          <a:solidFill>
            <a:srgbClr val="F5F7FC"/>
          </a:solidFill>
          <a:ln w="12700">
            <a:solidFill>
              <a:srgbClr val="DDE2EE"/>
            </a:solidFill>
            <a:prstDash val="solid"/>
          </a:ln>
        </p:spPr>
      </p:sp>
      <p:sp>
        <p:nvSpPr>
          <p:cNvPr id="16" name="Text 14"/>
          <p:cNvSpPr/>
          <p:nvPr/>
        </p:nvSpPr>
        <p:spPr>
          <a:xfrm>
            <a:off x="8311896" y="2286000"/>
            <a:ext cx="3172968" cy="411480"/>
          </a:xfrm>
          <a:prstGeom prst="rect">
            <a:avLst/>
          </a:prstGeom>
          <a:noFill/>
          <a:ln/>
        </p:spPr>
        <p:txBody>
          <a:bodyPr wrap="square" lIns="0" tIns="0" rIns="0" bIns="0" rtlCol="0" anchor="ctr"/>
          <a:lstStyle/>
          <a:p>
            <a:pPr indent="0" marL="0">
              <a:buNone/>
            </a:pPr>
            <a:r>
              <a:rPr lang="en-US" sz="1600" b="1" dirty="0">
                <a:solidFill>
                  <a:srgbClr val="2F46C4"/>
                </a:solidFill>
                <a:latin typeface="Calibri" pitchFamily="34" charset="0"/>
                <a:ea typeface="Calibri" pitchFamily="34" charset="-122"/>
                <a:cs typeface="Calibri" pitchFamily="34" charset="-120"/>
              </a:rPr>
              <a:t>Choose your challenge</a:t>
            </a:r>
            <a:endParaRPr lang="en-US" sz="1600" dirty="0"/>
          </a:p>
        </p:txBody>
      </p:sp>
      <p:sp>
        <p:nvSpPr>
          <p:cNvPr id="17" name="Text 15"/>
          <p:cNvSpPr/>
          <p:nvPr/>
        </p:nvSpPr>
        <p:spPr>
          <a:xfrm>
            <a:off x="8311896" y="2724912"/>
            <a:ext cx="3172968" cy="1417320"/>
          </a:xfrm>
          <a:prstGeom prst="rect">
            <a:avLst/>
          </a:prstGeom>
          <a:noFill/>
          <a:ln/>
        </p:spPr>
        <p:txBody>
          <a:bodyPr wrap="square" lIns="0" tIns="0" rIns="0" bIns="0" rtlCol="0" anchor="t"/>
          <a:lstStyle/>
          <a:p>
            <a:pPr indent="0" marL="0">
              <a:buNone/>
            </a:pPr>
            <a:r>
              <a:rPr lang="en-US" sz="1350" dirty="0">
                <a:solidFill>
                  <a:srgbClr val="16192B"/>
                </a:solidFill>
                <a:latin typeface="Calibri" pitchFamily="34" charset="0"/>
                <a:ea typeface="Calibri" pitchFamily="34" charset="-122"/>
                <a:cs typeface="Calibri" pitchFamily="34" charset="-120"/>
              </a:rPr>
              <a:t>Scenarios are tiered 🟢🟡🟣. Start where you're comfortable — you can attempt more than one.</a:t>
            </a:r>
            <a:endParaRPr lang="en-US" sz="1350" dirty="0"/>
          </a:p>
        </p:txBody>
      </p:sp>
      <p:sp>
        <p:nvSpPr>
          <p:cNvPr id="18" name="Shape 16"/>
          <p:cNvSpPr/>
          <p:nvPr/>
        </p:nvSpPr>
        <p:spPr>
          <a:xfrm>
            <a:off x="457200" y="4526280"/>
            <a:ext cx="11247120" cy="1463040"/>
          </a:xfrm>
          <a:prstGeom prst="roundRect">
            <a:avLst>
              <a:gd name="adj" fmla="val 6250"/>
            </a:avLst>
          </a:prstGeom>
          <a:solidFill>
            <a:srgbClr val="EEF1FF"/>
          </a:solidFill>
          <a:ln/>
        </p:spPr>
      </p:sp>
      <p:sp>
        <p:nvSpPr>
          <p:cNvPr id="19" name="Text 17"/>
          <p:cNvSpPr/>
          <p:nvPr/>
        </p:nvSpPr>
        <p:spPr>
          <a:xfrm>
            <a:off x="777240" y="4709160"/>
            <a:ext cx="4572000" cy="365760"/>
          </a:xfrm>
          <a:prstGeom prst="rect">
            <a:avLst/>
          </a:prstGeom>
          <a:noFill/>
          <a:ln/>
        </p:spPr>
        <p:txBody>
          <a:bodyPr wrap="square" lIns="0" tIns="0" rIns="0" bIns="0" rtlCol="0" anchor="ctr"/>
          <a:lstStyle/>
          <a:p>
            <a:pPr indent="0" marL="0">
              <a:buNone/>
            </a:pPr>
            <a:r>
              <a:rPr lang="en-US" sz="1400" b="1" dirty="0">
                <a:solidFill>
                  <a:srgbClr val="2F46C4"/>
                </a:solidFill>
                <a:latin typeface="Calibri" pitchFamily="34" charset="0"/>
                <a:ea typeface="Calibri" pitchFamily="34" charset="-122"/>
                <a:cs typeface="Calibri" pitchFamily="34" charset="-120"/>
              </a:rPr>
              <a:t>⏱  Timing: ~20–25 minutes</a:t>
            </a:r>
            <a:endParaRPr lang="en-US" sz="1400" dirty="0"/>
          </a:p>
        </p:txBody>
      </p:sp>
      <p:sp>
        <p:nvSpPr>
          <p:cNvPr id="20" name="Text 18"/>
          <p:cNvSpPr/>
          <p:nvPr/>
        </p:nvSpPr>
        <p:spPr>
          <a:xfrm>
            <a:off x="777240" y="5074920"/>
            <a:ext cx="10607040" cy="777240"/>
          </a:xfrm>
          <a:prstGeom prst="rect">
            <a:avLst/>
          </a:prstGeom>
          <a:noFill/>
          <a:ln/>
        </p:spPr>
        <p:txBody>
          <a:bodyPr wrap="square" lIns="0" tIns="0" rIns="0" bIns="0" rtlCol="0" anchor="t"/>
          <a:lstStyle/>
          <a:p>
            <a:pPr indent="0" marL="0">
              <a:buNone/>
            </a:pPr>
            <a:r>
              <a:rPr lang="en-US" sz="1400" dirty="0">
                <a:solidFill>
                  <a:srgbClr val="16192B"/>
                </a:solidFill>
                <a:latin typeface="Calibri" pitchFamily="34" charset="0"/>
                <a:ea typeface="Calibri" pitchFamily="34" charset="-122"/>
                <a:cs typeface="Calibri" pitchFamily="34" charset="-120"/>
              </a:rPr>
              <a:t>For each scenario, structure your answer as: What happened? → Attack type? → Control gap? → Recommendation (+ justification for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APPLICATION OF LEARNING</a:t>
            </a:r>
            <a:endParaRPr lang="en-US" sz="1300" dirty="0"/>
          </a:p>
        </p:txBody>
      </p:sp>
      <p:sp>
        <p:nvSpPr>
          <p:cNvPr id="5" name="Shape 3"/>
          <p:cNvSpPr/>
          <p:nvPr/>
        </p:nvSpPr>
        <p:spPr>
          <a:xfrm>
            <a:off x="9646920" y="347472"/>
            <a:ext cx="2103120" cy="420624"/>
          </a:xfrm>
          <a:prstGeom prst="roundRect">
            <a:avLst>
              <a:gd name="adj" fmla="val 50000"/>
            </a:avLst>
          </a:prstGeom>
          <a:solidFill>
            <a:srgbClr val="E7F9F1"/>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  DEVICES ON</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3000" b="1" dirty="0">
                <a:solidFill>
                  <a:srgbClr val="16192B"/>
                </a:solidFill>
                <a:latin typeface="Cambria" pitchFamily="34" charset="0"/>
                <a:ea typeface="Cambria" pitchFamily="34" charset="-122"/>
                <a:cs typeface="Cambria" pitchFamily="34" charset="-120"/>
              </a:rPr>
              <a:t>Scenario Menu</a:t>
            </a:r>
            <a:endParaRPr lang="en-US" sz="3000" dirty="0"/>
          </a:p>
        </p:txBody>
      </p:sp>
      <p:sp>
        <p:nvSpPr>
          <p:cNvPr id="8" name="Shape 6"/>
          <p:cNvSpPr/>
          <p:nvPr/>
        </p:nvSpPr>
        <p:spPr>
          <a:xfrm>
            <a:off x="457200" y="1600200"/>
            <a:ext cx="11247120" cy="960120"/>
          </a:xfrm>
          <a:prstGeom prst="roundRect">
            <a:avLst>
              <a:gd name="adj" fmla="val 9524"/>
            </a:avLst>
          </a:prstGeom>
          <a:solidFill>
            <a:srgbClr val="FFFFFF"/>
          </a:solidFill>
          <a:ln w="15875">
            <a:solidFill>
              <a:srgbClr val="DDE2EE"/>
            </a:solidFill>
            <a:prstDash val="solid"/>
          </a:ln>
        </p:spPr>
      </p:sp>
      <p:sp>
        <p:nvSpPr>
          <p:cNvPr id="9" name="Shape 7"/>
          <p:cNvSpPr/>
          <p:nvPr/>
        </p:nvSpPr>
        <p:spPr>
          <a:xfrm>
            <a:off x="685800" y="1911096"/>
            <a:ext cx="1874520" cy="347472"/>
          </a:xfrm>
          <a:prstGeom prst="roundRect">
            <a:avLst>
              <a:gd name="adj" fmla="val 50000"/>
            </a:avLst>
          </a:prstGeom>
          <a:solidFill>
            <a:srgbClr val="E7F9F1"/>
          </a:solidFill>
          <a:ln w="12700">
            <a:solidFill>
              <a:srgbClr val="10B981"/>
            </a:solidFill>
            <a:prstDash val="solid"/>
          </a:ln>
        </p:spPr>
      </p:sp>
      <p:sp>
        <p:nvSpPr>
          <p:cNvPr id="10" name="Text 8"/>
          <p:cNvSpPr/>
          <p:nvPr/>
        </p:nvSpPr>
        <p:spPr>
          <a:xfrm>
            <a:off x="685800" y="1911096"/>
            <a:ext cx="18745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FOUNDATION</a:t>
            </a:r>
            <a:endParaRPr lang="en-US" sz="1100" dirty="0"/>
          </a:p>
        </p:txBody>
      </p:sp>
      <p:sp>
        <p:nvSpPr>
          <p:cNvPr id="11" name="Text 9"/>
          <p:cNvSpPr/>
          <p:nvPr/>
        </p:nvSpPr>
        <p:spPr>
          <a:xfrm>
            <a:off x="2743200" y="1691640"/>
            <a:ext cx="8778240" cy="384048"/>
          </a:xfrm>
          <a:prstGeom prst="rect">
            <a:avLst/>
          </a:prstGeom>
          <a:noFill/>
          <a:ln/>
        </p:spPr>
        <p:txBody>
          <a:bodyPr wrap="square" lIns="0" tIns="0" rIns="0" bIns="0" rtlCol="0" anchor="ctr"/>
          <a:lstStyle/>
          <a:p>
            <a:pPr indent="0" marL="0">
              <a:buNone/>
            </a:pPr>
            <a:r>
              <a:rPr lang="en-US" sz="1600" b="1" dirty="0">
                <a:solidFill>
                  <a:srgbClr val="16192B"/>
                </a:solidFill>
                <a:latin typeface="Calibri" pitchFamily="34" charset="0"/>
                <a:ea typeface="Calibri" pitchFamily="34" charset="-122"/>
                <a:cs typeface="Calibri" pitchFamily="34" charset="-120"/>
              </a:rPr>
              <a:t>Scenario A — The Urgent Invoice</a:t>
            </a:r>
            <a:endParaRPr lang="en-US" sz="1600" dirty="0"/>
          </a:p>
        </p:txBody>
      </p:sp>
      <p:sp>
        <p:nvSpPr>
          <p:cNvPr id="12" name="Text 10"/>
          <p:cNvSpPr/>
          <p:nvPr/>
        </p:nvSpPr>
        <p:spPr>
          <a:xfrm>
            <a:off x="2743200" y="2057400"/>
            <a:ext cx="8778240" cy="411480"/>
          </a:xfrm>
          <a:prstGeom prst="rect">
            <a:avLst/>
          </a:prstGeom>
          <a:noFill/>
          <a:ln/>
        </p:spPr>
        <p:txBody>
          <a:bodyPr wrap="square" lIns="0" tIns="0" rIns="0" bIns="0" rtlCol="0" anchor="ctr"/>
          <a:lstStyle/>
          <a:p>
            <a:pPr indent="0" marL="0">
              <a:buNone/>
            </a:pPr>
            <a:r>
              <a:rPr lang="en-US" sz="1350" dirty="0">
                <a:solidFill>
                  <a:srgbClr val="5B6178"/>
                </a:solidFill>
                <a:latin typeface="Calibri" pitchFamily="34" charset="0"/>
                <a:ea typeface="Calibri" pitchFamily="34" charset="-122"/>
                <a:cs typeface="Calibri" pitchFamily="34" charset="-120"/>
              </a:rPr>
              <a:t>A single phishing email targets one employee's login.</a:t>
            </a:r>
            <a:endParaRPr lang="en-US" sz="1350" dirty="0"/>
          </a:p>
        </p:txBody>
      </p:sp>
      <p:sp>
        <p:nvSpPr>
          <p:cNvPr id="13" name="Shape 11"/>
          <p:cNvSpPr/>
          <p:nvPr/>
        </p:nvSpPr>
        <p:spPr>
          <a:xfrm>
            <a:off x="457200" y="2697480"/>
            <a:ext cx="11247120" cy="960120"/>
          </a:xfrm>
          <a:prstGeom prst="roundRect">
            <a:avLst>
              <a:gd name="adj" fmla="val 9524"/>
            </a:avLst>
          </a:prstGeom>
          <a:solidFill>
            <a:srgbClr val="FFFFFF"/>
          </a:solidFill>
          <a:ln w="15875">
            <a:solidFill>
              <a:srgbClr val="DDE2EE"/>
            </a:solidFill>
            <a:prstDash val="solid"/>
          </a:ln>
        </p:spPr>
      </p:sp>
      <p:sp>
        <p:nvSpPr>
          <p:cNvPr id="14" name="Shape 12"/>
          <p:cNvSpPr/>
          <p:nvPr/>
        </p:nvSpPr>
        <p:spPr>
          <a:xfrm>
            <a:off x="685800" y="3008376"/>
            <a:ext cx="1874520" cy="347472"/>
          </a:xfrm>
          <a:prstGeom prst="roundRect">
            <a:avLst>
              <a:gd name="adj" fmla="val 50000"/>
            </a:avLst>
          </a:prstGeom>
          <a:solidFill>
            <a:srgbClr val="FEF3DE"/>
          </a:solidFill>
          <a:ln w="12700">
            <a:solidFill>
              <a:srgbClr val="F59E0B"/>
            </a:solidFill>
            <a:prstDash val="solid"/>
          </a:ln>
        </p:spPr>
      </p:sp>
      <p:sp>
        <p:nvSpPr>
          <p:cNvPr id="15" name="Text 13"/>
          <p:cNvSpPr/>
          <p:nvPr/>
        </p:nvSpPr>
        <p:spPr>
          <a:xfrm>
            <a:off x="685800" y="3008376"/>
            <a:ext cx="18745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DEVELOPING</a:t>
            </a:r>
            <a:endParaRPr lang="en-US" sz="1100" dirty="0"/>
          </a:p>
        </p:txBody>
      </p:sp>
      <p:sp>
        <p:nvSpPr>
          <p:cNvPr id="16" name="Text 14"/>
          <p:cNvSpPr/>
          <p:nvPr/>
        </p:nvSpPr>
        <p:spPr>
          <a:xfrm>
            <a:off x="2743200" y="2788920"/>
            <a:ext cx="8778240" cy="384048"/>
          </a:xfrm>
          <a:prstGeom prst="rect">
            <a:avLst/>
          </a:prstGeom>
          <a:noFill/>
          <a:ln/>
        </p:spPr>
        <p:txBody>
          <a:bodyPr wrap="square" lIns="0" tIns="0" rIns="0" bIns="0" rtlCol="0" anchor="ctr"/>
          <a:lstStyle/>
          <a:p>
            <a:pPr indent="0" marL="0">
              <a:buNone/>
            </a:pPr>
            <a:r>
              <a:rPr lang="en-US" sz="1600" b="1" dirty="0">
                <a:solidFill>
                  <a:srgbClr val="16192B"/>
                </a:solidFill>
                <a:latin typeface="Calibri" pitchFamily="34" charset="0"/>
                <a:ea typeface="Calibri" pitchFamily="34" charset="-122"/>
                <a:cs typeface="Calibri" pitchFamily="34" charset="-120"/>
              </a:rPr>
              <a:t>Scenario B — No Second Lock</a:t>
            </a:r>
            <a:endParaRPr lang="en-US" sz="1600" dirty="0"/>
          </a:p>
        </p:txBody>
      </p:sp>
      <p:sp>
        <p:nvSpPr>
          <p:cNvPr id="17" name="Text 15"/>
          <p:cNvSpPr/>
          <p:nvPr/>
        </p:nvSpPr>
        <p:spPr>
          <a:xfrm>
            <a:off x="2743200" y="3154680"/>
            <a:ext cx="8778240" cy="411480"/>
          </a:xfrm>
          <a:prstGeom prst="rect">
            <a:avLst/>
          </a:prstGeom>
          <a:noFill/>
          <a:ln/>
        </p:spPr>
        <p:txBody>
          <a:bodyPr wrap="square" lIns="0" tIns="0" rIns="0" bIns="0" rtlCol="0" anchor="ctr"/>
          <a:lstStyle/>
          <a:p>
            <a:pPr indent="0" marL="0">
              <a:buNone/>
            </a:pPr>
            <a:r>
              <a:rPr lang="en-US" sz="1350" dirty="0">
                <a:solidFill>
                  <a:srgbClr val="5B6178"/>
                </a:solidFill>
                <a:latin typeface="Calibri" pitchFamily="34" charset="0"/>
                <a:ea typeface="Calibri" pitchFamily="34" charset="-122"/>
                <a:cs typeface="Calibri" pitchFamily="34" charset="-120"/>
              </a:rPr>
              <a:t>Stolen credentials plus a missing MFA step lead to a data breach.</a:t>
            </a:r>
            <a:endParaRPr lang="en-US" sz="1350" dirty="0"/>
          </a:p>
        </p:txBody>
      </p:sp>
      <p:sp>
        <p:nvSpPr>
          <p:cNvPr id="18" name="Shape 16"/>
          <p:cNvSpPr/>
          <p:nvPr/>
        </p:nvSpPr>
        <p:spPr>
          <a:xfrm>
            <a:off x="457200" y="3794760"/>
            <a:ext cx="11247120" cy="960120"/>
          </a:xfrm>
          <a:prstGeom prst="roundRect">
            <a:avLst>
              <a:gd name="adj" fmla="val 9524"/>
            </a:avLst>
          </a:prstGeom>
          <a:solidFill>
            <a:srgbClr val="FFFFFF"/>
          </a:solidFill>
          <a:ln w="15875">
            <a:solidFill>
              <a:srgbClr val="DDE2EE"/>
            </a:solidFill>
            <a:prstDash val="solid"/>
          </a:ln>
        </p:spPr>
      </p:sp>
      <p:sp>
        <p:nvSpPr>
          <p:cNvPr id="19" name="Shape 17"/>
          <p:cNvSpPr/>
          <p:nvPr/>
        </p:nvSpPr>
        <p:spPr>
          <a:xfrm>
            <a:off x="685800" y="4105656"/>
            <a:ext cx="1874520" cy="347472"/>
          </a:xfrm>
          <a:prstGeom prst="roundRect">
            <a:avLst>
              <a:gd name="adj" fmla="val 50000"/>
            </a:avLst>
          </a:prstGeom>
          <a:solidFill>
            <a:srgbClr val="FEF3DE"/>
          </a:solidFill>
          <a:ln w="12700">
            <a:solidFill>
              <a:srgbClr val="F59E0B"/>
            </a:solidFill>
            <a:prstDash val="solid"/>
          </a:ln>
        </p:spPr>
      </p:sp>
      <p:sp>
        <p:nvSpPr>
          <p:cNvPr id="20" name="Text 18"/>
          <p:cNvSpPr/>
          <p:nvPr/>
        </p:nvSpPr>
        <p:spPr>
          <a:xfrm>
            <a:off x="685800" y="4105656"/>
            <a:ext cx="18745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DEVELOPING</a:t>
            </a:r>
            <a:endParaRPr lang="en-US" sz="1100" dirty="0"/>
          </a:p>
        </p:txBody>
      </p:sp>
      <p:sp>
        <p:nvSpPr>
          <p:cNvPr id="21" name="Text 19"/>
          <p:cNvSpPr/>
          <p:nvPr/>
        </p:nvSpPr>
        <p:spPr>
          <a:xfrm>
            <a:off x="2743200" y="3886200"/>
            <a:ext cx="8778240" cy="384048"/>
          </a:xfrm>
          <a:prstGeom prst="rect">
            <a:avLst/>
          </a:prstGeom>
          <a:noFill/>
          <a:ln/>
        </p:spPr>
        <p:txBody>
          <a:bodyPr wrap="square" lIns="0" tIns="0" rIns="0" bIns="0" rtlCol="0" anchor="ctr"/>
          <a:lstStyle/>
          <a:p>
            <a:pPr indent="0" marL="0">
              <a:buNone/>
            </a:pPr>
            <a:r>
              <a:rPr lang="en-US" sz="1600" b="1" dirty="0">
                <a:solidFill>
                  <a:srgbClr val="16192B"/>
                </a:solidFill>
                <a:latin typeface="Calibri" pitchFamily="34" charset="0"/>
                <a:ea typeface="Calibri" pitchFamily="34" charset="-122"/>
                <a:cs typeface="Calibri" pitchFamily="34" charset="-120"/>
              </a:rPr>
              <a:t>Scenario C — Site Down</a:t>
            </a:r>
            <a:endParaRPr lang="en-US" sz="1600" dirty="0"/>
          </a:p>
        </p:txBody>
      </p:sp>
      <p:sp>
        <p:nvSpPr>
          <p:cNvPr id="22" name="Text 20"/>
          <p:cNvSpPr/>
          <p:nvPr/>
        </p:nvSpPr>
        <p:spPr>
          <a:xfrm>
            <a:off x="2743200" y="4251960"/>
            <a:ext cx="8778240" cy="411480"/>
          </a:xfrm>
          <a:prstGeom prst="rect">
            <a:avLst/>
          </a:prstGeom>
          <a:noFill/>
          <a:ln/>
        </p:spPr>
        <p:txBody>
          <a:bodyPr wrap="square" lIns="0" tIns="0" rIns="0" bIns="0" rtlCol="0" anchor="ctr"/>
          <a:lstStyle/>
          <a:p>
            <a:pPr indent="0" marL="0">
              <a:buNone/>
            </a:pPr>
            <a:r>
              <a:rPr lang="en-US" sz="1350" dirty="0">
                <a:solidFill>
                  <a:srgbClr val="5B6178"/>
                </a:solidFill>
                <a:latin typeface="Calibri" pitchFamily="34" charset="0"/>
                <a:ea typeface="Calibri" pitchFamily="34" charset="-122"/>
                <a:cs typeface="Calibri" pitchFamily="34" charset="-120"/>
              </a:rPr>
              <a:t>A DDoS attack overwhelms a small business site with no traffic filtering.</a:t>
            </a:r>
            <a:endParaRPr lang="en-US" sz="1350" dirty="0"/>
          </a:p>
        </p:txBody>
      </p:sp>
      <p:sp>
        <p:nvSpPr>
          <p:cNvPr id="23" name="Shape 21"/>
          <p:cNvSpPr/>
          <p:nvPr/>
        </p:nvSpPr>
        <p:spPr>
          <a:xfrm>
            <a:off x="457200" y="4892040"/>
            <a:ext cx="11247120" cy="960120"/>
          </a:xfrm>
          <a:prstGeom prst="roundRect">
            <a:avLst>
              <a:gd name="adj" fmla="val 9524"/>
            </a:avLst>
          </a:prstGeom>
          <a:solidFill>
            <a:srgbClr val="FFFFFF"/>
          </a:solidFill>
          <a:ln w="15875">
            <a:solidFill>
              <a:srgbClr val="DDE2EE"/>
            </a:solidFill>
            <a:prstDash val="solid"/>
          </a:ln>
        </p:spPr>
      </p:sp>
      <p:sp>
        <p:nvSpPr>
          <p:cNvPr id="24" name="Shape 22"/>
          <p:cNvSpPr/>
          <p:nvPr/>
        </p:nvSpPr>
        <p:spPr>
          <a:xfrm>
            <a:off x="685800" y="5202936"/>
            <a:ext cx="1874520" cy="347472"/>
          </a:xfrm>
          <a:prstGeom prst="roundRect">
            <a:avLst>
              <a:gd name="adj" fmla="val 50000"/>
            </a:avLst>
          </a:prstGeom>
          <a:solidFill>
            <a:srgbClr val="F1EBFE"/>
          </a:solidFill>
          <a:ln w="12700">
            <a:solidFill>
              <a:srgbClr val="8B5CF6"/>
            </a:solidFill>
            <a:prstDash val="solid"/>
          </a:ln>
        </p:spPr>
      </p:sp>
      <p:sp>
        <p:nvSpPr>
          <p:cNvPr id="25" name="Text 23"/>
          <p:cNvSpPr/>
          <p:nvPr/>
        </p:nvSpPr>
        <p:spPr>
          <a:xfrm>
            <a:off x="685800" y="5202936"/>
            <a:ext cx="187452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EXTENDING</a:t>
            </a:r>
            <a:endParaRPr lang="en-US" sz="1100" dirty="0"/>
          </a:p>
        </p:txBody>
      </p:sp>
      <p:sp>
        <p:nvSpPr>
          <p:cNvPr id="26" name="Text 24"/>
          <p:cNvSpPr/>
          <p:nvPr/>
        </p:nvSpPr>
        <p:spPr>
          <a:xfrm>
            <a:off x="2743200" y="4983480"/>
            <a:ext cx="8778240" cy="384048"/>
          </a:xfrm>
          <a:prstGeom prst="rect">
            <a:avLst/>
          </a:prstGeom>
          <a:noFill/>
          <a:ln/>
        </p:spPr>
        <p:txBody>
          <a:bodyPr wrap="square" lIns="0" tIns="0" rIns="0" bIns="0" rtlCol="0" anchor="ctr"/>
          <a:lstStyle/>
          <a:p>
            <a:pPr indent="0" marL="0">
              <a:buNone/>
            </a:pPr>
            <a:r>
              <a:rPr lang="en-US" sz="1600" b="1" dirty="0">
                <a:solidFill>
                  <a:srgbClr val="16192B"/>
                </a:solidFill>
                <a:latin typeface="Calibri" pitchFamily="34" charset="0"/>
                <a:ea typeface="Calibri" pitchFamily="34" charset="-122"/>
                <a:cs typeface="Calibri" pitchFamily="34" charset="-120"/>
              </a:rPr>
              <a:t>Scenario D — The Long Game</a:t>
            </a:r>
            <a:endParaRPr lang="en-US" sz="1600" dirty="0"/>
          </a:p>
        </p:txBody>
      </p:sp>
      <p:sp>
        <p:nvSpPr>
          <p:cNvPr id="27" name="Text 25"/>
          <p:cNvSpPr/>
          <p:nvPr/>
        </p:nvSpPr>
        <p:spPr>
          <a:xfrm>
            <a:off x="2743200" y="5349240"/>
            <a:ext cx="8778240" cy="411480"/>
          </a:xfrm>
          <a:prstGeom prst="rect">
            <a:avLst/>
          </a:prstGeom>
          <a:noFill/>
          <a:ln/>
        </p:spPr>
        <p:txBody>
          <a:bodyPr wrap="square" lIns="0" tIns="0" rIns="0" bIns="0" rtlCol="0" anchor="ctr"/>
          <a:lstStyle/>
          <a:p>
            <a:pPr indent="0" marL="0">
              <a:buNone/>
            </a:pPr>
            <a:r>
              <a:rPr lang="en-US" sz="1350" dirty="0">
                <a:solidFill>
                  <a:srgbClr val="5B6178"/>
                </a:solidFill>
                <a:latin typeface="Calibri" pitchFamily="34" charset="0"/>
                <a:ea typeface="Calibri" pitchFamily="34" charset="-122"/>
                <a:cs typeface="Calibri" pitchFamily="34" charset="-120"/>
              </a:rPr>
              <a:t>A layered incident combining an insider gap and a technical failure — evaluate trade-offs.</a:t>
            </a:r>
            <a:endParaRPr lang="en-US" sz="1350" dirty="0"/>
          </a:p>
        </p:txBody>
      </p:sp>
      <p:sp>
        <p:nvSpPr>
          <p:cNvPr id="28" name="Text 26"/>
          <p:cNvSpPr/>
          <p:nvPr/>
        </p:nvSpPr>
        <p:spPr>
          <a:xfrm>
            <a:off x="457200" y="6263640"/>
            <a:ext cx="11247120" cy="320040"/>
          </a:xfrm>
          <a:prstGeom prst="rect">
            <a:avLst/>
          </a:prstGeom>
          <a:noFill/>
          <a:ln/>
        </p:spPr>
        <p:txBody>
          <a:bodyPr wrap="square" lIns="0" tIns="0" rIns="0" bIns="0"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Full incident reports and question fields are in your workbook. Aim to complete at least one scenario fully.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2B"/>
        </a:solidFill>
      </p:bgPr>
    </p:bg>
    <p:spTree>
      <p:nvGrpSpPr>
        <p:cNvPr id="1" name=""/>
        <p:cNvGrpSpPr/>
        <p:nvPr/>
      </p:nvGrpSpPr>
      <p:grpSpPr>
        <a:xfrm>
          <a:off x="0" y="0"/>
          <a:ext cx="0" cy="0"/>
          <a:chOff x="0" y="0"/>
          <a:chExt cx="0" cy="0"/>
        </a:xfrm>
      </p:grpSpPr>
      <p:sp>
        <p:nvSpPr>
          <p:cNvPr id="2" name="Shape 0"/>
          <p:cNvSpPr/>
          <p:nvPr/>
        </p:nvSpPr>
        <p:spPr>
          <a:xfrm>
            <a:off x="5175504" y="1188720"/>
            <a:ext cx="1828800" cy="1828800"/>
          </a:xfrm>
          <a:prstGeom prst="ellipse">
            <a:avLst/>
          </a:prstGeom>
          <a:solidFill>
            <a:srgbClr val="4361EE"/>
          </a:solidFill>
          <a:ln/>
        </p:spPr>
      </p:sp>
      <p:sp>
        <p:nvSpPr>
          <p:cNvPr id="3" name="Text 1"/>
          <p:cNvSpPr/>
          <p:nvPr/>
        </p:nvSpPr>
        <p:spPr>
          <a:xfrm>
            <a:off x="5175504" y="1188720"/>
            <a:ext cx="1828800" cy="1828800"/>
          </a:xfrm>
          <a:prstGeom prst="rect">
            <a:avLst/>
          </a:prstGeom>
          <a:noFill/>
          <a:ln/>
        </p:spPr>
        <p:txBody>
          <a:bodyPr wrap="square" lIns="0" tIns="0" rIns="0" bIns="0" rtlCol="0" anchor="ctr"/>
          <a:lstStyle/>
          <a:p>
            <a:pPr algn="ctr" indent="0" marL="0">
              <a:buNone/>
            </a:pPr>
            <a:r>
              <a:rPr lang="en-US" sz="4400" dirty="0">
                <a:solidFill>
                  <a:srgbClr val="000000"/>
                </a:solidFill>
                <a:latin typeface="Calibri" pitchFamily="34" charset="0"/>
                <a:ea typeface="Calibri" pitchFamily="34" charset="-122"/>
                <a:cs typeface="Calibri" pitchFamily="34" charset="-120"/>
              </a:rPr>
              <a:t>🧠</a:t>
            </a:r>
            <a:endParaRPr lang="en-US" sz="4400" dirty="0"/>
          </a:p>
        </p:txBody>
      </p:sp>
      <p:sp>
        <p:nvSpPr>
          <p:cNvPr id="4" name="Text 2"/>
          <p:cNvSpPr/>
          <p:nvPr/>
        </p:nvSpPr>
        <p:spPr>
          <a:xfrm>
            <a:off x="914400" y="3246120"/>
            <a:ext cx="10332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Brain Break</a:t>
            </a:r>
            <a:endParaRPr lang="en-US" sz="3000" dirty="0"/>
          </a:p>
        </p:txBody>
      </p:sp>
      <p:sp>
        <p:nvSpPr>
          <p:cNvPr id="5" name="Text 3"/>
          <p:cNvSpPr/>
          <p:nvPr/>
        </p:nvSpPr>
        <p:spPr>
          <a:xfrm>
            <a:off x="914400" y="3886200"/>
            <a:ext cx="10332720" cy="457200"/>
          </a:xfrm>
          <a:prstGeom prst="rect">
            <a:avLst/>
          </a:prstGeom>
          <a:noFill/>
          <a:ln/>
        </p:spPr>
        <p:txBody>
          <a:bodyPr wrap="square" lIns="0" tIns="0" rIns="0" bIns="0" rtlCol="0" anchor="ctr"/>
          <a:lstStyle/>
          <a:p>
            <a:pPr algn="ctr" indent="0" marL="0">
              <a:buNone/>
            </a:pPr>
            <a:r>
              <a:rPr lang="en-US" sz="1600" dirty="0">
                <a:solidFill>
                  <a:srgbClr val="C7CCE8"/>
                </a:solidFill>
                <a:latin typeface="Calibri" pitchFamily="34" charset="0"/>
                <a:ea typeface="Calibri" pitchFamily="34" charset="-122"/>
                <a:cs typeface="Calibri" pitchFamily="34" charset="-120"/>
              </a:rPr>
              <a:t>60 seconds: unscramble these cyber terms with the person next to you.</a:t>
            </a:r>
            <a:endParaRPr lang="en-US" sz="1600" dirty="0"/>
          </a:p>
        </p:txBody>
      </p:sp>
      <p:sp>
        <p:nvSpPr>
          <p:cNvPr id="6" name="Text 4"/>
          <p:cNvSpPr/>
          <p:nvPr/>
        </p:nvSpPr>
        <p:spPr>
          <a:xfrm>
            <a:off x="914400" y="4526280"/>
            <a:ext cx="10332720" cy="457200"/>
          </a:xfrm>
          <a:prstGeom prst="rect">
            <a:avLst/>
          </a:prstGeom>
          <a:noFill/>
          <a:ln/>
        </p:spPr>
        <p:txBody>
          <a:bodyPr wrap="square" lIns="0" tIns="0" rIns="0" bIns="0" rtlCol="0" anchor="ctr"/>
          <a:lstStyle/>
          <a:p>
            <a:pPr algn="ctr" indent="0" marL="0">
              <a:buNone/>
            </a:pPr>
            <a:r>
              <a:rPr lang="en-US" sz="2000" b="1" spc="200" kern="0" dirty="0">
                <a:solidFill>
                  <a:srgbClr val="9AA6FF"/>
                </a:solidFill>
                <a:latin typeface="Calibri" pitchFamily="34" charset="0"/>
                <a:ea typeface="Calibri" pitchFamily="34" charset="-122"/>
                <a:cs typeface="Calibri" pitchFamily="34" charset="-120"/>
              </a:rPr>
              <a:t>WLARLFEI     •     SHIPHING     •     RAMEWAWNSO</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RESPONSIVE TEACHING</a:t>
            </a:r>
            <a:endParaRPr lang="en-US" sz="1300" dirty="0"/>
          </a:p>
        </p:txBody>
      </p:sp>
      <p:sp>
        <p:nvSpPr>
          <p:cNvPr id="5" name="Shape 3"/>
          <p:cNvSpPr/>
          <p:nvPr/>
        </p:nvSpPr>
        <p:spPr>
          <a:xfrm>
            <a:off x="9646920" y="347472"/>
            <a:ext cx="2103120" cy="420624"/>
          </a:xfrm>
          <a:prstGeom prst="roundRect">
            <a:avLst>
              <a:gd name="adj" fmla="val 50000"/>
            </a:avLst>
          </a:prstGeom>
          <a:solidFill>
            <a:srgbClr val="ECEDF3"/>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5B6178"/>
                </a:solidFill>
                <a:latin typeface="Calibri" pitchFamily="34" charset="0"/>
                <a:ea typeface="Calibri" pitchFamily="34" charset="-122"/>
                <a:cs typeface="Calibri" pitchFamily="34" charset="-120"/>
              </a:rPr>
              <a:t>📕  DEVICES OFF</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3000" b="1" dirty="0">
                <a:solidFill>
                  <a:srgbClr val="16192B"/>
                </a:solidFill>
                <a:latin typeface="Cambria" pitchFamily="34" charset="0"/>
                <a:ea typeface="Cambria" pitchFamily="34" charset="-122"/>
                <a:cs typeface="Cambria" pitchFamily="34" charset="-120"/>
              </a:rPr>
              <a:t>Let's Check In</a:t>
            </a:r>
            <a:endParaRPr lang="en-US" sz="3000" dirty="0"/>
          </a:p>
        </p:txBody>
      </p:sp>
      <p:sp>
        <p:nvSpPr>
          <p:cNvPr id="8" name="Text 6"/>
          <p:cNvSpPr/>
          <p:nvPr/>
        </p:nvSpPr>
        <p:spPr>
          <a:xfrm>
            <a:off x="457200" y="1508760"/>
            <a:ext cx="3657600" cy="27432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DISCUSSION</a:t>
            </a:r>
            <a:endParaRPr lang="en-US" sz="1200" dirty="0"/>
          </a:p>
        </p:txBody>
      </p:sp>
      <p:sp>
        <p:nvSpPr>
          <p:cNvPr id="9" name="Text 7"/>
          <p:cNvSpPr/>
          <p:nvPr/>
        </p:nvSpPr>
        <p:spPr>
          <a:xfrm>
            <a:off x="457200" y="1828800"/>
            <a:ext cx="10972800" cy="502920"/>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  Which scenario surprised you? Why?</a:t>
            </a:r>
            <a:endParaRPr lang="en-US" sz="1600" dirty="0"/>
          </a:p>
        </p:txBody>
      </p:sp>
      <p:sp>
        <p:nvSpPr>
          <p:cNvPr id="10" name="Text 8"/>
          <p:cNvSpPr/>
          <p:nvPr/>
        </p:nvSpPr>
        <p:spPr>
          <a:xfrm>
            <a:off x="457200" y="2377440"/>
            <a:ext cx="10972800" cy="502920"/>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  Where did you disagree with your partner on the attack type — and how did you resolve it?</a:t>
            </a:r>
            <a:endParaRPr lang="en-US" sz="1600" dirty="0"/>
          </a:p>
        </p:txBody>
      </p:sp>
      <p:sp>
        <p:nvSpPr>
          <p:cNvPr id="11" name="Text 9"/>
          <p:cNvSpPr/>
          <p:nvPr/>
        </p:nvSpPr>
        <p:spPr>
          <a:xfrm>
            <a:off x="457200" y="2926080"/>
            <a:ext cx="10972800" cy="502920"/>
          </a:xfrm>
          <a:prstGeom prst="rect">
            <a:avLst/>
          </a:prstGeom>
          <a:noFill/>
          <a:ln/>
        </p:spPr>
        <p:txBody>
          <a:bodyPr wrap="square" lIns="0" tIns="0" rIns="0" bIns="0" rtlCol="0" anchor="ctr"/>
          <a:lstStyle/>
          <a:p>
            <a:pPr indent="0" marL="0">
              <a:buNone/>
            </a:pPr>
            <a:r>
              <a:rPr lang="en-US" sz="1600" dirty="0">
                <a:solidFill>
                  <a:srgbClr val="16192B"/>
                </a:solidFill>
                <a:latin typeface="Calibri" pitchFamily="34" charset="0"/>
                <a:ea typeface="Calibri" pitchFamily="34" charset="-122"/>
                <a:cs typeface="Calibri" pitchFamily="34" charset="-120"/>
              </a:rPr>
              <a:t>•  🟣 For Scenario D: which control would you prioritise if you could only afford one?</a:t>
            </a:r>
            <a:endParaRPr lang="en-US" sz="1600" dirty="0"/>
          </a:p>
        </p:txBody>
      </p:sp>
      <p:sp>
        <p:nvSpPr>
          <p:cNvPr id="12" name="Text 10"/>
          <p:cNvSpPr/>
          <p:nvPr/>
        </p:nvSpPr>
        <p:spPr>
          <a:xfrm>
            <a:off x="457200" y="3703320"/>
            <a:ext cx="11247120" cy="365760"/>
          </a:xfrm>
          <a:prstGeom prst="rect">
            <a:avLst/>
          </a:prstGeom>
          <a:noFill/>
          <a:ln/>
        </p:spPr>
        <p:txBody>
          <a:bodyPr wrap="square" lIns="0" tIns="0" rIns="0" bIns="0" rtlCol="0" anchor="ctr"/>
          <a:lstStyle/>
          <a:p>
            <a:pPr indent="0" marL="0">
              <a:buNone/>
            </a:pPr>
            <a:r>
              <a:rPr lang="en-US" sz="1200" b="1" spc="50" kern="0" dirty="0">
                <a:solidFill>
                  <a:srgbClr val="5B6178"/>
                </a:solidFill>
                <a:latin typeface="Calibri" pitchFamily="34" charset="0"/>
                <a:ea typeface="Calibri" pitchFamily="34" charset="-122"/>
                <a:cs typeface="Calibri" pitchFamily="34" charset="-120"/>
              </a:rPr>
              <a:t>QUICK RECAP — MATCH EACH ATTACK TO A CONTROL THAT HELPS DEFEND AGAINST IT (Workbook Section 3)</a:t>
            </a:r>
            <a:endParaRPr lang="en-US" sz="1200" dirty="0"/>
          </a:p>
        </p:txBody>
      </p:sp>
      <p:sp>
        <p:nvSpPr>
          <p:cNvPr id="13" name="Shape 11"/>
          <p:cNvSpPr/>
          <p:nvPr/>
        </p:nvSpPr>
        <p:spPr>
          <a:xfrm>
            <a:off x="457200" y="4114800"/>
            <a:ext cx="5120640" cy="502920"/>
          </a:xfrm>
          <a:prstGeom prst="roundRect">
            <a:avLst>
              <a:gd name="adj" fmla="val 14545"/>
            </a:avLst>
          </a:prstGeom>
          <a:solidFill>
            <a:srgbClr val="F5F7FC"/>
          </a:solidFill>
          <a:ln w="12700">
            <a:solidFill>
              <a:srgbClr val="DDE2EE"/>
            </a:solidFill>
            <a:prstDash val="solid"/>
          </a:ln>
        </p:spPr>
      </p:sp>
      <p:sp>
        <p:nvSpPr>
          <p:cNvPr id="14" name="Text 12"/>
          <p:cNvSpPr/>
          <p:nvPr/>
        </p:nvSpPr>
        <p:spPr>
          <a:xfrm>
            <a:off x="640080" y="4114800"/>
            <a:ext cx="4754880" cy="502920"/>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Phishing email</a:t>
            </a:r>
            <a:endParaRPr lang="en-US" sz="1350" dirty="0"/>
          </a:p>
        </p:txBody>
      </p:sp>
      <p:sp>
        <p:nvSpPr>
          <p:cNvPr id="15" name="Shape 13"/>
          <p:cNvSpPr/>
          <p:nvPr/>
        </p:nvSpPr>
        <p:spPr>
          <a:xfrm>
            <a:off x="6035040" y="4114800"/>
            <a:ext cx="5669280" cy="502920"/>
          </a:xfrm>
          <a:prstGeom prst="roundRect">
            <a:avLst>
              <a:gd name="adj" fmla="val 14545"/>
            </a:avLst>
          </a:prstGeom>
          <a:solidFill>
            <a:srgbClr val="EEF1FF"/>
          </a:solidFill>
          <a:ln w="12700">
            <a:solidFill>
              <a:srgbClr val="DDE2EE"/>
            </a:solidFill>
            <a:prstDash val="solid"/>
          </a:ln>
        </p:spPr>
      </p:sp>
      <p:sp>
        <p:nvSpPr>
          <p:cNvPr id="16" name="Text 14"/>
          <p:cNvSpPr/>
          <p:nvPr/>
        </p:nvSpPr>
        <p:spPr>
          <a:xfrm>
            <a:off x="6217920" y="4114800"/>
            <a:ext cx="5303520" cy="502920"/>
          </a:xfrm>
          <a:prstGeom prst="rect">
            <a:avLst/>
          </a:prstGeom>
          <a:noFill/>
          <a:ln/>
        </p:spPr>
        <p:txBody>
          <a:bodyPr wrap="square" lIns="0" tIns="0" rIns="0" bIns="0" rtlCol="0" anchor="ctr"/>
          <a:lstStyle/>
          <a:p>
            <a:pPr indent="0" marL="0">
              <a:buNone/>
            </a:pPr>
            <a:r>
              <a:rPr lang="en-US" sz="1350" dirty="0">
                <a:solidFill>
                  <a:srgbClr val="2F46C4"/>
                </a:solidFill>
                <a:latin typeface="Calibri" pitchFamily="34" charset="0"/>
                <a:ea typeface="Calibri" pitchFamily="34" charset="-122"/>
                <a:cs typeface="Calibri" pitchFamily="34" charset="-120"/>
              </a:rPr>
              <a:t>Staff access policy + least privilege</a:t>
            </a:r>
            <a:endParaRPr lang="en-US" sz="1350" dirty="0"/>
          </a:p>
        </p:txBody>
      </p:sp>
      <p:sp>
        <p:nvSpPr>
          <p:cNvPr id="17" name="Shape 15"/>
          <p:cNvSpPr/>
          <p:nvPr/>
        </p:nvSpPr>
        <p:spPr>
          <a:xfrm>
            <a:off x="457200" y="4690872"/>
            <a:ext cx="5120640" cy="502920"/>
          </a:xfrm>
          <a:prstGeom prst="roundRect">
            <a:avLst>
              <a:gd name="adj" fmla="val 14545"/>
            </a:avLst>
          </a:prstGeom>
          <a:solidFill>
            <a:srgbClr val="F5F7FC"/>
          </a:solidFill>
          <a:ln w="12700">
            <a:solidFill>
              <a:srgbClr val="DDE2EE"/>
            </a:solidFill>
            <a:prstDash val="solid"/>
          </a:ln>
        </p:spPr>
      </p:sp>
      <p:sp>
        <p:nvSpPr>
          <p:cNvPr id="18" name="Text 16"/>
          <p:cNvSpPr/>
          <p:nvPr/>
        </p:nvSpPr>
        <p:spPr>
          <a:xfrm>
            <a:off x="640080" y="4690872"/>
            <a:ext cx="4754880" cy="502920"/>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Brute-force login attempt</a:t>
            </a:r>
            <a:endParaRPr lang="en-US" sz="1350" dirty="0"/>
          </a:p>
        </p:txBody>
      </p:sp>
      <p:sp>
        <p:nvSpPr>
          <p:cNvPr id="19" name="Shape 17"/>
          <p:cNvSpPr/>
          <p:nvPr/>
        </p:nvSpPr>
        <p:spPr>
          <a:xfrm>
            <a:off x="6035040" y="4690872"/>
            <a:ext cx="5669280" cy="502920"/>
          </a:xfrm>
          <a:prstGeom prst="roundRect">
            <a:avLst>
              <a:gd name="adj" fmla="val 14545"/>
            </a:avLst>
          </a:prstGeom>
          <a:solidFill>
            <a:srgbClr val="EEF1FF"/>
          </a:solidFill>
          <a:ln w="12700">
            <a:solidFill>
              <a:srgbClr val="DDE2EE"/>
            </a:solidFill>
            <a:prstDash val="solid"/>
          </a:ln>
        </p:spPr>
      </p:sp>
      <p:sp>
        <p:nvSpPr>
          <p:cNvPr id="20" name="Text 18"/>
          <p:cNvSpPr/>
          <p:nvPr/>
        </p:nvSpPr>
        <p:spPr>
          <a:xfrm>
            <a:off x="6217920" y="4690872"/>
            <a:ext cx="5303520" cy="502920"/>
          </a:xfrm>
          <a:prstGeom prst="rect">
            <a:avLst/>
          </a:prstGeom>
          <a:noFill/>
          <a:ln/>
        </p:spPr>
        <p:txBody>
          <a:bodyPr wrap="square" lIns="0" tIns="0" rIns="0" bIns="0" rtlCol="0" anchor="ctr"/>
          <a:lstStyle/>
          <a:p>
            <a:pPr indent="0" marL="0">
              <a:buNone/>
            </a:pPr>
            <a:r>
              <a:rPr lang="en-US" sz="1350" dirty="0">
                <a:solidFill>
                  <a:srgbClr val="2F46C4"/>
                </a:solidFill>
                <a:latin typeface="Calibri" pitchFamily="34" charset="0"/>
                <a:ea typeface="Calibri" pitchFamily="34" charset="-122"/>
                <a:cs typeface="Calibri" pitchFamily="34" charset="-120"/>
              </a:rPr>
              <a:t>Traffic filtering / rate limiting</a:t>
            </a:r>
            <a:endParaRPr lang="en-US" sz="1350" dirty="0"/>
          </a:p>
        </p:txBody>
      </p:sp>
      <p:sp>
        <p:nvSpPr>
          <p:cNvPr id="21" name="Shape 19"/>
          <p:cNvSpPr/>
          <p:nvPr/>
        </p:nvSpPr>
        <p:spPr>
          <a:xfrm>
            <a:off x="457200" y="5266944"/>
            <a:ext cx="5120640" cy="502920"/>
          </a:xfrm>
          <a:prstGeom prst="roundRect">
            <a:avLst>
              <a:gd name="adj" fmla="val 14545"/>
            </a:avLst>
          </a:prstGeom>
          <a:solidFill>
            <a:srgbClr val="F5F7FC"/>
          </a:solidFill>
          <a:ln w="12700">
            <a:solidFill>
              <a:srgbClr val="DDE2EE"/>
            </a:solidFill>
            <a:prstDash val="solid"/>
          </a:ln>
        </p:spPr>
      </p:sp>
      <p:sp>
        <p:nvSpPr>
          <p:cNvPr id="22" name="Text 20"/>
          <p:cNvSpPr/>
          <p:nvPr/>
        </p:nvSpPr>
        <p:spPr>
          <a:xfrm>
            <a:off x="640080" y="5266944"/>
            <a:ext cx="4754880" cy="502920"/>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Insider data leak</a:t>
            </a:r>
            <a:endParaRPr lang="en-US" sz="1350" dirty="0"/>
          </a:p>
        </p:txBody>
      </p:sp>
      <p:sp>
        <p:nvSpPr>
          <p:cNvPr id="23" name="Shape 21"/>
          <p:cNvSpPr/>
          <p:nvPr/>
        </p:nvSpPr>
        <p:spPr>
          <a:xfrm>
            <a:off x="6035040" y="5266944"/>
            <a:ext cx="5669280" cy="502920"/>
          </a:xfrm>
          <a:prstGeom prst="roundRect">
            <a:avLst>
              <a:gd name="adj" fmla="val 14545"/>
            </a:avLst>
          </a:prstGeom>
          <a:solidFill>
            <a:srgbClr val="EEF1FF"/>
          </a:solidFill>
          <a:ln w="12700">
            <a:solidFill>
              <a:srgbClr val="DDE2EE"/>
            </a:solidFill>
            <a:prstDash val="solid"/>
          </a:ln>
        </p:spPr>
      </p:sp>
      <p:sp>
        <p:nvSpPr>
          <p:cNvPr id="24" name="Text 22"/>
          <p:cNvSpPr/>
          <p:nvPr/>
        </p:nvSpPr>
        <p:spPr>
          <a:xfrm>
            <a:off x="6217920" y="5266944"/>
            <a:ext cx="5303520" cy="502920"/>
          </a:xfrm>
          <a:prstGeom prst="rect">
            <a:avLst/>
          </a:prstGeom>
          <a:noFill/>
          <a:ln/>
        </p:spPr>
        <p:txBody>
          <a:bodyPr wrap="square" lIns="0" tIns="0" rIns="0" bIns="0" rtlCol="0" anchor="ctr"/>
          <a:lstStyle/>
          <a:p>
            <a:pPr indent="0" marL="0">
              <a:buNone/>
            </a:pPr>
            <a:r>
              <a:rPr lang="en-US" sz="1350" dirty="0">
                <a:solidFill>
                  <a:srgbClr val="2F46C4"/>
                </a:solidFill>
                <a:latin typeface="Calibri" pitchFamily="34" charset="0"/>
                <a:ea typeface="Calibri" pitchFamily="34" charset="-122"/>
                <a:cs typeface="Calibri" pitchFamily="34" charset="-120"/>
              </a:rPr>
              <a:t>Staff training + email filtering</a:t>
            </a:r>
            <a:endParaRPr lang="en-US" sz="1350" dirty="0"/>
          </a:p>
        </p:txBody>
      </p:sp>
      <p:sp>
        <p:nvSpPr>
          <p:cNvPr id="25" name="Shape 23"/>
          <p:cNvSpPr/>
          <p:nvPr/>
        </p:nvSpPr>
        <p:spPr>
          <a:xfrm>
            <a:off x="457200" y="5843016"/>
            <a:ext cx="5120640" cy="502920"/>
          </a:xfrm>
          <a:prstGeom prst="roundRect">
            <a:avLst>
              <a:gd name="adj" fmla="val 14545"/>
            </a:avLst>
          </a:prstGeom>
          <a:solidFill>
            <a:srgbClr val="F5F7FC"/>
          </a:solidFill>
          <a:ln w="12700">
            <a:solidFill>
              <a:srgbClr val="DDE2EE"/>
            </a:solidFill>
            <a:prstDash val="solid"/>
          </a:ln>
        </p:spPr>
      </p:sp>
      <p:sp>
        <p:nvSpPr>
          <p:cNvPr id="26" name="Text 24"/>
          <p:cNvSpPr/>
          <p:nvPr/>
        </p:nvSpPr>
        <p:spPr>
          <a:xfrm>
            <a:off x="640080" y="5843016"/>
            <a:ext cx="4754880" cy="502920"/>
          </a:xfrm>
          <a:prstGeom prst="rect">
            <a:avLst/>
          </a:prstGeom>
          <a:noFill/>
          <a:ln/>
        </p:spPr>
        <p:txBody>
          <a:bodyPr wrap="square" lIns="0" tIns="0" rIns="0" bIns="0" rtlCol="0" anchor="ctr"/>
          <a:lstStyle/>
          <a:p>
            <a:pPr indent="0" marL="0">
              <a:buNone/>
            </a:pPr>
            <a:r>
              <a:rPr lang="en-US" sz="1350" dirty="0">
                <a:solidFill>
                  <a:srgbClr val="16192B"/>
                </a:solidFill>
                <a:latin typeface="Calibri" pitchFamily="34" charset="0"/>
                <a:ea typeface="Calibri" pitchFamily="34" charset="-122"/>
                <a:cs typeface="Calibri" pitchFamily="34" charset="-120"/>
              </a:rPr>
              <a:t>DDoS traffic flood</a:t>
            </a:r>
            <a:endParaRPr lang="en-US" sz="1350" dirty="0"/>
          </a:p>
        </p:txBody>
      </p:sp>
      <p:sp>
        <p:nvSpPr>
          <p:cNvPr id="27" name="Shape 25"/>
          <p:cNvSpPr/>
          <p:nvPr/>
        </p:nvSpPr>
        <p:spPr>
          <a:xfrm>
            <a:off x="6035040" y="5843016"/>
            <a:ext cx="5669280" cy="502920"/>
          </a:xfrm>
          <a:prstGeom prst="roundRect">
            <a:avLst>
              <a:gd name="adj" fmla="val 14545"/>
            </a:avLst>
          </a:prstGeom>
          <a:solidFill>
            <a:srgbClr val="EEF1FF"/>
          </a:solidFill>
          <a:ln w="12700">
            <a:solidFill>
              <a:srgbClr val="DDE2EE"/>
            </a:solidFill>
            <a:prstDash val="solid"/>
          </a:ln>
        </p:spPr>
      </p:sp>
      <p:sp>
        <p:nvSpPr>
          <p:cNvPr id="28" name="Text 26"/>
          <p:cNvSpPr/>
          <p:nvPr/>
        </p:nvSpPr>
        <p:spPr>
          <a:xfrm>
            <a:off x="6217920" y="5843016"/>
            <a:ext cx="5303520" cy="502920"/>
          </a:xfrm>
          <a:prstGeom prst="rect">
            <a:avLst/>
          </a:prstGeom>
          <a:noFill/>
          <a:ln/>
        </p:spPr>
        <p:txBody>
          <a:bodyPr wrap="square" lIns="0" tIns="0" rIns="0" bIns="0" rtlCol="0" anchor="ctr"/>
          <a:lstStyle/>
          <a:p>
            <a:pPr indent="0" marL="0">
              <a:buNone/>
            </a:pPr>
            <a:r>
              <a:rPr lang="en-US" sz="1350" dirty="0">
                <a:solidFill>
                  <a:srgbClr val="2F46C4"/>
                </a:solidFill>
                <a:latin typeface="Calibri" pitchFamily="34" charset="0"/>
                <a:ea typeface="Calibri" pitchFamily="34" charset="-122"/>
                <a:cs typeface="Calibri" pitchFamily="34" charset="-120"/>
              </a:rPr>
              <a:t>MFA + account lockout after attempts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EF4444"/>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EF4444"/>
                </a:solidFill>
                <a:latin typeface="Calibri" pitchFamily="34" charset="0"/>
                <a:ea typeface="Calibri" pitchFamily="34" charset="-122"/>
                <a:cs typeface="Calibri" pitchFamily="34" charset="-120"/>
              </a:rPr>
              <a:t>🚪  NEXT STEPS</a:t>
            </a:r>
            <a:endParaRPr lang="en-US" sz="1300" dirty="0"/>
          </a:p>
        </p:txBody>
      </p:sp>
      <p:sp>
        <p:nvSpPr>
          <p:cNvPr id="5" name="Shape 3"/>
          <p:cNvSpPr/>
          <p:nvPr/>
        </p:nvSpPr>
        <p:spPr>
          <a:xfrm>
            <a:off x="9646920" y="347472"/>
            <a:ext cx="2103120" cy="420624"/>
          </a:xfrm>
          <a:prstGeom prst="roundRect">
            <a:avLst>
              <a:gd name="adj" fmla="val 50000"/>
            </a:avLst>
          </a:prstGeom>
          <a:solidFill>
            <a:srgbClr val="E7F9F1"/>
          </a:solidFill>
          <a:ln/>
        </p:spPr>
      </p:sp>
      <p:sp>
        <p:nvSpPr>
          <p:cNvPr id="6" name="Text 4"/>
          <p:cNvSpPr/>
          <p:nvPr/>
        </p:nvSpPr>
        <p:spPr>
          <a:xfrm>
            <a:off x="9646920" y="347472"/>
            <a:ext cx="2103120" cy="420624"/>
          </a:xfrm>
          <a:prstGeom prst="rect">
            <a:avLst/>
          </a:prstGeom>
          <a:noFill/>
          <a:ln/>
        </p:spPr>
        <p:txBody>
          <a:bodyPr wrap="square" lIns="0" tIns="0" rIns="0" bIns="0"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  DEVICES ON</a:t>
            </a:r>
            <a:endParaRPr lang="en-US" sz="1200" dirty="0"/>
          </a:p>
        </p:txBody>
      </p:sp>
      <p:sp>
        <p:nvSpPr>
          <p:cNvPr id="7" name="Text 5"/>
          <p:cNvSpPr/>
          <p:nvPr/>
        </p:nvSpPr>
        <p:spPr>
          <a:xfrm>
            <a:off x="457200" y="841248"/>
            <a:ext cx="10515600" cy="640080"/>
          </a:xfrm>
          <a:prstGeom prst="rect">
            <a:avLst/>
          </a:prstGeom>
          <a:noFill/>
          <a:ln/>
        </p:spPr>
        <p:txBody>
          <a:bodyPr wrap="square" lIns="0" tIns="0" rIns="0" bIns="0" rtlCol="0" anchor="ctr"/>
          <a:lstStyle/>
          <a:p>
            <a:pPr indent="0" marL="0">
              <a:buNone/>
            </a:pPr>
            <a:r>
              <a:rPr lang="en-US" sz="3000" b="1" dirty="0">
                <a:solidFill>
                  <a:srgbClr val="16192B"/>
                </a:solidFill>
                <a:latin typeface="Cambria" pitchFamily="34" charset="0"/>
                <a:ea typeface="Cambria" pitchFamily="34" charset="-122"/>
                <a:cs typeface="Cambria" pitchFamily="34" charset="-120"/>
              </a:rPr>
              <a:t>Exit Ticket</a:t>
            </a:r>
            <a:endParaRPr lang="en-US" sz="3000" dirty="0"/>
          </a:p>
        </p:txBody>
      </p:sp>
      <p:sp>
        <p:nvSpPr>
          <p:cNvPr id="8" name="Text 6"/>
          <p:cNvSpPr/>
          <p:nvPr/>
        </p:nvSpPr>
        <p:spPr>
          <a:xfrm>
            <a:off x="457200" y="1463040"/>
            <a:ext cx="7315200" cy="36576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 Open your workbook — Section 4 (last section!)</a:t>
            </a:r>
            <a:endParaRPr lang="en-US" sz="1400" dirty="0"/>
          </a:p>
        </p:txBody>
      </p:sp>
      <p:sp>
        <p:nvSpPr>
          <p:cNvPr id="9" name="Shape 7"/>
          <p:cNvSpPr/>
          <p:nvPr/>
        </p:nvSpPr>
        <p:spPr>
          <a:xfrm>
            <a:off x="457200" y="2057400"/>
            <a:ext cx="11247120" cy="621792"/>
          </a:xfrm>
          <a:prstGeom prst="roundRect">
            <a:avLst>
              <a:gd name="adj" fmla="val 11765"/>
            </a:avLst>
          </a:prstGeom>
          <a:solidFill>
            <a:srgbClr val="FDEAEA"/>
          </a:solidFill>
          <a:ln w="12700">
            <a:solidFill>
              <a:srgbClr val="EF4444"/>
            </a:solidFill>
            <a:prstDash val="solid"/>
          </a:ln>
        </p:spPr>
      </p:sp>
      <p:sp>
        <p:nvSpPr>
          <p:cNvPr id="10" name="Text 8"/>
          <p:cNvSpPr/>
          <p:nvPr/>
        </p:nvSpPr>
        <p:spPr>
          <a:xfrm>
            <a:off x="731520" y="2057400"/>
            <a:ext cx="10698480" cy="621792"/>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1. Name one attack type and one control that defends against it — different from today's scenarios.</a:t>
            </a:r>
            <a:endParaRPr lang="en-US" sz="1450" dirty="0"/>
          </a:p>
        </p:txBody>
      </p:sp>
      <p:sp>
        <p:nvSpPr>
          <p:cNvPr id="11" name="Shape 9"/>
          <p:cNvSpPr/>
          <p:nvPr/>
        </p:nvSpPr>
        <p:spPr>
          <a:xfrm>
            <a:off x="457200" y="2788920"/>
            <a:ext cx="11247120" cy="621792"/>
          </a:xfrm>
          <a:prstGeom prst="roundRect">
            <a:avLst>
              <a:gd name="adj" fmla="val 11765"/>
            </a:avLst>
          </a:prstGeom>
          <a:solidFill>
            <a:srgbClr val="FDEAEA"/>
          </a:solidFill>
          <a:ln w="12700">
            <a:solidFill>
              <a:srgbClr val="EF4444"/>
            </a:solidFill>
            <a:prstDash val="solid"/>
          </a:ln>
        </p:spPr>
      </p:sp>
      <p:sp>
        <p:nvSpPr>
          <p:cNvPr id="12" name="Text 10"/>
          <p:cNvSpPr/>
          <p:nvPr/>
        </p:nvSpPr>
        <p:spPr>
          <a:xfrm>
            <a:off x="731520" y="2788920"/>
            <a:ext cx="10698480" cy="621792"/>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2. Rate your confidence against today's success criteria (1–5).</a:t>
            </a:r>
            <a:endParaRPr lang="en-US" sz="1450" dirty="0"/>
          </a:p>
        </p:txBody>
      </p:sp>
      <p:sp>
        <p:nvSpPr>
          <p:cNvPr id="13" name="Shape 11"/>
          <p:cNvSpPr/>
          <p:nvPr/>
        </p:nvSpPr>
        <p:spPr>
          <a:xfrm>
            <a:off x="457200" y="3520440"/>
            <a:ext cx="11247120" cy="621792"/>
          </a:xfrm>
          <a:prstGeom prst="roundRect">
            <a:avLst>
              <a:gd name="adj" fmla="val 11765"/>
            </a:avLst>
          </a:prstGeom>
          <a:solidFill>
            <a:srgbClr val="FDEAEA"/>
          </a:solidFill>
          <a:ln w="12700">
            <a:solidFill>
              <a:srgbClr val="EF4444"/>
            </a:solidFill>
            <a:prstDash val="solid"/>
          </a:ln>
        </p:spPr>
      </p:sp>
      <p:sp>
        <p:nvSpPr>
          <p:cNvPr id="14" name="Text 12"/>
          <p:cNvSpPr/>
          <p:nvPr/>
        </p:nvSpPr>
        <p:spPr>
          <a:xfrm>
            <a:off x="731520" y="3520440"/>
            <a:ext cx="10698480" cy="621792"/>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3. One question you still have about threats or controls.</a:t>
            </a:r>
            <a:endParaRPr lang="en-US" sz="1450" dirty="0"/>
          </a:p>
        </p:txBody>
      </p:sp>
      <p:sp>
        <p:nvSpPr>
          <p:cNvPr id="15" name="Text 13"/>
          <p:cNvSpPr/>
          <p:nvPr/>
        </p:nvSpPr>
        <p:spPr>
          <a:xfrm>
            <a:off x="457200" y="4526280"/>
            <a:ext cx="7315200" cy="32004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SELF-ASSESSMENT — tick where you landed today</a:t>
            </a:r>
            <a:endParaRPr lang="en-US" sz="1200" dirty="0"/>
          </a:p>
        </p:txBody>
      </p:sp>
      <p:sp>
        <p:nvSpPr>
          <p:cNvPr id="16" name="Shape 14"/>
          <p:cNvSpPr/>
          <p:nvPr/>
        </p:nvSpPr>
        <p:spPr>
          <a:xfrm>
            <a:off x="457200" y="4892040"/>
            <a:ext cx="3657600" cy="347472"/>
          </a:xfrm>
          <a:prstGeom prst="roundRect">
            <a:avLst>
              <a:gd name="adj" fmla="val 50000"/>
            </a:avLst>
          </a:prstGeom>
          <a:solidFill>
            <a:srgbClr val="E7F9F1"/>
          </a:solidFill>
          <a:ln w="12700">
            <a:solidFill>
              <a:srgbClr val="10B981"/>
            </a:solidFill>
            <a:prstDash val="solid"/>
          </a:ln>
        </p:spPr>
      </p:sp>
      <p:sp>
        <p:nvSpPr>
          <p:cNvPr id="17" name="Text 15"/>
          <p:cNvSpPr/>
          <p:nvPr/>
        </p:nvSpPr>
        <p:spPr>
          <a:xfrm>
            <a:off x="457200" y="4892040"/>
            <a:ext cx="365760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FOUNDATION</a:t>
            </a:r>
            <a:endParaRPr lang="en-US" sz="1100" dirty="0"/>
          </a:p>
        </p:txBody>
      </p:sp>
      <p:sp>
        <p:nvSpPr>
          <p:cNvPr id="18" name="Shape 16"/>
          <p:cNvSpPr/>
          <p:nvPr/>
        </p:nvSpPr>
        <p:spPr>
          <a:xfrm>
            <a:off x="4251960" y="4892040"/>
            <a:ext cx="3657600" cy="347472"/>
          </a:xfrm>
          <a:prstGeom prst="roundRect">
            <a:avLst>
              <a:gd name="adj" fmla="val 50000"/>
            </a:avLst>
          </a:prstGeom>
          <a:solidFill>
            <a:srgbClr val="FEF3DE"/>
          </a:solidFill>
          <a:ln w="12700">
            <a:solidFill>
              <a:srgbClr val="F59E0B"/>
            </a:solidFill>
            <a:prstDash val="solid"/>
          </a:ln>
        </p:spPr>
      </p:sp>
      <p:sp>
        <p:nvSpPr>
          <p:cNvPr id="19" name="Text 17"/>
          <p:cNvSpPr/>
          <p:nvPr/>
        </p:nvSpPr>
        <p:spPr>
          <a:xfrm>
            <a:off x="4251960" y="4892040"/>
            <a:ext cx="365760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DEVELOPING</a:t>
            </a:r>
            <a:endParaRPr lang="en-US" sz="1100" dirty="0"/>
          </a:p>
        </p:txBody>
      </p:sp>
      <p:sp>
        <p:nvSpPr>
          <p:cNvPr id="20" name="Shape 18"/>
          <p:cNvSpPr/>
          <p:nvPr/>
        </p:nvSpPr>
        <p:spPr>
          <a:xfrm>
            <a:off x="8046720" y="4892040"/>
            <a:ext cx="3657600" cy="347472"/>
          </a:xfrm>
          <a:prstGeom prst="roundRect">
            <a:avLst>
              <a:gd name="adj" fmla="val 50000"/>
            </a:avLst>
          </a:prstGeom>
          <a:solidFill>
            <a:srgbClr val="F1EBFE"/>
          </a:solidFill>
          <a:ln w="12700">
            <a:solidFill>
              <a:srgbClr val="8B5CF6"/>
            </a:solidFill>
            <a:prstDash val="solid"/>
          </a:ln>
        </p:spPr>
      </p:sp>
      <p:sp>
        <p:nvSpPr>
          <p:cNvPr id="21" name="Text 19"/>
          <p:cNvSpPr/>
          <p:nvPr/>
        </p:nvSpPr>
        <p:spPr>
          <a:xfrm>
            <a:off x="8046720" y="4892040"/>
            <a:ext cx="3657600" cy="347472"/>
          </a:xfrm>
          <a:prstGeom prst="rect">
            <a:avLst/>
          </a:prstGeom>
          <a:noFill/>
          <a:ln/>
        </p:spPr>
        <p:txBody>
          <a:bodyPr wrap="square" lIns="0" tIns="0" rIns="0" bIns="0" rtlCol="0" anchor="ctr"/>
          <a:lstStyle/>
          <a:p>
            <a:pPr algn="ctr" indent="0" marL="0">
              <a:buNone/>
            </a:pPr>
            <a:r>
              <a:rPr lang="en-US" sz="1100" b="1" dirty="0">
                <a:solidFill>
                  <a:srgbClr val="16192B"/>
                </a:solidFill>
                <a:latin typeface="Calibri" pitchFamily="34" charset="0"/>
                <a:ea typeface="Calibri" pitchFamily="34" charset="-122"/>
                <a:cs typeface="Calibri" pitchFamily="34" charset="-120"/>
              </a:rPr>
              <a:t>🟣 EXTENDING</a:t>
            </a:r>
            <a:endParaRPr lang="en-US" sz="1100" dirty="0"/>
          </a:p>
        </p:txBody>
      </p:sp>
      <p:sp>
        <p:nvSpPr>
          <p:cNvPr id="22" name="Text 20"/>
          <p:cNvSpPr/>
          <p:nvPr/>
        </p:nvSpPr>
        <p:spPr>
          <a:xfrm>
            <a:off x="457200" y="5394960"/>
            <a:ext cx="11247120" cy="457200"/>
          </a:xfrm>
          <a:prstGeom prst="rect">
            <a:avLst/>
          </a:prstGeom>
          <a:noFill/>
          <a:ln/>
        </p:spPr>
        <p:txBody>
          <a:bodyPr wrap="square" lIns="0" tIns="0" rIns="0" bIns="0" rtlCol="0" anchor="ctr"/>
          <a:lstStyle/>
          <a:p>
            <a:pPr indent="0" marL="0">
              <a:buNone/>
            </a:pPr>
            <a:r>
              <a:rPr lang="en-US" sz="1250" i="1" dirty="0">
                <a:solidFill>
                  <a:srgbClr val="5B6178"/>
                </a:solidFill>
                <a:latin typeface="Calibri" pitchFamily="34" charset="0"/>
                <a:ea typeface="Calibri" pitchFamily="34" charset="-122"/>
                <a:cs typeface="Calibri" pitchFamily="34" charset="-120"/>
              </a:rPr>
              <a:t>Be honest — this isn't graded on tier reached, it tells your teacher what to revisit before the unit assessment.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ellipse">
            <a:avLst/>
          </a:prstGeom>
          <a:solidFill>
            <a:srgbClr val="4361EE"/>
          </a:solidFill>
          <a:ln/>
        </p:spPr>
      </p:sp>
      <p:sp>
        <p:nvSpPr>
          <p:cNvPr id="3" name="Text 1"/>
          <p:cNvSpPr/>
          <p:nvPr/>
        </p:nvSpPr>
        <p:spPr>
          <a:xfrm>
            <a:off x="457200"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p:nvPr/>
        </p:nvSpPr>
        <p:spPr>
          <a:xfrm>
            <a:off x="932688" y="365760"/>
            <a:ext cx="5486400" cy="384048"/>
          </a:xfrm>
          <a:prstGeom prst="rect">
            <a:avLst/>
          </a:prstGeom>
          <a:noFill/>
          <a:ln/>
        </p:spPr>
        <p:txBody>
          <a:bodyPr wrap="square" lIns="0" tIns="0" rIns="0" bIns="0" rtlCol="0" anchor="ctr"/>
          <a:lstStyle/>
          <a:p>
            <a:pPr indent="0" marL="0">
              <a:buNone/>
            </a:pPr>
            <a:r>
              <a:rPr lang="en-US" sz="1300" b="1" spc="100" kern="0" dirty="0">
                <a:solidFill>
                  <a:srgbClr val="4361EE"/>
                </a:solidFill>
                <a:latin typeface="Calibri" pitchFamily="34" charset="0"/>
                <a:ea typeface="Calibri" pitchFamily="34" charset="-122"/>
                <a:cs typeface="Calibri" pitchFamily="34" charset="-120"/>
              </a:rPr>
              <a:t>➡️  NEXT STEPS</a:t>
            </a:r>
            <a:endParaRPr lang="en-US" sz="1300" dirty="0"/>
          </a:p>
        </p:txBody>
      </p:sp>
      <p:sp>
        <p:nvSpPr>
          <p:cNvPr id="5" name="Text 3"/>
          <p:cNvSpPr/>
          <p:nvPr/>
        </p:nvSpPr>
        <p:spPr>
          <a:xfrm>
            <a:off x="457200" y="841248"/>
            <a:ext cx="10515600" cy="640080"/>
          </a:xfrm>
          <a:prstGeom prst="rect">
            <a:avLst/>
          </a:prstGeom>
          <a:noFill/>
          <a:ln/>
        </p:spPr>
        <p:txBody>
          <a:bodyPr wrap="square" lIns="0" tIns="0" rIns="0" bIns="0" rtlCol="0" anchor="ctr"/>
          <a:lstStyle/>
          <a:p>
            <a:pPr indent="0" marL="0">
              <a:buNone/>
            </a:pPr>
            <a:r>
              <a:rPr lang="en-US" sz="2800" b="1" dirty="0">
                <a:solidFill>
                  <a:srgbClr val="16192B"/>
                </a:solidFill>
                <a:latin typeface="Cambria" pitchFamily="34" charset="0"/>
                <a:ea typeface="Cambria" pitchFamily="34" charset="-122"/>
                <a:cs typeface="Cambria" pitchFamily="34" charset="-120"/>
              </a:rPr>
              <a:t>Where We're Headed Next</a:t>
            </a:r>
            <a:endParaRPr lang="en-US" sz="2800" dirty="0"/>
          </a:p>
        </p:txBody>
      </p:sp>
      <p:sp>
        <p:nvSpPr>
          <p:cNvPr id="6" name="Shape 4"/>
          <p:cNvSpPr/>
          <p:nvPr/>
        </p:nvSpPr>
        <p:spPr>
          <a:xfrm>
            <a:off x="457200" y="1600200"/>
            <a:ext cx="5440680" cy="1965960"/>
          </a:xfrm>
          <a:prstGeom prst="roundRect">
            <a:avLst>
              <a:gd name="adj" fmla="val 4651"/>
            </a:avLst>
          </a:prstGeom>
          <a:solidFill>
            <a:srgbClr val="F5F7FC"/>
          </a:solidFill>
          <a:ln w="12700">
            <a:solidFill>
              <a:srgbClr val="DDE2EE"/>
            </a:solidFill>
            <a:prstDash val="solid"/>
          </a:ln>
        </p:spPr>
      </p:sp>
      <p:sp>
        <p:nvSpPr>
          <p:cNvPr id="7" name="Text 5"/>
          <p:cNvSpPr/>
          <p:nvPr/>
        </p:nvSpPr>
        <p:spPr>
          <a:xfrm>
            <a:off x="731520" y="1783080"/>
            <a:ext cx="484632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NEXT LESSON</a:t>
            </a:r>
            <a:endParaRPr lang="en-US" sz="1100" dirty="0"/>
          </a:p>
        </p:txBody>
      </p:sp>
      <p:sp>
        <p:nvSpPr>
          <p:cNvPr id="8" name="Text 6"/>
          <p:cNvSpPr/>
          <p:nvPr/>
        </p:nvSpPr>
        <p:spPr>
          <a:xfrm>
            <a:off x="731520" y="2057400"/>
            <a:ext cx="4846320" cy="502920"/>
          </a:xfrm>
          <a:prstGeom prst="rect">
            <a:avLst/>
          </a:prstGeom>
          <a:noFill/>
          <a:ln/>
        </p:spPr>
        <p:txBody>
          <a:bodyPr wrap="square" lIns="0" tIns="0" rIns="0" bIns="0" rtlCol="0" anchor="ctr"/>
          <a:lstStyle/>
          <a:p>
            <a:pPr indent="0" marL="0">
              <a:buNone/>
            </a:pPr>
            <a:r>
              <a:rPr lang="en-US" sz="1800" b="1" dirty="0">
                <a:solidFill>
                  <a:srgbClr val="16192B"/>
                </a:solidFill>
                <a:latin typeface="Cambria" pitchFamily="34" charset="0"/>
                <a:ea typeface="Cambria" pitchFamily="34" charset="-122"/>
                <a:cs typeface="Cambria" pitchFamily="34" charset="-120"/>
              </a:rPr>
              <a:t>Encryption &amp; Data Protection Strategies</a:t>
            </a:r>
            <a:endParaRPr lang="en-US" sz="1800" dirty="0"/>
          </a:p>
        </p:txBody>
      </p:sp>
      <p:sp>
        <p:nvSpPr>
          <p:cNvPr id="9" name="Text 7"/>
          <p:cNvSpPr/>
          <p:nvPr/>
        </p:nvSpPr>
        <p:spPr>
          <a:xfrm>
            <a:off x="731520" y="2606040"/>
            <a:ext cx="4846320" cy="822960"/>
          </a:xfrm>
          <a:prstGeom prst="rect">
            <a:avLst/>
          </a:prstGeom>
          <a:noFill/>
          <a:ln/>
        </p:spPr>
        <p:txBody>
          <a:bodyPr wrap="square" lIns="0" tIns="0" rIns="0" bIns="0" rtlCol="0" anchor="t"/>
          <a:lstStyle/>
          <a:p>
            <a:pPr indent="0" marL="0">
              <a:buNone/>
            </a:pPr>
            <a:r>
              <a:rPr lang="en-US" sz="1350" dirty="0">
                <a:solidFill>
                  <a:srgbClr val="16192B"/>
                </a:solidFill>
                <a:latin typeface="Calibri" pitchFamily="34" charset="0"/>
                <a:ea typeface="Calibri" pitchFamily="34" charset="-122"/>
                <a:cs typeface="Calibri" pitchFamily="34" charset="-120"/>
              </a:rPr>
              <a:t>We'll build on today's control categories and go deeper on the technical layer.</a:t>
            </a:r>
            <a:endParaRPr lang="en-US" sz="1350" dirty="0"/>
          </a:p>
        </p:txBody>
      </p:sp>
      <p:sp>
        <p:nvSpPr>
          <p:cNvPr id="10" name="Shape 8"/>
          <p:cNvSpPr/>
          <p:nvPr/>
        </p:nvSpPr>
        <p:spPr>
          <a:xfrm>
            <a:off x="6126480" y="1600200"/>
            <a:ext cx="5577840" cy="1965960"/>
          </a:xfrm>
          <a:prstGeom prst="roundRect">
            <a:avLst>
              <a:gd name="adj" fmla="val 4651"/>
            </a:avLst>
          </a:prstGeom>
          <a:solidFill>
            <a:srgbClr val="F5F7FC"/>
          </a:solidFill>
          <a:ln w="12700">
            <a:solidFill>
              <a:srgbClr val="DDE2EE"/>
            </a:solidFill>
            <a:prstDash val="solid"/>
          </a:ln>
        </p:spPr>
      </p:sp>
      <p:sp>
        <p:nvSpPr>
          <p:cNvPr id="11" name="Text 9"/>
          <p:cNvSpPr/>
          <p:nvPr/>
        </p:nvSpPr>
        <p:spPr>
          <a:xfrm>
            <a:off x="6400800" y="1783080"/>
            <a:ext cx="5029200" cy="274320"/>
          </a:xfrm>
          <a:prstGeom prst="rect">
            <a:avLst/>
          </a:prstGeom>
          <a:noFill/>
          <a:ln/>
        </p:spPr>
        <p:txBody>
          <a:bodyPr wrap="square" lIns="0" tIns="0" rIns="0" bIns="0" rtlCol="0" anchor="ctr"/>
          <a:lstStyle/>
          <a:p>
            <a:pPr indent="0" marL="0">
              <a:buNone/>
            </a:pPr>
            <a:r>
              <a:rPr lang="en-US" sz="1100" b="1" spc="100" kern="0" dirty="0">
                <a:solidFill>
                  <a:srgbClr val="5B6178"/>
                </a:solidFill>
                <a:latin typeface="Calibri" pitchFamily="34" charset="0"/>
                <a:ea typeface="Calibri" pitchFamily="34" charset="-122"/>
                <a:cs typeface="Calibri" pitchFamily="34" charset="-120"/>
              </a:rPr>
              <a:t>HOMEWORK</a:t>
            </a:r>
            <a:endParaRPr lang="en-US" sz="1100" dirty="0"/>
          </a:p>
        </p:txBody>
      </p:sp>
      <p:sp>
        <p:nvSpPr>
          <p:cNvPr id="12" name="Text 10"/>
          <p:cNvSpPr/>
          <p:nvPr/>
        </p:nvSpPr>
        <p:spPr>
          <a:xfrm>
            <a:off x="6400800" y="2057400"/>
            <a:ext cx="5029200" cy="502920"/>
          </a:xfrm>
          <a:prstGeom prst="rect">
            <a:avLst/>
          </a:prstGeom>
          <a:noFill/>
          <a:ln/>
        </p:spPr>
        <p:txBody>
          <a:bodyPr wrap="square" lIns="0" tIns="0" rIns="0" bIns="0" rtlCol="0" anchor="ctr"/>
          <a:lstStyle/>
          <a:p>
            <a:pPr indent="0" marL="0">
              <a:buNone/>
            </a:pPr>
            <a:r>
              <a:rPr lang="en-US" sz="1800" b="1" dirty="0">
                <a:solidFill>
                  <a:srgbClr val="16192B"/>
                </a:solidFill>
                <a:latin typeface="Cambria" pitchFamily="34" charset="0"/>
                <a:ea typeface="Cambria" pitchFamily="34" charset="-122"/>
                <a:cs typeface="Cambria" pitchFamily="34" charset="-120"/>
              </a:rPr>
              <a:t>Revisit your weakest scenario type</a:t>
            </a:r>
            <a:endParaRPr lang="en-US" sz="1800" dirty="0"/>
          </a:p>
        </p:txBody>
      </p:sp>
      <p:sp>
        <p:nvSpPr>
          <p:cNvPr id="13" name="Text 11"/>
          <p:cNvSpPr/>
          <p:nvPr/>
        </p:nvSpPr>
        <p:spPr>
          <a:xfrm>
            <a:off x="6400800" y="2606040"/>
            <a:ext cx="5029200" cy="822960"/>
          </a:xfrm>
          <a:prstGeom prst="rect">
            <a:avLst/>
          </a:prstGeom>
          <a:noFill/>
          <a:ln/>
        </p:spPr>
        <p:txBody>
          <a:bodyPr wrap="square" lIns="0" tIns="0" rIns="0" bIns="0" rtlCol="0" anchor="t"/>
          <a:lstStyle/>
          <a:p>
            <a:pPr indent="0" marL="0">
              <a:buNone/>
            </a:pPr>
            <a:r>
              <a:rPr lang="en-US" sz="1350" dirty="0">
                <a:solidFill>
                  <a:srgbClr val="16192B"/>
                </a:solidFill>
                <a:latin typeface="Calibri" pitchFamily="34" charset="0"/>
                <a:ea typeface="Calibri" pitchFamily="34" charset="-122"/>
                <a:cs typeface="Calibri" pitchFamily="34" charset="-120"/>
              </a:rPr>
              <a:t>Use the unit site notes to review the attack type you found hardest today. No written submission required.</a:t>
            </a:r>
            <a:endParaRPr lang="en-US" sz="1350" dirty="0"/>
          </a:p>
        </p:txBody>
      </p:sp>
      <p:sp>
        <p:nvSpPr>
          <p:cNvPr id="14" name="Text 12"/>
          <p:cNvSpPr/>
          <p:nvPr/>
        </p:nvSpPr>
        <p:spPr>
          <a:xfrm>
            <a:off x="457200" y="3794760"/>
            <a:ext cx="7315200" cy="320040"/>
          </a:xfrm>
          <a:prstGeom prst="rect">
            <a:avLst/>
          </a:prstGeom>
          <a:noFill/>
          <a:ln/>
        </p:spPr>
        <p:txBody>
          <a:bodyPr wrap="square" lIns="0" tIns="0" rIns="0" bIns="0" rtlCol="0" anchor="ctr"/>
          <a:lstStyle/>
          <a:p>
            <a:pPr indent="0" marL="0">
              <a:buNone/>
            </a:pPr>
            <a:r>
              <a:rPr lang="en-US" sz="1200" b="1" spc="100" kern="0" dirty="0">
                <a:solidFill>
                  <a:srgbClr val="5B6178"/>
                </a:solidFill>
                <a:latin typeface="Calibri" pitchFamily="34" charset="0"/>
                <a:ea typeface="Calibri" pitchFamily="34" charset="-122"/>
                <a:cs typeface="Calibri" pitchFamily="34" charset="-120"/>
              </a:rPr>
              <a:t>UNIT ASSESSMENT PROGRESS CHECKLIST</a:t>
            </a:r>
            <a:endParaRPr lang="en-US" sz="1200" dirty="0"/>
          </a:p>
        </p:txBody>
      </p:sp>
      <p:sp>
        <p:nvSpPr>
          <p:cNvPr id="15" name="Shape 13"/>
          <p:cNvSpPr/>
          <p:nvPr/>
        </p:nvSpPr>
        <p:spPr>
          <a:xfrm>
            <a:off x="457200" y="4206240"/>
            <a:ext cx="329184" cy="329184"/>
          </a:xfrm>
          <a:prstGeom prst="ellipse">
            <a:avLst/>
          </a:prstGeom>
          <a:solidFill>
            <a:srgbClr val="E7F9F1"/>
          </a:solidFill>
          <a:ln w="15875">
            <a:solidFill>
              <a:srgbClr val="10B981"/>
            </a:solidFill>
            <a:prstDash val="solid"/>
          </a:ln>
        </p:spPr>
      </p:sp>
      <p:sp>
        <p:nvSpPr>
          <p:cNvPr id="16" name="Text 14"/>
          <p:cNvSpPr/>
          <p:nvPr/>
        </p:nvSpPr>
        <p:spPr>
          <a:xfrm>
            <a:off x="457200" y="4206240"/>
            <a:ext cx="329184" cy="329184"/>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914400" y="4187952"/>
            <a:ext cx="10515600" cy="365760"/>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Threats &amp; attack types — concept knowledge</a:t>
            </a:r>
            <a:endParaRPr lang="en-US" sz="1450" dirty="0"/>
          </a:p>
        </p:txBody>
      </p:sp>
      <p:sp>
        <p:nvSpPr>
          <p:cNvPr id="18" name="Shape 16"/>
          <p:cNvSpPr/>
          <p:nvPr/>
        </p:nvSpPr>
        <p:spPr>
          <a:xfrm>
            <a:off x="457200" y="4663440"/>
            <a:ext cx="329184" cy="329184"/>
          </a:xfrm>
          <a:prstGeom prst="ellipse">
            <a:avLst/>
          </a:prstGeom>
          <a:solidFill>
            <a:srgbClr val="E7F9F1"/>
          </a:solidFill>
          <a:ln w="15875">
            <a:solidFill>
              <a:srgbClr val="10B981"/>
            </a:solidFill>
            <a:prstDash val="solid"/>
          </a:ln>
        </p:spPr>
      </p:sp>
      <p:sp>
        <p:nvSpPr>
          <p:cNvPr id="19" name="Text 17"/>
          <p:cNvSpPr/>
          <p:nvPr/>
        </p:nvSpPr>
        <p:spPr>
          <a:xfrm>
            <a:off x="457200" y="4663440"/>
            <a:ext cx="329184" cy="329184"/>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914400" y="4645152"/>
            <a:ext cx="10515600" cy="365760"/>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Security controls &amp; defences — concept knowledge</a:t>
            </a:r>
            <a:endParaRPr lang="en-US" sz="1450" dirty="0"/>
          </a:p>
        </p:txBody>
      </p:sp>
      <p:sp>
        <p:nvSpPr>
          <p:cNvPr id="21" name="Shape 19"/>
          <p:cNvSpPr/>
          <p:nvPr/>
        </p:nvSpPr>
        <p:spPr>
          <a:xfrm>
            <a:off x="457200" y="5120640"/>
            <a:ext cx="329184" cy="329184"/>
          </a:xfrm>
          <a:prstGeom prst="ellipse">
            <a:avLst/>
          </a:prstGeom>
          <a:solidFill>
            <a:srgbClr val="E7F9F1"/>
          </a:solidFill>
          <a:ln w="15875">
            <a:solidFill>
              <a:srgbClr val="10B981"/>
            </a:solidFill>
            <a:prstDash val="solid"/>
          </a:ln>
        </p:spPr>
      </p:sp>
      <p:sp>
        <p:nvSpPr>
          <p:cNvPr id="22" name="Text 20"/>
          <p:cNvSpPr/>
          <p:nvPr/>
        </p:nvSpPr>
        <p:spPr>
          <a:xfrm>
            <a:off x="457200" y="5120640"/>
            <a:ext cx="329184" cy="329184"/>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914400" y="5102352"/>
            <a:ext cx="10515600" cy="365760"/>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Applying both together to an incident (today's checkpoint)</a:t>
            </a:r>
            <a:endParaRPr lang="en-US" sz="1450" dirty="0"/>
          </a:p>
        </p:txBody>
      </p:sp>
      <p:sp>
        <p:nvSpPr>
          <p:cNvPr id="24" name="Shape 22"/>
          <p:cNvSpPr/>
          <p:nvPr/>
        </p:nvSpPr>
        <p:spPr>
          <a:xfrm>
            <a:off x="457200" y="5577840"/>
            <a:ext cx="329184" cy="329184"/>
          </a:xfrm>
          <a:prstGeom prst="ellipse">
            <a:avLst/>
          </a:prstGeom>
          <a:solidFill>
            <a:srgbClr val="ECEDF3"/>
          </a:solidFill>
          <a:ln w="15875">
            <a:solidFill>
              <a:srgbClr val="5B6178"/>
            </a:solidFill>
            <a:prstDash val="solid"/>
          </a:ln>
        </p:spPr>
      </p:sp>
      <p:sp>
        <p:nvSpPr>
          <p:cNvPr id="25" name="Text 23"/>
          <p:cNvSpPr/>
          <p:nvPr/>
        </p:nvSpPr>
        <p:spPr>
          <a:xfrm>
            <a:off x="457200" y="5577840"/>
            <a:ext cx="329184" cy="329184"/>
          </a:xfrm>
          <a:prstGeom prst="rect">
            <a:avLst/>
          </a:prstGeom>
          <a:noFill/>
          <a:ln/>
        </p:spPr>
        <p:txBody>
          <a:bodyPr wrap="square" lIns="0" tIns="0" rIns="0" bIns="0" rtlCol="0" anchor="ctr"/>
          <a:lstStyle/>
          <a:p>
            <a:pPr algn="ctr" indent="0" marL="0">
              <a:buNone/>
            </a:pPr>
            <a:r>
              <a:rPr lang="en-US" sz="1400" b="1" dirty="0">
                <a:solidFill>
                  <a:srgbClr val="5B6178"/>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914400" y="5559552"/>
            <a:ext cx="10515600" cy="365760"/>
          </a:xfrm>
          <a:prstGeom prst="rect">
            <a:avLst/>
          </a:prstGeom>
          <a:noFill/>
          <a:ln/>
        </p:spPr>
        <p:txBody>
          <a:bodyPr wrap="square" lIns="0" tIns="0" rIns="0" bIns="0" rtlCol="0" anchor="ctr"/>
          <a:lstStyle/>
          <a:p>
            <a:pPr indent="0" marL="0">
              <a:buNone/>
            </a:pPr>
            <a:r>
              <a:rPr lang="en-US" sz="1450" dirty="0">
                <a:solidFill>
                  <a:srgbClr val="16192B"/>
                </a:solidFill>
                <a:latin typeface="Calibri" pitchFamily="34" charset="0"/>
                <a:ea typeface="Calibri" pitchFamily="34" charset="-122"/>
                <a:cs typeface="Calibri" pitchFamily="34" charset="-120"/>
              </a:rPr>
              <a:t>Drafting your own case study analysis for the unit assessment</a:t>
            </a:r>
            <a:endParaRPr lang="en-US" sz="1450" dirty="0"/>
          </a:p>
        </p:txBody>
      </p:sp>
      <p:sp>
        <p:nvSpPr>
          <p:cNvPr id="27" name="Text 25"/>
          <p:cNvSpPr/>
          <p:nvPr/>
        </p:nvSpPr>
        <p:spPr>
          <a:xfrm>
            <a:off x="457200" y="6172200"/>
            <a:ext cx="11247120" cy="365760"/>
          </a:xfrm>
          <a:prstGeom prst="rect">
            <a:avLst/>
          </a:prstGeom>
          <a:noFill/>
          <a:ln/>
        </p:spPr>
        <p:txBody>
          <a:bodyPr wrap="square" lIns="0" tIns="0" rIns="0" bIns="0"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Adjust this checklist to match your own unit assessment (SAT) structure and sequence.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2026-08-14T01:12:58Z</dcterms:created>
  <dcterms:modified xsi:type="dcterms:W3CDTF">2026-08-14T01:12:58Z</dcterms:modified>
</cp:coreProperties>
</file>