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of 8 in the AoS2 cyber security sequence. Set up the framing immediately: last lesson we listed the six security controls; today we answer the question that comes BEFORE the control list — how does an organisation decide which threats matter and which controls are worth paying for? Threat modelling is the decision process; controls are the output. Laptops stay closed until the Laptop Gate at slide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(2 min). The key move is that students often treat 'security control' as the end of the story. Threat modelling is the reasoning that justifies a control. In the Outcome 2 case study they will be marked on justification, not on listing controls, so this lesson is the one that carries the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 minutes in pairs, 2 minutes sharing. Do not settle the argument. The disagreement is the point — different students will weigh 'how likely' against 'how bad' differently, and that tension is exactly what a risk matrix formalises later on slide 14. Listen for pairs who spontaneously say 'but how likely is that?' and hold their name to call back on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then have students copy only the objective and the tier they are aiming for — not all three. Point out that Extending is where the Outcome 2 marks live: identifying what a threat model MISSES is a higher-order evaluation skill and shows up directly in the case-study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call, no hands. Question 2 is encryption — but push for the limit we covered in L4: encryption does nothing if the attacker has stolen a valid key or a logged-in session. Question 4 is robust identity and access management, specifically least privilege. Keep this to 3 minutes; it is a bridge, not a review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Dictate the definition slowly — this is the one students must be able to reproduce in the exam. The second card is worth dwelling on: the textbook stresses that value judgements about 'the worst that could happen' must involve all levels of management and workers, because a developer and a finance manager will rank the same threat completely differently. Ask: who at Aurora Ticketing would rank 'four hours offline on festival morning' as the worst outcome, and who would rank the data breach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Think–pair–share, 3 minutes: 'Reactive security is not laziness — name a real reason an organisation ends up on the left-hand side.' Expect: no budget, no staff with the skill, pressure to ship, the risk was genuinely unknown at the time. This matters because in the Outcome 2 case study students must make realistic recommendations, and 'just do everything' is not a recommendation that earns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must copy the three principle names verbatim — they are lifted straight from the key knowledge and are the most likely short-answer question in this topic. Emphasise the cycle: an exam answer that stops at 'mitigate the threat' has missed a third of the key knowledge. The confirmation step is the one students most often omit.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Name-drop the three frameworks so students recognise them if they appear in a case study, but be explicit that the exam assesses the three study-design principles, not STRIDE's six categories. The common-themes list is the copy item here: notice how closely it maps onto the three principles — requirements, threats and mitigations, validation. Assumptions is the one extra idea worth flagging: a threat model built on 'our payment provider is secure' is only as good as that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idea on this slide is testability. A security requirement that cannot be checked cannot be confirmed later at Principle 3, so a vague requirement breaks the whole cycle. Have students rewrite one weak requirement aloud before moving on — e.g. 'Only the right people should have access' becomes 'Production database access is limited to the two named site reliability engineers and is reviewed each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prioritisation idea is what separates a Developing answer from an Extending one. A student who recommends every control equally has not engaged with the constraint that makes the task real. Reference the L4 'you can only afford three' budget task — this slide is the theory behind that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properly — it is the discussion that carries the lesson. Do not let groups pick 'the customer database and the source code' without pressure. Push back with: the scanning service failing on festival morning is the outcome that ends the contract and the company. Regulatory harm and commercial harm are different kinds of loss, and threat modelling forces the organisation to say which it fears more. Draw out the point that the group's ranking IS a value judgement, which is why the textbook insists these decisions involve management and workers, not just the security team. Two groups share, then move on — do not let it run past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students most often get wrong: accidental threats are not 'unlucky'. The textbook is blunt that mistakes rarely just happen — they trace back to poor training, confusing interface design, or permissions that were too broad in the first place. That reframing is what lets students recommend a fix. For event-based threats, the only option is contingency planning: hot site, warm site, cold site, backups, 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here and re-rank two of the five items using the matrix. The stolen laptop is a great example: consequence depends entirely on whether the disk was encrypted — which shows students that a control already in place changes the rating. That is the link between L4 and L5 and it is worth stating explicitly. Note that this matrix is a teaching tool, not a study-design requirement; students should know that organisations rate threats by likelihood and consequence, whatever the exact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overwhelmingly reach for 'reduce' every time. Force them to consider avoid — designing the risk out is often cheaper and stronger than controlling it, and 'don't store the data you don't need' is a recommendation that scores well in the case study. The red banner at the bottom is the distinction examiners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first row aloud, then have the class supply row two before revealing it if you want more participation. The confirmation column is the one to labour: notice that each entry names a specific piece of evidence with a frequency attached. 'We enforced MFA' is a mitigation; 'login logs show 100% MFA coverage, checked each term' is a confirmation. Students will replicate this exact table structure in the workbook, so leave it on screen during the Laptop Gate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3 is the one that usually splits the room, and it should. The shared login destroys attributability, which is a core security requirement — but the alternative genuinely creates a crowd safety problem at a gate. That tension is real, and the good answer is a compensating control (individual short-lived device tokens, or logging by device rather than by person) rather than a straight accept. Case 1 is a fair accept if the network isolation is genuine and documented; press students on how they would VERIFY that isolation, which sets up Principle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two minutes. Roughly the 55-minute mark of a 100-minute double. Use it to reset before the confirmation content, which is the densest section and the one students find least intuitive.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principle students most often skip in written answers. Frame it as the difference between saying and showing. Point out that four of these six — assessments, patch management, access reviews, audits — produce a dated artefact that an auditor or a court could look at. That artefact is what an organisation needs when the Privacy Act notification obligations bite, which is the link forward to the legislation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hard on 'all'. Claim 1 falls apart at the word: encrypted at rest, in transit, in backups, in the logs, on the analytics export? Students should learn to interrogate the scope of a security claim. Claim 2 wants an access list compared against HR records with a date on it. The Extending question distinguishes evidence of attendance from evidence of behaviour change — the second is what actually mitigates the threat.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'false confidence' point is worth stating slowly — it is the sharpest idea in the lesson and a strong line for students to reuse in an evaluation answer. Connect to L3: the third-party software risk lesson was full of assumptions organisations made about vendors that turned out to be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as a quick self-check rather than a lecture: 'hands up if you would have made mistake 1 this morning'. Misconception 1 is worth a worked sentence on the board: an unpatched library is the vulnerability, an attacker exploiting it is the threat, and the risk is that 400 000 records leak and it is fairly likely because the exploit is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rather than sitting down. The most common sticking point is Section 4 — students rate everything as High because they are not weighing likelihood honestly. Prompt with: 'how many times has that actually happened to a company like this?' Students who finish Extending early should be pointed at the Outcome 2 practice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live self-check — read each row and ask for a thumbs up, sideways or down. Anything with three or more sideways thumbs gets re-taught for two minutes before the exit ticket rather than being left for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discriminator — an unpatched OS is a vulnerability; the threat is an attacker exploiting a published exploit against it; the risk is the likelihood and consequence of that happening. Scan submissions before next lesson; if more than a third confuse those three terms, spend the first ten minutes of L6 re-teaching it, because the evaluation criteria lesson depends on the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reading explicitly — the Nelson threat modelling section is short and maps directly onto today's three principles, so it is genuine consolidation rather than busywork. Flag that L6 turns today's analysis into evaluation, which is where the Outcome 2 marks are concentrated.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640080"/>
            <a:ext cx="11155680" cy="5577840"/>
          </a:xfrm>
          <a:prstGeom prst="roundRect">
            <a:avLst>
              <a:gd name="adj" fmla="val 2295"/>
            </a:avLst>
          </a:prstGeom>
          <a:solidFill>
            <a:srgbClr val="F4F6FB"/>
          </a:solidFill>
          <a:ln w="12700">
            <a:solidFill>
              <a:srgbClr val="D8DDE6"/>
            </a:solidFill>
            <a:prstDash val="solid"/>
          </a:ln>
        </p:spPr>
      </p:sp>
      <p:sp>
        <p:nvSpPr>
          <p:cNvPr id="3" name="Text 1"/>
          <p:cNvSpPr/>
          <p:nvPr/>
        </p:nvSpPr>
        <p:spPr>
          <a:xfrm>
            <a:off x="1005840" y="1371600"/>
            <a:ext cx="10058400" cy="365760"/>
          </a:xfrm>
          <a:prstGeom prst="rect">
            <a:avLst/>
          </a:prstGeom>
          <a:noFill/>
          <a:ln/>
        </p:spPr>
        <p:txBody>
          <a:bodyPr wrap="square" lIns="0" tIns="0" rIns="0" bIns="0" rtlCol="0" anchor="ctr"/>
          <a:lstStyle/>
          <a:p>
            <a:pPr indent="0" marL="0">
              <a:buNone/>
            </a:pPr>
            <a:r>
              <a:rPr lang="en-US" sz="1400" b="1" spc="150" kern="0" dirty="0">
                <a:solidFill>
                  <a:srgbClr val="4361EE"/>
                </a:solidFill>
                <a:latin typeface="Courier New" pitchFamily="34" charset="0"/>
                <a:ea typeface="Courier New" pitchFamily="34" charset="-122"/>
                <a:cs typeface="Courier New" pitchFamily="34" charset="-120"/>
              </a:rPr>
              <a:t>UNIT 4 · AREA OF STUDY 2 · CYBER SECURITY</a:t>
            </a:r>
            <a:endParaRPr lang="en-US" sz="1400" dirty="0"/>
          </a:p>
        </p:txBody>
      </p:sp>
      <p:sp>
        <p:nvSpPr>
          <p:cNvPr id="4" name="Text 2"/>
          <p:cNvSpPr/>
          <p:nvPr/>
        </p:nvSpPr>
        <p:spPr>
          <a:xfrm>
            <a:off x="1005840" y="1874520"/>
            <a:ext cx="10058400" cy="1371600"/>
          </a:xfrm>
          <a:prstGeom prst="rect">
            <a:avLst/>
          </a:prstGeom>
          <a:noFill/>
          <a:ln/>
        </p:spPr>
        <p:txBody>
          <a:bodyPr wrap="square" lIns="0" tIns="0" rIns="0" bIns="0" rtlCol="0" anchor="ctr"/>
          <a:lstStyle/>
          <a:p>
            <a:pPr indent="0" marL="0">
              <a:buNone/>
            </a:pPr>
            <a:r>
              <a:rPr lang="en-US" sz="4400" b="1" dirty="0">
                <a:solidFill>
                  <a:srgbClr val="111827"/>
                </a:solidFill>
                <a:latin typeface="Bookman Old Style" pitchFamily="34" charset="0"/>
                <a:ea typeface="Bookman Old Style" pitchFamily="34" charset="-122"/>
                <a:cs typeface="Bookman Old Style" pitchFamily="34" charset="-120"/>
              </a:rPr>
              <a:t>Lesson 5 — Threat Modelling Principles</a:t>
            </a:r>
            <a:endParaRPr lang="en-US" sz="4400" dirty="0"/>
          </a:p>
        </p:txBody>
      </p:sp>
      <p:sp>
        <p:nvSpPr>
          <p:cNvPr id="5" name="Text 3"/>
          <p:cNvSpPr/>
          <p:nvPr/>
        </p:nvSpPr>
        <p:spPr>
          <a:xfrm>
            <a:off x="1005840" y="3246120"/>
            <a:ext cx="9875520" cy="640080"/>
          </a:xfrm>
          <a:prstGeom prst="rect">
            <a:avLst/>
          </a:prstGeom>
          <a:noFill/>
          <a:ln/>
        </p:spPr>
        <p:txBody>
          <a:bodyPr wrap="square" lIns="0" tIns="0" rIns="0" bIns="0" rtlCol="0" anchor="ctr"/>
          <a:lstStyle/>
          <a:p>
            <a:pPr indent="0" marL="0">
              <a:buNone/>
            </a:pPr>
            <a:r>
              <a:rPr lang="en-US" sz="1900" dirty="0">
                <a:solidFill>
                  <a:srgbClr val="5B6472"/>
                </a:solidFill>
                <a:latin typeface="Calibri" pitchFamily="34" charset="0"/>
                <a:ea typeface="Calibri" pitchFamily="34" charset="-122"/>
                <a:cs typeface="Calibri" pitchFamily="34" charset="-120"/>
              </a:rPr>
              <a:t>Defining security requirements · Identifying and mitigating threats · Confirming mitigation</a:t>
            </a:r>
            <a:endParaRPr lang="en-US" sz="1900" dirty="0"/>
          </a:p>
        </p:txBody>
      </p:sp>
      <p:sp>
        <p:nvSpPr>
          <p:cNvPr id="6" name="Shape 4"/>
          <p:cNvSpPr/>
          <p:nvPr/>
        </p:nvSpPr>
        <p:spPr>
          <a:xfrm>
            <a:off x="1005840" y="4114800"/>
            <a:ext cx="4937760" cy="1371600"/>
          </a:xfrm>
          <a:prstGeom prst="roundRect">
            <a:avLst>
              <a:gd name="adj" fmla="val 6667"/>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7" name="Text 5"/>
          <p:cNvSpPr/>
          <p:nvPr/>
        </p:nvSpPr>
        <p:spPr>
          <a:xfrm>
            <a:off x="1234440" y="4251960"/>
            <a:ext cx="4572000" cy="1097280"/>
          </a:xfrm>
          <a:prstGeom prst="rect">
            <a:avLst/>
          </a:prstGeom>
          <a:noFill/>
          <a:ln/>
        </p:spPr>
        <p:txBody>
          <a:bodyPr wrap="square" lIns="0" tIns="0" rIns="0" bIns="0" rtlCol="0" anchor="ctr"/>
          <a:lstStyle/>
          <a:p>
            <a:pPr indent="0" marL="0">
              <a:lnSpc>
                <a:spcPts val="2200"/>
              </a:lnSpc>
              <a:buNone/>
            </a:pPr>
            <a:r>
              <a:rPr lang="en-US" sz="1600" b="1" dirty="0">
                <a:solidFill>
                  <a:srgbClr val="111827"/>
                </a:solidFill>
                <a:latin typeface="Calibri" pitchFamily="34" charset="0"/>
                <a:ea typeface="Calibri" pitchFamily="34" charset="-122"/>
                <a:cs typeface="Calibri" pitchFamily="34" charset="-120"/>
              </a:rPr>
              <a:t>Year 12 Software Development</a:t>
            </a:r>
            <a:endParaRPr lang="en-US" sz="1600" dirty="0"/>
          </a:p>
          <a:p>
            <a:pPr indent="0" marL="0">
              <a:lnSpc>
                <a:spcPts val="2200"/>
              </a:lnSpc>
              <a:buNone/>
            </a:pPr>
            <a:r>
              <a:rPr lang="en-US" sz="1600" dirty="0">
                <a:solidFill>
                  <a:srgbClr val="111827"/>
                </a:solidFill>
                <a:latin typeface="Calibri" pitchFamily="34" charset="0"/>
                <a:ea typeface="Calibri" pitchFamily="34" charset="-122"/>
                <a:cs typeface="Calibri" pitchFamily="34" charset="-120"/>
              </a:rPr>
              <a:t>Double period · 100 minutes</a:t>
            </a:r>
            <a:endParaRPr lang="en-US" sz="1600" dirty="0"/>
          </a:p>
          <a:p>
            <a:pPr indent="0" marL="0">
              <a:lnSpc>
                <a:spcPts val="2200"/>
              </a:lnSpc>
              <a:buNone/>
            </a:pPr>
            <a:r>
              <a:rPr lang="en-US" sz="1600" dirty="0">
                <a:solidFill>
                  <a:srgbClr val="111827"/>
                </a:solidFill>
                <a:latin typeface="Calibri" pitchFamily="34" charset="0"/>
                <a:ea typeface="Calibri" pitchFamily="34" charset="-122"/>
                <a:cs typeface="Calibri" pitchFamily="34" charset="-120"/>
              </a:rPr>
              <a:t>Case organisation: Aurora Ticketing</a:t>
            </a:r>
            <a:endParaRPr lang="en-US" sz="1600" dirty="0"/>
          </a:p>
        </p:txBody>
      </p:sp>
      <p:sp>
        <p:nvSpPr>
          <p:cNvPr id="8" name="Shape 6"/>
          <p:cNvSpPr/>
          <p:nvPr/>
        </p:nvSpPr>
        <p:spPr>
          <a:xfrm>
            <a:off x="6263640" y="4114800"/>
            <a:ext cx="4617720" cy="1371600"/>
          </a:xfrm>
          <a:prstGeom prst="roundRect">
            <a:avLst>
              <a:gd name="adj" fmla="val 6667"/>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9" name="Text 7"/>
          <p:cNvSpPr/>
          <p:nvPr/>
        </p:nvSpPr>
        <p:spPr>
          <a:xfrm>
            <a:off x="6492240" y="4251960"/>
            <a:ext cx="4206240" cy="1097280"/>
          </a:xfrm>
          <a:prstGeom prst="rect">
            <a:avLst/>
          </a:prstGeom>
          <a:noFill/>
          <a:ln/>
        </p:spPr>
        <p:txBody>
          <a:bodyPr wrap="square" lIns="0" tIns="0" rIns="0" bIns="0" rtlCol="0" anchor="ctr"/>
          <a:lstStyle/>
          <a:p>
            <a:pPr indent="0" marL="0">
              <a:lnSpc>
                <a:spcPts val="2200"/>
              </a:lnSpc>
              <a:buNone/>
            </a:pPr>
            <a:r>
              <a:rPr lang="en-US" sz="1600" dirty="0">
                <a:solidFill>
                  <a:srgbClr val="111827"/>
                </a:solidFill>
                <a:latin typeface="Calibri" pitchFamily="34" charset="0"/>
                <a:ea typeface="Calibri" pitchFamily="34" charset="-122"/>
                <a:cs typeface="Calibri" pitchFamily="34" charset="-120"/>
              </a:rPr>
              <a:t>Last lesson: Security Controls</a:t>
            </a:r>
            <a:endParaRPr lang="en-US" sz="1600" dirty="0"/>
          </a:p>
          <a:p>
            <a:pPr indent="0" marL="0">
              <a:lnSpc>
                <a:spcPts val="2200"/>
              </a:lnSpc>
              <a:buNone/>
            </a:pPr>
            <a:r>
              <a:rPr lang="en-US" sz="1600" b="1" dirty="0">
                <a:solidFill>
                  <a:srgbClr val="111827"/>
                </a:solidFill>
                <a:latin typeface="Calibri" pitchFamily="34" charset="0"/>
                <a:ea typeface="Calibri" pitchFamily="34" charset="-122"/>
                <a:cs typeface="Calibri" pitchFamily="34" charset="-120"/>
              </a:rPr>
              <a:t>Today: how controls get chosen</a:t>
            </a:r>
            <a:endParaRPr lang="en-US" sz="1600" dirty="0"/>
          </a:p>
          <a:p>
            <a:pPr indent="0" marL="0">
              <a:lnSpc>
                <a:spcPts val="2200"/>
              </a:lnSpc>
              <a:buNone/>
            </a:pPr>
            <a:r>
              <a:rPr lang="en-US" sz="1600" dirty="0">
                <a:solidFill>
                  <a:srgbClr val="111827"/>
                </a:solidFill>
                <a:latin typeface="Calibri" pitchFamily="34" charset="0"/>
                <a:ea typeface="Calibri" pitchFamily="34" charset="-122"/>
                <a:cs typeface="Calibri" pitchFamily="34" charset="-120"/>
              </a:rPr>
              <a:t>Notebooks out — laptops stay shut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OBJECTIVE</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Where this lesson sits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Unit 4 Outcome 2 — analyse practices, evaluate controls and threats, recommend improvements</a:t>
            </a:r>
            <a:endParaRPr lang="en-US" sz="1500" dirty="0"/>
          </a:p>
        </p:txBody>
      </p:sp>
      <p:sp>
        <p:nvSpPr>
          <p:cNvPr id="8" name="Shape 6"/>
          <p:cNvSpPr/>
          <p:nvPr/>
        </p:nvSpPr>
        <p:spPr>
          <a:xfrm>
            <a:off x="502920" y="1691640"/>
            <a:ext cx="1783080" cy="1600200"/>
          </a:xfrm>
          <a:prstGeom prst="roundRect">
            <a:avLst>
              <a:gd name="adj" fmla="val 5714"/>
            </a:avLst>
          </a:prstGeom>
          <a:solidFill>
            <a:srgbClr val="F4F6FB"/>
          </a:solidFill>
          <a:ln w="12700">
            <a:solidFill>
              <a:srgbClr val="D8DDE6"/>
            </a:solidFill>
            <a:prstDash val="solid"/>
          </a:ln>
        </p:spPr>
      </p:sp>
      <p:sp>
        <p:nvSpPr>
          <p:cNvPr id="9" name="Text 7"/>
          <p:cNvSpPr/>
          <p:nvPr/>
        </p:nvSpPr>
        <p:spPr>
          <a:xfrm>
            <a:off x="502920" y="1828800"/>
            <a:ext cx="1783080" cy="365760"/>
          </a:xfrm>
          <a:prstGeom prst="rect">
            <a:avLst/>
          </a:prstGeom>
          <a:noFill/>
          <a:ln/>
        </p:spPr>
        <p:txBody>
          <a:bodyPr wrap="square" lIns="0" tIns="0" rIns="0" bIns="0" rtlCol="0" anchor="ctr"/>
          <a:lstStyle/>
          <a:p>
            <a:pPr algn="ctr" indent="0" marL="0">
              <a:buNone/>
            </a:pPr>
            <a:r>
              <a:rPr lang="en-US" sz="1400" b="1" dirty="0">
                <a:solidFill>
                  <a:srgbClr val="5B6472"/>
                </a:solidFill>
                <a:latin typeface="Courier New" pitchFamily="34" charset="0"/>
                <a:ea typeface="Courier New" pitchFamily="34" charset="-122"/>
                <a:cs typeface="Courier New" pitchFamily="34" charset="-120"/>
              </a:rPr>
              <a:t>L1</a:t>
            </a:r>
            <a:endParaRPr lang="en-US" sz="1400" dirty="0"/>
          </a:p>
        </p:txBody>
      </p:sp>
      <p:sp>
        <p:nvSpPr>
          <p:cNvPr id="10" name="Text 8"/>
          <p:cNvSpPr/>
          <p:nvPr/>
        </p:nvSpPr>
        <p:spPr>
          <a:xfrm>
            <a:off x="612648" y="2212848"/>
            <a:ext cx="1563624" cy="960120"/>
          </a:xfrm>
          <a:prstGeom prst="rect">
            <a:avLst/>
          </a:prstGeom>
          <a:noFill/>
          <a:ln/>
        </p:spPr>
        <p:txBody>
          <a:bodyPr wrap="square" lIns="0" tIns="0" rIns="0" bIns="0" rtlCol="0" anchor="t"/>
          <a:lstStyle/>
          <a:p>
            <a:pPr algn="ctr" indent="0" marL="0">
              <a:buNone/>
            </a:pPr>
            <a:r>
              <a:rPr lang="en-US" sz="1500" dirty="0">
                <a:solidFill>
                  <a:srgbClr val="111827"/>
                </a:solidFill>
                <a:latin typeface="Calibri" pitchFamily="34" charset="0"/>
                <a:ea typeface="Calibri" pitchFamily="34" charset="-122"/>
                <a:cs typeface="Calibri" pitchFamily="34" charset="-120"/>
              </a:rPr>
              <a:t>Why secure</a:t>
            </a:r>
            <a:endParaRPr lang="en-US" sz="1500" dirty="0"/>
          </a:p>
          <a:p>
            <a:pPr algn="ctr" indent="0" marL="0">
              <a:buNone/>
            </a:pPr>
            <a:r>
              <a:rPr lang="en-US" sz="1500" dirty="0">
                <a:solidFill>
                  <a:srgbClr val="111827"/>
                </a:solidFill>
                <a:latin typeface="Calibri" pitchFamily="34" charset="0"/>
                <a:ea typeface="Calibri" pitchFamily="34" charset="-122"/>
                <a:cs typeface="Calibri" pitchFamily="34" charset="-120"/>
              </a:rPr>
              <a:t>development matters</a:t>
            </a:r>
            <a:endParaRPr lang="en-US" sz="1500" dirty="0"/>
          </a:p>
        </p:txBody>
      </p:sp>
      <p:sp>
        <p:nvSpPr>
          <p:cNvPr id="11" name="Shape 9"/>
          <p:cNvSpPr/>
          <p:nvPr/>
        </p:nvSpPr>
        <p:spPr>
          <a:xfrm>
            <a:off x="2395728" y="1691640"/>
            <a:ext cx="1783080" cy="1600200"/>
          </a:xfrm>
          <a:prstGeom prst="roundRect">
            <a:avLst>
              <a:gd name="adj" fmla="val 5714"/>
            </a:avLst>
          </a:prstGeom>
          <a:solidFill>
            <a:srgbClr val="F4F6FB"/>
          </a:solidFill>
          <a:ln w="12700">
            <a:solidFill>
              <a:srgbClr val="D8DDE6"/>
            </a:solidFill>
            <a:prstDash val="solid"/>
          </a:ln>
        </p:spPr>
      </p:sp>
      <p:sp>
        <p:nvSpPr>
          <p:cNvPr id="12" name="Text 10"/>
          <p:cNvSpPr/>
          <p:nvPr/>
        </p:nvSpPr>
        <p:spPr>
          <a:xfrm>
            <a:off x="2395728" y="1828800"/>
            <a:ext cx="1783080" cy="365760"/>
          </a:xfrm>
          <a:prstGeom prst="rect">
            <a:avLst/>
          </a:prstGeom>
          <a:noFill/>
          <a:ln/>
        </p:spPr>
        <p:txBody>
          <a:bodyPr wrap="square" lIns="0" tIns="0" rIns="0" bIns="0" rtlCol="0" anchor="ctr"/>
          <a:lstStyle/>
          <a:p>
            <a:pPr algn="ctr" indent="0" marL="0">
              <a:buNone/>
            </a:pPr>
            <a:r>
              <a:rPr lang="en-US" sz="1400" b="1" dirty="0">
                <a:solidFill>
                  <a:srgbClr val="5B6472"/>
                </a:solidFill>
                <a:latin typeface="Courier New" pitchFamily="34" charset="0"/>
                <a:ea typeface="Courier New" pitchFamily="34" charset="-122"/>
                <a:cs typeface="Courier New" pitchFamily="34" charset="-120"/>
              </a:rPr>
              <a:t>L2</a:t>
            </a:r>
            <a:endParaRPr lang="en-US" sz="1400" dirty="0"/>
          </a:p>
        </p:txBody>
      </p:sp>
      <p:sp>
        <p:nvSpPr>
          <p:cNvPr id="13" name="Text 11"/>
          <p:cNvSpPr/>
          <p:nvPr/>
        </p:nvSpPr>
        <p:spPr>
          <a:xfrm>
            <a:off x="2505456" y="2212848"/>
            <a:ext cx="1563624" cy="960120"/>
          </a:xfrm>
          <a:prstGeom prst="rect">
            <a:avLst/>
          </a:prstGeom>
          <a:noFill/>
          <a:ln/>
        </p:spPr>
        <p:txBody>
          <a:bodyPr wrap="square" lIns="0" tIns="0" rIns="0" bIns="0" rtlCol="0" anchor="t"/>
          <a:lstStyle/>
          <a:p>
            <a:pPr algn="ctr" indent="0" marL="0">
              <a:buNone/>
            </a:pPr>
            <a:r>
              <a:rPr lang="en-US" sz="1500" dirty="0">
                <a:solidFill>
                  <a:srgbClr val="111827"/>
                </a:solidFill>
                <a:latin typeface="Calibri" pitchFamily="34" charset="0"/>
                <a:ea typeface="Calibri" pitchFamily="34" charset="-122"/>
                <a:cs typeface="Calibri" pitchFamily="34" charset="-120"/>
              </a:rPr>
              <a:t>Vulnerabilities</a:t>
            </a:r>
            <a:endParaRPr lang="en-US" sz="1500" dirty="0"/>
          </a:p>
          <a:p>
            <a:pPr algn="ctr" indent="0" marL="0">
              <a:buNone/>
            </a:pPr>
            <a:r>
              <a:rPr lang="en-US" sz="1500" dirty="0">
                <a:solidFill>
                  <a:srgbClr val="111827"/>
                </a:solidFill>
                <a:latin typeface="Calibri" pitchFamily="34" charset="0"/>
                <a:ea typeface="Calibri" pitchFamily="34" charset="-122"/>
                <a:cs typeface="Calibri" pitchFamily="34" charset="-120"/>
              </a:rPr>
              <a:t>&amp; risks I</a:t>
            </a:r>
            <a:endParaRPr lang="en-US" sz="1500" dirty="0"/>
          </a:p>
        </p:txBody>
      </p:sp>
      <p:sp>
        <p:nvSpPr>
          <p:cNvPr id="14" name="Shape 12"/>
          <p:cNvSpPr/>
          <p:nvPr/>
        </p:nvSpPr>
        <p:spPr>
          <a:xfrm>
            <a:off x="4288536" y="1691640"/>
            <a:ext cx="1783080" cy="1600200"/>
          </a:xfrm>
          <a:prstGeom prst="roundRect">
            <a:avLst>
              <a:gd name="adj" fmla="val 5714"/>
            </a:avLst>
          </a:prstGeom>
          <a:solidFill>
            <a:srgbClr val="F4F6FB"/>
          </a:solidFill>
          <a:ln w="12700">
            <a:solidFill>
              <a:srgbClr val="D8DDE6"/>
            </a:solidFill>
            <a:prstDash val="solid"/>
          </a:ln>
        </p:spPr>
      </p:sp>
      <p:sp>
        <p:nvSpPr>
          <p:cNvPr id="15" name="Text 13"/>
          <p:cNvSpPr/>
          <p:nvPr/>
        </p:nvSpPr>
        <p:spPr>
          <a:xfrm>
            <a:off x="4288536" y="1828800"/>
            <a:ext cx="1783080" cy="365760"/>
          </a:xfrm>
          <a:prstGeom prst="rect">
            <a:avLst/>
          </a:prstGeom>
          <a:noFill/>
          <a:ln/>
        </p:spPr>
        <p:txBody>
          <a:bodyPr wrap="square" lIns="0" tIns="0" rIns="0" bIns="0" rtlCol="0" anchor="ctr"/>
          <a:lstStyle/>
          <a:p>
            <a:pPr algn="ctr" indent="0" marL="0">
              <a:buNone/>
            </a:pPr>
            <a:r>
              <a:rPr lang="en-US" sz="1400" b="1" dirty="0">
                <a:solidFill>
                  <a:srgbClr val="5B6472"/>
                </a:solidFill>
                <a:latin typeface="Courier New" pitchFamily="34" charset="0"/>
                <a:ea typeface="Courier New" pitchFamily="34" charset="-122"/>
                <a:cs typeface="Courier New" pitchFamily="34" charset="-120"/>
              </a:rPr>
              <a:t>L3</a:t>
            </a:r>
            <a:endParaRPr lang="en-US" sz="1400" dirty="0"/>
          </a:p>
        </p:txBody>
      </p:sp>
      <p:sp>
        <p:nvSpPr>
          <p:cNvPr id="16" name="Text 14"/>
          <p:cNvSpPr/>
          <p:nvPr/>
        </p:nvSpPr>
        <p:spPr>
          <a:xfrm>
            <a:off x="4398264" y="2212848"/>
            <a:ext cx="1563624" cy="960120"/>
          </a:xfrm>
          <a:prstGeom prst="rect">
            <a:avLst/>
          </a:prstGeom>
          <a:noFill/>
          <a:ln/>
        </p:spPr>
        <p:txBody>
          <a:bodyPr wrap="square" lIns="0" tIns="0" rIns="0" bIns="0" rtlCol="0" anchor="t"/>
          <a:lstStyle/>
          <a:p>
            <a:pPr algn="ctr" indent="0" marL="0">
              <a:buNone/>
            </a:pPr>
            <a:r>
              <a:rPr lang="en-US" sz="1500" dirty="0">
                <a:solidFill>
                  <a:srgbClr val="111827"/>
                </a:solidFill>
                <a:latin typeface="Calibri" pitchFamily="34" charset="0"/>
                <a:ea typeface="Calibri" pitchFamily="34" charset="-122"/>
                <a:cs typeface="Calibri" pitchFamily="34" charset="-120"/>
              </a:rPr>
              <a:t>Vulnerabilities</a:t>
            </a:r>
            <a:endParaRPr lang="en-US" sz="1500" dirty="0"/>
          </a:p>
          <a:p>
            <a:pPr algn="ctr" indent="0" marL="0">
              <a:buNone/>
            </a:pPr>
            <a:r>
              <a:rPr lang="en-US" sz="1500" dirty="0">
                <a:solidFill>
                  <a:srgbClr val="111827"/>
                </a:solidFill>
                <a:latin typeface="Calibri" pitchFamily="34" charset="0"/>
                <a:ea typeface="Calibri" pitchFamily="34" charset="-122"/>
                <a:cs typeface="Calibri" pitchFamily="34" charset="-120"/>
              </a:rPr>
              <a:t>&amp; risks II</a:t>
            </a:r>
            <a:endParaRPr lang="en-US" sz="1500" dirty="0"/>
          </a:p>
        </p:txBody>
      </p:sp>
      <p:sp>
        <p:nvSpPr>
          <p:cNvPr id="17" name="Shape 15"/>
          <p:cNvSpPr/>
          <p:nvPr/>
        </p:nvSpPr>
        <p:spPr>
          <a:xfrm>
            <a:off x="6181344" y="1691640"/>
            <a:ext cx="1783080" cy="1600200"/>
          </a:xfrm>
          <a:prstGeom prst="roundRect">
            <a:avLst>
              <a:gd name="adj" fmla="val 5714"/>
            </a:avLst>
          </a:prstGeom>
          <a:solidFill>
            <a:srgbClr val="F4F6FB"/>
          </a:solidFill>
          <a:ln w="12700">
            <a:solidFill>
              <a:srgbClr val="D8DDE6"/>
            </a:solidFill>
            <a:prstDash val="solid"/>
          </a:ln>
        </p:spPr>
      </p:sp>
      <p:sp>
        <p:nvSpPr>
          <p:cNvPr id="18" name="Text 16"/>
          <p:cNvSpPr/>
          <p:nvPr/>
        </p:nvSpPr>
        <p:spPr>
          <a:xfrm>
            <a:off x="6181344" y="1828800"/>
            <a:ext cx="1783080" cy="365760"/>
          </a:xfrm>
          <a:prstGeom prst="rect">
            <a:avLst/>
          </a:prstGeom>
          <a:noFill/>
          <a:ln/>
        </p:spPr>
        <p:txBody>
          <a:bodyPr wrap="square" lIns="0" tIns="0" rIns="0" bIns="0" rtlCol="0" anchor="ctr"/>
          <a:lstStyle/>
          <a:p>
            <a:pPr algn="ctr" indent="0" marL="0">
              <a:buNone/>
            </a:pPr>
            <a:r>
              <a:rPr lang="en-US" sz="1400" b="1" dirty="0">
                <a:solidFill>
                  <a:srgbClr val="5B6472"/>
                </a:solidFill>
                <a:latin typeface="Courier New" pitchFamily="34" charset="0"/>
                <a:ea typeface="Courier New" pitchFamily="34" charset="-122"/>
                <a:cs typeface="Courier New" pitchFamily="34" charset="-120"/>
              </a:rPr>
              <a:t>L4</a:t>
            </a:r>
            <a:endParaRPr lang="en-US" sz="1400" dirty="0"/>
          </a:p>
        </p:txBody>
      </p:sp>
      <p:sp>
        <p:nvSpPr>
          <p:cNvPr id="19" name="Text 17"/>
          <p:cNvSpPr/>
          <p:nvPr/>
        </p:nvSpPr>
        <p:spPr>
          <a:xfrm>
            <a:off x="6291072" y="2212848"/>
            <a:ext cx="1563624" cy="960120"/>
          </a:xfrm>
          <a:prstGeom prst="rect">
            <a:avLst/>
          </a:prstGeom>
          <a:noFill/>
          <a:ln/>
        </p:spPr>
        <p:txBody>
          <a:bodyPr wrap="square" lIns="0" tIns="0" rIns="0" bIns="0" rtlCol="0" anchor="t"/>
          <a:lstStyle/>
          <a:p>
            <a:pPr algn="ctr" indent="0" marL="0">
              <a:buNone/>
            </a:pPr>
            <a:r>
              <a:rPr lang="en-US" sz="1500" dirty="0">
                <a:solidFill>
                  <a:srgbClr val="111827"/>
                </a:solidFill>
                <a:latin typeface="Calibri" pitchFamily="34" charset="0"/>
                <a:ea typeface="Calibri" pitchFamily="34" charset="-122"/>
                <a:cs typeface="Calibri" pitchFamily="34" charset="-120"/>
              </a:rPr>
              <a:t>Security</a:t>
            </a:r>
            <a:endParaRPr lang="en-US" sz="1500" dirty="0"/>
          </a:p>
          <a:p>
            <a:pPr algn="ctr" indent="0" marL="0">
              <a:buNone/>
            </a:pPr>
            <a:r>
              <a:rPr lang="en-US" sz="1500" dirty="0">
                <a:solidFill>
                  <a:srgbClr val="111827"/>
                </a:solidFill>
                <a:latin typeface="Calibri" pitchFamily="34" charset="0"/>
                <a:ea typeface="Calibri" pitchFamily="34" charset="-122"/>
                <a:cs typeface="Calibri" pitchFamily="34" charset="-120"/>
              </a:rPr>
              <a:t>controls</a:t>
            </a:r>
            <a:endParaRPr lang="en-US" sz="1500" dirty="0"/>
          </a:p>
        </p:txBody>
      </p:sp>
      <p:sp>
        <p:nvSpPr>
          <p:cNvPr id="20" name="Shape 18"/>
          <p:cNvSpPr/>
          <p:nvPr/>
        </p:nvSpPr>
        <p:spPr>
          <a:xfrm>
            <a:off x="8074152" y="1691640"/>
            <a:ext cx="1783080" cy="1600200"/>
          </a:xfrm>
          <a:prstGeom prst="roundRect">
            <a:avLst>
              <a:gd name="adj" fmla="val 5714"/>
            </a:avLst>
          </a:prstGeom>
          <a:solidFill>
            <a:srgbClr val="4361EE"/>
          </a:solidFill>
          <a:ln w="25400">
            <a:solidFill>
              <a:srgbClr val="4361EE"/>
            </a:solidFill>
            <a:prstDash val="solid"/>
          </a:ln>
          <a:effectLst>
            <a:outerShdw sx="100000" sy="100000" kx="0" ky="0" algn="bl" rotWithShape="0" blurRad="101600" dist="25400" dir="5400000">
              <a:srgbClr val="9AA3B2">
                <a:alpha val="18000"/>
              </a:srgbClr>
            </a:outerShdw>
          </a:effectLst>
        </p:spPr>
      </p:sp>
      <p:sp>
        <p:nvSpPr>
          <p:cNvPr id="21" name="Text 19"/>
          <p:cNvSpPr/>
          <p:nvPr/>
        </p:nvSpPr>
        <p:spPr>
          <a:xfrm>
            <a:off x="8074152" y="1828800"/>
            <a:ext cx="17830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L5</a:t>
            </a:r>
            <a:endParaRPr lang="en-US" sz="1400" dirty="0"/>
          </a:p>
        </p:txBody>
      </p:sp>
      <p:sp>
        <p:nvSpPr>
          <p:cNvPr id="22" name="Text 20"/>
          <p:cNvSpPr/>
          <p:nvPr/>
        </p:nvSpPr>
        <p:spPr>
          <a:xfrm>
            <a:off x="8183880" y="2212848"/>
            <a:ext cx="1563624" cy="9601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Threat modelling</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principles</a:t>
            </a:r>
            <a:endParaRPr lang="en-US" sz="1500" dirty="0"/>
          </a:p>
        </p:txBody>
      </p:sp>
      <p:sp>
        <p:nvSpPr>
          <p:cNvPr id="23" name="Shape 21"/>
          <p:cNvSpPr/>
          <p:nvPr/>
        </p:nvSpPr>
        <p:spPr>
          <a:xfrm>
            <a:off x="9966960" y="1691640"/>
            <a:ext cx="1783080" cy="1600200"/>
          </a:xfrm>
          <a:prstGeom prst="roundRect">
            <a:avLst>
              <a:gd name="adj" fmla="val 5714"/>
            </a:avLst>
          </a:prstGeom>
          <a:solidFill>
            <a:srgbClr val="FFFFFF"/>
          </a:solidFill>
          <a:ln w="12700">
            <a:solidFill>
              <a:srgbClr val="D8DDE6"/>
            </a:solidFill>
            <a:prstDash val="solid"/>
          </a:ln>
        </p:spPr>
      </p:sp>
      <p:sp>
        <p:nvSpPr>
          <p:cNvPr id="24" name="Text 22"/>
          <p:cNvSpPr/>
          <p:nvPr/>
        </p:nvSpPr>
        <p:spPr>
          <a:xfrm>
            <a:off x="9966960" y="1828800"/>
            <a:ext cx="1783080" cy="365760"/>
          </a:xfrm>
          <a:prstGeom prst="rect">
            <a:avLst/>
          </a:prstGeom>
          <a:noFill/>
          <a:ln/>
        </p:spPr>
        <p:txBody>
          <a:bodyPr wrap="square" lIns="0" tIns="0" rIns="0" bIns="0" rtlCol="0" anchor="ctr"/>
          <a:lstStyle/>
          <a:p>
            <a:pPr algn="ctr" indent="0" marL="0">
              <a:buNone/>
            </a:pPr>
            <a:r>
              <a:rPr lang="en-US" sz="1400" b="1" dirty="0">
                <a:solidFill>
                  <a:srgbClr val="5B6472"/>
                </a:solidFill>
                <a:latin typeface="Courier New" pitchFamily="34" charset="0"/>
                <a:ea typeface="Courier New" pitchFamily="34" charset="-122"/>
                <a:cs typeface="Courier New" pitchFamily="34" charset="-120"/>
              </a:rPr>
              <a:t>L6</a:t>
            </a:r>
            <a:endParaRPr lang="en-US" sz="1400" dirty="0"/>
          </a:p>
        </p:txBody>
      </p:sp>
      <p:sp>
        <p:nvSpPr>
          <p:cNvPr id="25" name="Text 23"/>
          <p:cNvSpPr/>
          <p:nvPr/>
        </p:nvSpPr>
        <p:spPr>
          <a:xfrm>
            <a:off x="10076688" y="2212848"/>
            <a:ext cx="1563624" cy="960120"/>
          </a:xfrm>
          <a:prstGeom prst="rect">
            <a:avLst/>
          </a:prstGeom>
          <a:noFill/>
          <a:ln/>
        </p:spPr>
        <p:txBody>
          <a:bodyPr wrap="square" lIns="0" tIns="0" rIns="0" bIns="0" rtlCol="0" anchor="t"/>
          <a:lstStyle/>
          <a:p>
            <a:pPr algn="ctr" indent="0" marL="0">
              <a:buNone/>
            </a:pPr>
            <a:r>
              <a:rPr lang="en-US" sz="1500" dirty="0">
                <a:solidFill>
                  <a:srgbClr val="111827"/>
                </a:solidFill>
                <a:latin typeface="Calibri" pitchFamily="34" charset="0"/>
                <a:ea typeface="Calibri" pitchFamily="34" charset="-122"/>
                <a:cs typeface="Calibri" pitchFamily="34" charset="-120"/>
              </a:rPr>
              <a:t>Evaluation</a:t>
            </a:r>
            <a:endParaRPr lang="en-US" sz="1500" dirty="0"/>
          </a:p>
          <a:p>
            <a:pPr algn="ctr" indent="0" marL="0">
              <a:buNone/>
            </a:pPr>
            <a:r>
              <a:rPr lang="en-US" sz="1500" dirty="0">
                <a:solidFill>
                  <a:srgbClr val="111827"/>
                </a:solidFill>
                <a:latin typeface="Calibri" pitchFamily="34" charset="0"/>
                <a:ea typeface="Calibri" pitchFamily="34" charset="-122"/>
                <a:cs typeface="Calibri" pitchFamily="34" charset="-120"/>
              </a:rPr>
              <a:t>criteria</a:t>
            </a:r>
            <a:endParaRPr lang="en-US" sz="1500" dirty="0"/>
          </a:p>
        </p:txBody>
      </p:sp>
      <p:sp>
        <p:nvSpPr>
          <p:cNvPr id="26" name="Shape 24"/>
          <p:cNvSpPr/>
          <p:nvPr/>
        </p:nvSpPr>
        <p:spPr>
          <a:xfrm>
            <a:off x="502920" y="3657600"/>
            <a:ext cx="5486400" cy="2377440"/>
          </a:xfrm>
          <a:prstGeom prst="roundRect">
            <a:avLst>
              <a:gd name="adj" fmla="val 3462"/>
            </a:avLst>
          </a:prstGeom>
          <a:solidFill>
            <a:srgbClr val="F4F6FB"/>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7" name="Text 25"/>
          <p:cNvSpPr/>
          <p:nvPr/>
        </p:nvSpPr>
        <p:spPr>
          <a:xfrm>
            <a:off x="731520" y="3794760"/>
            <a:ext cx="5029200" cy="365760"/>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You already know</a:t>
            </a:r>
            <a:endParaRPr lang="en-US" sz="2000" dirty="0"/>
          </a:p>
        </p:txBody>
      </p:sp>
      <p:sp>
        <p:nvSpPr>
          <p:cNvPr id="28" name="Text 26"/>
          <p:cNvSpPr/>
          <p:nvPr/>
        </p:nvSpPr>
        <p:spPr>
          <a:xfrm>
            <a:off x="777240" y="4206240"/>
            <a:ext cx="4937760" cy="16459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What can go wrong (vulnerabilities and risks)</a:t>
            </a:r>
            <a:endParaRPr lang="en-US" sz="1800" dirty="0"/>
          </a:p>
          <a:p>
            <a:pPr marL="342900" indent="-342900">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What can be put in place (six security controls)</a:t>
            </a:r>
            <a:endParaRPr lang="en-US" sz="1800" dirty="0"/>
          </a:p>
        </p:txBody>
      </p:sp>
      <p:sp>
        <p:nvSpPr>
          <p:cNvPr id="29" name="Shape 27"/>
          <p:cNvSpPr/>
          <p:nvPr/>
        </p:nvSpPr>
        <p:spPr>
          <a:xfrm>
            <a:off x="6172200" y="3657600"/>
            <a:ext cx="5486400" cy="2377440"/>
          </a:xfrm>
          <a:prstGeom prst="roundRect">
            <a:avLst>
              <a:gd name="adj" fmla="val 3462"/>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30" name="Text 28"/>
          <p:cNvSpPr/>
          <p:nvPr/>
        </p:nvSpPr>
        <p:spPr>
          <a:xfrm>
            <a:off x="6400800" y="3794760"/>
            <a:ext cx="5029200" cy="365760"/>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What you still need</a:t>
            </a:r>
            <a:endParaRPr lang="en-US" sz="2000" dirty="0"/>
          </a:p>
        </p:txBody>
      </p:sp>
      <p:sp>
        <p:nvSpPr>
          <p:cNvPr id="31" name="Text 29"/>
          <p:cNvSpPr/>
          <p:nvPr/>
        </p:nvSpPr>
        <p:spPr>
          <a:xfrm>
            <a:off x="6446520" y="4206240"/>
            <a:ext cx="4937760" cy="17373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A repeatable process for deciding which threats to act on first</a:t>
            </a:r>
            <a:endParaRPr lang="en-US" sz="1800" dirty="0"/>
          </a:p>
          <a:p>
            <a:pPr marL="342900" indent="-342900">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A way to prove a threat has actually been dealt with</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5B6472"/>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WARM UP</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Warm up — Worst case first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5 minutes · in pairs · notebooks only</a:t>
            </a:r>
            <a:endParaRPr lang="en-US" sz="1500" dirty="0"/>
          </a:p>
        </p:txBody>
      </p:sp>
      <p:sp>
        <p:nvSpPr>
          <p:cNvPr id="8" name="Shape 6"/>
          <p:cNvSpPr/>
          <p:nvPr/>
        </p:nvSpPr>
        <p:spPr>
          <a:xfrm>
            <a:off x="502920" y="1371600"/>
            <a:ext cx="11155680" cy="1051560"/>
          </a:xfrm>
          <a:prstGeom prst="roundRect">
            <a:avLst>
              <a:gd name="adj" fmla="val 7826"/>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9" name="Text 7"/>
          <p:cNvSpPr/>
          <p:nvPr/>
        </p:nvSpPr>
        <p:spPr>
          <a:xfrm>
            <a:off x="777240" y="1481328"/>
            <a:ext cx="10607040" cy="822960"/>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Aurora Ticketing is a Melbourne company that builds ticketing software for music festivals. Five things below could go wrong. Rank them 1 (worst) to 5 (least bad) and be ready to defend your order.</a:t>
            </a:r>
            <a:endParaRPr lang="en-US" sz="1800" dirty="0"/>
          </a:p>
        </p:txBody>
      </p:sp>
      <p:sp>
        <p:nvSpPr>
          <p:cNvPr id="10" name="Shape 8"/>
          <p:cNvSpPr/>
          <p:nvPr/>
        </p:nvSpPr>
        <p:spPr>
          <a:xfrm>
            <a:off x="502920" y="2697480"/>
            <a:ext cx="11155680" cy="603504"/>
          </a:xfrm>
          <a:prstGeom prst="roundRect">
            <a:avLst>
              <a:gd name="adj" fmla="val 12121"/>
            </a:avLst>
          </a:prstGeom>
          <a:solidFill>
            <a:srgbClr val="FFFFFF"/>
          </a:solidFill>
          <a:ln w="12700">
            <a:solidFill>
              <a:srgbClr val="D8DDE6"/>
            </a:solidFill>
            <a:prstDash val="solid"/>
          </a:ln>
        </p:spPr>
      </p:sp>
      <p:sp>
        <p:nvSpPr>
          <p:cNvPr id="11" name="Shape 9"/>
          <p:cNvSpPr/>
          <p:nvPr/>
        </p:nvSpPr>
        <p:spPr>
          <a:xfrm>
            <a:off x="640080" y="2798064"/>
            <a:ext cx="402336" cy="402336"/>
          </a:xfrm>
          <a:prstGeom prst="roundRect">
            <a:avLst>
              <a:gd name="adj" fmla="val 50000"/>
            </a:avLst>
          </a:prstGeom>
          <a:solidFill>
            <a:srgbClr val="F4F6FB"/>
          </a:solidFill>
          <a:ln w="12700">
            <a:solidFill>
              <a:srgbClr val="D8DDE6"/>
            </a:solidFill>
            <a:prstDash val="solid"/>
          </a:ln>
        </p:spPr>
      </p:sp>
      <p:sp>
        <p:nvSpPr>
          <p:cNvPr id="12" name="Text 10"/>
          <p:cNvSpPr/>
          <p:nvPr/>
        </p:nvSpPr>
        <p:spPr>
          <a:xfrm>
            <a:off x="640080" y="2798064"/>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A</a:t>
            </a:r>
            <a:endParaRPr lang="en-US" sz="1300" dirty="0"/>
          </a:p>
        </p:txBody>
      </p:sp>
      <p:sp>
        <p:nvSpPr>
          <p:cNvPr id="13" name="Text 11"/>
          <p:cNvSpPr/>
          <p:nvPr/>
        </p:nvSpPr>
        <p:spPr>
          <a:xfrm>
            <a:off x="1188720" y="2697480"/>
            <a:ext cx="10332720" cy="603504"/>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A developer's laptop is stolen from a car</a:t>
            </a:r>
            <a:endParaRPr lang="en-US" sz="1800" dirty="0"/>
          </a:p>
        </p:txBody>
      </p:sp>
      <p:sp>
        <p:nvSpPr>
          <p:cNvPr id="14" name="Shape 12"/>
          <p:cNvSpPr/>
          <p:nvPr/>
        </p:nvSpPr>
        <p:spPr>
          <a:xfrm>
            <a:off x="502920" y="3410712"/>
            <a:ext cx="11155680" cy="603504"/>
          </a:xfrm>
          <a:prstGeom prst="roundRect">
            <a:avLst>
              <a:gd name="adj" fmla="val 12121"/>
            </a:avLst>
          </a:prstGeom>
          <a:solidFill>
            <a:srgbClr val="FFFFFF"/>
          </a:solidFill>
          <a:ln w="12700">
            <a:solidFill>
              <a:srgbClr val="D8DDE6"/>
            </a:solidFill>
            <a:prstDash val="solid"/>
          </a:ln>
        </p:spPr>
      </p:sp>
      <p:sp>
        <p:nvSpPr>
          <p:cNvPr id="15" name="Shape 13"/>
          <p:cNvSpPr/>
          <p:nvPr/>
        </p:nvSpPr>
        <p:spPr>
          <a:xfrm>
            <a:off x="640080" y="3511296"/>
            <a:ext cx="402336" cy="402336"/>
          </a:xfrm>
          <a:prstGeom prst="roundRect">
            <a:avLst>
              <a:gd name="adj" fmla="val 50000"/>
            </a:avLst>
          </a:prstGeom>
          <a:solidFill>
            <a:srgbClr val="F4F6FB"/>
          </a:solidFill>
          <a:ln w="12700">
            <a:solidFill>
              <a:srgbClr val="D8DDE6"/>
            </a:solidFill>
            <a:prstDash val="solid"/>
          </a:ln>
        </p:spPr>
      </p:sp>
      <p:sp>
        <p:nvSpPr>
          <p:cNvPr id="16" name="Text 14"/>
          <p:cNvSpPr/>
          <p:nvPr/>
        </p:nvSpPr>
        <p:spPr>
          <a:xfrm>
            <a:off x="640080" y="3511296"/>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B</a:t>
            </a:r>
            <a:endParaRPr lang="en-US" sz="1300" dirty="0"/>
          </a:p>
        </p:txBody>
      </p:sp>
      <p:sp>
        <p:nvSpPr>
          <p:cNvPr id="17" name="Text 15"/>
          <p:cNvSpPr/>
          <p:nvPr/>
        </p:nvSpPr>
        <p:spPr>
          <a:xfrm>
            <a:off x="1188720" y="3410712"/>
            <a:ext cx="10332720" cy="603504"/>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The customer database of 400 000 ticket buyers is copied by an attacker</a:t>
            </a:r>
            <a:endParaRPr lang="en-US" sz="1800" dirty="0"/>
          </a:p>
        </p:txBody>
      </p:sp>
      <p:sp>
        <p:nvSpPr>
          <p:cNvPr id="18" name="Shape 16"/>
          <p:cNvSpPr/>
          <p:nvPr/>
        </p:nvSpPr>
        <p:spPr>
          <a:xfrm>
            <a:off x="502920" y="4123944"/>
            <a:ext cx="11155680" cy="603504"/>
          </a:xfrm>
          <a:prstGeom prst="roundRect">
            <a:avLst>
              <a:gd name="adj" fmla="val 12121"/>
            </a:avLst>
          </a:prstGeom>
          <a:solidFill>
            <a:srgbClr val="FFFFFF"/>
          </a:solidFill>
          <a:ln w="12700">
            <a:solidFill>
              <a:srgbClr val="D8DDE6"/>
            </a:solidFill>
            <a:prstDash val="solid"/>
          </a:ln>
        </p:spPr>
      </p:sp>
      <p:sp>
        <p:nvSpPr>
          <p:cNvPr id="19" name="Shape 17"/>
          <p:cNvSpPr/>
          <p:nvPr/>
        </p:nvSpPr>
        <p:spPr>
          <a:xfrm>
            <a:off x="640080" y="4224528"/>
            <a:ext cx="402336" cy="402336"/>
          </a:xfrm>
          <a:prstGeom prst="roundRect">
            <a:avLst>
              <a:gd name="adj" fmla="val 50000"/>
            </a:avLst>
          </a:prstGeom>
          <a:solidFill>
            <a:srgbClr val="F4F6FB"/>
          </a:solidFill>
          <a:ln w="12700">
            <a:solidFill>
              <a:srgbClr val="D8DDE6"/>
            </a:solidFill>
            <a:prstDash val="solid"/>
          </a:ln>
        </p:spPr>
      </p:sp>
      <p:sp>
        <p:nvSpPr>
          <p:cNvPr id="20" name="Text 18"/>
          <p:cNvSpPr/>
          <p:nvPr/>
        </p:nvSpPr>
        <p:spPr>
          <a:xfrm>
            <a:off x="640080" y="4224528"/>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C</a:t>
            </a:r>
            <a:endParaRPr lang="en-US" sz="1300" dirty="0"/>
          </a:p>
        </p:txBody>
      </p:sp>
      <p:sp>
        <p:nvSpPr>
          <p:cNvPr id="21" name="Text 19"/>
          <p:cNvSpPr/>
          <p:nvPr/>
        </p:nvSpPr>
        <p:spPr>
          <a:xfrm>
            <a:off x="1188720" y="4123944"/>
            <a:ext cx="10332720" cy="603504"/>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The ticket-scanning app goes offline for four hours on festival morning</a:t>
            </a:r>
            <a:endParaRPr lang="en-US" sz="1800" dirty="0"/>
          </a:p>
        </p:txBody>
      </p:sp>
      <p:sp>
        <p:nvSpPr>
          <p:cNvPr id="22" name="Shape 20"/>
          <p:cNvSpPr/>
          <p:nvPr/>
        </p:nvSpPr>
        <p:spPr>
          <a:xfrm>
            <a:off x="502920" y="4837176"/>
            <a:ext cx="11155680" cy="603504"/>
          </a:xfrm>
          <a:prstGeom prst="roundRect">
            <a:avLst>
              <a:gd name="adj" fmla="val 12121"/>
            </a:avLst>
          </a:prstGeom>
          <a:solidFill>
            <a:srgbClr val="FFFFFF"/>
          </a:solidFill>
          <a:ln w="12700">
            <a:solidFill>
              <a:srgbClr val="D8DDE6"/>
            </a:solidFill>
            <a:prstDash val="solid"/>
          </a:ln>
        </p:spPr>
      </p:sp>
      <p:sp>
        <p:nvSpPr>
          <p:cNvPr id="23" name="Shape 21"/>
          <p:cNvSpPr/>
          <p:nvPr/>
        </p:nvSpPr>
        <p:spPr>
          <a:xfrm>
            <a:off x="640080" y="4937760"/>
            <a:ext cx="402336" cy="402336"/>
          </a:xfrm>
          <a:prstGeom prst="roundRect">
            <a:avLst>
              <a:gd name="adj" fmla="val 50000"/>
            </a:avLst>
          </a:prstGeom>
          <a:solidFill>
            <a:srgbClr val="F4F6FB"/>
          </a:solidFill>
          <a:ln w="12700">
            <a:solidFill>
              <a:srgbClr val="D8DDE6"/>
            </a:solidFill>
            <a:prstDash val="solid"/>
          </a:ln>
        </p:spPr>
      </p:sp>
      <p:sp>
        <p:nvSpPr>
          <p:cNvPr id="24" name="Text 22"/>
          <p:cNvSpPr/>
          <p:nvPr/>
        </p:nvSpPr>
        <p:spPr>
          <a:xfrm>
            <a:off x="640080" y="4937760"/>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D</a:t>
            </a:r>
            <a:endParaRPr lang="en-US" sz="1300" dirty="0"/>
          </a:p>
        </p:txBody>
      </p:sp>
      <p:sp>
        <p:nvSpPr>
          <p:cNvPr id="25" name="Text 23"/>
          <p:cNvSpPr/>
          <p:nvPr/>
        </p:nvSpPr>
        <p:spPr>
          <a:xfrm>
            <a:off x="1188720" y="4837176"/>
            <a:ext cx="10332720" cy="603504"/>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A junior developer accidentally deletes the test database</a:t>
            </a:r>
            <a:endParaRPr lang="en-US" sz="1800" dirty="0"/>
          </a:p>
        </p:txBody>
      </p:sp>
      <p:sp>
        <p:nvSpPr>
          <p:cNvPr id="26" name="Shape 24"/>
          <p:cNvSpPr/>
          <p:nvPr/>
        </p:nvSpPr>
        <p:spPr>
          <a:xfrm>
            <a:off x="502920" y="5550408"/>
            <a:ext cx="11155680" cy="603504"/>
          </a:xfrm>
          <a:prstGeom prst="roundRect">
            <a:avLst>
              <a:gd name="adj" fmla="val 12121"/>
            </a:avLst>
          </a:prstGeom>
          <a:solidFill>
            <a:srgbClr val="FFFFFF"/>
          </a:solidFill>
          <a:ln w="12700">
            <a:solidFill>
              <a:srgbClr val="D8DDE6"/>
            </a:solidFill>
            <a:prstDash val="solid"/>
          </a:ln>
        </p:spPr>
      </p:sp>
      <p:sp>
        <p:nvSpPr>
          <p:cNvPr id="27" name="Shape 25"/>
          <p:cNvSpPr/>
          <p:nvPr/>
        </p:nvSpPr>
        <p:spPr>
          <a:xfrm>
            <a:off x="640080" y="5650992"/>
            <a:ext cx="402336" cy="402336"/>
          </a:xfrm>
          <a:prstGeom prst="roundRect">
            <a:avLst>
              <a:gd name="adj" fmla="val 50000"/>
            </a:avLst>
          </a:prstGeom>
          <a:solidFill>
            <a:srgbClr val="F4F6FB"/>
          </a:solidFill>
          <a:ln w="12700">
            <a:solidFill>
              <a:srgbClr val="D8DDE6"/>
            </a:solidFill>
            <a:prstDash val="solid"/>
          </a:ln>
        </p:spPr>
      </p:sp>
      <p:sp>
        <p:nvSpPr>
          <p:cNvPr id="28" name="Text 26"/>
          <p:cNvSpPr/>
          <p:nvPr/>
        </p:nvSpPr>
        <p:spPr>
          <a:xfrm>
            <a:off x="640080" y="5650992"/>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E</a:t>
            </a:r>
            <a:endParaRPr lang="en-US" sz="1300" dirty="0"/>
          </a:p>
        </p:txBody>
      </p:sp>
      <p:sp>
        <p:nvSpPr>
          <p:cNvPr id="29" name="Text 27"/>
          <p:cNvSpPr/>
          <p:nvPr/>
        </p:nvSpPr>
        <p:spPr>
          <a:xfrm>
            <a:off x="1188720" y="5550408"/>
            <a:ext cx="10332720" cy="603504"/>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A third-party payment library is found to contain a back door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OBJECTIVE</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Learning objective</a:t>
            </a:r>
            <a:endParaRPr lang="en-US" sz="3000" dirty="0"/>
          </a:p>
        </p:txBody>
      </p:sp>
      <p:sp>
        <p:nvSpPr>
          <p:cNvPr id="7" name="Shape 5"/>
          <p:cNvSpPr/>
          <p:nvPr/>
        </p:nvSpPr>
        <p:spPr>
          <a:xfrm>
            <a:off x="502920" y="1143000"/>
            <a:ext cx="11155680" cy="960120"/>
          </a:xfrm>
          <a:prstGeom prst="roundRect">
            <a:avLst>
              <a:gd name="adj" fmla="val 8571"/>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8" name="Text 6"/>
          <p:cNvSpPr/>
          <p:nvPr/>
        </p:nvSpPr>
        <p:spPr>
          <a:xfrm>
            <a:off x="777240" y="1143000"/>
            <a:ext cx="10607040" cy="960120"/>
          </a:xfrm>
          <a:prstGeom prst="rect">
            <a:avLst/>
          </a:prstGeom>
          <a:noFill/>
          <a:ln/>
        </p:spPr>
        <p:txBody>
          <a:bodyPr wrap="square" lIns="0" tIns="0" rIns="0" bIns="0" rtlCol="0" anchor="ctr"/>
          <a:lstStyle/>
          <a:p>
            <a:pPr indent="0" marL="0">
              <a:buNone/>
            </a:pPr>
            <a:r>
              <a:rPr lang="en-US" sz="2300" b="1" dirty="0">
                <a:solidFill>
                  <a:srgbClr val="111827"/>
                </a:solidFill>
                <a:latin typeface="Bookman Old Style" pitchFamily="34" charset="0"/>
                <a:ea typeface="Bookman Old Style" pitchFamily="34" charset="-122"/>
                <a:cs typeface="Bookman Old Style" pitchFamily="34" charset="-120"/>
              </a:rPr>
              <a:t>To be able to apply threat modelling principles to an organisation's software development practices.</a:t>
            </a:r>
            <a:endParaRPr lang="en-US" sz="2300" dirty="0"/>
          </a:p>
        </p:txBody>
      </p:sp>
      <p:sp>
        <p:nvSpPr>
          <p:cNvPr id="9" name="Text 7"/>
          <p:cNvSpPr/>
          <p:nvPr/>
        </p:nvSpPr>
        <p:spPr>
          <a:xfrm>
            <a:off x="502920" y="2240280"/>
            <a:ext cx="5486400" cy="365760"/>
          </a:xfrm>
          <a:prstGeom prst="rect">
            <a:avLst/>
          </a:prstGeom>
          <a:noFill/>
          <a:ln/>
        </p:spPr>
        <p:txBody>
          <a:bodyPr wrap="square" lIns="0" tIns="0" rIns="0" bIns="0" rtlCol="0" anchor="ctr"/>
          <a:lstStyle/>
          <a:p>
            <a:pPr indent="0" marL="0">
              <a:buNone/>
            </a:pPr>
            <a:r>
              <a:rPr lang="en-US" sz="2100" b="1" dirty="0">
                <a:solidFill>
                  <a:srgbClr val="111827"/>
                </a:solidFill>
                <a:latin typeface="Bookman Old Style" pitchFamily="34" charset="0"/>
                <a:ea typeface="Bookman Old Style" pitchFamily="34" charset="-122"/>
                <a:cs typeface="Bookman Old Style" pitchFamily="34" charset="-120"/>
              </a:rPr>
              <a:t>Success criteria</a:t>
            </a:r>
            <a:endParaRPr lang="en-US" sz="2100" dirty="0"/>
          </a:p>
        </p:txBody>
      </p:sp>
      <p:sp>
        <p:nvSpPr>
          <p:cNvPr id="10" name="Shape 8"/>
          <p:cNvSpPr/>
          <p:nvPr/>
        </p:nvSpPr>
        <p:spPr>
          <a:xfrm>
            <a:off x="502920" y="2697480"/>
            <a:ext cx="3611880" cy="3063240"/>
          </a:xfrm>
          <a:prstGeom prst="roundRect">
            <a:avLst>
              <a:gd name="adj" fmla="val 2687"/>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2880360"/>
            <a:ext cx="1298448" cy="274320"/>
          </a:xfrm>
          <a:prstGeom prst="roundRect">
            <a:avLst>
              <a:gd name="adj" fmla="val 50000"/>
            </a:avLst>
          </a:prstGeom>
          <a:solidFill>
            <a:srgbClr val="10B981"/>
          </a:solidFill>
          <a:ln/>
        </p:spPr>
      </p:sp>
      <p:sp>
        <p:nvSpPr>
          <p:cNvPr id="12" name="Text 10"/>
          <p:cNvSpPr/>
          <p:nvPr/>
        </p:nvSpPr>
        <p:spPr>
          <a:xfrm>
            <a:off x="731520" y="2880360"/>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FOUNDATION</a:t>
            </a:r>
            <a:endParaRPr lang="en-US" sz="900" dirty="0"/>
          </a:p>
        </p:txBody>
      </p:sp>
      <p:sp>
        <p:nvSpPr>
          <p:cNvPr id="13" name="Text 11"/>
          <p:cNvSpPr/>
          <p:nvPr/>
        </p:nvSpPr>
        <p:spPr>
          <a:xfrm>
            <a:off x="731520" y="3310128"/>
            <a:ext cx="3154680" cy="1371600"/>
          </a:xfrm>
          <a:prstGeom prst="rect">
            <a:avLst/>
          </a:prstGeom>
          <a:noFill/>
          <a:ln/>
        </p:spPr>
        <p:txBody>
          <a:bodyPr wrap="square" lIns="0" tIns="0" rIns="0" bIns="0" rtlCol="0" anchor="t"/>
          <a:lstStyle/>
          <a:p>
            <a:pPr indent="0" marL="0">
              <a:buNone/>
            </a:pPr>
            <a:r>
              <a:rPr lang="en-US" sz="1700" dirty="0">
                <a:solidFill>
                  <a:srgbClr val="111827"/>
                </a:solidFill>
                <a:latin typeface="Calibri" pitchFamily="34" charset="0"/>
                <a:ea typeface="Calibri" pitchFamily="34" charset="-122"/>
                <a:cs typeface="Calibri" pitchFamily="34" charset="-120"/>
              </a:rPr>
              <a:t>I can name the three threat modelling principles and explain what each one is for.</a:t>
            </a:r>
            <a:endParaRPr lang="en-US" sz="1700" dirty="0"/>
          </a:p>
        </p:txBody>
      </p:sp>
      <p:sp>
        <p:nvSpPr>
          <p:cNvPr id="14" name="Shape 12"/>
          <p:cNvSpPr/>
          <p:nvPr/>
        </p:nvSpPr>
        <p:spPr>
          <a:xfrm>
            <a:off x="731520" y="4736592"/>
            <a:ext cx="3154680" cy="0"/>
          </a:xfrm>
          <a:prstGeom prst="line">
            <a:avLst/>
          </a:prstGeom>
          <a:noFill/>
          <a:ln w="12700">
            <a:solidFill>
              <a:srgbClr val="D8DDE6"/>
            </a:solidFill>
            <a:prstDash val="solid"/>
          </a:ln>
        </p:spPr>
      </p:sp>
      <p:sp>
        <p:nvSpPr>
          <p:cNvPr id="15" name="Text 13"/>
          <p:cNvSpPr/>
          <p:nvPr/>
        </p:nvSpPr>
        <p:spPr>
          <a:xfrm>
            <a:off x="731520" y="4846320"/>
            <a:ext cx="3154680" cy="77724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I can classify a threat as accidental, event-based or deliberate.</a:t>
            </a:r>
            <a:endParaRPr lang="en-US" sz="1600" dirty="0"/>
          </a:p>
        </p:txBody>
      </p:sp>
      <p:sp>
        <p:nvSpPr>
          <p:cNvPr id="16" name="Shape 14"/>
          <p:cNvSpPr/>
          <p:nvPr/>
        </p:nvSpPr>
        <p:spPr>
          <a:xfrm>
            <a:off x="4325112" y="2697480"/>
            <a:ext cx="3611880" cy="3063240"/>
          </a:xfrm>
          <a:prstGeom prst="roundRect">
            <a:avLst>
              <a:gd name="adj" fmla="val 2687"/>
            </a:avLst>
          </a:prstGeom>
          <a:solidFill>
            <a:srgbClr val="FFFFFF"/>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17" name="Shape 15"/>
          <p:cNvSpPr/>
          <p:nvPr/>
        </p:nvSpPr>
        <p:spPr>
          <a:xfrm>
            <a:off x="4553712" y="2880360"/>
            <a:ext cx="1298448" cy="274320"/>
          </a:xfrm>
          <a:prstGeom prst="roundRect">
            <a:avLst>
              <a:gd name="adj" fmla="val 50000"/>
            </a:avLst>
          </a:prstGeom>
          <a:solidFill>
            <a:srgbClr val="F59E0B"/>
          </a:solidFill>
          <a:ln/>
        </p:spPr>
      </p:sp>
      <p:sp>
        <p:nvSpPr>
          <p:cNvPr id="18" name="Text 16"/>
          <p:cNvSpPr/>
          <p:nvPr/>
        </p:nvSpPr>
        <p:spPr>
          <a:xfrm>
            <a:off x="4553712" y="2880360"/>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DEVELOPING</a:t>
            </a:r>
            <a:endParaRPr lang="en-US" sz="900" dirty="0"/>
          </a:p>
        </p:txBody>
      </p:sp>
      <p:sp>
        <p:nvSpPr>
          <p:cNvPr id="19" name="Text 17"/>
          <p:cNvSpPr/>
          <p:nvPr/>
        </p:nvSpPr>
        <p:spPr>
          <a:xfrm>
            <a:off x="4553712" y="3310128"/>
            <a:ext cx="3154680" cy="1371600"/>
          </a:xfrm>
          <a:prstGeom prst="rect">
            <a:avLst/>
          </a:prstGeom>
          <a:noFill/>
          <a:ln/>
        </p:spPr>
        <p:txBody>
          <a:bodyPr wrap="square" lIns="0" tIns="0" rIns="0" bIns="0" rtlCol="0" anchor="t"/>
          <a:lstStyle/>
          <a:p>
            <a:pPr indent="0" marL="0">
              <a:buNone/>
            </a:pPr>
            <a:r>
              <a:rPr lang="en-US" sz="1700" dirty="0">
                <a:solidFill>
                  <a:srgbClr val="111827"/>
                </a:solidFill>
                <a:latin typeface="Calibri" pitchFamily="34" charset="0"/>
                <a:ea typeface="Calibri" pitchFamily="34" charset="-122"/>
                <a:cs typeface="Calibri" pitchFamily="34" charset="-120"/>
              </a:rPr>
              <a:t>I can write security requirements for an organisation's assets and rate threats by likelihood and consequence.</a:t>
            </a:r>
            <a:endParaRPr lang="en-US" sz="1700" dirty="0"/>
          </a:p>
        </p:txBody>
      </p:sp>
      <p:sp>
        <p:nvSpPr>
          <p:cNvPr id="20" name="Shape 18"/>
          <p:cNvSpPr/>
          <p:nvPr/>
        </p:nvSpPr>
        <p:spPr>
          <a:xfrm>
            <a:off x="4553712" y="4736592"/>
            <a:ext cx="3154680" cy="0"/>
          </a:xfrm>
          <a:prstGeom prst="line">
            <a:avLst/>
          </a:prstGeom>
          <a:noFill/>
          <a:ln w="12700">
            <a:solidFill>
              <a:srgbClr val="D8DDE6"/>
            </a:solidFill>
            <a:prstDash val="solid"/>
          </a:ln>
        </p:spPr>
      </p:sp>
      <p:sp>
        <p:nvSpPr>
          <p:cNvPr id="21" name="Text 19"/>
          <p:cNvSpPr/>
          <p:nvPr/>
        </p:nvSpPr>
        <p:spPr>
          <a:xfrm>
            <a:off x="4553712" y="4846320"/>
            <a:ext cx="3154680" cy="77724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I can match a mitigation to a threat and justify why it fits.</a:t>
            </a:r>
            <a:endParaRPr lang="en-US" sz="1600" dirty="0"/>
          </a:p>
        </p:txBody>
      </p:sp>
      <p:sp>
        <p:nvSpPr>
          <p:cNvPr id="22" name="Shape 20"/>
          <p:cNvSpPr/>
          <p:nvPr/>
        </p:nvSpPr>
        <p:spPr>
          <a:xfrm>
            <a:off x="8147304" y="2697480"/>
            <a:ext cx="3611880" cy="3063240"/>
          </a:xfrm>
          <a:prstGeom prst="roundRect">
            <a:avLst>
              <a:gd name="adj" fmla="val 2687"/>
            </a:avLst>
          </a:prstGeom>
          <a:solidFill>
            <a:srgbClr val="FFFFFF"/>
          </a:solidFill>
          <a:ln w="12700">
            <a:solidFill>
              <a:srgbClr val="8B5CF6"/>
            </a:solidFill>
            <a:prstDash val="solid"/>
          </a:ln>
          <a:effectLst>
            <a:outerShdw sx="100000" sy="100000" kx="0" ky="0" algn="bl" rotWithShape="0" blurRad="101600" dist="25400" dir="5400000">
              <a:srgbClr val="9AA3B2">
                <a:alpha val="18000"/>
              </a:srgbClr>
            </a:outerShdw>
          </a:effectLst>
        </p:spPr>
      </p:sp>
      <p:sp>
        <p:nvSpPr>
          <p:cNvPr id="23" name="Shape 21"/>
          <p:cNvSpPr/>
          <p:nvPr/>
        </p:nvSpPr>
        <p:spPr>
          <a:xfrm>
            <a:off x="8375904" y="2880360"/>
            <a:ext cx="1298448" cy="274320"/>
          </a:xfrm>
          <a:prstGeom prst="roundRect">
            <a:avLst>
              <a:gd name="adj" fmla="val 50000"/>
            </a:avLst>
          </a:prstGeom>
          <a:solidFill>
            <a:srgbClr val="8B5CF6"/>
          </a:solidFill>
          <a:ln/>
        </p:spPr>
      </p:sp>
      <p:sp>
        <p:nvSpPr>
          <p:cNvPr id="24" name="Text 22"/>
          <p:cNvSpPr/>
          <p:nvPr/>
        </p:nvSpPr>
        <p:spPr>
          <a:xfrm>
            <a:off x="8375904" y="2880360"/>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EXTENDING</a:t>
            </a:r>
            <a:endParaRPr lang="en-US" sz="900" dirty="0"/>
          </a:p>
        </p:txBody>
      </p:sp>
      <p:sp>
        <p:nvSpPr>
          <p:cNvPr id="25" name="Text 23"/>
          <p:cNvSpPr/>
          <p:nvPr/>
        </p:nvSpPr>
        <p:spPr>
          <a:xfrm>
            <a:off x="8375904" y="3310128"/>
            <a:ext cx="3154680" cy="1371600"/>
          </a:xfrm>
          <a:prstGeom prst="rect">
            <a:avLst/>
          </a:prstGeom>
          <a:noFill/>
          <a:ln/>
        </p:spPr>
        <p:txBody>
          <a:bodyPr wrap="square" lIns="0" tIns="0" rIns="0" bIns="0" rtlCol="0" anchor="t"/>
          <a:lstStyle/>
          <a:p>
            <a:pPr indent="0" marL="0">
              <a:buNone/>
            </a:pPr>
            <a:r>
              <a:rPr lang="en-US" sz="1700" dirty="0">
                <a:solidFill>
                  <a:srgbClr val="111827"/>
                </a:solidFill>
                <a:latin typeface="Calibri" pitchFamily="34" charset="0"/>
                <a:ea typeface="Calibri" pitchFamily="34" charset="-122"/>
                <a:cs typeface="Calibri" pitchFamily="34" charset="-120"/>
              </a:rPr>
              <a:t>I can evaluate a threat model, identify what it misses, and specify the evidence needed to confirm mitigation.</a:t>
            </a:r>
            <a:endParaRPr lang="en-US" sz="1700" dirty="0"/>
          </a:p>
        </p:txBody>
      </p:sp>
      <p:sp>
        <p:nvSpPr>
          <p:cNvPr id="26" name="Shape 24"/>
          <p:cNvSpPr/>
          <p:nvPr/>
        </p:nvSpPr>
        <p:spPr>
          <a:xfrm>
            <a:off x="8375904" y="4736592"/>
            <a:ext cx="3154680" cy="0"/>
          </a:xfrm>
          <a:prstGeom prst="line">
            <a:avLst/>
          </a:prstGeom>
          <a:noFill/>
          <a:ln w="12700">
            <a:solidFill>
              <a:srgbClr val="D8DDE6"/>
            </a:solidFill>
            <a:prstDash val="solid"/>
          </a:ln>
        </p:spPr>
      </p:sp>
      <p:sp>
        <p:nvSpPr>
          <p:cNvPr id="27" name="Text 25"/>
          <p:cNvSpPr/>
          <p:nvPr/>
        </p:nvSpPr>
        <p:spPr>
          <a:xfrm>
            <a:off x="8375904" y="4846320"/>
            <a:ext cx="3154680" cy="77724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I can argue when accepting a risk is the correct decision.</a:t>
            </a:r>
            <a:endParaRPr lang="en-US" sz="1600" dirty="0"/>
          </a:p>
        </p:txBody>
      </p:sp>
      <p:sp>
        <p:nvSpPr>
          <p:cNvPr id="28" name="Text 26"/>
          <p:cNvSpPr/>
          <p:nvPr/>
        </p:nvSpPr>
        <p:spPr>
          <a:xfrm>
            <a:off x="502920" y="6355080"/>
            <a:ext cx="11155680" cy="274320"/>
          </a:xfrm>
          <a:prstGeom prst="rect">
            <a:avLst/>
          </a:prstGeom>
          <a:noFill/>
          <a:ln/>
        </p:spPr>
        <p:txBody>
          <a:bodyPr wrap="square" lIns="0" tIns="0" rIns="0" bIns="0" rtlCol="0" anchor="ctr"/>
          <a:lstStyle/>
          <a:p>
            <a:pPr indent="0" marL="0">
              <a:buNone/>
            </a:pPr>
            <a:r>
              <a:rPr lang="en-US" sz="1100" dirty="0">
                <a:solidFill>
                  <a:srgbClr val="5B6472"/>
                </a:solidFill>
                <a:latin typeface="Courier New" pitchFamily="34" charset="0"/>
                <a:ea typeface="Courier New" pitchFamily="34" charset="-122"/>
                <a:cs typeface="Courier New" pitchFamily="34" charset="-120"/>
              </a:rPr>
              <a:t>You will self-assess against these criteria on the exit ticket.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Retrieval — last lesson's controls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Cold call · no notes · 3 minutes</a:t>
            </a:r>
            <a:endParaRPr lang="en-US" sz="1500" dirty="0"/>
          </a:p>
        </p:txBody>
      </p:sp>
      <p:sp>
        <p:nvSpPr>
          <p:cNvPr id="8" name="Shape 6"/>
          <p:cNvSpPr/>
          <p:nvPr/>
        </p:nvSpPr>
        <p:spPr>
          <a:xfrm>
            <a:off x="502920" y="1600200"/>
            <a:ext cx="11155680" cy="960120"/>
          </a:xfrm>
          <a:prstGeom prst="roundRect">
            <a:avLst>
              <a:gd name="adj" fmla="val 857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9" name="Shape 7"/>
          <p:cNvSpPr/>
          <p:nvPr/>
        </p:nvSpPr>
        <p:spPr>
          <a:xfrm>
            <a:off x="713232" y="1819656"/>
            <a:ext cx="512064" cy="512064"/>
          </a:xfrm>
          <a:prstGeom prst="roundRect">
            <a:avLst>
              <a:gd name="adj" fmla="val 50000"/>
            </a:avLst>
          </a:prstGeom>
          <a:solidFill>
            <a:srgbClr val="4361EE"/>
          </a:solidFill>
          <a:ln/>
        </p:spPr>
      </p:sp>
      <p:sp>
        <p:nvSpPr>
          <p:cNvPr id="10" name="Text 8"/>
          <p:cNvSpPr/>
          <p:nvPr/>
        </p:nvSpPr>
        <p:spPr>
          <a:xfrm>
            <a:off x="713232" y="1819656"/>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1</a:t>
            </a:r>
            <a:endParaRPr lang="en-US" sz="1600" dirty="0"/>
          </a:p>
        </p:txBody>
      </p:sp>
      <p:sp>
        <p:nvSpPr>
          <p:cNvPr id="11" name="Text 9"/>
          <p:cNvSpPr/>
          <p:nvPr/>
        </p:nvSpPr>
        <p:spPr>
          <a:xfrm>
            <a:off x="1417320" y="1600200"/>
            <a:ext cx="9966960" cy="96012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Name three of the six security controls from Lesson 4.</a:t>
            </a:r>
            <a:endParaRPr lang="en-US" sz="2000" dirty="0"/>
          </a:p>
        </p:txBody>
      </p:sp>
      <p:sp>
        <p:nvSpPr>
          <p:cNvPr id="12" name="Shape 10"/>
          <p:cNvSpPr/>
          <p:nvPr/>
        </p:nvSpPr>
        <p:spPr>
          <a:xfrm>
            <a:off x="502920" y="2715768"/>
            <a:ext cx="11155680" cy="960120"/>
          </a:xfrm>
          <a:prstGeom prst="roundRect">
            <a:avLst>
              <a:gd name="adj" fmla="val 857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3" name="Shape 11"/>
          <p:cNvSpPr/>
          <p:nvPr/>
        </p:nvSpPr>
        <p:spPr>
          <a:xfrm>
            <a:off x="713232" y="2935224"/>
            <a:ext cx="512064" cy="512064"/>
          </a:xfrm>
          <a:prstGeom prst="roundRect">
            <a:avLst>
              <a:gd name="adj" fmla="val 50000"/>
            </a:avLst>
          </a:prstGeom>
          <a:solidFill>
            <a:srgbClr val="4361EE"/>
          </a:solidFill>
          <a:ln/>
        </p:spPr>
      </p:sp>
      <p:sp>
        <p:nvSpPr>
          <p:cNvPr id="14" name="Text 12"/>
          <p:cNvSpPr/>
          <p:nvPr/>
        </p:nvSpPr>
        <p:spPr>
          <a:xfrm>
            <a:off x="713232" y="293522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2</a:t>
            </a:r>
            <a:endParaRPr lang="en-US" sz="1600" dirty="0"/>
          </a:p>
        </p:txBody>
      </p:sp>
      <p:sp>
        <p:nvSpPr>
          <p:cNvPr id="15" name="Text 13"/>
          <p:cNvSpPr/>
          <p:nvPr/>
        </p:nvSpPr>
        <p:spPr>
          <a:xfrm>
            <a:off x="1417320" y="2715768"/>
            <a:ext cx="9966960" cy="96012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Which control protects data even after an attacker already has it?</a:t>
            </a:r>
            <a:endParaRPr lang="en-US" sz="2000" dirty="0"/>
          </a:p>
        </p:txBody>
      </p:sp>
      <p:sp>
        <p:nvSpPr>
          <p:cNvPr id="16" name="Shape 14"/>
          <p:cNvSpPr/>
          <p:nvPr/>
        </p:nvSpPr>
        <p:spPr>
          <a:xfrm>
            <a:off x="502920" y="3831336"/>
            <a:ext cx="11155680" cy="960120"/>
          </a:xfrm>
          <a:prstGeom prst="roundRect">
            <a:avLst>
              <a:gd name="adj" fmla="val 857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7" name="Shape 15"/>
          <p:cNvSpPr/>
          <p:nvPr/>
        </p:nvSpPr>
        <p:spPr>
          <a:xfrm>
            <a:off x="713232" y="4050792"/>
            <a:ext cx="512064" cy="512064"/>
          </a:xfrm>
          <a:prstGeom prst="roundRect">
            <a:avLst>
              <a:gd name="adj" fmla="val 50000"/>
            </a:avLst>
          </a:prstGeom>
          <a:solidFill>
            <a:srgbClr val="4361EE"/>
          </a:solidFill>
          <a:ln/>
        </p:spPr>
      </p:sp>
      <p:sp>
        <p:nvSpPr>
          <p:cNvPr id="18" name="Text 16"/>
          <p:cNvSpPr/>
          <p:nvPr/>
        </p:nvSpPr>
        <p:spPr>
          <a:xfrm>
            <a:off x="713232" y="40507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3</a:t>
            </a:r>
            <a:endParaRPr lang="en-US" sz="1600" dirty="0"/>
          </a:p>
        </p:txBody>
      </p:sp>
      <p:sp>
        <p:nvSpPr>
          <p:cNvPr id="19" name="Text 17"/>
          <p:cNvSpPr/>
          <p:nvPr/>
        </p:nvSpPr>
        <p:spPr>
          <a:xfrm>
            <a:off x="1417320" y="3831336"/>
            <a:ext cx="9966960" cy="96012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Why does separating development, testing and production reduce risk?</a:t>
            </a:r>
            <a:endParaRPr lang="en-US" sz="2000" dirty="0"/>
          </a:p>
        </p:txBody>
      </p:sp>
      <p:sp>
        <p:nvSpPr>
          <p:cNvPr id="20" name="Shape 18"/>
          <p:cNvSpPr/>
          <p:nvPr/>
        </p:nvSpPr>
        <p:spPr>
          <a:xfrm>
            <a:off x="502920" y="4946904"/>
            <a:ext cx="11155680" cy="960120"/>
          </a:xfrm>
          <a:prstGeom prst="roundRect">
            <a:avLst>
              <a:gd name="adj" fmla="val 857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713232" y="5166360"/>
            <a:ext cx="512064" cy="512064"/>
          </a:xfrm>
          <a:prstGeom prst="roundRect">
            <a:avLst>
              <a:gd name="adj" fmla="val 50000"/>
            </a:avLst>
          </a:prstGeom>
          <a:solidFill>
            <a:srgbClr val="4361EE"/>
          </a:solidFill>
          <a:ln/>
        </p:spPr>
      </p:sp>
      <p:sp>
        <p:nvSpPr>
          <p:cNvPr id="22" name="Text 20"/>
          <p:cNvSpPr/>
          <p:nvPr/>
        </p:nvSpPr>
        <p:spPr>
          <a:xfrm>
            <a:off x="713232" y="516636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4</a:t>
            </a:r>
            <a:endParaRPr lang="en-US" sz="1600" dirty="0"/>
          </a:p>
        </p:txBody>
      </p:sp>
      <p:sp>
        <p:nvSpPr>
          <p:cNvPr id="23" name="Text 21"/>
          <p:cNvSpPr/>
          <p:nvPr/>
        </p:nvSpPr>
        <p:spPr>
          <a:xfrm>
            <a:off x="1417320" y="4946904"/>
            <a:ext cx="9966960" cy="96012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MedLink Health gave every developer admin access. Which control failed?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What is threat modelling?</a:t>
            </a:r>
            <a:endParaRPr lang="en-US" sz="3000" dirty="0"/>
          </a:p>
        </p:txBody>
      </p:sp>
      <p:sp>
        <p:nvSpPr>
          <p:cNvPr id="7" name="Shape 5"/>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8" name="Text 6"/>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9" name="Shape 7"/>
          <p:cNvSpPr/>
          <p:nvPr/>
        </p:nvSpPr>
        <p:spPr>
          <a:xfrm>
            <a:off x="502920" y="1371600"/>
            <a:ext cx="11155680" cy="1234440"/>
          </a:xfrm>
          <a:prstGeom prst="roundRect">
            <a:avLst>
              <a:gd name="adj" fmla="val 6667"/>
            </a:avLst>
          </a:prstGeom>
          <a:solidFill>
            <a:srgbClr val="FEF3C7"/>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10" name="Text 8"/>
          <p:cNvSpPr/>
          <p:nvPr/>
        </p:nvSpPr>
        <p:spPr>
          <a:xfrm>
            <a:off x="822960" y="1371600"/>
            <a:ext cx="10515600" cy="1234440"/>
          </a:xfrm>
          <a:prstGeom prst="rect">
            <a:avLst/>
          </a:prstGeom>
          <a:noFill/>
          <a:ln/>
        </p:spPr>
        <p:txBody>
          <a:bodyPr wrap="square" lIns="0" tIns="0" rIns="0" bIns="0" rtlCol="0" anchor="ctr"/>
          <a:lstStyle/>
          <a:p>
            <a:pPr indent="0" marL="0">
              <a:buNone/>
            </a:pPr>
            <a:r>
              <a:rPr lang="en-US" sz="2100" b="1" dirty="0">
                <a:solidFill>
                  <a:srgbClr val="111827"/>
                </a:solidFill>
                <a:latin typeface="Calibri" pitchFamily="34" charset="0"/>
                <a:ea typeface="Calibri" pitchFamily="34" charset="-122"/>
                <a:cs typeface="Calibri" pitchFamily="34" charset="-120"/>
              </a:rPr>
              <a:t>Threat modelling is a structured process in which an organisation identifies the threats to its systems and data, judges how serious each one is, plans actions to reduce them, and then checks that those actions worked.</a:t>
            </a:r>
            <a:endParaRPr lang="en-US" sz="2100" dirty="0"/>
          </a:p>
        </p:txBody>
      </p:sp>
      <p:sp>
        <p:nvSpPr>
          <p:cNvPr id="11" name="Shape 9"/>
          <p:cNvSpPr/>
          <p:nvPr/>
        </p:nvSpPr>
        <p:spPr>
          <a:xfrm>
            <a:off x="502920" y="2834640"/>
            <a:ext cx="2697480" cy="288036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2" name="Text 10"/>
          <p:cNvSpPr/>
          <p:nvPr/>
        </p:nvSpPr>
        <p:spPr>
          <a:xfrm>
            <a:off x="704088" y="2999232"/>
            <a:ext cx="2286000" cy="91440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It is deliberate, not accidental</a:t>
            </a:r>
            <a:endParaRPr lang="en-US" sz="1800" dirty="0"/>
          </a:p>
        </p:txBody>
      </p:sp>
      <p:sp>
        <p:nvSpPr>
          <p:cNvPr id="13" name="Text 11"/>
          <p:cNvSpPr/>
          <p:nvPr/>
        </p:nvSpPr>
        <p:spPr>
          <a:xfrm>
            <a:off x="704088" y="3931920"/>
            <a:ext cx="2286000" cy="164592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Threats are written down and rated, rather than dealt with only when something breaks.</a:t>
            </a:r>
            <a:endParaRPr lang="en-US" sz="1600" dirty="0"/>
          </a:p>
        </p:txBody>
      </p:sp>
      <p:sp>
        <p:nvSpPr>
          <p:cNvPr id="14" name="Shape 12"/>
          <p:cNvSpPr/>
          <p:nvPr/>
        </p:nvSpPr>
        <p:spPr>
          <a:xfrm>
            <a:off x="3328416" y="2834640"/>
            <a:ext cx="2697480" cy="288036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5" name="Text 13"/>
          <p:cNvSpPr/>
          <p:nvPr/>
        </p:nvSpPr>
        <p:spPr>
          <a:xfrm>
            <a:off x="3529584" y="2999232"/>
            <a:ext cx="2286000" cy="91440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It involves the whole organisation</a:t>
            </a:r>
            <a:endParaRPr lang="en-US" sz="1800" dirty="0"/>
          </a:p>
        </p:txBody>
      </p:sp>
      <p:sp>
        <p:nvSpPr>
          <p:cNvPr id="16" name="Text 14"/>
          <p:cNvSpPr/>
          <p:nvPr/>
        </p:nvSpPr>
        <p:spPr>
          <a:xfrm>
            <a:off x="3529584" y="3931920"/>
            <a:ext cx="2286000" cy="164592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Managers, developers and operations staff all weigh risk differently — the model needs all of those views.</a:t>
            </a:r>
            <a:endParaRPr lang="en-US" sz="1600" dirty="0"/>
          </a:p>
        </p:txBody>
      </p:sp>
      <p:sp>
        <p:nvSpPr>
          <p:cNvPr id="17" name="Shape 15"/>
          <p:cNvSpPr/>
          <p:nvPr/>
        </p:nvSpPr>
        <p:spPr>
          <a:xfrm>
            <a:off x="6153912" y="2834640"/>
            <a:ext cx="2697480" cy="288036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8" name="Text 16"/>
          <p:cNvSpPr/>
          <p:nvPr/>
        </p:nvSpPr>
        <p:spPr>
          <a:xfrm>
            <a:off x="6355080" y="2999232"/>
            <a:ext cx="2286000" cy="91440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It produces priorities, not a wish list</a:t>
            </a:r>
            <a:endParaRPr lang="en-US" sz="1800" dirty="0"/>
          </a:p>
        </p:txBody>
      </p:sp>
      <p:sp>
        <p:nvSpPr>
          <p:cNvPr id="19" name="Text 17"/>
          <p:cNvSpPr/>
          <p:nvPr/>
        </p:nvSpPr>
        <p:spPr>
          <a:xfrm>
            <a:off x="6355080" y="3931920"/>
            <a:ext cx="2286000" cy="164592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No organisation can fix everything at once, so the model ranks what gets fixed first.</a:t>
            </a:r>
            <a:endParaRPr lang="en-US" sz="1600" dirty="0"/>
          </a:p>
        </p:txBody>
      </p:sp>
      <p:sp>
        <p:nvSpPr>
          <p:cNvPr id="20" name="Shape 18"/>
          <p:cNvSpPr/>
          <p:nvPr/>
        </p:nvSpPr>
        <p:spPr>
          <a:xfrm>
            <a:off x="8979408" y="2834640"/>
            <a:ext cx="2697480" cy="288036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1" name="Text 19"/>
          <p:cNvSpPr/>
          <p:nvPr/>
        </p:nvSpPr>
        <p:spPr>
          <a:xfrm>
            <a:off x="9180576" y="2999232"/>
            <a:ext cx="2286000" cy="91440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It is never finished</a:t>
            </a:r>
            <a:endParaRPr lang="en-US" sz="1800" dirty="0"/>
          </a:p>
        </p:txBody>
      </p:sp>
      <p:sp>
        <p:nvSpPr>
          <p:cNvPr id="22" name="Text 20"/>
          <p:cNvSpPr/>
          <p:nvPr/>
        </p:nvSpPr>
        <p:spPr>
          <a:xfrm>
            <a:off x="9180576" y="3931920"/>
            <a:ext cx="2286000" cy="164592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Threats change, so the model is revisited rather than filed away.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Reactive security vs threat modelling</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Same organisation, same threats — different timing</a:t>
            </a:r>
            <a:endParaRPr lang="en-US" sz="1500" dirty="0"/>
          </a:p>
        </p:txBody>
      </p:sp>
      <p:sp>
        <p:nvSpPr>
          <p:cNvPr id="8" name="Shape 6"/>
          <p:cNvSpPr/>
          <p:nvPr/>
        </p:nvSpPr>
        <p:spPr>
          <a:xfrm>
            <a:off x="502920" y="1371600"/>
            <a:ext cx="5440680" cy="4480560"/>
          </a:xfrm>
          <a:prstGeom prst="roundRect">
            <a:avLst>
              <a:gd name="adj" fmla="val 1837"/>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9" name="Shape 7"/>
          <p:cNvSpPr/>
          <p:nvPr/>
        </p:nvSpPr>
        <p:spPr>
          <a:xfrm>
            <a:off x="731520" y="1572768"/>
            <a:ext cx="2103120" cy="329184"/>
          </a:xfrm>
          <a:prstGeom prst="roundRect">
            <a:avLst>
              <a:gd name="adj" fmla="val 50000"/>
            </a:avLst>
          </a:prstGeom>
          <a:solidFill>
            <a:srgbClr val="EF4444"/>
          </a:solidFill>
          <a:ln/>
        </p:spPr>
      </p:sp>
      <p:sp>
        <p:nvSpPr>
          <p:cNvPr id="10" name="Text 8"/>
          <p:cNvSpPr/>
          <p:nvPr/>
        </p:nvSpPr>
        <p:spPr>
          <a:xfrm>
            <a:off x="731520" y="1572768"/>
            <a:ext cx="21031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REACTIVE</a:t>
            </a:r>
            <a:endParaRPr lang="en-US" sz="1100" dirty="0"/>
          </a:p>
        </p:txBody>
      </p:sp>
      <p:sp>
        <p:nvSpPr>
          <p:cNvPr id="11" name="Text 9"/>
          <p:cNvSpPr/>
          <p:nvPr/>
        </p:nvSpPr>
        <p:spPr>
          <a:xfrm>
            <a:off x="777240" y="2103120"/>
            <a:ext cx="4937760" cy="22860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Incident happens</a:t>
            </a:r>
            <a:endParaRPr lang="en-US" sz="2000" dirty="0"/>
          </a:p>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Damage is discovered</a:t>
            </a:r>
            <a:endParaRPr lang="en-US" sz="2000" dirty="0"/>
          </a:p>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Emergency fix is deployed</a:t>
            </a:r>
            <a:endParaRPr lang="en-US" sz="2000" dirty="0"/>
          </a:p>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Customers are notified</a:t>
            </a:r>
            <a:endParaRPr lang="en-US" sz="2000" dirty="0"/>
          </a:p>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Control is added afterwards</a:t>
            </a:r>
            <a:endParaRPr lang="en-US" sz="2000" dirty="0"/>
          </a:p>
        </p:txBody>
      </p:sp>
      <p:sp>
        <p:nvSpPr>
          <p:cNvPr id="12" name="Shape 10"/>
          <p:cNvSpPr/>
          <p:nvPr/>
        </p:nvSpPr>
        <p:spPr>
          <a:xfrm>
            <a:off x="777240" y="4572000"/>
            <a:ext cx="4892040" cy="1097280"/>
          </a:xfrm>
          <a:prstGeom prst="roundRect">
            <a:avLst>
              <a:gd name="adj" fmla="val 7500"/>
            </a:avLst>
          </a:prstGeom>
          <a:solidFill>
            <a:srgbClr val="FEE2E2"/>
          </a:solidFill>
          <a:ln w="12700">
            <a:solidFill>
              <a:srgbClr val="EF4444"/>
            </a:solidFill>
            <a:prstDash val="solid"/>
          </a:ln>
        </p:spPr>
      </p:sp>
      <p:sp>
        <p:nvSpPr>
          <p:cNvPr id="13" name="Text 11"/>
          <p:cNvSpPr/>
          <p:nvPr/>
        </p:nvSpPr>
        <p:spPr>
          <a:xfrm>
            <a:off x="960120" y="4572000"/>
            <a:ext cx="4526280" cy="1097280"/>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Cost is highest here: the breach has already happened, and the organisation is now paying for the fix, the downtime and the notification.</a:t>
            </a:r>
            <a:endParaRPr lang="en-US" sz="1600" dirty="0"/>
          </a:p>
        </p:txBody>
      </p:sp>
      <p:sp>
        <p:nvSpPr>
          <p:cNvPr id="14" name="Shape 12"/>
          <p:cNvSpPr/>
          <p:nvPr/>
        </p:nvSpPr>
        <p:spPr>
          <a:xfrm>
            <a:off x="6217920" y="1371600"/>
            <a:ext cx="5440680" cy="4480560"/>
          </a:xfrm>
          <a:prstGeom prst="roundRect">
            <a:avLst>
              <a:gd name="adj" fmla="val 1837"/>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15" name="Shape 13"/>
          <p:cNvSpPr/>
          <p:nvPr/>
        </p:nvSpPr>
        <p:spPr>
          <a:xfrm>
            <a:off x="6446520" y="1572768"/>
            <a:ext cx="2103120" cy="329184"/>
          </a:xfrm>
          <a:prstGeom prst="roundRect">
            <a:avLst>
              <a:gd name="adj" fmla="val 50000"/>
            </a:avLst>
          </a:prstGeom>
          <a:solidFill>
            <a:srgbClr val="10B981"/>
          </a:solidFill>
          <a:ln/>
        </p:spPr>
      </p:sp>
      <p:sp>
        <p:nvSpPr>
          <p:cNvPr id="16" name="Text 14"/>
          <p:cNvSpPr/>
          <p:nvPr/>
        </p:nvSpPr>
        <p:spPr>
          <a:xfrm>
            <a:off x="6446520" y="1572768"/>
            <a:ext cx="21031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PROACTIVE</a:t>
            </a:r>
            <a:endParaRPr lang="en-US" sz="1100" dirty="0"/>
          </a:p>
        </p:txBody>
      </p:sp>
      <p:sp>
        <p:nvSpPr>
          <p:cNvPr id="17" name="Text 15"/>
          <p:cNvSpPr/>
          <p:nvPr/>
        </p:nvSpPr>
        <p:spPr>
          <a:xfrm>
            <a:off x="6492240" y="2103120"/>
            <a:ext cx="4937760" cy="22860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Assets and requirements are defined</a:t>
            </a:r>
            <a:endParaRPr lang="en-US" sz="2000" dirty="0"/>
          </a:p>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Threats are listed and rated</a:t>
            </a:r>
            <a:endParaRPr lang="en-US" sz="2000" dirty="0"/>
          </a:p>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Mitigations are chosen by priority</a:t>
            </a:r>
            <a:endParaRPr lang="en-US" sz="2000" dirty="0"/>
          </a:p>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Mitigations are tested</a:t>
            </a:r>
            <a:endParaRPr lang="en-US" sz="2000" dirty="0"/>
          </a:p>
          <a:p>
            <a:pPr marL="342900" indent="-342900">
              <a:spcAft>
                <a:spcPts val="1000"/>
              </a:spcAft>
              <a:buSzPct val="100000"/>
              <a:buChar char="•"/>
            </a:pPr>
            <a:r>
              <a:rPr lang="en-US" sz="2000" dirty="0">
                <a:solidFill>
                  <a:srgbClr val="111827"/>
                </a:solidFill>
                <a:latin typeface="Calibri" pitchFamily="34" charset="0"/>
                <a:ea typeface="Calibri" pitchFamily="34" charset="-122"/>
                <a:cs typeface="Calibri" pitchFamily="34" charset="-120"/>
              </a:rPr>
              <a:t>Model is reviewed as things change</a:t>
            </a:r>
            <a:endParaRPr lang="en-US" sz="2000" dirty="0"/>
          </a:p>
        </p:txBody>
      </p:sp>
      <p:sp>
        <p:nvSpPr>
          <p:cNvPr id="18" name="Shape 16"/>
          <p:cNvSpPr/>
          <p:nvPr/>
        </p:nvSpPr>
        <p:spPr>
          <a:xfrm>
            <a:off x="6492240" y="4572000"/>
            <a:ext cx="4892040" cy="1097280"/>
          </a:xfrm>
          <a:prstGeom prst="roundRect">
            <a:avLst>
              <a:gd name="adj" fmla="val 7500"/>
            </a:avLst>
          </a:prstGeom>
          <a:solidFill>
            <a:srgbClr val="D1FAE5"/>
          </a:solidFill>
          <a:ln w="12700">
            <a:solidFill>
              <a:srgbClr val="10B981"/>
            </a:solidFill>
            <a:prstDash val="solid"/>
          </a:ln>
        </p:spPr>
      </p:sp>
      <p:sp>
        <p:nvSpPr>
          <p:cNvPr id="19" name="Text 17"/>
          <p:cNvSpPr/>
          <p:nvPr/>
        </p:nvSpPr>
        <p:spPr>
          <a:xfrm>
            <a:off x="6675120" y="4572000"/>
            <a:ext cx="4526280" cy="1097280"/>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Cost is lowest here: fixing a design flaw before release is far cheaper than fixing it after 400 000 records are gone.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The three threat modelling principles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These three are named in the study design — learn them in this order</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3611880" cy="2834640"/>
          </a:xfrm>
          <a:prstGeom prst="roundRect">
            <a:avLst>
              <a:gd name="adj" fmla="val 2903"/>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1737360"/>
            <a:ext cx="548640" cy="548640"/>
          </a:xfrm>
          <a:prstGeom prst="roundRect">
            <a:avLst>
              <a:gd name="adj" fmla="val 50000"/>
            </a:avLst>
          </a:prstGeom>
          <a:solidFill>
            <a:srgbClr val="4361EE"/>
          </a:solidFill>
          <a:ln/>
        </p:spPr>
      </p:sp>
      <p:sp>
        <p:nvSpPr>
          <p:cNvPr id="12" name="Text 10"/>
          <p:cNvSpPr/>
          <p:nvPr/>
        </p:nvSpPr>
        <p:spPr>
          <a:xfrm>
            <a:off x="731520" y="1737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1</a:t>
            </a:r>
            <a:endParaRPr lang="en-US" sz="1800" dirty="0"/>
          </a:p>
        </p:txBody>
      </p:sp>
      <p:sp>
        <p:nvSpPr>
          <p:cNvPr id="13" name="Text 11"/>
          <p:cNvSpPr/>
          <p:nvPr/>
        </p:nvSpPr>
        <p:spPr>
          <a:xfrm>
            <a:off x="731520" y="2395728"/>
            <a:ext cx="3154680" cy="868680"/>
          </a:xfrm>
          <a:prstGeom prst="rect">
            <a:avLst/>
          </a:prstGeom>
          <a:noFill/>
          <a:ln/>
        </p:spPr>
        <p:txBody>
          <a:bodyPr wrap="square" lIns="0" tIns="0" rIns="0" bIns="0" rtlCol="0" anchor="t"/>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Defining security requirements</a:t>
            </a:r>
            <a:endParaRPr lang="en-US" sz="1900" dirty="0"/>
          </a:p>
        </p:txBody>
      </p:sp>
      <p:sp>
        <p:nvSpPr>
          <p:cNvPr id="14" name="Text 12"/>
          <p:cNvSpPr/>
          <p:nvPr/>
        </p:nvSpPr>
        <p:spPr>
          <a:xfrm>
            <a:off x="731520" y="3291840"/>
            <a:ext cx="3154680" cy="91440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What are we protecting, who for, and what must be true for it to count as protected?</a:t>
            </a:r>
            <a:endParaRPr lang="en-US" sz="1600" dirty="0"/>
          </a:p>
        </p:txBody>
      </p:sp>
      <p:sp>
        <p:nvSpPr>
          <p:cNvPr id="15" name="Shape 13"/>
          <p:cNvSpPr/>
          <p:nvPr/>
        </p:nvSpPr>
        <p:spPr>
          <a:xfrm>
            <a:off x="4325112" y="1508760"/>
            <a:ext cx="3611880" cy="2834640"/>
          </a:xfrm>
          <a:prstGeom prst="roundRect">
            <a:avLst>
              <a:gd name="adj" fmla="val 2903"/>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6" name="Shape 14"/>
          <p:cNvSpPr/>
          <p:nvPr/>
        </p:nvSpPr>
        <p:spPr>
          <a:xfrm>
            <a:off x="4553712" y="1737360"/>
            <a:ext cx="548640" cy="548640"/>
          </a:xfrm>
          <a:prstGeom prst="roundRect">
            <a:avLst>
              <a:gd name="adj" fmla="val 50000"/>
            </a:avLst>
          </a:prstGeom>
          <a:solidFill>
            <a:srgbClr val="4361EE"/>
          </a:solidFill>
          <a:ln/>
        </p:spPr>
      </p:sp>
      <p:sp>
        <p:nvSpPr>
          <p:cNvPr id="17" name="Text 15"/>
          <p:cNvSpPr/>
          <p:nvPr/>
        </p:nvSpPr>
        <p:spPr>
          <a:xfrm>
            <a:off x="4553712" y="1737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2</a:t>
            </a:r>
            <a:endParaRPr lang="en-US" sz="1800" dirty="0"/>
          </a:p>
        </p:txBody>
      </p:sp>
      <p:sp>
        <p:nvSpPr>
          <p:cNvPr id="18" name="Text 16"/>
          <p:cNvSpPr/>
          <p:nvPr/>
        </p:nvSpPr>
        <p:spPr>
          <a:xfrm>
            <a:off x="4553712" y="2395728"/>
            <a:ext cx="3154680" cy="868680"/>
          </a:xfrm>
          <a:prstGeom prst="rect">
            <a:avLst/>
          </a:prstGeom>
          <a:noFill/>
          <a:ln/>
        </p:spPr>
        <p:txBody>
          <a:bodyPr wrap="square" lIns="0" tIns="0" rIns="0" bIns="0" rtlCol="0" anchor="t"/>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Identifying and mitigating threats</a:t>
            </a:r>
            <a:endParaRPr lang="en-US" sz="1900" dirty="0"/>
          </a:p>
        </p:txBody>
      </p:sp>
      <p:sp>
        <p:nvSpPr>
          <p:cNvPr id="19" name="Text 17"/>
          <p:cNvSpPr/>
          <p:nvPr/>
        </p:nvSpPr>
        <p:spPr>
          <a:xfrm>
            <a:off x="4553712" y="3291840"/>
            <a:ext cx="3154680" cy="91440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What could go wrong, how bad and how likely is it, and what action reduces it?</a:t>
            </a:r>
            <a:endParaRPr lang="en-US" sz="1600" dirty="0"/>
          </a:p>
        </p:txBody>
      </p:sp>
      <p:sp>
        <p:nvSpPr>
          <p:cNvPr id="20" name="Shape 18"/>
          <p:cNvSpPr/>
          <p:nvPr/>
        </p:nvSpPr>
        <p:spPr>
          <a:xfrm>
            <a:off x="8147304" y="1508760"/>
            <a:ext cx="3611880" cy="2834640"/>
          </a:xfrm>
          <a:prstGeom prst="roundRect">
            <a:avLst>
              <a:gd name="adj" fmla="val 2903"/>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8375904" y="1737360"/>
            <a:ext cx="548640" cy="548640"/>
          </a:xfrm>
          <a:prstGeom prst="roundRect">
            <a:avLst>
              <a:gd name="adj" fmla="val 50000"/>
            </a:avLst>
          </a:prstGeom>
          <a:solidFill>
            <a:srgbClr val="4361EE"/>
          </a:solidFill>
          <a:ln/>
        </p:spPr>
      </p:sp>
      <p:sp>
        <p:nvSpPr>
          <p:cNvPr id="22" name="Text 20"/>
          <p:cNvSpPr/>
          <p:nvPr/>
        </p:nvSpPr>
        <p:spPr>
          <a:xfrm>
            <a:off x="8375904" y="1737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3</a:t>
            </a:r>
            <a:endParaRPr lang="en-US" sz="1800" dirty="0"/>
          </a:p>
        </p:txBody>
      </p:sp>
      <p:sp>
        <p:nvSpPr>
          <p:cNvPr id="23" name="Text 21"/>
          <p:cNvSpPr/>
          <p:nvPr/>
        </p:nvSpPr>
        <p:spPr>
          <a:xfrm>
            <a:off x="8375904" y="2395728"/>
            <a:ext cx="3154680" cy="868680"/>
          </a:xfrm>
          <a:prstGeom prst="rect">
            <a:avLst/>
          </a:prstGeom>
          <a:noFill/>
          <a:ln/>
        </p:spPr>
        <p:txBody>
          <a:bodyPr wrap="square" lIns="0" tIns="0" rIns="0" bIns="0" rtlCol="0" anchor="t"/>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Confirming threats have been mitigated</a:t>
            </a:r>
            <a:endParaRPr lang="en-US" sz="1900" dirty="0"/>
          </a:p>
        </p:txBody>
      </p:sp>
      <p:sp>
        <p:nvSpPr>
          <p:cNvPr id="24" name="Text 22"/>
          <p:cNvSpPr/>
          <p:nvPr/>
        </p:nvSpPr>
        <p:spPr>
          <a:xfrm>
            <a:off x="8375904" y="3291840"/>
            <a:ext cx="3154680" cy="91440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What evidence proves the action worked, and how do we keep proving it?</a:t>
            </a:r>
            <a:endParaRPr lang="en-US" sz="1600" dirty="0"/>
          </a:p>
        </p:txBody>
      </p:sp>
      <p:sp>
        <p:nvSpPr>
          <p:cNvPr id="25" name="Shape 23"/>
          <p:cNvSpPr/>
          <p:nvPr/>
        </p:nvSpPr>
        <p:spPr>
          <a:xfrm>
            <a:off x="4169664" y="2788920"/>
            <a:ext cx="329184" cy="274320"/>
          </a:xfrm>
          <a:prstGeom prst="rightArrow">
            <a:avLst/>
          </a:prstGeom>
          <a:solidFill>
            <a:srgbClr val="D8DDE6"/>
          </a:solidFill>
          <a:ln/>
        </p:spPr>
      </p:sp>
      <p:sp>
        <p:nvSpPr>
          <p:cNvPr id="26" name="Shape 24"/>
          <p:cNvSpPr/>
          <p:nvPr/>
        </p:nvSpPr>
        <p:spPr>
          <a:xfrm>
            <a:off x="7991856" y="2788920"/>
            <a:ext cx="329184" cy="274320"/>
          </a:xfrm>
          <a:prstGeom prst="rightArrow">
            <a:avLst/>
          </a:prstGeom>
          <a:solidFill>
            <a:srgbClr val="D8DDE6"/>
          </a:solidFill>
          <a:ln/>
        </p:spPr>
      </p:sp>
      <p:sp>
        <p:nvSpPr>
          <p:cNvPr id="27" name="Shape 25"/>
          <p:cNvSpPr/>
          <p:nvPr/>
        </p:nvSpPr>
        <p:spPr>
          <a:xfrm>
            <a:off x="502920" y="4572000"/>
            <a:ext cx="11155680" cy="1188720"/>
          </a:xfrm>
          <a:prstGeom prst="roundRect">
            <a:avLst>
              <a:gd name="adj" fmla="val 6923"/>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28" name="Text 26"/>
          <p:cNvSpPr/>
          <p:nvPr/>
        </p:nvSpPr>
        <p:spPr>
          <a:xfrm>
            <a:off x="822960" y="4572000"/>
            <a:ext cx="10515600" cy="1188720"/>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The cycle does not stop at 3. Confirmation feeds back into Principle 1, because every new feature, every security incident and every organisational change alters what needs protecting.</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Industry threat modelling frameworks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You do not need to memorise the internals — you need to know they exist and what they share</a:t>
            </a:r>
            <a:endParaRPr lang="en-US" sz="1500" dirty="0"/>
          </a:p>
        </p:txBody>
      </p:sp>
      <p:sp>
        <p:nvSpPr>
          <p:cNvPr id="8" name="Shape 6"/>
          <p:cNvSpPr/>
          <p:nvPr/>
        </p:nvSpPr>
        <p:spPr>
          <a:xfrm>
            <a:off x="502920" y="1463040"/>
            <a:ext cx="3611880" cy="1783080"/>
          </a:xfrm>
          <a:prstGeom prst="roundRect">
            <a:avLst>
              <a:gd name="adj" fmla="val 4615"/>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9" name="Text 7"/>
          <p:cNvSpPr/>
          <p:nvPr/>
        </p:nvSpPr>
        <p:spPr>
          <a:xfrm>
            <a:off x="731520" y="1600200"/>
            <a:ext cx="3154680" cy="457200"/>
          </a:xfrm>
          <a:prstGeom prst="rect">
            <a:avLst/>
          </a:prstGeom>
          <a:noFill/>
          <a:ln/>
        </p:spPr>
        <p:txBody>
          <a:bodyPr wrap="square" lIns="0" tIns="0" rIns="0" bIns="0" rtlCol="0" anchor="ctr"/>
          <a:lstStyle/>
          <a:p>
            <a:pPr indent="0" marL="0">
              <a:buNone/>
            </a:pPr>
            <a:r>
              <a:rPr lang="en-US" sz="2000" b="1" dirty="0">
                <a:solidFill>
                  <a:srgbClr val="4361EE"/>
                </a:solidFill>
                <a:latin typeface="Courier New" pitchFamily="34" charset="0"/>
                <a:ea typeface="Courier New" pitchFamily="34" charset="-122"/>
                <a:cs typeface="Courier New" pitchFamily="34" charset="-120"/>
              </a:rPr>
              <a:t>OWASP</a:t>
            </a:r>
            <a:endParaRPr lang="en-US" sz="2000" dirty="0"/>
          </a:p>
        </p:txBody>
      </p:sp>
      <p:sp>
        <p:nvSpPr>
          <p:cNvPr id="10" name="Text 8"/>
          <p:cNvSpPr/>
          <p:nvPr/>
        </p:nvSpPr>
        <p:spPr>
          <a:xfrm>
            <a:off x="731520" y="2103120"/>
            <a:ext cx="3154680" cy="100584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Open Worldwide Application Security Project. Community-maintained guidance focused on web application security.</a:t>
            </a:r>
            <a:endParaRPr lang="en-US" sz="1600" dirty="0"/>
          </a:p>
        </p:txBody>
      </p:sp>
      <p:sp>
        <p:nvSpPr>
          <p:cNvPr id="11" name="Shape 9"/>
          <p:cNvSpPr/>
          <p:nvPr/>
        </p:nvSpPr>
        <p:spPr>
          <a:xfrm>
            <a:off x="4325112" y="1463040"/>
            <a:ext cx="3611880" cy="1783080"/>
          </a:xfrm>
          <a:prstGeom prst="roundRect">
            <a:avLst>
              <a:gd name="adj" fmla="val 4615"/>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2" name="Text 10"/>
          <p:cNvSpPr/>
          <p:nvPr/>
        </p:nvSpPr>
        <p:spPr>
          <a:xfrm>
            <a:off x="4553712" y="1600200"/>
            <a:ext cx="3154680" cy="457200"/>
          </a:xfrm>
          <a:prstGeom prst="rect">
            <a:avLst/>
          </a:prstGeom>
          <a:noFill/>
          <a:ln/>
        </p:spPr>
        <p:txBody>
          <a:bodyPr wrap="square" lIns="0" tIns="0" rIns="0" bIns="0" rtlCol="0" anchor="ctr"/>
          <a:lstStyle/>
          <a:p>
            <a:pPr indent="0" marL="0">
              <a:buNone/>
            </a:pPr>
            <a:r>
              <a:rPr lang="en-US" sz="2000" b="1" dirty="0">
                <a:solidFill>
                  <a:srgbClr val="4361EE"/>
                </a:solidFill>
                <a:latin typeface="Courier New" pitchFamily="34" charset="0"/>
                <a:ea typeface="Courier New" pitchFamily="34" charset="-122"/>
                <a:cs typeface="Courier New" pitchFamily="34" charset="-120"/>
              </a:rPr>
              <a:t>STRIDE</a:t>
            </a:r>
            <a:endParaRPr lang="en-US" sz="2000" dirty="0"/>
          </a:p>
        </p:txBody>
      </p:sp>
      <p:sp>
        <p:nvSpPr>
          <p:cNvPr id="13" name="Text 11"/>
          <p:cNvSpPr/>
          <p:nvPr/>
        </p:nvSpPr>
        <p:spPr>
          <a:xfrm>
            <a:off x="4553712" y="2103120"/>
            <a:ext cx="3154680" cy="100584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Microsoft. A general checklist of threat categories applied to any software design.</a:t>
            </a:r>
            <a:endParaRPr lang="en-US" sz="1600" dirty="0"/>
          </a:p>
        </p:txBody>
      </p:sp>
      <p:sp>
        <p:nvSpPr>
          <p:cNvPr id="14" name="Shape 12"/>
          <p:cNvSpPr/>
          <p:nvPr/>
        </p:nvSpPr>
        <p:spPr>
          <a:xfrm>
            <a:off x="8147304" y="1463040"/>
            <a:ext cx="3611880" cy="1783080"/>
          </a:xfrm>
          <a:prstGeom prst="roundRect">
            <a:avLst>
              <a:gd name="adj" fmla="val 4615"/>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5" name="Text 13"/>
          <p:cNvSpPr/>
          <p:nvPr/>
        </p:nvSpPr>
        <p:spPr>
          <a:xfrm>
            <a:off x="8375904" y="1600200"/>
            <a:ext cx="3154680" cy="457200"/>
          </a:xfrm>
          <a:prstGeom prst="rect">
            <a:avLst/>
          </a:prstGeom>
          <a:noFill/>
          <a:ln/>
        </p:spPr>
        <p:txBody>
          <a:bodyPr wrap="square" lIns="0" tIns="0" rIns="0" bIns="0" rtlCol="0" anchor="ctr"/>
          <a:lstStyle/>
          <a:p>
            <a:pPr indent="0" marL="0">
              <a:buNone/>
            </a:pPr>
            <a:r>
              <a:rPr lang="en-US" sz="2000" b="1" dirty="0">
                <a:solidFill>
                  <a:srgbClr val="4361EE"/>
                </a:solidFill>
                <a:latin typeface="Courier New" pitchFamily="34" charset="0"/>
                <a:ea typeface="Courier New" pitchFamily="34" charset="-122"/>
                <a:cs typeface="Courier New" pitchFamily="34" charset="-120"/>
              </a:rPr>
              <a:t>PASTA</a:t>
            </a:r>
            <a:endParaRPr lang="en-US" sz="2000" dirty="0"/>
          </a:p>
        </p:txBody>
      </p:sp>
      <p:sp>
        <p:nvSpPr>
          <p:cNvPr id="16" name="Text 14"/>
          <p:cNvSpPr/>
          <p:nvPr/>
        </p:nvSpPr>
        <p:spPr>
          <a:xfrm>
            <a:off x="8375904" y="2103120"/>
            <a:ext cx="3154680" cy="100584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VerSprite. Process for Attack Simulation and Threat Analysis — frames threats in business terms.</a:t>
            </a:r>
            <a:endParaRPr lang="en-US" sz="1600" dirty="0"/>
          </a:p>
        </p:txBody>
      </p:sp>
      <p:sp>
        <p:nvSpPr>
          <p:cNvPr id="17" name="Shape 15"/>
          <p:cNvSpPr/>
          <p:nvPr/>
        </p:nvSpPr>
        <p:spPr>
          <a:xfrm>
            <a:off x="9464040" y="3401568"/>
            <a:ext cx="2148840" cy="329184"/>
          </a:xfrm>
          <a:prstGeom prst="roundRect">
            <a:avLst>
              <a:gd name="adj" fmla="val 50000"/>
            </a:avLst>
          </a:prstGeom>
          <a:solidFill>
            <a:srgbClr val="FEF3C7"/>
          </a:solidFill>
          <a:ln w="12700">
            <a:solidFill>
              <a:srgbClr val="F59E0B"/>
            </a:solidFill>
            <a:prstDash val="solid"/>
          </a:ln>
        </p:spPr>
      </p:sp>
      <p:sp>
        <p:nvSpPr>
          <p:cNvPr id="18" name="Text 16"/>
          <p:cNvSpPr/>
          <p:nvPr/>
        </p:nvSpPr>
        <p:spPr>
          <a:xfrm>
            <a:off x="9464040" y="3401568"/>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9" name="Text 17"/>
          <p:cNvSpPr/>
          <p:nvPr/>
        </p:nvSpPr>
        <p:spPr>
          <a:xfrm>
            <a:off x="502920" y="3429000"/>
            <a:ext cx="7315200" cy="384048"/>
          </a:xfrm>
          <a:prstGeom prst="rect">
            <a:avLst/>
          </a:prstGeom>
          <a:noFill/>
          <a:ln/>
        </p:spPr>
        <p:txBody>
          <a:bodyPr wrap="square" lIns="0" tIns="0" rIns="0" bIns="0" rtlCol="0" anchor="ctr"/>
          <a:lstStyle/>
          <a:p>
            <a:pPr indent="0" marL="0">
              <a:buNone/>
            </a:pPr>
            <a:r>
              <a:rPr lang="en-US" sz="2100" b="1" dirty="0">
                <a:solidFill>
                  <a:srgbClr val="111827"/>
                </a:solidFill>
                <a:latin typeface="Bookman Old Style" pitchFamily="34" charset="0"/>
                <a:ea typeface="Bookman Old Style" pitchFamily="34" charset="-122"/>
                <a:cs typeface="Bookman Old Style" pitchFamily="34" charset="-120"/>
              </a:rPr>
              <a:t>What all frameworks have in common</a:t>
            </a:r>
            <a:endParaRPr lang="en-US" sz="2100" dirty="0"/>
          </a:p>
        </p:txBody>
      </p:sp>
      <p:sp>
        <p:nvSpPr>
          <p:cNvPr id="20" name="Shape 18"/>
          <p:cNvSpPr/>
          <p:nvPr/>
        </p:nvSpPr>
        <p:spPr>
          <a:xfrm>
            <a:off x="502920" y="3886200"/>
            <a:ext cx="11155680" cy="1874520"/>
          </a:xfrm>
          <a:prstGeom prst="roundRect">
            <a:avLst>
              <a:gd name="adj" fmla="val 4390"/>
            </a:avLst>
          </a:prstGeom>
          <a:solidFill>
            <a:srgbClr val="FEF3C7"/>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21" name="Text 19"/>
          <p:cNvSpPr/>
          <p:nvPr/>
        </p:nvSpPr>
        <p:spPr>
          <a:xfrm>
            <a:off x="822960" y="4069080"/>
            <a:ext cx="5303520" cy="1554480"/>
          </a:xfrm>
          <a:prstGeom prst="rect">
            <a:avLst/>
          </a:prstGeom>
          <a:noFill/>
          <a:ln/>
        </p:spPr>
        <p:txBody>
          <a:bodyPr wrap="square" lIns="0" tIns="0" rIns="0" bIns="0" rtlCol="0" anchor="ctr"/>
          <a:lstStyle/>
          <a:p>
            <a:pPr marL="342900" indent="-342900">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A description of the security requirements</a:t>
            </a:r>
            <a:endParaRPr lang="en-US" sz="1800" dirty="0"/>
          </a:p>
          <a:p>
            <a:pPr marL="342900" indent="-342900">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Assumptions that get re-checked as threats change</a:t>
            </a:r>
            <a:endParaRPr lang="en-US" sz="1800" dirty="0"/>
          </a:p>
          <a:p>
            <a:pPr marL="342900" indent="-342900">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Identification of potential threats</a:t>
            </a:r>
            <a:endParaRPr lang="en-US" sz="1800" dirty="0"/>
          </a:p>
        </p:txBody>
      </p:sp>
      <p:sp>
        <p:nvSpPr>
          <p:cNvPr id="22" name="Text 20"/>
          <p:cNvSpPr/>
          <p:nvPr/>
        </p:nvSpPr>
        <p:spPr>
          <a:xfrm>
            <a:off x="6309360" y="4069080"/>
            <a:ext cx="5120640" cy="1554480"/>
          </a:xfrm>
          <a:prstGeom prst="rect">
            <a:avLst/>
          </a:prstGeom>
          <a:noFill/>
          <a:ln/>
        </p:spPr>
        <p:txBody>
          <a:bodyPr wrap="square" lIns="0" tIns="0" rIns="0" bIns="0" rtlCol="0" anchor="ctr"/>
          <a:lstStyle/>
          <a:p>
            <a:pPr marL="342900" indent="-342900">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Actions that mitigate each threat</a:t>
            </a:r>
            <a:endParaRPr lang="en-US" sz="1800" dirty="0"/>
          </a:p>
          <a:p>
            <a:pPr marL="342900" indent="-342900">
              <a:spcAft>
                <a:spcPts val="800"/>
              </a:spcAft>
              <a:buSzPct val="100000"/>
              <a:buChar char="•"/>
            </a:pPr>
            <a:r>
              <a:rPr lang="en-US" sz="1800" dirty="0">
                <a:solidFill>
                  <a:srgbClr val="111827"/>
                </a:solidFill>
                <a:latin typeface="Calibri" pitchFamily="34" charset="0"/>
                <a:ea typeface="Calibri" pitchFamily="34" charset="-122"/>
                <a:cs typeface="Calibri" pitchFamily="34" charset="-120"/>
              </a:rPr>
              <a:t>Validation of the model and confirmation the action worked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Principle 1 — Defining security requirements</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Start with what you are protecting, not with what could attack it</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17320"/>
            <a:ext cx="5486400" cy="2148840"/>
          </a:xfrm>
          <a:prstGeom prst="roundRect">
            <a:avLst>
              <a:gd name="adj" fmla="val 3830"/>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1" name="Text 9"/>
          <p:cNvSpPr/>
          <p:nvPr/>
        </p:nvSpPr>
        <p:spPr>
          <a:xfrm>
            <a:off x="731520" y="1572768"/>
            <a:ext cx="5029200" cy="384048"/>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Step A — Identify the assets</a:t>
            </a:r>
            <a:endParaRPr lang="en-US" sz="2000" dirty="0"/>
          </a:p>
        </p:txBody>
      </p:sp>
      <p:sp>
        <p:nvSpPr>
          <p:cNvPr id="12" name="Text 10"/>
          <p:cNvSpPr/>
          <p:nvPr/>
        </p:nvSpPr>
        <p:spPr>
          <a:xfrm>
            <a:off x="777240" y="2011680"/>
            <a:ext cx="5029200" cy="14630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11827"/>
                </a:solidFill>
                <a:latin typeface="Calibri" pitchFamily="34" charset="0"/>
                <a:ea typeface="Calibri" pitchFamily="34" charset="-122"/>
                <a:cs typeface="Calibri" pitchFamily="34" charset="-120"/>
              </a:rPr>
              <a:t>Data — customer records, payment details, source code</a:t>
            </a:r>
            <a:endParaRPr lang="en-US" sz="1700" dirty="0"/>
          </a:p>
          <a:p>
            <a:pPr marL="342900" indent="-342900">
              <a:spcAft>
                <a:spcPts val="600"/>
              </a:spcAft>
              <a:buSzPct val="100000"/>
              <a:buChar char="•"/>
            </a:pPr>
            <a:r>
              <a:rPr lang="en-US" sz="1700" dirty="0">
                <a:solidFill>
                  <a:srgbClr val="111827"/>
                </a:solidFill>
                <a:latin typeface="Calibri" pitchFamily="34" charset="0"/>
                <a:ea typeface="Calibri" pitchFamily="34" charset="-122"/>
                <a:cs typeface="Calibri" pitchFamily="34" charset="-120"/>
              </a:rPr>
              <a:t>Applications — the ticketing app, the admin portal</a:t>
            </a:r>
            <a:endParaRPr lang="en-US" sz="1700" dirty="0"/>
          </a:p>
          <a:p>
            <a:pPr marL="342900" indent="-342900">
              <a:spcAft>
                <a:spcPts val="600"/>
              </a:spcAft>
              <a:buSzPct val="100000"/>
              <a:buChar char="•"/>
            </a:pPr>
            <a:r>
              <a:rPr lang="en-US" sz="1700" dirty="0">
                <a:solidFill>
                  <a:srgbClr val="111827"/>
                </a:solidFill>
                <a:latin typeface="Calibri" pitchFamily="34" charset="0"/>
                <a:ea typeface="Calibri" pitchFamily="34" charset="-122"/>
                <a:cs typeface="Calibri" pitchFamily="34" charset="-120"/>
              </a:rPr>
              <a:t>Systems and infrastructure — servers, repositories, CI pipeline</a:t>
            </a:r>
            <a:endParaRPr lang="en-US" sz="1700" dirty="0"/>
          </a:p>
        </p:txBody>
      </p:sp>
      <p:sp>
        <p:nvSpPr>
          <p:cNvPr id="13" name="Shape 11"/>
          <p:cNvSpPr/>
          <p:nvPr/>
        </p:nvSpPr>
        <p:spPr>
          <a:xfrm>
            <a:off x="6172200" y="1417320"/>
            <a:ext cx="5486400" cy="2148840"/>
          </a:xfrm>
          <a:prstGeom prst="roundRect">
            <a:avLst>
              <a:gd name="adj" fmla="val 3830"/>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4" name="Text 12"/>
          <p:cNvSpPr/>
          <p:nvPr/>
        </p:nvSpPr>
        <p:spPr>
          <a:xfrm>
            <a:off x="6400800" y="1572768"/>
            <a:ext cx="5029200" cy="384048"/>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Step B — Identify the stakeholders</a:t>
            </a:r>
            <a:endParaRPr lang="en-US" sz="2000" dirty="0"/>
          </a:p>
        </p:txBody>
      </p:sp>
      <p:sp>
        <p:nvSpPr>
          <p:cNvPr id="15" name="Text 13"/>
          <p:cNvSpPr/>
          <p:nvPr/>
        </p:nvSpPr>
        <p:spPr>
          <a:xfrm>
            <a:off x="6446520" y="2011680"/>
            <a:ext cx="5029200" cy="14630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11827"/>
                </a:solidFill>
                <a:latin typeface="Calibri" pitchFamily="34" charset="0"/>
                <a:ea typeface="Calibri" pitchFamily="34" charset="-122"/>
                <a:cs typeface="Calibri" pitchFamily="34" charset="-120"/>
              </a:rPr>
              <a:t>Users — festival-goers buying tickets</a:t>
            </a:r>
            <a:endParaRPr lang="en-US" sz="1700" dirty="0"/>
          </a:p>
          <a:p>
            <a:pPr marL="342900" indent="-342900">
              <a:spcAft>
                <a:spcPts val="600"/>
              </a:spcAft>
              <a:buSzPct val="100000"/>
              <a:buChar char="•"/>
            </a:pPr>
            <a:r>
              <a:rPr lang="en-US" sz="1700" dirty="0">
                <a:solidFill>
                  <a:srgbClr val="111827"/>
                </a:solidFill>
                <a:latin typeface="Calibri" pitchFamily="34" charset="0"/>
                <a:ea typeface="Calibri" pitchFamily="34" charset="-122"/>
                <a:cs typeface="Calibri" pitchFamily="34" charset="-120"/>
              </a:rPr>
              <a:t>Administrators and developers who hold access</a:t>
            </a:r>
            <a:endParaRPr lang="en-US" sz="1700" dirty="0"/>
          </a:p>
          <a:p>
            <a:pPr marL="342900" indent="-342900">
              <a:spcAft>
                <a:spcPts val="600"/>
              </a:spcAft>
              <a:buSzPct val="100000"/>
              <a:buChar char="•"/>
            </a:pPr>
            <a:r>
              <a:rPr lang="en-US" sz="1700" dirty="0">
                <a:solidFill>
                  <a:srgbClr val="111827"/>
                </a:solidFill>
                <a:latin typeface="Calibri" pitchFamily="34" charset="0"/>
                <a:ea typeface="Calibri" pitchFamily="34" charset="-122"/>
                <a:cs typeface="Calibri" pitchFamily="34" charset="-120"/>
              </a:rPr>
              <a:t>Business owners who carry the legal and financial risk</a:t>
            </a:r>
            <a:endParaRPr lang="en-US" sz="1700" dirty="0"/>
          </a:p>
        </p:txBody>
      </p:sp>
      <p:sp>
        <p:nvSpPr>
          <p:cNvPr id="16" name="Shape 14"/>
          <p:cNvSpPr/>
          <p:nvPr/>
        </p:nvSpPr>
        <p:spPr>
          <a:xfrm>
            <a:off x="502920" y="3749040"/>
            <a:ext cx="11155680" cy="2011680"/>
          </a:xfrm>
          <a:prstGeom prst="roundRect">
            <a:avLst>
              <a:gd name="adj" fmla="val 4091"/>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7" name="Text 15"/>
          <p:cNvSpPr/>
          <p:nvPr/>
        </p:nvSpPr>
        <p:spPr>
          <a:xfrm>
            <a:off x="822960" y="3886200"/>
            <a:ext cx="10515600" cy="384048"/>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Step C — Turn each asset into a written requirement</a:t>
            </a:r>
            <a:endParaRPr lang="en-US" sz="2000" dirty="0"/>
          </a:p>
        </p:txBody>
      </p:sp>
      <p:sp>
        <p:nvSpPr>
          <p:cNvPr id="18" name="Text 16"/>
          <p:cNvSpPr/>
          <p:nvPr/>
        </p:nvSpPr>
        <p:spPr>
          <a:xfrm>
            <a:off x="822960" y="4343400"/>
            <a:ext cx="10515600" cy="1325880"/>
          </a:xfrm>
          <a:prstGeom prst="rect">
            <a:avLst/>
          </a:prstGeom>
          <a:noFill/>
          <a:ln/>
        </p:spPr>
        <p:txBody>
          <a:bodyPr wrap="square" lIns="0" tIns="0" rIns="0" bIns="0" rtlCol="0" anchor="t"/>
          <a:lstStyle/>
          <a:p>
            <a:pPr indent="0" marL="0">
              <a:lnSpc>
                <a:spcPts val="2600"/>
              </a:lnSpc>
              <a:buNone/>
            </a:pPr>
            <a:r>
              <a:rPr lang="en-US" sz="1800" b="1" dirty="0">
                <a:solidFill>
                  <a:srgbClr val="EF4444"/>
                </a:solidFill>
                <a:latin typeface="Courier New" pitchFamily="34" charset="0"/>
                <a:ea typeface="Courier New" pitchFamily="34" charset="-122"/>
                <a:cs typeface="Courier New" pitchFamily="34" charset="-120"/>
              </a:rPr>
              <a:t>Weak:  </a:t>
            </a:r>
            <a:pPr indent="0" marL="0">
              <a:lnSpc>
                <a:spcPts val="2600"/>
              </a:lnSpc>
              <a:buNone/>
            </a:pPr>
            <a:r>
              <a:rPr lang="en-US" sz="1800" dirty="0">
                <a:solidFill>
                  <a:srgbClr val="111827"/>
                </a:solidFill>
                <a:latin typeface="Calibri" pitchFamily="34" charset="0"/>
                <a:ea typeface="Calibri" pitchFamily="34" charset="-122"/>
                <a:cs typeface="Calibri" pitchFamily="34" charset="-120"/>
              </a:rPr>
              <a:t>"Customer data must be kept safe."</a:t>
            </a:r>
            <a:pPr indent="0" marL="0">
              <a:lnSpc>
                <a:spcPts val="2600"/>
              </a:lnSpc>
              <a:buNone/>
            </a:pPr>
            <a:r>
              <a:rPr lang="en-US" sz="1800" i="1" dirty="0">
                <a:solidFill>
                  <a:srgbClr val="5B6472"/>
                </a:solidFill>
                <a:latin typeface="Calibri" pitchFamily="34" charset="0"/>
                <a:ea typeface="Calibri" pitchFamily="34" charset="-122"/>
                <a:cs typeface="Calibri" pitchFamily="34" charset="-120"/>
              </a:rPr>
              <a:t>     Untestable — nobody can prove it has been met.</a:t>
            </a:r>
            <a:endParaRPr lang="en-US" sz="1800" dirty="0"/>
          </a:p>
          <a:p>
            <a:pPr indent="0" marL="0">
              <a:lnSpc>
                <a:spcPts val="2600"/>
              </a:lnSpc>
              <a:buNone/>
            </a:pPr>
            <a:r>
              <a:rPr lang="en-US" sz="1800" b="1" dirty="0">
                <a:solidFill>
                  <a:srgbClr val="10B981"/>
                </a:solidFill>
                <a:latin typeface="Courier New" pitchFamily="34" charset="0"/>
                <a:ea typeface="Courier New" pitchFamily="34" charset="-122"/>
                <a:cs typeface="Courier New" pitchFamily="34" charset="-120"/>
              </a:rPr>
              <a:t>Strong:  </a:t>
            </a:r>
            <a:pPr indent="0" marL="0">
              <a:lnSpc>
                <a:spcPts val="2600"/>
              </a:lnSpc>
              <a:buNone/>
            </a:pPr>
            <a:r>
              <a:rPr lang="en-US" sz="1800" dirty="0">
                <a:solidFill>
                  <a:srgbClr val="111827"/>
                </a:solidFill>
                <a:latin typeface="Calibri" pitchFamily="34" charset="0"/>
                <a:ea typeface="Calibri" pitchFamily="34" charset="-122"/>
                <a:cs typeface="Calibri" pitchFamily="34" charset="-120"/>
              </a:rPr>
              <a:t>"Customer payment data must be encrypted at rest and in transit, and readable only by the payments service account."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Principle 1 — Prioritising and reviewing</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You will never have the budget to satisfy every requirement at once</a:t>
            </a:r>
            <a:endParaRPr lang="en-US" sz="1500" dirty="0"/>
          </a:p>
        </p:txBody>
      </p:sp>
      <p:sp>
        <p:nvSpPr>
          <p:cNvPr id="8" name="Shape 6"/>
          <p:cNvSpPr/>
          <p:nvPr/>
        </p:nvSpPr>
        <p:spPr>
          <a:xfrm>
            <a:off x="502920" y="1463040"/>
            <a:ext cx="11155680" cy="1417320"/>
          </a:xfrm>
          <a:prstGeom prst="roundRect">
            <a:avLst>
              <a:gd name="adj" fmla="val 5806"/>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9" name="Shape 7"/>
          <p:cNvSpPr/>
          <p:nvPr/>
        </p:nvSpPr>
        <p:spPr>
          <a:xfrm>
            <a:off x="713232" y="1920240"/>
            <a:ext cx="146304" cy="502920"/>
          </a:xfrm>
          <a:prstGeom prst="roundRect">
            <a:avLst>
              <a:gd name="adj" fmla="val 50000"/>
            </a:avLst>
          </a:prstGeom>
          <a:solidFill>
            <a:srgbClr val="4361EE"/>
          </a:solidFill>
          <a:ln/>
        </p:spPr>
      </p:sp>
      <p:sp>
        <p:nvSpPr>
          <p:cNvPr id="10" name="Text 8"/>
          <p:cNvSpPr/>
          <p:nvPr/>
        </p:nvSpPr>
        <p:spPr>
          <a:xfrm>
            <a:off x="1097280" y="1627632"/>
            <a:ext cx="10332720" cy="411480"/>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Prioritise by impact and likelihood</a:t>
            </a:r>
            <a:endParaRPr lang="en-US" sz="2000" dirty="0"/>
          </a:p>
        </p:txBody>
      </p:sp>
      <p:sp>
        <p:nvSpPr>
          <p:cNvPr id="11" name="Text 9"/>
          <p:cNvSpPr/>
          <p:nvPr/>
        </p:nvSpPr>
        <p:spPr>
          <a:xfrm>
            <a:off x="1097280" y="2084832"/>
            <a:ext cx="10332720" cy="685800"/>
          </a:xfrm>
          <a:prstGeom prst="rect">
            <a:avLst/>
          </a:prstGeom>
          <a:noFill/>
          <a:ln/>
        </p:spPr>
        <p:txBody>
          <a:bodyPr wrap="square" lIns="0" tIns="0" rIns="0" bIns="0" rtlCol="0" anchor="t"/>
          <a:lstStyle/>
          <a:p>
            <a:pPr indent="0" marL="0">
              <a:buNone/>
            </a:pPr>
            <a:r>
              <a:rPr lang="en-US" sz="1800" dirty="0">
                <a:solidFill>
                  <a:srgbClr val="5B6472"/>
                </a:solidFill>
                <a:latin typeface="Calibri" pitchFamily="34" charset="0"/>
                <a:ea typeface="Calibri" pitchFamily="34" charset="-122"/>
                <a:cs typeface="Calibri" pitchFamily="34" charset="-120"/>
              </a:rPr>
              <a:t>High-priority requirements are the ones protecting assets whose loss would seriously harm the organisation — and whose loss is plausible.</a:t>
            </a:r>
            <a:endParaRPr lang="en-US" sz="1800" dirty="0"/>
          </a:p>
        </p:txBody>
      </p:sp>
      <p:sp>
        <p:nvSpPr>
          <p:cNvPr id="12" name="Shape 10"/>
          <p:cNvSpPr/>
          <p:nvPr/>
        </p:nvSpPr>
        <p:spPr>
          <a:xfrm>
            <a:off x="502920" y="2999232"/>
            <a:ext cx="11155680" cy="1417320"/>
          </a:xfrm>
          <a:prstGeom prst="roundRect">
            <a:avLst>
              <a:gd name="adj" fmla="val 5806"/>
            </a:avLst>
          </a:prstGeom>
          <a:solidFill>
            <a:srgbClr val="FFFFFF"/>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13" name="Shape 11"/>
          <p:cNvSpPr/>
          <p:nvPr/>
        </p:nvSpPr>
        <p:spPr>
          <a:xfrm>
            <a:off x="713232" y="3456432"/>
            <a:ext cx="146304" cy="502920"/>
          </a:xfrm>
          <a:prstGeom prst="roundRect">
            <a:avLst>
              <a:gd name="adj" fmla="val 50000"/>
            </a:avLst>
          </a:prstGeom>
          <a:solidFill>
            <a:srgbClr val="F59E0B"/>
          </a:solidFill>
          <a:ln/>
        </p:spPr>
      </p:sp>
      <p:sp>
        <p:nvSpPr>
          <p:cNvPr id="14" name="Text 12"/>
          <p:cNvSpPr/>
          <p:nvPr/>
        </p:nvSpPr>
        <p:spPr>
          <a:xfrm>
            <a:off x="1097280" y="3163824"/>
            <a:ext cx="10332720" cy="411480"/>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Resources are always limited</a:t>
            </a:r>
            <a:endParaRPr lang="en-US" sz="2000" dirty="0"/>
          </a:p>
        </p:txBody>
      </p:sp>
      <p:sp>
        <p:nvSpPr>
          <p:cNvPr id="15" name="Text 13"/>
          <p:cNvSpPr/>
          <p:nvPr/>
        </p:nvSpPr>
        <p:spPr>
          <a:xfrm>
            <a:off x="1097280" y="3621024"/>
            <a:ext cx="10332720" cy="685800"/>
          </a:xfrm>
          <a:prstGeom prst="rect">
            <a:avLst/>
          </a:prstGeom>
          <a:noFill/>
          <a:ln/>
        </p:spPr>
        <p:txBody>
          <a:bodyPr wrap="square" lIns="0" tIns="0" rIns="0" bIns="0" rtlCol="0" anchor="t"/>
          <a:lstStyle/>
          <a:p>
            <a:pPr indent="0" marL="0">
              <a:buNone/>
            </a:pPr>
            <a:r>
              <a:rPr lang="en-US" sz="1800" dirty="0">
                <a:solidFill>
                  <a:srgbClr val="5B6472"/>
                </a:solidFill>
                <a:latin typeface="Calibri" pitchFamily="34" charset="0"/>
                <a:ea typeface="Calibri" pitchFamily="34" charset="-122"/>
                <a:cs typeface="Calibri" pitchFamily="34" charset="-120"/>
              </a:rPr>
              <a:t>Staff time, licence costs and developer hours are finite, so requirements are sequenced rather than delivered all at once.</a:t>
            </a:r>
            <a:endParaRPr lang="en-US" sz="1800" dirty="0"/>
          </a:p>
        </p:txBody>
      </p:sp>
      <p:sp>
        <p:nvSpPr>
          <p:cNvPr id="16" name="Shape 14"/>
          <p:cNvSpPr/>
          <p:nvPr/>
        </p:nvSpPr>
        <p:spPr>
          <a:xfrm>
            <a:off x="502920" y="4535424"/>
            <a:ext cx="11155680" cy="1417320"/>
          </a:xfrm>
          <a:prstGeom prst="roundRect">
            <a:avLst>
              <a:gd name="adj" fmla="val 5806"/>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17" name="Shape 15"/>
          <p:cNvSpPr/>
          <p:nvPr/>
        </p:nvSpPr>
        <p:spPr>
          <a:xfrm>
            <a:off x="713232" y="4992624"/>
            <a:ext cx="146304" cy="502920"/>
          </a:xfrm>
          <a:prstGeom prst="roundRect">
            <a:avLst>
              <a:gd name="adj" fmla="val 50000"/>
            </a:avLst>
          </a:prstGeom>
          <a:solidFill>
            <a:srgbClr val="10B981"/>
          </a:solidFill>
          <a:ln/>
        </p:spPr>
      </p:sp>
      <p:sp>
        <p:nvSpPr>
          <p:cNvPr id="18" name="Text 16"/>
          <p:cNvSpPr/>
          <p:nvPr/>
        </p:nvSpPr>
        <p:spPr>
          <a:xfrm>
            <a:off x="1097280" y="4700016"/>
            <a:ext cx="10332720" cy="411480"/>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Review continuously</a:t>
            </a:r>
            <a:endParaRPr lang="en-US" sz="2000" dirty="0"/>
          </a:p>
        </p:txBody>
      </p:sp>
      <p:sp>
        <p:nvSpPr>
          <p:cNvPr id="19" name="Text 17"/>
          <p:cNvSpPr/>
          <p:nvPr/>
        </p:nvSpPr>
        <p:spPr>
          <a:xfrm>
            <a:off x="1097280" y="5157216"/>
            <a:ext cx="10332720" cy="685800"/>
          </a:xfrm>
          <a:prstGeom prst="rect">
            <a:avLst/>
          </a:prstGeom>
          <a:noFill/>
          <a:ln/>
        </p:spPr>
        <p:txBody>
          <a:bodyPr wrap="square" lIns="0" tIns="0" rIns="0" bIns="0" rtlCol="0" anchor="t"/>
          <a:lstStyle/>
          <a:p>
            <a:pPr indent="0" marL="0">
              <a:buNone/>
            </a:pPr>
            <a:r>
              <a:rPr lang="en-US" sz="1800" dirty="0">
                <a:solidFill>
                  <a:srgbClr val="5B6472"/>
                </a:solidFill>
                <a:latin typeface="Calibri" pitchFamily="34" charset="0"/>
                <a:ea typeface="Calibri" pitchFamily="34" charset="-122"/>
                <a:cs typeface="Calibri" pitchFamily="34" charset="-120"/>
              </a:rPr>
              <a:t>Threats evolve, systems change and technologies improve, so requirements are revisited on a schedule — not written once and filed.</a:t>
            </a:r>
            <a:endParaRPr lang="en-US" sz="1800" dirty="0"/>
          </a:p>
        </p:txBody>
      </p:sp>
      <p:sp>
        <p:nvSpPr>
          <p:cNvPr id="20" name="Shape 18"/>
          <p:cNvSpPr/>
          <p:nvPr/>
        </p:nvSpPr>
        <p:spPr>
          <a:xfrm>
            <a:off x="502920" y="6080760"/>
            <a:ext cx="11155680" cy="548640"/>
          </a:xfrm>
          <a:prstGeom prst="roundRect">
            <a:avLst>
              <a:gd name="adj" fmla="val 15000"/>
            </a:avLst>
          </a:prstGeom>
          <a:solidFill>
            <a:srgbClr val="FEF3C7"/>
          </a:solidFill>
          <a:ln w="12700">
            <a:solidFill>
              <a:srgbClr val="F59E0B"/>
            </a:solidFill>
            <a:prstDash val="solid"/>
          </a:ln>
        </p:spPr>
      </p:sp>
      <p:sp>
        <p:nvSpPr>
          <p:cNvPr id="21" name="Text 19"/>
          <p:cNvSpPr/>
          <p:nvPr/>
        </p:nvSpPr>
        <p:spPr>
          <a:xfrm>
            <a:off x="822960" y="6080760"/>
            <a:ext cx="10515600" cy="54864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Exam link: "justify your recommendation" almost always means "explain the priority you assigned and why".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Discussion — Which asset matters most?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8 minutes · groups of three · one scribe per group</a:t>
            </a:r>
            <a:endParaRPr lang="en-US" sz="1500" dirty="0"/>
          </a:p>
        </p:txBody>
      </p:sp>
      <p:sp>
        <p:nvSpPr>
          <p:cNvPr id="8" name="Shape 6"/>
          <p:cNvSpPr/>
          <p:nvPr/>
        </p:nvSpPr>
        <p:spPr>
          <a:xfrm>
            <a:off x="502920" y="1371600"/>
            <a:ext cx="11155680" cy="1371600"/>
          </a:xfrm>
          <a:prstGeom prst="roundRect">
            <a:avLst>
              <a:gd name="adj" fmla="val 6000"/>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9" name="Text 7"/>
          <p:cNvSpPr/>
          <p:nvPr/>
        </p:nvSpPr>
        <p:spPr>
          <a:xfrm>
            <a:off x="822960" y="1371600"/>
            <a:ext cx="10515600" cy="137160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Aurora Ticketing holds four assets. The security budget covers protecting two of them properly this financial year. Choose the two, and be ready to explain what you are consciously leaving exposed.</a:t>
            </a:r>
            <a:endParaRPr lang="en-US" sz="2000" dirty="0"/>
          </a:p>
        </p:txBody>
      </p:sp>
      <p:sp>
        <p:nvSpPr>
          <p:cNvPr id="10" name="Shape 8"/>
          <p:cNvSpPr/>
          <p:nvPr/>
        </p:nvSpPr>
        <p:spPr>
          <a:xfrm>
            <a:off x="502920" y="2971800"/>
            <a:ext cx="2697480" cy="2286000"/>
          </a:xfrm>
          <a:prstGeom prst="roundRect">
            <a:avLst>
              <a:gd name="adj" fmla="val 360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1" name="Text 9"/>
          <p:cNvSpPr/>
          <p:nvPr/>
        </p:nvSpPr>
        <p:spPr>
          <a:xfrm>
            <a:off x="704088" y="3154680"/>
            <a:ext cx="2286000" cy="77724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Customer database</a:t>
            </a:r>
            <a:endParaRPr lang="en-US" sz="1800" dirty="0"/>
          </a:p>
        </p:txBody>
      </p:sp>
      <p:sp>
        <p:nvSpPr>
          <p:cNvPr id="12" name="Text 10"/>
          <p:cNvSpPr/>
          <p:nvPr/>
        </p:nvSpPr>
        <p:spPr>
          <a:xfrm>
            <a:off x="704088" y="3977640"/>
            <a:ext cx="2286000" cy="114300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400 000 names, emails, phone numbers and partial card data</a:t>
            </a:r>
            <a:endParaRPr lang="en-US" sz="1600" dirty="0"/>
          </a:p>
        </p:txBody>
      </p:sp>
      <p:sp>
        <p:nvSpPr>
          <p:cNvPr id="13" name="Shape 11"/>
          <p:cNvSpPr/>
          <p:nvPr/>
        </p:nvSpPr>
        <p:spPr>
          <a:xfrm>
            <a:off x="3328416" y="2971800"/>
            <a:ext cx="2697480" cy="2286000"/>
          </a:xfrm>
          <a:prstGeom prst="roundRect">
            <a:avLst>
              <a:gd name="adj" fmla="val 360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4" name="Text 12"/>
          <p:cNvSpPr/>
          <p:nvPr/>
        </p:nvSpPr>
        <p:spPr>
          <a:xfrm>
            <a:off x="3529584" y="3154680"/>
            <a:ext cx="2286000" cy="77724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Source code repository</a:t>
            </a:r>
            <a:endParaRPr lang="en-US" sz="1800" dirty="0"/>
          </a:p>
        </p:txBody>
      </p:sp>
      <p:sp>
        <p:nvSpPr>
          <p:cNvPr id="15" name="Text 13"/>
          <p:cNvSpPr/>
          <p:nvPr/>
        </p:nvSpPr>
        <p:spPr>
          <a:xfrm>
            <a:off x="3529584" y="3977640"/>
            <a:ext cx="2286000" cy="114300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The full ticketing platform, including the scanning algorithm competitors would value</a:t>
            </a:r>
            <a:endParaRPr lang="en-US" sz="1600" dirty="0"/>
          </a:p>
        </p:txBody>
      </p:sp>
      <p:sp>
        <p:nvSpPr>
          <p:cNvPr id="16" name="Shape 14"/>
          <p:cNvSpPr/>
          <p:nvPr/>
        </p:nvSpPr>
        <p:spPr>
          <a:xfrm>
            <a:off x="6153912" y="2971800"/>
            <a:ext cx="2697480" cy="2286000"/>
          </a:xfrm>
          <a:prstGeom prst="roundRect">
            <a:avLst>
              <a:gd name="adj" fmla="val 360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7" name="Text 15"/>
          <p:cNvSpPr/>
          <p:nvPr/>
        </p:nvSpPr>
        <p:spPr>
          <a:xfrm>
            <a:off x="6355080" y="3154680"/>
            <a:ext cx="2286000" cy="77724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Live scanning service</a:t>
            </a:r>
            <a:endParaRPr lang="en-US" sz="1800" dirty="0"/>
          </a:p>
        </p:txBody>
      </p:sp>
      <p:sp>
        <p:nvSpPr>
          <p:cNvPr id="18" name="Text 16"/>
          <p:cNvSpPr/>
          <p:nvPr/>
        </p:nvSpPr>
        <p:spPr>
          <a:xfrm>
            <a:off x="6355080" y="3977640"/>
            <a:ext cx="2286000" cy="114300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The system that admits people at festival gates — downtime means locked-out crowds</a:t>
            </a:r>
            <a:endParaRPr lang="en-US" sz="1600" dirty="0"/>
          </a:p>
        </p:txBody>
      </p:sp>
      <p:sp>
        <p:nvSpPr>
          <p:cNvPr id="19" name="Shape 17"/>
          <p:cNvSpPr/>
          <p:nvPr/>
        </p:nvSpPr>
        <p:spPr>
          <a:xfrm>
            <a:off x="8979408" y="2971800"/>
            <a:ext cx="2697480" cy="2286000"/>
          </a:xfrm>
          <a:prstGeom prst="roundRect">
            <a:avLst>
              <a:gd name="adj" fmla="val 360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0" name="Text 18"/>
          <p:cNvSpPr/>
          <p:nvPr/>
        </p:nvSpPr>
        <p:spPr>
          <a:xfrm>
            <a:off x="9180576" y="3154680"/>
            <a:ext cx="2286000" cy="77724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Staff admin portal</a:t>
            </a:r>
            <a:endParaRPr lang="en-US" sz="1800" dirty="0"/>
          </a:p>
        </p:txBody>
      </p:sp>
      <p:sp>
        <p:nvSpPr>
          <p:cNvPr id="21" name="Text 19"/>
          <p:cNvSpPr/>
          <p:nvPr/>
        </p:nvSpPr>
        <p:spPr>
          <a:xfrm>
            <a:off x="9180576" y="3977640"/>
            <a:ext cx="2286000" cy="114300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Where refunds are issued and comp tickets are generated</a:t>
            </a:r>
            <a:endParaRPr lang="en-US" sz="1600" dirty="0"/>
          </a:p>
        </p:txBody>
      </p:sp>
      <p:sp>
        <p:nvSpPr>
          <p:cNvPr id="22" name="Shape 20"/>
          <p:cNvSpPr/>
          <p:nvPr/>
        </p:nvSpPr>
        <p:spPr>
          <a:xfrm>
            <a:off x="502920" y="5440680"/>
            <a:ext cx="11155680" cy="777240"/>
          </a:xfrm>
          <a:prstGeom prst="roundRect">
            <a:avLst>
              <a:gd name="adj" fmla="val 10588"/>
            </a:avLst>
          </a:prstGeom>
          <a:solidFill>
            <a:srgbClr val="FFFFFF"/>
          </a:solidFill>
          <a:ln w="12700">
            <a:solidFill>
              <a:srgbClr val="8B5CF6"/>
            </a:solidFill>
            <a:prstDash val="solid"/>
          </a:ln>
        </p:spPr>
      </p:sp>
      <p:sp>
        <p:nvSpPr>
          <p:cNvPr id="23" name="Text 21"/>
          <p:cNvSpPr/>
          <p:nvPr/>
        </p:nvSpPr>
        <p:spPr>
          <a:xfrm>
            <a:off x="822960" y="5440680"/>
            <a:ext cx="10515600" cy="777240"/>
          </a:xfrm>
          <a:prstGeom prst="rect">
            <a:avLst/>
          </a:prstGeom>
          <a:noFill/>
          <a:ln/>
        </p:spPr>
        <p:txBody>
          <a:bodyPr wrap="square" lIns="0" tIns="0" rIns="0" bIns="0" rtlCol="0" anchor="ctr"/>
          <a:lstStyle/>
          <a:p>
            <a:pPr indent="0" marL="0">
              <a:buNone/>
            </a:pPr>
            <a:r>
              <a:rPr lang="en-US" sz="1800" b="1" dirty="0">
                <a:solidFill>
                  <a:srgbClr val="8B5CF6"/>
                </a:solidFill>
                <a:latin typeface="Calibri" pitchFamily="34" charset="0"/>
                <a:ea typeface="Calibri" pitchFamily="34" charset="-122"/>
                <a:cs typeface="Calibri" pitchFamily="34" charset="-120"/>
              </a:rPr>
              <a:t>Extending: which stakeholder would disagree most strongly with your choice, and what would they say?</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Principle 2 — Identifying threats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Three categories of threat to data integrity</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17320"/>
            <a:ext cx="3611880" cy="4434840"/>
          </a:xfrm>
          <a:prstGeom prst="roundRect">
            <a:avLst>
              <a:gd name="adj" fmla="val 2278"/>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1627632"/>
            <a:ext cx="1920240" cy="347472"/>
          </a:xfrm>
          <a:prstGeom prst="roundRect">
            <a:avLst>
              <a:gd name="adj" fmla="val 50000"/>
            </a:avLst>
          </a:prstGeom>
          <a:solidFill>
            <a:srgbClr val="10B981"/>
          </a:solidFill>
          <a:ln/>
        </p:spPr>
      </p:sp>
      <p:sp>
        <p:nvSpPr>
          <p:cNvPr id="12" name="Text 10"/>
          <p:cNvSpPr/>
          <p:nvPr/>
        </p:nvSpPr>
        <p:spPr>
          <a:xfrm>
            <a:off x="731520" y="1627632"/>
            <a:ext cx="19202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ACCIDENTAL</a:t>
            </a:r>
            <a:endParaRPr lang="en-US" sz="1100" dirty="0"/>
          </a:p>
        </p:txBody>
      </p:sp>
      <p:sp>
        <p:nvSpPr>
          <p:cNvPr id="13" name="Text 11"/>
          <p:cNvSpPr/>
          <p:nvPr/>
        </p:nvSpPr>
        <p:spPr>
          <a:xfrm>
            <a:off x="731520" y="2121408"/>
            <a:ext cx="3154680" cy="777240"/>
          </a:xfrm>
          <a:prstGeom prst="rect">
            <a:avLst/>
          </a:prstGeom>
          <a:noFill/>
          <a:ln/>
        </p:spPr>
        <p:txBody>
          <a:bodyPr wrap="square" lIns="0" tIns="0" rIns="0" bIns="0"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Caused by people making mistakes.</a:t>
            </a:r>
            <a:endParaRPr lang="en-US" sz="1700" dirty="0"/>
          </a:p>
        </p:txBody>
      </p:sp>
      <p:sp>
        <p:nvSpPr>
          <p:cNvPr id="14" name="Text 12"/>
          <p:cNvSpPr/>
          <p:nvPr/>
        </p:nvSpPr>
        <p:spPr>
          <a:xfrm>
            <a:off x="777240" y="2971800"/>
            <a:ext cx="310896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User inattention or carelessness</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Confusing interfaces that look alike</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No confirmation before a live change</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Permissions that let untrained users delete</a:t>
            </a:r>
            <a:endParaRPr lang="en-US" sz="1600" dirty="0"/>
          </a:p>
        </p:txBody>
      </p:sp>
      <p:sp>
        <p:nvSpPr>
          <p:cNvPr id="15" name="Shape 13"/>
          <p:cNvSpPr/>
          <p:nvPr/>
        </p:nvSpPr>
        <p:spPr>
          <a:xfrm>
            <a:off x="4325112" y="1417320"/>
            <a:ext cx="3611880" cy="4434840"/>
          </a:xfrm>
          <a:prstGeom prst="roundRect">
            <a:avLst>
              <a:gd name="adj" fmla="val 2278"/>
            </a:avLst>
          </a:prstGeom>
          <a:solidFill>
            <a:srgbClr val="FFFFFF"/>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16" name="Shape 14"/>
          <p:cNvSpPr/>
          <p:nvPr/>
        </p:nvSpPr>
        <p:spPr>
          <a:xfrm>
            <a:off x="4553712" y="1627632"/>
            <a:ext cx="1920240" cy="347472"/>
          </a:xfrm>
          <a:prstGeom prst="roundRect">
            <a:avLst>
              <a:gd name="adj" fmla="val 50000"/>
            </a:avLst>
          </a:prstGeom>
          <a:solidFill>
            <a:srgbClr val="F59E0B"/>
          </a:solidFill>
          <a:ln/>
        </p:spPr>
      </p:sp>
      <p:sp>
        <p:nvSpPr>
          <p:cNvPr id="17" name="Text 15"/>
          <p:cNvSpPr/>
          <p:nvPr/>
        </p:nvSpPr>
        <p:spPr>
          <a:xfrm>
            <a:off x="4553712" y="1627632"/>
            <a:ext cx="19202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EVENT-BASED</a:t>
            </a:r>
            <a:endParaRPr lang="en-US" sz="1100" dirty="0"/>
          </a:p>
        </p:txBody>
      </p:sp>
      <p:sp>
        <p:nvSpPr>
          <p:cNvPr id="18" name="Text 16"/>
          <p:cNvSpPr/>
          <p:nvPr/>
        </p:nvSpPr>
        <p:spPr>
          <a:xfrm>
            <a:off x="4553712" y="2121408"/>
            <a:ext cx="3154680" cy="777240"/>
          </a:xfrm>
          <a:prstGeom prst="rect">
            <a:avLst/>
          </a:prstGeom>
          <a:noFill/>
          <a:ln/>
        </p:spPr>
        <p:txBody>
          <a:bodyPr wrap="square" lIns="0" tIns="0" rIns="0" bIns="0"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External events, largely outside the organisation's control.</a:t>
            </a:r>
            <a:endParaRPr lang="en-US" sz="1700" dirty="0"/>
          </a:p>
        </p:txBody>
      </p:sp>
      <p:sp>
        <p:nvSpPr>
          <p:cNvPr id="19" name="Text 17"/>
          <p:cNvSpPr/>
          <p:nvPr/>
        </p:nvSpPr>
        <p:spPr>
          <a:xfrm>
            <a:off x="4599432" y="2971800"/>
            <a:ext cx="310896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Storage failure — HDD or SSD</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Power failure or surge</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Fire, flood, lightning strike</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Cloud or third-party outage</a:t>
            </a:r>
            <a:endParaRPr lang="en-US" sz="1600" dirty="0"/>
          </a:p>
        </p:txBody>
      </p:sp>
      <p:sp>
        <p:nvSpPr>
          <p:cNvPr id="20" name="Shape 18"/>
          <p:cNvSpPr/>
          <p:nvPr/>
        </p:nvSpPr>
        <p:spPr>
          <a:xfrm>
            <a:off x="8147304" y="1417320"/>
            <a:ext cx="3611880" cy="4434840"/>
          </a:xfrm>
          <a:prstGeom prst="roundRect">
            <a:avLst>
              <a:gd name="adj" fmla="val 2278"/>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8375904" y="1627632"/>
            <a:ext cx="1920240" cy="347472"/>
          </a:xfrm>
          <a:prstGeom prst="roundRect">
            <a:avLst>
              <a:gd name="adj" fmla="val 50000"/>
            </a:avLst>
          </a:prstGeom>
          <a:solidFill>
            <a:srgbClr val="EF4444"/>
          </a:solidFill>
          <a:ln/>
        </p:spPr>
      </p:sp>
      <p:sp>
        <p:nvSpPr>
          <p:cNvPr id="22" name="Text 20"/>
          <p:cNvSpPr/>
          <p:nvPr/>
        </p:nvSpPr>
        <p:spPr>
          <a:xfrm>
            <a:off x="8375904" y="1627632"/>
            <a:ext cx="19202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DELIBERATE</a:t>
            </a:r>
            <a:endParaRPr lang="en-US" sz="1100" dirty="0"/>
          </a:p>
        </p:txBody>
      </p:sp>
      <p:sp>
        <p:nvSpPr>
          <p:cNvPr id="23" name="Text 21"/>
          <p:cNvSpPr/>
          <p:nvPr/>
        </p:nvSpPr>
        <p:spPr>
          <a:xfrm>
            <a:off x="8375904" y="2121408"/>
            <a:ext cx="3154680" cy="777240"/>
          </a:xfrm>
          <a:prstGeom prst="rect">
            <a:avLst/>
          </a:prstGeom>
          <a:noFill/>
          <a:ln/>
        </p:spPr>
        <p:txBody>
          <a:bodyPr wrap="square" lIns="0" tIns="0" rIns="0" bIns="0"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Someone is actively trying to cause harm.</a:t>
            </a:r>
            <a:endParaRPr lang="en-US" sz="1700" dirty="0"/>
          </a:p>
        </p:txBody>
      </p:sp>
      <p:sp>
        <p:nvSpPr>
          <p:cNvPr id="24" name="Text 22"/>
          <p:cNvSpPr/>
          <p:nvPr/>
        </p:nvSpPr>
        <p:spPr>
          <a:xfrm>
            <a:off x="8421624" y="2971800"/>
            <a:ext cx="310896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Malware, ransomware, keyloggers</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Hackers, insiders, criminals</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Social engineering and phishing</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DoS and DDoS attacks</a:t>
            </a:r>
            <a:endParaRPr lang="en-US" sz="1600" dirty="0"/>
          </a:p>
        </p:txBody>
      </p:sp>
      <p:sp>
        <p:nvSpPr>
          <p:cNvPr id="25" name="Shape 23"/>
          <p:cNvSpPr/>
          <p:nvPr/>
        </p:nvSpPr>
        <p:spPr>
          <a:xfrm>
            <a:off x="502920" y="5989320"/>
            <a:ext cx="11155680" cy="621792"/>
          </a:xfrm>
          <a:prstGeom prst="roundRect">
            <a:avLst>
              <a:gd name="adj" fmla="val 13235"/>
            </a:avLst>
          </a:prstGeom>
          <a:solidFill>
            <a:srgbClr val="FEF3C7"/>
          </a:solidFill>
          <a:ln w="12700">
            <a:solidFill>
              <a:srgbClr val="F59E0B"/>
            </a:solidFill>
            <a:prstDash val="solid"/>
          </a:ln>
        </p:spPr>
      </p:sp>
      <p:sp>
        <p:nvSpPr>
          <p:cNvPr id="26" name="Text 24"/>
          <p:cNvSpPr/>
          <p:nvPr/>
        </p:nvSpPr>
        <p:spPr>
          <a:xfrm>
            <a:off x="822960" y="5989320"/>
            <a:ext cx="10515600" cy="621792"/>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Note the difference in response: accidental threats are reduced by design and training, event-based threats by contingency planning, deliberate threats by active defences.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Rating a threat — likelihood × consequence</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This is how the warm-up argument gets settled</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1691640" y="1691640"/>
            <a:ext cx="1920240" cy="1170432"/>
          </a:xfrm>
          <a:prstGeom prst="rect">
            <a:avLst/>
          </a:prstGeom>
          <a:solidFill>
            <a:srgbClr val="FEF3C7"/>
          </a:solidFill>
          <a:ln w="25400">
            <a:solidFill>
              <a:srgbClr val="FFFFFF"/>
            </a:solidFill>
            <a:prstDash val="solid"/>
          </a:ln>
        </p:spPr>
      </p:sp>
      <p:sp>
        <p:nvSpPr>
          <p:cNvPr id="11" name="Text 9"/>
          <p:cNvSpPr/>
          <p:nvPr/>
        </p:nvSpPr>
        <p:spPr>
          <a:xfrm>
            <a:off x="1691640" y="1691640"/>
            <a:ext cx="1920240" cy="1170432"/>
          </a:xfrm>
          <a:prstGeom prst="rect">
            <a:avLst/>
          </a:prstGeom>
          <a:noFill/>
          <a:ln/>
        </p:spPr>
        <p:txBody>
          <a:bodyPr wrap="square" lIns="0" tIns="0" rIns="0" bIns="0" rtlCol="0" anchor="ctr"/>
          <a:lstStyle/>
          <a:p>
            <a:pPr algn="ctr" indent="0" marL="0">
              <a:buNone/>
            </a:pPr>
            <a:r>
              <a:rPr lang="en-US" sz="1900" b="1" dirty="0">
                <a:solidFill>
                  <a:srgbClr val="92400E"/>
                </a:solidFill>
                <a:latin typeface="Calibri" pitchFamily="34" charset="0"/>
                <a:ea typeface="Calibri" pitchFamily="34" charset="-122"/>
                <a:cs typeface="Calibri" pitchFamily="34" charset="-120"/>
              </a:rPr>
              <a:t>Medium</a:t>
            </a:r>
            <a:endParaRPr lang="en-US" sz="1900" dirty="0"/>
          </a:p>
        </p:txBody>
      </p:sp>
      <p:sp>
        <p:nvSpPr>
          <p:cNvPr id="12" name="Shape 10"/>
          <p:cNvSpPr/>
          <p:nvPr/>
        </p:nvSpPr>
        <p:spPr>
          <a:xfrm>
            <a:off x="3611880" y="1691640"/>
            <a:ext cx="1920240" cy="1170432"/>
          </a:xfrm>
          <a:prstGeom prst="rect">
            <a:avLst/>
          </a:prstGeom>
          <a:solidFill>
            <a:srgbClr val="FED7AA"/>
          </a:solidFill>
          <a:ln w="25400">
            <a:solidFill>
              <a:srgbClr val="FFFFFF"/>
            </a:solidFill>
            <a:prstDash val="solid"/>
          </a:ln>
        </p:spPr>
      </p:sp>
      <p:sp>
        <p:nvSpPr>
          <p:cNvPr id="13" name="Text 11"/>
          <p:cNvSpPr/>
          <p:nvPr/>
        </p:nvSpPr>
        <p:spPr>
          <a:xfrm>
            <a:off x="3611880" y="1691640"/>
            <a:ext cx="1920240" cy="1170432"/>
          </a:xfrm>
          <a:prstGeom prst="rect">
            <a:avLst/>
          </a:prstGeom>
          <a:noFill/>
          <a:ln/>
        </p:spPr>
        <p:txBody>
          <a:bodyPr wrap="square" lIns="0" tIns="0" rIns="0" bIns="0" rtlCol="0" anchor="ctr"/>
          <a:lstStyle/>
          <a:p>
            <a:pPr algn="ctr" indent="0" marL="0">
              <a:buNone/>
            </a:pPr>
            <a:r>
              <a:rPr lang="en-US" sz="1900" b="1" dirty="0">
                <a:solidFill>
                  <a:srgbClr val="9A3412"/>
                </a:solidFill>
                <a:latin typeface="Calibri" pitchFamily="34" charset="0"/>
                <a:ea typeface="Calibri" pitchFamily="34" charset="-122"/>
                <a:cs typeface="Calibri" pitchFamily="34" charset="-120"/>
              </a:rPr>
              <a:t>High</a:t>
            </a:r>
            <a:endParaRPr lang="en-US" sz="1900" dirty="0"/>
          </a:p>
        </p:txBody>
      </p:sp>
      <p:sp>
        <p:nvSpPr>
          <p:cNvPr id="14" name="Shape 12"/>
          <p:cNvSpPr/>
          <p:nvPr/>
        </p:nvSpPr>
        <p:spPr>
          <a:xfrm>
            <a:off x="5532120" y="1691640"/>
            <a:ext cx="1920240" cy="1170432"/>
          </a:xfrm>
          <a:prstGeom prst="rect">
            <a:avLst/>
          </a:prstGeom>
          <a:solidFill>
            <a:srgbClr val="FEE2E2"/>
          </a:solidFill>
          <a:ln w="25400">
            <a:solidFill>
              <a:srgbClr val="FFFFFF"/>
            </a:solidFill>
            <a:prstDash val="solid"/>
          </a:ln>
        </p:spPr>
      </p:sp>
      <p:sp>
        <p:nvSpPr>
          <p:cNvPr id="15" name="Text 13"/>
          <p:cNvSpPr/>
          <p:nvPr/>
        </p:nvSpPr>
        <p:spPr>
          <a:xfrm>
            <a:off x="5532120" y="1691640"/>
            <a:ext cx="1920240" cy="1170432"/>
          </a:xfrm>
          <a:prstGeom prst="rect">
            <a:avLst/>
          </a:prstGeom>
          <a:noFill/>
          <a:ln/>
        </p:spPr>
        <p:txBody>
          <a:bodyPr wrap="square" lIns="0" tIns="0" rIns="0" bIns="0" rtlCol="0" anchor="ctr"/>
          <a:lstStyle/>
          <a:p>
            <a:pPr algn="ctr" indent="0" marL="0">
              <a:buNone/>
            </a:pPr>
            <a:r>
              <a:rPr lang="en-US" sz="1900" b="1" dirty="0">
                <a:solidFill>
                  <a:srgbClr val="991B1B"/>
                </a:solidFill>
                <a:latin typeface="Calibri" pitchFamily="34" charset="0"/>
                <a:ea typeface="Calibri" pitchFamily="34" charset="-122"/>
                <a:cs typeface="Calibri" pitchFamily="34" charset="-120"/>
              </a:rPr>
              <a:t>Extreme</a:t>
            </a:r>
            <a:endParaRPr lang="en-US" sz="1900" dirty="0"/>
          </a:p>
        </p:txBody>
      </p:sp>
      <p:sp>
        <p:nvSpPr>
          <p:cNvPr id="16" name="Text 14"/>
          <p:cNvSpPr/>
          <p:nvPr/>
        </p:nvSpPr>
        <p:spPr>
          <a:xfrm>
            <a:off x="502920" y="1691640"/>
            <a:ext cx="1097280" cy="1170432"/>
          </a:xfrm>
          <a:prstGeom prst="rect">
            <a:avLst/>
          </a:prstGeom>
          <a:noFill/>
          <a:ln/>
        </p:spPr>
        <p:txBody>
          <a:bodyPr wrap="square" lIns="0" tIns="0" rIns="0" bIns="0" rtlCol="0" anchor="ctr"/>
          <a:lstStyle/>
          <a:p>
            <a:pPr algn="r" indent="0" marL="0">
              <a:buNone/>
            </a:pPr>
            <a:r>
              <a:rPr lang="en-US" sz="1400" b="1" dirty="0">
                <a:solidFill>
                  <a:srgbClr val="5B6472"/>
                </a:solidFill>
                <a:latin typeface="Courier New" pitchFamily="34" charset="0"/>
                <a:ea typeface="Courier New" pitchFamily="34" charset="-122"/>
                <a:cs typeface="Courier New" pitchFamily="34" charset="-120"/>
              </a:rPr>
              <a:t>Major</a:t>
            </a:r>
            <a:endParaRPr lang="en-US" sz="1400" dirty="0"/>
          </a:p>
        </p:txBody>
      </p:sp>
      <p:sp>
        <p:nvSpPr>
          <p:cNvPr id="17" name="Shape 15"/>
          <p:cNvSpPr/>
          <p:nvPr/>
        </p:nvSpPr>
        <p:spPr>
          <a:xfrm>
            <a:off x="1691640" y="2862072"/>
            <a:ext cx="1920240" cy="1170432"/>
          </a:xfrm>
          <a:prstGeom prst="rect">
            <a:avLst/>
          </a:prstGeom>
          <a:solidFill>
            <a:srgbClr val="D1FAE5"/>
          </a:solidFill>
          <a:ln w="25400">
            <a:solidFill>
              <a:srgbClr val="FFFFFF"/>
            </a:solidFill>
            <a:prstDash val="solid"/>
          </a:ln>
        </p:spPr>
      </p:sp>
      <p:sp>
        <p:nvSpPr>
          <p:cNvPr id="18" name="Text 16"/>
          <p:cNvSpPr/>
          <p:nvPr/>
        </p:nvSpPr>
        <p:spPr>
          <a:xfrm>
            <a:off x="1691640" y="2862072"/>
            <a:ext cx="1920240" cy="1170432"/>
          </a:xfrm>
          <a:prstGeom prst="rect">
            <a:avLst/>
          </a:prstGeom>
          <a:noFill/>
          <a:ln/>
        </p:spPr>
        <p:txBody>
          <a:bodyPr wrap="square" lIns="0" tIns="0" rIns="0" bIns="0" rtlCol="0" anchor="ctr"/>
          <a:lstStyle/>
          <a:p>
            <a:pPr algn="ctr" indent="0" marL="0">
              <a:buNone/>
            </a:pPr>
            <a:r>
              <a:rPr lang="en-US" sz="1900" b="1" dirty="0">
                <a:solidFill>
                  <a:srgbClr val="065F46"/>
                </a:solidFill>
                <a:latin typeface="Calibri" pitchFamily="34" charset="0"/>
                <a:ea typeface="Calibri" pitchFamily="34" charset="-122"/>
                <a:cs typeface="Calibri" pitchFamily="34" charset="-120"/>
              </a:rPr>
              <a:t>Low</a:t>
            </a:r>
            <a:endParaRPr lang="en-US" sz="1900" dirty="0"/>
          </a:p>
        </p:txBody>
      </p:sp>
      <p:sp>
        <p:nvSpPr>
          <p:cNvPr id="19" name="Shape 17"/>
          <p:cNvSpPr/>
          <p:nvPr/>
        </p:nvSpPr>
        <p:spPr>
          <a:xfrm>
            <a:off x="3611880" y="2862072"/>
            <a:ext cx="1920240" cy="1170432"/>
          </a:xfrm>
          <a:prstGeom prst="rect">
            <a:avLst/>
          </a:prstGeom>
          <a:solidFill>
            <a:srgbClr val="FEF3C7"/>
          </a:solidFill>
          <a:ln w="25400">
            <a:solidFill>
              <a:srgbClr val="FFFFFF"/>
            </a:solidFill>
            <a:prstDash val="solid"/>
          </a:ln>
        </p:spPr>
      </p:sp>
      <p:sp>
        <p:nvSpPr>
          <p:cNvPr id="20" name="Text 18"/>
          <p:cNvSpPr/>
          <p:nvPr/>
        </p:nvSpPr>
        <p:spPr>
          <a:xfrm>
            <a:off x="3611880" y="2862072"/>
            <a:ext cx="1920240" cy="1170432"/>
          </a:xfrm>
          <a:prstGeom prst="rect">
            <a:avLst/>
          </a:prstGeom>
          <a:noFill/>
          <a:ln/>
        </p:spPr>
        <p:txBody>
          <a:bodyPr wrap="square" lIns="0" tIns="0" rIns="0" bIns="0" rtlCol="0" anchor="ctr"/>
          <a:lstStyle/>
          <a:p>
            <a:pPr algn="ctr" indent="0" marL="0">
              <a:buNone/>
            </a:pPr>
            <a:r>
              <a:rPr lang="en-US" sz="1900" b="1" dirty="0">
                <a:solidFill>
                  <a:srgbClr val="92400E"/>
                </a:solidFill>
                <a:latin typeface="Calibri" pitchFamily="34" charset="0"/>
                <a:ea typeface="Calibri" pitchFamily="34" charset="-122"/>
                <a:cs typeface="Calibri" pitchFamily="34" charset="-120"/>
              </a:rPr>
              <a:t>Medium</a:t>
            </a:r>
            <a:endParaRPr lang="en-US" sz="1900" dirty="0"/>
          </a:p>
        </p:txBody>
      </p:sp>
      <p:sp>
        <p:nvSpPr>
          <p:cNvPr id="21" name="Shape 19"/>
          <p:cNvSpPr/>
          <p:nvPr/>
        </p:nvSpPr>
        <p:spPr>
          <a:xfrm>
            <a:off x="5532120" y="2862072"/>
            <a:ext cx="1920240" cy="1170432"/>
          </a:xfrm>
          <a:prstGeom prst="rect">
            <a:avLst/>
          </a:prstGeom>
          <a:solidFill>
            <a:srgbClr val="FED7AA"/>
          </a:solidFill>
          <a:ln w="25400">
            <a:solidFill>
              <a:srgbClr val="FFFFFF"/>
            </a:solidFill>
            <a:prstDash val="solid"/>
          </a:ln>
        </p:spPr>
      </p:sp>
      <p:sp>
        <p:nvSpPr>
          <p:cNvPr id="22" name="Text 20"/>
          <p:cNvSpPr/>
          <p:nvPr/>
        </p:nvSpPr>
        <p:spPr>
          <a:xfrm>
            <a:off x="5532120" y="2862072"/>
            <a:ext cx="1920240" cy="1170432"/>
          </a:xfrm>
          <a:prstGeom prst="rect">
            <a:avLst/>
          </a:prstGeom>
          <a:noFill/>
          <a:ln/>
        </p:spPr>
        <p:txBody>
          <a:bodyPr wrap="square" lIns="0" tIns="0" rIns="0" bIns="0" rtlCol="0" anchor="ctr"/>
          <a:lstStyle/>
          <a:p>
            <a:pPr algn="ctr" indent="0" marL="0">
              <a:buNone/>
            </a:pPr>
            <a:r>
              <a:rPr lang="en-US" sz="1900" b="1" dirty="0">
                <a:solidFill>
                  <a:srgbClr val="9A3412"/>
                </a:solidFill>
                <a:latin typeface="Calibri" pitchFamily="34" charset="0"/>
                <a:ea typeface="Calibri" pitchFamily="34" charset="-122"/>
                <a:cs typeface="Calibri" pitchFamily="34" charset="-120"/>
              </a:rPr>
              <a:t>High</a:t>
            </a:r>
            <a:endParaRPr lang="en-US" sz="1900" dirty="0"/>
          </a:p>
        </p:txBody>
      </p:sp>
      <p:sp>
        <p:nvSpPr>
          <p:cNvPr id="23" name="Text 21"/>
          <p:cNvSpPr/>
          <p:nvPr/>
        </p:nvSpPr>
        <p:spPr>
          <a:xfrm>
            <a:off x="502920" y="2862072"/>
            <a:ext cx="1097280" cy="1170432"/>
          </a:xfrm>
          <a:prstGeom prst="rect">
            <a:avLst/>
          </a:prstGeom>
          <a:noFill/>
          <a:ln/>
        </p:spPr>
        <p:txBody>
          <a:bodyPr wrap="square" lIns="0" tIns="0" rIns="0" bIns="0" rtlCol="0" anchor="ctr"/>
          <a:lstStyle/>
          <a:p>
            <a:pPr algn="r" indent="0" marL="0">
              <a:buNone/>
            </a:pPr>
            <a:r>
              <a:rPr lang="en-US" sz="1400" b="1" dirty="0">
                <a:solidFill>
                  <a:srgbClr val="5B6472"/>
                </a:solidFill>
                <a:latin typeface="Courier New" pitchFamily="34" charset="0"/>
                <a:ea typeface="Courier New" pitchFamily="34" charset="-122"/>
                <a:cs typeface="Courier New" pitchFamily="34" charset="-120"/>
              </a:rPr>
              <a:t>Moderate</a:t>
            </a:r>
            <a:endParaRPr lang="en-US" sz="1400" dirty="0"/>
          </a:p>
        </p:txBody>
      </p:sp>
      <p:sp>
        <p:nvSpPr>
          <p:cNvPr id="24" name="Shape 22"/>
          <p:cNvSpPr/>
          <p:nvPr/>
        </p:nvSpPr>
        <p:spPr>
          <a:xfrm>
            <a:off x="1691640" y="4032504"/>
            <a:ext cx="1920240" cy="1170432"/>
          </a:xfrm>
          <a:prstGeom prst="rect">
            <a:avLst/>
          </a:prstGeom>
          <a:solidFill>
            <a:srgbClr val="D1FAE5"/>
          </a:solidFill>
          <a:ln w="25400">
            <a:solidFill>
              <a:srgbClr val="FFFFFF"/>
            </a:solidFill>
            <a:prstDash val="solid"/>
          </a:ln>
        </p:spPr>
      </p:sp>
      <p:sp>
        <p:nvSpPr>
          <p:cNvPr id="25" name="Text 23"/>
          <p:cNvSpPr/>
          <p:nvPr/>
        </p:nvSpPr>
        <p:spPr>
          <a:xfrm>
            <a:off x="1691640" y="4032504"/>
            <a:ext cx="1920240" cy="1170432"/>
          </a:xfrm>
          <a:prstGeom prst="rect">
            <a:avLst/>
          </a:prstGeom>
          <a:noFill/>
          <a:ln/>
        </p:spPr>
        <p:txBody>
          <a:bodyPr wrap="square" lIns="0" tIns="0" rIns="0" bIns="0" rtlCol="0" anchor="ctr"/>
          <a:lstStyle/>
          <a:p>
            <a:pPr algn="ctr" indent="0" marL="0">
              <a:buNone/>
            </a:pPr>
            <a:r>
              <a:rPr lang="en-US" sz="1900" b="1" dirty="0">
                <a:solidFill>
                  <a:srgbClr val="065F46"/>
                </a:solidFill>
                <a:latin typeface="Calibri" pitchFamily="34" charset="0"/>
                <a:ea typeface="Calibri" pitchFamily="34" charset="-122"/>
                <a:cs typeface="Calibri" pitchFamily="34" charset="-120"/>
              </a:rPr>
              <a:t>Low</a:t>
            </a:r>
            <a:endParaRPr lang="en-US" sz="1900" dirty="0"/>
          </a:p>
        </p:txBody>
      </p:sp>
      <p:sp>
        <p:nvSpPr>
          <p:cNvPr id="26" name="Shape 24"/>
          <p:cNvSpPr/>
          <p:nvPr/>
        </p:nvSpPr>
        <p:spPr>
          <a:xfrm>
            <a:off x="3611880" y="4032504"/>
            <a:ext cx="1920240" cy="1170432"/>
          </a:xfrm>
          <a:prstGeom prst="rect">
            <a:avLst/>
          </a:prstGeom>
          <a:solidFill>
            <a:srgbClr val="D1FAE5"/>
          </a:solidFill>
          <a:ln w="25400">
            <a:solidFill>
              <a:srgbClr val="FFFFFF"/>
            </a:solidFill>
            <a:prstDash val="solid"/>
          </a:ln>
        </p:spPr>
      </p:sp>
      <p:sp>
        <p:nvSpPr>
          <p:cNvPr id="27" name="Text 25"/>
          <p:cNvSpPr/>
          <p:nvPr/>
        </p:nvSpPr>
        <p:spPr>
          <a:xfrm>
            <a:off x="3611880" y="4032504"/>
            <a:ext cx="1920240" cy="1170432"/>
          </a:xfrm>
          <a:prstGeom prst="rect">
            <a:avLst/>
          </a:prstGeom>
          <a:noFill/>
          <a:ln/>
        </p:spPr>
        <p:txBody>
          <a:bodyPr wrap="square" lIns="0" tIns="0" rIns="0" bIns="0" rtlCol="0" anchor="ctr"/>
          <a:lstStyle/>
          <a:p>
            <a:pPr algn="ctr" indent="0" marL="0">
              <a:buNone/>
            </a:pPr>
            <a:r>
              <a:rPr lang="en-US" sz="1900" b="1" dirty="0">
                <a:solidFill>
                  <a:srgbClr val="065F46"/>
                </a:solidFill>
                <a:latin typeface="Calibri" pitchFamily="34" charset="0"/>
                <a:ea typeface="Calibri" pitchFamily="34" charset="-122"/>
                <a:cs typeface="Calibri" pitchFamily="34" charset="-120"/>
              </a:rPr>
              <a:t>Low</a:t>
            </a:r>
            <a:endParaRPr lang="en-US" sz="1900" dirty="0"/>
          </a:p>
        </p:txBody>
      </p:sp>
      <p:sp>
        <p:nvSpPr>
          <p:cNvPr id="28" name="Shape 26"/>
          <p:cNvSpPr/>
          <p:nvPr/>
        </p:nvSpPr>
        <p:spPr>
          <a:xfrm>
            <a:off x="5532120" y="4032504"/>
            <a:ext cx="1920240" cy="1170432"/>
          </a:xfrm>
          <a:prstGeom prst="rect">
            <a:avLst/>
          </a:prstGeom>
          <a:solidFill>
            <a:srgbClr val="FEF3C7"/>
          </a:solidFill>
          <a:ln w="25400">
            <a:solidFill>
              <a:srgbClr val="FFFFFF"/>
            </a:solidFill>
            <a:prstDash val="solid"/>
          </a:ln>
        </p:spPr>
      </p:sp>
      <p:sp>
        <p:nvSpPr>
          <p:cNvPr id="29" name="Text 27"/>
          <p:cNvSpPr/>
          <p:nvPr/>
        </p:nvSpPr>
        <p:spPr>
          <a:xfrm>
            <a:off x="5532120" y="4032504"/>
            <a:ext cx="1920240" cy="1170432"/>
          </a:xfrm>
          <a:prstGeom prst="rect">
            <a:avLst/>
          </a:prstGeom>
          <a:noFill/>
          <a:ln/>
        </p:spPr>
        <p:txBody>
          <a:bodyPr wrap="square" lIns="0" tIns="0" rIns="0" bIns="0" rtlCol="0" anchor="ctr"/>
          <a:lstStyle/>
          <a:p>
            <a:pPr algn="ctr" indent="0" marL="0">
              <a:buNone/>
            </a:pPr>
            <a:r>
              <a:rPr lang="en-US" sz="1900" b="1" dirty="0">
                <a:solidFill>
                  <a:srgbClr val="92400E"/>
                </a:solidFill>
                <a:latin typeface="Calibri" pitchFamily="34" charset="0"/>
                <a:ea typeface="Calibri" pitchFamily="34" charset="-122"/>
                <a:cs typeface="Calibri" pitchFamily="34" charset="-120"/>
              </a:rPr>
              <a:t>Medium</a:t>
            </a:r>
            <a:endParaRPr lang="en-US" sz="1900" dirty="0"/>
          </a:p>
        </p:txBody>
      </p:sp>
      <p:sp>
        <p:nvSpPr>
          <p:cNvPr id="30" name="Text 28"/>
          <p:cNvSpPr/>
          <p:nvPr/>
        </p:nvSpPr>
        <p:spPr>
          <a:xfrm>
            <a:off x="502920" y="4032504"/>
            <a:ext cx="1097280" cy="1170432"/>
          </a:xfrm>
          <a:prstGeom prst="rect">
            <a:avLst/>
          </a:prstGeom>
          <a:noFill/>
          <a:ln/>
        </p:spPr>
        <p:txBody>
          <a:bodyPr wrap="square" lIns="0" tIns="0" rIns="0" bIns="0" rtlCol="0" anchor="ctr"/>
          <a:lstStyle/>
          <a:p>
            <a:pPr algn="r" indent="0" marL="0">
              <a:buNone/>
            </a:pPr>
            <a:r>
              <a:rPr lang="en-US" sz="1400" b="1" dirty="0">
                <a:solidFill>
                  <a:srgbClr val="5B6472"/>
                </a:solidFill>
                <a:latin typeface="Courier New" pitchFamily="34" charset="0"/>
                <a:ea typeface="Courier New" pitchFamily="34" charset="-122"/>
                <a:cs typeface="Courier New" pitchFamily="34" charset="-120"/>
              </a:rPr>
              <a:t>Minor</a:t>
            </a:r>
            <a:endParaRPr lang="en-US" sz="1400" dirty="0"/>
          </a:p>
        </p:txBody>
      </p:sp>
      <p:sp>
        <p:nvSpPr>
          <p:cNvPr id="31" name="Text 29"/>
          <p:cNvSpPr/>
          <p:nvPr/>
        </p:nvSpPr>
        <p:spPr>
          <a:xfrm>
            <a:off x="1691640" y="5248656"/>
            <a:ext cx="1920240" cy="365760"/>
          </a:xfrm>
          <a:prstGeom prst="rect">
            <a:avLst/>
          </a:prstGeom>
          <a:noFill/>
          <a:ln/>
        </p:spPr>
        <p:txBody>
          <a:bodyPr wrap="square" lIns="0" tIns="0" rIns="0" bIns="0" rtlCol="0" anchor="ctr"/>
          <a:lstStyle/>
          <a:p>
            <a:pPr algn="ctr" indent="0" marL="0">
              <a:buNone/>
            </a:pPr>
            <a:r>
              <a:rPr lang="en-US" sz="1400" b="1" dirty="0">
                <a:solidFill>
                  <a:srgbClr val="5B6472"/>
                </a:solidFill>
                <a:latin typeface="Courier New" pitchFamily="34" charset="0"/>
                <a:ea typeface="Courier New" pitchFamily="34" charset="-122"/>
                <a:cs typeface="Courier New" pitchFamily="34" charset="-120"/>
              </a:rPr>
              <a:t>Unlikely</a:t>
            </a:r>
            <a:endParaRPr lang="en-US" sz="1400" dirty="0"/>
          </a:p>
        </p:txBody>
      </p:sp>
      <p:sp>
        <p:nvSpPr>
          <p:cNvPr id="32" name="Text 30"/>
          <p:cNvSpPr/>
          <p:nvPr/>
        </p:nvSpPr>
        <p:spPr>
          <a:xfrm>
            <a:off x="3611880" y="5248656"/>
            <a:ext cx="1920240" cy="365760"/>
          </a:xfrm>
          <a:prstGeom prst="rect">
            <a:avLst/>
          </a:prstGeom>
          <a:noFill/>
          <a:ln/>
        </p:spPr>
        <p:txBody>
          <a:bodyPr wrap="square" lIns="0" tIns="0" rIns="0" bIns="0" rtlCol="0" anchor="ctr"/>
          <a:lstStyle/>
          <a:p>
            <a:pPr algn="ctr" indent="0" marL="0">
              <a:buNone/>
            </a:pPr>
            <a:r>
              <a:rPr lang="en-US" sz="1400" b="1" dirty="0">
                <a:solidFill>
                  <a:srgbClr val="5B6472"/>
                </a:solidFill>
                <a:latin typeface="Courier New" pitchFamily="34" charset="0"/>
                <a:ea typeface="Courier New" pitchFamily="34" charset="-122"/>
                <a:cs typeface="Courier New" pitchFamily="34" charset="-120"/>
              </a:rPr>
              <a:t>Possible</a:t>
            </a:r>
            <a:endParaRPr lang="en-US" sz="1400" dirty="0"/>
          </a:p>
        </p:txBody>
      </p:sp>
      <p:sp>
        <p:nvSpPr>
          <p:cNvPr id="33" name="Text 31"/>
          <p:cNvSpPr/>
          <p:nvPr/>
        </p:nvSpPr>
        <p:spPr>
          <a:xfrm>
            <a:off x="5532120" y="5248656"/>
            <a:ext cx="1920240" cy="365760"/>
          </a:xfrm>
          <a:prstGeom prst="rect">
            <a:avLst/>
          </a:prstGeom>
          <a:noFill/>
          <a:ln/>
        </p:spPr>
        <p:txBody>
          <a:bodyPr wrap="square" lIns="0" tIns="0" rIns="0" bIns="0" rtlCol="0" anchor="ctr"/>
          <a:lstStyle/>
          <a:p>
            <a:pPr algn="ctr" indent="0" marL="0">
              <a:buNone/>
            </a:pPr>
            <a:r>
              <a:rPr lang="en-US" sz="1400" b="1" dirty="0">
                <a:solidFill>
                  <a:srgbClr val="5B6472"/>
                </a:solidFill>
                <a:latin typeface="Courier New" pitchFamily="34" charset="0"/>
                <a:ea typeface="Courier New" pitchFamily="34" charset="-122"/>
                <a:cs typeface="Courier New" pitchFamily="34" charset="-120"/>
              </a:rPr>
              <a:t>Likely</a:t>
            </a:r>
            <a:endParaRPr lang="en-US" sz="1400" dirty="0"/>
          </a:p>
        </p:txBody>
      </p:sp>
      <p:sp>
        <p:nvSpPr>
          <p:cNvPr id="34" name="Text 32"/>
          <p:cNvSpPr/>
          <p:nvPr/>
        </p:nvSpPr>
        <p:spPr>
          <a:xfrm>
            <a:off x="182880" y="1298448"/>
            <a:ext cx="1463040" cy="320040"/>
          </a:xfrm>
          <a:prstGeom prst="rect">
            <a:avLst/>
          </a:prstGeom>
          <a:noFill/>
          <a:ln/>
        </p:spPr>
        <p:txBody>
          <a:bodyPr wrap="square" lIns="0" tIns="0" rIns="0" bIns="0" rtlCol="0" anchor="ctr"/>
          <a:lstStyle/>
          <a:p>
            <a:pPr indent="0" marL="0">
              <a:buNone/>
            </a:pPr>
            <a:r>
              <a:rPr lang="en-US" sz="1100" b="1" dirty="0">
                <a:solidFill>
                  <a:srgbClr val="4361EE"/>
                </a:solidFill>
                <a:latin typeface="Courier New" pitchFamily="34" charset="0"/>
                <a:ea typeface="Courier New" pitchFamily="34" charset="-122"/>
                <a:cs typeface="Courier New" pitchFamily="34" charset="-120"/>
              </a:rPr>
              <a:t>CONSEQUENCE</a:t>
            </a:r>
            <a:endParaRPr lang="en-US" sz="1100" dirty="0"/>
          </a:p>
        </p:txBody>
      </p:sp>
      <p:sp>
        <p:nvSpPr>
          <p:cNvPr id="35" name="Text 33"/>
          <p:cNvSpPr/>
          <p:nvPr/>
        </p:nvSpPr>
        <p:spPr>
          <a:xfrm>
            <a:off x="1691640" y="5660136"/>
            <a:ext cx="5760720" cy="320040"/>
          </a:xfrm>
          <a:prstGeom prst="rect">
            <a:avLst/>
          </a:prstGeom>
          <a:noFill/>
          <a:ln/>
        </p:spPr>
        <p:txBody>
          <a:bodyPr wrap="square" lIns="0" tIns="0" rIns="0" bIns="0" rtlCol="0" anchor="ctr"/>
          <a:lstStyle/>
          <a:p>
            <a:pPr algn="ctr" indent="0" marL="0">
              <a:buNone/>
            </a:pPr>
            <a:r>
              <a:rPr lang="en-US" sz="1100" b="1" dirty="0">
                <a:solidFill>
                  <a:srgbClr val="4361EE"/>
                </a:solidFill>
                <a:latin typeface="Courier New" pitchFamily="34" charset="0"/>
                <a:ea typeface="Courier New" pitchFamily="34" charset="-122"/>
                <a:cs typeface="Courier New" pitchFamily="34" charset="-120"/>
              </a:rPr>
              <a:t>LIKELIHOOD</a:t>
            </a:r>
            <a:endParaRPr lang="en-US" sz="1100" dirty="0"/>
          </a:p>
        </p:txBody>
      </p:sp>
      <p:sp>
        <p:nvSpPr>
          <p:cNvPr id="36" name="Shape 34"/>
          <p:cNvSpPr/>
          <p:nvPr/>
        </p:nvSpPr>
        <p:spPr>
          <a:xfrm>
            <a:off x="7726680" y="1691640"/>
            <a:ext cx="3931920" cy="4206240"/>
          </a:xfrm>
          <a:prstGeom prst="roundRect">
            <a:avLst>
              <a:gd name="adj" fmla="val 2093"/>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37" name="Text 35"/>
          <p:cNvSpPr/>
          <p:nvPr/>
        </p:nvSpPr>
        <p:spPr>
          <a:xfrm>
            <a:off x="7955280" y="1874520"/>
            <a:ext cx="3474720" cy="365760"/>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Reading the matrix</a:t>
            </a:r>
            <a:endParaRPr lang="en-US" sz="2000" dirty="0"/>
          </a:p>
        </p:txBody>
      </p:sp>
      <p:sp>
        <p:nvSpPr>
          <p:cNvPr id="38" name="Text 36"/>
          <p:cNvSpPr/>
          <p:nvPr/>
        </p:nvSpPr>
        <p:spPr>
          <a:xfrm>
            <a:off x="8001000" y="2331720"/>
            <a:ext cx="3429000" cy="33832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A rare event with catastrophic consequences can still outrank a weekly nuisance.</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A cheap, likely, low-damage threat is often fixed first anyway because it is easy.</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Extreme risks must be escalated to management — they are not a developer's call.</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The rating is a judgement, so the reasoning behind it must be recorded.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Principle 2 — Mitigating threats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Four legitimate responses to a rated threat</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17320"/>
            <a:ext cx="11155680" cy="1097280"/>
          </a:xfrm>
          <a:prstGeom prst="roundRect">
            <a:avLst>
              <a:gd name="adj" fmla="val 7500"/>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1764792"/>
            <a:ext cx="1554480" cy="402336"/>
          </a:xfrm>
          <a:prstGeom prst="roundRect">
            <a:avLst>
              <a:gd name="adj" fmla="val 50000"/>
            </a:avLst>
          </a:prstGeom>
          <a:solidFill>
            <a:srgbClr val="10B981"/>
          </a:solidFill>
          <a:ln/>
        </p:spPr>
      </p:sp>
      <p:sp>
        <p:nvSpPr>
          <p:cNvPr id="12" name="Text 10"/>
          <p:cNvSpPr/>
          <p:nvPr/>
        </p:nvSpPr>
        <p:spPr>
          <a:xfrm>
            <a:off x="731520" y="1764792"/>
            <a:ext cx="155448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REDUCE</a:t>
            </a:r>
            <a:endParaRPr lang="en-US" sz="1200" dirty="0"/>
          </a:p>
        </p:txBody>
      </p:sp>
      <p:sp>
        <p:nvSpPr>
          <p:cNvPr id="13" name="Text 11"/>
          <p:cNvSpPr/>
          <p:nvPr/>
        </p:nvSpPr>
        <p:spPr>
          <a:xfrm>
            <a:off x="2468880" y="1527048"/>
            <a:ext cx="4663440" cy="896112"/>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Put a control in place that lowers the likelihood or the consequence.</a:t>
            </a:r>
            <a:endParaRPr lang="en-US" sz="1800" dirty="0"/>
          </a:p>
        </p:txBody>
      </p:sp>
      <p:sp>
        <p:nvSpPr>
          <p:cNvPr id="14" name="Text 12"/>
          <p:cNvSpPr/>
          <p:nvPr/>
        </p:nvSpPr>
        <p:spPr>
          <a:xfrm>
            <a:off x="7315200" y="1527048"/>
            <a:ext cx="4160520" cy="896112"/>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Enforce MFA on the code repository; encrypt the customer database.</a:t>
            </a:r>
            <a:endParaRPr lang="en-US" sz="1600" dirty="0"/>
          </a:p>
        </p:txBody>
      </p:sp>
      <p:sp>
        <p:nvSpPr>
          <p:cNvPr id="15" name="Shape 13"/>
          <p:cNvSpPr/>
          <p:nvPr/>
        </p:nvSpPr>
        <p:spPr>
          <a:xfrm>
            <a:off x="502920" y="2606040"/>
            <a:ext cx="11155680" cy="1097280"/>
          </a:xfrm>
          <a:prstGeom prst="roundRect">
            <a:avLst>
              <a:gd name="adj" fmla="val 7500"/>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6" name="Shape 14"/>
          <p:cNvSpPr/>
          <p:nvPr/>
        </p:nvSpPr>
        <p:spPr>
          <a:xfrm>
            <a:off x="731520" y="2953512"/>
            <a:ext cx="1554480" cy="402336"/>
          </a:xfrm>
          <a:prstGeom prst="roundRect">
            <a:avLst>
              <a:gd name="adj" fmla="val 50000"/>
            </a:avLst>
          </a:prstGeom>
          <a:solidFill>
            <a:srgbClr val="4361EE"/>
          </a:solidFill>
          <a:ln/>
        </p:spPr>
      </p:sp>
      <p:sp>
        <p:nvSpPr>
          <p:cNvPr id="17" name="Text 15"/>
          <p:cNvSpPr/>
          <p:nvPr/>
        </p:nvSpPr>
        <p:spPr>
          <a:xfrm>
            <a:off x="731520" y="2953512"/>
            <a:ext cx="155448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AVOID</a:t>
            </a:r>
            <a:endParaRPr lang="en-US" sz="1200" dirty="0"/>
          </a:p>
        </p:txBody>
      </p:sp>
      <p:sp>
        <p:nvSpPr>
          <p:cNvPr id="18" name="Text 16"/>
          <p:cNvSpPr/>
          <p:nvPr/>
        </p:nvSpPr>
        <p:spPr>
          <a:xfrm>
            <a:off x="2468880" y="2715768"/>
            <a:ext cx="4663440" cy="896112"/>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Stop doing the risky thing at all.</a:t>
            </a:r>
            <a:endParaRPr lang="en-US" sz="1800" dirty="0"/>
          </a:p>
        </p:txBody>
      </p:sp>
      <p:sp>
        <p:nvSpPr>
          <p:cNvPr id="19" name="Text 17"/>
          <p:cNvSpPr/>
          <p:nvPr/>
        </p:nvSpPr>
        <p:spPr>
          <a:xfrm>
            <a:off x="7315200" y="2715768"/>
            <a:ext cx="4160520" cy="896112"/>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Stop storing card numbers; use a payment gateway that holds them instead.</a:t>
            </a:r>
            <a:endParaRPr lang="en-US" sz="1600" dirty="0"/>
          </a:p>
        </p:txBody>
      </p:sp>
      <p:sp>
        <p:nvSpPr>
          <p:cNvPr id="20" name="Shape 18"/>
          <p:cNvSpPr/>
          <p:nvPr/>
        </p:nvSpPr>
        <p:spPr>
          <a:xfrm>
            <a:off x="502920" y="3794760"/>
            <a:ext cx="11155680" cy="1097280"/>
          </a:xfrm>
          <a:prstGeom prst="roundRect">
            <a:avLst>
              <a:gd name="adj" fmla="val 7500"/>
            </a:avLst>
          </a:prstGeom>
          <a:solidFill>
            <a:srgbClr val="FFFFFF"/>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731520" y="4142232"/>
            <a:ext cx="1554480" cy="402336"/>
          </a:xfrm>
          <a:prstGeom prst="roundRect">
            <a:avLst>
              <a:gd name="adj" fmla="val 50000"/>
            </a:avLst>
          </a:prstGeom>
          <a:solidFill>
            <a:srgbClr val="F59E0B"/>
          </a:solidFill>
          <a:ln/>
        </p:spPr>
      </p:sp>
      <p:sp>
        <p:nvSpPr>
          <p:cNvPr id="22" name="Text 20"/>
          <p:cNvSpPr/>
          <p:nvPr/>
        </p:nvSpPr>
        <p:spPr>
          <a:xfrm>
            <a:off x="731520" y="4142232"/>
            <a:ext cx="155448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TRANSFER</a:t>
            </a:r>
            <a:endParaRPr lang="en-US" sz="1200" dirty="0"/>
          </a:p>
        </p:txBody>
      </p:sp>
      <p:sp>
        <p:nvSpPr>
          <p:cNvPr id="23" name="Text 21"/>
          <p:cNvSpPr/>
          <p:nvPr/>
        </p:nvSpPr>
        <p:spPr>
          <a:xfrm>
            <a:off x="2468880" y="3904488"/>
            <a:ext cx="4663440" cy="896112"/>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Move the financial consequence to someone else.</a:t>
            </a:r>
            <a:endParaRPr lang="en-US" sz="1800" dirty="0"/>
          </a:p>
        </p:txBody>
      </p:sp>
      <p:sp>
        <p:nvSpPr>
          <p:cNvPr id="24" name="Text 22"/>
          <p:cNvSpPr/>
          <p:nvPr/>
        </p:nvSpPr>
        <p:spPr>
          <a:xfrm>
            <a:off x="7315200" y="3904488"/>
            <a:ext cx="4160520" cy="896112"/>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Cyber insurance; a hosting contract where the provider carries uptime penalties.</a:t>
            </a:r>
            <a:endParaRPr lang="en-US" sz="1600" dirty="0"/>
          </a:p>
        </p:txBody>
      </p:sp>
      <p:sp>
        <p:nvSpPr>
          <p:cNvPr id="25" name="Shape 23"/>
          <p:cNvSpPr/>
          <p:nvPr/>
        </p:nvSpPr>
        <p:spPr>
          <a:xfrm>
            <a:off x="502920" y="4983480"/>
            <a:ext cx="11155680" cy="1097280"/>
          </a:xfrm>
          <a:prstGeom prst="roundRect">
            <a:avLst>
              <a:gd name="adj" fmla="val 7500"/>
            </a:avLst>
          </a:prstGeom>
          <a:solidFill>
            <a:srgbClr val="FFFFFF"/>
          </a:solidFill>
          <a:ln w="12700">
            <a:solidFill>
              <a:srgbClr val="5B6472"/>
            </a:solidFill>
            <a:prstDash val="solid"/>
          </a:ln>
          <a:effectLst>
            <a:outerShdw sx="100000" sy="100000" kx="0" ky="0" algn="bl" rotWithShape="0" blurRad="101600" dist="25400" dir="5400000">
              <a:srgbClr val="9AA3B2">
                <a:alpha val="18000"/>
              </a:srgbClr>
            </a:outerShdw>
          </a:effectLst>
        </p:spPr>
      </p:sp>
      <p:sp>
        <p:nvSpPr>
          <p:cNvPr id="26" name="Shape 24"/>
          <p:cNvSpPr/>
          <p:nvPr/>
        </p:nvSpPr>
        <p:spPr>
          <a:xfrm>
            <a:off x="731520" y="5330952"/>
            <a:ext cx="1554480" cy="402336"/>
          </a:xfrm>
          <a:prstGeom prst="roundRect">
            <a:avLst>
              <a:gd name="adj" fmla="val 50000"/>
            </a:avLst>
          </a:prstGeom>
          <a:solidFill>
            <a:srgbClr val="5B6472"/>
          </a:solidFill>
          <a:ln/>
        </p:spPr>
      </p:sp>
      <p:sp>
        <p:nvSpPr>
          <p:cNvPr id="27" name="Text 25"/>
          <p:cNvSpPr/>
          <p:nvPr/>
        </p:nvSpPr>
        <p:spPr>
          <a:xfrm>
            <a:off x="731520" y="5330952"/>
            <a:ext cx="155448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ACCEPT</a:t>
            </a:r>
            <a:endParaRPr lang="en-US" sz="1200" dirty="0"/>
          </a:p>
        </p:txBody>
      </p:sp>
      <p:sp>
        <p:nvSpPr>
          <p:cNvPr id="28" name="Text 26"/>
          <p:cNvSpPr/>
          <p:nvPr/>
        </p:nvSpPr>
        <p:spPr>
          <a:xfrm>
            <a:off x="2468880" y="5093208"/>
            <a:ext cx="4663440" cy="896112"/>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Consciously decide to live with it, and record that decision.</a:t>
            </a:r>
            <a:endParaRPr lang="en-US" sz="1800" dirty="0"/>
          </a:p>
        </p:txBody>
      </p:sp>
      <p:sp>
        <p:nvSpPr>
          <p:cNvPr id="29" name="Text 27"/>
          <p:cNvSpPr/>
          <p:nvPr/>
        </p:nvSpPr>
        <p:spPr>
          <a:xfrm>
            <a:off x="7315200" y="5093208"/>
            <a:ext cx="4160520" cy="896112"/>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A two-minute outage during the nightly deploy window is tolerated.</a:t>
            </a:r>
            <a:endParaRPr lang="en-US" sz="1600" dirty="0"/>
          </a:p>
        </p:txBody>
      </p:sp>
      <p:sp>
        <p:nvSpPr>
          <p:cNvPr id="30" name="Shape 28"/>
          <p:cNvSpPr/>
          <p:nvPr/>
        </p:nvSpPr>
        <p:spPr>
          <a:xfrm>
            <a:off x="502920" y="6172200"/>
            <a:ext cx="11155680" cy="502920"/>
          </a:xfrm>
          <a:prstGeom prst="roundRect">
            <a:avLst>
              <a:gd name="adj" fmla="val 16364"/>
            </a:avLst>
          </a:prstGeom>
          <a:solidFill>
            <a:srgbClr val="FEE2E2"/>
          </a:solidFill>
          <a:ln w="12700">
            <a:solidFill>
              <a:srgbClr val="EF4444"/>
            </a:solidFill>
            <a:prstDash val="solid"/>
          </a:ln>
        </p:spPr>
      </p:sp>
      <p:sp>
        <p:nvSpPr>
          <p:cNvPr id="31" name="Text 29"/>
          <p:cNvSpPr/>
          <p:nvPr/>
        </p:nvSpPr>
        <p:spPr>
          <a:xfrm>
            <a:off x="822960" y="6172200"/>
            <a:ext cx="10515600" cy="50292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Ignoring a threat is not the same as accepting it. Acceptance is documented, dated and approved by someone with the authority to carry the consequence.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Worked example — Aurora Ticketing</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One asset from the threat model, worked end to end</a:t>
            </a:r>
            <a:endParaRPr lang="en-US" sz="1500" dirty="0"/>
          </a:p>
        </p:txBody>
      </p:sp>
      <p:sp>
        <p:nvSpPr>
          <p:cNvPr id="8" name="Shape 6"/>
          <p:cNvSpPr/>
          <p:nvPr/>
        </p:nvSpPr>
        <p:spPr>
          <a:xfrm>
            <a:off x="502920" y="1234440"/>
            <a:ext cx="11155680" cy="685800"/>
          </a:xfrm>
          <a:prstGeom prst="roundRect">
            <a:avLst>
              <a:gd name="adj" fmla="val 12000"/>
            </a:avLst>
          </a:prstGeom>
          <a:solidFill>
            <a:srgbClr val="EEF2FF"/>
          </a:solidFill>
          <a:ln w="12700">
            <a:solidFill>
              <a:srgbClr val="4361EE"/>
            </a:solidFill>
            <a:prstDash val="solid"/>
          </a:ln>
        </p:spPr>
      </p:sp>
      <p:sp>
        <p:nvSpPr>
          <p:cNvPr id="9" name="Text 7"/>
          <p:cNvSpPr/>
          <p:nvPr/>
        </p:nvSpPr>
        <p:spPr>
          <a:xfrm>
            <a:off x="822960" y="1234440"/>
            <a:ext cx="10515600" cy="685800"/>
          </a:xfrm>
          <a:prstGeom prst="rect">
            <a:avLst/>
          </a:prstGeom>
          <a:noFill/>
          <a:ln/>
        </p:spPr>
        <p:txBody>
          <a:bodyPr wrap="square" lIns="0" tIns="0" rIns="0" bIns="0" rtlCol="0" anchor="ctr"/>
          <a:lstStyle/>
          <a:p>
            <a:pPr indent="0" marL="0">
              <a:buNone/>
            </a:pPr>
            <a:r>
              <a:rPr lang="en-US" sz="1700" b="1" dirty="0">
                <a:solidFill>
                  <a:srgbClr val="4361EE"/>
                </a:solidFill>
                <a:latin typeface="Courier New" pitchFamily="34" charset="0"/>
                <a:ea typeface="Courier New" pitchFamily="34" charset="-122"/>
                <a:cs typeface="Courier New" pitchFamily="34" charset="-120"/>
              </a:rPr>
              <a:t>Asset: </a:t>
            </a:r>
            <a:pPr indent="0" marL="0">
              <a:buNone/>
            </a:pPr>
            <a:r>
              <a:rPr lang="en-US" sz="1700" b="1" dirty="0">
                <a:solidFill>
                  <a:srgbClr val="111827"/>
                </a:solidFill>
                <a:latin typeface="Calibri" pitchFamily="34" charset="0"/>
                <a:ea typeface="Calibri" pitchFamily="34" charset="-122"/>
                <a:cs typeface="Calibri" pitchFamily="34" charset="-120"/>
              </a:rPr>
              <a:t>Source code repository    </a:t>
            </a:r>
            <a:pPr indent="0" marL="0">
              <a:buNone/>
            </a:pPr>
            <a:r>
              <a:rPr lang="en-US" sz="1700" b="1" dirty="0">
                <a:solidFill>
                  <a:srgbClr val="4361EE"/>
                </a:solidFill>
                <a:latin typeface="Courier New" pitchFamily="34" charset="0"/>
                <a:ea typeface="Courier New" pitchFamily="34" charset="-122"/>
                <a:cs typeface="Courier New" pitchFamily="34" charset="-120"/>
              </a:rPr>
              <a:t>Requirement: </a:t>
            </a:r>
            <a:pPr indent="0" marL="0">
              <a:buNone/>
            </a:pPr>
            <a:r>
              <a:rPr lang="en-US" sz="1700" dirty="0">
                <a:solidFill>
                  <a:srgbClr val="111827"/>
                </a:solidFill>
                <a:latin typeface="Calibri" pitchFamily="34" charset="0"/>
                <a:ea typeface="Calibri" pitchFamily="34" charset="-122"/>
                <a:cs typeface="Calibri" pitchFamily="34" charset="-120"/>
              </a:rPr>
              <a:t>Only current developers can push code, and every change is attributable to a named person.</a:t>
            </a:r>
            <a:endParaRPr lang="en-US" sz="1700" dirty="0"/>
          </a:p>
        </p:txBody>
      </p:sp>
      <p:sp>
        <p:nvSpPr>
          <p:cNvPr id="10" name="Shape 8"/>
          <p:cNvSpPr/>
          <p:nvPr/>
        </p:nvSpPr>
        <p:spPr>
          <a:xfrm>
            <a:off x="502920" y="2057400"/>
            <a:ext cx="3017520" cy="457200"/>
          </a:xfrm>
          <a:prstGeom prst="rect">
            <a:avLst/>
          </a:prstGeom>
          <a:solidFill>
            <a:srgbClr val="4361EE"/>
          </a:solidFill>
          <a:ln w="12700">
            <a:solidFill>
              <a:srgbClr val="FFFFFF"/>
            </a:solidFill>
            <a:prstDash val="solid"/>
          </a:ln>
        </p:spPr>
      </p:sp>
      <p:sp>
        <p:nvSpPr>
          <p:cNvPr id="11" name="Text 9"/>
          <p:cNvSpPr/>
          <p:nvPr/>
        </p:nvSpPr>
        <p:spPr>
          <a:xfrm>
            <a:off x="502920" y="2057400"/>
            <a:ext cx="30175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Threat</a:t>
            </a:r>
            <a:endParaRPr lang="en-US" sz="1200" dirty="0"/>
          </a:p>
        </p:txBody>
      </p:sp>
      <p:sp>
        <p:nvSpPr>
          <p:cNvPr id="12" name="Shape 10"/>
          <p:cNvSpPr/>
          <p:nvPr/>
        </p:nvSpPr>
        <p:spPr>
          <a:xfrm>
            <a:off x="3520440" y="2057400"/>
            <a:ext cx="1371600" cy="457200"/>
          </a:xfrm>
          <a:prstGeom prst="rect">
            <a:avLst/>
          </a:prstGeom>
          <a:solidFill>
            <a:srgbClr val="4361EE"/>
          </a:solidFill>
          <a:ln w="12700">
            <a:solidFill>
              <a:srgbClr val="FFFFFF"/>
            </a:solidFill>
            <a:prstDash val="solid"/>
          </a:ln>
        </p:spPr>
      </p:sp>
      <p:sp>
        <p:nvSpPr>
          <p:cNvPr id="13" name="Text 11"/>
          <p:cNvSpPr/>
          <p:nvPr/>
        </p:nvSpPr>
        <p:spPr>
          <a:xfrm>
            <a:off x="3520440" y="2057400"/>
            <a:ext cx="13716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Type</a:t>
            </a:r>
            <a:endParaRPr lang="en-US" sz="1200" dirty="0"/>
          </a:p>
        </p:txBody>
      </p:sp>
      <p:sp>
        <p:nvSpPr>
          <p:cNvPr id="14" name="Shape 12"/>
          <p:cNvSpPr/>
          <p:nvPr/>
        </p:nvSpPr>
        <p:spPr>
          <a:xfrm>
            <a:off x="4892040" y="2057400"/>
            <a:ext cx="1005840" cy="457200"/>
          </a:xfrm>
          <a:prstGeom prst="rect">
            <a:avLst/>
          </a:prstGeom>
          <a:solidFill>
            <a:srgbClr val="4361EE"/>
          </a:solidFill>
          <a:ln w="12700">
            <a:solidFill>
              <a:srgbClr val="FFFFFF"/>
            </a:solidFill>
            <a:prstDash val="solid"/>
          </a:ln>
        </p:spPr>
      </p:sp>
      <p:sp>
        <p:nvSpPr>
          <p:cNvPr id="15" name="Text 13"/>
          <p:cNvSpPr/>
          <p:nvPr/>
        </p:nvSpPr>
        <p:spPr>
          <a:xfrm>
            <a:off x="4892040" y="2057400"/>
            <a:ext cx="10058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Rating</a:t>
            </a:r>
            <a:endParaRPr lang="en-US" sz="1200" dirty="0"/>
          </a:p>
        </p:txBody>
      </p:sp>
      <p:sp>
        <p:nvSpPr>
          <p:cNvPr id="16" name="Shape 14"/>
          <p:cNvSpPr/>
          <p:nvPr/>
        </p:nvSpPr>
        <p:spPr>
          <a:xfrm>
            <a:off x="5897880" y="2057400"/>
            <a:ext cx="2926080" cy="457200"/>
          </a:xfrm>
          <a:prstGeom prst="rect">
            <a:avLst/>
          </a:prstGeom>
          <a:solidFill>
            <a:srgbClr val="4361EE"/>
          </a:solidFill>
          <a:ln w="12700">
            <a:solidFill>
              <a:srgbClr val="FFFFFF"/>
            </a:solidFill>
            <a:prstDash val="solid"/>
          </a:ln>
        </p:spPr>
      </p:sp>
      <p:sp>
        <p:nvSpPr>
          <p:cNvPr id="17" name="Text 15"/>
          <p:cNvSpPr/>
          <p:nvPr/>
        </p:nvSpPr>
        <p:spPr>
          <a:xfrm>
            <a:off x="5897880" y="2057400"/>
            <a:ext cx="29260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Mitigation</a:t>
            </a:r>
            <a:endParaRPr lang="en-US" sz="1200" dirty="0"/>
          </a:p>
        </p:txBody>
      </p:sp>
      <p:sp>
        <p:nvSpPr>
          <p:cNvPr id="18" name="Shape 16"/>
          <p:cNvSpPr/>
          <p:nvPr/>
        </p:nvSpPr>
        <p:spPr>
          <a:xfrm>
            <a:off x="8823960" y="2057400"/>
            <a:ext cx="2834640" cy="457200"/>
          </a:xfrm>
          <a:prstGeom prst="rect">
            <a:avLst/>
          </a:prstGeom>
          <a:solidFill>
            <a:srgbClr val="4361EE"/>
          </a:solidFill>
          <a:ln w="12700">
            <a:solidFill>
              <a:srgbClr val="FFFFFF"/>
            </a:solidFill>
            <a:prstDash val="solid"/>
          </a:ln>
        </p:spPr>
      </p:sp>
      <p:sp>
        <p:nvSpPr>
          <p:cNvPr id="19" name="Text 17"/>
          <p:cNvSpPr/>
          <p:nvPr/>
        </p:nvSpPr>
        <p:spPr>
          <a:xfrm>
            <a:off x="8823960" y="2057400"/>
            <a:ext cx="28346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Confirmation</a:t>
            </a:r>
            <a:endParaRPr lang="en-US" sz="1200" dirty="0"/>
          </a:p>
        </p:txBody>
      </p:sp>
      <p:sp>
        <p:nvSpPr>
          <p:cNvPr id="20" name="Shape 18"/>
          <p:cNvSpPr/>
          <p:nvPr/>
        </p:nvSpPr>
        <p:spPr>
          <a:xfrm>
            <a:off x="502920" y="2514600"/>
            <a:ext cx="3017520" cy="1170432"/>
          </a:xfrm>
          <a:prstGeom prst="rect">
            <a:avLst/>
          </a:prstGeom>
          <a:solidFill>
            <a:srgbClr val="FFFFFF"/>
          </a:solidFill>
          <a:ln w="12700">
            <a:solidFill>
              <a:srgbClr val="D8DDE6"/>
            </a:solidFill>
            <a:prstDash val="solid"/>
          </a:ln>
        </p:spPr>
      </p:sp>
      <p:sp>
        <p:nvSpPr>
          <p:cNvPr id="21" name="Text 19"/>
          <p:cNvSpPr/>
          <p:nvPr/>
        </p:nvSpPr>
        <p:spPr>
          <a:xfrm>
            <a:off x="576072" y="2514600"/>
            <a:ext cx="287121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A departing developer keeps repository access</a:t>
            </a:r>
            <a:endParaRPr lang="en-US" sz="1400" dirty="0"/>
          </a:p>
        </p:txBody>
      </p:sp>
      <p:sp>
        <p:nvSpPr>
          <p:cNvPr id="22" name="Shape 20"/>
          <p:cNvSpPr/>
          <p:nvPr/>
        </p:nvSpPr>
        <p:spPr>
          <a:xfrm>
            <a:off x="3520440" y="2514600"/>
            <a:ext cx="1371600" cy="1170432"/>
          </a:xfrm>
          <a:prstGeom prst="rect">
            <a:avLst/>
          </a:prstGeom>
          <a:solidFill>
            <a:srgbClr val="FFFFFF"/>
          </a:solidFill>
          <a:ln w="12700">
            <a:solidFill>
              <a:srgbClr val="D8DDE6"/>
            </a:solidFill>
            <a:prstDash val="solid"/>
          </a:ln>
        </p:spPr>
      </p:sp>
      <p:sp>
        <p:nvSpPr>
          <p:cNvPr id="23" name="Text 21"/>
          <p:cNvSpPr/>
          <p:nvPr/>
        </p:nvSpPr>
        <p:spPr>
          <a:xfrm>
            <a:off x="3593592" y="2514600"/>
            <a:ext cx="122529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Deliberate</a:t>
            </a:r>
            <a:endParaRPr lang="en-US" sz="1400" dirty="0"/>
          </a:p>
          <a:p>
            <a:pPr algn="l" indent="0" marL="0">
              <a:buNone/>
            </a:pPr>
            <a:r>
              <a:rPr lang="en-US" sz="1400" dirty="0">
                <a:solidFill>
                  <a:srgbClr val="111827"/>
                </a:solidFill>
                <a:latin typeface="Calibri" pitchFamily="34" charset="0"/>
                <a:ea typeface="Calibri" pitchFamily="34" charset="-122"/>
                <a:cs typeface="Calibri" pitchFamily="34" charset="-120"/>
              </a:rPr>
              <a:t>(insider)</a:t>
            </a:r>
            <a:endParaRPr lang="en-US" sz="1400" dirty="0"/>
          </a:p>
        </p:txBody>
      </p:sp>
      <p:sp>
        <p:nvSpPr>
          <p:cNvPr id="24" name="Shape 22"/>
          <p:cNvSpPr/>
          <p:nvPr/>
        </p:nvSpPr>
        <p:spPr>
          <a:xfrm>
            <a:off x="4892040" y="2514600"/>
            <a:ext cx="1005840" cy="1170432"/>
          </a:xfrm>
          <a:prstGeom prst="rect">
            <a:avLst/>
          </a:prstGeom>
          <a:solidFill>
            <a:srgbClr val="FFFFFF"/>
          </a:solidFill>
          <a:ln w="12700">
            <a:solidFill>
              <a:srgbClr val="D8DDE6"/>
            </a:solidFill>
            <a:prstDash val="solid"/>
          </a:ln>
        </p:spPr>
      </p:sp>
      <p:sp>
        <p:nvSpPr>
          <p:cNvPr id="25" name="Text 23"/>
          <p:cNvSpPr/>
          <p:nvPr/>
        </p:nvSpPr>
        <p:spPr>
          <a:xfrm>
            <a:off x="4965192" y="2514600"/>
            <a:ext cx="859536" cy="1170432"/>
          </a:xfrm>
          <a:prstGeom prst="rect">
            <a:avLst/>
          </a:prstGeom>
          <a:noFill/>
          <a:ln/>
        </p:spPr>
        <p:txBody>
          <a:bodyPr wrap="square" lIns="0" tIns="0" rIns="0" bIns="0" rtlCol="0" anchor="ctr"/>
          <a:lstStyle/>
          <a:p>
            <a:pPr algn="ctr" indent="0" marL="0">
              <a:buNone/>
            </a:pPr>
            <a:r>
              <a:rPr lang="en-US" sz="1400" b="1" dirty="0">
                <a:solidFill>
                  <a:srgbClr val="9A3412"/>
                </a:solidFill>
                <a:latin typeface="Calibri" pitchFamily="34" charset="0"/>
                <a:ea typeface="Calibri" pitchFamily="34" charset="-122"/>
                <a:cs typeface="Calibri" pitchFamily="34" charset="-120"/>
              </a:rPr>
              <a:t>High</a:t>
            </a:r>
            <a:endParaRPr lang="en-US" sz="1400" dirty="0"/>
          </a:p>
        </p:txBody>
      </p:sp>
      <p:sp>
        <p:nvSpPr>
          <p:cNvPr id="26" name="Shape 24"/>
          <p:cNvSpPr/>
          <p:nvPr/>
        </p:nvSpPr>
        <p:spPr>
          <a:xfrm>
            <a:off x="5897880" y="2514600"/>
            <a:ext cx="2926080" cy="1170432"/>
          </a:xfrm>
          <a:prstGeom prst="rect">
            <a:avLst/>
          </a:prstGeom>
          <a:solidFill>
            <a:srgbClr val="FFFFFF"/>
          </a:solidFill>
          <a:ln w="12700">
            <a:solidFill>
              <a:srgbClr val="D8DDE6"/>
            </a:solidFill>
            <a:prstDash val="solid"/>
          </a:ln>
        </p:spPr>
      </p:sp>
      <p:sp>
        <p:nvSpPr>
          <p:cNvPr id="27" name="Text 25"/>
          <p:cNvSpPr/>
          <p:nvPr/>
        </p:nvSpPr>
        <p:spPr>
          <a:xfrm>
            <a:off x="5971032" y="2514600"/>
            <a:ext cx="277977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Offboarding checklist revokes access on the last day</a:t>
            </a:r>
            <a:endParaRPr lang="en-US" sz="1400" dirty="0"/>
          </a:p>
        </p:txBody>
      </p:sp>
      <p:sp>
        <p:nvSpPr>
          <p:cNvPr id="28" name="Shape 26"/>
          <p:cNvSpPr/>
          <p:nvPr/>
        </p:nvSpPr>
        <p:spPr>
          <a:xfrm>
            <a:off x="8823960" y="2514600"/>
            <a:ext cx="2834640" cy="1170432"/>
          </a:xfrm>
          <a:prstGeom prst="rect">
            <a:avLst/>
          </a:prstGeom>
          <a:solidFill>
            <a:srgbClr val="FFFFFF"/>
          </a:solidFill>
          <a:ln w="12700">
            <a:solidFill>
              <a:srgbClr val="D8DDE6"/>
            </a:solidFill>
            <a:prstDash val="solid"/>
          </a:ln>
        </p:spPr>
      </p:sp>
      <p:sp>
        <p:nvSpPr>
          <p:cNvPr id="29" name="Text 27"/>
          <p:cNvSpPr/>
          <p:nvPr/>
        </p:nvSpPr>
        <p:spPr>
          <a:xfrm>
            <a:off x="8897112" y="2514600"/>
            <a:ext cx="268833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Quarterly access review compared against the HR staff list</a:t>
            </a:r>
            <a:endParaRPr lang="en-US" sz="1400" dirty="0"/>
          </a:p>
        </p:txBody>
      </p:sp>
      <p:sp>
        <p:nvSpPr>
          <p:cNvPr id="30" name="Shape 28"/>
          <p:cNvSpPr/>
          <p:nvPr/>
        </p:nvSpPr>
        <p:spPr>
          <a:xfrm>
            <a:off x="502920" y="3685032"/>
            <a:ext cx="3017520" cy="1170432"/>
          </a:xfrm>
          <a:prstGeom prst="rect">
            <a:avLst/>
          </a:prstGeom>
          <a:solidFill>
            <a:srgbClr val="F4F6FB"/>
          </a:solidFill>
          <a:ln w="12700">
            <a:solidFill>
              <a:srgbClr val="D8DDE6"/>
            </a:solidFill>
            <a:prstDash val="solid"/>
          </a:ln>
        </p:spPr>
      </p:sp>
      <p:sp>
        <p:nvSpPr>
          <p:cNvPr id="31" name="Text 29"/>
          <p:cNvSpPr/>
          <p:nvPr/>
        </p:nvSpPr>
        <p:spPr>
          <a:xfrm>
            <a:off x="576072" y="3685032"/>
            <a:ext cx="287121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Credentials stolen by phishing</a:t>
            </a:r>
            <a:endParaRPr lang="en-US" sz="1400" dirty="0"/>
          </a:p>
        </p:txBody>
      </p:sp>
      <p:sp>
        <p:nvSpPr>
          <p:cNvPr id="32" name="Shape 30"/>
          <p:cNvSpPr/>
          <p:nvPr/>
        </p:nvSpPr>
        <p:spPr>
          <a:xfrm>
            <a:off x="3520440" y="3685032"/>
            <a:ext cx="1371600" cy="1170432"/>
          </a:xfrm>
          <a:prstGeom prst="rect">
            <a:avLst/>
          </a:prstGeom>
          <a:solidFill>
            <a:srgbClr val="F4F6FB"/>
          </a:solidFill>
          <a:ln w="12700">
            <a:solidFill>
              <a:srgbClr val="D8DDE6"/>
            </a:solidFill>
            <a:prstDash val="solid"/>
          </a:ln>
        </p:spPr>
      </p:sp>
      <p:sp>
        <p:nvSpPr>
          <p:cNvPr id="33" name="Text 31"/>
          <p:cNvSpPr/>
          <p:nvPr/>
        </p:nvSpPr>
        <p:spPr>
          <a:xfrm>
            <a:off x="3593592" y="3685032"/>
            <a:ext cx="122529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Deliberate</a:t>
            </a:r>
            <a:endParaRPr lang="en-US" sz="1400" dirty="0"/>
          </a:p>
          <a:p>
            <a:pPr algn="l" indent="0" marL="0">
              <a:buNone/>
            </a:pPr>
            <a:r>
              <a:rPr lang="en-US" sz="1400" dirty="0">
                <a:solidFill>
                  <a:srgbClr val="111827"/>
                </a:solidFill>
                <a:latin typeface="Calibri" pitchFamily="34" charset="0"/>
                <a:ea typeface="Calibri" pitchFamily="34" charset="-122"/>
                <a:cs typeface="Calibri" pitchFamily="34" charset="-120"/>
              </a:rPr>
              <a:t>(social eng.)</a:t>
            </a:r>
            <a:endParaRPr lang="en-US" sz="1400" dirty="0"/>
          </a:p>
        </p:txBody>
      </p:sp>
      <p:sp>
        <p:nvSpPr>
          <p:cNvPr id="34" name="Shape 32"/>
          <p:cNvSpPr/>
          <p:nvPr/>
        </p:nvSpPr>
        <p:spPr>
          <a:xfrm>
            <a:off x="4892040" y="3685032"/>
            <a:ext cx="1005840" cy="1170432"/>
          </a:xfrm>
          <a:prstGeom prst="rect">
            <a:avLst/>
          </a:prstGeom>
          <a:solidFill>
            <a:srgbClr val="F4F6FB"/>
          </a:solidFill>
          <a:ln w="12700">
            <a:solidFill>
              <a:srgbClr val="D8DDE6"/>
            </a:solidFill>
            <a:prstDash val="solid"/>
          </a:ln>
        </p:spPr>
      </p:sp>
      <p:sp>
        <p:nvSpPr>
          <p:cNvPr id="35" name="Text 33"/>
          <p:cNvSpPr/>
          <p:nvPr/>
        </p:nvSpPr>
        <p:spPr>
          <a:xfrm>
            <a:off x="4965192" y="3685032"/>
            <a:ext cx="859536" cy="1170432"/>
          </a:xfrm>
          <a:prstGeom prst="rect">
            <a:avLst/>
          </a:prstGeom>
          <a:noFill/>
          <a:ln/>
        </p:spPr>
        <p:txBody>
          <a:bodyPr wrap="square" lIns="0" tIns="0" rIns="0" bIns="0" rtlCol="0" anchor="ctr"/>
          <a:lstStyle/>
          <a:p>
            <a:pPr algn="ctr" indent="0" marL="0">
              <a:buNone/>
            </a:pPr>
            <a:r>
              <a:rPr lang="en-US" sz="1400" b="1" dirty="0">
                <a:solidFill>
                  <a:srgbClr val="991B1B"/>
                </a:solidFill>
                <a:latin typeface="Calibri" pitchFamily="34" charset="0"/>
                <a:ea typeface="Calibri" pitchFamily="34" charset="-122"/>
                <a:cs typeface="Calibri" pitchFamily="34" charset="-120"/>
              </a:rPr>
              <a:t>Extreme</a:t>
            </a:r>
            <a:endParaRPr lang="en-US" sz="1400" dirty="0"/>
          </a:p>
        </p:txBody>
      </p:sp>
      <p:sp>
        <p:nvSpPr>
          <p:cNvPr id="36" name="Shape 34"/>
          <p:cNvSpPr/>
          <p:nvPr/>
        </p:nvSpPr>
        <p:spPr>
          <a:xfrm>
            <a:off x="5897880" y="3685032"/>
            <a:ext cx="2926080" cy="1170432"/>
          </a:xfrm>
          <a:prstGeom prst="rect">
            <a:avLst/>
          </a:prstGeom>
          <a:solidFill>
            <a:srgbClr val="F4F6FB"/>
          </a:solidFill>
          <a:ln w="12700">
            <a:solidFill>
              <a:srgbClr val="D8DDE6"/>
            </a:solidFill>
            <a:prstDash val="solid"/>
          </a:ln>
        </p:spPr>
      </p:sp>
      <p:sp>
        <p:nvSpPr>
          <p:cNvPr id="37" name="Text 35"/>
          <p:cNvSpPr/>
          <p:nvPr/>
        </p:nvSpPr>
        <p:spPr>
          <a:xfrm>
            <a:off x="5971032" y="3685032"/>
            <a:ext cx="277977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MFA enforced on all repository accounts</a:t>
            </a:r>
            <a:endParaRPr lang="en-US" sz="1400" dirty="0"/>
          </a:p>
        </p:txBody>
      </p:sp>
      <p:sp>
        <p:nvSpPr>
          <p:cNvPr id="38" name="Shape 36"/>
          <p:cNvSpPr/>
          <p:nvPr/>
        </p:nvSpPr>
        <p:spPr>
          <a:xfrm>
            <a:off x="8823960" y="3685032"/>
            <a:ext cx="2834640" cy="1170432"/>
          </a:xfrm>
          <a:prstGeom prst="rect">
            <a:avLst/>
          </a:prstGeom>
          <a:solidFill>
            <a:srgbClr val="F4F6FB"/>
          </a:solidFill>
          <a:ln w="12700">
            <a:solidFill>
              <a:srgbClr val="D8DDE6"/>
            </a:solidFill>
            <a:prstDash val="solid"/>
          </a:ln>
        </p:spPr>
      </p:sp>
      <p:sp>
        <p:nvSpPr>
          <p:cNvPr id="39" name="Text 37"/>
          <p:cNvSpPr/>
          <p:nvPr/>
        </p:nvSpPr>
        <p:spPr>
          <a:xfrm>
            <a:off x="8897112" y="3685032"/>
            <a:ext cx="268833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Login logs show 100% MFA; simulated phishing test each semester</a:t>
            </a:r>
            <a:endParaRPr lang="en-US" sz="1400" dirty="0"/>
          </a:p>
        </p:txBody>
      </p:sp>
      <p:sp>
        <p:nvSpPr>
          <p:cNvPr id="40" name="Shape 38"/>
          <p:cNvSpPr/>
          <p:nvPr/>
        </p:nvSpPr>
        <p:spPr>
          <a:xfrm>
            <a:off x="502920" y="4855464"/>
            <a:ext cx="3017520" cy="1170432"/>
          </a:xfrm>
          <a:prstGeom prst="rect">
            <a:avLst/>
          </a:prstGeom>
          <a:solidFill>
            <a:srgbClr val="FFFFFF"/>
          </a:solidFill>
          <a:ln w="12700">
            <a:solidFill>
              <a:srgbClr val="D8DDE6"/>
            </a:solidFill>
            <a:prstDash val="solid"/>
          </a:ln>
        </p:spPr>
      </p:sp>
      <p:sp>
        <p:nvSpPr>
          <p:cNvPr id="41" name="Text 39"/>
          <p:cNvSpPr/>
          <p:nvPr/>
        </p:nvSpPr>
        <p:spPr>
          <a:xfrm>
            <a:off x="576072" y="4855464"/>
            <a:ext cx="287121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Developer pushes a secret key into the repo</a:t>
            </a:r>
            <a:endParaRPr lang="en-US" sz="1400" dirty="0"/>
          </a:p>
        </p:txBody>
      </p:sp>
      <p:sp>
        <p:nvSpPr>
          <p:cNvPr id="42" name="Shape 40"/>
          <p:cNvSpPr/>
          <p:nvPr/>
        </p:nvSpPr>
        <p:spPr>
          <a:xfrm>
            <a:off x="3520440" y="4855464"/>
            <a:ext cx="1371600" cy="1170432"/>
          </a:xfrm>
          <a:prstGeom prst="rect">
            <a:avLst/>
          </a:prstGeom>
          <a:solidFill>
            <a:srgbClr val="FFFFFF"/>
          </a:solidFill>
          <a:ln w="12700">
            <a:solidFill>
              <a:srgbClr val="D8DDE6"/>
            </a:solidFill>
            <a:prstDash val="solid"/>
          </a:ln>
        </p:spPr>
      </p:sp>
      <p:sp>
        <p:nvSpPr>
          <p:cNvPr id="43" name="Text 41"/>
          <p:cNvSpPr/>
          <p:nvPr/>
        </p:nvSpPr>
        <p:spPr>
          <a:xfrm>
            <a:off x="3593592" y="4855464"/>
            <a:ext cx="122529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Accidental</a:t>
            </a:r>
            <a:endParaRPr lang="en-US" sz="1400" dirty="0"/>
          </a:p>
        </p:txBody>
      </p:sp>
      <p:sp>
        <p:nvSpPr>
          <p:cNvPr id="44" name="Shape 42"/>
          <p:cNvSpPr/>
          <p:nvPr/>
        </p:nvSpPr>
        <p:spPr>
          <a:xfrm>
            <a:off x="4892040" y="4855464"/>
            <a:ext cx="1005840" cy="1170432"/>
          </a:xfrm>
          <a:prstGeom prst="rect">
            <a:avLst/>
          </a:prstGeom>
          <a:solidFill>
            <a:srgbClr val="FFFFFF"/>
          </a:solidFill>
          <a:ln w="12700">
            <a:solidFill>
              <a:srgbClr val="D8DDE6"/>
            </a:solidFill>
            <a:prstDash val="solid"/>
          </a:ln>
        </p:spPr>
      </p:sp>
      <p:sp>
        <p:nvSpPr>
          <p:cNvPr id="45" name="Text 43"/>
          <p:cNvSpPr/>
          <p:nvPr/>
        </p:nvSpPr>
        <p:spPr>
          <a:xfrm>
            <a:off x="4965192" y="4855464"/>
            <a:ext cx="859536" cy="1170432"/>
          </a:xfrm>
          <a:prstGeom prst="rect">
            <a:avLst/>
          </a:prstGeom>
          <a:noFill/>
          <a:ln/>
        </p:spPr>
        <p:txBody>
          <a:bodyPr wrap="square" lIns="0" tIns="0" rIns="0" bIns="0" rtlCol="0" anchor="ctr"/>
          <a:lstStyle/>
          <a:p>
            <a:pPr algn="ctr" indent="0" marL="0">
              <a:buNone/>
            </a:pPr>
            <a:r>
              <a:rPr lang="en-US" sz="1400" b="1" dirty="0">
                <a:solidFill>
                  <a:srgbClr val="92400E"/>
                </a:solidFill>
                <a:latin typeface="Calibri" pitchFamily="34" charset="0"/>
                <a:ea typeface="Calibri" pitchFamily="34" charset="-122"/>
                <a:cs typeface="Calibri" pitchFamily="34" charset="-120"/>
              </a:rPr>
              <a:t>Medium</a:t>
            </a:r>
            <a:endParaRPr lang="en-US" sz="1400" dirty="0"/>
          </a:p>
        </p:txBody>
      </p:sp>
      <p:sp>
        <p:nvSpPr>
          <p:cNvPr id="46" name="Shape 44"/>
          <p:cNvSpPr/>
          <p:nvPr/>
        </p:nvSpPr>
        <p:spPr>
          <a:xfrm>
            <a:off x="5897880" y="4855464"/>
            <a:ext cx="2926080" cy="1170432"/>
          </a:xfrm>
          <a:prstGeom prst="rect">
            <a:avLst/>
          </a:prstGeom>
          <a:solidFill>
            <a:srgbClr val="FFFFFF"/>
          </a:solidFill>
          <a:ln w="12700">
            <a:solidFill>
              <a:srgbClr val="D8DDE6"/>
            </a:solidFill>
            <a:prstDash val="solid"/>
          </a:ln>
        </p:spPr>
      </p:sp>
      <p:sp>
        <p:nvSpPr>
          <p:cNvPr id="47" name="Text 45"/>
          <p:cNvSpPr/>
          <p:nvPr/>
        </p:nvSpPr>
        <p:spPr>
          <a:xfrm>
            <a:off x="5971032" y="4855464"/>
            <a:ext cx="277977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Automated secret scanning blocks the commit</a:t>
            </a:r>
            <a:endParaRPr lang="en-US" sz="1400" dirty="0"/>
          </a:p>
        </p:txBody>
      </p:sp>
      <p:sp>
        <p:nvSpPr>
          <p:cNvPr id="48" name="Shape 46"/>
          <p:cNvSpPr/>
          <p:nvPr/>
        </p:nvSpPr>
        <p:spPr>
          <a:xfrm>
            <a:off x="8823960" y="4855464"/>
            <a:ext cx="2834640" cy="1170432"/>
          </a:xfrm>
          <a:prstGeom prst="rect">
            <a:avLst/>
          </a:prstGeom>
          <a:solidFill>
            <a:srgbClr val="FFFFFF"/>
          </a:solidFill>
          <a:ln w="12700">
            <a:solidFill>
              <a:srgbClr val="D8DDE6"/>
            </a:solidFill>
            <a:prstDash val="solid"/>
          </a:ln>
        </p:spPr>
      </p:sp>
      <p:sp>
        <p:nvSpPr>
          <p:cNvPr id="49" name="Text 47"/>
          <p:cNvSpPr/>
          <p:nvPr/>
        </p:nvSpPr>
        <p:spPr>
          <a:xfrm>
            <a:off x="8897112" y="4855464"/>
            <a:ext cx="2688336" cy="1170432"/>
          </a:xfrm>
          <a:prstGeom prst="rect">
            <a:avLst/>
          </a:prstGeom>
          <a:noFill/>
          <a:ln/>
        </p:spPr>
        <p:txBody>
          <a:bodyPr wrap="square" lIns="0" tIns="0" rIns="0" bIns="0" rtlCol="0" anchor="ctr"/>
          <a:lstStyle/>
          <a:p>
            <a:pPr algn="l" indent="0" marL="0">
              <a:buNone/>
            </a:pPr>
            <a:r>
              <a:rPr lang="en-US" sz="1400" dirty="0">
                <a:solidFill>
                  <a:srgbClr val="111827"/>
                </a:solidFill>
                <a:latin typeface="Calibri" pitchFamily="34" charset="0"/>
                <a:ea typeface="Calibri" pitchFamily="34" charset="-122"/>
                <a:cs typeface="Calibri" pitchFamily="34" charset="-120"/>
              </a:rPr>
              <a:t>Scan report shows zero secrets in the last 90 days of commits</a:t>
            </a:r>
            <a:endParaRPr lang="en-US" sz="1400" dirty="0"/>
          </a:p>
        </p:txBody>
      </p:sp>
      <p:sp>
        <p:nvSpPr>
          <p:cNvPr id="50" name="Shape 48"/>
          <p:cNvSpPr/>
          <p:nvPr/>
        </p:nvSpPr>
        <p:spPr>
          <a:xfrm>
            <a:off x="502920" y="6080760"/>
            <a:ext cx="11155680" cy="548640"/>
          </a:xfrm>
          <a:prstGeom prst="roundRect">
            <a:avLst>
              <a:gd name="adj" fmla="val 15000"/>
            </a:avLst>
          </a:prstGeom>
          <a:solidFill>
            <a:srgbClr val="FEF3C7"/>
          </a:solidFill>
          <a:ln w="12700">
            <a:solidFill>
              <a:srgbClr val="F59E0B"/>
            </a:solidFill>
            <a:prstDash val="solid"/>
          </a:ln>
        </p:spPr>
      </p:sp>
      <p:sp>
        <p:nvSpPr>
          <p:cNvPr id="51" name="Text 49"/>
          <p:cNvSpPr/>
          <p:nvPr/>
        </p:nvSpPr>
        <p:spPr>
          <a:xfrm>
            <a:off x="822960" y="6080760"/>
            <a:ext cx="10515600" cy="54864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Every mitigation column entry is one of the six security controls from Lesson 4. Threat modelling is how you choose which one, and where.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Discussion — When is accepting a risk right?</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6 minutes · whole class</a:t>
            </a:r>
            <a:endParaRPr lang="en-US" sz="1500" dirty="0"/>
          </a:p>
        </p:txBody>
      </p:sp>
      <p:sp>
        <p:nvSpPr>
          <p:cNvPr id="8" name="Shape 6"/>
          <p:cNvSpPr/>
          <p:nvPr/>
        </p:nvSpPr>
        <p:spPr>
          <a:xfrm>
            <a:off x="502920" y="1463040"/>
            <a:ext cx="3611880" cy="3291840"/>
          </a:xfrm>
          <a:prstGeom prst="roundRect">
            <a:avLst>
              <a:gd name="adj" fmla="val 250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9" name="Shape 7"/>
          <p:cNvSpPr/>
          <p:nvPr/>
        </p:nvSpPr>
        <p:spPr>
          <a:xfrm>
            <a:off x="731520" y="1664208"/>
            <a:ext cx="457200" cy="457200"/>
          </a:xfrm>
          <a:prstGeom prst="roundRect">
            <a:avLst>
              <a:gd name="adj" fmla="val 50000"/>
            </a:avLst>
          </a:prstGeom>
          <a:solidFill>
            <a:srgbClr val="5B6472"/>
          </a:solidFill>
          <a:ln/>
        </p:spPr>
      </p:sp>
      <p:sp>
        <p:nvSpPr>
          <p:cNvPr id="10" name="Text 8"/>
          <p:cNvSpPr/>
          <p:nvPr/>
        </p:nvSpPr>
        <p:spPr>
          <a:xfrm>
            <a:off x="731520" y="1664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1" name="Text 9"/>
          <p:cNvSpPr/>
          <p:nvPr/>
        </p:nvSpPr>
        <p:spPr>
          <a:xfrm>
            <a:off x="731520" y="2240280"/>
            <a:ext cx="3154680" cy="731520"/>
          </a:xfrm>
          <a:prstGeom prst="rect">
            <a:avLst/>
          </a:prstGeom>
          <a:noFill/>
          <a:ln/>
        </p:spPr>
        <p:txBody>
          <a:bodyPr wrap="square" lIns="0" tIns="0" rIns="0" bIns="0" rtlCol="0" anchor="t"/>
          <a:lstStyle/>
          <a:p>
            <a:pPr indent="0" marL="0">
              <a:buNone/>
            </a:pPr>
            <a:r>
              <a:rPr lang="en-US" sz="1800" b="1" dirty="0">
                <a:solidFill>
                  <a:srgbClr val="111827"/>
                </a:solidFill>
                <a:latin typeface="Bookman Old Style" pitchFamily="34" charset="0"/>
                <a:ea typeface="Bookman Old Style" pitchFamily="34" charset="-122"/>
                <a:cs typeface="Bookman Old Style" pitchFamily="34" charset="-120"/>
              </a:rPr>
              <a:t>The 12-year-old build server</a:t>
            </a:r>
            <a:endParaRPr lang="en-US" sz="1800" dirty="0"/>
          </a:p>
        </p:txBody>
      </p:sp>
      <p:sp>
        <p:nvSpPr>
          <p:cNvPr id="12" name="Text 10"/>
          <p:cNvSpPr/>
          <p:nvPr/>
        </p:nvSpPr>
        <p:spPr>
          <a:xfrm>
            <a:off x="731520" y="2971800"/>
            <a:ext cx="3154680" cy="164592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Aurora's build server runs an operating system that stopped receiving patches two years ago. Replacing it means rewriting the build pipeline: six weeks of developer time. The server is not reachable from the internet.</a:t>
            </a:r>
            <a:endParaRPr lang="en-US" sz="1600" dirty="0"/>
          </a:p>
        </p:txBody>
      </p:sp>
      <p:sp>
        <p:nvSpPr>
          <p:cNvPr id="13" name="Shape 11"/>
          <p:cNvSpPr/>
          <p:nvPr/>
        </p:nvSpPr>
        <p:spPr>
          <a:xfrm>
            <a:off x="4325112" y="1463040"/>
            <a:ext cx="3611880" cy="3291840"/>
          </a:xfrm>
          <a:prstGeom prst="roundRect">
            <a:avLst>
              <a:gd name="adj" fmla="val 250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4" name="Shape 12"/>
          <p:cNvSpPr/>
          <p:nvPr/>
        </p:nvSpPr>
        <p:spPr>
          <a:xfrm>
            <a:off x="4553712" y="1664208"/>
            <a:ext cx="457200" cy="457200"/>
          </a:xfrm>
          <a:prstGeom prst="roundRect">
            <a:avLst>
              <a:gd name="adj" fmla="val 50000"/>
            </a:avLst>
          </a:prstGeom>
          <a:solidFill>
            <a:srgbClr val="5B6472"/>
          </a:solidFill>
          <a:ln/>
        </p:spPr>
      </p:sp>
      <p:sp>
        <p:nvSpPr>
          <p:cNvPr id="15" name="Text 13"/>
          <p:cNvSpPr/>
          <p:nvPr/>
        </p:nvSpPr>
        <p:spPr>
          <a:xfrm>
            <a:off x="4553712" y="1664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6" name="Text 14"/>
          <p:cNvSpPr/>
          <p:nvPr/>
        </p:nvSpPr>
        <p:spPr>
          <a:xfrm>
            <a:off x="4553712" y="2240280"/>
            <a:ext cx="3154680" cy="731520"/>
          </a:xfrm>
          <a:prstGeom prst="rect">
            <a:avLst/>
          </a:prstGeom>
          <a:noFill/>
          <a:ln/>
        </p:spPr>
        <p:txBody>
          <a:bodyPr wrap="square" lIns="0" tIns="0" rIns="0" bIns="0" rtlCol="0" anchor="t"/>
          <a:lstStyle/>
          <a:p>
            <a:pPr indent="0" marL="0">
              <a:buNone/>
            </a:pPr>
            <a:r>
              <a:rPr lang="en-US" sz="1800" b="1" dirty="0">
                <a:solidFill>
                  <a:srgbClr val="111827"/>
                </a:solidFill>
                <a:latin typeface="Bookman Old Style" pitchFamily="34" charset="0"/>
                <a:ea typeface="Bookman Old Style" pitchFamily="34" charset="-122"/>
                <a:cs typeface="Bookman Old Style" pitchFamily="34" charset="-120"/>
              </a:rPr>
              <a:t>The unmaintained library</a:t>
            </a:r>
            <a:endParaRPr lang="en-US" sz="1800" dirty="0"/>
          </a:p>
        </p:txBody>
      </p:sp>
      <p:sp>
        <p:nvSpPr>
          <p:cNvPr id="17" name="Text 15"/>
          <p:cNvSpPr/>
          <p:nvPr/>
        </p:nvSpPr>
        <p:spPr>
          <a:xfrm>
            <a:off x="4553712" y="2971800"/>
            <a:ext cx="3154680" cy="164592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charting library used in the admin dashboard has had no update in three years. There is no known vulnerability in it. Replacing it would touch 40 screens.</a:t>
            </a:r>
            <a:endParaRPr lang="en-US" sz="1600" dirty="0"/>
          </a:p>
        </p:txBody>
      </p:sp>
      <p:sp>
        <p:nvSpPr>
          <p:cNvPr id="18" name="Shape 16"/>
          <p:cNvSpPr/>
          <p:nvPr/>
        </p:nvSpPr>
        <p:spPr>
          <a:xfrm>
            <a:off x="8147304" y="1463040"/>
            <a:ext cx="3611880" cy="3291840"/>
          </a:xfrm>
          <a:prstGeom prst="roundRect">
            <a:avLst>
              <a:gd name="adj" fmla="val 250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9" name="Shape 17"/>
          <p:cNvSpPr/>
          <p:nvPr/>
        </p:nvSpPr>
        <p:spPr>
          <a:xfrm>
            <a:off x="8375904" y="1664208"/>
            <a:ext cx="457200" cy="457200"/>
          </a:xfrm>
          <a:prstGeom prst="roundRect">
            <a:avLst>
              <a:gd name="adj" fmla="val 50000"/>
            </a:avLst>
          </a:prstGeom>
          <a:solidFill>
            <a:srgbClr val="5B6472"/>
          </a:solidFill>
          <a:ln/>
        </p:spPr>
      </p:sp>
      <p:sp>
        <p:nvSpPr>
          <p:cNvPr id="20" name="Text 18"/>
          <p:cNvSpPr/>
          <p:nvPr/>
        </p:nvSpPr>
        <p:spPr>
          <a:xfrm>
            <a:off x="8375904" y="1664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21" name="Text 19"/>
          <p:cNvSpPr/>
          <p:nvPr/>
        </p:nvSpPr>
        <p:spPr>
          <a:xfrm>
            <a:off x="8375904" y="2240280"/>
            <a:ext cx="3154680" cy="731520"/>
          </a:xfrm>
          <a:prstGeom prst="rect">
            <a:avLst/>
          </a:prstGeom>
          <a:noFill/>
          <a:ln/>
        </p:spPr>
        <p:txBody>
          <a:bodyPr wrap="square" lIns="0" tIns="0" rIns="0" bIns="0" rtlCol="0" anchor="t"/>
          <a:lstStyle/>
          <a:p>
            <a:pPr indent="0" marL="0">
              <a:buNone/>
            </a:pPr>
            <a:r>
              <a:rPr lang="en-US" sz="1800" b="1" dirty="0">
                <a:solidFill>
                  <a:srgbClr val="111827"/>
                </a:solidFill>
                <a:latin typeface="Bookman Old Style" pitchFamily="34" charset="0"/>
                <a:ea typeface="Bookman Old Style" pitchFamily="34" charset="-122"/>
                <a:cs typeface="Bookman Old Style" pitchFamily="34" charset="-120"/>
              </a:rPr>
              <a:t>The shared festival laptop</a:t>
            </a:r>
            <a:endParaRPr lang="en-US" sz="1800" dirty="0"/>
          </a:p>
        </p:txBody>
      </p:sp>
      <p:sp>
        <p:nvSpPr>
          <p:cNvPr id="22" name="Text 20"/>
          <p:cNvSpPr/>
          <p:nvPr/>
        </p:nvSpPr>
        <p:spPr>
          <a:xfrm>
            <a:off x="8375904" y="2971800"/>
            <a:ext cx="3154680" cy="164592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Gate staff share one login on the scanning laptops during an event, because individual logins take too long at a queue of 3 000 people.</a:t>
            </a:r>
            <a:endParaRPr lang="en-US" sz="1600" dirty="0"/>
          </a:p>
        </p:txBody>
      </p:sp>
      <p:sp>
        <p:nvSpPr>
          <p:cNvPr id="23" name="Shape 21"/>
          <p:cNvSpPr/>
          <p:nvPr/>
        </p:nvSpPr>
        <p:spPr>
          <a:xfrm>
            <a:off x="502920" y="4937760"/>
            <a:ext cx="11155680" cy="1417320"/>
          </a:xfrm>
          <a:prstGeom prst="roundRect">
            <a:avLst>
              <a:gd name="adj" fmla="val 5806"/>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24" name="Text 22"/>
          <p:cNvSpPr/>
          <p:nvPr/>
        </p:nvSpPr>
        <p:spPr>
          <a:xfrm>
            <a:off x="822960" y="4937760"/>
            <a:ext cx="10515600" cy="1417320"/>
          </a:xfrm>
          <a:prstGeom prst="rect">
            <a:avLst/>
          </a:prstGeom>
          <a:noFill/>
          <a:ln/>
        </p:spPr>
        <p:txBody>
          <a:bodyPr wrap="square" lIns="0" tIns="0" rIns="0" bIns="0" rtlCol="0" anchor="ctr"/>
          <a:lstStyle/>
          <a:p>
            <a:pPr indent="0" marL="0">
              <a:lnSpc>
                <a:spcPts val="3000"/>
              </a:lnSpc>
              <a:buNone/>
            </a:pPr>
            <a:r>
              <a:rPr lang="en-US" sz="2000" b="1" dirty="0">
                <a:solidFill>
                  <a:srgbClr val="111827"/>
                </a:solidFill>
                <a:latin typeface="Calibri" pitchFamily="34" charset="0"/>
                <a:ea typeface="Calibri" pitchFamily="34" charset="-122"/>
                <a:cs typeface="Calibri" pitchFamily="34" charset="-120"/>
              </a:rPr>
              <a:t>For each case: reduce, avoid, transfer or accept? </a:t>
            </a:r>
            <a:endParaRPr lang="en-US" sz="2000" dirty="0"/>
          </a:p>
          <a:p>
            <a:pPr indent="0" marL="0">
              <a:lnSpc>
                <a:spcPts val="3000"/>
              </a:lnSpc>
              <a:buNone/>
            </a:pPr>
            <a:r>
              <a:rPr lang="en-US" sz="2000" dirty="0">
                <a:solidFill>
                  <a:srgbClr val="111827"/>
                </a:solidFill>
                <a:latin typeface="Calibri" pitchFamily="34" charset="0"/>
                <a:ea typeface="Calibri" pitchFamily="34" charset="-122"/>
                <a:cs typeface="Calibri" pitchFamily="34" charset="-120"/>
              </a:rPr>
              <a:t>If you accept — what has to be written down, who signs it, and what would change your mind?</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5B6472"/>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BREAK</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Shape 4"/>
          <p:cNvSpPr/>
          <p:nvPr/>
        </p:nvSpPr>
        <p:spPr>
          <a:xfrm>
            <a:off x="2194560" y="1737360"/>
            <a:ext cx="7772400" cy="3383280"/>
          </a:xfrm>
          <a:prstGeom prst="roundRect">
            <a:avLst>
              <a:gd name="adj" fmla="val 2432"/>
            </a:avLst>
          </a:prstGeom>
          <a:solidFill>
            <a:srgbClr val="F4F6FB"/>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7" name="Text 5"/>
          <p:cNvSpPr/>
          <p:nvPr/>
        </p:nvSpPr>
        <p:spPr>
          <a:xfrm>
            <a:off x="2194560" y="2103120"/>
            <a:ext cx="7772400" cy="822960"/>
          </a:xfrm>
          <a:prstGeom prst="rect">
            <a:avLst/>
          </a:prstGeom>
          <a:noFill/>
          <a:ln/>
        </p:spPr>
        <p:txBody>
          <a:bodyPr wrap="square" lIns="0" tIns="0" rIns="0" bIns="0" rtlCol="0" anchor="ctr"/>
          <a:lstStyle/>
          <a:p>
            <a:pPr algn="ctr" indent="0" marL="0">
              <a:buNone/>
            </a:pPr>
            <a:r>
              <a:rPr lang="en-US" sz="4000" b="1" dirty="0">
                <a:solidFill>
                  <a:srgbClr val="111827"/>
                </a:solidFill>
                <a:latin typeface="Bookman Old Style" pitchFamily="34" charset="0"/>
                <a:ea typeface="Bookman Old Style" pitchFamily="34" charset="-122"/>
                <a:cs typeface="Bookman Old Style" pitchFamily="34" charset="-120"/>
              </a:rPr>
              <a:t>Brain break</a:t>
            </a:r>
            <a:endParaRPr lang="en-US" sz="4000" dirty="0"/>
          </a:p>
        </p:txBody>
      </p:sp>
      <p:sp>
        <p:nvSpPr>
          <p:cNvPr id="8" name="Text 6"/>
          <p:cNvSpPr/>
          <p:nvPr/>
        </p:nvSpPr>
        <p:spPr>
          <a:xfrm>
            <a:off x="2194560" y="2971800"/>
            <a:ext cx="7772400" cy="457200"/>
          </a:xfrm>
          <a:prstGeom prst="rect">
            <a:avLst/>
          </a:prstGeom>
          <a:noFill/>
          <a:ln/>
        </p:spPr>
        <p:txBody>
          <a:bodyPr wrap="square" lIns="0" tIns="0" rIns="0" bIns="0" rtlCol="0" anchor="ctr"/>
          <a:lstStyle/>
          <a:p>
            <a:pPr algn="ctr" indent="0" marL="0">
              <a:buNone/>
            </a:pPr>
            <a:r>
              <a:rPr lang="en-US" sz="2000" dirty="0">
                <a:solidFill>
                  <a:srgbClr val="5B6472"/>
                </a:solidFill>
                <a:latin typeface="Calibri" pitchFamily="34" charset="0"/>
                <a:ea typeface="Calibri" pitchFamily="34" charset="-122"/>
                <a:cs typeface="Calibri" pitchFamily="34" charset="-120"/>
              </a:rPr>
              <a:t>Two minutes. Stand up, stretch, look out the window.</a:t>
            </a:r>
            <a:endParaRPr lang="en-US" sz="2000" dirty="0"/>
          </a:p>
        </p:txBody>
      </p:sp>
      <p:sp>
        <p:nvSpPr>
          <p:cNvPr id="9" name="Shape 7"/>
          <p:cNvSpPr/>
          <p:nvPr/>
        </p:nvSpPr>
        <p:spPr>
          <a:xfrm>
            <a:off x="3108960" y="3703320"/>
            <a:ext cx="5943600" cy="1005840"/>
          </a:xfrm>
          <a:prstGeom prst="roundRect">
            <a:avLst>
              <a:gd name="adj" fmla="val 9091"/>
            </a:avLst>
          </a:prstGeom>
          <a:solidFill>
            <a:srgbClr val="FFFFFF"/>
          </a:solidFill>
          <a:ln w="12700">
            <a:solidFill>
              <a:srgbClr val="D8DDE6"/>
            </a:solidFill>
            <a:prstDash val="solid"/>
          </a:ln>
        </p:spPr>
      </p:sp>
      <p:sp>
        <p:nvSpPr>
          <p:cNvPr id="10" name="Text 8"/>
          <p:cNvSpPr/>
          <p:nvPr/>
        </p:nvSpPr>
        <p:spPr>
          <a:xfrm>
            <a:off x="3291840" y="3703320"/>
            <a:ext cx="5577840" cy="1005840"/>
          </a:xfrm>
          <a:prstGeom prst="rect">
            <a:avLst/>
          </a:prstGeom>
          <a:noFill/>
          <a:ln/>
        </p:spPr>
        <p:txBody>
          <a:bodyPr wrap="square" lIns="0" tIns="0" rIns="0" bIns="0" rtlCol="0" anchor="ctr"/>
          <a:lstStyle/>
          <a:p>
            <a:pPr algn="ctr" indent="0" marL="0">
              <a:buNone/>
            </a:pPr>
            <a:r>
              <a:rPr lang="en-US" sz="1700" dirty="0">
                <a:solidFill>
                  <a:srgbClr val="111827"/>
                </a:solidFill>
                <a:latin typeface="Calibri" pitchFamily="34" charset="0"/>
                <a:ea typeface="Calibri" pitchFamily="34" charset="-122"/>
                <a:cs typeface="Calibri" pitchFamily="34" charset="-120"/>
              </a:rPr>
              <a:t>Coming up: how you prove a threat is actually dealt with — then laptops open.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400" b="1" dirty="0">
                <a:solidFill>
                  <a:srgbClr val="111827"/>
                </a:solidFill>
                <a:latin typeface="Bookman Old Style" pitchFamily="34" charset="0"/>
                <a:ea typeface="Bookman Old Style" pitchFamily="34" charset="-122"/>
                <a:cs typeface="Bookman Old Style" pitchFamily="34" charset="-120"/>
              </a:rPr>
              <a:t>Principle 3 — Confirming threats have been mitigated</a:t>
            </a:r>
            <a:endParaRPr lang="en-US" sz="24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Putting a control in place is a claim. Confirmation is the evidence.</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63040"/>
            <a:ext cx="3611880" cy="2148840"/>
          </a:xfrm>
          <a:prstGeom prst="roundRect">
            <a:avLst>
              <a:gd name="adj" fmla="val 3830"/>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1" name="Text 9"/>
          <p:cNvSpPr/>
          <p:nvPr/>
        </p:nvSpPr>
        <p:spPr>
          <a:xfrm>
            <a:off x="731520" y="1645920"/>
            <a:ext cx="3154680" cy="73152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Security assessments</a:t>
            </a:r>
            <a:endParaRPr lang="en-US" sz="1800" dirty="0"/>
          </a:p>
        </p:txBody>
      </p:sp>
      <p:sp>
        <p:nvSpPr>
          <p:cNvPr id="12" name="Text 10"/>
          <p:cNvSpPr/>
          <p:nvPr/>
        </p:nvSpPr>
        <p:spPr>
          <a:xfrm>
            <a:off x="731520" y="2377440"/>
            <a:ext cx="3154680" cy="109728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Vulnerability scanning and penetration testing, run on a schedule, find weaknesses before an attacker does.</a:t>
            </a:r>
            <a:endParaRPr lang="en-US" sz="1600" dirty="0"/>
          </a:p>
        </p:txBody>
      </p:sp>
      <p:sp>
        <p:nvSpPr>
          <p:cNvPr id="13" name="Shape 11"/>
          <p:cNvSpPr/>
          <p:nvPr/>
        </p:nvSpPr>
        <p:spPr>
          <a:xfrm>
            <a:off x="4325112" y="1463040"/>
            <a:ext cx="3611880" cy="2148840"/>
          </a:xfrm>
          <a:prstGeom prst="roundRect">
            <a:avLst>
              <a:gd name="adj" fmla="val 383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4" name="Text 12"/>
          <p:cNvSpPr/>
          <p:nvPr/>
        </p:nvSpPr>
        <p:spPr>
          <a:xfrm>
            <a:off x="4553712" y="1645920"/>
            <a:ext cx="3154680" cy="73152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Monitoring and logging</a:t>
            </a:r>
            <a:endParaRPr lang="en-US" sz="1800" dirty="0"/>
          </a:p>
        </p:txBody>
      </p:sp>
      <p:sp>
        <p:nvSpPr>
          <p:cNvPr id="15" name="Text 13"/>
          <p:cNvSpPr/>
          <p:nvPr/>
        </p:nvSpPr>
        <p:spPr>
          <a:xfrm>
            <a:off x="4553712" y="2377440"/>
            <a:ext cx="3154680" cy="109728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Continuous monitoring of traffic, system activity and user behaviour; logs allow incidents to be traced and audited.</a:t>
            </a:r>
            <a:endParaRPr lang="en-US" sz="1600" dirty="0"/>
          </a:p>
        </p:txBody>
      </p:sp>
      <p:sp>
        <p:nvSpPr>
          <p:cNvPr id="16" name="Shape 14"/>
          <p:cNvSpPr/>
          <p:nvPr/>
        </p:nvSpPr>
        <p:spPr>
          <a:xfrm>
            <a:off x="8147304" y="1463040"/>
            <a:ext cx="3611880" cy="2148840"/>
          </a:xfrm>
          <a:prstGeom prst="roundRect">
            <a:avLst>
              <a:gd name="adj" fmla="val 383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7" name="Text 15"/>
          <p:cNvSpPr/>
          <p:nvPr/>
        </p:nvSpPr>
        <p:spPr>
          <a:xfrm>
            <a:off x="8375904" y="1645920"/>
            <a:ext cx="3154680" cy="73152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Patch management</a:t>
            </a:r>
            <a:endParaRPr lang="en-US" sz="1800" dirty="0"/>
          </a:p>
        </p:txBody>
      </p:sp>
      <p:sp>
        <p:nvSpPr>
          <p:cNvPr id="18" name="Text 16"/>
          <p:cNvSpPr/>
          <p:nvPr/>
        </p:nvSpPr>
        <p:spPr>
          <a:xfrm>
            <a:off x="8375904" y="2377440"/>
            <a:ext cx="3154680" cy="109728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Verifies that patches were applied, applied correctly, and did not introduce new problems.</a:t>
            </a:r>
            <a:endParaRPr lang="en-US" sz="1600" dirty="0"/>
          </a:p>
        </p:txBody>
      </p:sp>
      <p:sp>
        <p:nvSpPr>
          <p:cNvPr id="19" name="Shape 17"/>
          <p:cNvSpPr/>
          <p:nvPr/>
        </p:nvSpPr>
        <p:spPr>
          <a:xfrm>
            <a:off x="502920" y="3794760"/>
            <a:ext cx="3611880" cy="2148840"/>
          </a:xfrm>
          <a:prstGeom prst="roundRect">
            <a:avLst>
              <a:gd name="adj" fmla="val 3830"/>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20" name="Text 18"/>
          <p:cNvSpPr/>
          <p:nvPr/>
        </p:nvSpPr>
        <p:spPr>
          <a:xfrm>
            <a:off x="731520" y="3977640"/>
            <a:ext cx="3154680" cy="73152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Access control reviews</a:t>
            </a:r>
            <a:endParaRPr lang="en-US" sz="1800" dirty="0"/>
          </a:p>
        </p:txBody>
      </p:sp>
      <p:sp>
        <p:nvSpPr>
          <p:cNvPr id="21" name="Text 19"/>
          <p:cNvSpPr/>
          <p:nvPr/>
        </p:nvSpPr>
        <p:spPr>
          <a:xfrm>
            <a:off x="731520" y="4709160"/>
            <a:ext cx="3154680" cy="109728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Periodic checks that permissions still match job roles, with unnecessary privileges revoked.</a:t>
            </a:r>
            <a:endParaRPr lang="en-US" sz="1600" dirty="0"/>
          </a:p>
        </p:txBody>
      </p:sp>
      <p:sp>
        <p:nvSpPr>
          <p:cNvPr id="22" name="Shape 20"/>
          <p:cNvSpPr/>
          <p:nvPr/>
        </p:nvSpPr>
        <p:spPr>
          <a:xfrm>
            <a:off x="4325112" y="3794760"/>
            <a:ext cx="3611880" cy="2148840"/>
          </a:xfrm>
          <a:prstGeom prst="roundRect">
            <a:avLst>
              <a:gd name="adj" fmla="val 383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3" name="Text 21"/>
          <p:cNvSpPr/>
          <p:nvPr/>
        </p:nvSpPr>
        <p:spPr>
          <a:xfrm>
            <a:off x="4553712" y="3977640"/>
            <a:ext cx="3154680" cy="73152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Security awareness training</a:t>
            </a:r>
            <a:endParaRPr lang="en-US" sz="1800" dirty="0"/>
          </a:p>
        </p:txBody>
      </p:sp>
      <p:sp>
        <p:nvSpPr>
          <p:cNvPr id="24" name="Text 22"/>
          <p:cNvSpPr/>
          <p:nvPr/>
        </p:nvSpPr>
        <p:spPr>
          <a:xfrm>
            <a:off x="4553712" y="4709160"/>
            <a:ext cx="3154680" cy="109728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Regular training and simulated attacks so staff recognise and report threats.</a:t>
            </a:r>
            <a:endParaRPr lang="en-US" sz="1600" dirty="0"/>
          </a:p>
        </p:txBody>
      </p:sp>
      <p:sp>
        <p:nvSpPr>
          <p:cNvPr id="25" name="Shape 23"/>
          <p:cNvSpPr/>
          <p:nvPr/>
        </p:nvSpPr>
        <p:spPr>
          <a:xfrm>
            <a:off x="8147304" y="3794760"/>
            <a:ext cx="3611880" cy="2148840"/>
          </a:xfrm>
          <a:prstGeom prst="roundRect">
            <a:avLst>
              <a:gd name="adj" fmla="val 3830"/>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6" name="Text 24"/>
          <p:cNvSpPr/>
          <p:nvPr/>
        </p:nvSpPr>
        <p:spPr>
          <a:xfrm>
            <a:off x="8375904" y="3977640"/>
            <a:ext cx="3154680" cy="73152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Security audits</a:t>
            </a:r>
            <a:endParaRPr lang="en-US" sz="1800" dirty="0"/>
          </a:p>
        </p:txBody>
      </p:sp>
      <p:sp>
        <p:nvSpPr>
          <p:cNvPr id="27" name="Text 25"/>
          <p:cNvSpPr/>
          <p:nvPr/>
        </p:nvSpPr>
        <p:spPr>
          <a:xfrm>
            <a:off x="8375904" y="4709160"/>
            <a:ext cx="3154680" cy="1097280"/>
          </a:xfrm>
          <a:prstGeom prst="rect">
            <a:avLst/>
          </a:prstGeom>
          <a:noFill/>
          <a:ln/>
        </p:spPr>
        <p:txBody>
          <a:bodyPr wrap="square" lIns="0" tIns="0" rIns="0" bIns="0" rtlCol="0" anchor="t"/>
          <a:lstStyle/>
          <a:p>
            <a:pPr indent="0" marL="0">
              <a:buNone/>
            </a:pPr>
            <a:r>
              <a:rPr lang="en-US" sz="1600" dirty="0">
                <a:solidFill>
                  <a:srgbClr val="111827"/>
                </a:solidFill>
                <a:latin typeface="Calibri" pitchFamily="34" charset="0"/>
                <a:ea typeface="Calibri" pitchFamily="34" charset="-122"/>
                <a:cs typeface="Calibri" pitchFamily="34" charset="-120"/>
              </a:rPr>
              <a:t>Internal or external audits assessing the whole security posture and compliance with standards.</a:t>
            </a:r>
            <a:endParaRPr lang="en-US" sz="1600" dirty="0"/>
          </a:p>
        </p:txBody>
      </p:sp>
      <p:sp>
        <p:nvSpPr>
          <p:cNvPr id="28" name="Shape 26"/>
          <p:cNvSpPr/>
          <p:nvPr/>
        </p:nvSpPr>
        <p:spPr>
          <a:xfrm>
            <a:off x="502920" y="6080760"/>
            <a:ext cx="11155680" cy="548640"/>
          </a:xfrm>
          <a:prstGeom prst="roundRect">
            <a:avLst>
              <a:gd name="adj" fmla="val 15000"/>
            </a:avLst>
          </a:prstGeom>
          <a:solidFill>
            <a:srgbClr val="D1FAE5"/>
          </a:solidFill>
          <a:ln w="12700">
            <a:solidFill>
              <a:srgbClr val="10B981"/>
            </a:solidFill>
            <a:prstDash val="solid"/>
          </a:ln>
        </p:spPr>
      </p:sp>
      <p:sp>
        <p:nvSpPr>
          <p:cNvPr id="29" name="Text 27"/>
          <p:cNvSpPr/>
          <p:nvPr/>
        </p:nvSpPr>
        <p:spPr>
          <a:xfrm>
            <a:off x="822960" y="6080760"/>
            <a:ext cx="10515600" cy="548640"/>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Also add intrusion detection and prevention systems (IDS/IPS) — layered defences whose alerts are themselves evidence that monitoring is working.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Discussion — Prove it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5 minutes · think, pair, share</a:t>
            </a:r>
            <a:endParaRPr lang="en-US" sz="1500" dirty="0"/>
          </a:p>
        </p:txBody>
      </p:sp>
      <p:sp>
        <p:nvSpPr>
          <p:cNvPr id="8" name="Shape 6"/>
          <p:cNvSpPr/>
          <p:nvPr/>
        </p:nvSpPr>
        <p:spPr>
          <a:xfrm>
            <a:off x="502920" y="1325880"/>
            <a:ext cx="11155680" cy="777240"/>
          </a:xfrm>
          <a:prstGeom prst="roundRect">
            <a:avLst>
              <a:gd name="adj" fmla="val 10588"/>
            </a:avLst>
          </a:prstGeom>
          <a:solidFill>
            <a:srgbClr val="EEF2FF"/>
          </a:solidFill>
          <a:ln w="12700">
            <a:solidFill>
              <a:srgbClr val="4361EE"/>
            </a:solidFill>
            <a:prstDash val="solid"/>
          </a:ln>
        </p:spPr>
      </p:sp>
      <p:sp>
        <p:nvSpPr>
          <p:cNvPr id="9" name="Text 7"/>
          <p:cNvSpPr/>
          <p:nvPr/>
        </p:nvSpPr>
        <p:spPr>
          <a:xfrm>
            <a:off x="822960" y="1325880"/>
            <a:ext cx="10515600" cy="777240"/>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Aurora Ticketing's security manager makes three claims. For each one: what specific evidence would satisfy you, and how often would you want to see it?</a:t>
            </a:r>
            <a:endParaRPr lang="en-US" sz="1900" dirty="0"/>
          </a:p>
        </p:txBody>
      </p:sp>
      <p:sp>
        <p:nvSpPr>
          <p:cNvPr id="10" name="Shape 8"/>
          <p:cNvSpPr/>
          <p:nvPr/>
        </p:nvSpPr>
        <p:spPr>
          <a:xfrm>
            <a:off x="502920" y="2331720"/>
            <a:ext cx="11155680" cy="1051560"/>
          </a:xfrm>
          <a:prstGeom prst="roundRect">
            <a:avLst>
              <a:gd name="adj" fmla="val 7826"/>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2615184"/>
            <a:ext cx="484632" cy="484632"/>
          </a:xfrm>
          <a:prstGeom prst="roundRect">
            <a:avLst>
              <a:gd name="adj" fmla="val 50943"/>
            </a:avLst>
          </a:prstGeom>
          <a:solidFill>
            <a:srgbClr val="4361EE"/>
          </a:solidFill>
          <a:ln/>
        </p:spPr>
      </p:sp>
      <p:sp>
        <p:nvSpPr>
          <p:cNvPr id="12" name="Text 10"/>
          <p:cNvSpPr/>
          <p:nvPr/>
        </p:nvSpPr>
        <p:spPr>
          <a:xfrm>
            <a:off x="731520" y="2615184"/>
            <a:ext cx="484632" cy="484632"/>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3" name="Text 11"/>
          <p:cNvSpPr/>
          <p:nvPr/>
        </p:nvSpPr>
        <p:spPr>
          <a:xfrm>
            <a:off x="1417320" y="2331720"/>
            <a:ext cx="9966960" cy="1051560"/>
          </a:xfrm>
          <a:prstGeom prst="rect">
            <a:avLst/>
          </a:prstGeom>
          <a:noFill/>
          <a:ln/>
        </p:spPr>
        <p:txBody>
          <a:bodyPr wrap="square" lIns="0" tIns="0" rIns="0" bIns="0" rtlCol="0" anchor="ctr"/>
          <a:lstStyle/>
          <a:p>
            <a:pPr indent="0" marL="0">
              <a:buNone/>
            </a:pPr>
            <a:r>
              <a:rPr lang="en-US" sz="2100" i="1" dirty="0">
                <a:solidFill>
                  <a:srgbClr val="111827"/>
                </a:solidFill>
                <a:latin typeface="Calibri" pitchFamily="34" charset="0"/>
                <a:ea typeface="Calibri" pitchFamily="34" charset="-122"/>
                <a:cs typeface="Calibri" pitchFamily="34" charset="-120"/>
              </a:rPr>
              <a:t>"All our customer data is encrypted."</a:t>
            </a:r>
            <a:endParaRPr lang="en-US" sz="2100" dirty="0"/>
          </a:p>
        </p:txBody>
      </p:sp>
      <p:sp>
        <p:nvSpPr>
          <p:cNvPr id="14" name="Shape 12"/>
          <p:cNvSpPr/>
          <p:nvPr/>
        </p:nvSpPr>
        <p:spPr>
          <a:xfrm>
            <a:off x="502920" y="3520440"/>
            <a:ext cx="11155680" cy="1051560"/>
          </a:xfrm>
          <a:prstGeom prst="roundRect">
            <a:avLst>
              <a:gd name="adj" fmla="val 7826"/>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5" name="Shape 13"/>
          <p:cNvSpPr/>
          <p:nvPr/>
        </p:nvSpPr>
        <p:spPr>
          <a:xfrm>
            <a:off x="731520" y="3803904"/>
            <a:ext cx="484632" cy="484632"/>
          </a:xfrm>
          <a:prstGeom prst="roundRect">
            <a:avLst>
              <a:gd name="adj" fmla="val 50943"/>
            </a:avLst>
          </a:prstGeom>
          <a:solidFill>
            <a:srgbClr val="4361EE"/>
          </a:solidFill>
          <a:ln/>
        </p:spPr>
      </p:sp>
      <p:sp>
        <p:nvSpPr>
          <p:cNvPr id="16" name="Text 14"/>
          <p:cNvSpPr/>
          <p:nvPr/>
        </p:nvSpPr>
        <p:spPr>
          <a:xfrm>
            <a:off x="731520" y="3803904"/>
            <a:ext cx="484632" cy="484632"/>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7" name="Text 15"/>
          <p:cNvSpPr/>
          <p:nvPr/>
        </p:nvSpPr>
        <p:spPr>
          <a:xfrm>
            <a:off x="1417320" y="3520440"/>
            <a:ext cx="9966960" cy="1051560"/>
          </a:xfrm>
          <a:prstGeom prst="rect">
            <a:avLst/>
          </a:prstGeom>
          <a:noFill/>
          <a:ln/>
        </p:spPr>
        <p:txBody>
          <a:bodyPr wrap="square" lIns="0" tIns="0" rIns="0" bIns="0" rtlCol="0" anchor="ctr"/>
          <a:lstStyle/>
          <a:p>
            <a:pPr indent="0" marL="0">
              <a:buNone/>
            </a:pPr>
            <a:r>
              <a:rPr lang="en-US" sz="2100" i="1" dirty="0">
                <a:solidFill>
                  <a:srgbClr val="111827"/>
                </a:solidFill>
                <a:latin typeface="Calibri" pitchFamily="34" charset="0"/>
                <a:ea typeface="Calibri" pitchFamily="34" charset="-122"/>
                <a:cs typeface="Calibri" pitchFamily="34" charset="-120"/>
              </a:rPr>
              <a:t>"Only authorised staff can access production."</a:t>
            </a:r>
            <a:endParaRPr lang="en-US" sz="2100" dirty="0"/>
          </a:p>
        </p:txBody>
      </p:sp>
      <p:sp>
        <p:nvSpPr>
          <p:cNvPr id="18" name="Shape 16"/>
          <p:cNvSpPr/>
          <p:nvPr/>
        </p:nvSpPr>
        <p:spPr>
          <a:xfrm>
            <a:off x="502920" y="4709160"/>
            <a:ext cx="11155680" cy="1051560"/>
          </a:xfrm>
          <a:prstGeom prst="roundRect">
            <a:avLst>
              <a:gd name="adj" fmla="val 7826"/>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9" name="Shape 17"/>
          <p:cNvSpPr/>
          <p:nvPr/>
        </p:nvSpPr>
        <p:spPr>
          <a:xfrm>
            <a:off x="731520" y="4992624"/>
            <a:ext cx="484632" cy="484632"/>
          </a:xfrm>
          <a:prstGeom prst="roundRect">
            <a:avLst>
              <a:gd name="adj" fmla="val 50943"/>
            </a:avLst>
          </a:prstGeom>
          <a:solidFill>
            <a:srgbClr val="4361EE"/>
          </a:solidFill>
          <a:ln/>
        </p:spPr>
      </p:sp>
      <p:sp>
        <p:nvSpPr>
          <p:cNvPr id="20" name="Text 18"/>
          <p:cNvSpPr/>
          <p:nvPr/>
        </p:nvSpPr>
        <p:spPr>
          <a:xfrm>
            <a:off x="731520" y="4992624"/>
            <a:ext cx="484632" cy="484632"/>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21" name="Text 19"/>
          <p:cNvSpPr/>
          <p:nvPr/>
        </p:nvSpPr>
        <p:spPr>
          <a:xfrm>
            <a:off x="1417320" y="4709160"/>
            <a:ext cx="9966960" cy="1051560"/>
          </a:xfrm>
          <a:prstGeom prst="rect">
            <a:avLst/>
          </a:prstGeom>
          <a:noFill/>
          <a:ln/>
        </p:spPr>
        <p:txBody>
          <a:bodyPr wrap="square" lIns="0" tIns="0" rIns="0" bIns="0" rtlCol="0" anchor="ctr"/>
          <a:lstStyle/>
          <a:p>
            <a:pPr indent="0" marL="0">
              <a:buNone/>
            </a:pPr>
            <a:r>
              <a:rPr lang="en-US" sz="2100" i="1" dirty="0">
                <a:solidFill>
                  <a:srgbClr val="111827"/>
                </a:solidFill>
                <a:latin typeface="Calibri" pitchFamily="34" charset="0"/>
                <a:ea typeface="Calibri" pitchFamily="34" charset="-122"/>
                <a:cs typeface="Calibri" pitchFamily="34" charset="-120"/>
              </a:rPr>
              <a:t>"Our developers have all been trained in secure coding."</a:t>
            </a:r>
            <a:endParaRPr lang="en-US" sz="2100" dirty="0"/>
          </a:p>
        </p:txBody>
      </p:sp>
      <p:sp>
        <p:nvSpPr>
          <p:cNvPr id="22" name="Shape 20"/>
          <p:cNvSpPr/>
          <p:nvPr/>
        </p:nvSpPr>
        <p:spPr>
          <a:xfrm>
            <a:off x="502920" y="5943600"/>
            <a:ext cx="11155680" cy="658368"/>
          </a:xfrm>
          <a:prstGeom prst="roundRect">
            <a:avLst>
              <a:gd name="adj" fmla="val 12500"/>
            </a:avLst>
          </a:prstGeom>
          <a:solidFill>
            <a:srgbClr val="FFFFFF"/>
          </a:solidFill>
          <a:ln w="12700">
            <a:solidFill>
              <a:srgbClr val="8B5CF6"/>
            </a:solidFill>
            <a:prstDash val="solid"/>
          </a:ln>
        </p:spPr>
      </p:sp>
      <p:sp>
        <p:nvSpPr>
          <p:cNvPr id="23" name="Text 21"/>
          <p:cNvSpPr/>
          <p:nvPr/>
        </p:nvSpPr>
        <p:spPr>
          <a:xfrm>
            <a:off x="822960" y="5943600"/>
            <a:ext cx="10515600" cy="658368"/>
          </a:xfrm>
          <a:prstGeom prst="rect">
            <a:avLst/>
          </a:prstGeom>
          <a:noFill/>
          <a:ln/>
        </p:spPr>
        <p:txBody>
          <a:bodyPr wrap="square" lIns="0" tIns="0" rIns="0" bIns="0" rtlCol="0" anchor="ctr"/>
          <a:lstStyle/>
          <a:p>
            <a:pPr indent="0" marL="0">
              <a:buNone/>
            </a:pPr>
            <a:r>
              <a:rPr lang="en-US" sz="1700" b="1" dirty="0">
                <a:solidFill>
                  <a:srgbClr val="8B5CF6"/>
                </a:solidFill>
                <a:latin typeface="Calibri" pitchFamily="34" charset="0"/>
                <a:ea typeface="Calibri" pitchFamily="34" charset="-122"/>
                <a:cs typeface="Calibri" pitchFamily="34" charset="-120"/>
              </a:rPr>
              <a:t>Extending: for claim 3, why is a completion certificate weaker evidence than a simulated phishing result?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When does a threat model get updated?</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A threat model that is never revisited is out of date the day it is written</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3611880" cy="2377440"/>
          </a:xfrm>
          <a:prstGeom prst="roundRect">
            <a:avLst>
              <a:gd name="adj" fmla="val 3462"/>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1" name="Text 9"/>
          <p:cNvSpPr/>
          <p:nvPr/>
        </p:nvSpPr>
        <p:spPr>
          <a:xfrm>
            <a:off x="731520" y="1737360"/>
            <a:ext cx="3154680" cy="868680"/>
          </a:xfrm>
          <a:prstGeom prst="rect">
            <a:avLst/>
          </a:prstGeom>
          <a:noFill/>
          <a:ln/>
        </p:spPr>
        <p:txBody>
          <a:bodyPr wrap="square" lIns="0" tIns="0" rIns="0" bIns="0" rtlCol="0" anchor="t"/>
          <a:lstStyle/>
          <a:p>
            <a:pPr indent="0" marL="0">
              <a:buNone/>
            </a:pPr>
            <a:r>
              <a:rPr lang="en-US" sz="1900" b="1" dirty="0">
                <a:solidFill>
                  <a:srgbClr val="4361EE"/>
                </a:solidFill>
                <a:latin typeface="Bookman Old Style" pitchFamily="34" charset="0"/>
                <a:ea typeface="Bookman Old Style" pitchFamily="34" charset="-122"/>
                <a:cs typeface="Bookman Old Style" pitchFamily="34" charset="-120"/>
              </a:rPr>
              <a:t>A new feature is released</a:t>
            </a:r>
            <a:endParaRPr lang="en-US" sz="1900" dirty="0"/>
          </a:p>
        </p:txBody>
      </p:sp>
      <p:sp>
        <p:nvSpPr>
          <p:cNvPr id="12" name="Text 10"/>
          <p:cNvSpPr/>
          <p:nvPr/>
        </p:nvSpPr>
        <p:spPr>
          <a:xfrm>
            <a:off x="731520" y="2651760"/>
            <a:ext cx="3154680" cy="1097280"/>
          </a:xfrm>
          <a:prstGeom prst="rect">
            <a:avLst/>
          </a:prstGeom>
          <a:noFill/>
          <a:ln/>
        </p:spPr>
        <p:txBody>
          <a:bodyPr wrap="square" lIns="0" tIns="0" rIns="0" bIns="0" rtlCol="0" anchor="t"/>
          <a:lstStyle/>
          <a:p>
            <a:pPr indent="0" marL="0">
              <a:buNone/>
            </a:pPr>
            <a:r>
              <a:rPr lang="en-US" sz="1700" dirty="0">
                <a:solidFill>
                  <a:srgbClr val="111827"/>
                </a:solidFill>
                <a:latin typeface="Calibri" pitchFamily="34" charset="0"/>
                <a:ea typeface="Calibri" pitchFamily="34" charset="-122"/>
                <a:cs typeface="Calibri" pitchFamily="34" charset="-120"/>
              </a:rPr>
              <a:t>New code means a new attack surface, new data, new permissions.</a:t>
            </a:r>
            <a:endParaRPr lang="en-US" sz="1700" dirty="0"/>
          </a:p>
        </p:txBody>
      </p:sp>
      <p:sp>
        <p:nvSpPr>
          <p:cNvPr id="13" name="Shape 11"/>
          <p:cNvSpPr/>
          <p:nvPr/>
        </p:nvSpPr>
        <p:spPr>
          <a:xfrm>
            <a:off x="4325112" y="1508760"/>
            <a:ext cx="3611880" cy="2377440"/>
          </a:xfrm>
          <a:prstGeom prst="roundRect">
            <a:avLst>
              <a:gd name="adj" fmla="val 3462"/>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4" name="Text 12"/>
          <p:cNvSpPr/>
          <p:nvPr/>
        </p:nvSpPr>
        <p:spPr>
          <a:xfrm>
            <a:off x="4553712" y="1737360"/>
            <a:ext cx="3154680" cy="868680"/>
          </a:xfrm>
          <a:prstGeom prst="rect">
            <a:avLst/>
          </a:prstGeom>
          <a:noFill/>
          <a:ln/>
        </p:spPr>
        <p:txBody>
          <a:bodyPr wrap="square" lIns="0" tIns="0" rIns="0" bIns="0" rtlCol="0" anchor="t"/>
          <a:lstStyle/>
          <a:p>
            <a:pPr indent="0" marL="0">
              <a:buNone/>
            </a:pPr>
            <a:r>
              <a:rPr lang="en-US" sz="1900" b="1" dirty="0">
                <a:solidFill>
                  <a:srgbClr val="4361EE"/>
                </a:solidFill>
                <a:latin typeface="Bookman Old Style" pitchFamily="34" charset="0"/>
                <a:ea typeface="Bookman Old Style" pitchFamily="34" charset="-122"/>
                <a:cs typeface="Bookman Old Style" pitchFamily="34" charset="-120"/>
              </a:rPr>
              <a:t>A security incident occurs</a:t>
            </a:r>
            <a:endParaRPr lang="en-US" sz="1900" dirty="0"/>
          </a:p>
        </p:txBody>
      </p:sp>
      <p:sp>
        <p:nvSpPr>
          <p:cNvPr id="15" name="Text 13"/>
          <p:cNvSpPr/>
          <p:nvPr/>
        </p:nvSpPr>
        <p:spPr>
          <a:xfrm>
            <a:off x="4553712" y="2651760"/>
            <a:ext cx="3154680" cy="1097280"/>
          </a:xfrm>
          <a:prstGeom prst="rect">
            <a:avLst/>
          </a:prstGeom>
          <a:noFill/>
          <a:ln/>
        </p:spPr>
        <p:txBody>
          <a:bodyPr wrap="square" lIns="0" tIns="0" rIns="0" bIns="0" rtlCol="0" anchor="t"/>
          <a:lstStyle/>
          <a:p>
            <a:pPr indent="0" marL="0">
              <a:buNone/>
            </a:pPr>
            <a:r>
              <a:rPr lang="en-US" sz="1700" dirty="0">
                <a:solidFill>
                  <a:srgbClr val="111827"/>
                </a:solidFill>
                <a:latin typeface="Calibri" pitchFamily="34" charset="0"/>
                <a:ea typeface="Calibri" pitchFamily="34" charset="-122"/>
                <a:cs typeface="Calibri" pitchFamily="34" charset="-120"/>
              </a:rPr>
              <a:t>The incident proves the model missed something — the model must be corrected.</a:t>
            </a:r>
            <a:endParaRPr lang="en-US" sz="1700" dirty="0"/>
          </a:p>
        </p:txBody>
      </p:sp>
      <p:sp>
        <p:nvSpPr>
          <p:cNvPr id="16" name="Shape 14"/>
          <p:cNvSpPr/>
          <p:nvPr/>
        </p:nvSpPr>
        <p:spPr>
          <a:xfrm>
            <a:off x="8147304" y="1508760"/>
            <a:ext cx="3611880" cy="2377440"/>
          </a:xfrm>
          <a:prstGeom prst="roundRect">
            <a:avLst>
              <a:gd name="adj" fmla="val 3462"/>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7" name="Text 15"/>
          <p:cNvSpPr/>
          <p:nvPr/>
        </p:nvSpPr>
        <p:spPr>
          <a:xfrm>
            <a:off x="8375904" y="1737360"/>
            <a:ext cx="3154680" cy="868680"/>
          </a:xfrm>
          <a:prstGeom prst="rect">
            <a:avLst/>
          </a:prstGeom>
          <a:noFill/>
          <a:ln/>
        </p:spPr>
        <p:txBody>
          <a:bodyPr wrap="square" lIns="0" tIns="0" rIns="0" bIns="0" rtlCol="0" anchor="t"/>
          <a:lstStyle/>
          <a:p>
            <a:pPr indent="0" marL="0">
              <a:buNone/>
            </a:pPr>
            <a:r>
              <a:rPr lang="en-US" sz="1900" b="1" dirty="0">
                <a:solidFill>
                  <a:srgbClr val="4361EE"/>
                </a:solidFill>
                <a:latin typeface="Bookman Old Style" pitchFamily="34" charset="0"/>
                <a:ea typeface="Bookman Old Style" pitchFamily="34" charset="-122"/>
                <a:cs typeface="Bookman Old Style" pitchFamily="34" charset="-120"/>
              </a:rPr>
              <a:t>Organisational or infrastructure change</a:t>
            </a:r>
            <a:endParaRPr lang="en-US" sz="1900" dirty="0"/>
          </a:p>
        </p:txBody>
      </p:sp>
      <p:sp>
        <p:nvSpPr>
          <p:cNvPr id="18" name="Text 16"/>
          <p:cNvSpPr/>
          <p:nvPr/>
        </p:nvSpPr>
        <p:spPr>
          <a:xfrm>
            <a:off x="8375904" y="2651760"/>
            <a:ext cx="3154680" cy="1097280"/>
          </a:xfrm>
          <a:prstGeom prst="rect">
            <a:avLst/>
          </a:prstGeom>
          <a:noFill/>
          <a:ln/>
        </p:spPr>
        <p:txBody>
          <a:bodyPr wrap="square" lIns="0" tIns="0" rIns="0" bIns="0" rtlCol="0" anchor="t"/>
          <a:lstStyle/>
          <a:p>
            <a:pPr indent="0" marL="0">
              <a:buNone/>
            </a:pPr>
            <a:r>
              <a:rPr lang="en-US" sz="1700" dirty="0">
                <a:solidFill>
                  <a:srgbClr val="111827"/>
                </a:solidFill>
                <a:latin typeface="Calibri" pitchFamily="34" charset="0"/>
                <a:ea typeface="Calibri" pitchFamily="34" charset="-122"/>
                <a:cs typeface="Calibri" pitchFamily="34" charset="-120"/>
              </a:rPr>
              <a:t>Staff turnover, a new cloud provider, a merger or a new office all change who has access to what.</a:t>
            </a:r>
            <a:endParaRPr lang="en-US" sz="1700" dirty="0"/>
          </a:p>
        </p:txBody>
      </p:sp>
      <p:sp>
        <p:nvSpPr>
          <p:cNvPr id="19" name="Shape 17"/>
          <p:cNvSpPr/>
          <p:nvPr/>
        </p:nvSpPr>
        <p:spPr>
          <a:xfrm>
            <a:off x="502920" y="4160520"/>
            <a:ext cx="11155680" cy="1737360"/>
          </a:xfrm>
          <a:prstGeom prst="roundRect">
            <a:avLst>
              <a:gd name="adj" fmla="val 4737"/>
            </a:avLst>
          </a:prstGeom>
          <a:solidFill>
            <a:srgbClr val="FEF3C7"/>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20" name="Text 18"/>
          <p:cNvSpPr/>
          <p:nvPr/>
        </p:nvSpPr>
        <p:spPr>
          <a:xfrm>
            <a:off x="822960" y="4315968"/>
            <a:ext cx="10515600" cy="411480"/>
          </a:xfrm>
          <a:prstGeom prst="rect">
            <a:avLst/>
          </a:prstGeom>
          <a:noFill/>
          <a:ln/>
        </p:spPr>
        <p:txBody>
          <a:bodyPr wrap="square" lIns="0" tIns="0" rIns="0" bIns="0" rtlCol="0" anchor="ctr"/>
          <a:lstStyle/>
          <a:p>
            <a:pPr indent="0" marL="0">
              <a:buNone/>
            </a:pPr>
            <a:r>
              <a:rPr lang="en-US" sz="2100" b="1" dirty="0">
                <a:solidFill>
                  <a:srgbClr val="111827"/>
                </a:solidFill>
                <a:latin typeface="Bookman Old Style" pitchFamily="34" charset="0"/>
                <a:ea typeface="Bookman Old Style" pitchFamily="34" charset="-122"/>
                <a:cs typeface="Bookman Old Style" pitchFamily="34" charset="-120"/>
              </a:rPr>
              <a:t>Assumptions are the weak point</a:t>
            </a:r>
            <a:endParaRPr lang="en-US" sz="2100" dirty="0"/>
          </a:p>
        </p:txBody>
      </p:sp>
      <p:sp>
        <p:nvSpPr>
          <p:cNvPr id="21" name="Text 19"/>
          <p:cNvSpPr/>
          <p:nvPr/>
        </p:nvSpPr>
        <p:spPr>
          <a:xfrm>
            <a:off x="822960" y="4754880"/>
            <a:ext cx="10515600" cy="1051560"/>
          </a:xfrm>
          <a:prstGeom prst="rect">
            <a:avLst/>
          </a:prstGeom>
          <a:noFill/>
          <a:ln/>
        </p:spPr>
        <p:txBody>
          <a:bodyPr wrap="square" lIns="0" tIns="0" rIns="0" bIns="0" rtlCol="0" anchor="t"/>
          <a:lstStyle/>
          <a:p>
            <a:pPr indent="0" marL="0">
              <a:buNone/>
            </a:pPr>
            <a:r>
              <a:rPr lang="en-US" sz="1800" dirty="0">
                <a:solidFill>
                  <a:srgbClr val="111827"/>
                </a:solidFill>
                <a:latin typeface="Calibri" pitchFamily="34" charset="0"/>
                <a:ea typeface="Calibri" pitchFamily="34" charset="-122"/>
                <a:cs typeface="Calibri" pitchFamily="34" charset="-120"/>
              </a:rPr>
              <a:t>Every threat model rests on assumptions — "our hosting provider patches their servers", "the payment gateway is secure", "nobody outside the office can reach the build server". These assumptions are recorded so they can be re-checked, because a threat model built on an assumption that quietly stopped being true is worse than no model at all: it creates false confidence.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F59E0B"/>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REFLECTING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Three things examiners see go wrong</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Check your own understanding against each of these</a:t>
            </a:r>
            <a:endParaRPr lang="en-US" sz="1500" dirty="0"/>
          </a:p>
        </p:txBody>
      </p:sp>
      <p:sp>
        <p:nvSpPr>
          <p:cNvPr id="8" name="Shape 6"/>
          <p:cNvSpPr/>
          <p:nvPr/>
        </p:nvSpPr>
        <p:spPr>
          <a:xfrm>
            <a:off x="502920" y="1463040"/>
            <a:ext cx="11155680" cy="1481328"/>
          </a:xfrm>
          <a:prstGeom prst="roundRect">
            <a:avLst>
              <a:gd name="adj" fmla="val 555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9" name="Shape 7"/>
          <p:cNvSpPr/>
          <p:nvPr/>
        </p:nvSpPr>
        <p:spPr>
          <a:xfrm>
            <a:off x="731520" y="1965960"/>
            <a:ext cx="457200" cy="457200"/>
          </a:xfrm>
          <a:prstGeom prst="roundRect">
            <a:avLst>
              <a:gd name="adj" fmla="val 50000"/>
            </a:avLst>
          </a:prstGeom>
          <a:solidFill>
            <a:srgbClr val="EF4444"/>
          </a:solidFill>
          <a:ln/>
        </p:spPr>
      </p:sp>
      <p:sp>
        <p:nvSpPr>
          <p:cNvPr id="10" name="Text 8"/>
          <p:cNvSpPr/>
          <p:nvPr/>
        </p:nvSpPr>
        <p:spPr>
          <a:xfrm>
            <a:off x="73152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1" name="Text 9"/>
          <p:cNvSpPr/>
          <p:nvPr/>
        </p:nvSpPr>
        <p:spPr>
          <a:xfrm>
            <a:off x="1371600" y="1645920"/>
            <a:ext cx="10058400" cy="45720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Threat, vulnerability, risk are used interchangeably</a:t>
            </a:r>
            <a:endParaRPr lang="en-US" sz="1900" dirty="0"/>
          </a:p>
        </p:txBody>
      </p:sp>
      <p:sp>
        <p:nvSpPr>
          <p:cNvPr id="12" name="Text 10"/>
          <p:cNvSpPr/>
          <p:nvPr/>
        </p:nvSpPr>
        <p:spPr>
          <a:xfrm>
            <a:off x="1371600" y="2121408"/>
            <a:ext cx="10058400" cy="73152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A vulnerability is the weakness. A threat is what could exploit it. Risk is the combination of how likely that is and how bad it would be.</a:t>
            </a:r>
            <a:endParaRPr lang="en-US" sz="1700" dirty="0"/>
          </a:p>
        </p:txBody>
      </p:sp>
      <p:sp>
        <p:nvSpPr>
          <p:cNvPr id="13" name="Shape 11"/>
          <p:cNvSpPr/>
          <p:nvPr/>
        </p:nvSpPr>
        <p:spPr>
          <a:xfrm>
            <a:off x="502920" y="3063240"/>
            <a:ext cx="11155680" cy="1481328"/>
          </a:xfrm>
          <a:prstGeom prst="roundRect">
            <a:avLst>
              <a:gd name="adj" fmla="val 555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14" name="Shape 12"/>
          <p:cNvSpPr/>
          <p:nvPr/>
        </p:nvSpPr>
        <p:spPr>
          <a:xfrm>
            <a:off x="731520" y="3566160"/>
            <a:ext cx="457200" cy="457200"/>
          </a:xfrm>
          <a:prstGeom prst="roundRect">
            <a:avLst>
              <a:gd name="adj" fmla="val 50000"/>
            </a:avLst>
          </a:prstGeom>
          <a:solidFill>
            <a:srgbClr val="EF4444"/>
          </a:solidFill>
          <a:ln/>
        </p:spPr>
      </p:sp>
      <p:sp>
        <p:nvSpPr>
          <p:cNvPr id="15" name="Text 13"/>
          <p:cNvSpPr/>
          <p:nvPr/>
        </p:nvSpPr>
        <p:spPr>
          <a:xfrm>
            <a:off x="73152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6" name="Text 14"/>
          <p:cNvSpPr/>
          <p:nvPr/>
        </p:nvSpPr>
        <p:spPr>
          <a:xfrm>
            <a:off x="1371600" y="3246120"/>
            <a:ext cx="10058400" cy="45720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The answer stops at 'add a control'</a:t>
            </a:r>
            <a:endParaRPr lang="en-US" sz="1900" dirty="0"/>
          </a:p>
        </p:txBody>
      </p:sp>
      <p:sp>
        <p:nvSpPr>
          <p:cNvPr id="17" name="Text 15"/>
          <p:cNvSpPr/>
          <p:nvPr/>
        </p:nvSpPr>
        <p:spPr>
          <a:xfrm>
            <a:off x="1371600" y="3721608"/>
            <a:ext cx="10058400" cy="73152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Naming a control without saying which threat it addresses, why it was prioritised, or how you would confirm it works leaves most of the marks on the table.</a:t>
            </a:r>
            <a:endParaRPr lang="en-US" sz="1700" dirty="0"/>
          </a:p>
        </p:txBody>
      </p:sp>
      <p:sp>
        <p:nvSpPr>
          <p:cNvPr id="18" name="Shape 16"/>
          <p:cNvSpPr/>
          <p:nvPr/>
        </p:nvSpPr>
        <p:spPr>
          <a:xfrm>
            <a:off x="502920" y="4663440"/>
            <a:ext cx="11155680" cy="1481328"/>
          </a:xfrm>
          <a:prstGeom prst="roundRect">
            <a:avLst>
              <a:gd name="adj" fmla="val 555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19" name="Shape 17"/>
          <p:cNvSpPr/>
          <p:nvPr/>
        </p:nvSpPr>
        <p:spPr>
          <a:xfrm>
            <a:off x="731520" y="5166360"/>
            <a:ext cx="457200" cy="457200"/>
          </a:xfrm>
          <a:prstGeom prst="roundRect">
            <a:avLst>
              <a:gd name="adj" fmla="val 50000"/>
            </a:avLst>
          </a:prstGeom>
          <a:solidFill>
            <a:srgbClr val="EF4444"/>
          </a:solidFill>
          <a:ln/>
        </p:spPr>
      </p:sp>
      <p:sp>
        <p:nvSpPr>
          <p:cNvPr id="20" name="Text 18"/>
          <p:cNvSpPr/>
          <p:nvPr/>
        </p:nvSpPr>
        <p:spPr>
          <a:xfrm>
            <a:off x="731520" y="5166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21" name="Text 19"/>
          <p:cNvSpPr/>
          <p:nvPr/>
        </p:nvSpPr>
        <p:spPr>
          <a:xfrm>
            <a:off x="1371600" y="4846320"/>
            <a:ext cx="10058400" cy="45720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Confirmation is treated as optional</a:t>
            </a:r>
            <a:endParaRPr lang="en-US" sz="1900" dirty="0"/>
          </a:p>
        </p:txBody>
      </p:sp>
      <p:sp>
        <p:nvSpPr>
          <p:cNvPr id="22" name="Text 20"/>
          <p:cNvSpPr/>
          <p:nvPr/>
        </p:nvSpPr>
        <p:spPr>
          <a:xfrm>
            <a:off x="1371600" y="5321808"/>
            <a:ext cx="10058400" cy="73152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It is one of the three named principles. An answer with no evidence step is missing a third of the key knowledge.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10B981"/>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APPLYING</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Laptop gate — open your workbook</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L5_ThreatModelling_workbook.html · Sections 1–6 · 30 minutes</a:t>
            </a:r>
            <a:endParaRPr lang="en-US" sz="1500" dirty="0"/>
          </a:p>
        </p:txBody>
      </p:sp>
      <p:sp>
        <p:nvSpPr>
          <p:cNvPr id="8" name="Shape 6"/>
          <p:cNvSpPr/>
          <p:nvPr/>
        </p:nvSpPr>
        <p:spPr>
          <a:xfrm>
            <a:off x="502920" y="1280160"/>
            <a:ext cx="11155680" cy="777240"/>
          </a:xfrm>
          <a:prstGeom prst="roundRect">
            <a:avLst>
              <a:gd name="adj" fmla="val 10588"/>
            </a:avLst>
          </a:prstGeom>
          <a:solidFill>
            <a:srgbClr val="D1FAE5"/>
          </a:solidFill>
          <a:ln w="12700">
            <a:solidFill>
              <a:srgbClr val="10B981"/>
            </a:solidFill>
            <a:prstDash val="solid"/>
          </a:ln>
        </p:spPr>
      </p:sp>
      <p:sp>
        <p:nvSpPr>
          <p:cNvPr id="9" name="Text 7"/>
          <p:cNvSpPr/>
          <p:nvPr/>
        </p:nvSpPr>
        <p:spPr>
          <a:xfrm>
            <a:off x="822960" y="1280160"/>
            <a:ext cx="10515600" cy="777240"/>
          </a:xfrm>
          <a:prstGeom prst="rect">
            <a:avLst/>
          </a:prstGeom>
          <a:noFill/>
          <a:ln/>
        </p:spPr>
        <p:txBody>
          <a:bodyPr wrap="square" lIns="0" tIns="0" rIns="0" bIns="0" rtlCol="0" anchor="ctr"/>
          <a:lstStyle/>
          <a:p>
            <a:pPr indent="0" marL="0">
              <a:buNone/>
            </a:pPr>
            <a:r>
              <a:rPr lang="en-US" sz="1900" b="1" dirty="0">
                <a:solidFill>
                  <a:srgbClr val="111827"/>
                </a:solidFill>
                <a:latin typeface="Calibri" pitchFamily="34" charset="0"/>
                <a:ea typeface="Calibri" pitchFamily="34" charset="-122"/>
                <a:cs typeface="Calibri" pitchFamily="34" charset="-120"/>
              </a:rPr>
              <a:t>Laptops open now. Notes stay open beside you — the workbook asks you to use them, not to copy the slides.</a:t>
            </a:r>
            <a:endParaRPr lang="en-US" sz="1900" dirty="0"/>
          </a:p>
        </p:txBody>
      </p:sp>
      <p:sp>
        <p:nvSpPr>
          <p:cNvPr id="10" name="Shape 8"/>
          <p:cNvSpPr/>
          <p:nvPr/>
        </p:nvSpPr>
        <p:spPr>
          <a:xfrm>
            <a:off x="502920" y="2286000"/>
            <a:ext cx="3611880" cy="3246120"/>
          </a:xfrm>
          <a:prstGeom prst="roundRect">
            <a:avLst>
              <a:gd name="adj" fmla="val 2535"/>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2487168"/>
            <a:ext cx="1298448" cy="274320"/>
          </a:xfrm>
          <a:prstGeom prst="roundRect">
            <a:avLst>
              <a:gd name="adj" fmla="val 50000"/>
            </a:avLst>
          </a:prstGeom>
          <a:solidFill>
            <a:srgbClr val="10B981"/>
          </a:solidFill>
          <a:ln/>
        </p:spPr>
      </p:sp>
      <p:sp>
        <p:nvSpPr>
          <p:cNvPr id="12" name="Text 10"/>
          <p:cNvSpPr/>
          <p:nvPr/>
        </p:nvSpPr>
        <p:spPr>
          <a:xfrm>
            <a:off x="731520" y="2487168"/>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FOUNDATION</a:t>
            </a:r>
            <a:endParaRPr lang="en-US" sz="900" dirty="0"/>
          </a:p>
        </p:txBody>
      </p:sp>
      <p:sp>
        <p:nvSpPr>
          <p:cNvPr id="13" name="Text 11"/>
          <p:cNvSpPr/>
          <p:nvPr/>
        </p:nvSpPr>
        <p:spPr>
          <a:xfrm>
            <a:off x="2148840" y="2487168"/>
            <a:ext cx="173736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Sections 1–3</a:t>
            </a:r>
            <a:endParaRPr lang="en-US" sz="1200" dirty="0"/>
          </a:p>
        </p:txBody>
      </p:sp>
      <p:sp>
        <p:nvSpPr>
          <p:cNvPr id="14" name="Text 12"/>
          <p:cNvSpPr/>
          <p:nvPr/>
        </p:nvSpPr>
        <p:spPr>
          <a:xfrm>
            <a:off x="777240" y="2926080"/>
            <a:ext cx="310896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Match each principle to what it answers</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Classify eight threats as accidental, event-based or deliberate</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Rewrite three weak security requirements so they are testable</a:t>
            </a:r>
            <a:endParaRPr lang="en-US" sz="1600" dirty="0"/>
          </a:p>
        </p:txBody>
      </p:sp>
      <p:sp>
        <p:nvSpPr>
          <p:cNvPr id="15" name="Shape 13"/>
          <p:cNvSpPr/>
          <p:nvPr/>
        </p:nvSpPr>
        <p:spPr>
          <a:xfrm>
            <a:off x="4325112" y="2286000"/>
            <a:ext cx="3611880" cy="3246120"/>
          </a:xfrm>
          <a:prstGeom prst="roundRect">
            <a:avLst>
              <a:gd name="adj" fmla="val 2535"/>
            </a:avLst>
          </a:prstGeom>
          <a:solidFill>
            <a:srgbClr val="FFFFFF"/>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16" name="Shape 14"/>
          <p:cNvSpPr/>
          <p:nvPr/>
        </p:nvSpPr>
        <p:spPr>
          <a:xfrm>
            <a:off x="4553712" y="2487168"/>
            <a:ext cx="1298448" cy="274320"/>
          </a:xfrm>
          <a:prstGeom prst="roundRect">
            <a:avLst>
              <a:gd name="adj" fmla="val 50000"/>
            </a:avLst>
          </a:prstGeom>
          <a:solidFill>
            <a:srgbClr val="F59E0B"/>
          </a:solidFill>
          <a:ln/>
        </p:spPr>
      </p:sp>
      <p:sp>
        <p:nvSpPr>
          <p:cNvPr id="17" name="Text 15"/>
          <p:cNvSpPr/>
          <p:nvPr/>
        </p:nvSpPr>
        <p:spPr>
          <a:xfrm>
            <a:off x="4553712" y="2487168"/>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DEVELOPING</a:t>
            </a:r>
            <a:endParaRPr lang="en-US" sz="900" dirty="0"/>
          </a:p>
        </p:txBody>
      </p:sp>
      <p:sp>
        <p:nvSpPr>
          <p:cNvPr id="18" name="Text 16"/>
          <p:cNvSpPr/>
          <p:nvPr/>
        </p:nvSpPr>
        <p:spPr>
          <a:xfrm>
            <a:off x="5971032" y="2487168"/>
            <a:ext cx="173736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Sections 4–5</a:t>
            </a:r>
            <a:endParaRPr lang="en-US" sz="1200" dirty="0"/>
          </a:p>
        </p:txBody>
      </p:sp>
      <p:sp>
        <p:nvSpPr>
          <p:cNvPr id="19" name="Text 17"/>
          <p:cNvSpPr/>
          <p:nvPr/>
        </p:nvSpPr>
        <p:spPr>
          <a:xfrm>
            <a:off x="4599432" y="2926080"/>
            <a:ext cx="310896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Rate five Aurora threats using likelihood and consequence</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Build a full threat model table for a second asset</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Choose reduce, avoid, transfer or accept and justify each</a:t>
            </a:r>
            <a:endParaRPr lang="en-US" sz="1600" dirty="0"/>
          </a:p>
        </p:txBody>
      </p:sp>
      <p:sp>
        <p:nvSpPr>
          <p:cNvPr id="20" name="Shape 18"/>
          <p:cNvSpPr/>
          <p:nvPr/>
        </p:nvSpPr>
        <p:spPr>
          <a:xfrm>
            <a:off x="8147304" y="2286000"/>
            <a:ext cx="3611880" cy="3246120"/>
          </a:xfrm>
          <a:prstGeom prst="roundRect">
            <a:avLst>
              <a:gd name="adj" fmla="val 2535"/>
            </a:avLst>
          </a:prstGeom>
          <a:solidFill>
            <a:srgbClr val="FFFFFF"/>
          </a:solidFill>
          <a:ln w="12700">
            <a:solidFill>
              <a:srgbClr val="8B5CF6"/>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8375904" y="2487168"/>
            <a:ext cx="1298448" cy="274320"/>
          </a:xfrm>
          <a:prstGeom prst="roundRect">
            <a:avLst>
              <a:gd name="adj" fmla="val 50000"/>
            </a:avLst>
          </a:prstGeom>
          <a:solidFill>
            <a:srgbClr val="8B5CF6"/>
          </a:solidFill>
          <a:ln/>
        </p:spPr>
      </p:sp>
      <p:sp>
        <p:nvSpPr>
          <p:cNvPr id="22" name="Text 20"/>
          <p:cNvSpPr/>
          <p:nvPr/>
        </p:nvSpPr>
        <p:spPr>
          <a:xfrm>
            <a:off x="8375904" y="2487168"/>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EXTENDING</a:t>
            </a:r>
            <a:endParaRPr lang="en-US" sz="900" dirty="0"/>
          </a:p>
        </p:txBody>
      </p:sp>
      <p:sp>
        <p:nvSpPr>
          <p:cNvPr id="23" name="Text 21"/>
          <p:cNvSpPr/>
          <p:nvPr/>
        </p:nvSpPr>
        <p:spPr>
          <a:xfrm>
            <a:off x="9793224" y="2487168"/>
            <a:ext cx="173736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 6</a:t>
            </a:r>
            <a:endParaRPr lang="en-US" sz="1200" dirty="0"/>
          </a:p>
        </p:txBody>
      </p:sp>
      <p:sp>
        <p:nvSpPr>
          <p:cNvPr id="24" name="Text 22"/>
          <p:cNvSpPr/>
          <p:nvPr/>
        </p:nvSpPr>
        <p:spPr>
          <a:xfrm>
            <a:off x="8421624" y="2926080"/>
            <a:ext cx="310896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Audit a supplied threat model and find what it misses</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Specify the confirmation evidence for three mitigations</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Argue for one risk that should be accepted</a:t>
            </a:r>
            <a:endParaRPr lang="en-US" sz="1600" dirty="0"/>
          </a:p>
        </p:txBody>
      </p:sp>
      <p:sp>
        <p:nvSpPr>
          <p:cNvPr id="25" name="Shape 23"/>
          <p:cNvSpPr/>
          <p:nvPr/>
        </p:nvSpPr>
        <p:spPr>
          <a:xfrm>
            <a:off x="502920" y="5715000"/>
            <a:ext cx="11155680" cy="658368"/>
          </a:xfrm>
          <a:prstGeom prst="roundRect">
            <a:avLst>
              <a:gd name="adj" fmla="val 12500"/>
            </a:avLst>
          </a:prstGeom>
          <a:solidFill>
            <a:srgbClr val="FFFFFF"/>
          </a:solidFill>
          <a:ln w="12700">
            <a:solidFill>
              <a:srgbClr val="4361EE"/>
            </a:solidFill>
            <a:prstDash val="solid"/>
          </a:ln>
        </p:spPr>
      </p:sp>
      <p:sp>
        <p:nvSpPr>
          <p:cNvPr id="26" name="Text 24"/>
          <p:cNvSpPr/>
          <p:nvPr/>
        </p:nvSpPr>
        <p:spPr>
          <a:xfrm>
            <a:off x="822960" y="5715000"/>
            <a:ext cx="10515600" cy="658368"/>
          </a:xfrm>
          <a:prstGeom prst="rect">
            <a:avLst/>
          </a:prstGeom>
          <a:noFill/>
          <a:ln/>
        </p:spPr>
        <p:txBody>
          <a:bodyPr wrap="square" lIns="0" tIns="0" rIns="0" bIns="0" rtlCol="0" anchor="ctr"/>
          <a:lstStyle/>
          <a:p>
            <a:pPr indent="0" marL="0">
              <a:buNone/>
            </a:pPr>
            <a:r>
              <a:rPr lang="en-US" sz="1700" dirty="0">
                <a:solidFill>
                  <a:srgbClr val="111827"/>
                </a:solidFill>
                <a:latin typeface="Calibri" pitchFamily="34" charset="0"/>
                <a:ea typeface="Calibri" pitchFamily="34" charset="-122"/>
                <a:cs typeface="Calibri" pitchFamily="34" charset="-120"/>
              </a:rPr>
              <a:t>Everyone completes Foundation. Move up when you are ready — you may complete more than one tier. Full notes are on the unit site under Lesson 5.</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F59E0B"/>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REFLECTING</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Check in — where should you be?</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10 minutes before the exit ticket</a:t>
            </a:r>
            <a:endParaRPr lang="en-US" sz="1500" dirty="0"/>
          </a:p>
        </p:txBody>
      </p:sp>
      <p:sp>
        <p:nvSpPr>
          <p:cNvPr id="8" name="Shape 6"/>
          <p:cNvSpPr/>
          <p:nvPr/>
        </p:nvSpPr>
        <p:spPr>
          <a:xfrm>
            <a:off x="502920" y="1463040"/>
            <a:ext cx="3200400" cy="457200"/>
          </a:xfrm>
          <a:prstGeom prst="rect">
            <a:avLst/>
          </a:prstGeom>
          <a:solidFill>
            <a:srgbClr val="F59E0B"/>
          </a:solidFill>
          <a:ln w="12700">
            <a:solidFill>
              <a:srgbClr val="FFFFFF"/>
            </a:solidFill>
            <a:prstDash val="solid"/>
          </a:ln>
        </p:spPr>
      </p:sp>
      <p:sp>
        <p:nvSpPr>
          <p:cNvPr id="9" name="Text 7"/>
          <p:cNvSpPr/>
          <p:nvPr/>
        </p:nvSpPr>
        <p:spPr>
          <a:xfrm>
            <a:off x="502920" y="1463040"/>
            <a:ext cx="32004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Success criterion</a:t>
            </a:r>
            <a:endParaRPr lang="en-US" sz="1200" dirty="0"/>
          </a:p>
        </p:txBody>
      </p:sp>
      <p:sp>
        <p:nvSpPr>
          <p:cNvPr id="10" name="Shape 8"/>
          <p:cNvSpPr/>
          <p:nvPr/>
        </p:nvSpPr>
        <p:spPr>
          <a:xfrm>
            <a:off x="3703320" y="1463040"/>
            <a:ext cx="4206240" cy="457200"/>
          </a:xfrm>
          <a:prstGeom prst="rect">
            <a:avLst/>
          </a:prstGeom>
          <a:solidFill>
            <a:srgbClr val="F59E0B"/>
          </a:solidFill>
          <a:ln w="12700">
            <a:solidFill>
              <a:srgbClr val="FFFFFF"/>
            </a:solidFill>
            <a:prstDash val="solid"/>
          </a:ln>
        </p:spPr>
      </p:sp>
      <p:sp>
        <p:nvSpPr>
          <p:cNvPr id="11" name="Text 9"/>
          <p:cNvSpPr/>
          <p:nvPr/>
        </p:nvSpPr>
        <p:spPr>
          <a:xfrm>
            <a:off x="3703320" y="1463040"/>
            <a:ext cx="42062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You are on track if…</a:t>
            </a:r>
            <a:endParaRPr lang="en-US" sz="1200" dirty="0"/>
          </a:p>
        </p:txBody>
      </p:sp>
      <p:sp>
        <p:nvSpPr>
          <p:cNvPr id="12" name="Shape 10"/>
          <p:cNvSpPr/>
          <p:nvPr/>
        </p:nvSpPr>
        <p:spPr>
          <a:xfrm>
            <a:off x="7909560" y="1463040"/>
            <a:ext cx="3749040" cy="457200"/>
          </a:xfrm>
          <a:prstGeom prst="rect">
            <a:avLst/>
          </a:prstGeom>
          <a:solidFill>
            <a:srgbClr val="F59E0B"/>
          </a:solidFill>
          <a:ln w="12700">
            <a:solidFill>
              <a:srgbClr val="FFFFFF"/>
            </a:solidFill>
            <a:prstDash val="solid"/>
          </a:ln>
        </p:spPr>
      </p:sp>
      <p:sp>
        <p:nvSpPr>
          <p:cNvPr id="13" name="Text 11"/>
          <p:cNvSpPr/>
          <p:nvPr/>
        </p:nvSpPr>
        <p:spPr>
          <a:xfrm>
            <a:off x="7909560" y="1463040"/>
            <a:ext cx="37490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Stuck? Try this</a:t>
            </a:r>
            <a:endParaRPr lang="en-US" sz="1200" dirty="0"/>
          </a:p>
        </p:txBody>
      </p:sp>
      <p:sp>
        <p:nvSpPr>
          <p:cNvPr id="14" name="Shape 12"/>
          <p:cNvSpPr/>
          <p:nvPr/>
        </p:nvSpPr>
        <p:spPr>
          <a:xfrm>
            <a:off x="502920" y="1920240"/>
            <a:ext cx="3200400" cy="841248"/>
          </a:xfrm>
          <a:prstGeom prst="rect">
            <a:avLst/>
          </a:prstGeom>
          <a:solidFill>
            <a:srgbClr val="FFFFFF"/>
          </a:solidFill>
          <a:ln w="12700">
            <a:solidFill>
              <a:srgbClr val="D8DDE6"/>
            </a:solidFill>
            <a:prstDash val="solid"/>
          </a:ln>
        </p:spPr>
      </p:sp>
      <p:sp>
        <p:nvSpPr>
          <p:cNvPr id="15" name="Text 13"/>
          <p:cNvSpPr/>
          <p:nvPr/>
        </p:nvSpPr>
        <p:spPr>
          <a:xfrm>
            <a:off x="594360" y="1920240"/>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Name the three principles</a:t>
            </a:r>
            <a:endParaRPr lang="en-US" sz="1500" dirty="0"/>
          </a:p>
        </p:txBody>
      </p:sp>
      <p:sp>
        <p:nvSpPr>
          <p:cNvPr id="16" name="Shape 14"/>
          <p:cNvSpPr/>
          <p:nvPr/>
        </p:nvSpPr>
        <p:spPr>
          <a:xfrm>
            <a:off x="3703320" y="1920240"/>
            <a:ext cx="4206240" cy="841248"/>
          </a:xfrm>
          <a:prstGeom prst="rect">
            <a:avLst/>
          </a:prstGeom>
          <a:solidFill>
            <a:srgbClr val="FFFFFF"/>
          </a:solidFill>
          <a:ln w="12700">
            <a:solidFill>
              <a:srgbClr val="D8DDE6"/>
            </a:solidFill>
            <a:prstDash val="solid"/>
          </a:ln>
        </p:spPr>
      </p:sp>
      <p:sp>
        <p:nvSpPr>
          <p:cNvPr id="17" name="Text 15"/>
          <p:cNvSpPr/>
          <p:nvPr/>
        </p:nvSpPr>
        <p:spPr>
          <a:xfrm>
            <a:off x="3794760" y="1920240"/>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You wrote all three from memory with no prompt</a:t>
            </a:r>
            <a:endParaRPr lang="en-US" sz="1500" dirty="0"/>
          </a:p>
        </p:txBody>
      </p:sp>
      <p:sp>
        <p:nvSpPr>
          <p:cNvPr id="18" name="Shape 16"/>
          <p:cNvSpPr/>
          <p:nvPr/>
        </p:nvSpPr>
        <p:spPr>
          <a:xfrm>
            <a:off x="7909560" y="1920240"/>
            <a:ext cx="3749040" cy="841248"/>
          </a:xfrm>
          <a:prstGeom prst="rect">
            <a:avLst/>
          </a:prstGeom>
          <a:solidFill>
            <a:srgbClr val="FFFFFF"/>
          </a:solidFill>
          <a:ln w="12700">
            <a:solidFill>
              <a:srgbClr val="D8DDE6"/>
            </a:solidFill>
            <a:prstDash val="solid"/>
          </a:ln>
        </p:spPr>
      </p:sp>
      <p:sp>
        <p:nvSpPr>
          <p:cNvPr id="19" name="Text 17"/>
          <p:cNvSpPr/>
          <p:nvPr/>
        </p:nvSpPr>
        <p:spPr>
          <a:xfrm>
            <a:off x="8001000" y="1920240"/>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Unit site, Lesson 5, first section — then cover it and rewrite</a:t>
            </a:r>
            <a:endParaRPr lang="en-US" sz="1500" dirty="0"/>
          </a:p>
        </p:txBody>
      </p:sp>
      <p:sp>
        <p:nvSpPr>
          <p:cNvPr id="20" name="Shape 18"/>
          <p:cNvSpPr/>
          <p:nvPr/>
        </p:nvSpPr>
        <p:spPr>
          <a:xfrm>
            <a:off x="502920" y="2761488"/>
            <a:ext cx="3200400" cy="841248"/>
          </a:xfrm>
          <a:prstGeom prst="rect">
            <a:avLst/>
          </a:prstGeom>
          <a:solidFill>
            <a:srgbClr val="F4F6FB"/>
          </a:solidFill>
          <a:ln w="12700">
            <a:solidFill>
              <a:srgbClr val="D8DDE6"/>
            </a:solidFill>
            <a:prstDash val="solid"/>
          </a:ln>
        </p:spPr>
      </p:sp>
      <p:sp>
        <p:nvSpPr>
          <p:cNvPr id="21" name="Text 19"/>
          <p:cNvSpPr/>
          <p:nvPr/>
        </p:nvSpPr>
        <p:spPr>
          <a:xfrm>
            <a:off x="594360" y="2761488"/>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Classify threats</a:t>
            </a:r>
            <a:endParaRPr lang="en-US" sz="1500" dirty="0"/>
          </a:p>
        </p:txBody>
      </p:sp>
      <p:sp>
        <p:nvSpPr>
          <p:cNvPr id="22" name="Shape 20"/>
          <p:cNvSpPr/>
          <p:nvPr/>
        </p:nvSpPr>
        <p:spPr>
          <a:xfrm>
            <a:off x="3703320" y="2761488"/>
            <a:ext cx="4206240" cy="841248"/>
          </a:xfrm>
          <a:prstGeom prst="rect">
            <a:avLst/>
          </a:prstGeom>
          <a:solidFill>
            <a:srgbClr val="F4F6FB"/>
          </a:solidFill>
          <a:ln w="12700">
            <a:solidFill>
              <a:srgbClr val="D8DDE6"/>
            </a:solidFill>
            <a:prstDash val="solid"/>
          </a:ln>
        </p:spPr>
      </p:sp>
      <p:sp>
        <p:nvSpPr>
          <p:cNvPr id="23" name="Text 21"/>
          <p:cNvSpPr/>
          <p:nvPr/>
        </p:nvSpPr>
        <p:spPr>
          <a:xfrm>
            <a:off x="3794760" y="2761488"/>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You sorted at least 7 of the 8 correctly</a:t>
            </a:r>
            <a:endParaRPr lang="en-US" sz="1500" dirty="0"/>
          </a:p>
        </p:txBody>
      </p:sp>
      <p:sp>
        <p:nvSpPr>
          <p:cNvPr id="24" name="Shape 22"/>
          <p:cNvSpPr/>
          <p:nvPr/>
        </p:nvSpPr>
        <p:spPr>
          <a:xfrm>
            <a:off x="7909560" y="2761488"/>
            <a:ext cx="3749040" cy="841248"/>
          </a:xfrm>
          <a:prstGeom prst="rect">
            <a:avLst/>
          </a:prstGeom>
          <a:solidFill>
            <a:srgbClr val="F4F6FB"/>
          </a:solidFill>
          <a:ln w="12700">
            <a:solidFill>
              <a:srgbClr val="D8DDE6"/>
            </a:solidFill>
            <a:prstDash val="solid"/>
          </a:ln>
        </p:spPr>
      </p:sp>
      <p:sp>
        <p:nvSpPr>
          <p:cNvPr id="25" name="Text 23"/>
          <p:cNvSpPr/>
          <p:nvPr/>
        </p:nvSpPr>
        <p:spPr>
          <a:xfrm>
            <a:off x="8001000" y="2761488"/>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Ask: was anyone TRYING to cause harm? That splits deliberate from the rest</a:t>
            </a:r>
            <a:endParaRPr lang="en-US" sz="1500" dirty="0"/>
          </a:p>
        </p:txBody>
      </p:sp>
      <p:sp>
        <p:nvSpPr>
          <p:cNvPr id="26" name="Shape 24"/>
          <p:cNvSpPr/>
          <p:nvPr/>
        </p:nvSpPr>
        <p:spPr>
          <a:xfrm>
            <a:off x="502920" y="3602736"/>
            <a:ext cx="3200400" cy="841248"/>
          </a:xfrm>
          <a:prstGeom prst="rect">
            <a:avLst/>
          </a:prstGeom>
          <a:solidFill>
            <a:srgbClr val="FFFFFF"/>
          </a:solidFill>
          <a:ln w="12700">
            <a:solidFill>
              <a:srgbClr val="D8DDE6"/>
            </a:solidFill>
            <a:prstDash val="solid"/>
          </a:ln>
        </p:spPr>
      </p:sp>
      <p:sp>
        <p:nvSpPr>
          <p:cNvPr id="27" name="Text 25"/>
          <p:cNvSpPr/>
          <p:nvPr/>
        </p:nvSpPr>
        <p:spPr>
          <a:xfrm>
            <a:off x="594360" y="3602736"/>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Write testable requirements</a:t>
            </a:r>
            <a:endParaRPr lang="en-US" sz="1500" dirty="0"/>
          </a:p>
        </p:txBody>
      </p:sp>
      <p:sp>
        <p:nvSpPr>
          <p:cNvPr id="28" name="Shape 26"/>
          <p:cNvSpPr/>
          <p:nvPr/>
        </p:nvSpPr>
        <p:spPr>
          <a:xfrm>
            <a:off x="3703320" y="3602736"/>
            <a:ext cx="4206240" cy="841248"/>
          </a:xfrm>
          <a:prstGeom prst="rect">
            <a:avLst/>
          </a:prstGeom>
          <a:solidFill>
            <a:srgbClr val="FFFFFF"/>
          </a:solidFill>
          <a:ln w="12700">
            <a:solidFill>
              <a:srgbClr val="D8DDE6"/>
            </a:solidFill>
            <a:prstDash val="solid"/>
          </a:ln>
        </p:spPr>
      </p:sp>
      <p:sp>
        <p:nvSpPr>
          <p:cNvPr id="29" name="Text 27"/>
          <p:cNvSpPr/>
          <p:nvPr/>
        </p:nvSpPr>
        <p:spPr>
          <a:xfrm>
            <a:off x="3794760" y="3602736"/>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Someone else could check whether your requirement is met</a:t>
            </a:r>
            <a:endParaRPr lang="en-US" sz="1500" dirty="0"/>
          </a:p>
        </p:txBody>
      </p:sp>
      <p:sp>
        <p:nvSpPr>
          <p:cNvPr id="30" name="Shape 28"/>
          <p:cNvSpPr/>
          <p:nvPr/>
        </p:nvSpPr>
        <p:spPr>
          <a:xfrm>
            <a:off x="7909560" y="3602736"/>
            <a:ext cx="3749040" cy="841248"/>
          </a:xfrm>
          <a:prstGeom prst="rect">
            <a:avLst/>
          </a:prstGeom>
          <a:solidFill>
            <a:srgbClr val="FFFFFF"/>
          </a:solidFill>
          <a:ln w="12700">
            <a:solidFill>
              <a:srgbClr val="D8DDE6"/>
            </a:solidFill>
            <a:prstDash val="solid"/>
          </a:ln>
        </p:spPr>
      </p:sp>
      <p:sp>
        <p:nvSpPr>
          <p:cNvPr id="31" name="Text 29"/>
          <p:cNvSpPr/>
          <p:nvPr/>
        </p:nvSpPr>
        <p:spPr>
          <a:xfrm>
            <a:off x="8001000" y="3602736"/>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Reread your sentence and ask what evidence would prove it</a:t>
            </a:r>
            <a:endParaRPr lang="en-US" sz="1500" dirty="0"/>
          </a:p>
        </p:txBody>
      </p:sp>
      <p:sp>
        <p:nvSpPr>
          <p:cNvPr id="32" name="Shape 30"/>
          <p:cNvSpPr/>
          <p:nvPr/>
        </p:nvSpPr>
        <p:spPr>
          <a:xfrm>
            <a:off x="502920" y="4443984"/>
            <a:ext cx="3200400" cy="841248"/>
          </a:xfrm>
          <a:prstGeom prst="rect">
            <a:avLst/>
          </a:prstGeom>
          <a:solidFill>
            <a:srgbClr val="F4F6FB"/>
          </a:solidFill>
          <a:ln w="12700">
            <a:solidFill>
              <a:srgbClr val="D8DDE6"/>
            </a:solidFill>
            <a:prstDash val="solid"/>
          </a:ln>
        </p:spPr>
      </p:sp>
      <p:sp>
        <p:nvSpPr>
          <p:cNvPr id="33" name="Text 31"/>
          <p:cNvSpPr/>
          <p:nvPr/>
        </p:nvSpPr>
        <p:spPr>
          <a:xfrm>
            <a:off x="594360" y="4443984"/>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Rate and mitigate</a:t>
            </a:r>
            <a:endParaRPr lang="en-US" sz="1500" dirty="0"/>
          </a:p>
        </p:txBody>
      </p:sp>
      <p:sp>
        <p:nvSpPr>
          <p:cNvPr id="34" name="Shape 32"/>
          <p:cNvSpPr/>
          <p:nvPr/>
        </p:nvSpPr>
        <p:spPr>
          <a:xfrm>
            <a:off x="3703320" y="4443984"/>
            <a:ext cx="4206240" cy="841248"/>
          </a:xfrm>
          <a:prstGeom prst="rect">
            <a:avLst/>
          </a:prstGeom>
          <a:solidFill>
            <a:srgbClr val="F4F6FB"/>
          </a:solidFill>
          <a:ln w="12700">
            <a:solidFill>
              <a:srgbClr val="D8DDE6"/>
            </a:solidFill>
            <a:prstDash val="solid"/>
          </a:ln>
        </p:spPr>
      </p:sp>
      <p:sp>
        <p:nvSpPr>
          <p:cNvPr id="35" name="Text 33"/>
          <p:cNvSpPr/>
          <p:nvPr/>
        </p:nvSpPr>
        <p:spPr>
          <a:xfrm>
            <a:off x="3794760" y="4443984"/>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Your ratings differ from each other and you can say why</a:t>
            </a:r>
            <a:endParaRPr lang="en-US" sz="1500" dirty="0"/>
          </a:p>
        </p:txBody>
      </p:sp>
      <p:sp>
        <p:nvSpPr>
          <p:cNvPr id="36" name="Shape 34"/>
          <p:cNvSpPr/>
          <p:nvPr/>
        </p:nvSpPr>
        <p:spPr>
          <a:xfrm>
            <a:off x="7909560" y="4443984"/>
            <a:ext cx="3749040" cy="841248"/>
          </a:xfrm>
          <a:prstGeom prst="rect">
            <a:avLst/>
          </a:prstGeom>
          <a:solidFill>
            <a:srgbClr val="F4F6FB"/>
          </a:solidFill>
          <a:ln w="12700">
            <a:solidFill>
              <a:srgbClr val="D8DDE6"/>
            </a:solidFill>
            <a:prstDash val="solid"/>
          </a:ln>
        </p:spPr>
      </p:sp>
      <p:sp>
        <p:nvSpPr>
          <p:cNvPr id="37" name="Text 35"/>
          <p:cNvSpPr/>
          <p:nvPr/>
        </p:nvSpPr>
        <p:spPr>
          <a:xfrm>
            <a:off x="8001000" y="4443984"/>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Talk one threat through with the person beside you</a:t>
            </a:r>
            <a:endParaRPr lang="en-US" sz="1500" dirty="0"/>
          </a:p>
        </p:txBody>
      </p:sp>
      <p:sp>
        <p:nvSpPr>
          <p:cNvPr id="38" name="Shape 36"/>
          <p:cNvSpPr/>
          <p:nvPr/>
        </p:nvSpPr>
        <p:spPr>
          <a:xfrm>
            <a:off x="502920" y="5285232"/>
            <a:ext cx="3200400" cy="841248"/>
          </a:xfrm>
          <a:prstGeom prst="rect">
            <a:avLst/>
          </a:prstGeom>
          <a:solidFill>
            <a:srgbClr val="FFFFFF"/>
          </a:solidFill>
          <a:ln w="12700">
            <a:solidFill>
              <a:srgbClr val="D8DDE6"/>
            </a:solidFill>
            <a:prstDash val="solid"/>
          </a:ln>
        </p:spPr>
      </p:sp>
      <p:sp>
        <p:nvSpPr>
          <p:cNvPr id="39" name="Text 37"/>
          <p:cNvSpPr/>
          <p:nvPr/>
        </p:nvSpPr>
        <p:spPr>
          <a:xfrm>
            <a:off x="594360" y="5285232"/>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Confirm mitigation</a:t>
            </a:r>
            <a:endParaRPr lang="en-US" sz="1500" dirty="0"/>
          </a:p>
        </p:txBody>
      </p:sp>
      <p:sp>
        <p:nvSpPr>
          <p:cNvPr id="40" name="Shape 38"/>
          <p:cNvSpPr/>
          <p:nvPr/>
        </p:nvSpPr>
        <p:spPr>
          <a:xfrm>
            <a:off x="3703320" y="5285232"/>
            <a:ext cx="4206240" cy="841248"/>
          </a:xfrm>
          <a:prstGeom prst="rect">
            <a:avLst/>
          </a:prstGeom>
          <a:solidFill>
            <a:srgbClr val="FFFFFF"/>
          </a:solidFill>
          <a:ln w="12700">
            <a:solidFill>
              <a:srgbClr val="D8DDE6"/>
            </a:solidFill>
            <a:prstDash val="solid"/>
          </a:ln>
        </p:spPr>
      </p:sp>
      <p:sp>
        <p:nvSpPr>
          <p:cNvPr id="41" name="Text 39"/>
          <p:cNvSpPr/>
          <p:nvPr/>
        </p:nvSpPr>
        <p:spPr>
          <a:xfrm>
            <a:off x="3794760" y="5285232"/>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Each confirmation names evidence AND a frequency</a:t>
            </a:r>
            <a:endParaRPr lang="en-US" sz="1500" dirty="0"/>
          </a:p>
        </p:txBody>
      </p:sp>
      <p:sp>
        <p:nvSpPr>
          <p:cNvPr id="42" name="Shape 40"/>
          <p:cNvSpPr/>
          <p:nvPr/>
        </p:nvSpPr>
        <p:spPr>
          <a:xfrm>
            <a:off x="7909560" y="5285232"/>
            <a:ext cx="3749040" cy="841248"/>
          </a:xfrm>
          <a:prstGeom prst="rect">
            <a:avLst/>
          </a:prstGeom>
          <a:solidFill>
            <a:srgbClr val="FFFFFF"/>
          </a:solidFill>
          <a:ln w="12700">
            <a:solidFill>
              <a:srgbClr val="D8DDE6"/>
            </a:solidFill>
            <a:prstDash val="solid"/>
          </a:ln>
        </p:spPr>
      </p:sp>
      <p:sp>
        <p:nvSpPr>
          <p:cNvPr id="43" name="Text 41"/>
          <p:cNvSpPr/>
          <p:nvPr/>
        </p:nvSpPr>
        <p:spPr>
          <a:xfrm>
            <a:off x="8001000" y="5285232"/>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Look again at the worked example's last column</a:t>
            </a:r>
            <a:endParaRPr lang="en-US" sz="1500" dirty="0"/>
          </a:p>
        </p:txBody>
      </p:sp>
      <p:sp>
        <p:nvSpPr>
          <p:cNvPr id="44" name="Shape 42"/>
          <p:cNvSpPr/>
          <p:nvPr/>
        </p:nvSpPr>
        <p:spPr>
          <a:xfrm>
            <a:off x="502920" y="6172200"/>
            <a:ext cx="11155680" cy="502920"/>
          </a:xfrm>
          <a:prstGeom prst="roundRect">
            <a:avLst>
              <a:gd name="adj" fmla="val 16364"/>
            </a:avLst>
          </a:prstGeom>
          <a:solidFill>
            <a:srgbClr val="EEF2FF"/>
          </a:solidFill>
          <a:ln w="12700">
            <a:solidFill>
              <a:srgbClr val="4361EE"/>
            </a:solidFill>
            <a:prstDash val="solid"/>
          </a:ln>
        </p:spPr>
      </p:sp>
      <p:sp>
        <p:nvSpPr>
          <p:cNvPr id="45" name="Text 43"/>
          <p:cNvSpPr/>
          <p:nvPr/>
        </p:nvSpPr>
        <p:spPr>
          <a:xfrm>
            <a:off x="822960" y="6172200"/>
            <a:ext cx="10515600" cy="502920"/>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Outcome 2 assessment tracker: you now hold enough theory to attempt the threat analysis section of the practice case study.</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EF4444"/>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EXIT</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Exit ticket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Workbook Section 7 · 5 minutes · no notes</a:t>
            </a:r>
            <a:endParaRPr lang="en-US" sz="1500" dirty="0"/>
          </a:p>
        </p:txBody>
      </p:sp>
      <p:sp>
        <p:nvSpPr>
          <p:cNvPr id="8" name="Shape 6"/>
          <p:cNvSpPr/>
          <p:nvPr/>
        </p:nvSpPr>
        <p:spPr>
          <a:xfrm>
            <a:off x="502920" y="1417320"/>
            <a:ext cx="11155680" cy="1024128"/>
          </a:xfrm>
          <a:prstGeom prst="roundRect">
            <a:avLst>
              <a:gd name="adj" fmla="val 803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9" name="Shape 7"/>
          <p:cNvSpPr/>
          <p:nvPr/>
        </p:nvSpPr>
        <p:spPr>
          <a:xfrm>
            <a:off x="731520" y="1691640"/>
            <a:ext cx="475488" cy="475488"/>
          </a:xfrm>
          <a:prstGeom prst="roundRect">
            <a:avLst>
              <a:gd name="adj" fmla="val 50000"/>
            </a:avLst>
          </a:prstGeom>
          <a:solidFill>
            <a:srgbClr val="EF4444"/>
          </a:solidFill>
          <a:ln/>
        </p:spPr>
      </p:sp>
      <p:sp>
        <p:nvSpPr>
          <p:cNvPr id="10" name="Text 8"/>
          <p:cNvSpPr/>
          <p:nvPr/>
        </p:nvSpPr>
        <p:spPr>
          <a:xfrm>
            <a:off x="731520" y="169164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1" name="Text 9"/>
          <p:cNvSpPr/>
          <p:nvPr/>
        </p:nvSpPr>
        <p:spPr>
          <a:xfrm>
            <a:off x="1417320" y="1417320"/>
            <a:ext cx="9966960" cy="1024128"/>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Name the three threat modelling principles in order.</a:t>
            </a:r>
            <a:endParaRPr lang="en-US" sz="1800" dirty="0"/>
          </a:p>
        </p:txBody>
      </p:sp>
      <p:sp>
        <p:nvSpPr>
          <p:cNvPr id="12" name="Shape 10"/>
          <p:cNvSpPr/>
          <p:nvPr/>
        </p:nvSpPr>
        <p:spPr>
          <a:xfrm>
            <a:off x="502920" y="2551176"/>
            <a:ext cx="11155680" cy="1024128"/>
          </a:xfrm>
          <a:prstGeom prst="roundRect">
            <a:avLst>
              <a:gd name="adj" fmla="val 803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13" name="Shape 11"/>
          <p:cNvSpPr/>
          <p:nvPr/>
        </p:nvSpPr>
        <p:spPr>
          <a:xfrm>
            <a:off x="731520" y="2825496"/>
            <a:ext cx="475488" cy="475488"/>
          </a:xfrm>
          <a:prstGeom prst="roundRect">
            <a:avLst>
              <a:gd name="adj" fmla="val 50000"/>
            </a:avLst>
          </a:prstGeom>
          <a:solidFill>
            <a:srgbClr val="EF4444"/>
          </a:solidFill>
          <a:ln/>
        </p:spPr>
      </p:sp>
      <p:sp>
        <p:nvSpPr>
          <p:cNvPr id="14" name="Text 12"/>
          <p:cNvSpPr/>
          <p:nvPr/>
        </p:nvSpPr>
        <p:spPr>
          <a:xfrm>
            <a:off x="731520" y="28254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5" name="Text 13"/>
          <p:cNvSpPr/>
          <p:nvPr/>
        </p:nvSpPr>
        <p:spPr>
          <a:xfrm>
            <a:off x="1417320" y="2551176"/>
            <a:ext cx="9966960" cy="1024128"/>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Aurora's build server has an unpatched operating system. Is this a vulnerability, a threat, or a risk? Explain your choice in one sentence.</a:t>
            </a:r>
            <a:endParaRPr lang="en-US" sz="1800" dirty="0"/>
          </a:p>
        </p:txBody>
      </p:sp>
      <p:sp>
        <p:nvSpPr>
          <p:cNvPr id="16" name="Shape 14"/>
          <p:cNvSpPr/>
          <p:nvPr/>
        </p:nvSpPr>
        <p:spPr>
          <a:xfrm>
            <a:off x="502920" y="3685032"/>
            <a:ext cx="11155680" cy="1024128"/>
          </a:xfrm>
          <a:prstGeom prst="roundRect">
            <a:avLst>
              <a:gd name="adj" fmla="val 803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17" name="Shape 15"/>
          <p:cNvSpPr/>
          <p:nvPr/>
        </p:nvSpPr>
        <p:spPr>
          <a:xfrm>
            <a:off x="731520" y="3959352"/>
            <a:ext cx="475488" cy="475488"/>
          </a:xfrm>
          <a:prstGeom prst="roundRect">
            <a:avLst>
              <a:gd name="adj" fmla="val 50000"/>
            </a:avLst>
          </a:prstGeom>
          <a:solidFill>
            <a:srgbClr val="EF4444"/>
          </a:solidFill>
          <a:ln/>
        </p:spPr>
      </p:sp>
      <p:sp>
        <p:nvSpPr>
          <p:cNvPr id="18" name="Text 16"/>
          <p:cNvSpPr/>
          <p:nvPr/>
        </p:nvSpPr>
        <p:spPr>
          <a:xfrm>
            <a:off x="731520" y="39593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19" name="Text 17"/>
          <p:cNvSpPr/>
          <p:nvPr/>
        </p:nvSpPr>
        <p:spPr>
          <a:xfrm>
            <a:off x="1417320" y="3685032"/>
            <a:ext cx="9966960" cy="1024128"/>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Give one piece of evidence that would confirm the mitigation "we enforced multi-factor authentication" actually worked.</a:t>
            </a:r>
            <a:endParaRPr lang="en-US" sz="1800" dirty="0"/>
          </a:p>
        </p:txBody>
      </p:sp>
      <p:sp>
        <p:nvSpPr>
          <p:cNvPr id="20" name="Shape 18"/>
          <p:cNvSpPr/>
          <p:nvPr/>
        </p:nvSpPr>
        <p:spPr>
          <a:xfrm>
            <a:off x="502920" y="4818888"/>
            <a:ext cx="11155680" cy="1024128"/>
          </a:xfrm>
          <a:prstGeom prst="roundRect">
            <a:avLst>
              <a:gd name="adj" fmla="val 803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731520" y="5093208"/>
            <a:ext cx="475488" cy="475488"/>
          </a:xfrm>
          <a:prstGeom prst="roundRect">
            <a:avLst>
              <a:gd name="adj" fmla="val 50000"/>
            </a:avLst>
          </a:prstGeom>
          <a:solidFill>
            <a:srgbClr val="EF4444"/>
          </a:solidFill>
          <a:ln/>
        </p:spPr>
      </p:sp>
      <p:sp>
        <p:nvSpPr>
          <p:cNvPr id="22" name="Text 20"/>
          <p:cNvSpPr/>
          <p:nvPr/>
        </p:nvSpPr>
        <p:spPr>
          <a:xfrm>
            <a:off x="731520" y="50932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4</a:t>
            </a:r>
            <a:endParaRPr lang="en-US" sz="1500" dirty="0"/>
          </a:p>
        </p:txBody>
      </p:sp>
      <p:sp>
        <p:nvSpPr>
          <p:cNvPr id="23" name="Text 21"/>
          <p:cNvSpPr/>
          <p:nvPr/>
        </p:nvSpPr>
        <p:spPr>
          <a:xfrm>
            <a:off x="1417320" y="4818888"/>
            <a:ext cx="9966960" cy="1024128"/>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Name one event that should trigger a review of an existing threat model.</a:t>
            </a:r>
            <a:endParaRPr lang="en-US" sz="1800" dirty="0"/>
          </a:p>
        </p:txBody>
      </p:sp>
      <p:sp>
        <p:nvSpPr>
          <p:cNvPr id="24" name="Shape 22"/>
          <p:cNvSpPr/>
          <p:nvPr/>
        </p:nvSpPr>
        <p:spPr>
          <a:xfrm>
            <a:off x="502920" y="5989320"/>
            <a:ext cx="11155680" cy="621792"/>
          </a:xfrm>
          <a:prstGeom prst="roundRect">
            <a:avLst>
              <a:gd name="adj" fmla="val 13235"/>
            </a:avLst>
          </a:prstGeom>
          <a:solidFill>
            <a:srgbClr val="FEE2E2"/>
          </a:solidFill>
          <a:ln w="12700">
            <a:solidFill>
              <a:srgbClr val="EF4444"/>
            </a:solidFill>
            <a:prstDash val="solid"/>
          </a:ln>
        </p:spPr>
      </p:sp>
      <p:sp>
        <p:nvSpPr>
          <p:cNvPr id="25" name="Text 23"/>
          <p:cNvSpPr/>
          <p:nvPr/>
        </p:nvSpPr>
        <p:spPr>
          <a:xfrm>
            <a:off x="822960" y="5989320"/>
            <a:ext cx="10515600" cy="621792"/>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Then rate yourself against the success criteria and press Submit. Closed workbooks are not marked.</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8B5CF6"/>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NEXT STEPS</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Next steps</a:t>
            </a:r>
            <a:endParaRPr lang="en-US" sz="3000" dirty="0"/>
          </a:p>
        </p:txBody>
      </p:sp>
      <p:sp>
        <p:nvSpPr>
          <p:cNvPr id="7" name="Shape 5"/>
          <p:cNvSpPr/>
          <p:nvPr/>
        </p:nvSpPr>
        <p:spPr>
          <a:xfrm>
            <a:off x="502920" y="1280160"/>
            <a:ext cx="5486400" cy="2377440"/>
          </a:xfrm>
          <a:prstGeom prst="roundRect">
            <a:avLst>
              <a:gd name="adj" fmla="val 3462"/>
            </a:avLst>
          </a:prstGeom>
          <a:solidFill>
            <a:srgbClr val="FFFFFF"/>
          </a:solidFill>
          <a:ln w="12700">
            <a:solidFill>
              <a:srgbClr val="8B5CF6"/>
            </a:solidFill>
            <a:prstDash val="solid"/>
          </a:ln>
          <a:effectLst>
            <a:outerShdw sx="100000" sy="100000" kx="0" ky="0" algn="bl" rotWithShape="0" blurRad="101600" dist="25400" dir="5400000">
              <a:srgbClr val="9AA3B2">
                <a:alpha val="18000"/>
              </a:srgbClr>
            </a:outerShdw>
          </a:effectLst>
        </p:spPr>
      </p:sp>
      <p:sp>
        <p:nvSpPr>
          <p:cNvPr id="8" name="Text 6"/>
          <p:cNvSpPr/>
          <p:nvPr/>
        </p:nvSpPr>
        <p:spPr>
          <a:xfrm>
            <a:off x="731520" y="1463040"/>
            <a:ext cx="5029200" cy="411480"/>
          </a:xfrm>
          <a:prstGeom prst="rect">
            <a:avLst/>
          </a:prstGeom>
          <a:noFill/>
          <a:ln/>
        </p:spPr>
        <p:txBody>
          <a:bodyPr wrap="square" lIns="0" tIns="0" rIns="0" bIns="0" rtlCol="0" anchor="ctr"/>
          <a:lstStyle/>
          <a:p>
            <a:pPr indent="0" marL="0">
              <a:buNone/>
            </a:pPr>
            <a:r>
              <a:rPr lang="en-US" sz="1300" b="1" dirty="0">
                <a:solidFill>
                  <a:srgbClr val="8B5CF6"/>
                </a:solidFill>
                <a:latin typeface="Courier New" pitchFamily="34" charset="0"/>
                <a:ea typeface="Courier New" pitchFamily="34" charset="-122"/>
                <a:cs typeface="Courier New" pitchFamily="34" charset="-120"/>
              </a:rPr>
              <a:t>Next lesson — L6</a:t>
            </a:r>
            <a:endParaRPr lang="en-US" sz="1300" dirty="0"/>
          </a:p>
        </p:txBody>
      </p:sp>
      <p:sp>
        <p:nvSpPr>
          <p:cNvPr id="9" name="Text 7"/>
          <p:cNvSpPr/>
          <p:nvPr/>
        </p:nvSpPr>
        <p:spPr>
          <a:xfrm>
            <a:off x="731520" y="1874520"/>
            <a:ext cx="5029200" cy="822960"/>
          </a:xfrm>
          <a:prstGeom prst="rect">
            <a:avLst/>
          </a:prstGeom>
          <a:noFill/>
          <a:ln/>
        </p:spPr>
        <p:txBody>
          <a:bodyPr wrap="square" lIns="0" tIns="0" rIns="0" bIns="0" rtlCol="0" anchor="t"/>
          <a:lstStyle/>
          <a:p>
            <a:pPr indent="0" marL="0">
              <a:buNone/>
            </a:pPr>
            <a:r>
              <a:rPr lang="en-US" sz="2300" b="1" dirty="0">
                <a:solidFill>
                  <a:srgbClr val="111827"/>
                </a:solidFill>
                <a:latin typeface="Bookman Old Style" pitchFamily="34" charset="0"/>
                <a:ea typeface="Bookman Old Style" pitchFamily="34" charset="-122"/>
                <a:cs typeface="Bookman Old Style" pitchFamily="34" charset="-120"/>
              </a:rPr>
              <a:t>Criteria for evaluating security practices</a:t>
            </a:r>
            <a:endParaRPr lang="en-US" sz="2300" dirty="0"/>
          </a:p>
        </p:txBody>
      </p:sp>
      <p:sp>
        <p:nvSpPr>
          <p:cNvPr id="10" name="Text 8"/>
          <p:cNvSpPr/>
          <p:nvPr/>
        </p:nvSpPr>
        <p:spPr>
          <a:xfrm>
            <a:off x="731520" y="2697480"/>
            <a:ext cx="5029200" cy="86868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How you judge whether an organisation's software development practices are actually any good — and turn that judgement into recommendations.</a:t>
            </a:r>
            <a:endParaRPr lang="en-US" sz="1700" dirty="0"/>
          </a:p>
        </p:txBody>
      </p:sp>
      <p:sp>
        <p:nvSpPr>
          <p:cNvPr id="11" name="Shape 9"/>
          <p:cNvSpPr/>
          <p:nvPr/>
        </p:nvSpPr>
        <p:spPr>
          <a:xfrm>
            <a:off x="6172200" y="1280160"/>
            <a:ext cx="5486400" cy="2377440"/>
          </a:xfrm>
          <a:prstGeom prst="roundRect">
            <a:avLst>
              <a:gd name="adj" fmla="val 3462"/>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2" name="Text 10"/>
          <p:cNvSpPr/>
          <p:nvPr/>
        </p:nvSpPr>
        <p:spPr>
          <a:xfrm>
            <a:off x="6400800" y="1463040"/>
            <a:ext cx="5029200" cy="411480"/>
          </a:xfrm>
          <a:prstGeom prst="rect">
            <a:avLst/>
          </a:prstGeom>
          <a:noFill/>
          <a:ln/>
        </p:spPr>
        <p:txBody>
          <a:bodyPr wrap="square" lIns="0" tIns="0" rIns="0" bIns="0" rtlCol="0" anchor="ctr"/>
          <a:lstStyle/>
          <a:p>
            <a:pPr indent="0" marL="0">
              <a:buNone/>
            </a:pPr>
            <a:r>
              <a:rPr lang="en-US" sz="1300" b="1" dirty="0">
                <a:solidFill>
                  <a:srgbClr val="4361EE"/>
                </a:solidFill>
                <a:latin typeface="Courier New" pitchFamily="34" charset="0"/>
                <a:ea typeface="Courier New" pitchFamily="34" charset="-122"/>
                <a:cs typeface="Courier New" pitchFamily="34" charset="-120"/>
              </a:rPr>
              <a:t>Homework</a:t>
            </a:r>
            <a:endParaRPr lang="en-US" sz="1300" dirty="0"/>
          </a:p>
        </p:txBody>
      </p:sp>
      <p:sp>
        <p:nvSpPr>
          <p:cNvPr id="13" name="Text 11"/>
          <p:cNvSpPr/>
          <p:nvPr/>
        </p:nvSpPr>
        <p:spPr>
          <a:xfrm>
            <a:off x="6446520" y="1920240"/>
            <a:ext cx="5029200" cy="16459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11827"/>
                </a:solidFill>
                <a:latin typeface="Calibri" pitchFamily="34" charset="0"/>
                <a:ea typeface="Calibri" pitchFamily="34" charset="-122"/>
                <a:cs typeface="Calibri" pitchFamily="34" charset="-120"/>
              </a:rPr>
              <a:t>Finish any unfinished workbook sections and submit</a:t>
            </a:r>
            <a:endParaRPr lang="en-US" sz="1700" dirty="0"/>
          </a:p>
          <a:p>
            <a:pPr marL="342900" indent="-342900">
              <a:spcAft>
                <a:spcPts val="800"/>
              </a:spcAft>
              <a:buSzPct val="100000"/>
              <a:buChar char="•"/>
            </a:pPr>
            <a:r>
              <a:rPr lang="en-US" sz="1700" dirty="0">
                <a:solidFill>
                  <a:srgbClr val="111827"/>
                </a:solidFill>
                <a:latin typeface="Calibri" pitchFamily="34" charset="0"/>
                <a:ea typeface="Calibri" pitchFamily="34" charset="-122"/>
                <a:cs typeface="Calibri" pitchFamily="34" charset="-120"/>
              </a:rPr>
              <a:t>Nelson Software Development 2E, Chapter 6 — read the threat modelling section</a:t>
            </a:r>
            <a:endParaRPr lang="en-US" sz="1700" dirty="0"/>
          </a:p>
          <a:p>
            <a:pPr marL="342900" indent="-342900">
              <a:spcAft>
                <a:spcPts val="800"/>
              </a:spcAft>
              <a:buSzPct val="100000"/>
              <a:buChar char="•"/>
            </a:pPr>
            <a:r>
              <a:rPr lang="en-US" sz="1700" dirty="0">
                <a:solidFill>
                  <a:srgbClr val="111827"/>
                </a:solidFill>
                <a:latin typeface="Calibri" pitchFamily="34" charset="0"/>
                <a:ea typeface="Calibri" pitchFamily="34" charset="-122"/>
                <a:cs typeface="Calibri" pitchFamily="34" charset="-120"/>
              </a:rPr>
              <a:t>Test Your Knowledge Q20, Q22, Q23 and Q24</a:t>
            </a:r>
            <a:endParaRPr lang="en-US" sz="1700" dirty="0"/>
          </a:p>
        </p:txBody>
      </p:sp>
      <p:sp>
        <p:nvSpPr>
          <p:cNvPr id="14" name="Shape 12"/>
          <p:cNvSpPr/>
          <p:nvPr/>
        </p:nvSpPr>
        <p:spPr>
          <a:xfrm>
            <a:off x="502920" y="3840480"/>
            <a:ext cx="11155680" cy="1463040"/>
          </a:xfrm>
          <a:prstGeom prst="roundRect">
            <a:avLst>
              <a:gd name="adj" fmla="val 5625"/>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5" name="Text 13"/>
          <p:cNvSpPr/>
          <p:nvPr/>
        </p:nvSpPr>
        <p:spPr>
          <a:xfrm>
            <a:off x="822960" y="3977640"/>
            <a:ext cx="10515600" cy="384048"/>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Outcome 2 assessment — where you should be</a:t>
            </a:r>
            <a:endParaRPr lang="en-US" sz="2000" dirty="0"/>
          </a:p>
        </p:txBody>
      </p:sp>
      <p:sp>
        <p:nvSpPr>
          <p:cNvPr id="16" name="Shape 14"/>
          <p:cNvSpPr/>
          <p:nvPr/>
        </p:nvSpPr>
        <p:spPr>
          <a:xfrm>
            <a:off x="822960" y="4480560"/>
            <a:ext cx="2103120" cy="640080"/>
          </a:xfrm>
          <a:prstGeom prst="roundRect">
            <a:avLst>
              <a:gd name="adj" fmla="val 12857"/>
            </a:avLst>
          </a:prstGeom>
          <a:solidFill>
            <a:srgbClr val="D1FAE5"/>
          </a:solidFill>
          <a:ln w="12700">
            <a:solidFill>
              <a:srgbClr val="10B981"/>
            </a:solidFill>
            <a:prstDash val="solid"/>
          </a:ln>
        </p:spPr>
      </p:sp>
      <p:sp>
        <p:nvSpPr>
          <p:cNvPr id="17" name="Text 15"/>
          <p:cNvSpPr/>
          <p:nvPr/>
        </p:nvSpPr>
        <p:spPr>
          <a:xfrm>
            <a:off x="896112" y="4480560"/>
            <a:ext cx="1956816" cy="640080"/>
          </a:xfrm>
          <a:prstGeom prst="rect">
            <a:avLst/>
          </a:prstGeom>
          <a:noFill/>
          <a:ln/>
        </p:spPr>
        <p:txBody>
          <a:bodyPr wrap="square" lIns="0" tIns="0" rIns="0" bIns="0" rtlCol="0" anchor="ctr"/>
          <a:lstStyle/>
          <a:p>
            <a:pPr algn="ctr" indent="0" marL="0">
              <a:buNone/>
            </a:pPr>
            <a:r>
              <a:rPr lang="en-US" sz="1300" b="1" dirty="0">
                <a:solidFill>
                  <a:srgbClr val="065F46"/>
                </a:solidFill>
                <a:latin typeface="Calibri" pitchFamily="34" charset="0"/>
                <a:ea typeface="Calibri" pitchFamily="34" charset="-122"/>
                <a:cs typeface="Calibri" pitchFamily="34" charset="-120"/>
              </a:rPr>
              <a:t>✓  Organisation described</a:t>
            </a:r>
            <a:endParaRPr lang="en-US" sz="1300" dirty="0"/>
          </a:p>
        </p:txBody>
      </p:sp>
      <p:sp>
        <p:nvSpPr>
          <p:cNvPr id="18" name="Shape 16"/>
          <p:cNvSpPr/>
          <p:nvPr/>
        </p:nvSpPr>
        <p:spPr>
          <a:xfrm>
            <a:off x="2999232" y="4480560"/>
            <a:ext cx="2103120" cy="640080"/>
          </a:xfrm>
          <a:prstGeom prst="roundRect">
            <a:avLst>
              <a:gd name="adj" fmla="val 12857"/>
            </a:avLst>
          </a:prstGeom>
          <a:solidFill>
            <a:srgbClr val="D1FAE5"/>
          </a:solidFill>
          <a:ln w="12700">
            <a:solidFill>
              <a:srgbClr val="10B981"/>
            </a:solidFill>
            <a:prstDash val="solid"/>
          </a:ln>
        </p:spPr>
      </p:sp>
      <p:sp>
        <p:nvSpPr>
          <p:cNvPr id="19" name="Text 17"/>
          <p:cNvSpPr/>
          <p:nvPr/>
        </p:nvSpPr>
        <p:spPr>
          <a:xfrm>
            <a:off x="3072384" y="4480560"/>
            <a:ext cx="1956816" cy="640080"/>
          </a:xfrm>
          <a:prstGeom prst="rect">
            <a:avLst/>
          </a:prstGeom>
          <a:noFill/>
          <a:ln/>
        </p:spPr>
        <p:txBody>
          <a:bodyPr wrap="square" lIns="0" tIns="0" rIns="0" bIns="0" rtlCol="0" anchor="ctr"/>
          <a:lstStyle/>
          <a:p>
            <a:pPr algn="ctr" indent="0" marL="0">
              <a:buNone/>
            </a:pPr>
            <a:r>
              <a:rPr lang="en-US" sz="1300" b="1" dirty="0">
                <a:solidFill>
                  <a:srgbClr val="065F46"/>
                </a:solidFill>
                <a:latin typeface="Calibri" pitchFamily="34" charset="0"/>
                <a:ea typeface="Calibri" pitchFamily="34" charset="-122"/>
                <a:cs typeface="Calibri" pitchFamily="34" charset="-120"/>
              </a:rPr>
              <a:t>✓  Practices analysed</a:t>
            </a:r>
            <a:endParaRPr lang="en-US" sz="1300" dirty="0"/>
          </a:p>
        </p:txBody>
      </p:sp>
      <p:sp>
        <p:nvSpPr>
          <p:cNvPr id="20" name="Shape 18"/>
          <p:cNvSpPr/>
          <p:nvPr/>
        </p:nvSpPr>
        <p:spPr>
          <a:xfrm>
            <a:off x="5175504" y="4480560"/>
            <a:ext cx="2103120" cy="640080"/>
          </a:xfrm>
          <a:prstGeom prst="roundRect">
            <a:avLst>
              <a:gd name="adj" fmla="val 12857"/>
            </a:avLst>
          </a:prstGeom>
          <a:solidFill>
            <a:srgbClr val="D1FAE5"/>
          </a:solidFill>
          <a:ln w="12700">
            <a:solidFill>
              <a:srgbClr val="10B981"/>
            </a:solidFill>
            <a:prstDash val="solid"/>
          </a:ln>
        </p:spPr>
      </p:sp>
      <p:sp>
        <p:nvSpPr>
          <p:cNvPr id="21" name="Text 19"/>
          <p:cNvSpPr/>
          <p:nvPr/>
        </p:nvSpPr>
        <p:spPr>
          <a:xfrm>
            <a:off x="5248656" y="4480560"/>
            <a:ext cx="1956816" cy="640080"/>
          </a:xfrm>
          <a:prstGeom prst="rect">
            <a:avLst/>
          </a:prstGeom>
          <a:noFill/>
          <a:ln/>
        </p:spPr>
        <p:txBody>
          <a:bodyPr wrap="square" lIns="0" tIns="0" rIns="0" bIns="0" rtlCol="0" anchor="ctr"/>
          <a:lstStyle/>
          <a:p>
            <a:pPr algn="ctr" indent="0" marL="0">
              <a:buNone/>
            </a:pPr>
            <a:r>
              <a:rPr lang="en-US" sz="1300" b="1" dirty="0">
                <a:solidFill>
                  <a:srgbClr val="065F46"/>
                </a:solidFill>
                <a:latin typeface="Calibri" pitchFamily="34" charset="0"/>
                <a:ea typeface="Calibri" pitchFamily="34" charset="-122"/>
                <a:cs typeface="Calibri" pitchFamily="34" charset="-120"/>
              </a:rPr>
              <a:t>✓  Threats identified &amp; rated</a:t>
            </a:r>
            <a:endParaRPr lang="en-US" sz="1300" dirty="0"/>
          </a:p>
        </p:txBody>
      </p:sp>
      <p:sp>
        <p:nvSpPr>
          <p:cNvPr id="22" name="Shape 20"/>
          <p:cNvSpPr/>
          <p:nvPr/>
        </p:nvSpPr>
        <p:spPr>
          <a:xfrm>
            <a:off x="7351776" y="4480560"/>
            <a:ext cx="2103120" cy="640080"/>
          </a:xfrm>
          <a:prstGeom prst="roundRect">
            <a:avLst>
              <a:gd name="adj" fmla="val 12857"/>
            </a:avLst>
          </a:prstGeom>
          <a:solidFill>
            <a:srgbClr val="FFFFFF"/>
          </a:solidFill>
          <a:ln w="12700">
            <a:solidFill>
              <a:srgbClr val="D8DDE6"/>
            </a:solidFill>
            <a:prstDash val="solid"/>
          </a:ln>
        </p:spPr>
      </p:sp>
      <p:sp>
        <p:nvSpPr>
          <p:cNvPr id="23" name="Text 21"/>
          <p:cNvSpPr/>
          <p:nvPr/>
        </p:nvSpPr>
        <p:spPr>
          <a:xfrm>
            <a:off x="7424928" y="4480560"/>
            <a:ext cx="1956816" cy="640080"/>
          </a:xfrm>
          <a:prstGeom prst="rect">
            <a:avLst/>
          </a:prstGeom>
          <a:noFill/>
          <a:ln/>
        </p:spPr>
        <p:txBody>
          <a:bodyPr wrap="square" lIns="0" tIns="0" rIns="0" bIns="0"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Criteria applied</a:t>
            </a:r>
            <a:endParaRPr lang="en-US" sz="1300" dirty="0"/>
          </a:p>
        </p:txBody>
      </p:sp>
      <p:sp>
        <p:nvSpPr>
          <p:cNvPr id="24" name="Shape 22"/>
          <p:cNvSpPr/>
          <p:nvPr/>
        </p:nvSpPr>
        <p:spPr>
          <a:xfrm>
            <a:off x="9528048" y="4480560"/>
            <a:ext cx="2103120" cy="640080"/>
          </a:xfrm>
          <a:prstGeom prst="roundRect">
            <a:avLst>
              <a:gd name="adj" fmla="val 12857"/>
            </a:avLst>
          </a:prstGeom>
          <a:solidFill>
            <a:srgbClr val="FFFFFF"/>
          </a:solidFill>
          <a:ln w="12700">
            <a:solidFill>
              <a:srgbClr val="D8DDE6"/>
            </a:solidFill>
            <a:prstDash val="solid"/>
          </a:ln>
        </p:spPr>
      </p:sp>
      <p:sp>
        <p:nvSpPr>
          <p:cNvPr id="25" name="Text 23"/>
          <p:cNvSpPr/>
          <p:nvPr/>
        </p:nvSpPr>
        <p:spPr>
          <a:xfrm>
            <a:off x="9601200" y="4480560"/>
            <a:ext cx="1956816" cy="640080"/>
          </a:xfrm>
          <a:prstGeom prst="rect">
            <a:avLst/>
          </a:prstGeom>
          <a:noFill/>
          <a:ln/>
        </p:spPr>
        <p:txBody>
          <a:bodyPr wrap="square" lIns="0" tIns="0" rIns="0" bIns="0"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Recommendations written</a:t>
            </a:r>
            <a:endParaRPr lang="en-US" sz="1300" dirty="0"/>
          </a:p>
        </p:txBody>
      </p:sp>
      <p:sp>
        <p:nvSpPr>
          <p:cNvPr id="26" name="Shape 24"/>
          <p:cNvSpPr/>
          <p:nvPr/>
        </p:nvSpPr>
        <p:spPr>
          <a:xfrm>
            <a:off x="502920" y="5486400"/>
            <a:ext cx="11155680" cy="914400"/>
          </a:xfrm>
          <a:prstGeom prst="roundRect">
            <a:avLst>
              <a:gd name="adj" fmla="val 9000"/>
            </a:avLst>
          </a:prstGeom>
          <a:solidFill>
            <a:srgbClr val="FFFFFF"/>
          </a:solidFill>
          <a:ln w="12700">
            <a:solidFill>
              <a:srgbClr val="D8DDE6"/>
            </a:solidFill>
            <a:prstDash val="solid"/>
          </a:ln>
        </p:spPr>
      </p:sp>
      <p:sp>
        <p:nvSpPr>
          <p:cNvPr id="27" name="Text 25"/>
          <p:cNvSpPr/>
          <p:nvPr/>
        </p:nvSpPr>
        <p:spPr>
          <a:xfrm>
            <a:off x="822960" y="5486400"/>
            <a:ext cx="10515600" cy="914400"/>
          </a:xfrm>
          <a:prstGeom prst="rect">
            <a:avLst/>
          </a:prstGeom>
          <a:noFill/>
          <a:ln/>
        </p:spPr>
        <p:txBody>
          <a:bodyPr wrap="square" lIns="0" tIns="0" rIns="0" bIns="0" rtlCol="0" anchor="ctr"/>
          <a:lstStyle/>
          <a:p>
            <a:pPr indent="0" marL="0">
              <a:buNone/>
            </a:pPr>
            <a:r>
              <a:rPr lang="en-US" sz="1700" dirty="0">
                <a:solidFill>
                  <a:srgbClr val="111827"/>
                </a:solidFill>
                <a:latin typeface="Calibri" pitchFamily="34" charset="0"/>
                <a:ea typeface="Calibri" pitchFamily="34" charset="-122"/>
                <a:cs typeface="Calibri" pitchFamily="34" charset="-120"/>
              </a:rPr>
              <a:t>Need help? Unit site Lesson 5 has the full notes and the worked example table. Bring specific questions to the start of next lesson, or email before Friday.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L5 — Threat Modelling Principles</dc:title>
  <dc:subject>PptxGenJS Presentation</dc:subject>
  <dc:creator>Mr Smith</dc:creator>
  <cp:lastModifiedBy>Mr Smith</cp:lastModifiedBy>
  <cp:revision>1</cp:revision>
  <dcterms:created xsi:type="dcterms:W3CDTF">2026-08-11T21:52:26Z</dcterms:created>
  <dcterms:modified xsi:type="dcterms:W3CDTF">2026-08-11T21:52:26Z</dcterms:modified>
</cp:coreProperties>
</file>