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Double period (100 min). This lesson merges what were previously two brief lessons (L12 and L13) into one, because they are a single study-design dot point: "debugging and alpha testing techniques ... including the use of breakpoints, commenting out code, relevant test data, test cases comparing expected and actual output in testing tables."</a:t>
            </a:r>
          </a:p>
          <a:p/>
          <a:p>
            <a:r>
              <a:t>Rough timing: warm up 5, objective 3, explicit block 1 (alpha/debugging/breakpoints/commenting out) 25, application A 20, brain break 2, explicit block 2 (test data/tables) 20, application B 20, exit 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Hands down, no devices. Take three or four responses out loud. Listen for "I just kept changing things until it worked" — that is the answer this lesson is aimed at. Do not correct it; name it as normal and say the point of today is to make it systematic.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objective aloud once, then leave it up. Point out that Extending is not "extra work" here — a complete testing table is what Criterion 8 actually asks for, so every student is aiming at the purple tier by the end of the double.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distinction students lose marks on: beta testing assumes a working solution. If you hand a broken build to your beta testers, you have not done beta testing — you have outsourced your alpha testing, and the results are worthless as evidence.</a:t>
            </a:r>
          </a:p>
          <a:p/>
          <a:p>
            <a:r>
              <a:t>Study design: "prepare and conduct beta testing ... capture results and recommend modifications". That comes next lesson block. Today is the gate before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Demonstrate live in the class IDE if you can — set a breakpoint, run, hover a variable. Sixty seconds of watching this beats three slides about it.</a:t>
            </a:r>
          </a:p>
          <a:p/>
          <a:p>
            <a:r>
              <a:t>Step 6 is the one students skip: they fix and move on without re-running. Say plainly that an unverified fix is not a fix.</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upstream point is the single most useful thing in this lesson. Most students put one breakpoint on the crashing line, see nothing useful, and give up on breakpoints entirely. Get them to place a second one earlier in the flow.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halving strategy is worth naming explicitly as a strategy — it is binary search, and students who see it that way apply it much faster.</a:t>
            </a:r>
          </a:p>
          <a:p/>
          <a:p>
            <a:r>
              <a:t>The warning panel matters for marks: Criterion 6/7 rewards clear and concise code, and a solution full of commented-out experiments reads as unfinished.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Listen for the second answer. The one you want: beta testers are giving you evidence about usability and fitness for purpose, and they cannot give you that if they spend the session hitting crashes. Their time is a limited resource — you get two users, and you do not get them twice.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Circulate. The intervention that pays off most: sit with anyone still reading their code looking for the fault and make them place two breakpoints instead.</a:t>
            </a:r>
          </a:p>
          <a:p/>
          <a:p>
            <a:r>
              <a:t>Students with nothing broken: that is not the same as nothing to test. Point them at Part B early with invalid data and watch what breaks.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Genuinely let them stop. If the room is flat, stand up and stretch first, then run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Link this straight back to the validation techniques from L10 — existence, type and range checking. Invalid test data is how you prove your validation actually fires; without it, the validation is a claim rather than evidence.</a:t>
            </a:r>
          </a:p>
          <a:p/>
          <a:p>
            <a:r>
              <a:t>The boundary case is where the marks are. Ask: for an 18+ check, which single value is most worth testing? (18 — and then 17.)</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three rows aloud. Row 1 passes — say clearly that a passing row is still evidence and still belongs in the table; students routinely delete them.</a:t>
            </a:r>
          </a:p>
          <a:p/>
          <a:p>
            <a:r>
              <a:t>Row 2 is the classic off-by-one on a boundary, which is exactly why "valid but unusual" exists as a category. Row 3 is why invalid data matters.</a:t>
            </a:r>
          </a:p>
          <a:p/>
          <a:p>
            <a:r>
              <a:t>The fix column must say what was changed AND that it was re-tested.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bullet is worth saying out loud: a testing table written the night before it is due, from memory, reads exactly like one written from memory. Fill it in as you go — it is faster and it is worth more.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longer of the two application blocks — give it twenty minutes if you can. Check tables over shoulders as you go; the fastest correction is catching an "actual result" column that has been filled in optimistically.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Peer review is more effective than teacher review here, because the gap is usually obvious to a second reader and invisible to the author. Give them ninety seconds each.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Collect the exit ticket through the workbook rather than verbally — question 2 tells you which students are stuck on the same fault repeatedly, and that is who you plan for next lesson.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Numbering note for whoever picks this up: this deck replaces the previous L12 and L13. The unit site and the old portfolio workbook still refer to sections 12 and 13 separately — that renumbering is deliberately deferred.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6502400"/>
            <a:ext cx="7315200" cy="266700"/>
          </a:xfrm>
          <a:prstGeom prst="rect">
            <a:avLst/>
          </a:prstGeom>
          <a:noFill/>
        </p:spPr>
        <p:txBody>
          <a:bodyPr wrap="square" lIns="0" rIns="0" tIns="0" bIns="0" anchor="t">
            <a:spAutoFit/>
          </a:bodyPr>
          <a:lstStyle/>
          <a:p>
            <a:pPr algn="l">
              <a:spcAft>
                <a:spcPts val="600"/>
              </a:spcAft>
            </a:pPr>
            <a:r>
              <a:rPr sz="900" b="0">
                <a:solidFill>
                  <a:srgbClr val="57606A"/>
                </a:solidFill>
                <a:latin typeface="Consolas"/>
              </a:rPr>
              <a:t>y12-sd-u4-l12-debug-alpha</a:t>
            </a:r>
          </a:p>
        </p:txBody>
      </p:sp>
      <p:sp>
        <p:nvSpPr>
          <p:cNvPr id="3" name="TextBox 2"/>
          <p:cNvSpPr txBox="1"/>
          <p:nvPr/>
        </p:nvSpPr>
        <p:spPr>
          <a:xfrm>
            <a:off x="11430000" y="6502400"/>
            <a:ext cx="457200" cy="266700"/>
          </a:xfrm>
          <a:prstGeom prst="rect">
            <a:avLst/>
          </a:prstGeom>
          <a:noFill/>
        </p:spPr>
        <p:txBody>
          <a:bodyPr wrap="square" lIns="0" rIns="0" tIns="0" bIns="0" anchor="t">
            <a:spAutoFit/>
          </a:bodyPr>
          <a:lstStyle/>
          <a:p>
            <a:pPr algn="r">
              <a:spcAft>
                <a:spcPts val="600"/>
              </a:spcAft>
            </a:pPr>
            <a:r>
              <a:rPr sz="900" b="0">
                <a:solidFill>
                  <a:srgbClr val="57606A"/>
                </a:solidFill>
                <a:latin typeface="Consolas"/>
              </a:rPr>
              <a:t>1</a:t>
            </a:r>
          </a:p>
        </p:txBody>
      </p:sp>
      <p:sp>
        <p:nvSpPr>
          <p:cNvPr id="4" name="Rounded Rectangle 3"/>
          <p:cNvSpPr/>
          <p:nvPr/>
        </p:nvSpPr>
        <p:spPr>
          <a:xfrm>
            <a:off x="546100" y="635000"/>
            <a:ext cx="2641600" cy="457200"/>
          </a:xfrm>
          <a:prstGeom prst="roundRect">
            <a:avLst>
              <a:gd name="adj" fmla="val 45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6100" y="635000"/>
            <a:ext cx="2641600" cy="457200"/>
          </a:xfrm>
          <a:prstGeom prst="rect">
            <a:avLst/>
          </a:prstGeom>
          <a:noFill/>
        </p:spPr>
        <p:txBody>
          <a:bodyPr wrap="square" lIns="0" rIns="0" tIns="0" bIns="0" anchor="ctr">
            <a:spAutoFit/>
          </a:bodyPr>
          <a:lstStyle/>
          <a:p>
            <a:pPr algn="ctr">
              <a:spcAft>
                <a:spcPts val="600"/>
              </a:spcAft>
            </a:pPr>
            <a:r>
              <a:rPr sz="1300" b="1">
                <a:solidFill>
                  <a:srgbClr val="FFFFFF"/>
                </a:solidFill>
                <a:latin typeface="Calibri"/>
              </a:rPr>
              <a:t>CRITERION 8</a:t>
            </a:r>
          </a:p>
        </p:txBody>
      </p:sp>
      <p:sp>
        <p:nvSpPr>
          <p:cNvPr id="6" name="TextBox 5"/>
          <p:cNvSpPr txBox="1"/>
          <p:nvPr/>
        </p:nvSpPr>
        <p:spPr>
          <a:xfrm>
            <a:off x="546100" y="2463800"/>
            <a:ext cx="10058400" cy="457200"/>
          </a:xfrm>
          <a:prstGeom prst="rect">
            <a:avLst/>
          </a:prstGeom>
          <a:noFill/>
        </p:spPr>
        <p:txBody>
          <a:bodyPr wrap="square" lIns="0" rIns="0" tIns="0" bIns="0" anchor="t">
            <a:spAutoFit/>
          </a:bodyPr>
          <a:lstStyle/>
          <a:p>
            <a:pPr algn="l">
              <a:spcAft>
                <a:spcPts val="600"/>
              </a:spcAft>
            </a:pPr>
            <a:r>
              <a:rPr sz="1500" b="1">
                <a:solidFill>
                  <a:srgbClr val="4361EE"/>
                </a:solidFill>
                <a:latin typeface="Calibri"/>
              </a:rPr>
              <a:t>VCE APPLIED COMPUTING · SOFTWARE DEVELOPMENT · YEAR 12 · WEEK 5</a:t>
            </a:r>
          </a:p>
        </p:txBody>
      </p:sp>
      <p:sp>
        <p:nvSpPr>
          <p:cNvPr id="7" name="TextBox 6"/>
          <p:cNvSpPr txBox="1"/>
          <p:nvPr/>
        </p:nvSpPr>
        <p:spPr>
          <a:xfrm>
            <a:off x="546100" y="2870200"/>
            <a:ext cx="10782300" cy="1549400"/>
          </a:xfrm>
          <a:prstGeom prst="rect">
            <a:avLst/>
          </a:prstGeom>
          <a:noFill/>
        </p:spPr>
        <p:txBody>
          <a:bodyPr wrap="square" lIns="0" rIns="0" tIns="0" bIns="0" anchor="t">
            <a:spAutoFit/>
          </a:bodyPr>
          <a:lstStyle/>
          <a:p>
            <a:pPr algn="l">
              <a:spcAft>
                <a:spcPts val="600"/>
              </a:spcAft>
            </a:pPr>
            <a:r>
              <a:rPr sz="4000" b="1">
                <a:solidFill>
                  <a:srgbClr val="1F2328"/>
                </a:solidFill>
                <a:latin typeface="Cambria"/>
              </a:rPr>
              <a:t>Debugging &amp; Alpha Testing</a:t>
            </a:r>
          </a:p>
        </p:txBody>
      </p:sp>
      <p:sp>
        <p:nvSpPr>
          <p:cNvPr id="8" name="TextBox 7"/>
          <p:cNvSpPr txBox="1"/>
          <p:nvPr/>
        </p:nvSpPr>
        <p:spPr>
          <a:xfrm>
            <a:off x="546100" y="4470400"/>
            <a:ext cx="9271000" cy="914400"/>
          </a:xfrm>
          <a:prstGeom prst="rect">
            <a:avLst/>
          </a:prstGeom>
          <a:noFill/>
        </p:spPr>
        <p:txBody>
          <a:bodyPr wrap="square" lIns="0" rIns="0" tIns="0" bIns="0" anchor="t">
            <a:spAutoFit/>
          </a:bodyPr>
          <a:lstStyle/>
          <a:p>
            <a:pPr algn="l">
              <a:lnSpc>
                <a:spcPct val="125000"/>
              </a:lnSpc>
              <a:spcAft>
                <a:spcPts val="600"/>
              </a:spcAft>
            </a:pPr>
            <a:r>
              <a:rPr sz="1800" b="0">
                <a:solidFill>
                  <a:srgbClr val="57606A"/>
                </a:solidFill>
                <a:latin typeface="Calibri"/>
              </a:rPr>
              <a:t>Breakpoints, commenting out, test data and testing tables — building the evidence that every module of your solution actually works.</a:t>
            </a:r>
          </a:p>
        </p:txBody>
      </p:sp>
      <p:sp>
        <p:nvSpPr>
          <p:cNvPr id="9" name="Oval 8"/>
          <p:cNvSpPr/>
          <p:nvPr/>
        </p:nvSpPr>
        <p:spPr>
          <a:xfrm>
            <a:off x="10236200" y="4203700"/>
            <a:ext cx="1549400" cy="15494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693400" y="4660900"/>
            <a:ext cx="812800" cy="8128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57200" y="254000"/>
            <a:ext cx="1905000" cy="355600"/>
          </a:xfrm>
          <a:prstGeom prst="roundRect">
            <a:avLst>
              <a:gd name="adj" fmla="val 45000"/>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4000"/>
            <a:ext cx="1905000" cy="355600"/>
          </a:xfrm>
          <a:prstGeom prst="rect">
            <a:avLst/>
          </a:prstGeom>
          <a:noFill/>
        </p:spPr>
        <p:txBody>
          <a:bodyPr wrap="square" lIns="0" rIns="0" tIns="0" bIns="0" anchor="ctr">
            <a:spAutoFit/>
          </a:bodyPr>
          <a:lstStyle/>
          <a:p>
            <a:pPr algn="ctr">
              <a:spcAft>
                <a:spcPts val="600"/>
              </a:spcAft>
            </a:pPr>
            <a:r>
              <a:rPr sz="1100" b="1">
                <a:solidFill>
                  <a:srgbClr val="FFFFFF"/>
                </a:solidFill>
                <a:latin typeface="Calibri"/>
              </a:rPr>
              <a:t>WARM UP</a:t>
            </a:r>
          </a:p>
        </p:txBody>
      </p:sp>
      <p:sp>
        <p:nvSpPr>
          <p:cNvPr id="4" name="Rounded Rectangle 3"/>
          <p:cNvSpPr/>
          <p:nvPr/>
        </p:nvSpPr>
        <p:spPr>
          <a:xfrm>
            <a:off x="10375900" y="254000"/>
            <a:ext cx="1498600" cy="355600"/>
          </a:xfrm>
          <a:prstGeom prst="roundRect">
            <a:avLst>
              <a:gd name="adj" fmla="val 45000"/>
            </a:avLst>
          </a:prstGeom>
          <a:solidFill>
            <a:srgbClr val="EEF1F3"/>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75900" y="254000"/>
            <a:ext cx="1498600" cy="355600"/>
          </a:xfrm>
          <a:prstGeom prst="rect">
            <a:avLst/>
          </a:prstGeom>
          <a:noFill/>
        </p:spPr>
        <p:txBody>
          <a:bodyPr wrap="square" lIns="0" rIns="0" tIns="0" bIns="0" anchor="ctr">
            <a:spAutoFit/>
          </a:bodyPr>
          <a:lstStyle/>
          <a:p>
            <a:pPr algn="ctr">
              <a:spcAft>
                <a:spcPts val="600"/>
              </a:spcAft>
            </a:pPr>
            <a:r>
              <a:rPr sz="1000" b="1">
                <a:solidFill>
                  <a:srgbClr val="64748B"/>
                </a:solidFill>
                <a:latin typeface="Calibri"/>
              </a:rPr>
              <a:t>✋ Off devices</a:t>
            </a:r>
          </a:p>
        </p:txBody>
      </p:sp>
      <p:sp>
        <p:nvSpPr>
          <p:cNvPr id="6" name="TextBox 5"/>
          <p:cNvSpPr txBox="1"/>
          <p:nvPr/>
        </p:nvSpPr>
        <p:spPr>
          <a:xfrm>
            <a:off x="546100" y="1003300"/>
            <a:ext cx="10782300" cy="635000"/>
          </a:xfrm>
          <a:prstGeom prst="rect">
            <a:avLst/>
          </a:prstGeom>
          <a:noFill/>
        </p:spPr>
        <p:txBody>
          <a:bodyPr wrap="square" lIns="0" rIns="0" tIns="0" bIns="0" anchor="t">
            <a:spAutoFit/>
          </a:bodyPr>
          <a:lstStyle/>
          <a:p>
            <a:pPr algn="l">
              <a:spcAft>
                <a:spcPts val="600"/>
              </a:spcAft>
            </a:pPr>
            <a:r>
              <a:rPr sz="2700" b="1">
                <a:solidFill>
                  <a:srgbClr val="1F2328"/>
                </a:solidFill>
                <a:latin typeface="Cambria"/>
              </a:rPr>
              <a:t>⏱ Warm Up</a:t>
            </a:r>
          </a:p>
        </p:txBody>
      </p:sp>
      <p:sp>
        <p:nvSpPr>
          <p:cNvPr id="7" name="TextBox 6"/>
          <p:cNvSpPr txBox="1"/>
          <p:nvPr/>
        </p:nvSpPr>
        <p:spPr>
          <a:xfrm>
            <a:off x="457200" y="6502400"/>
            <a:ext cx="7315200" cy="266700"/>
          </a:xfrm>
          <a:prstGeom prst="rect">
            <a:avLst/>
          </a:prstGeom>
          <a:noFill/>
        </p:spPr>
        <p:txBody>
          <a:bodyPr wrap="square" lIns="0" rIns="0" tIns="0" bIns="0" anchor="t">
            <a:spAutoFit/>
          </a:bodyPr>
          <a:lstStyle/>
          <a:p>
            <a:pPr algn="l">
              <a:spcAft>
                <a:spcPts val="600"/>
              </a:spcAft>
            </a:pPr>
            <a:r>
              <a:rPr sz="900" b="0">
                <a:solidFill>
                  <a:srgbClr val="57606A"/>
                </a:solidFill>
                <a:latin typeface="Consolas"/>
              </a:rPr>
              <a:t>y12-sd-u4-l12-debug-alpha</a:t>
            </a:r>
          </a:p>
        </p:txBody>
      </p:sp>
      <p:sp>
        <p:nvSpPr>
          <p:cNvPr id="8" name="TextBox 7"/>
          <p:cNvSpPr txBox="1"/>
          <p:nvPr/>
        </p:nvSpPr>
        <p:spPr>
          <a:xfrm>
            <a:off x="11430000" y="6502400"/>
            <a:ext cx="457200" cy="266700"/>
          </a:xfrm>
          <a:prstGeom prst="rect">
            <a:avLst/>
          </a:prstGeom>
          <a:noFill/>
        </p:spPr>
        <p:txBody>
          <a:bodyPr wrap="square" lIns="0" rIns="0" tIns="0" bIns="0" anchor="t">
            <a:spAutoFit/>
          </a:bodyPr>
          <a:lstStyle/>
          <a:p>
            <a:pPr algn="r">
              <a:spcAft>
                <a:spcPts val="600"/>
              </a:spcAft>
            </a:pPr>
            <a:r>
              <a:rPr sz="900" b="0">
                <a:solidFill>
                  <a:srgbClr val="57606A"/>
                </a:solidFill>
                <a:latin typeface="Consolas"/>
              </a:rPr>
              <a:t>2</a:t>
            </a:r>
          </a:p>
        </p:txBody>
      </p:sp>
      <p:sp>
        <p:nvSpPr>
          <p:cNvPr id="9" name="Rounded Rectangle 8"/>
          <p:cNvSpPr/>
          <p:nvPr/>
        </p:nvSpPr>
        <p:spPr>
          <a:xfrm>
            <a:off x="546100" y="1828800"/>
            <a:ext cx="11061700" cy="2540000"/>
          </a:xfrm>
          <a:prstGeom prst="roundRect">
            <a:avLst>
              <a:gd name="adj" fmla="val 6000"/>
            </a:avLst>
          </a:prstGeom>
          <a:solidFill>
            <a:srgbClr val="FFFFFF"/>
          </a:solidFill>
          <a:ln w="12700">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3300" y="2286000"/>
            <a:ext cx="10147300" cy="762000"/>
          </a:xfrm>
          <a:prstGeom prst="rect">
            <a:avLst/>
          </a:prstGeom>
          <a:noFill/>
        </p:spPr>
        <p:txBody>
          <a:bodyPr wrap="square" lIns="0" rIns="0" tIns="0" bIns="0" anchor="t">
            <a:spAutoFit/>
          </a:bodyPr>
          <a:lstStyle/>
          <a:p>
            <a:pPr algn="l">
              <a:spcAft>
                <a:spcPts val="600"/>
              </a:spcAft>
            </a:pPr>
            <a:r>
              <a:rPr sz="2200" b="1">
                <a:solidFill>
                  <a:srgbClr val="1F2328"/>
                </a:solidFill>
                <a:latin typeface="Calibri"/>
              </a:rPr>
              <a:t>Think of the bug that took you the longest to find so far in your SAT.</a:t>
            </a:r>
          </a:p>
        </p:txBody>
      </p:sp>
      <p:sp>
        <p:nvSpPr>
          <p:cNvPr id="11" name="TextBox 10"/>
          <p:cNvSpPr txBox="1"/>
          <p:nvPr/>
        </p:nvSpPr>
        <p:spPr>
          <a:xfrm>
            <a:off x="1003300" y="3124200"/>
            <a:ext cx="10147300" cy="1016000"/>
          </a:xfrm>
          <a:prstGeom prst="rect">
            <a:avLst/>
          </a:prstGeom>
          <a:noFill/>
        </p:spPr>
        <p:txBody>
          <a:bodyPr wrap="square" lIns="0" rIns="0" tIns="0" bIns="0" anchor="t">
            <a:spAutoFit/>
          </a:bodyPr>
          <a:lstStyle/>
          <a:p>
            <a:pPr algn="l">
              <a:lnSpc>
                <a:spcPct val="130000"/>
              </a:lnSpc>
              <a:spcAft>
                <a:spcPts val="600"/>
              </a:spcAft>
            </a:pPr>
            <a:r>
              <a:rPr sz="1800" b="0">
                <a:solidFill>
                  <a:srgbClr val="1F2328"/>
                </a:solidFill>
                <a:latin typeface="Calibri"/>
              </a:rPr>
              <a:t>How did you eventually find it? Now be honest with yourself — was that a repeatable process, or did you get lucky?</a:t>
            </a:r>
          </a:p>
        </p:txBody>
      </p:sp>
      <p:sp>
        <p:nvSpPr>
          <p:cNvPr id="12" name="TextBox 11"/>
          <p:cNvSpPr txBox="1"/>
          <p:nvPr/>
        </p:nvSpPr>
        <p:spPr>
          <a:xfrm>
            <a:off x="546100" y="4648200"/>
            <a:ext cx="11061700" cy="762000"/>
          </a:xfrm>
          <a:prstGeom prst="rect">
            <a:avLst/>
          </a:prstGeom>
          <a:noFill/>
        </p:spPr>
        <p:txBody>
          <a:bodyPr wrap="square" lIns="0" rIns="0" tIns="0" bIns="0" anchor="t">
            <a:spAutoFit/>
          </a:bodyPr>
          <a:lstStyle/>
          <a:p>
            <a:pPr algn="l">
              <a:lnSpc>
                <a:spcPct val="130000"/>
              </a:lnSpc>
              <a:spcAft>
                <a:spcPts val="600"/>
              </a:spcAft>
            </a:pPr>
            <a:r>
              <a:rPr sz="1500" b="0">
                <a:solidFill>
                  <a:srgbClr val="57606A"/>
                </a:solidFill>
                <a:latin typeface="Calibri"/>
              </a:rPr>
              <a:t>No devices yet. Today replaces luck with a process — and unlike luck, the process leaves evidence you get marked 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57200" y="254000"/>
            <a:ext cx="2103120" cy="355600"/>
          </a:xfrm>
          <a:prstGeom prst="roundRect">
            <a:avLst>
              <a:gd name="adj" fmla="val 45000"/>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4000"/>
            <a:ext cx="2103120" cy="355600"/>
          </a:xfrm>
          <a:prstGeom prst="rect">
            <a:avLst/>
          </a:prstGeom>
          <a:noFill/>
        </p:spPr>
        <p:txBody>
          <a:bodyPr wrap="square" lIns="0" rIns="0" tIns="0" bIns="0" anchor="ctr">
            <a:spAutoFit/>
          </a:bodyPr>
          <a:lstStyle/>
          <a:p>
            <a:pPr algn="ctr">
              <a:spcAft>
                <a:spcPts val="600"/>
              </a:spcAft>
            </a:pPr>
            <a:r>
              <a:rPr sz="1100" b="1">
                <a:solidFill>
                  <a:srgbClr val="FFFFFF"/>
                </a:solidFill>
                <a:latin typeface="Calibri"/>
              </a:rPr>
              <a:t>LEARNING OBJECTIVE</a:t>
            </a:r>
          </a:p>
        </p:txBody>
      </p:sp>
      <p:sp>
        <p:nvSpPr>
          <p:cNvPr id="4" name="Rounded Rectangle 3"/>
          <p:cNvSpPr/>
          <p:nvPr/>
        </p:nvSpPr>
        <p:spPr>
          <a:xfrm>
            <a:off x="10375900" y="254000"/>
            <a:ext cx="1498600" cy="355600"/>
          </a:xfrm>
          <a:prstGeom prst="roundRect">
            <a:avLst>
              <a:gd name="adj" fmla="val 45000"/>
            </a:avLst>
          </a:prstGeom>
          <a:solidFill>
            <a:srgbClr val="EEF1F3"/>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75900" y="254000"/>
            <a:ext cx="1498600" cy="355600"/>
          </a:xfrm>
          <a:prstGeom prst="rect">
            <a:avLst/>
          </a:prstGeom>
          <a:noFill/>
        </p:spPr>
        <p:txBody>
          <a:bodyPr wrap="square" lIns="0" rIns="0" tIns="0" bIns="0" anchor="ctr">
            <a:spAutoFit/>
          </a:bodyPr>
          <a:lstStyle/>
          <a:p>
            <a:pPr algn="ctr">
              <a:spcAft>
                <a:spcPts val="600"/>
              </a:spcAft>
            </a:pPr>
            <a:r>
              <a:rPr sz="1000" b="1">
                <a:solidFill>
                  <a:srgbClr val="64748B"/>
                </a:solidFill>
                <a:latin typeface="Calibri"/>
              </a:rPr>
              <a:t>✋ Off devices</a:t>
            </a:r>
          </a:p>
        </p:txBody>
      </p:sp>
      <p:sp>
        <p:nvSpPr>
          <p:cNvPr id="6" name="TextBox 5"/>
          <p:cNvSpPr txBox="1"/>
          <p:nvPr/>
        </p:nvSpPr>
        <p:spPr>
          <a:xfrm>
            <a:off x="546100" y="1003300"/>
            <a:ext cx="10782300" cy="635000"/>
          </a:xfrm>
          <a:prstGeom prst="rect">
            <a:avLst/>
          </a:prstGeom>
          <a:noFill/>
        </p:spPr>
        <p:txBody>
          <a:bodyPr wrap="square" lIns="0" rIns="0" tIns="0" bIns="0" anchor="t">
            <a:spAutoFit/>
          </a:bodyPr>
          <a:lstStyle/>
          <a:p>
            <a:pPr algn="l">
              <a:spcAft>
                <a:spcPts val="600"/>
              </a:spcAft>
            </a:pPr>
            <a:r>
              <a:rPr sz="2700" b="1">
                <a:solidFill>
                  <a:srgbClr val="1F2328"/>
                </a:solidFill>
                <a:latin typeface="Cambria"/>
              </a:rPr>
              <a:t>🎯 Today's Objective</a:t>
            </a:r>
          </a:p>
        </p:txBody>
      </p:sp>
      <p:sp>
        <p:nvSpPr>
          <p:cNvPr id="7" name="TextBox 6"/>
          <p:cNvSpPr txBox="1"/>
          <p:nvPr/>
        </p:nvSpPr>
        <p:spPr>
          <a:xfrm>
            <a:off x="457200" y="6502400"/>
            <a:ext cx="7315200" cy="266700"/>
          </a:xfrm>
          <a:prstGeom prst="rect">
            <a:avLst/>
          </a:prstGeom>
          <a:noFill/>
        </p:spPr>
        <p:txBody>
          <a:bodyPr wrap="square" lIns="0" rIns="0" tIns="0" bIns="0" anchor="t">
            <a:spAutoFit/>
          </a:bodyPr>
          <a:lstStyle/>
          <a:p>
            <a:pPr algn="l">
              <a:spcAft>
                <a:spcPts val="600"/>
              </a:spcAft>
            </a:pPr>
            <a:r>
              <a:rPr sz="900" b="0">
                <a:solidFill>
                  <a:srgbClr val="57606A"/>
                </a:solidFill>
                <a:latin typeface="Consolas"/>
              </a:rPr>
              <a:t>y12-sd-u4-l12-debug-alpha</a:t>
            </a:r>
          </a:p>
        </p:txBody>
      </p:sp>
      <p:sp>
        <p:nvSpPr>
          <p:cNvPr id="8" name="TextBox 7"/>
          <p:cNvSpPr txBox="1"/>
          <p:nvPr/>
        </p:nvSpPr>
        <p:spPr>
          <a:xfrm>
            <a:off x="11430000" y="6502400"/>
            <a:ext cx="457200" cy="266700"/>
          </a:xfrm>
          <a:prstGeom prst="rect">
            <a:avLst/>
          </a:prstGeom>
          <a:noFill/>
        </p:spPr>
        <p:txBody>
          <a:bodyPr wrap="square" lIns="0" rIns="0" tIns="0" bIns="0" anchor="t">
            <a:spAutoFit/>
          </a:bodyPr>
          <a:lstStyle/>
          <a:p>
            <a:pPr algn="r">
              <a:spcAft>
                <a:spcPts val="600"/>
              </a:spcAft>
            </a:pPr>
            <a:r>
              <a:rPr sz="900" b="0">
                <a:solidFill>
                  <a:srgbClr val="57606A"/>
                </a:solidFill>
                <a:latin typeface="Consolas"/>
              </a:rPr>
              <a:t>3</a:t>
            </a:r>
          </a:p>
        </p:txBody>
      </p:sp>
      <p:sp>
        <p:nvSpPr>
          <p:cNvPr id="9" name="Rounded Rectangle 8"/>
          <p:cNvSpPr/>
          <p:nvPr/>
        </p:nvSpPr>
        <p:spPr>
          <a:xfrm>
            <a:off x="546100" y="1752600"/>
            <a:ext cx="11061700" cy="939800"/>
          </a:xfrm>
          <a:prstGeom prst="roundRect">
            <a:avLst>
              <a:gd name="adj" fmla="val 8000"/>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900" y="1930400"/>
            <a:ext cx="10452100" cy="660400"/>
          </a:xfrm>
          <a:prstGeom prst="rect">
            <a:avLst/>
          </a:prstGeom>
          <a:noFill/>
        </p:spPr>
        <p:txBody>
          <a:bodyPr wrap="square" lIns="0" rIns="0" tIns="0" bIns="0" anchor="t">
            <a:spAutoFit/>
          </a:bodyPr>
          <a:lstStyle/>
          <a:p>
            <a:pPr algn="l">
              <a:lnSpc>
                <a:spcPct val="120000"/>
              </a:lnSpc>
              <a:spcAft>
                <a:spcPts val="600"/>
              </a:spcAft>
            </a:pPr>
            <a:r>
              <a:rPr sz="1900" b="1">
                <a:solidFill>
                  <a:srgbClr val="FFFFFF"/>
                </a:solidFill>
                <a:latin typeface="Calibri"/>
              </a:rPr>
              <a:t>To select and apply debugging and alpha testing techniques, and to evidence that every module of my solution functions correctly.</a:t>
            </a:r>
          </a:p>
        </p:txBody>
      </p:sp>
      <p:sp>
        <p:nvSpPr>
          <p:cNvPr id="11" name="TextBox 10"/>
          <p:cNvSpPr txBox="1"/>
          <p:nvPr/>
        </p:nvSpPr>
        <p:spPr>
          <a:xfrm>
            <a:off x="546100" y="2946400"/>
            <a:ext cx="5080000" cy="304800"/>
          </a:xfrm>
          <a:prstGeom prst="rect">
            <a:avLst/>
          </a:prstGeom>
          <a:noFill/>
        </p:spPr>
        <p:txBody>
          <a:bodyPr wrap="square" lIns="0" rIns="0" tIns="0" bIns="0" anchor="t">
            <a:spAutoFit/>
          </a:bodyPr>
          <a:lstStyle/>
          <a:p>
            <a:pPr algn="l">
              <a:spcAft>
                <a:spcPts val="600"/>
              </a:spcAft>
            </a:pPr>
            <a:r>
              <a:rPr sz="1300" b="1">
                <a:solidFill>
                  <a:srgbClr val="57606A"/>
                </a:solidFill>
                <a:latin typeface="Calibri"/>
              </a:rPr>
              <a:t>Success criteria</a:t>
            </a:r>
          </a:p>
        </p:txBody>
      </p:sp>
      <p:sp>
        <p:nvSpPr>
          <p:cNvPr id="12" name="Rounded Rectangle 11"/>
          <p:cNvSpPr/>
          <p:nvPr/>
        </p:nvSpPr>
        <p:spPr>
          <a:xfrm>
            <a:off x="546100" y="3352800"/>
            <a:ext cx="11061700" cy="914400"/>
          </a:xfrm>
          <a:prstGeom prst="roundRect">
            <a:avLst>
              <a:gd name="adj" fmla="val 10000"/>
            </a:avLst>
          </a:prstGeom>
          <a:solidFill>
            <a:srgbClr val="EEF1F3"/>
          </a:solidFill>
          <a:ln w="12700">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74700" y="3619500"/>
            <a:ext cx="1676400" cy="381000"/>
          </a:xfrm>
          <a:prstGeom prst="roundRect">
            <a:avLst>
              <a:gd name="adj" fmla="val 45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4700" y="3619500"/>
            <a:ext cx="1676400" cy="381000"/>
          </a:xfrm>
          <a:prstGeom prst="rect">
            <a:avLst/>
          </a:prstGeom>
          <a:noFill/>
        </p:spPr>
        <p:txBody>
          <a:bodyPr wrap="square" lIns="0" rIns="0" tIns="0" bIns="0" anchor="ctr">
            <a:spAutoFit/>
          </a:bodyPr>
          <a:lstStyle/>
          <a:p>
            <a:pPr algn="ctr">
              <a:spcAft>
                <a:spcPts val="600"/>
              </a:spcAft>
            </a:pPr>
            <a:r>
              <a:rPr sz="1200" b="1">
                <a:solidFill>
                  <a:srgbClr val="FFFFFF"/>
                </a:solidFill>
                <a:latin typeface="Calibri"/>
              </a:rPr>
              <a:t>🟢 Foundation</a:t>
            </a:r>
          </a:p>
        </p:txBody>
      </p:sp>
      <p:sp>
        <p:nvSpPr>
          <p:cNvPr id="15" name="TextBox 14"/>
          <p:cNvSpPr txBox="1"/>
          <p:nvPr/>
        </p:nvSpPr>
        <p:spPr>
          <a:xfrm>
            <a:off x="2654300" y="3556000"/>
            <a:ext cx="8724900" cy="558800"/>
          </a:xfrm>
          <a:prstGeom prst="rect">
            <a:avLst/>
          </a:prstGeom>
          <a:noFill/>
        </p:spPr>
        <p:txBody>
          <a:bodyPr wrap="square" lIns="0" rIns="0" tIns="0" bIns="0" anchor="ctr">
            <a:spAutoFit/>
          </a:bodyPr>
          <a:lstStyle/>
          <a:p>
            <a:pPr algn="l">
              <a:lnSpc>
                <a:spcPct val="120000"/>
              </a:lnSpc>
              <a:spcAft>
                <a:spcPts val="600"/>
              </a:spcAft>
            </a:pPr>
            <a:r>
              <a:rPr sz="1600" b="0">
                <a:solidFill>
                  <a:srgbClr val="1F2328"/>
                </a:solidFill>
                <a:latin typeface="Calibri"/>
              </a:rPr>
              <a:t>I can describe the debugging process in order, and place a breakpoint to inspect a variable mid-run.</a:t>
            </a:r>
          </a:p>
        </p:txBody>
      </p:sp>
      <p:sp>
        <p:nvSpPr>
          <p:cNvPr id="16" name="Rounded Rectangle 15"/>
          <p:cNvSpPr/>
          <p:nvPr/>
        </p:nvSpPr>
        <p:spPr>
          <a:xfrm>
            <a:off x="546100" y="4394200"/>
            <a:ext cx="11061700" cy="914400"/>
          </a:xfrm>
          <a:prstGeom prst="roundRect">
            <a:avLst>
              <a:gd name="adj" fmla="val 10000"/>
            </a:avLst>
          </a:prstGeom>
          <a:solidFill>
            <a:srgbClr val="EEF1F3"/>
          </a:solidFill>
          <a:ln w="12700">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74700" y="4660900"/>
            <a:ext cx="1676400" cy="381000"/>
          </a:xfrm>
          <a:prstGeom prst="roundRect">
            <a:avLst>
              <a:gd name="adj" fmla="val 45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4700" y="4660900"/>
            <a:ext cx="1676400" cy="381000"/>
          </a:xfrm>
          <a:prstGeom prst="rect">
            <a:avLst/>
          </a:prstGeom>
          <a:noFill/>
        </p:spPr>
        <p:txBody>
          <a:bodyPr wrap="square" lIns="0" rIns="0" tIns="0" bIns="0" anchor="ctr">
            <a:spAutoFit/>
          </a:bodyPr>
          <a:lstStyle/>
          <a:p>
            <a:pPr algn="ctr">
              <a:spcAft>
                <a:spcPts val="600"/>
              </a:spcAft>
            </a:pPr>
            <a:r>
              <a:rPr sz="1200" b="1">
                <a:solidFill>
                  <a:srgbClr val="FFFFFF"/>
                </a:solidFill>
                <a:latin typeface="Calibri"/>
              </a:rPr>
              <a:t>🟡 Developing</a:t>
            </a:r>
          </a:p>
        </p:txBody>
      </p:sp>
      <p:sp>
        <p:nvSpPr>
          <p:cNvPr id="19" name="TextBox 18"/>
          <p:cNvSpPr txBox="1"/>
          <p:nvPr/>
        </p:nvSpPr>
        <p:spPr>
          <a:xfrm>
            <a:off x="2654300" y="4597400"/>
            <a:ext cx="8724900" cy="558800"/>
          </a:xfrm>
          <a:prstGeom prst="rect">
            <a:avLst/>
          </a:prstGeom>
          <a:noFill/>
        </p:spPr>
        <p:txBody>
          <a:bodyPr wrap="square" lIns="0" rIns="0" tIns="0" bIns="0" anchor="ctr">
            <a:spAutoFit/>
          </a:bodyPr>
          <a:lstStyle/>
          <a:p>
            <a:pPr algn="l">
              <a:lnSpc>
                <a:spcPct val="120000"/>
              </a:lnSpc>
              <a:spcAft>
                <a:spcPts val="600"/>
              </a:spcAft>
            </a:pPr>
            <a:r>
              <a:rPr sz="1600" b="0">
                <a:solidFill>
                  <a:srgbClr val="1F2328"/>
                </a:solidFill>
                <a:latin typeface="Calibri"/>
              </a:rPr>
              <a:t>I have isolated and fixed a real bug using breakpoints and/or commenting out, and logged the bug, the technique and the fix.</a:t>
            </a:r>
          </a:p>
        </p:txBody>
      </p:sp>
      <p:sp>
        <p:nvSpPr>
          <p:cNvPr id="20" name="Rounded Rectangle 19"/>
          <p:cNvSpPr/>
          <p:nvPr/>
        </p:nvSpPr>
        <p:spPr>
          <a:xfrm>
            <a:off x="546100" y="5435600"/>
            <a:ext cx="11061700" cy="914400"/>
          </a:xfrm>
          <a:prstGeom prst="roundRect">
            <a:avLst>
              <a:gd name="adj" fmla="val 10000"/>
            </a:avLst>
          </a:prstGeom>
          <a:solidFill>
            <a:srgbClr val="EEF1F3"/>
          </a:solidFill>
          <a:ln w="12700">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74700" y="5702300"/>
            <a:ext cx="1676400" cy="381000"/>
          </a:xfrm>
          <a:prstGeom prst="roundRect">
            <a:avLst>
              <a:gd name="adj" fmla="val 45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4700" y="5702300"/>
            <a:ext cx="1676400" cy="381000"/>
          </a:xfrm>
          <a:prstGeom prst="rect">
            <a:avLst/>
          </a:prstGeom>
          <a:noFill/>
        </p:spPr>
        <p:txBody>
          <a:bodyPr wrap="square" lIns="0" rIns="0" tIns="0" bIns="0" anchor="ctr">
            <a:spAutoFit/>
          </a:bodyPr>
          <a:lstStyle/>
          <a:p>
            <a:pPr algn="ctr">
              <a:spcAft>
                <a:spcPts val="600"/>
              </a:spcAft>
            </a:pPr>
            <a:r>
              <a:rPr sz="1200" b="1">
                <a:solidFill>
                  <a:srgbClr val="FFFFFF"/>
                </a:solidFill>
                <a:latin typeface="Calibri"/>
              </a:rPr>
              <a:t>🟣 Extending</a:t>
            </a:r>
          </a:p>
        </p:txBody>
      </p:sp>
      <p:sp>
        <p:nvSpPr>
          <p:cNvPr id="23" name="TextBox 22"/>
          <p:cNvSpPr txBox="1"/>
          <p:nvPr/>
        </p:nvSpPr>
        <p:spPr>
          <a:xfrm>
            <a:off x="2654300" y="5638800"/>
            <a:ext cx="8724900" cy="558800"/>
          </a:xfrm>
          <a:prstGeom prst="rect">
            <a:avLst/>
          </a:prstGeom>
          <a:noFill/>
        </p:spPr>
        <p:txBody>
          <a:bodyPr wrap="square" lIns="0" rIns="0" tIns="0" bIns="0" anchor="ctr">
            <a:spAutoFit/>
          </a:bodyPr>
          <a:lstStyle/>
          <a:p>
            <a:pPr algn="l">
              <a:lnSpc>
                <a:spcPct val="120000"/>
              </a:lnSpc>
              <a:spcAft>
                <a:spcPts val="600"/>
              </a:spcAft>
            </a:pPr>
            <a:r>
              <a:rPr sz="1600" b="0">
                <a:solidFill>
                  <a:srgbClr val="1F2328"/>
                </a:solidFill>
                <a:latin typeface="Calibri"/>
              </a:rPr>
              <a:t>I have a complete five-column testing table using valid, valid-but-unusual and invalid data, with every module confirmed.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57200" y="254000"/>
            <a:ext cx="2336800" cy="355600"/>
          </a:xfrm>
          <a:prstGeom prst="roundRect">
            <a:avLst>
              <a:gd name="adj" fmla="val 45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4000"/>
            <a:ext cx="2336800" cy="355600"/>
          </a:xfrm>
          <a:prstGeom prst="rect">
            <a:avLst/>
          </a:prstGeom>
          <a:noFill/>
        </p:spPr>
        <p:txBody>
          <a:bodyPr wrap="square" lIns="0" rIns="0" tIns="0" bIns="0" anchor="ctr">
            <a:spAutoFit/>
          </a:bodyPr>
          <a:lstStyle/>
          <a:p>
            <a:pPr algn="ctr">
              <a:spcAft>
                <a:spcPts val="600"/>
              </a:spcAft>
            </a:pPr>
            <a:r>
              <a:rPr sz="1100" b="1">
                <a:solidFill>
                  <a:srgbClr val="FFFFFF"/>
                </a:solidFill>
                <a:latin typeface="Calibri"/>
              </a:rPr>
              <a:t>EXPLICIT EXPLANATION</a:t>
            </a:r>
          </a:p>
        </p:txBody>
      </p:sp>
      <p:sp>
        <p:nvSpPr>
          <p:cNvPr id="4" name="Rounded Rectangle 3"/>
          <p:cNvSpPr/>
          <p:nvPr/>
        </p:nvSpPr>
        <p:spPr>
          <a:xfrm>
            <a:off x="10375900" y="254000"/>
            <a:ext cx="1498600" cy="355600"/>
          </a:xfrm>
          <a:prstGeom prst="roundRect">
            <a:avLst>
              <a:gd name="adj" fmla="val 45000"/>
            </a:avLst>
          </a:prstGeom>
          <a:solidFill>
            <a:srgbClr val="EEF1F3"/>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75900" y="254000"/>
            <a:ext cx="1498600" cy="355600"/>
          </a:xfrm>
          <a:prstGeom prst="rect">
            <a:avLst/>
          </a:prstGeom>
          <a:noFill/>
        </p:spPr>
        <p:txBody>
          <a:bodyPr wrap="square" lIns="0" rIns="0" tIns="0" bIns="0" anchor="ctr">
            <a:spAutoFit/>
          </a:bodyPr>
          <a:lstStyle/>
          <a:p>
            <a:pPr algn="ctr">
              <a:spcAft>
                <a:spcPts val="600"/>
              </a:spcAft>
            </a:pPr>
            <a:r>
              <a:rPr sz="1000" b="1">
                <a:solidFill>
                  <a:srgbClr val="64748B"/>
                </a:solidFill>
                <a:latin typeface="Calibri"/>
              </a:rPr>
              <a:t>✋ Off devices</a:t>
            </a:r>
          </a:p>
        </p:txBody>
      </p:sp>
      <p:sp>
        <p:nvSpPr>
          <p:cNvPr id="6" name="TextBox 5"/>
          <p:cNvSpPr txBox="1"/>
          <p:nvPr/>
        </p:nvSpPr>
        <p:spPr>
          <a:xfrm>
            <a:off x="546100" y="1003300"/>
            <a:ext cx="10782300" cy="635000"/>
          </a:xfrm>
          <a:prstGeom prst="rect">
            <a:avLst/>
          </a:prstGeom>
          <a:noFill/>
        </p:spPr>
        <p:txBody>
          <a:bodyPr wrap="square" lIns="0" rIns="0" tIns="0" bIns="0" anchor="t">
            <a:spAutoFit/>
          </a:bodyPr>
          <a:lstStyle/>
          <a:p>
            <a:pPr algn="l">
              <a:spcAft>
                <a:spcPts val="600"/>
              </a:spcAft>
            </a:pPr>
            <a:r>
              <a:rPr sz="2700" b="1">
                <a:solidFill>
                  <a:srgbClr val="1F2328"/>
                </a:solidFill>
                <a:latin typeface="Cambria"/>
              </a:rPr>
              <a:t>Alpha testing: internal, and first</a:t>
            </a:r>
          </a:p>
        </p:txBody>
      </p:sp>
      <p:sp>
        <p:nvSpPr>
          <p:cNvPr id="7" name="TextBox 6"/>
          <p:cNvSpPr txBox="1"/>
          <p:nvPr/>
        </p:nvSpPr>
        <p:spPr>
          <a:xfrm>
            <a:off x="457200" y="6502400"/>
            <a:ext cx="7315200" cy="266700"/>
          </a:xfrm>
          <a:prstGeom prst="rect">
            <a:avLst/>
          </a:prstGeom>
          <a:noFill/>
        </p:spPr>
        <p:txBody>
          <a:bodyPr wrap="square" lIns="0" rIns="0" tIns="0" bIns="0" anchor="t">
            <a:spAutoFit/>
          </a:bodyPr>
          <a:lstStyle/>
          <a:p>
            <a:pPr algn="l">
              <a:spcAft>
                <a:spcPts val="600"/>
              </a:spcAft>
            </a:pPr>
            <a:r>
              <a:rPr sz="900" b="0">
                <a:solidFill>
                  <a:srgbClr val="57606A"/>
                </a:solidFill>
                <a:latin typeface="Consolas"/>
              </a:rPr>
              <a:t>y12-sd-u4-l12-debug-alpha</a:t>
            </a:r>
          </a:p>
        </p:txBody>
      </p:sp>
      <p:sp>
        <p:nvSpPr>
          <p:cNvPr id="8" name="TextBox 7"/>
          <p:cNvSpPr txBox="1"/>
          <p:nvPr/>
        </p:nvSpPr>
        <p:spPr>
          <a:xfrm>
            <a:off x="11430000" y="6502400"/>
            <a:ext cx="457200" cy="266700"/>
          </a:xfrm>
          <a:prstGeom prst="rect">
            <a:avLst/>
          </a:prstGeom>
          <a:noFill/>
        </p:spPr>
        <p:txBody>
          <a:bodyPr wrap="square" lIns="0" rIns="0" tIns="0" bIns="0" anchor="t">
            <a:spAutoFit/>
          </a:bodyPr>
          <a:lstStyle/>
          <a:p>
            <a:pPr algn="r">
              <a:spcAft>
                <a:spcPts val="600"/>
              </a:spcAft>
            </a:pPr>
            <a:r>
              <a:rPr sz="900" b="0">
                <a:solidFill>
                  <a:srgbClr val="57606A"/>
                </a:solidFill>
                <a:latin typeface="Consolas"/>
              </a:rPr>
              <a:t>4</a:t>
            </a:r>
          </a:p>
        </p:txBody>
      </p:sp>
      <p:sp>
        <p:nvSpPr>
          <p:cNvPr id="9" name="TextBox 8"/>
          <p:cNvSpPr txBox="1"/>
          <p:nvPr/>
        </p:nvSpPr>
        <p:spPr>
          <a:xfrm>
            <a:off x="546100" y="1727200"/>
            <a:ext cx="11061700" cy="660400"/>
          </a:xfrm>
          <a:prstGeom prst="rect">
            <a:avLst/>
          </a:prstGeom>
          <a:noFill/>
        </p:spPr>
        <p:txBody>
          <a:bodyPr wrap="square" lIns="0" rIns="0" tIns="0" bIns="0" anchor="t">
            <a:spAutoFit/>
          </a:bodyPr>
          <a:lstStyle/>
          <a:p>
            <a:pPr algn="l">
              <a:lnSpc>
                <a:spcPct val="125000"/>
              </a:lnSpc>
              <a:spcAft>
                <a:spcPts val="600"/>
              </a:spcAft>
            </a:pPr>
            <a:r>
              <a:rPr sz="1700" b="0">
                <a:solidFill>
                  <a:srgbClr val="1F2328"/>
                </a:solidFill>
                <a:latin typeface="Calibri"/>
              </a:rPr>
              <a:t>Alpha testing is you and your development team, in your own environment, checking the solution meets its requirements — before anybody outside ever sees it.</a:t>
            </a:r>
          </a:p>
        </p:txBody>
      </p:sp>
      <p:graphicFrame>
        <p:nvGraphicFramePr>
          <p:cNvPr id="10" name="Table 9"/>
          <p:cNvGraphicFramePr>
            <a:graphicFrameLocks noGrp="1"/>
          </p:cNvGraphicFramePr>
          <p:nvPr/>
        </p:nvGraphicFramePr>
        <p:xfrm>
          <a:off x="546100" y="2540000"/>
          <a:ext cx="11061700" cy="2794000"/>
        </p:xfrm>
        <a:graphic>
          <a:graphicData uri="http://schemas.openxmlformats.org/drawingml/2006/table">
            <a:tbl>
              <a:tblPr firstRow="1" bandRow="1">
                <a:tableStyleId>{5C22544A-7EE6-4342-B048-85BDC9FD1C3A}</a:tableStyleId>
              </a:tblPr>
              <a:tblGrid>
                <a:gridCol w="1651000"/>
                <a:gridCol w="4699000"/>
                <a:gridCol w="4711700"/>
              </a:tblGrid>
              <a:tr h="558800">
                <a:tc>
                  <a:txBody>
                    <a:bodyPr wrap="square"/>
                    <a:lstStyle/>
                    <a:p>
                      <a:pPr algn="l"/>
                      <a:r>
                        <a:rPr sz="1300" b="1">
                          <a:solidFill>
                            <a:srgbClr val="FFFFFF"/>
                          </a:solidFill>
                          <a:latin typeface="Calibri"/>
                        </a:rPr>
                        <a:t/>
                      </a:r>
                    </a:p>
                  </a:txBody>
                  <a:tcPr marL="127000" marR="127000" marT="76200" marB="76200" anchor="ctr">
                    <a:solidFill>
                      <a:srgbClr val="4361EE"/>
                    </a:solidFill>
                  </a:tcPr>
                </a:tc>
                <a:tc>
                  <a:txBody>
                    <a:bodyPr wrap="square"/>
                    <a:lstStyle/>
                    <a:p>
                      <a:pPr algn="l"/>
                      <a:r>
                        <a:rPr sz="1300" b="1">
                          <a:solidFill>
                            <a:srgbClr val="FFFFFF"/>
                          </a:solidFill>
                          <a:latin typeface="Calibri"/>
                        </a:rPr>
                        <a:t>Alpha testing</a:t>
                      </a:r>
                    </a:p>
                  </a:txBody>
                  <a:tcPr marL="127000" marR="127000" marT="76200" marB="76200" anchor="ctr">
                    <a:solidFill>
                      <a:srgbClr val="4361EE"/>
                    </a:solidFill>
                  </a:tcPr>
                </a:tc>
                <a:tc>
                  <a:txBody>
                    <a:bodyPr wrap="square"/>
                    <a:lstStyle/>
                    <a:p>
                      <a:pPr algn="l"/>
                      <a:r>
                        <a:rPr sz="1300" b="1">
                          <a:solidFill>
                            <a:srgbClr val="FFFFFF"/>
                          </a:solidFill>
                          <a:latin typeface="Calibri"/>
                        </a:rPr>
                        <a:t>Beta testing</a:t>
                      </a:r>
                    </a:p>
                  </a:txBody>
                  <a:tcPr marL="127000" marR="127000" marT="76200" marB="76200" anchor="ctr">
                    <a:solidFill>
                      <a:srgbClr val="4361EE"/>
                    </a:solidFill>
                  </a:tcPr>
                </a:tc>
              </a:tr>
              <a:tr h="558800">
                <a:tc>
                  <a:txBody>
                    <a:bodyPr wrap="square"/>
                    <a:lstStyle/>
                    <a:p>
                      <a:pPr algn="l"/>
                      <a:r>
                        <a:rPr sz="1300" b="0">
                          <a:solidFill>
                            <a:srgbClr val="1F2328"/>
                          </a:solidFill>
                          <a:latin typeface="Calibri"/>
                        </a:rPr>
                        <a:t>Who tests</a:t>
                      </a:r>
                    </a:p>
                  </a:txBody>
                  <a:tcPr marL="127000" marR="127000" marT="76200" marB="76200" anchor="ctr">
                    <a:solidFill>
                      <a:srgbClr val="FFFFFF"/>
                    </a:solidFill>
                  </a:tcPr>
                </a:tc>
                <a:tc>
                  <a:txBody>
                    <a:bodyPr wrap="square"/>
                    <a:lstStyle/>
                    <a:p>
                      <a:pPr algn="l"/>
                      <a:r>
                        <a:rPr sz="1300" b="0">
                          <a:solidFill>
                            <a:srgbClr val="1F2328"/>
                          </a:solidFill>
                          <a:latin typeface="Calibri"/>
                        </a:rPr>
                        <a:t>You — the developer</a:t>
                      </a:r>
                    </a:p>
                  </a:txBody>
                  <a:tcPr marL="127000" marR="127000" marT="76200" marB="76200" anchor="ctr">
                    <a:solidFill>
                      <a:srgbClr val="FFFFFF"/>
                    </a:solidFill>
                  </a:tcPr>
                </a:tc>
                <a:tc>
                  <a:txBody>
                    <a:bodyPr wrap="square"/>
                    <a:lstStyle/>
                    <a:p>
                      <a:pPr algn="l"/>
                      <a:r>
                        <a:rPr sz="1300" b="0">
                          <a:solidFill>
                            <a:srgbClr val="1F2328"/>
                          </a:solidFill>
                          <a:latin typeface="Calibri"/>
                        </a:rPr>
                        <a:t>Real potential users, at least two</a:t>
                      </a:r>
                    </a:p>
                  </a:txBody>
                  <a:tcPr marL="127000" marR="127000" marT="76200" marB="76200" anchor="ctr">
                    <a:solidFill>
                      <a:srgbClr val="FFFFFF"/>
                    </a:solidFill>
                  </a:tcPr>
                </a:tc>
              </a:tr>
              <a:tr h="558800">
                <a:tc>
                  <a:txBody>
                    <a:bodyPr wrap="square"/>
                    <a:lstStyle/>
                    <a:p>
                      <a:pPr algn="l"/>
                      <a:r>
                        <a:rPr sz="1300" b="0">
                          <a:solidFill>
                            <a:srgbClr val="1F2328"/>
                          </a:solidFill>
                          <a:latin typeface="Calibri"/>
                        </a:rPr>
                        <a:t>Where</a:t>
                      </a:r>
                    </a:p>
                  </a:txBody>
                  <a:tcPr marL="127000" marR="127000" marT="76200" marB="76200" anchor="ctr">
                    <a:solidFill>
                      <a:srgbClr val="F7F9FA"/>
                    </a:solidFill>
                  </a:tcPr>
                </a:tc>
                <a:tc>
                  <a:txBody>
                    <a:bodyPr wrap="square"/>
                    <a:lstStyle/>
                    <a:p>
                      <a:pPr algn="l"/>
                      <a:r>
                        <a:rPr sz="1300" b="0">
                          <a:solidFill>
                            <a:srgbClr val="1F2328"/>
                          </a:solidFill>
                          <a:latin typeface="Calibri"/>
                        </a:rPr>
                        <a:t>Your own development environment</a:t>
                      </a:r>
                    </a:p>
                  </a:txBody>
                  <a:tcPr marL="127000" marR="127000" marT="76200" marB="76200" anchor="ctr">
                    <a:solidFill>
                      <a:srgbClr val="F7F9FA"/>
                    </a:solidFill>
                  </a:tcPr>
                </a:tc>
                <a:tc>
                  <a:txBody>
                    <a:bodyPr wrap="square"/>
                    <a:lstStyle/>
                    <a:p>
                      <a:pPr algn="l"/>
                      <a:r>
                        <a:rPr sz="1300" b="0">
                          <a:solidFill>
                            <a:srgbClr val="1F2328"/>
                          </a:solidFill>
                          <a:latin typeface="Calibri"/>
                        </a:rPr>
                        <a:t>The user's environment</a:t>
                      </a:r>
                    </a:p>
                  </a:txBody>
                  <a:tcPr marL="127000" marR="127000" marT="76200" marB="76200" anchor="ctr">
                    <a:solidFill>
                      <a:srgbClr val="F7F9FA"/>
                    </a:solidFill>
                  </a:tcPr>
                </a:tc>
              </a:tr>
              <a:tr h="558800">
                <a:tc>
                  <a:txBody>
                    <a:bodyPr wrap="square"/>
                    <a:lstStyle/>
                    <a:p>
                      <a:pPr algn="l"/>
                      <a:r>
                        <a:rPr sz="1300" b="0">
                          <a:solidFill>
                            <a:srgbClr val="1F2328"/>
                          </a:solidFill>
                          <a:latin typeface="Calibri"/>
                        </a:rPr>
                        <a:t>It assumes</a:t>
                      </a:r>
                    </a:p>
                  </a:txBody>
                  <a:tcPr marL="127000" marR="127000" marT="76200" marB="76200" anchor="ctr">
                    <a:solidFill>
                      <a:srgbClr val="FFFFFF"/>
                    </a:solidFill>
                  </a:tcPr>
                </a:tc>
                <a:tc>
                  <a:txBody>
                    <a:bodyPr wrap="square"/>
                    <a:lstStyle/>
                    <a:p>
                      <a:pPr algn="l"/>
                      <a:r>
                        <a:rPr sz="1300" b="0">
                          <a:solidFill>
                            <a:srgbClr val="1F2328"/>
                          </a:solidFill>
                          <a:latin typeface="Calibri"/>
                        </a:rPr>
                        <a:t>Nothing — you are finding the faults</a:t>
                      </a:r>
                    </a:p>
                  </a:txBody>
                  <a:tcPr marL="127000" marR="127000" marT="76200" marB="76200" anchor="ctr">
                    <a:solidFill>
                      <a:srgbClr val="FFFFFF"/>
                    </a:solidFill>
                  </a:tcPr>
                </a:tc>
                <a:tc>
                  <a:txBody>
                    <a:bodyPr wrap="square"/>
                    <a:lstStyle/>
                    <a:p>
                      <a:pPr algn="l"/>
                      <a:r>
                        <a:rPr sz="1300" b="0">
                          <a:solidFill>
                            <a:srgbClr val="1F2328"/>
                          </a:solidFill>
                          <a:latin typeface="Calibri"/>
                        </a:rPr>
                        <a:t>A working solution already</a:t>
                      </a:r>
                    </a:p>
                  </a:txBody>
                  <a:tcPr marL="127000" marR="127000" marT="76200" marB="76200" anchor="ctr">
                    <a:solidFill>
                      <a:srgbClr val="FFFFFF"/>
                    </a:solidFill>
                  </a:tcPr>
                </a:tc>
              </a:tr>
              <a:tr h="558800">
                <a:tc>
                  <a:txBody>
                    <a:bodyPr wrap="square"/>
                    <a:lstStyle/>
                    <a:p>
                      <a:pPr algn="l"/>
                      <a:r>
                        <a:rPr sz="1300" b="0">
                          <a:solidFill>
                            <a:srgbClr val="1F2328"/>
                          </a:solidFill>
                          <a:latin typeface="Calibri"/>
                        </a:rPr>
                        <a:t>Purpose</a:t>
                      </a:r>
                    </a:p>
                  </a:txBody>
                  <a:tcPr marL="127000" marR="127000" marT="76200" marB="76200" anchor="ctr">
                    <a:solidFill>
                      <a:srgbClr val="F7F9FA"/>
                    </a:solidFill>
                  </a:tcPr>
                </a:tc>
                <a:tc>
                  <a:txBody>
                    <a:bodyPr wrap="square"/>
                    <a:lstStyle/>
                    <a:p>
                      <a:pPr algn="l"/>
                      <a:r>
                        <a:rPr sz="1300" b="0">
                          <a:solidFill>
                            <a:srgbClr val="1F2328"/>
                          </a:solidFill>
                          <a:latin typeface="Calibri"/>
                        </a:rPr>
                        <a:t>Does it meet the requirements and function correctly?</a:t>
                      </a:r>
                    </a:p>
                  </a:txBody>
                  <a:tcPr marL="127000" marR="127000" marT="76200" marB="76200" anchor="ctr">
                    <a:solidFill>
                      <a:srgbClr val="F7F9FA"/>
                    </a:solidFill>
                  </a:tcPr>
                </a:tc>
                <a:tc>
                  <a:txBody>
                    <a:bodyPr wrap="square"/>
                    <a:lstStyle/>
                    <a:p>
                      <a:pPr algn="l"/>
                      <a:r>
                        <a:rPr sz="1300" b="0">
                          <a:solidFill>
                            <a:srgbClr val="1F2328"/>
                          </a:solidFill>
                          <a:latin typeface="Calibri"/>
                        </a:rPr>
                        <a:t>Does it work for the people it was built for?</a:t>
                      </a:r>
                    </a:p>
                  </a:txBody>
                  <a:tcPr marL="127000" marR="127000" marT="76200" marB="76200" anchor="ctr">
                    <a:solidFill>
                      <a:srgbClr val="F7F9FA"/>
                    </a:solidFill>
                  </a:tcPr>
                </a:tc>
              </a:tr>
            </a:tbl>
          </a:graphicData>
        </a:graphic>
      </p:graphicFrame>
      <p:sp>
        <p:nvSpPr>
          <p:cNvPr id="11" name="Rounded Rectangle 10"/>
          <p:cNvSpPr/>
          <p:nvPr/>
        </p:nvSpPr>
        <p:spPr>
          <a:xfrm>
            <a:off x="546100" y="5740400"/>
            <a:ext cx="2667000" cy="381000"/>
          </a:xfrm>
          <a:prstGeom prst="roundRect">
            <a:avLst>
              <a:gd name="adj" fmla="val 45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6100" y="5740400"/>
            <a:ext cx="2667000" cy="381000"/>
          </a:xfrm>
          <a:prstGeom prst="rect">
            <a:avLst/>
          </a:prstGeom>
          <a:noFill/>
        </p:spPr>
        <p:txBody>
          <a:bodyPr wrap="square" lIns="0" rIns="0" tIns="0" bIns="0" anchor="ctr">
            <a:spAutoFit/>
          </a:bodyPr>
          <a:lstStyle/>
          <a:p>
            <a:pPr algn="ctr">
              <a:spcAft>
                <a:spcPts val="600"/>
              </a:spcAft>
            </a:pPr>
            <a:r>
              <a:rPr sz="1200" b="1">
                <a:solidFill>
                  <a:srgbClr val="FFFFFF"/>
                </a:solidFill>
                <a:latin typeface="Calibri"/>
              </a:rPr>
              <a:t>📋 COPY TO WORKBOOK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57200" y="254000"/>
            <a:ext cx="2336800" cy="355600"/>
          </a:xfrm>
          <a:prstGeom prst="roundRect">
            <a:avLst>
              <a:gd name="adj" fmla="val 45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4000"/>
            <a:ext cx="2336800" cy="355600"/>
          </a:xfrm>
          <a:prstGeom prst="rect">
            <a:avLst/>
          </a:prstGeom>
          <a:noFill/>
        </p:spPr>
        <p:txBody>
          <a:bodyPr wrap="square" lIns="0" rIns="0" tIns="0" bIns="0" anchor="ctr">
            <a:spAutoFit/>
          </a:bodyPr>
          <a:lstStyle/>
          <a:p>
            <a:pPr algn="ctr">
              <a:spcAft>
                <a:spcPts val="600"/>
              </a:spcAft>
            </a:pPr>
            <a:r>
              <a:rPr sz="1100" b="1">
                <a:solidFill>
                  <a:srgbClr val="FFFFFF"/>
                </a:solidFill>
                <a:latin typeface="Calibri"/>
              </a:rPr>
              <a:t>EXPLICIT EXPLANATION</a:t>
            </a:r>
          </a:p>
        </p:txBody>
      </p:sp>
      <p:sp>
        <p:nvSpPr>
          <p:cNvPr id="4" name="Rounded Rectangle 3"/>
          <p:cNvSpPr/>
          <p:nvPr/>
        </p:nvSpPr>
        <p:spPr>
          <a:xfrm>
            <a:off x="10375900" y="254000"/>
            <a:ext cx="1498600" cy="355600"/>
          </a:xfrm>
          <a:prstGeom prst="roundRect">
            <a:avLst>
              <a:gd name="adj" fmla="val 45000"/>
            </a:avLst>
          </a:prstGeom>
          <a:solidFill>
            <a:srgbClr val="EEF1F3"/>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75900" y="254000"/>
            <a:ext cx="1498600" cy="355600"/>
          </a:xfrm>
          <a:prstGeom prst="rect">
            <a:avLst/>
          </a:prstGeom>
          <a:noFill/>
        </p:spPr>
        <p:txBody>
          <a:bodyPr wrap="square" lIns="0" rIns="0" tIns="0" bIns="0" anchor="ctr">
            <a:spAutoFit/>
          </a:bodyPr>
          <a:lstStyle/>
          <a:p>
            <a:pPr algn="ctr">
              <a:spcAft>
                <a:spcPts val="600"/>
              </a:spcAft>
            </a:pPr>
            <a:r>
              <a:rPr sz="1000" b="1">
                <a:solidFill>
                  <a:srgbClr val="64748B"/>
                </a:solidFill>
                <a:latin typeface="Calibri"/>
              </a:rPr>
              <a:t>✋ Off devices</a:t>
            </a:r>
          </a:p>
        </p:txBody>
      </p:sp>
      <p:sp>
        <p:nvSpPr>
          <p:cNvPr id="6" name="TextBox 5"/>
          <p:cNvSpPr txBox="1"/>
          <p:nvPr/>
        </p:nvSpPr>
        <p:spPr>
          <a:xfrm>
            <a:off x="546100" y="1003300"/>
            <a:ext cx="10782300" cy="635000"/>
          </a:xfrm>
          <a:prstGeom prst="rect">
            <a:avLst/>
          </a:prstGeom>
          <a:noFill/>
        </p:spPr>
        <p:txBody>
          <a:bodyPr wrap="square" lIns="0" rIns="0" tIns="0" bIns="0" anchor="t">
            <a:spAutoFit/>
          </a:bodyPr>
          <a:lstStyle/>
          <a:p>
            <a:pPr algn="l">
              <a:spcAft>
                <a:spcPts val="600"/>
              </a:spcAft>
            </a:pPr>
            <a:r>
              <a:rPr sz="2700" b="1">
                <a:solidFill>
                  <a:srgbClr val="1F2328"/>
                </a:solidFill>
                <a:latin typeface="Cambria"/>
              </a:rPr>
              <a:t>The debugging process</a:t>
            </a:r>
          </a:p>
        </p:txBody>
      </p:sp>
      <p:sp>
        <p:nvSpPr>
          <p:cNvPr id="7" name="TextBox 6"/>
          <p:cNvSpPr txBox="1"/>
          <p:nvPr/>
        </p:nvSpPr>
        <p:spPr>
          <a:xfrm>
            <a:off x="457200" y="6502400"/>
            <a:ext cx="7315200" cy="266700"/>
          </a:xfrm>
          <a:prstGeom prst="rect">
            <a:avLst/>
          </a:prstGeom>
          <a:noFill/>
        </p:spPr>
        <p:txBody>
          <a:bodyPr wrap="square" lIns="0" rIns="0" tIns="0" bIns="0" anchor="t">
            <a:spAutoFit/>
          </a:bodyPr>
          <a:lstStyle/>
          <a:p>
            <a:pPr algn="l">
              <a:spcAft>
                <a:spcPts val="600"/>
              </a:spcAft>
            </a:pPr>
            <a:r>
              <a:rPr sz="900" b="0">
                <a:solidFill>
                  <a:srgbClr val="57606A"/>
                </a:solidFill>
                <a:latin typeface="Consolas"/>
              </a:rPr>
              <a:t>y12-sd-u4-l12-debug-alpha</a:t>
            </a:r>
          </a:p>
        </p:txBody>
      </p:sp>
      <p:sp>
        <p:nvSpPr>
          <p:cNvPr id="8" name="TextBox 7"/>
          <p:cNvSpPr txBox="1"/>
          <p:nvPr/>
        </p:nvSpPr>
        <p:spPr>
          <a:xfrm>
            <a:off x="11430000" y="6502400"/>
            <a:ext cx="457200" cy="266700"/>
          </a:xfrm>
          <a:prstGeom prst="rect">
            <a:avLst/>
          </a:prstGeom>
          <a:noFill/>
        </p:spPr>
        <p:txBody>
          <a:bodyPr wrap="square" lIns="0" rIns="0" tIns="0" bIns="0" anchor="t">
            <a:spAutoFit/>
          </a:bodyPr>
          <a:lstStyle/>
          <a:p>
            <a:pPr algn="r">
              <a:spcAft>
                <a:spcPts val="600"/>
              </a:spcAft>
            </a:pPr>
            <a:r>
              <a:rPr sz="900" b="0">
                <a:solidFill>
                  <a:srgbClr val="57606A"/>
                </a:solidFill>
                <a:latin typeface="Consolas"/>
              </a:rPr>
              <a:t>5</a:t>
            </a:r>
          </a:p>
        </p:txBody>
      </p:sp>
      <p:sp>
        <p:nvSpPr>
          <p:cNvPr id="9" name="TextBox 8"/>
          <p:cNvSpPr txBox="1"/>
          <p:nvPr/>
        </p:nvSpPr>
        <p:spPr>
          <a:xfrm>
            <a:off x="546100" y="1905000"/>
            <a:ext cx="6032500" cy="3810000"/>
          </a:xfrm>
          <a:prstGeom prst="rect">
            <a:avLst/>
          </a:prstGeom>
          <a:noFill/>
        </p:spPr>
        <p:txBody>
          <a:bodyPr wrap="square" lIns="0" rIns="0" tIns="0" bIns="0" anchor="t">
            <a:spAutoFit/>
          </a:bodyPr>
          <a:lstStyle/>
          <a:p>
            <a:pPr algn="l">
              <a:lnSpc>
                <a:spcPct val="115000"/>
              </a:lnSpc>
              <a:spcAft>
                <a:spcPts val="1300"/>
              </a:spcAft>
            </a:pPr>
            <a:r>
              <a:rPr sz="1700" b="0">
                <a:solidFill>
                  <a:srgbClr val="1F2328"/>
                </a:solidFill>
                <a:latin typeface="Calibri"/>
              </a:rPr>
              <a:t>1.  Set breakpoints at critical points in the code.</a:t>
            </a:r>
          </a:p>
          <a:p>
            <a:pPr algn="l">
              <a:lnSpc>
                <a:spcPct val="115000"/>
              </a:lnSpc>
              <a:spcAft>
                <a:spcPts val="1300"/>
              </a:spcAft>
            </a:pPr>
            <a:r>
              <a:rPr sz="1700" b="0">
                <a:solidFill>
                  <a:srgbClr val="1F2328"/>
                </a:solidFill>
                <a:latin typeface="Calibri"/>
              </a:rPr>
              <a:t>2.  Run the program and observe its behaviour.</a:t>
            </a:r>
          </a:p>
          <a:p>
            <a:pPr algn="l">
              <a:lnSpc>
                <a:spcPct val="115000"/>
              </a:lnSpc>
              <a:spcAft>
                <a:spcPts val="1300"/>
              </a:spcAft>
            </a:pPr>
            <a:r>
              <a:rPr sz="1700" b="0">
                <a:solidFill>
                  <a:srgbClr val="1F2328"/>
                </a:solidFill>
                <a:latin typeface="Calibri"/>
              </a:rPr>
              <a:t>3.  When it hits a breakpoint it pauses — inspect the variables and data.</a:t>
            </a:r>
          </a:p>
          <a:p>
            <a:pPr algn="l">
              <a:lnSpc>
                <a:spcPct val="115000"/>
              </a:lnSpc>
              <a:spcAft>
                <a:spcPts val="1300"/>
              </a:spcAft>
            </a:pPr>
            <a:r>
              <a:rPr sz="1700" b="0">
                <a:solidFill>
                  <a:srgbClr val="1F2328"/>
                </a:solidFill>
                <a:latin typeface="Calibri"/>
              </a:rPr>
              <a:t>4.  If needed, comment out sections you suspect, to isolate the fault.</a:t>
            </a:r>
          </a:p>
          <a:p>
            <a:pPr algn="l">
              <a:lnSpc>
                <a:spcPct val="115000"/>
              </a:lnSpc>
              <a:spcAft>
                <a:spcPts val="1300"/>
              </a:spcAft>
            </a:pPr>
            <a:r>
              <a:rPr sz="1700" b="0">
                <a:solidFill>
                  <a:srgbClr val="1F2328"/>
                </a:solidFill>
                <a:latin typeface="Calibri"/>
              </a:rPr>
              <a:t>5.  Modify the code to fix what you have identified.</a:t>
            </a:r>
          </a:p>
          <a:p>
            <a:pPr algn="l">
              <a:lnSpc>
                <a:spcPct val="115000"/>
              </a:lnSpc>
              <a:spcAft>
                <a:spcPts val="1300"/>
              </a:spcAft>
            </a:pPr>
            <a:r>
              <a:rPr sz="1700" b="0">
                <a:solidFill>
                  <a:srgbClr val="1F2328"/>
                </a:solidFill>
                <a:latin typeface="Calibri"/>
              </a:rPr>
              <a:t>6.  Re-run and repeat until it functions correctly.</a:t>
            </a:r>
          </a:p>
        </p:txBody>
      </p:sp>
      <p:sp>
        <p:nvSpPr>
          <p:cNvPr id="10" name="Rounded Rectangle 9"/>
          <p:cNvSpPr/>
          <p:nvPr/>
        </p:nvSpPr>
        <p:spPr>
          <a:xfrm>
            <a:off x="6858000" y="1828800"/>
            <a:ext cx="4749800" cy="3924300"/>
          </a:xfrm>
          <a:prstGeom prst="roundRect">
            <a:avLst>
              <a:gd name="adj" fmla="val 6000"/>
            </a:avLst>
          </a:prstGeom>
          <a:solidFill>
            <a:srgbClr val="EEF1F3"/>
          </a:solidFill>
          <a:ln w="12700">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6600" y="2057400"/>
            <a:ext cx="4292600" cy="355600"/>
          </a:xfrm>
          <a:prstGeom prst="rect">
            <a:avLst/>
          </a:prstGeom>
          <a:noFill/>
        </p:spPr>
        <p:txBody>
          <a:bodyPr wrap="square" lIns="0" rIns="0" tIns="0" bIns="0" anchor="t">
            <a:spAutoFit/>
          </a:bodyPr>
          <a:lstStyle/>
          <a:p>
            <a:pPr algn="l">
              <a:spcAft>
                <a:spcPts val="600"/>
              </a:spcAft>
            </a:pPr>
            <a:r>
              <a:rPr sz="1200" b="1">
                <a:solidFill>
                  <a:srgbClr val="64748B"/>
                </a:solidFill>
                <a:latin typeface="Calibri"/>
              </a:rPr>
              <a:t>🖥 DEMONSTRATION</a:t>
            </a:r>
          </a:p>
        </p:txBody>
      </p:sp>
      <p:sp>
        <p:nvSpPr>
          <p:cNvPr id="12" name="TextBox 11"/>
          <p:cNvSpPr txBox="1"/>
          <p:nvPr/>
        </p:nvSpPr>
        <p:spPr>
          <a:xfrm>
            <a:off x="7086600" y="2514600"/>
            <a:ext cx="4292600" cy="3009900"/>
          </a:xfrm>
          <a:prstGeom prst="rect">
            <a:avLst/>
          </a:prstGeom>
          <a:noFill/>
        </p:spPr>
        <p:txBody>
          <a:bodyPr wrap="square" lIns="0" rIns="0" tIns="0" bIns="0" anchor="t">
            <a:spAutoFit/>
          </a:bodyPr>
          <a:lstStyle/>
          <a:p>
            <a:pPr algn="l">
              <a:spcAft>
                <a:spcPts val="700"/>
              </a:spcAft>
            </a:pPr>
            <a:r>
              <a:rPr sz="1500" b="0">
                <a:solidFill>
                  <a:srgbClr val="1F2328"/>
                </a:solidFill>
                <a:latin typeface="Calibri"/>
              </a:rPr>
              <a:t>Commenting out ≠ deleting.
Temporarily disabling a section lets you test the rest in isolation — without losing the work if that section turns out to be fine after all.</a:t>
            </a:r>
          </a:p>
        </p:txBody>
      </p:sp>
      <p:sp>
        <p:nvSpPr>
          <p:cNvPr id="13" name="Rounded Rectangle 12"/>
          <p:cNvSpPr/>
          <p:nvPr/>
        </p:nvSpPr>
        <p:spPr>
          <a:xfrm>
            <a:off x="546100" y="5740400"/>
            <a:ext cx="2667000" cy="381000"/>
          </a:xfrm>
          <a:prstGeom prst="roundRect">
            <a:avLst>
              <a:gd name="adj" fmla="val 45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6100" y="5740400"/>
            <a:ext cx="2667000" cy="381000"/>
          </a:xfrm>
          <a:prstGeom prst="rect">
            <a:avLst/>
          </a:prstGeom>
          <a:noFill/>
        </p:spPr>
        <p:txBody>
          <a:bodyPr wrap="square" lIns="0" rIns="0" tIns="0" bIns="0" anchor="ctr">
            <a:spAutoFit/>
          </a:bodyPr>
          <a:lstStyle/>
          <a:p>
            <a:pPr algn="ctr">
              <a:spcAft>
                <a:spcPts val="600"/>
              </a:spcAft>
            </a:pPr>
            <a:r>
              <a:rPr sz="1200" b="1">
                <a:solidFill>
                  <a:srgbClr val="FFFFFF"/>
                </a:solidFill>
                <a:latin typeface="Calibri"/>
              </a:rPr>
              <a:t>📋 COPY TO WORKBOOK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57200" y="254000"/>
            <a:ext cx="2336800" cy="355600"/>
          </a:xfrm>
          <a:prstGeom prst="roundRect">
            <a:avLst>
              <a:gd name="adj" fmla="val 45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4000"/>
            <a:ext cx="2336800" cy="355600"/>
          </a:xfrm>
          <a:prstGeom prst="rect">
            <a:avLst/>
          </a:prstGeom>
          <a:noFill/>
        </p:spPr>
        <p:txBody>
          <a:bodyPr wrap="square" lIns="0" rIns="0" tIns="0" bIns="0" anchor="ctr">
            <a:spAutoFit/>
          </a:bodyPr>
          <a:lstStyle/>
          <a:p>
            <a:pPr algn="ctr">
              <a:spcAft>
                <a:spcPts val="600"/>
              </a:spcAft>
            </a:pPr>
            <a:r>
              <a:rPr sz="1100" b="1">
                <a:solidFill>
                  <a:srgbClr val="FFFFFF"/>
                </a:solidFill>
                <a:latin typeface="Calibri"/>
              </a:rPr>
              <a:t>EXPLICIT EXPLANATION</a:t>
            </a:r>
          </a:p>
        </p:txBody>
      </p:sp>
      <p:sp>
        <p:nvSpPr>
          <p:cNvPr id="4" name="Rounded Rectangle 3"/>
          <p:cNvSpPr/>
          <p:nvPr/>
        </p:nvSpPr>
        <p:spPr>
          <a:xfrm>
            <a:off x="10375900" y="254000"/>
            <a:ext cx="1498600" cy="355600"/>
          </a:xfrm>
          <a:prstGeom prst="roundRect">
            <a:avLst>
              <a:gd name="adj" fmla="val 45000"/>
            </a:avLst>
          </a:prstGeom>
          <a:solidFill>
            <a:srgbClr val="EEF1F3"/>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75900" y="254000"/>
            <a:ext cx="1498600" cy="355600"/>
          </a:xfrm>
          <a:prstGeom prst="rect">
            <a:avLst/>
          </a:prstGeom>
          <a:noFill/>
        </p:spPr>
        <p:txBody>
          <a:bodyPr wrap="square" lIns="0" rIns="0" tIns="0" bIns="0" anchor="ctr">
            <a:spAutoFit/>
          </a:bodyPr>
          <a:lstStyle/>
          <a:p>
            <a:pPr algn="ctr">
              <a:spcAft>
                <a:spcPts val="600"/>
              </a:spcAft>
            </a:pPr>
            <a:r>
              <a:rPr sz="1000" b="1">
                <a:solidFill>
                  <a:srgbClr val="64748B"/>
                </a:solidFill>
                <a:latin typeface="Calibri"/>
              </a:rPr>
              <a:t>✋ Off devices</a:t>
            </a:r>
          </a:p>
        </p:txBody>
      </p:sp>
      <p:sp>
        <p:nvSpPr>
          <p:cNvPr id="6" name="TextBox 5"/>
          <p:cNvSpPr txBox="1"/>
          <p:nvPr/>
        </p:nvSpPr>
        <p:spPr>
          <a:xfrm>
            <a:off x="546100" y="1003300"/>
            <a:ext cx="10782300" cy="635000"/>
          </a:xfrm>
          <a:prstGeom prst="rect">
            <a:avLst/>
          </a:prstGeom>
          <a:noFill/>
        </p:spPr>
        <p:txBody>
          <a:bodyPr wrap="square" lIns="0" rIns="0" tIns="0" bIns="0" anchor="t">
            <a:spAutoFit/>
          </a:bodyPr>
          <a:lstStyle/>
          <a:p>
            <a:pPr algn="l">
              <a:spcAft>
                <a:spcPts val="600"/>
              </a:spcAft>
            </a:pPr>
            <a:r>
              <a:rPr sz="2700" b="1">
                <a:solidFill>
                  <a:srgbClr val="1F2328"/>
                </a:solidFill>
                <a:latin typeface="Cambria"/>
              </a:rPr>
              <a:t>Breakpoints: where to put them</a:t>
            </a:r>
          </a:p>
        </p:txBody>
      </p:sp>
      <p:sp>
        <p:nvSpPr>
          <p:cNvPr id="7" name="TextBox 6"/>
          <p:cNvSpPr txBox="1"/>
          <p:nvPr/>
        </p:nvSpPr>
        <p:spPr>
          <a:xfrm>
            <a:off x="457200" y="6502400"/>
            <a:ext cx="7315200" cy="266700"/>
          </a:xfrm>
          <a:prstGeom prst="rect">
            <a:avLst/>
          </a:prstGeom>
          <a:noFill/>
        </p:spPr>
        <p:txBody>
          <a:bodyPr wrap="square" lIns="0" rIns="0" tIns="0" bIns="0" anchor="t">
            <a:spAutoFit/>
          </a:bodyPr>
          <a:lstStyle/>
          <a:p>
            <a:pPr algn="l">
              <a:spcAft>
                <a:spcPts val="600"/>
              </a:spcAft>
            </a:pPr>
            <a:r>
              <a:rPr sz="900" b="0">
                <a:solidFill>
                  <a:srgbClr val="57606A"/>
                </a:solidFill>
                <a:latin typeface="Consolas"/>
              </a:rPr>
              <a:t>y12-sd-u4-l12-debug-alpha</a:t>
            </a:r>
          </a:p>
        </p:txBody>
      </p:sp>
      <p:sp>
        <p:nvSpPr>
          <p:cNvPr id="8" name="TextBox 7"/>
          <p:cNvSpPr txBox="1"/>
          <p:nvPr/>
        </p:nvSpPr>
        <p:spPr>
          <a:xfrm>
            <a:off x="11430000" y="6502400"/>
            <a:ext cx="457200" cy="266700"/>
          </a:xfrm>
          <a:prstGeom prst="rect">
            <a:avLst/>
          </a:prstGeom>
          <a:noFill/>
        </p:spPr>
        <p:txBody>
          <a:bodyPr wrap="square" lIns="0" rIns="0" tIns="0" bIns="0" anchor="t">
            <a:spAutoFit/>
          </a:bodyPr>
          <a:lstStyle/>
          <a:p>
            <a:pPr algn="r">
              <a:spcAft>
                <a:spcPts val="600"/>
              </a:spcAft>
            </a:pPr>
            <a:r>
              <a:rPr sz="900" b="0">
                <a:solidFill>
                  <a:srgbClr val="57606A"/>
                </a:solidFill>
                <a:latin typeface="Consolas"/>
              </a:rPr>
              <a:t>6</a:t>
            </a:r>
          </a:p>
        </p:txBody>
      </p:sp>
      <p:sp>
        <p:nvSpPr>
          <p:cNvPr id="9" name="TextBox 8"/>
          <p:cNvSpPr txBox="1"/>
          <p:nvPr/>
        </p:nvSpPr>
        <p:spPr>
          <a:xfrm>
            <a:off x="546100" y="1828800"/>
            <a:ext cx="6032500" cy="3810000"/>
          </a:xfrm>
          <a:prstGeom prst="rect">
            <a:avLst/>
          </a:prstGeom>
          <a:noFill/>
        </p:spPr>
        <p:txBody>
          <a:bodyPr wrap="square" lIns="0" rIns="0" tIns="0" bIns="0" anchor="t">
            <a:spAutoFit/>
          </a:bodyPr>
          <a:lstStyle/>
          <a:p>
            <a:pPr algn="l">
              <a:lnSpc>
                <a:spcPct val="120000"/>
              </a:lnSpc>
              <a:spcAft>
                <a:spcPts val="1400"/>
              </a:spcAft>
            </a:pPr>
            <a:r>
              <a:rPr sz="1600" b="0">
                <a:solidFill>
                  <a:srgbClr val="1F2328"/>
                </a:solidFill>
                <a:latin typeface="Calibri"/>
              </a:rPr>
              <a:t>Put the breakpoint BEFORE the line you suspect, not on it — you want to see the state going in, not the wreckage coming out.</a:t>
            </a:r>
          </a:p>
          <a:p>
            <a:pPr algn="l">
              <a:lnSpc>
                <a:spcPct val="120000"/>
              </a:lnSpc>
              <a:spcAft>
                <a:spcPts val="1400"/>
              </a:spcAft>
            </a:pPr>
            <a:r>
              <a:rPr sz="1600" b="0">
                <a:solidFill>
                  <a:srgbClr val="1F2328"/>
                </a:solidFill>
                <a:latin typeface="Calibri"/>
              </a:rPr>
              <a:t>The cause is usually upstream of the symptom. If the error appears at line 80, the bad value was probably set at line 40.</a:t>
            </a:r>
          </a:p>
          <a:p>
            <a:pPr algn="l">
              <a:lnSpc>
                <a:spcPct val="120000"/>
              </a:lnSpc>
              <a:spcAft>
                <a:spcPts val="0"/>
              </a:spcAft>
            </a:pPr>
            <a:r>
              <a:rPr sz="1600" b="0">
                <a:solidFill>
                  <a:srgbClr val="1F2328"/>
                </a:solidFill>
                <a:latin typeface="Calibri"/>
              </a:rPr>
              <a:t>Step through one line at a time and watch the values change. The moment a value stops matching what you expected is the moment you have found it.</a:t>
            </a:r>
          </a:p>
        </p:txBody>
      </p:sp>
      <p:sp>
        <p:nvSpPr>
          <p:cNvPr id="10" name="Rounded Rectangle 9"/>
          <p:cNvSpPr/>
          <p:nvPr/>
        </p:nvSpPr>
        <p:spPr>
          <a:xfrm>
            <a:off x="6858000" y="1828800"/>
            <a:ext cx="4749800" cy="3924300"/>
          </a:xfrm>
          <a:prstGeom prst="roundRect">
            <a:avLst>
              <a:gd name="adj" fmla="val 6000"/>
            </a:avLst>
          </a:prstGeom>
          <a:solidFill>
            <a:srgbClr val="EEF1F3"/>
          </a:solidFill>
          <a:ln w="12700">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6600" y="2057400"/>
            <a:ext cx="4292600" cy="355600"/>
          </a:xfrm>
          <a:prstGeom prst="rect">
            <a:avLst/>
          </a:prstGeom>
          <a:noFill/>
        </p:spPr>
        <p:txBody>
          <a:bodyPr wrap="square" lIns="0" rIns="0" tIns="0" bIns="0" anchor="t">
            <a:spAutoFit/>
          </a:bodyPr>
          <a:lstStyle/>
          <a:p>
            <a:pPr algn="l">
              <a:spcAft>
                <a:spcPts val="600"/>
              </a:spcAft>
            </a:pPr>
            <a:r>
              <a:rPr sz="1200" b="1">
                <a:solidFill>
                  <a:srgbClr val="64748B"/>
                </a:solidFill>
                <a:latin typeface="Calibri"/>
              </a:rPr>
              <a:t>WHAT TO INSPECT AT A PAUSE</a:t>
            </a:r>
          </a:p>
        </p:txBody>
      </p:sp>
      <p:sp>
        <p:nvSpPr>
          <p:cNvPr id="12" name="TextBox 11"/>
          <p:cNvSpPr txBox="1"/>
          <p:nvPr/>
        </p:nvSpPr>
        <p:spPr>
          <a:xfrm>
            <a:off x="7086600" y="2514600"/>
            <a:ext cx="4292600" cy="3009900"/>
          </a:xfrm>
          <a:prstGeom prst="rect">
            <a:avLst/>
          </a:prstGeom>
          <a:noFill/>
        </p:spPr>
        <p:txBody>
          <a:bodyPr wrap="square" lIns="0" rIns="0" tIns="0" bIns="0" anchor="t">
            <a:spAutoFit/>
          </a:bodyPr>
          <a:lstStyle/>
          <a:p>
            <a:pPr algn="l">
              <a:spcAft>
                <a:spcPts val="700"/>
              </a:spcAft>
            </a:pPr>
            <a:r>
              <a:rPr sz="1400" b="0">
                <a:solidFill>
                  <a:srgbClr val="1F2328"/>
                </a:solidFill>
                <a:latin typeface="Calibri"/>
              </a:rPr>
              <a:t>• The value of every variable you are about to use
• Loop counters — is it running the number of times you think?
• Which branch was actually taken
• The data TYPE, not just the value — "5" and 5 behave differently</a:t>
            </a:r>
          </a:p>
        </p:txBody>
      </p:sp>
      <p:sp>
        <p:nvSpPr>
          <p:cNvPr id="13" name="Rounded Rectangle 12"/>
          <p:cNvSpPr/>
          <p:nvPr/>
        </p:nvSpPr>
        <p:spPr>
          <a:xfrm>
            <a:off x="546100" y="5740400"/>
            <a:ext cx="2667000" cy="381000"/>
          </a:xfrm>
          <a:prstGeom prst="roundRect">
            <a:avLst>
              <a:gd name="adj" fmla="val 45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6100" y="5740400"/>
            <a:ext cx="2667000" cy="381000"/>
          </a:xfrm>
          <a:prstGeom prst="rect">
            <a:avLst/>
          </a:prstGeom>
          <a:noFill/>
        </p:spPr>
        <p:txBody>
          <a:bodyPr wrap="square" lIns="0" rIns="0" tIns="0" bIns="0" anchor="ctr">
            <a:spAutoFit/>
          </a:bodyPr>
          <a:lstStyle/>
          <a:p>
            <a:pPr algn="ctr">
              <a:spcAft>
                <a:spcPts val="600"/>
              </a:spcAft>
            </a:pPr>
            <a:r>
              <a:rPr sz="1200" b="1">
                <a:solidFill>
                  <a:srgbClr val="FFFFFF"/>
                </a:solidFill>
                <a:latin typeface="Calibri"/>
              </a:rPr>
              <a:t>📋 COPY TO WORKBOOK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57200" y="254000"/>
            <a:ext cx="2336800" cy="355600"/>
          </a:xfrm>
          <a:prstGeom prst="roundRect">
            <a:avLst>
              <a:gd name="adj" fmla="val 45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4000"/>
            <a:ext cx="2336800" cy="355600"/>
          </a:xfrm>
          <a:prstGeom prst="rect">
            <a:avLst/>
          </a:prstGeom>
          <a:noFill/>
        </p:spPr>
        <p:txBody>
          <a:bodyPr wrap="square" lIns="0" rIns="0" tIns="0" bIns="0" anchor="ctr">
            <a:spAutoFit/>
          </a:bodyPr>
          <a:lstStyle/>
          <a:p>
            <a:pPr algn="ctr">
              <a:spcAft>
                <a:spcPts val="600"/>
              </a:spcAft>
            </a:pPr>
            <a:r>
              <a:rPr sz="1100" b="1">
                <a:solidFill>
                  <a:srgbClr val="FFFFFF"/>
                </a:solidFill>
                <a:latin typeface="Calibri"/>
              </a:rPr>
              <a:t>EXPLICIT EXPLANATION</a:t>
            </a:r>
          </a:p>
        </p:txBody>
      </p:sp>
      <p:sp>
        <p:nvSpPr>
          <p:cNvPr id="4" name="Rounded Rectangle 3"/>
          <p:cNvSpPr/>
          <p:nvPr/>
        </p:nvSpPr>
        <p:spPr>
          <a:xfrm>
            <a:off x="10375900" y="254000"/>
            <a:ext cx="1498600" cy="355600"/>
          </a:xfrm>
          <a:prstGeom prst="roundRect">
            <a:avLst>
              <a:gd name="adj" fmla="val 45000"/>
            </a:avLst>
          </a:prstGeom>
          <a:solidFill>
            <a:srgbClr val="EEF1F3"/>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75900" y="254000"/>
            <a:ext cx="1498600" cy="355600"/>
          </a:xfrm>
          <a:prstGeom prst="rect">
            <a:avLst/>
          </a:prstGeom>
          <a:noFill/>
        </p:spPr>
        <p:txBody>
          <a:bodyPr wrap="square" lIns="0" rIns="0" tIns="0" bIns="0" anchor="ctr">
            <a:spAutoFit/>
          </a:bodyPr>
          <a:lstStyle/>
          <a:p>
            <a:pPr algn="ctr">
              <a:spcAft>
                <a:spcPts val="600"/>
              </a:spcAft>
            </a:pPr>
            <a:r>
              <a:rPr sz="1000" b="1">
                <a:solidFill>
                  <a:srgbClr val="64748B"/>
                </a:solidFill>
                <a:latin typeface="Calibri"/>
              </a:rPr>
              <a:t>✋ Off devices</a:t>
            </a:r>
          </a:p>
        </p:txBody>
      </p:sp>
      <p:sp>
        <p:nvSpPr>
          <p:cNvPr id="6" name="TextBox 5"/>
          <p:cNvSpPr txBox="1"/>
          <p:nvPr/>
        </p:nvSpPr>
        <p:spPr>
          <a:xfrm>
            <a:off x="546100" y="1003300"/>
            <a:ext cx="10782300" cy="635000"/>
          </a:xfrm>
          <a:prstGeom prst="rect">
            <a:avLst/>
          </a:prstGeom>
          <a:noFill/>
        </p:spPr>
        <p:txBody>
          <a:bodyPr wrap="square" lIns="0" rIns="0" tIns="0" bIns="0" anchor="t">
            <a:spAutoFit/>
          </a:bodyPr>
          <a:lstStyle/>
          <a:p>
            <a:pPr algn="l">
              <a:spcAft>
                <a:spcPts val="600"/>
              </a:spcAft>
            </a:pPr>
            <a:r>
              <a:rPr sz="2700" b="1">
                <a:solidFill>
                  <a:srgbClr val="1F2328"/>
                </a:solidFill>
                <a:latin typeface="Cambria"/>
              </a:rPr>
              <a:t>Commenting out code</a:t>
            </a:r>
          </a:p>
        </p:txBody>
      </p:sp>
      <p:sp>
        <p:nvSpPr>
          <p:cNvPr id="7" name="TextBox 6"/>
          <p:cNvSpPr txBox="1"/>
          <p:nvPr/>
        </p:nvSpPr>
        <p:spPr>
          <a:xfrm>
            <a:off x="457200" y="6502400"/>
            <a:ext cx="7315200" cy="266700"/>
          </a:xfrm>
          <a:prstGeom prst="rect">
            <a:avLst/>
          </a:prstGeom>
          <a:noFill/>
        </p:spPr>
        <p:txBody>
          <a:bodyPr wrap="square" lIns="0" rIns="0" tIns="0" bIns="0" anchor="t">
            <a:spAutoFit/>
          </a:bodyPr>
          <a:lstStyle/>
          <a:p>
            <a:pPr algn="l">
              <a:spcAft>
                <a:spcPts val="600"/>
              </a:spcAft>
            </a:pPr>
            <a:r>
              <a:rPr sz="900" b="0">
                <a:solidFill>
                  <a:srgbClr val="57606A"/>
                </a:solidFill>
                <a:latin typeface="Consolas"/>
              </a:rPr>
              <a:t>y12-sd-u4-l12-debug-alpha</a:t>
            </a:r>
          </a:p>
        </p:txBody>
      </p:sp>
      <p:sp>
        <p:nvSpPr>
          <p:cNvPr id="8" name="TextBox 7"/>
          <p:cNvSpPr txBox="1"/>
          <p:nvPr/>
        </p:nvSpPr>
        <p:spPr>
          <a:xfrm>
            <a:off x="11430000" y="6502400"/>
            <a:ext cx="457200" cy="266700"/>
          </a:xfrm>
          <a:prstGeom prst="rect">
            <a:avLst/>
          </a:prstGeom>
          <a:noFill/>
        </p:spPr>
        <p:txBody>
          <a:bodyPr wrap="square" lIns="0" rIns="0" tIns="0" bIns="0" anchor="t">
            <a:spAutoFit/>
          </a:bodyPr>
          <a:lstStyle/>
          <a:p>
            <a:pPr algn="r">
              <a:spcAft>
                <a:spcPts val="600"/>
              </a:spcAft>
            </a:pPr>
            <a:r>
              <a:rPr sz="900" b="0">
                <a:solidFill>
                  <a:srgbClr val="57606A"/>
                </a:solidFill>
                <a:latin typeface="Consolas"/>
              </a:rPr>
              <a:t>7</a:t>
            </a:r>
          </a:p>
        </p:txBody>
      </p:sp>
      <p:sp>
        <p:nvSpPr>
          <p:cNvPr id="9" name="TextBox 8"/>
          <p:cNvSpPr txBox="1"/>
          <p:nvPr/>
        </p:nvSpPr>
        <p:spPr>
          <a:xfrm>
            <a:off x="546100" y="1828800"/>
            <a:ext cx="6032500" cy="3810000"/>
          </a:xfrm>
          <a:prstGeom prst="rect">
            <a:avLst/>
          </a:prstGeom>
          <a:noFill/>
        </p:spPr>
        <p:txBody>
          <a:bodyPr wrap="square" lIns="0" rIns="0" tIns="0" bIns="0" anchor="t">
            <a:spAutoFit/>
          </a:bodyPr>
          <a:lstStyle/>
          <a:p>
            <a:pPr algn="l">
              <a:lnSpc>
                <a:spcPct val="120000"/>
              </a:lnSpc>
              <a:spcAft>
                <a:spcPts val="1400"/>
              </a:spcAft>
            </a:pPr>
            <a:r>
              <a:rPr sz="1600" b="0">
                <a:solidFill>
                  <a:srgbClr val="1F2328"/>
                </a:solidFill>
                <a:latin typeface="Calibri"/>
              </a:rPr>
              <a:t>Disable a whole block, re-run, and ask one question: does the fault still happen?</a:t>
            </a:r>
          </a:p>
          <a:p>
            <a:pPr algn="l">
              <a:lnSpc>
                <a:spcPct val="120000"/>
              </a:lnSpc>
              <a:spcAft>
                <a:spcPts val="1400"/>
              </a:spcAft>
            </a:pPr>
            <a:r>
              <a:rPr sz="1600" b="0">
                <a:solidFill>
                  <a:srgbClr val="1F2328"/>
                </a:solidFill>
                <a:latin typeface="Calibri"/>
              </a:rPr>
              <a:t>Still there → the fault is not in that block. Gone → it is. Halve the search area each time and you find it in a handful of runs instead of by reading everything.</a:t>
            </a:r>
          </a:p>
          <a:p>
            <a:pPr algn="l">
              <a:lnSpc>
                <a:spcPct val="120000"/>
              </a:lnSpc>
              <a:spcAft>
                <a:spcPts val="0"/>
              </a:spcAft>
            </a:pPr>
            <a:r>
              <a:rPr sz="1600" b="0">
                <a:solidFill>
                  <a:srgbClr val="1F2328"/>
                </a:solidFill>
                <a:latin typeface="Calibri"/>
              </a:rPr>
              <a:t>Comment out complete blocks, never fragments — half a loop is a new bug on top of the old one.</a:t>
            </a:r>
          </a:p>
        </p:txBody>
      </p:sp>
      <p:sp>
        <p:nvSpPr>
          <p:cNvPr id="10" name="Rounded Rectangle 9"/>
          <p:cNvSpPr/>
          <p:nvPr/>
        </p:nvSpPr>
        <p:spPr>
          <a:xfrm>
            <a:off x="6858000" y="1828800"/>
            <a:ext cx="4749800" cy="2540000"/>
          </a:xfrm>
          <a:prstGeom prst="roundRect">
            <a:avLst>
              <a:gd name="adj" fmla="val 6000"/>
            </a:avLst>
          </a:prstGeom>
          <a:solidFill>
            <a:srgbClr val="FEF6E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6600" y="2057400"/>
            <a:ext cx="4292600" cy="355600"/>
          </a:xfrm>
          <a:prstGeom prst="rect">
            <a:avLst/>
          </a:prstGeom>
          <a:noFill/>
        </p:spPr>
        <p:txBody>
          <a:bodyPr wrap="square" lIns="0" rIns="0" tIns="0" bIns="0" anchor="t">
            <a:spAutoFit/>
          </a:bodyPr>
          <a:lstStyle/>
          <a:p>
            <a:pPr algn="l">
              <a:spcAft>
                <a:spcPts val="600"/>
              </a:spcAft>
            </a:pPr>
            <a:r>
              <a:rPr sz="1200" b="1">
                <a:solidFill>
                  <a:srgbClr val="F59E0B"/>
                </a:solidFill>
                <a:latin typeface="Calibri"/>
              </a:rPr>
              <a:t>⚠ BEFORE YOU SUBMIT</a:t>
            </a:r>
          </a:p>
        </p:txBody>
      </p:sp>
      <p:sp>
        <p:nvSpPr>
          <p:cNvPr id="12" name="TextBox 11"/>
          <p:cNvSpPr txBox="1"/>
          <p:nvPr/>
        </p:nvSpPr>
        <p:spPr>
          <a:xfrm>
            <a:off x="7086600" y="2514600"/>
            <a:ext cx="4292600" cy="1625600"/>
          </a:xfrm>
          <a:prstGeom prst="rect">
            <a:avLst/>
          </a:prstGeom>
          <a:noFill/>
        </p:spPr>
        <p:txBody>
          <a:bodyPr wrap="square" lIns="0" rIns="0" tIns="0" bIns="0" anchor="t">
            <a:spAutoFit/>
          </a:bodyPr>
          <a:lstStyle/>
          <a:p>
            <a:pPr algn="l">
              <a:spcAft>
                <a:spcPts val="700"/>
              </a:spcAft>
            </a:pPr>
            <a:r>
              <a:rPr sz="1400" b="0">
                <a:solidFill>
                  <a:srgbClr val="1F2328"/>
                </a:solidFill>
                <a:latin typeface="Calibri"/>
              </a:rPr>
              <a:t>Restore or delete every commented-out block before you hand in. Dead code left in the solution works directly against "clear and concise code" — which is assessed.</a:t>
            </a:r>
          </a:p>
        </p:txBody>
      </p:sp>
      <p:sp>
        <p:nvSpPr>
          <p:cNvPr id="13" name="Rounded Rectangle 12"/>
          <p:cNvSpPr/>
          <p:nvPr/>
        </p:nvSpPr>
        <p:spPr>
          <a:xfrm>
            <a:off x="6858000" y="4572000"/>
            <a:ext cx="4749800" cy="1181100"/>
          </a:xfrm>
          <a:prstGeom prst="roundRect">
            <a:avLst>
              <a:gd name="adj" fmla="val 6000"/>
            </a:avLst>
          </a:prstGeom>
          <a:solidFill>
            <a:srgbClr val="EEF1F3"/>
          </a:solidFill>
          <a:ln w="12700">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4800600"/>
            <a:ext cx="4292600" cy="723900"/>
          </a:xfrm>
          <a:prstGeom prst="rect">
            <a:avLst/>
          </a:prstGeom>
          <a:noFill/>
        </p:spPr>
        <p:txBody>
          <a:bodyPr wrap="square" lIns="0" rIns="0" tIns="0" bIns="0" anchor="t">
            <a:spAutoFit/>
          </a:bodyPr>
          <a:lstStyle/>
          <a:p>
            <a:pPr algn="l">
              <a:spcAft>
                <a:spcPts val="700"/>
              </a:spcAft>
            </a:pPr>
            <a:r>
              <a:rPr sz="1400" b="0">
                <a:solidFill>
                  <a:srgbClr val="1F2328"/>
                </a:solidFill>
                <a:latin typeface="Calibri"/>
              </a:rPr>
              <a:t>Keep a note of what you disabled. More than one student has "fixed" a bug by commenting out the feature that contained it.</a:t>
            </a:r>
          </a:p>
        </p:txBody>
      </p:sp>
      <p:sp>
        <p:nvSpPr>
          <p:cNvPr id="15" name="Rounded Rectangle 14"/>
          <p:cNvSpPr/>
          <p:nvPr/>
        </p:nvSpPr>
        <p:spPr>
          <a:xfrm>
            <a:off x="546100" y="5740400"/>
            <a:ext cx="2667000" cy="381000"/>
          </a:xfrm>
          <a:prstGeom prst="roundRect">
            <a:avLst>
              <a:gd name="adj" fmla="val 45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6100" y="5740400"/>
            <a:ext cx="2667000" cy="381000"/>
          </a:xfrm>
          <a:prstGeom prst="rect">
            <a:avLst/>
          </a:prstGeom>
          <a:noFill/>
        </p:spPr>
        <p:txBody>
          <a:bodyPr wrap="square" lIns="0" rIns="0" tIns="0" bIns="0" anchor="ctr">
            <a:spAutoFit/>
          </a:bodyPr>
          <a:lstStyle/>
          <a:p>
            <a:pPr algn="ctr">
              <a:spcAft>
                <a:spcPts val="600"/>
              </a:spcAft>
            </a:pPr>
            <a:r>
              <a:rPr sz="1200" b="1">
                <a:solidFill>
                  <a:srgbClr val="FFFFFF"/>
                </a:solidFill>
                <a:latin typeface="Calibri"/>
              </a:rPr>
              <a:t>📋 COPY TO WORKBOOK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57200" y="254000"/>
            <a:ext cx="2219960" cy="355600"/>
          </a:xfrm>
          <a:prstGeom prst="roundRect">
            <a:avLst>
              <a:gd name="adj" fmla="val 45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4000"/>
            <a:ext cx="2219960" cy="355600"/>
          </a:xfrm>
          <a:prstGeom prst="rect">
            <a:avLst/>
          </a:prstGeom>
          <a:noFill/>
        </p:spPr>
        <p:txBody>
          <a:bodyPr wrap="square" lIns="0" rIns="0" tIns="0" bIns="0" anchor="ctr">
            <a:spAutoFit/>
          </a:bodyPr>
          <a:lstStyle/>
          <a:p>
            <a:pPr algn="ctr">
              <a:spcAft>
                <a:spcPts val="600"/>
              </a:spcAft>
            </a:pPr>
            <a:r>
              <a:rPr sz="1100" b="1">
                <a:solidFill>
                  <a:srgbClr val="FFFFFF"/>
                </a:solidFill>
                <a:latin typeface="Calibri"/>
              </a:rPr>
              <a:t>RESPONSIVE TEACHING</a:t>
            </a:r>
          </a:p>
        </p:txBody>
      </p:sp>
      <p:sp>
        <p:nvSpPr>
          <p:cNvPr id="4" name="Rounded Rectangle 3"/>
          <p:cNvSpPr/>
          <p:nvPr/>
        </p:nvSpPr>
        <p:spPr>
          <a:xfrm>
            <a:off x="10375900" y="254000"/>
            <a:ext cx="1498600" cy="355600"/>
          </a:xfrm>
          <a:prstGeom prst="roundRect">
            <a:avLst>
              <a:gd name="adj" fmla="val 45000"/>
            </a:avLst>
          </a:prstGeom>
          <a:solidFill>
            <a:srgbClr val="EEF1F3"/>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75900" y="254000"/>
            <a:ext cx="1498600" cy="355600"/>
          </a:xfrm>
          <a:prstGeom prst="rect">
            <a:avLst/>
          </a:prstGeom>
          <a:noFill/>
        </p:spPr>
        <p:txBody>
          <a:bodyPr wrap="square" lIns="0" rIns="0" tIns="0" bIns="0" anchor="ctr">
            <a:spAutoFit/>
          </a:bodyPr>
          <a:lstStyle/>
          <a:p>
            <a:pPr algn="ctr">
              <a:spcAft>
                <a:spcPts val="600"/>
              </a:spcAft>
            </a:pPr>
            <a:r>
              <a:rPr sz="1000" b="1">
                <a:solidFill>
                  <a:srgbClr val="64748B"/>
                </a:solidFill>
                <a:latin typeface="Calibri"/>
              </a:rPr>
              <a:t>✋ Off devices</a:t>
            </a:r>
          </a:p>
        </p:txBody>
      </p:sp>
      <p:sp>
        <p:nvSpPr>
          <p:cNvPr id="6" name="TextBox 5"/>
          <p:cNvSpPr txBox="1"/>
          <p:nvPr/>
        </p:nvSpPr>
        <p:spPr>
          <a:xfrm>
            <a:off x="546100" y="1003300"/>
            <a:ext cx="10782300" cy="635000"/>
          </a:xfrm>
          <a:prstGeom prst="rect">
            <a:avLst/>
          </a:prstGeom>
          <a:noFill/>
        </p:spPr>
        <p:txBody>
          <a:bodyPr wrap="square" lIns="0" rIns="0" tIns="0" bIns="0" anchor="t">
            <a:spAutoFit/>
          </a:bodyPr>
          <a:lstStyle/>
          <a:p>
            <a:pPr algn="l">
              <a:spcAft>
                <a:spcPts val="600"/>
              </a:spcAft>
            </a:pPr>
            <a:r>
              <a:rPr sz="2700" b="1">
                <a:solidFill>
                  <a:srgbClr val="1F2328"/>
                </a:solidFill>
                <a:latin typeface="Cambria"/>
              </a:rPr>
              <a:t>Think · Pair · Share</a:t>
            </a:r>
          </a:p>
        </p:txBody>
      </p:sp>
      <p:sp>
        <p:nvSpPr>
          <p:cNvPr id="7" name="TextBox 6"/>
          <p:cNvSpPr txBox="1"/>
          <p:nvPr/>
        </p:nvSpPr>
        <p:spPr>
          <a:xfrm>
            <a:off x="457200" y="6502400"/>
            <a:ext cx="7315200" cy="266700"/>
          </a:xfrm>
          <a:prstGeom prst="rect">
            <a:avLst/>
          </a:prstGeom>
          <a:noFill/>
        </p:spPr>
        <p:txBody>
          <a:bodyPr wrap="square" lIns="0" rIns="0" tIns="0" bIns="0" anchor="t">
            <a:spAutoFit/>
          </a:bodyPr>
          <a:lstStyle/>
          <a:p>
            <a:pPr algn="l">
              <a:spcAft>
                <a:spcPts val="600"/>
              </a:spcAft>
            </a:pPr>
            <a:r>
              <a:rPr sz="900" b="0">
                <a:solidFill>
                  <a:srgbClr val="57606A"/>
                </a:solidFill>
                <a:latin typeface="Consolas"/>
              </a:rPr>
              <a:t>y12-sd-u4-l12-debug-alpha</a:t>
            </a:r>
          </a:p>
        </p:txBody>
      </p:sp>
      <p:sp>
        <p:nvSpPr>
          <p:cNvPr id="8" name="TextBox 7"/>
          <p:cNvSpPr txBox="1"/>
          <p:nvPr/>
        </p:nvSpPr>
        <p:spPr>
          <a:xfrm>
            <a:off x="11430000" y="6502400"/>
            <a:ext cx="457200" cy="266700"/>
          </a:xfrm>
          <a:prstGeom prst="rect">
            <a:avLst/>
          </a:prstGeom>
          <a:noFill/>
        </p:spPr>
        <p:txBody>
          <a:bodyPr wrap="square" lIns="0" rIns="0" tIns="0" bIns="0" anchor="t">
            <a:spAutoFit/>
          </a:bodyPr>
          <a:lstStyle/>
          <a:p>
            <a:pPr algn="r">
              <a:spcAft>
                <a:spcPts val="600"/>
              </a:spcAft>
            </a:pPr>
            <a:r>
              <a:rPr sz="900" b="0">
                <a:solidFill>
                  <a:srgbClr val="57606A"/>
                </a:solidFill>
                <a:latin typeface="Consolas"/>
              </a:rPr>
              <a:t>8</a:t>
            </a:r>
          </a:p>
        </p:txBody>
      </p:sp>
      <p:sp>
        <p:nvSpPr>
          <p:cNvPr id="9" name="Rounded Rectangle 8"/>
          <p:cNvSpPr/>
          <p:nvPr/>
        </p:nvSpPr>
        <p:spPr>
          <a:xfrm>
            <a:off x="546100" y="1828800"/>
            <a:ext cx="11061700" cy="2921000"/>
          </a:xfrm>
          <a:prstGeom prst="roundRect">
            <a:avLst>
              <a:gd name="adj" fmla="val 6000"/>
            </a:avLst>
          </a:prstGeom>
          <a:solidFill>
            <a:srgbClr val="F5F0FE"/>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3300" y="2235200"/>
            <a:ext cx="10147300" cy="355600"/>
          </a:xfrm>
          <a:prstGeom prst="rect">
            <a:avLst/>
          </a:prstGeom>
          <a:noFill/>
        </p:spPr>
        <p:txBody>
          <a:bodyPr wrap="square" lIns="0" rIns="0" tIns="0" bIns="0" anchor="t">
            <a:spAutoFit/>
          </a:bodyPr>
          <a:lstStyle/>
          <a:p>
            <a:pPr algn="l">
              <a:spcAft>
                <a:spcPts val="600"/>
              </a:spcAft>
            </a:pPr>
            <a:r>
              <a:rPr sz="1300" b="1">
                <a:solidFill>
                  <a:srgbClr val="8B5CF6"/>
                </a:solidFill>
                <a:latin typeface="Calibri"/>
              </a:rPr>
              <a:t>💬 Think · Pair · Share</a:t>
            </a:r>
          </a:p>
        </p:txBody>
      </p:sp>
      <p:sp>
        <p:nvSpPr>
          <p:cNvPr id="11" name="TextBox 10"/>
          <p:cNvSpPr txBox="1"/>
          <p:nvPr/>
        </p:nvSpPr>
        <p:spPr>
          <a:xfrm>
            <a:off x="1003300" y="2743200"/>
            <a:ext cx="10147300" cy="1778000"/>
          </a:xfrm>
          <a:prstGeom prst="rect">
            <a:avLst/>
          </a:prstGeom>
          <a:noFill/>
        </p:spPr>
        <p:txBody>
          <a:bodyPr wrap="square" lIns="0" rIns="0" tIns="0" bIns="0" anchor="t">
            <a:spAutoFit/>
          </a:bodyPr>
          <a:lstStyle/>
          <a:p>
            <a:pPr algn="l">
              <a:lnSpc>
                <a:spcPct val="125000"/>
              </a:lnSpc>
              <a:spcAft>
                <a:spcPts val="1600"/>
              </a:spcAft>
            </a:pPr>
            <a:r>
              <a:rPr sz="1800" b="0">
                <a:solidFill>
                  <a:srgbClr val="1F2328"/>
                </a:solidFill>
                <a:latin typeface="Calibri"/>
              </a:rPr>
              <a:t>Walk your partner through a bug you have already fixed. Which technique would have found it faster than what you actually did?</a:t>
            </a:r>
          </a:p>
          <a:p>
            <a:pPr algn="l">
              <a:lnSpc>
                <a:spcPct val="125000"/>
              </a:lnSpc>
              <a:spcAft>
                <a:spcPts val="0"/>
              </a:spcAft>
            </a:pPr>
            <a:r>
              <a:rPr sz="1800" b="0">
                <a:solidFill>
                  <a:srgbClr val="1F2328"/>
                </a:solidFill>
                <a:latin typeface="Calibri"/>
              </a:rPr>
              <a:t>Why does alpha testing have to finish before beta testing starts, rather than running alongside it?</a:t>
            </a:r>
          </a:p>
        </p:txBody>
      </p:sp>
      <p:sp>
        <p:nvSpPr>
          <p:cNvPr id="12" name="TextBox 11"/>
          <p:cNvSpPr txBox="1"/>
          <p:nvPr/>
        </p:nvSpPr>
        <p:spPr>
          <a:xfrm>
            <a:off x="546100" y="5029200"/>
            <a:ext cx="11061700" cy="635000"/>
          </a:xfrm>
          <a:prstGeom prst="rect">
            <a:avLst/>
          </a:prstGeom>
          <a:noFill/>
        </p:spPr>
        <p:txBody>
          <a:bodyPr wrap="square" lIns="0" rIns="0" tIns="0" bIns="0" anchor="t">
            <a:spAutoFit/>
          </a:bodyPr>
          <a:lstStyle/>
          <a:p>
            <a:pPr algn="l">
              <a:spcAft>
                <a:spcPts val="600"/>
              </a:spcAft>
            </a:pPr>
            <a:r>
              <a:rPr sz="1500" b="0">
                <a:solidFill>
                  <a:srgbClr val="57606A"/>
                </a:solidFill>
                <a:latin typeface="Calibri"/>
              </a:rPr>
              <a:t>Two minutes each way, then three pairs report back.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57200" y="254000"/>
            <a:ext cx="2687320" cy="355600"/>
          </a:xfrm>
          <a:prstGeom prst="roundRect">
            <a:avLst>
              <a:gd name="adj" fmla="val 45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4000"/>
            <a:ext cx="2687320" cy="355600"/>
          </a:xfrm>
          <a:prstGeom prst="rect">
            <a:avLst/>
          </a:prstGeom>
          <a:noFill/>
        </p:spPr>
        <p:txBody>
          <a:bodyPr wrap="square" lIns="0" rIns="0" tIns="0" bIns="0" anchor="ctr">
            <a:spAutoFit/>
          </a:bodyPr>
          <a:lstStyle/>
          <a:p>
            <a:pPr algn="ctr">
              <a:spcAft>
                <a:spcPts val="600"/>
              </a:spcAft>
            </a:pPr>
            <a:r>
              <a:rPr sz="1100" b="1">
                <a:solidFill>
                  <a:srgbClr val="FFFFFF"/>
                </a:solidFill>
                <a:latin typeface="Calibri"/>
              </a:rPr>
              <a:t>APPLICATION OF LEARNING</a:t>
            </a:r>
          </a:p>
        </p:txBody>
      </p:sp>
      <p:sp>
        <p:nvSpPr>
          <p:cNvPr id="4" name="Rounded Rectangle 3"/>
          <p:cNvSpPr/>
          <p:nvPr/>
        </p:nvSpPr>
        <p:spPr>
          <a:xfrm>
            <a:off x="10375900" y="254000"/>
            <a:ext cx="1498600" cy="355600"/>
          </a:xfrm>
          <a:prstGeom prst="roundRect">
            <a:avLst>
              <a:gd name="adj" fmla="val 45000"/>
            </a:avLst>
          </a:prstGeom>
          <a:solidFill>
            <a:srgbClr val="E9FBF3"/>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75900" y="254000"/>
            <a:ext cx="1498600" cy="355600"/>
          </a:xfrm>
          <a:prstGeom prst="rect">
            <a:avLst/>
          </a:prstGeom>
          <a:noFill/>
        </p:spPr>
        <p:txBody>
          <a:bodyPr wrap="square" lIns="0" rIns="0" tIns="0" bIns="0" anchor="ctr">
            <a:spAutoFit/>
          </a:bodyPr>
          <a:lstStyle/>
          <a:p>
            <a:pPr algn="ctr">
              <a:spcAft>
                <a:spcPts val="600"/>
              </a:spcAft>
            </a:pPr>
            <a:r>
              <a:rPr sz="1000" b="1">
                <a:solidFill>
                  <a:srgbClr val="10B981"/>
                </a:solidFill>
                <a:latin typeface="Calibri"/>
              </a:rPr>
              <a:t>💻 On devices</a:t>
            </a:r>
          </a:p>
        </p:txBody>
      </p:sp>
      <p:sp>
        <p:nvSpPr>
          <p:cNvPr id="6" name="TextBox 5"/>
          <p:cNvSpPr txBox="1"/>
          <p:nvPr/>
        </p:nvSpPr>
        <p:spPr>
          <a:xfrm>
            <a:off x="546100" y="1003300"/>
            <a:ext cx="10782300" cy="635000"/>
          </a:xfrm>
          <a:prstGeom prst="rect">
            <a:avLst/>
          </a:prstGeom>
          <a:noFill/>
        </p:spPr>
        <p:txBody>
          <a:bodyPr wrap="square" lIns="0" rIns="0" tIns="0" bIns="0" anchor="t">
            <a:spAutoFit/>
          </a:bodyPr>
          <a:lstStyle/>
          <a:p>
            <a:pPr algn="l">
              <a:spcAft>
                <a:spcPts val="600"/>
              </a:spcAft>
            </a:pPr>
            <a:r>
              <a:rPr sz="2700" b="1">
                <a:solidFill>
                  <a:srgbClr val="1F2328"/>
                </a:solidFill>
                <a:latin typeface="Cambria"/>
              </a:rPr>
              <a:t>Your turn — Part A: the bug log</a:t>
            </a:r>
          </a:p>
        </p:txBody>
      </p:sp>
      <p:sp>
        <p:nvSpPr>
          <p:cNvPr id="7" name="TextBox 6"/>
          <p:cNvSpPr txBox="1"/>
          <p:nvPr/>
        </p:nvSpPr>
        <p:spPr>
          <a:xfrm>
            <a:off x="457200" y="6502400"/>
            <a:ext cx="7315200" cy="266700"/>
          </a:xfrm>
          <a:prstGeom prst="rect">
            <a:avLst/>
          </a:prstGeom>
          <a:noFill/>
        </p:spPr>
        <p:txBody>
          <a:bodyPr wrap="square" lIns="0" rIns="0" tIns="0" bIns="0" anchor="t">
            <a:spAutoFit/>
          </a:bodyPr>
          <a:lstStyle/>
          <a:p>
            <a:pPr algn="l">
              <a:spcAft>
                <a:spcPts val="600"/>
              </a:spcAft>
            </a:pPr>
            <a:r>
              <a:rPr sz="900" b="0">
                <a:solidFill>
                  <a:srgbClr val="57606A"/>
                </a:solidFill>
                <a:latin typeface="Consolas"/>
              </a:rPr>
              <a:t>y12-sd-u4-l12-debug-alpha</a:t>
            </a:r>
          </a:p>
        </p:txBody>
      </p:sp>
      <p:sp>
        <p:nvSpPr>
          <p:cNvPr id="8" name="TextBox 7"/>
          <p:cNvSpPr txBox="1"/>
          <p:nvPr/>
        </p:nvSpPr>
        <p:spPr>
          <a:xfrm>
            <a:off x="11430000" y="6502400"/>
            <a:ext cx="457200" cy="266700"/>
          </a:xfrm>
          <a:prstGeom prst="rect">
            <a:avLst/>
          </a:prstGeom>
          <a:noFill/>
        </p:spPr>
        <p:txBody>
          <a:bodyPr wrap="square" lIns="0" rIns="0" tIns="0" bIns="0" anchor="t">
            <a:spAutoFit/>
          </a:bodyPr>
          <a:lstStyle/>
          <a:p>
            <a:pPr algn="r">
              <a:spcAft>
                <a:spcPts val="600"/>
              </a:spcAft>
            </a:pPr>
            <a:r>
              <a:rPr sz="900" b="0">
                <a:solidFill>
                  <a:srgbClr val="57606A"/>
                </a:solidFill>
                <a:latin typeface="Consolas"/>
              </a:rPr>
              <a:t>9</a:t>
            </a:r>
          </a:p>
        </p:txBody>
      </p:sp>
      <p:sp>
        <p:nvSpPr>
          <p:cNvPr id="9" name="Rounded Rectangle 8"/>
          <p:cNvSpPr/>
          <p:nvPr/>
        </p:nvSpPr>
        <p:spPr>
          <a:xfrm>
            <a:off x="546100" y="1752600"/>
            <a:ext cx="11061700" cy="584200"/>
          </a:xfrm>
          <a:prstGeom prst="roundRect">
            <a:avLst>
              <a:gd name="adj" fmla="val 12000"/>
            </a:avLst>
          </a:prstGeom>
          <a:solidFill>
            <a:srgbClr val="EEF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900" y="1752600"/>
            <a:ext cx="10452100" cy="584200"/>
          </a:xfrm>
          <a:prstGeom prst="rect">
            <a:avLst/>
          </a:prstGeom>
          <a:noFill/>
        </p:spPr>
        <p:txBody>
          <a:bodyPr wrap="square" lIns="0" rIns="0" tIns="0" bIns="0" anchor="ctr">
            <a:spAutoFit/>
          </a:bodyPr>
          <a:lstStyle/>
          <a:p>
            <a:pPr algn="l">
              <a:spcAft>
                <a:spcPts val="600"/>
              </a:spcAft>
            </a:pPr>
            <a:r>
              <a:rPr sz="1700" b="1">
                <a:solidFill>
                  <a:srgbClr val="4361EE"/>
                </a:solidFill>
                <a:latin typeface="Calibri"/>
              </a:rPr>
              <a:t>➜ Open your workbook — Part A</a:t>
            </a:r>
          </a:p>
        </p:txBody>
      </p:sp>
      <p:sp>
        <p:nvSpPr>
          <p:cNvPr id="11" name="Rounded Rectangle 10"/>
          <p:cNvSpPr/>
          <p:nvPr/>
        </p:nvSpPr>
        <p:spPr>
          <a:xfrm>
            <a:off x="546100" y="2590800"/>
            <a:ext cx="558800" cy="558800"/>
          </a:xfrm>
          <a:prstGeom prst="roundRect">
            <a:avLst>
              <a:gd name="adj" fmla="val 45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6100" y="2590800"/>
            <a:ext cx="558800" cy="558800"/>
          </a:xfrm>
          <a:prstGeom prst="rect">
            <a:avLst/>
          </a:prstGeom>
          <a:noFill/>
        </p:spPr>
        <p:txBody>
          <a:bodyPr wrap="square" lIns="0" rIns="0" tIns="0" bIns="0" anchor="ctr">
            <a:spAutoFit/>
          </a:bodyPr>
          <a:lstStyle/>
          <a:p>
            <a:pPr algn="ctr">
              <a:spcAft>
                <a:spcPts val="600"/>
              </a:spcAft>
            </a:pPr>
            <a:r>
              <a:rPr sz="1700" b="1">
                <a:solidFill>
                  <a:srgbClr val="FFFFFF"/>
                </a:solidFill>
                <a:latin typeface="Calibri"/>
              </a:rPr>
              <a:t>1</a:t>
            </a:r>
          </a:p>
        </p:txBody>
      </p:sp>
      <p:sp>
        <p:nvSpPr>
          <p:cNvPr id="13" name="Rounded Rectangle 12"/>
          <p:cNvSpPr/>
          <p:nvPr/>
        </p:nvSpPr>
        <p:spPr>
          <a:xfrm>
            <a:off x="1282700" y="2590800"/>
            <a:ext cx="10325100" cy="558800"/>
          </a:xfrm>
          <a:prstGeom prst="roundRect">
            <a:avLst>
              <a:gd name="adj" fmla="val 10000"/>
            </a:avLst>
          </a:prstGeom>
          <a:solidFill>
            <a:srgbClr val="EEF1F3"/>
          </a:solidFill>
          <a:ln w="12700">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36700" y="2590800"/>
            <a:ext cx="9817100" cy="558800"/>
          </a:xfrm>
          <a:prstGeom prst="rect">
            <a:avLst/>
          </a:prstGeom>
          <a:noFill/>
        </p:spPr>
        <p:txBody>
          <a:bodyPr wrap="square" lIns="0" rIns="0" tIns="0" bIns="0" anchor="ctr">
            <a:spAutoFit/>
          </a:bodyPr>
          <a:lstStyle/>
          <a:p>
            <a:pPr algn="l">
              <a:spcAft>
                <a:spcPts val="600"/>
              </a:spcAft>
            </a:pPr>
            <a:r>
              <a:rPr sz="1600" b="0">
                <a:solidFill>
                  <a:srgbClr val="1F2328"/>
                </a:solidFill>
                <a:latin typeface="Calibri"/>
              </a:rPr>
              <a:t>Start systematic alpha testing across the modules you have completed.</a:t>
            </a:r>
          </a:p>
        </p:txBody>
      </p:sp>
      <p:sp>
        <p:nvSpPr>
          <p:cNvPr id="15" name="Rounded Rectangle 14"/>
          <p:cNvSpPr/>
          <p:nvPr/>
        </p:nvSpPr>
        <p:spPr>
          <a:xfrm>
            <a:off x="546100" y="3302000"/>
            <a:ext cx="558800" cy="558800"/>
          </a:xfrm>
          <a:prstGeom prst="roundRect">
            <a:avLst>
              <a:gd name="adj" fmla="val 45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6100" y="3302000"/>
            <a:ext cx="558800" cy="558800"/>
          </a:xfrm>
          <a:prstGeom prst="rect">
            <a:avLst/>
          </a:prstGeom>
          <a:noFill/>
        </p:spPr>
        <p:txBody>
          <a:bodyPr wrap="square" lIns="0" rIns="0" tIns="0" bIns="0" anchor="ctr">
            <a:spAutoFit/>
          </a:bodyPr>
          <a:lstStyle/>
          <a:p>
            <a:pPr algn="ctr">
              <a:spcAft>
                <a:spcPts val="600"/>
              </a:spcAft>
            </a:pPr>
            <a:r>
              <a:rPr sz="1700" b="1">
                <a:solidFill>
                  <a:srgbClr val="FFFFFF"/>
                </a:solidFill>
                <a:latin typeface="Calibri"/>
              </a:rPr>
              <a:t>2</a:t>
            </a:r>
          </a:p>
        </p:txBody>
      </p:sp>
      <p:sp>
        <p:nvSpPr>
          <p:cNvPr id="17" name="Rounded Rectangle 16"/>
          <p:cNvSpPr/>
          <p:nvPr/>
        </p:nvSpPr>
        <p:spPr>
          <a:xfrm>
            <a:off x="1282700" y="3302000"/>
            <a:ext cx="10325100" cy="558800"/>
          </a:xfrm>
          <a:prstGeom prst="roundRect">
            <a:avLst>
              <a:gd name="adj" fmla="val 10000"/>
            </a:avLst>
          </a:prstGeom>
          <a:solidFill>
            <a:srgbClr val="EEF1F3"/>
          </a:solidFill>
          <a:ln w="12700">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536700" y="3302000"/>
            <a:ext cx="9817100" cy="558800"/>
          </a:xfrm>
          <a:prstGeom prst="rect">
            <a:avLst/>
          </a:prstGeom>
          <a:noFill/>
        </p:spPr>
        <p:txBody>
          <a:bodyPr wrap="square" lIns="0" rIns="0" tIns="0" bIns="0" anchor="ctr">
            <a:spAutoFit/>
          </a:bodyPr>
          <a:lstStyle/>
          <a:p>
            <a:pPr algn="l">
              <a:spcAft>
                <a:spcPts val="600"/>
              </a:spcAft>
            </a:pPr>
            <a:r>
              <a:rPr sz="1600" b="0">
                <a:solidFill>
                  <a:srgbClr val="1F2328"/>
                </a:solidFill>
                <a:latin typeface="Calibri"/>
              </a:rPr>
              <a:t>Use breakpoints and/or commenting out to isolate at least one real bug.</a:t>
            </a:r>
          </a:p>
        </p:txBody>
      </p:sp>
      <p:sp>
        <p:nvSpPr>
          <p:cNvPr id="19" name="Rounded Rectangle 18"/>
          <p:cNvSpPr/>
          <p:nvPr/>
        </p:nvSpPr>
        <p:spPr>
          <a:xfrm>
            <a:off x="546100" y="4013200"/>
            <a:ext cx="558800" cy="558800"/>
          </a:xfrm>
          <a:prstGeom prst="roundRect">
            <a:avLst>
              <a:gd name="adj" fmla="val 45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6100" y="4013200"/>
            <a:ext cx="558800" cy="558800"/>
          </a:xfrm>
          <a:prstGeom prst="rect">
            <a:avLst/>
          </a:prstGeom>
          <a:noFill/>
        </p:spPr>
        <p:txBody>
          <a:bodyPr wrap="square" lIns="0" rIns="0" tIns="0" bIns="0" anchor="ctr">
            <a:spAutoFit/>
          </a:bodyPr>
          <a:lstStyle/>
          <a:p>
            <a:pPr algn="ctr">
              <a:spcAft>
                <a:spcPts val="600"/>
              </a:spcAft>
            </a:pPr>
            <a:r>
              <a:rPr sz="1700" b="1">
                <a:solidFill>
                  <a:srgbClr val="FFFFFF"/>
                </a:solidFill>
                <a:latin typeface="Calibri"/>
              </a:rPr>
              <a:t>3</a:t>
            </a:r>
          </a:p>
        </p:txBody>
      </p:sp>
      <p:sp>
        <p:nvSpPr>
          <p:cNvPr id="21" name="Rounded Rectangle 20"/>
          <p:cNvSpPr/>
          <p:nvPr/>
        </p:nvSpPr>
        <p:spPr>
          <a:xfrm>
            <a:off x="1282700" y="4013200"/>
            <a:ext cx="10325100" cy="558800"/>
          </a:xfrm>
          <a:prstGeom prst="roundRect">
            <a:avLst>
              <a:gd name="adj" fmla="val 10000"/>
            </a:avLst>
          </a:prstGeom>
          <a:solidFill>
            <a:srgbClr val="EEF1F3"/>
          </a:solidFill>
          <a:ln w="12700">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36700" y="4013200"/>
            <a:ext cx="9817100" cy="558800"/>
          </a:xfrm>
          <a:prstGeom prst="rect">
            <a:avLst/>
          </a:prstGeom>
          <a:noFill/>
        </p:spPr>
        <p:txBody>
          <a:bodyPr wrap="square" lIns="0" rIns="0" tIns="0" bIns="0" anchor="ctr">
            <a:spAutoFit/>
          </a:bodyPr>
          <a:lstStyle/>
          <a:p>
            <a:pPr algn="l">
              <a:spcAft>
                <a:spcPts val="600"/>
              </a:spcAft>
            </a:pPr>
            <a:r>
              <a:rPr sz="1600" b="0">
                <a:solidFill>
                  <a:srgbClr val="1F2328"/>
                </a:solidFill>
                <a:latin typeface="Calibri"/>
              </a:rPr>
              <a:t>Log each bug: what went wrong, the technique that revealed it, and the fix.</a:t>
            </a:r>
          </a:p>
        </p:txBody>
      </p:sp>
      <p:sp>
        <p:nvSpPr>
          <p:cNvPr id="23" name="TextBox 22"/>
          <p:cNvSpPr txBox="1"/>
          <p:nvPr/>
        </p:nvSpPr>
        <p:spPr>
          <a:xfrm>
            <a:off x="546100" y="4876800"/>
            <a:ext cx="11061700" cy="762000"/>
          </a:xfrm>
          <a:prstGeom prst="rect">
            <a:avLst/>
          </a:prstGeom>
          <a:noFill/>
        </p:spPr>
        <p:txBody>
          <a:bodyPr wrap="square" lIns="0" rIns="0" tIns="0" bIns="0" anchor="t">
            <a:spAutoFit/>
          </a:bodyPr>
          <a:lstStyle/>
          <a:p>
            <a:pPr algn="l">
              <a:lnSpc>
                <a:spcPct val="130000"/>
              </a:lnSpc>
              <a:spcAft>
                <a:spcPts val="600"/>
              </a:spcAft>
            </a:pPr>
            <a:r>
              <a:rPr sz="1500" b="0">
                <a:solidFill>
                  <a:srgbClr val="57606A"/>
                </a:solidFill>
                <a:latin typeface="Calibri"/>
              </a:rPr>
              <a:t>The log takes more than one bug. Do not stop at the first one you find — the mark is for a systematic pass over your solution, not a single lucky catch.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6502400"/>
            <a:ext cx="7315200" cy="266700"/>
          </a:xfrm>
          <a:prstGeom prst="rect">
            <a:avLst/>
          </a:prstGeom>
          <a:noFill/>
        </p:spPr>
        <p:txBody>
          <a:bodyPr wrap="square" lIns="0" rIns="0" tIns="0" bIns="0" anchor="t">
            <a:spAutoFit/>
          </a:bodyPr>
          <a:lstStyle/>
          <a:p>
            <a:pPr algn="l">
              <a:spcAft>
                <a:spcPts val="600"/>
              </a:spcAft>
            </a:pPr>
            <a:r>
              <a:rPr sz="900" b="0">
                <a:solidFill>
                  <a:srgbClr val="57606A"/>
                </a:solidFill>
                <a:latin typeface="Consolas"/>
              </a:rPr>
              <a:t>y12-sd-u4-l12-debug-alpha</a:t>
            </a:r>
          </a:p>
        </p:txBody>
      </p:sp>
      <p:sp>
        <p:nvSpPr>
          <p:cNvPr id="3" name="TextBox 2"/>
          <p:cNvSpPr txBox="1"/>
          <p:nvPr/>
        </p:nvSpPr>
        <p:spPr>
          <a:xfrm>
            <a:off x="11430000" y="6502400"/>
            <a:ext cx="457200" cy="266700"/>
          </a:xfrm>
          <a:prstGeom prst="rect">
            <a:avLst/>
          </a:prstGeom>
          <a:noFill/>
        </p:spPr>
        <p:txBody>
          <a:bodyPr wrap="square" lIns="0" rIns="0" tIns="0" bIns="0" anchor="t">
            <a:spAutoFit/>
          </a:bodyPr>
          <a:lstStyle/>
          <a:p>
            <a:pPr algn="r">
              <a:spcAft>
                <a:spcPts val="600"/>
              </a:spcAft>
            </a:pPr>
            <a:r>
              <a:rPr sz="900" b="0">
                <a:solidFill>
                  <a:srgbClr val="57606A"/>
                </a:solidFill>
                <a:latin typeface="Consolas"/>
              </a:rPr>
              <a:t>10</a:t>
            </a:r>
          </a:p>
        </p:txBody>
      </p:sp>
      <p:sp>
        <p:nvSpPr>
          <p:cNvPr id="4" name="TextBox 3"/>
          <p:cNvSpPr txBox="1"/>
          <p:nvPr/>
        </p:nvSpPr>
        <p:spPr>
          <a:xfrm>
            <a:off x="546100" y="2540000"/>
            <a:ext cx="11061700" cy="762000"/>
          </a:xfrm>
          <a:prstGeom prst="rect">
            <a:avLst/>
          </a:prstGeom>
          <a:noFill/>
        </p:spPr>
        <p:txBody>
          <a:bodyPr wrap="square" lIns="0" rIns="0" tIns="0" bIns="0" anchor="t">
            <a:spAutoFit/>
          </a:bodyPr>
          <a:lstStyle/>
          <a:p>
            <a:pPr algn="ctr">
              <a:spcAft>
                <a:spcPts val="600"/>
              </a:spcAft>
            </a:pPr>
            <a:r>
              <a:rPr sz="3400" b="1">
                <a:solidFill>
                  <a:srgbClr val="1F2328"/>
                </a:solidFill>
                <a:latin typeface="Cambria"/>
              </a:rPr>
              <a:t>🧠 Brain Break</a:t>
            </a:r>
          </a:p>
        </p:txBody>
      </p:sp>
      <p:sp>
        <p:nvSpPr>
          <p:cNvPr id="5" name="TextBox 4"/>
          <p:cNvSpPr txBox="1"/>
          <p:nvPr/>
        </p:nvSpPr>
        <p:spPr>
          <a:xfrm>
            <a:off x="2070100" y="3556000"/>
            <a:ext cx="8013700" cy="1016000"/>
          </a:xfrm>
          <a:prstGeom prst="rect">
            <a:avLst/>
          </a:prstGeom>
          <a:noFill/>
        </p:spPr>
        <p:txBody>
          <a:bodyPr wrap="square" lIns="0" rIns="0" tIns="0" bIns="0" anchor="t">
            <a:spAutoFit/>
          </a:bodyPr>
          <a:lstStyle/>
          <a:p>
            <a:pPr algn="ctr">
              <a:lnSpc>
                <a:spcPct val="130000"/>
              </a:lnSpc>
              <a:spcAft>
                <a:spcPts val="600"/>
              </a:spcAft>
            </a:pPr>
            <a:r>
              <a:rPr sz="1900" b="0">
                <a:solidFill>
                  <a:srgbClr val="57606A"/>
                </a:solidFill>
                <a:latin typeface="Calibri"/>
              </a:rPr>
              <a:t>Sixty seconds. Set a breakpoint somewhere in your code you have never checked, and just look at what the variables actually contain.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57200" y="254000"/>
            <a:ext cx="2336800" cy="355600"/>
          </a:xfrm>
          <a:prstGeom prst="roundRect">
            <a:avLst>
              <a:gd name="adj" fmla="val 45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4000"/>
            <a:ext cx="2336800" cy="355600"/>
          </a:xfrm>
          <a:prstGeom prst="rect">
            <a:avLst/>
          </a:prstGeom>
          <a:noFill/>
        </p:spPr>
        <p:txBody>
          <a:bodyPr wrap="square" lIns="0" rIns="0" tIns="0" bIns="0" anchor="ctr">
            <a:spAutoFit/>
          </a:bodyPr>
          <a:lstStyle/>
          <a:p>
            <a:pPr algn="ctr">
              <a:spcAft>
                <a:spcPts val="600"/>
              </a:spcAft>
            </a:pPr>
            <a:r>
              <a:rPr sz="1100" b="1">
                <a:solidFill>
                  <a:srgbClr val="FFFFFF"/>
                </a:solidFill>
                <a:latin typeface="Calibri"/>
              </a:rPr>
              <a:t>EXPLICIT EXPLANATION</a:t>
            </a:r>
          </a:p>
        </p:txBody>
      </p:sp>
      <p:sp>
        <p:nvSpPr>
          <p:cNvPr id="4" name="Rounded Rectangle 3"/>
          <p:cNvSpPr/>
          <p:nvPr/>
        </p:nvSpPr>
        <p:spPr>
          <a:xfrm>
            <a:off x="10375900" y="254000"/>
            <a:ext cx="1498600" cy="355600"/>
          </a:xfrm>
          <a:prstGeom prst="roundRect">
            <a:avLst>
              <a:gd name="adj" fmla="val 45000"/>
            </a:avLst>
          </a:prstGeom>
          <a:solidFill>
            <a:srgbClr val="EEF1F3"/>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75900" y="254000"/>
            <a:ext cx="1498600" cy="355600"/>
          </a:xfrm>
          <a:prstGeom prst="rect">
            <a:avLst/>
          </a:prstGeom>
          <a:noFill/>
        </p:spPr>
        <p:txBody>
          <a:bodyPr wrap="square" lIns="0" rIns="0" tIns="0" bIns="0" anchor="ctr">
            <a:spAutoFit/>
          </a:bodyPr>
          <a:lstStyle/>
          <a:p>
            <a:pPr algn="ctr">
              <a:spcAft>
                <a:spcPts val="600"/>
              </a:spcAft>
            </a:pPr>
            <a:r>
              <a:rPr sz="1000" b="1">
                <a:solidFill>
                  <a:srgbClr val="64748B"/>
                </a:solidFill>
                <a:latin typeface="Calibri"/>
              </a:rPr>
              <a:t>✋ Off devices</a:t>
            </a:r>
          </a:p>
        </p:txBody>
      </p:sp>
      <p:sp>
        <p:nvSpPr>
          <p:cNvPr id="6" name="TextBox 5"/>
          <p:cNvSpPr txBox="1"/>
          <p:nvPr/>
        </p:nvSpPr>
        <p:spPr>
          <a:xfrm>
            <a:off x="546100" y="1003300"/>
            <a:ext cx="10782300" cy="635000"/>
          </a:xfrm>
          <a:prstGeom prst="rect">
            <a:avLst/>
          </a:prstGeom>
          <a:noFill/>
        </p:spPr>
        <p:txBody>
          <a:bodyPr wrap="square" lIns="0" rIns="0" tIns="0" bIns="0" anchor="t">
            <a:spAutoFit/>
          </a:bodyPr>
          <a:lstStyle/>
          <a:p>
            <a:pPr algn="l">
              <a:spcAft>
                <a:spcPts val="600"/>
              </a:spcAft>
            </a:pPr>
            <a:r>
              <a:rPr sz="2700" b="1">
                <a:solidFill>
                  <a:srgbClr val="1F2328"/>
                </a:solidFill>
                <a:latin typeface="Cambria"/>
              </a:rPr>
              <a:t>Relevant test data: three kinds</a:t>
            </a:r>
          </a:p>
        </p:txBody>
      </p:sp>
      <p:sp>
        <p:nvSpPr>
          <p:cNvPr id="7" name="TextBox 6"/>
          <p:cNvSpPr txBox="1"/>
          <p:nvPr/>
        </p:nvSpPr>
        <p:spPr>
          <a:xfrm>
            <a:off x="457200" y="6502400"/>
            <a:ext cx="7315200" cy="266700"/>
          </a:xfrm>
          <a:prstGeom prst="rect">
            <a:avLst/>
          </a:prstGeom>
          <a:noFill/>
        </p:spPr>
        <p:txBody>
          <a:bodyPr wrap="square" lIns="0" rIns="0" tIns="0" bIns="0" anchor="t">
            <a:spAutoFit/>
          </a:bodyPr>
          <a:lstStyle/>
          <a:p>
            <a:pPr algn="l">
              <a:spcAft>
                <a:spcPts val="600"/>
              </a:spcAft>
            </a:pPr>
            <a:r>
              <a:rPr sz="900" b="0">
                <a:solidFill>
                  <a:srgbClr val="57606A"/>
                </a:solidFill>
                <a:latin typeface="Consolas"/>
              </a:rPr>
              <a:t>y12-sd-u4-l12-debug-alpha</a:t>
            </a:r>
          </a:p>
        </p:txBody>
      </p:sp>
      <p:sp>
        <p:nvSpPr>
          <p:cNvPr id="8" name="TextBox 7"/>
          <p:cNvSpPr txBox="1"/>
          <p:nvPr/>
        </p:nvSpPr>
        <p:spPr>
          <a:xfrm>
            <a:off x="11430000" y="6502400"/>
            <a:ext cx="457200" cy="266700"/>
          </a:xfrm>
          <a:prstGeom prst="rect">
            <a:avLst/>
          </a:prstGeom>
          <a:noFill/>
        </p:spPr>
        <p:txBody>
          <a:bodyPr wrap="square" lIns="0" rIns="0" tIns="0" bIns="0" anchor="t">
            <a:spAutoFit/>
          </a:bodyPr>
          <a:lstStyle/>
          <a:p>
            <a:pPr algn="r">
              <a:spcAft>
                <a:spcPts val="600"/>
              </a:spcAft>
            </a:pPr>
            <a:r>
              <a:rPr sz="900" b="0">
                <a:solidFill>
                  <a:srgbClr val="57606A"/>
                </a:solidFill>
                <a:latin typeface="Consolas"/>
              </a:rPr>
              <a:t>11</a:t>
            </a:r>
          </a:p>
        </p:txBody>
      </p:sp>
      <p:sp>
        <p:nvSpPr>
          <p:cNvPr id="9" name="TextBox 8"/>
          <p:cNvSpPr txBox="1"/>
          <p:nvPr/>
        </p:nvSpPr>
        <p:spPr>
          <a:xfrm>
            <a:off x="546100" y="1727200"/>
            <a:ext cx="11061700" cy="508000"/>
          </a:xfrm>
          <a:prstGeom prst="rect">
            <a:avLst/>
          </a:prstGeom>
          <a:noFill/>
        </p:spPr>
        <p:txBody>
          <a:bodyPr wrap="square" lIns="0" rIns="0" tIns="0" bIns="0" anchor="t">
            <a:spAutoFit/>
          </a:bodyPr>
          <a:lstStyle/>
          <a:p>
            <a:pPr algn="l">
              <a:spcAft>
                <a:spcPts val="600"/>
              </a:spcAft>
            </a:pPr>
            <a:r>
              <a:rPr sz="1700" b="0">
                <a:solidFill>
                  <a:srgbClr val="1F2328"/>
                </a:solidFill>
                <a:latin typeface="Calibri"/>
              </a:rPr>
              <a:t>Testing only with data you expect proves only that it works when nothing goes wrong.</a:t>
            </a:r>
          </a:p>
        </p:txBody>
      </p:sp>
      <p:graphicFrame>
        <p:nvGraphicFramePr>
          <p:cNvPr id="10" name="Table 9"/>
          <p:cNvGraphicFramePr>
            <a:graphicFrameLocks noGrp="1"/>
          </p:cNvGraphicFramePr>
          <p:nvPr/>
        </p:nvGraphicFramePr>
        <p:xfrm>
          <a:off x="546100" y="2387600"/>
          <a:ext cx="11061700" cy="2438400"/>
        </p:xfrm>
        <a:graphic>
          <a:graphicData uri="http://schemas.openxmlformats.org/drawingml/2006/table">
            <a:tbl>
              <a:tblPr firstRow="1" bandRow="1">
                <a:tableStyleId>{5C22544A-7EE6-4342-B048-85BDC9FD1C3A}</a:tableStyleId>
              </a:tblPr>
              <a:tblGrid>
                <a:gridCol w="2286000"/>
                <a:gridCol w="4445000"/>
                <a:gridCol w="4330700"/>
              </a:tblGrid>
              <a:tr h="609600">
                <a:tc>
                  <a:txBody>
                    <a:bodyPr wrap="square"/>
                    <a:lstStyle/>
                    <a:p>
                      <a:pPr algn="l"/>
                      <a:r>
                        <a:rPr sz="1400" b="1">
                          <a:solidFill>
                            <a:srgbClr val="FFFFFF"/>
                          </a:solidFill>
                          <a:latin typeface="Calibri"/>
                        </a:rPr>
                        <a:t>Type</a:t>
                      </a:r>
                    </a:p>
                  </a:txBody>
                  <a:tcPr marL="127000" marR="127000" marT="76200" marB="76200" anchor="ctr">
                    <a:solidFill>
                      <a:srgbClr val="4361EE"/>
                    </a:solidFill>
                  </a:tcPr>
                </a:tc>
                <a:tc>
                  <a:txBody>
                    <a:bodyPr wrap="square"/>
                    <a:lstStyle/>
                    <a:p>
                      <a:pPr algn="l"/>
                      <a:r>
                        <a:rPr sz="1400" b="1">
                          <a:solidFill>
                            <a:srgbClr val="FFFFFF"/>
                          </a:solidFill>
                          <a:latin typeface="Calibri"/>
                        </a:rPr>
                        <a:t>What it is</a:t>
                      </a:r>
                    </a:p>
                  </a:txBody>
                  <a:tcPr marL="127000" marR="127000" marT="76200" marB="76200" anchor="ctr">
                    <a:solidFill>
                      <a:srgbClr val="4361EE"/>
                    </a:solidFill>
                  </a:tcPr>
                </a:tc>
                <a:tc>
                  <a:txBody>
                    <a:bodyPr wrap="square"/>
                    <a:lstStyle/>
                    <a:p>
                      <a:pPr algn="l"/>
                      <a:r>
                        <a:rPr sz="1400" b="1">
                          <a:solidFill>
                            <a:srgbClr val="FFFFFF"/>
                          </a:solidFill>
                          <a:latin typeface="Calibri"/>
                        </a:rPr>
                        <a:t>Example — an "adult" age check</a:t>
                      </a:r>
                    </a:p>
                  </a:txBody>
                  <a:tcPr marL="127000" marR="127000" marT="76200" marB="76200" anchor="ctr">
                    <a:solidFill>
                      <a:srgbClr val="4361EE"/>
                    </a:solidFill>
                  </a:tcPr>
                </a:tc>
              </a:tr>
              <a:tr h="609600">
                <a:tc>
                  <a:txBody>
                    <a:bodyPr wrap="square"/>
                    <a:lstStyle/>
                    <a:p>
                      <a:pPr algn="l"/>
                      <a:r>
                        <a:rPr sz="1400" b="0">
                          <a:solidFill>
                            <a:srgbClr val="1F2328"/>
                          </a:solidFill>
                          <a:latin typeface="Calibri"/>
                        </a:rPr>
                        <a:t>Valid</a:t>
                      </a:r>
                    </a:p>
                  </a:txBody>
                  <a:tcPr marL="127000" marR="127000" marT="76200" marB="76200" anchor="ctr">
                    <a:solidFill>
                      <a:srgbClr val="FFFFFF"/>
                    </a:solidFill>
                  </a:tcPr>
                </a:tc>
                <a:tc>
                  <a:txBody>
                    <a:bodyPr wrap="square"/>
                    <a:lstStyle/>
                    <a:p>
                      <a:pPr algn="l"/>
                      <a:r>
                        <a:rPr sz="1400" b="0">
                          <a:solidFill>
                            <a:srgbClr val="1F2328"/>
                          </a:solidFill>
                          <a:latin typeface="Calibri"/>
                        </a:rPr>
                        <a:t>Reasonable, expected, processed normally</a:t>
                      </a:r>
                    </a:p>
                  </a:txBody>
                  <a:tcPr marL="127000" marR="127000" marT="76200" marB="76200" anchor="ctr">
                    <a:solidFill>
                      <a:srgbClr val="FFFFFF"/>
                    </a:solidFill>
                  </a:tcPr>
                </a:tc>
                <a:tc>
                  <a:txBody>
                    <a:bodyPr wrap="square"/>
                    <a:lstStyle/>
                    <a:p>
                      <a:pPr algn="l"/>
                      <a:r>
                        <a:rPr sz="1400" b="0">
                          <a:solidFill>
                            <a:srgbClr val="1F2328"/>
                          </a:solidFill>
                          <a:latin typeface="Calibri"/>
                        </a:rPr>
                        <a:t>25</a:t>
                      </a:r>
                    </a:p>
                  </a:txBody>
                  <a:tcPr marL="127000" marR="127000" marT="76200" marB="76200" anchor="ctr">
                    <a:solidFill>
                      <a:srgbClr val="FFFFFF"/>
                    </a:solidFill>
                  </a:tcPr>
                </a:tc>
              </a:tr>
              <a:tr h="609600">
                <a:tc>
                  <a:txBody>
                    <a:bodyPr wrap="square"/>
                    <a:lstStyle/>
                    <a:p>
                      <a:pPr algn="l"/>
                      <a:r>
                        <a:rPr sz="1400" b="0">
                          <a:solidFill>
                            <a:srgbClr val="1F2328"/>
                          </a:solidFill>
                          <a:latin typeface="Calibri"/>
                        </a:rPr>
                        <a:t>Valid but unusual</a:t>
                      </a:r>
                    </a:p>
                  </a:txBody>
                  <a:tcPr marL="127000" marR="127000" marT="76200" marB="76200" anchor="ctr">
                    <a:solidFill>
                      <a:srgbClr val="F7F9FA"/>
                    </a:solidFill>
                  </a:tcPr>
                </a:tc>
                <a:tc>
                  <a:txBody>
                    <a:bodyPr wrap="square"/>
                    <a:lstStyle/>
                    <a:p>
                      <a:pPr algn="l"/>
                      <a:r>
                        <a:rPr sz="1400" b="0">
                          <a:solidFill>
                            <a:srgbClr val="1F2328"/>
                          </a:solidFill>
                          <a:latin typeface="Calibri"/>
                        </a:rPr>
                        <a:t>Acceptable, but at the edge of the range</a:t>
                      </a:r>
                    </a:p>
                  </a:txBody>
                  <a:tcPr marL="127000" marR="127000" marT="76200" marB="76200" anchor="ctr">
                    <a:solidFill>
                      <a:srgbClr val="F7F9FA"/>
                    </a:solidFill>
                  </a:tcPr>
                </a:tc>
                <a:tc>
                  <a:txBody>
                    <a:bodyPr wrap="square"/>
                    <a:lstStyle/>
                    <a:p>
                      <a:pPr algn="l"/>
                      <a:r>
                        <a:rPr sz="1400" b="0">
                          <a:solidFill>
                            <a:srgbClr val="1F2328"/>
                          </a:solidFill>
                          <a:latin typeface="Calibri"/>
                        </a:rPr>
                        <a:t>18 — exactly on the boundary</a:t>
                      </a:r>
                    </a:p>
                  </a:txBody>
                  <a:tcPr marL="127000" marR="127000" marT="76200" marB="76200" anchor="ctr">
                    <a:solidFill>
                      <a:srgbClr val="F7F9FA"/>
                    </a:solidFill>
                  </a:tcPr>
                </a:tc>
              </a:tr>
              <a:tr h="609600">
                <a:tc>
                  <a:txBody>
                    <a:bodyPr wrap="square"/>
                    <a:lstStyle/>
                    <a:p>
                      <a:pPr algn="l"/>
                      <a:r>
                        <a:rPr sz="1400" b="0">
                          <a:solidFill>
                            <a:srgbClr val="1F2328"/>
                          </a:solidFill>
                          <a:latin typeface="Calibri"/>
                        </a:rPr>
                        <a:t>Invalid</a:t>
                      </a:r>
                    </a:p>
                  </a:txBody>
                  <a:tcPr marL="127000" marR="127000" marT="76200" marB="76200" anchor="ctr">
                    <a:solidFill>
                      <a:srgbClr val="FFFFFF"/>
                    </a:solidFill>
                  </a:tcPr>
                </a:tc>
                <a:tc>
                  <a:txBody>
                    <a:bodyPr wrap="square"/>
                    <a:lstStyle/>
                    <a:p>
                      <a:pPr algn="l"/>
                      <a:r>
                        <a:rPr sz="1400" b="0">
                          <a:solidFill>
                            <a:srgbClr val="1F2328"/>
                          </a:solidFill>
                          <a:latin typeface="Calibri"/>
                        </a:rPr>
                        <a:t>Should be rejected by your validation</a:t>
                      </a:r>
                    </a:p>
                  </a:txBody>
                  <a:tcPr marL="127000" marR="127000" marT="76200" marB="76200" anchor="ctr">
                    <a:solidFill>
                      <a:srgbClr val="FFFFFF"/>
                    </a:solidFill>
                  </a:tcPr>
                </a:tc>
                <a:tc>
                  <a:txBody>
                    <a:bodyPr wrap="square"/>
                    <a:lstStyle/>
                    <a:p>
                      <a:pPr algn="l"/>
                      <a:r>
                        <a:rPr sz="1400" b="0">
                          <a:solidFill>
                            <a:srgbClr val="1F2328"/>
                          </a:solidFill>
                          <a:latin typeface="Calibri"/>
                        </a:rPr>
                        <a:t>−4, or "twenty"</a:t>
                      </a:r>
                    </a:p>
                  </a:txBody>
                  <a:tcPr marL="127000" marR="127000" marT="76200" marB="76200" anchor="ctr">
                    <a:solidFill>
                      <a:srgbClr val="FFFFFF"/>
                    </a:solidFill>
                  </a:tcPr>
                </a:tc>
              </a:tr>
            </a:tbl>
          </a:graphicData>
        </a:graphic>
      </p:graphicFrame>
      <p:sp>
        <p:nvSpPr>
          <p:cNvPr id="11" name="Rounded Rectangle 10"/>
          <p:cNvSpPr/>
          <p:nvPr/>
        </p:nvSpPr>
        <p:spPr>
          <a:xfrm>
            <a:off x="546100" y="5435600"/>
            <a:ext cx="2667000" cy="381000"/>
          </a:xfrm>
          <a:prstGeom prst="roundRect">
            <a:avLst>
              <a:gd name="adj" fmla="val 45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6100" y="5435600"/>
            <a:ext cx="2667000" cy="381000"/>
          </a:xfrm>
          <a:prstGeom prst="rect">
            <a:avLst/>
          </a:prstGeom>
          <a:noFill/>
        </p:spPr>
        <p:txBody>
          <a:bodyPr wrap="square" lIns="0" rIns="0" tIns="0" bIns="0" anchor="ctr">
            <a:spAutoFit/>
          </a:bodyPr>
          <a:lstStyle/>
          <a:p>
            <a:pPr algn="ctr">
              <a:spcAft>
                <a:spcPts val="600"/>
              </a:spcAft>
            </a:pPr>
            <a:r>
              <a:rPr sz="1200" b="1">
                <a:solidFill>
                  <a:srgbClr val="FFFFFF"/>
                </a:solidFill>
                <a:latin typeface="Calibri"/>
              </a:rPr>
              <a:t>📋 COPY TO WORKBOOK</a:t>
            </a:r>
          </a:p>
        </p:txBody>
      </p:sp>
      <p:sp>
        <p:nvSpPr>
          <p:cNvPr id="13" name="TextBox 12"/>
          <p:cNvSpPr txBox="1"/>
          <p:nvPr/>
        </p:nvSpPr>
        <p:spPr>
          <a:xfrm>
            <a:off x="3492500" y="5435600"/>
            <a:ext cx="8115300" cy="381000"/>
          </a:xfrm>
          <a:prstGeom prst="rect">
            <a:avLst/>
          </a:prstGeom>
          <a:noFill/>
        </p:spPr>
        <p:txBody>
          <a:bodyPr wrap="square" lIns="0" rIns="0" tIns="0" bIns="0" anchor="ctr">
            <a:spAutoFit/>
          </a:bodyPr>
          <a:lstStyle/>
          <a:p>
            <a:pPr algn="l">
              <a:spcAft>
                <a:spcPts val="600"/>
              </a:spcAft>
            </a:pPr>
            <a:r>
              <a:rPr sz="1500" b="0">
                <a:solidFill>
                  <a:srgbClr val="57606A"/>
                </a:solidFill>
                <a:latin typeface="Calibri"/>
              </a:rPr>
              <a:t>Every module you test needs at least one of each.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57200" y="254000"/>
            <a:ext cx="2336800" cy="355600"/>
          </a:xfrm>
          <a:prstGeom prst="roundRect">
            <a:avLst>
              <a:gd name="adj" fmla="val 45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4000"/>
            <a:ext cx="2336800" cy="355600"/>
          </a:xfrm>
          <a:prstGeom prst="rect">
            <a:avLst/>
          </a:prstGeom>
          <a:noFill/>
        </p:spPr>
        <p:txBody>
          <a:bodyPr wrap="square" lIns="0" rIns="0" tIns="0" bIns="0" anchor="ctr">
            <a:spAutoFit/>
          </a:bodyPr>
          <a:lstStyle/>
          <a:p>
            <a:pPr algn="ctr">
              <a:spcAft>
                <a:spcPts val="600"/>
              </a:spcAft>
            </a:pPr>
            <a:r>
              <a:rPr sz="1100" b="1">
                <a:solidFill>
                  <a:srgbClr val="FFFFFF"/>
                </a:solidFill>
                <a:latin typeface="Calibri"/>
              </a:rPr>
              <a:t>EXPLICIT EXPLANATION</a:t>
            </a:r>
          </a:p>
        </p:txBody>
      </p:sp>
      <p:sp>
        <p:nvSpPr>
          <p:cNvPr id="4" name="Rounded Rectangle 3"/>
          <p:cNvSpPr/>
          <p:nvPr/>
        </p:nvSpPr>
        <p:spPr>
          <a:xfrm>
            <a:off x="10375900" y="254000"/>
            <a:ext cx="1498600" cy="355600"/>
          </a:xfrm>
          <a:prstGeom prst="roundRect">
            <a:avLst>
              <a:gd name="adj" fmla="val 45000"/>
            </a:avLst>
          </a:prstGeom>
          <a:solidFill>
            <a:srgbClr val="EEF1F3"/>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75900" y="254000"/>
            <a:ext cx="1498600" cy="355600"/>
          </a:xfrm>
          <a:prstGeom prst="rect">
            <a:avLst/>
          </a:prstGeom>
          <a:noFill/>
        </p:spPr>
        <p:txBody>
          <a:bodyPr wrap="square" lIns="0" rIns="0" tIns="0" bIns="0" anchor="ctr">
            <a:spAutoFit/>
          </a:bodyPr>
          <a:lstStyle/>
          <a:p>
            <a:pPr algn="ctr">
              <a:spcAft>
                <a:spcPts val="600"/>
              </a:spcAft>
            </a:pPr>
            <a:r>
              <a:rPr sz="1000" b="1">
                <a:solidFill>
                  <a:srgbClr val="64748B"/>
                </a:solidFill>
                <a:latin typeface="Calibri"/>
              </a:rPr>
              <a:t>✋ Off devices</a:t>
            </a:r>
          </a:p>
        </p:txBody>
      </p:sp>
      <p:sp>
        <p:nvSpPr>
          <p:cNvPr id="6" name="TextBox 5"/>
          <p:cNvSpPr txBox="1"/>
          <p:nvPr/>
        </p:nvSpPr>
        <p:spPr>
          <a:xfrm>
            <a:off x="546100" y="1003300"/>
            <a:ext cx="10782300" cy="635000"/>
          </a:xfrm>
          <a:prstGeom prst="rect">
            <a:avLst/>
          </a:prstGeom>
          <a:noFill/>
        </p:spPr>
        <p:txBody>
          <a:bodyPr wrap="square" lIns="0" rIns="0" tIns="0" bIns="0" anchor="t">
            <a:spAutoFit/>
          </a:bodyPr>
          <a:lstStyle/>
          <a:p>
            <a:pPr algn="l">
              <a:spcAft>
                <a:spcPts val="600"/>
              </a:spcAft>
            </a:pPr>
            <a:r>
              <a:rPr sz="2700" b="1">
                <a:solidFill>
                  <a:srgbClr val="1F2328"/>
                </a:solidFill>
                <a:latin typeface="Cambria"/>
              </a:rPr>
              <a:t>The testing table needs all five columns</a:t>
            </a:r>
          </a:p>
        </p:txBody>
      </p:sp>
      <p:sp>
        <p:nvSpPr>
          <p:cNvPr id="7" name="TextBox 6"/>
          <p:cNvSpPr txBox="1"/>
          <p:nvPr/>
        </p:nvSpPr>
        <p:spPr>
          <a:xfrm>
            <a:off x="457200" y="6502400"/>
            <a:ext cx="7315200" cy="266700"/>
          </a:xfrm>
          <a:prstGeom prst="rect">
            <a:avLst/>
          </a:prstGeom>
          <a:noFill/>
        </p:spPr>
        <p:txBody>
          <a:bodyPr wrap="square" lIns="0" rIns="0" tIns="0" bIns="0" anchor="t">
            <a:spAutoFit/>
          </a:bodyPr>
          <a:lstStyle/>
          <a:p>
            <a:pPr algn="l">
              <a:spcAft>
                <a:spcPts val="600"/>
              </a:spcAft>
            </a:pPr>
            <a:r>
              <a:rPr sz="900" b="0">
                <a:solidFill>
                  <a:srgbClr val="57606A"/>
                </a:solidFill>
                <a:latin typeface="Consolas"/>
              </a:rPr>
              <a:t>y12-sd-u4-l12-debug-alpha</a:t>
            </a:r>
          </a:p>
        </p:txBody>
      </p:sp>
      <p:sp>
        <p:nvSpPr>
          <p:cNvPr id="8" name="TextBox 7"/>
          <p:cNvSpPr txBox="1"/>
          <p:nvPr/>
        </p:nvSpPr>
        <p:spPr>
          <a:xfrm>
            <a:off x="11430000" y="6502400"/>
            <a:ext cx="457200" cy="266700"/>
          </a:xfrm>
          <a:prstGeom prst="rect">
            <a:avLst/>
          </a:prstGeom>
          <a:noFill/>
        </p:spPr>
        <p:txBody>
          <a:bodyPr wrap="square" lIns="0" rIns="0" tIns="0" bIns="0" anchor="t">
            <a:spAutoFit/>
          </a:bodyPr>
          <a:lstStyle/>
          <a:p>
            <a:pPr algn="r">
              <a:spcAft>
                <a:spcPts val="600"/>
              </a:spcAft>
            </a:pPr>
            <a:r>
              <a:rPr sz="900" b="0">
                <a:solidFill>
                  <a:srgbClr val="57606A"/>
                </a:solidFill>
                <a:latin typeface="Consolas"/>
              </a:rPr>
              <a:t>12</a:t>
            </a:r>
          </a:p>
        </p:txBody>
      </p:sp>
      <p:graphicFrame>
        <p:nvGraphicFramePr>
          <p:cNvPr id="9" name="Table 8"/>
          <p:cNvGraphicFramePr>
            <a:graphicFrameLocks noGrp="1"/>
          </p:cNvGraphicFramePr>
          <p:nvPr/>
        </p:nvGraphicFramePr>
        <p:xfrm>
          <a:off x="546100" y="1676400"/>
          <a:ext cx="11061700" cy="3149600"/>
        </p:xfrm>
        <a:graphic>
          <a:graphicData uri="http://schemas.openxmlformats.org/drawingml/2006/table">
            <a:tbl>
              <a:tblPr firstRow="1" bandRow="1">
                <a:tableStyleId>{5C22544A-7EE6-4342-B048-85BDC9FD1C3A}</a:tableStyleId>
              </a:tblPr>
              <a:tblGrid>
                <a:gridCol w="2260600"/>
                <a:gridCol w="1651000"/>
                <a:gridCol w="2222500"/>
                <a:gridCol w="2133600"/>
                <a:gridCol w="2794000"/>
              </a:tblGrid>
              <a:tr h="787400">
                <a:tc>
                  <a:txBody>
                    <a:bodyPr wrap="square"/>
                    <a:lstStyle/>
                    <a:p>
                      <a:pPr algn="l"/>
                      <a:r>
                        <a:rPr sz="1150" b="1">
                          <a:solidFill>
                            <a:srgbClr val="FFFFFF"/>
                          </a:solidFill>
                          <a:latin typeface="Calibri"/>
                        </a:rPr>
                        <a:t>What was tested</a:t>
                      </a:r>
                    </a:p>
                  </a:txBody>
                  <a:tcPr marL="127000" marR="127000" marT="76200" marB="76200" anchor="ctr">
                    <a:solidFill>
                      <a:srgbClr val="4361EE"/>
                    </a:solidFill>
                  </a:tcPr>
                </a:tc>
                <a:tc>
                  <a:txBody>
                    <a:bodyPr wrap="square"/>
                    <a:lstStyle/>
                    <a:p>
                      <a:pPr algn="l"/>
                      <a:r>
                        <a:rPr sz="1150" b="1">
                          <a:solidFill>
                            <a:srgbClr val="FFFFFF"/>
                          </a:solidFill>
                          <a:latin typeface="Calibri"/>
                        </a:rPr>
                        <a:t>How (test data)</a:t>
                      </a:r>
                    </a:p>
                  </a:txBody>
                  <a:tcPr marL="127000" marR="127000" marT="76200" marB="76200" anchor="ctr">
                    <a:solidFill>
                      <a:srgbClr val="4361EE"/>
                    </a:solidFill>
                  </a:tcPr>
                </a:tc>
                <a:tc>
                  <a:txBody>
                    <a:bodyPr wrap="square"/>
                    <a:lstStyle/>
                    <a:p>
                      <a:pPr algn="l"/>
                      <a:r>
                        <a:rPr sz="1150" b="1">
                          <a:solidFill>
                            <a:srgbClr val="FFFFFF"/>
                          </a:solidFill>
                          <a:latin typeface="Calibri"/>
                        </a:rPr>
                        <a:t>Expected result</a:t>
                      </a:r>
                    </a:p>
                  </a:txBody>
                  <a:tcPr marL="127000" marR="127000" marT="76200" marB="76200" anchor="ctr">
                    <a:solidFill>
                      <a:srgbClr val="4361EE"/>
                    </a:solidFill>
                  </a:tcPr>
                </a:tc>
                <a:tc>
                  <a:txBody>
                    <a:bodyPr wrap="square"/>
                    <a:lstStyle/>
                    <a:p>
                      <a:pPr algn="l"/>
                      <a:r>
                        <a:rPr sz="1150" b="1">
                          <a:solidFill>
                            <a:srgbClr val="FFFFFF"/>
                          </a:solidFill>
                          <a:latin typeface="Calibri"/>
                        </a:rPr>
                        <a:t>Actual result</a:t>
                      </a:r>
                    </a:p>
                  </a:txBody>
                  <a:tcPr marL="127000" marR="127000" marT="76200" marB="76200" anchor="ctr">
                    <a:solidFill>
                      <a:srgbClr val="4361EE"/>
                    </a:solidFill>
                  </a:tcPr>
                </a:tc>
                <a:tc>
                  <a:txBody>
                    <a:bodyPr wrap="square"/>
                    <a:lstStyle/>
                    <a:p>
                      <a:pPr algn="l"/>
                      <a:r>
                        <a:rPr sz="1150" b="1">
                          <a:solidFill>
                            <a:srgbClr val="FFFFFF"/>
                          </a:solidFill>
                          <a:latin typeface="Calibri"/>
                        </a:rPr>
                        <a:t>Fix if needed</a:t>
                      </a:r>
                    </a:p>
                  </a:txBody>
                  <a:tcPr marL="127000" marR="127000" marT="76200" marB="76200" anchor="ctr">
                    <a:solidFill>
                      <a:srgbClr val="4361EE"/>
                    </a:solidFill>
                  </a:tcPr>
                </a:tc>
              </a:tr>
              <a:tr h="787400">
                <a:tc>
                  <a:txBody>
                    <a:bodyPr wrap="square"/>
                    <a:lstStyle/>
                    <a:p>
                      <a:pPr algn="l"/>
                      <a:r>
                        <a:rPr sz="1150" b="0">
                          <a:solidFill>
                            <a:srgbClr val="1F2328"/>
                          </a:solidFill>
                          <a:latin typeface="Calibri"/>
                        </a:rPr>
                        <a:t>Age validation on sign-up</a:t>
                      </a:r>
                    </a:p>
                  </a:txBody>
                  <a:tcPr marL="127000" marR="127000" marT="76200" marB="76200" anchor="ctr">
                    <a:solidFill>
                      <a:srgbClr val="FFFFFF"/>
                    </a:solidFill>
                  </a:tcPr>
                </a:tc>
                <a:tc>
                  <a:txBody>
                    <a:bodyPr wrap="square"/>
                    <a:lstStyle/>
                    <a:p>
                      <a:pPr algn="l"/>
                      <a:r>
                        <a:rPr sz="1150" b="0">
                          <a:solidFill>
                            <a:srgbClr val="1F2328"/>
                          </a:solidFill>
                          <a:latin typeface="Calibri"/>
                        </a:rPr>
                        <a:t>18 (boundary)</a:t>
                      </a:r>
                    </a:p>
                  </a:txBody>
                  <a:tcPr marL="127000" marR="127000" marT="76200" marB="76200" anchor="ctr">
                    <a:solidFill>
                      <a:srgbClr val="FFFFFF"/>
                    </a:solidFill>
                  </a:tcPr>
                </a:tc>
                <a:tc>
                  <a:txBody>
                    <a:bodyPr wrap="square"/>
                    <a:lstStyle/>
                    <a:p>
                      <a:pPr algn="l"/>
                      <a:r>
                        <a:rPr sz="1150" b="0">
                          <a:solidFill>
                            <a:srgbClr val="1F2328"/>
                          </a:solidFill>
                          <a:latin typeface="Calibri"/>
                        </a:rPr>
                        <a:t>Accepted, account created</a:t>
                      </a:r>
                    </a:p>
                  </a:txBody>
                  <a:tcPr marL="127000" marR="127000" marT="76200" marB="76200" anchor="ctr">
                    <a:solidFill>
                      <a:srgbClr val="FFFFFF"/>
                    </a:solidFill>
                  </a:tcPr>
                </a:tc>
                <a:tc>
                  <a:txBody>
                    <a:bodyPr wrap="square"/>
                    <a:lstStyle/>
                    <a:p>
                      <a:pPr algn="l"/>
                      <a:r>
                        <a:rPr sz="1150" b="0">
                          <a:solidFill>
                            <a:srgbClr val="1F2328"/>
                          </a:solidFill>
                          <a:latin typeface="Calibri"/>
                        </a:rPr>
                        <a:t>Accepted</a:t>
                      </a:r>
                    </a:p>
                  </a:txBody>
                  <a:tcPr marL="127000" marR="127000" marT="76200" marB="76200" anchor="ctr">
                    <a:solidFill>
                      <a:srgbClr val="FFFFFF"/>
                    </a:solidFill>
                  </a:tcPr>
                </a:tc>
                <a:tc>
                  <a:txBody>
                    <a:bodyPr wrap="square"/>
                    <a:lstStyle/>
                    <a:p>
                      <a:pPr algn="l"/>
                      <a:r>
                        <a:rPr sz="1150" b="0">
                          <a:solidFill>
                            <a:srgbClr val="1F2328"/>
                          </a:solidFill>
                          <a:latin typeface="Calibri"/>
                        </a:rPr>
                        <a:t>—</a:t>
                      </a:r>
                    </a:p>
                  </a:txBody>
                  <a:tcPr marL="127000" marR="127000" marT="76200" marB="76200" anchor="ctr">
                    <a:solidFill>
                      <a:srgbClr val="FFFFFF"/>
                    </a:solidFill>
                  </a:tcPr>
                </a:tc>
              </a:tr>
              <a:tr h="787400">
                <a:tc>
                  <a:txBody>
                    <a:bodyPr wrap="square"/>
                    <a:lstStyle/>
                    <a:p>
                      <a:pPr algn="l"/>
                      <a:r>
                        <a:rPr sz="1150" b="0">
                          <a:solidFill>
                            <a:srgbClr val="1F2328"/>
                          </a:solidFill>
                          <a:latin typeface="Calibri"/>
                        </a:rPr>
                        <a:t>Age validation on sign-up</a:t>
                      </a:r>
                    </a:p>
                  </a:txBody>
                  <a:tcPr marL="127000" marR="127000" marT="76200" marB="76200" anchor="ctr">
                    <a:solidFill>
                      <a:srgbClr val="F7F9FA"/>
                    </a:solidFill>
                  </a:tcPr>
                </a:tc>
                <a:tc>
                  <a:txBody>
                    <a:bodyPr wrap="square"/>
                    <a:lstStyle/>
                    <a:p>
                      <a:pPr algn="l"/>
                      <a:r>
                        <a:rPr sz="1150" b="0">
                          <a:solidFill>
                            <a:srgbClr val="1F2328"/>
                          </a:solidFill>
                          <a:latin typeface="Calibri"/>
                        </a:rPr>
                        <a:t>17</a:t>
                      </a:r>
                    </a:p>
                  </a:txBody>
                  <a:tcPr marL="127000" marR="127000" marT="76200" marB="76200" anchor="ctr">
                    <a:solidFill>
                      <a:srgbClr val="F7F9FA"/>
                    </a:solidFill>
                  </a:tcPr>
                </a:tc>
                <a:tc>
                  <a:txBody>
                    <a:bodyPr wrap="square"/>
                    <a:lstStyle/>
                    <a:p>
                      <a:pPr algn="l"/>
                      <a:r>
                        <a:rPr sz="1150" b="0">
                          <a:solidFill>
                            <a:srgbClr val="1F2328"/>
                          </a:solidFill>
                          <a:latin typeface="Calibri"/>
                        </a:rPr>
                        <a:t>Rejected with a message</a:t>
                      </a:r>
                    </a:p>
                  </a:txBody>
                  <a:tcPr marL="127000" marR="127000" marT="76200" marB="76200" anchor="ctr">
                    <a:solidFill>
                      <a:srgbClr val="F7F9FA"/>
                    </a:solidFill>
                  </a:tcPr>
                </a:tc>
                <a:tc>
                  <a:txBody>
                    <a:bodyPr wrap="square"/>
                    <a:lstStyle/>
                    <a:p>
                      <a:pPr algn="l"/>
                      <a:r>
                        <a:rPr sz="1150" b="0">
                          <a:solidFill>
                            <a:srgbClr val="1F2328"/>
                          </a:solidFill>
                          <a:latin typeface="Calibri"/>
                        </a:rPr>
                        <a:t>Accepted — no message</a:t>
                      </a:r>
                    </a:p>
                  </a:txBody>
                  <a:tcPr marL="127000" marR="127000" marT="76200" marB="76200" anchor="ctr">
                    <a:solidFill>
                      <a:srgbClr val="F7F9FA"/>
                    </a:solidFill>
                  </a:tcPr>
                </a:tc>
                <a:tc>
                  <a:txBody>
                    <a:bodyPr wrap="square"/>
                    <a:lstStyle/>
                    <a:p>
                      <a:pPr algn="l"/>
                      <a:r>
                        <a:rPr sz="1150" b="0">
                          <a:solidFill>
                            <a:srgbClr val="1F2328"/>
                          </a:solidFill>
                          <a:latin typeface="Calibri"/>
                        </a:rPr>
                        <a:t>Changed &gt; to &gt;= in the check; re-tested, now rejected</a:t>
                      </a:r>
                    </a:p>
                  </a:txBody>
                  <a:tcPr marL="127000" marR="127000" marT="76200" marB="76200" anchor="ctr">
                    <a:solidFill>
                      <a:srgbClr val="F7F9FA"/>
                    </a:solidFill>
                  </a:tcPr>
                </a:tc>
              </a:tr>
              <a:tr h="787400">
                <a:tc>
                  <a:txBody>
                    <a:bodyPr wrap="square"/>
                    <a:lstStyle/>
                    <a:p>
                      <a:pPr algn="l"/>
                      <a:r>
                        <a:rPr sz="1150" b="0">
                          <a:solidFill>
                            <a:srgbClr val="1F2328"/>
                          </a:solidFill>
                          <a:latin typeface="Calibri"/>
                        </a:rPr>
                        <a:t>Age validation on sign-up</a:t>
                      </a:r>
                    </a:p>
                  </a:txBody>
                  <a:tcPr marL="127000" marR="127000" marT="76200" marB="76200" anchor="ctr">
                    <a:solidFill>
                      <a:srgbClr val="FFFFFF"/>
                    </a:solidFill>
                  </a:tcPr>
                </a:tc>
                <a:tc>
                  <a:txBody>
                    <a:bodyPr wrap="square"/>
                    <a:lstStyle/>
                    <a:p>
                      <a:pPr algn="l"/>
                      <a:r>
                        <a:rPr sz="1150" b="0">
                          <a:solidFill>
                            <a:srgbClr val="1F2328"/>
                          </a:solidFill>
                          <a:latin typeface="Calibri"/>
                        </a:rPr>
                        <a:t>"twenty"</a:t>
                      </a:r>
                    </a:p>
                  </a:txBody>
                  <a:tcPr marL="127000" marR="127000" marT="76200" marB="76200" anchor="ctr">
                    <a:solidFill>
                      <a:srgbClr val="FFFFFF"/>
                    </a:solidFill>
                  </a:tcPr>
                </a:tc>
                <a:tc>
                  <a:txBody>
                    <a:bodyPr wrap="square"/>
                    <a:lstStyle/>
                    <a:p>
                      <a:pPr algn="l"/>
                      <a:r>
                        <a:rPr sz="1150" b="0">
                          <a:solidFill>
                            <a:srgbClr val="1F2328"/>
                          </a:solidFill>
                          <a:latin typeface="Calibri"/>
                        </a:rPr>
                        <a:t>Rejected as wrong type</a:t>
                      </a:r>
                    </a:p>
                  </a:txBody>
                  <a:tcPr marL="127000" marR="127000" marT="76200" marB="76200" anchor="ctr">
                    <a:solidFill>
                      <a:srgbClr val="FFFFFF"/>
                    </a:solidFill>
                  </a:tcPr>
                </a:tc>
                <a:tc>
                  <a:txBody>
                    <a:bodyPr wrap="square"/>
                    <a:lstStyle/>
                    <a:p>
                      <a:pPr algn="l"/>
                      <a:r>
                        <a:rPr sz="1150" b="0">
                          <a:solidFill>
                            <a:srgbClr val="1F2328"/>
                          </a:solidFill>
                          <a:latin typeface="Calibri"/>
                        </a:rPr>
                        <a:t>Program crashed</a:t>
                      </a:r>
                    </a:p>
                  </a:txBody>
                  <a:tcPr marL="127000" marR="127000" marT="76200" marB="76200" anchor="ctr">
                    <a:solidFill>
                      <a:srgbClr val="FFFFFF"/>
                    </a:solidFill>
                  </a:tcPr>
                </a:tc>
                <a:tc>
                  <a:txBody>
                    <a:bodyPr wrap="square"/>
                    <a:lstStyle/>
                    <a:p>
                      <a:pPr algn="l"/>
                      <a:r>
                        <a:rPr sz="1150" b="0">
                          <a:solidFill>
                            <a:srgbClr val="1F2328"/>
                          </a:solidFill>
                          <a:latin typeface="Calibri"/>
                        </a:rPr>
                        <a:t>Added type check before comparison; re-tested, now rejected</a:t>
                      </a:r>
                    </a:p>
                  </a:txBody>
                  <a:tcPr marL="127000" marR="127000" marT="76200" marB="76200" anchor="ctr">
                    <a:solidFill>
                      <a:srgbClr val="FFFFFF"/>
                    </a:solidFill>
                  </a:tcPr>
                </a:tc>
              </a:tr>
            </a:tbl>
          </a:graphicData>
        </a:graphic>
      </p:graphicFrame>
      <p:sp>
        <p:nvSpPr>
          <p:cNvPr id="10" name="Rounded Rectangle 9"/>
          <p:cNvSpPr/>
          <p:nvPr/>
        </p:nvSpPr>
        <p:spPr>
          <a:xfrm>
            <a:off x="546100" y="5080000"/>
            <a:ext cx="2667000" cy="381000"/>
          </a:xfrm>
          <a:prstGeom prst="roundRect">
            <a:avLst>
              <a:gd name="adj" fmla="val 45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6100" y="5080000"/>
            <a:ext cx="2667000" cy="381000"/>
          </a:xfrm>
          <a:prstGeom prst="rect">
            <a:avLst/>
          </a:prstGeom>
          <a:noFill/>
        </p:spPr>
        <p:txBody>
          <a:bodyPr wrap="square" lIns="0" rIns="0" tIns="0" bIns="0" anchor="ctr">
            <a:spAutoFit/>
          </a:bodyPr>
          <a:lstStyle/>
          <a:p>
            <a:pPr algn="ctr">
              <a:spcAft>
                <a:spcPts val="600"/>
              </a:spcAft>
            </a:pPr>
            <a:r>
              <a:rPr sz="1200" b="1">
                <a:solidFill>
                  <a:srgbClr val="FFFFFF"/>
                </a:solidFill>
                <a:latin typeface="Calibri"/>
              </a:rPr>
              <a:t>📋 COPY TO WORKBOOK</a:t>
            </a:r>
          </a:p>
        </p:txBody>
      </p:sp>
      <p:sp>
        <p:nvSpPr>
          <p:cNvPr id="12" name="TextBox 11"/>
          <p:cNvSpPr txBox="1"/>
          <p:nvPr/>
        </p:nvSpPr>
        <p:spPr>
          <a:xfrm>
            <a:off x="546100" y="5638800"/>
            <a:ext cx="11061700" cy="762000"/>
          </a:xfrm>
          <a:prstGeom prst="rect">
            <a:avLst/>
          </a:prstGeom>
          <a:noFill/>
        </p:spPr>
        <p:txBody>
          <a:bodyPr wrap="square" lIns="0" rIns="0" tIns="0" bIns="0" anchor="t">
            <a:spAutoFit/>
          </a:bodyPr>
          <a:lstStyle/>
          <a:p>
            <a:pPr algn="l">
              <a:lnSpc>
                <a:spcPct val="130000"/>
              </a:lnSpc>
              <a:spcAft>
                <a:spcPts val="600"/>
              </a:spcAft>
            </a:pPr>
            <a:r>
              <a:rPr sz="1500" b="0">
                <a:solidFill>
                  <a:srgbClr val="57606A"/>
                </a:solidFill>
                <a:latin typeface="Calibri"/>
              </a:rPr>
              <a:t>Actual result is what happened, not what should have happened. A row where expected and actual differ is not a failure of your table — it is the whole point of 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57200" y="254000"/>
            <a:ext cx="2336800" cy="355600"/>
          </a:xfrm>
          <a:prstGeom prst="roundRect">
            <a:avLst>
              <a:gd name="adj" fmla="val 45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4000"/>
            <a:ext cx="2336800" cy="355600"/>
          </a:xfrm>
          <a:prstGeom prst="rect">
            <a:avLst/>
          </a:prstGeom>
          <a:noFill/>
        </p:spPr>
        <p:txBody>
          <a:bodyPr wrap="square" lIns="0" rIns="0" tIns="0" bIns="0" anchor="ctr">
            <a:spAutoFit/>
          </a:bodyPr>
          <a:lstStyle/>
          <a:p>
            <a:pPr algn="ctr">
              <a:spcAft>
                <a:spcPts val="600"/>
              </a:spcAft>
            </a:pPr>
            <a:r>
              <a:rPr sz="1100" b="1">
                <a:solidFill>
                  <a:srgbClr val="FFFFFF"/>
                </a:solidFill>
                <a:latin typeface="Calibri"/>
              </a:rPr>
              <a:t>EXPLICIT EXPLANATION</a:t>
            </a:r>
          </a:p>
        </p:txBody>
      </p:sp>
      <p:sp>
        <p:nvSpPr>
          <p:cNvPr id="4" name="Rounded Rectangle 3"/>
          <p:cNvSpPr/>
          <p:nvPr/>
        </p:nvSpPr>
        <p:spPr>
          <a:xfrm>
            <a:off x="10375900" y="254000"/>
            <a:ext cx="1498600" cy="355600"/>
          </a:xfrm>
          <a:prstGeom prst="roundRect">
            <a:avLst>
              <a:gd name="adj" fmla="val 45000"/>
            </a:avLst>
          </a:prstGeom>
          <a:solidFill>
            <a:srgbClr val="EEF1F3"/>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75900" y="254000"/>
            <a:ext cx="1498600" cy="355600"/>
          </a:xfrm>
          <a:prstGeom prst="rect">
            <a:avLst/>
          </a:prstGeom>
          <a:noFill/>
        </p:spPr>
        <p:txBody>
          <a:bodyPr wrap="square" lIns="0" rIns="0" tIns="0" bIns="0" anchor="ctr">
            <a:spAutoFit/>
          </a:bodyPr>
          <a:lstStyle/>
          <a:p>
            <a:pPr algn="ctr">
              <a:spcAft>
                <a:spcPts val="600"/>
              </a:spcAft>
            </a:pPr>
            <a:r>
              <a:rPr sz="1000" b="1">
                <a:solidFill>
                  <a:srgbClr val="64748B"/>
                </a:solidFill>
                <a:latin typeface="Calibri"/>
              </a:rPr>
              <a:t>✋ Off devices</a:t>
            </a:r>
          </a:p>
        </p:txBody>
      </p:sp>
      <p:sp>
        <p:nvSpPr>
          <p:cNvPr id="6" name="TextBox 5"/>
          <p:cNvSpPr txBox="1"/>
          <p:nvPr/>
        </p:nvSpPr>
        <p:spPr>
          <a:xfrm>
            <a:off x="546100" y="1003300"/>
            <a:ext cx="10782300" cy="635000"/>
          </a:xfrm>
          <a:prstGeom prst="rect">
            <a:avLst/>
          </a:prstGeom>
          <a:noFill/>
        </p:spPr>
        <p:txBody>
          <a:bodyPr wrap="square" lIns="0" rIns="0" tIns="0" bIns="0" anchor="t">
            <a:spAutoFit/>
          </a:bodyPr>
          <a:lstStyle/>
          <a:p>
            <a:pPr algn="l">
              <a:spcAft>
                <a:spcPts val="600"/>
              </a:spcAft>
            </a:pPr>
            <a:r>
              <a:rPr sz="2700" b="1">
                <a:solidFill>
                  <a:srgbClr val="1F2328"/>
                </a:solidFill>
                <a:latin typeface="Cambria"/>
              </a:rPr>
              <a:t>Test cases that actually prove something</a:t>
            </a:r>
          </a:p>
        </p:txBody>
      </p:sp>
      <p:sp>
        <p:nvSpPr>
          <p:cNvPr id="7" name="TextBox 6"/>
          <p:cNvSpPr txBox="1"/>
          <p:nvPr/>
        </p:nvSpPr>
        <p:spPr>
          <a:xfrm>
            <a:off x="457200" y="6502400"/>
            <a:ext cx="7315200" cy="266700"/>
          </a:xfrm>
          <a:prstGeom prst="rect">
            <a:avLst/>
          </a:prstGeom>
          <a:noFill/>
        </p:spPr>
        <p:txBody>
          <a:bodyPr wrap="square" lIns="0" rIns="0" tIns="0" bIns="0" anchor="t">
            <a:spAutoFit/>
          </a:bodyPr>
          <a:lstStyle/>
          <a:p>
            <a:pPr algn="l">
              <a:spcAft>
                <a:spcPts val="600"/>
              </a:spcAft>
            </a:pPr>
            <a:r>
              <a:rPr sz="900" b="0">
                <a:solidFill>
                  <a:srgbClr val="57606A"/>
                </a:solidFill>
                <a:latin typeface="Consolas"/>
              </a:rPr>
              <a:t>y12-sd-u4-l12-debug-alpha</a:t>
            </a:r>
          </a:p>
        </p:txBody>
      </p:sp>
      <p:sp>
        <p:nvSpPr>
          <p:cNvPr id="8" name="TextBox 7"/>
          <p:cNvSpPr txBox="1"/>
          <p:nvPr/>
        </p:nvSpPr>
        <p:spPr>
          <a:xfrm>
            <a:off x="11430000" y="6502400"/>
            <a:ext cx="457200" cy="266700"/>
          </a:xfrm>
          <a:prstGeom prst="rect">
            <a:avLst/>
          </a:prstGeom>
          <a:noFill/>
        </p:spPr>
        <p:txBody>
          <a:bodyPr wrap="square" lIns="0" rIns="0" tIns="0" bIns="0" anchor="t">
            <a:spAutoFit/>
          </a:bodyPr>
          <a:lstStyle/>
          <a:p>
            <a:pPr algn="r">
              <a:spcAft>
                <a:spcPts val="600"/>
              </a:spcAft>
            </a:pPr>
            <a:r>
              <a:rPr sz="900" b="0">
                <a:solidFill>
                  <a:srgbClr val="57606A"/>
                </a:solidFill>
                <a:latin typeface="Consolas"/>
              </a:rPr>
              <a:t>13</a:t>
            </a:r>
          </a:p>
        </p:txBody>
      </p:sp>
      <p:sp>
        <p:nvSpPr>
          <p:cNvPr id="9" name="TextBox 8"/>
          <p:cNvSpPr txBox="1"/>
          <p:nvPr/>
        </p:nvSpPr>
        <p:spPr>
          <a:xfrm>
            <a:off x="546100" y="1828800"/>
            <a:ext cx="6032500" cy="3810000"/>
          </a:xfrm>
          <a:prstGeom prst="rect">
            <a:avLst/>
          </a:prstGeom>
          <a:noFill/>
        </p:spPr>
        <p:txBody>
          <a:bodyPr wrap="square" lIns="0" rIns="0" tIns="0" bIns="0" anchor="t">
            <a:spAutoFit/>
          </a:bodyPr>
          <a:lstStyle/>
          <a:p>
            <a:pPr algn="l">
              <a:lnSpc>
                <a:spcPct val="120000"/>
              </a:lnSpc>
              <a:spcAft>
                <a:spcPts val="1400"/>
              </a:spcAft>
            </a:pPr>
            <a:r>
              <a:rPr sz="1600" b="0">
                <a:solidFill>
                  <a:srgbClr val="1F2328"/>
                </a:solidFill>
                <a:latin typeface="Calibri"/>
              </a:rPr>
              <a:t>Change one thing at a time. If you alter the input and the code together, you have learned nothing about either.</a:t>
            </a:r>
          </a:p>
          <a:p>
            <a:pPr algn="l">
              <a:lnSpc>
                <a:spcPct val="120000"/>
              </a:lnSpc>
              <a:spcAft>
                <a:spcPts val="1400"/>
              </a:spcAft>
            </a:pPr>
            <a:r>
              <a:rPr sz="1600" b="0">
                <a:solidFill>
                  <a:srgbClr val="1F2328"/>
                </a:solidFill>
                <a:latin typeface="Calibri"/>
              </a:rPr>
              <a:t>Test the boundary and both sides of it — for an 18+ check that is 17, 18 and 19.</a:t>
            </a:r>
          </a:p>
          <a:p>
            <a:pPr algn="l">
              <a:lnSpc>
                <a:spcPct val="120000"/>
              </a:lnSpc>
              <a:spcAft>
                <a:spcPts val="0"/>
              </a:spcAft>
            </a:pPr>
            <a:r>
              <a:rPr sz="1600" b="0">
                <a:solidFill>
                  <a:srgbClr val="1F2328"/>
                </a:solidFill>
                <a:latin typeface="Calibri"/>
              </a:rPr>
              <a:t>One row per case. A row that says "tried a few numbers" is not evidence.</a:t>
            </a:r>
          </a:p>
        </p:txBody>
      </p:sp>
      <p:sp>
        <p:nvSpPr>
          <p:cNvPr id="10" name="Rounded Rectangle 9"/>
          <p:cNvSpPr/>
          <p:nvPr/>
        </p:nvSpPr>
        <p:spPr>
          <a:xfrm>
            <a:off x="6858000" y="1828800"/>
            <a:ext cx="4749800" cy="3924300"/>
          </a:xfrm>
          <a:prstGeom prst="roundRect">
            <a:avLst>
              <a:gd name="adj" fmla="val 6000"/>
            </a:avLst>
          </a:prstGeom>
          <a:solidFill>
            <a:srgbClr val="FDECEC"/>
          </a:solidFill>
          <a:ln w="127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6600" y="2057400"/>
            <a:ext cx="4292600" cy="355600"/>
          </a:xfrm>
          <a:prstGeom prst="rect">
            <a:avLst/>
          </a:prstGeom>
          <a:noFill/>
        </p:spPr>
        <p:txBody>
          <a:bodyPr wrap="square" lIns="0" rIns="0" tIns="0" bIns="0" anchor="t">
            <a:spAutoFit/>
          </a:bodyPr>
          <a:lstStyle/>
          <a:p>
            <a:pPr algn="l">
              <a:spcAft>
                <a:spcPts val="600"/>
              </a:spcAft>
            </a:pPr>
            <a:r>
              <a:rPr sz="1200" b="1">
                <a:solidFill>
                  <a:srgbClr val="EF4444"/>
                </a:solidFill>
                <a:latin typeface="Calibri"/>
              </a:rPr>
              <a:t>WHERE MARKS GET LOST</a:t>
            </a:r>
          </a:p>
        </p:txBody>
      </p:sp>
      <p:sp>
        <p:nvSpPr>
          <p:cNvPr id="12" name="TextBox 11"/>
          <p:cNvSpPr txBox="1"/>
          <p:nvPr/>
        </p:nvSpPr>
        <p:spPr>
          <a:xfrm>
            <a:off x="7086600" y="2514600"/>
            <a:ext cx="4292600" cy="3009900"/>
          </a:xfrm>
          <a:prstGeom prst="rect">
            <a:avLst/>
          </a:prstGeom>
          <a:noFill/>
        </p:spPr>
        <p:txBody>
          <a:bodyPr wrap="square" lIns="0" rIns="0" tIns="0" bIns="0" anchor="t">
            <a:spAutoFit/>
          </a:bodyPr>
          <a:lstStyle/>
          <a:p>
            <a:pPr algn="l">
              <a:spcAft>
                <a:spcPts val="700"/>
              </a:spcAft>
            </a:pPr>
            <a:r>
              <a:rPr sz="1400" b="0">
                <a:solidFill>
                  <a:srgbClr val="1F2328"/>
                </a:solidFill>
                <a:latin typeface="Calibri"/>
              </a:rPr>
              <a:t>• Only valid data — no invalid case anywhere
• "Actual result" filled in with what was supposed to happen
• A fix described but never re-tested
• Modules missing from the table entirely
• Table written after the fact, from memory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57200" y="254000"/>
            <a:ext cx="2687320" cy="355600"/>
          </a:xfrm>
          <a:prstGeom prst="roundRect">
            <a:avLst>
              <a:gd name="adj" fmla="val 45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4000"/>
            <a:ext cx="2687320" cy="355600"/>
          </a:xfrm>
          <a:prstGeom prst="rect">
            <a:avLst/>
          </a:prstGeom>
          <a:noFill/>
        </p:spPr>
        <p:txBody>
          <a:bodyPr wrap="square" lIns="0" rIns="0" tIns="0" bIns="0" anchor="ctr">
            <a:spAutoFit/>
          </a:bodyPr>
          <a:lstStyle/>
          <a:p>
            <a:pPr algn="ctr">
              <a:spcAft>
                <a:spcPts val="600"/>
              </a:spcAft>
            </a:pPr>
            <a:r>
              <a:rPr sz="1100" b="1">
                <a:solidFill>
                  <a:srgbClr val="FFFFFF"/>
                </a:solidFill>
                <a:latin typeface="Calibri"/>
              </a:rPr>
              <a:t>APPLICATION OF LEARNING</a:t>
            </a:r>
          </a:p>
        </p:txBody>
      </p:sp>
      <p:sp>
        <p:nvSpPr>
          <p:cNvPr id="4" name="Rounded Rectangle 3"/>
          <p:cNvSpPr/>
          <p:nvPr/>
        </p:nvSpPr>
        <p:spPr>
          <a:xfrm>
            <a:off x="10375900" y="254000"/>
            <a:ext cx="1498600" cy="355600"/>
          </a:xfrm>
          <a:prstGeom prst="roundRect">
            <a:avLst>
              <a:gd name="adj" fmla="val 45000"/>
            </a:avLst>
          </a:prstGeom>
          <a:solidFill>
            <a:srgbClr val="E9FBF3"/>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75900" y="254000"/>
            <a:ext cx="1498600" cy="355600"/>
          </a:xfrm>
          <a:prstGeom prst="rect">
            <a:avLst/>
          </a:prstGeom>
          <a:noFill/>
        </p:spPr>
        <p:txBody>
          <a:bodyPr wrap="square" lIns="0" rIns="0" tIns="0" bIns="0" anchor="ctr">
            <a:spAutoFit/>
          </a:bodyPr>
          <a:lstStyle/>
          <a:p>
            <a:pPr algn="ctr">
              <a:spcAft>
                <a:spcPts val="600"/>
              </a:spcAft>
            </a:pPr>
            <a:r>
              <a:rPr sz="1000" b="1">
                <a:solidFill>
                  <a:srgbClr val="10B981"/>
                </a:solidFill>
                <a:latin typeface="Calibri"/>
              </a:rPr>
              <a:t>💻 On devices</a:t>
            </a:r>
          </a:p>
        </p:txBody>
      </p:sp>
      <p:sp>
        <p:nvSpPr>
          <p:cNvPr id="6" name="TextBox 5"/>
          <p:cNvSpPr txBox="1"/>
          <p:nvPr/>
        </p:nvSpPr>
        <p:spPr>
          <a:xfrm>
            <a:off x="546100" y="1003300"/>
            <a:ext cx="10782300" cy="635000"/>
          </a:xfrm>
          <a:prstGeom prst="rect">
            <a:avLst/>
          </a:prstGeom>
          <a:noFill/>
        </p:spPr>
        <p:txBody>
          <a:bodyPr wrap="square" lIns="0" rIns="0" tIns="0" bIns="0" anchor="t">
            <a:spAutoFit/>
          </a:bodyPr>
          <a:lstStyle/>
          <a:p>
            <a:pPr algn="l">
              <a:spcAft>
                <a:spcPts val="600"/>
              </a:spcAft>
            </a:pPr>
            <a:r>
              <a:rPr sz="2700" b="1">
                <a:solidFill>
                  <a:srgbClr val="1F2328"/>
                </a:solidFill>
                <a:latin typeface="Cambria"/>
              </a:rPr>
              <a:t>Your turn — Part B: the testing table</a:t>
            </a:r>
          </a:p>
        </p:txBody>
      </p:sp>
      <p:sp>
        <p:nvSpPr>
          <p:cNvPr id="7" name="TextBox 6"/>
          <p:cNvSpPr txBox="1"/>
          <p:nvPr/>
        </p:nvSpPr>
        <p:spPr>
          <a:xfrm>
            <a:off x="457200" y="6502400"/>
            <a:ext cx="7315200" cy="266700"/>
          </a:xfrm>
          <a:prstGeom prst="rect">
            <a:avLst/>
          </a:prstGeom>
          <a:noFill/>
        </p:spPr>
        <p:txBody>
          <a:bodyPr wrap="square" lIns="0" rIns="0" tIns="0" bIns="0" anchor="t">
            <a:spAutoFit/>
          </a:bodyPr>
          <a:lstStyle/>
          <a:p>
            <a:pPr algn="l">
              <a:spcAft>
                <a:spcPts val="600"/>
              </a:spcAft>
            </a:pPr>
            <a:r>
              <a:rPr sz="900" b="0">
                <a:solidFill>
                  <a:srgbClr val="57606A"/>
                </a:solidFill>
                <a:latin typeface="Consolas"/>
              </a:rPr>
              <a:t>y12-sd-u4-l12-debug-alpha</a:t>
            </a:r>
          </a:p>
        </p:txBody>
      </p:sp>
      <p:sp>
        <p:nvSpPr>
          <p:cNvPr id="8" name="TextBox 7"/>
          <p:cNvSpPr txBox="1"/>
          <p:nvPr/>
        </p:nvSpPr>
        <p:spPr>
          <a:xfrm>
            <a:off x="11430000" y="6502400"/>
            <a:ext cx="457200" cy="266700"/>
          </a:xfrm>
          <a:prstGeom prst="rect">
            <a:avLst/>
          </a:prstGeom>
          <a:noFill/>
        </p:spPr>
        <p:txBody>
          <a:bodyPr wrap="square" lIns="0" rIns="0" tIns="0" bIns="0" anchor="t">
            <a:spAutoFit/>
          </a:bodyPr>
          <a:lstStyle/>
          <a:p>
            <a:pPr algn="r">
              <a:spcAft>
                <a:spcPts val="600"/>
              </a:spcAft>
            </a:pPr>
            <a:r>
              <a:rPr sz="900" b="0">
                <a:solidFill>
                  <a:srgbClr val="57606A"/>
                </a:solidFill>
                <a:latin typeface="Consolas"/>
              </a:rPr>
              <a:t>14</a:t>
            </a:r>
          </a:p>
        </p:txBody>
      </p:sp>
      <p:sp>
        <p:nvSpPr>
          <p:cNvPr id="9" name="Rounded Rectangle 8"/>
          <p:cNvSpPr/>
          <p:nvPr/>
        </p:nvSpPr>
        <p:spPr>
          <a:xfrm>
            <a:off x="546100" y="1752600"/>
            <a:ext cx="11061700" cy="584200"/>
          </a:xfrm>
          <a:prstGeom prst="roundRect">
            <a:avLst>
              <a:gd name="adj" fmla="val 12000"/>
            </a:avLst>
          </a:prstGeom>
          <a:solidFill>
            <a:srgbClr val="EEF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900" y="1752600"/>
            <a:ext cx="10452100" cy="584200"/>
          </a:xfrm>
          <a:prstGeom prst="rect">
            <a:avLst/>
          </a:prstGeom>
          <a:noFill/>
        </p:spPr>
        <p:txBody>
          <a:bodyPr wrap="square" lIns="0" rIns="0" tIns="0" bIns="0" anchor="ctr">
            <a:spAutoFit/>
          </a:bodyPr>
          <a:lstStyle/>
          <a:p>
            <a:pPr algn="l">
              <a:spcAft>
                <a:spcPts val="600"/>
              </a:spcAft>
            </a:pPr>
            <a:r>
              <a:rPr sz="1700" b="1">
                <a:solidFill>
                  <a:srgbClr val="4361EE"/>
                </a:solidFill>
                <a:latin typeface="Calibri"/>
              </a:rPr>
              <a:t>➜ Open your workbook — Part B</a:t>
            </a:r>
          </a:p>
        </p:txBody>
      </p:sp>
      <p:sp>
        <p:nvSpPr>
          <p:cNvPr id="11" name="Rounded Rectangle 10"/>
          <p:cNvSpPr/>
          <p:nvPr/>
        </p:nvSpPr>
        <p:spPr>
          <a:xfrm>
            <a:off x="546100" y="2590800"/>
            <a:ext cx="558800" cy="558800"/>
          </a:xfrm>
          <a:prstGeom prst="roundRect">
            <a:avLst>
              <a:gd name="adj" fmla="val 45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6100" y="2590800"/>
            <a:ext cx="558800" cy="558800"/>
          </a:xfrm>
          <a:prstGeom prst="rect">
            <a:avLst/>
          </a:prstGeom>
          <a:noFill/>
        </p:spPr>
        <p:txBody>
          <a:bodyPr wrap="square" lIns="0" rIns="0" tIns="0" bIns="0" anchor="ctr">
            <a:spAutoFit/>
          </a:bodyPr>
          <a:lstStyle/>
          <a:p>
            <a:pPr algn="ctr">
              <a:spcAft>
                <a:spcPts val="600"/>
              </a:spcAft>
            </a:pPr>
            <a:r>
              <a:rPr sz="1700" b="1">
                <a:solidFill>
                  <a:srgbClr val="FFFFFF"/>
                </a:solidFill>
                <a:latin typeface="Calibri"/>
              </a:rPr>
              <a:t>1</a:t>
            </a:r>
          </a:p>
        </p:txBody>
      </p:sp>
      <p:sp>
        <p:nvSpPr>
          <p:cNvPr id="13" name="Rounded Rectangle 12"/>
          <p:cNvSpPr/>
          <p:nvPr/>
        </p:nvSpPr>
        <p:spPr>
          <a:xfrm>
            <a:off x="1282700" y="2590800"/>
            <a:ext cx="10325100" cy="558800"/>
          </a:xfrm>
          <a:prstGeom prst="roundRect">
            <a:avLst>
              <a:gd name="adj" fmla="val 10000"/>
            </a:avLst>
          </a:prstGeom>
          <a:solidFill>
            <a:srgbClr val="EEF1F3"/>
          </a:solidFill>
          <a:ln w="12700">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36700" y="2590800"/>
            <a:ext cx="9817100" cy="558800"/>
          </a:xfrm>
          <a:prstGeom prst="rect">
            <a:avLst/>
          </a:prstGeom>
          <a:noFill/>
        </p:spPr>
        <p:txBody>
          <a:bodyPr wrap="square" lIns="0" rIns="0" tIns="0" bIns="0" anchor="ctr">
            <a:spAutoFit/>
          </a:bodyPr>
          <a:lstStyle/>
          <a:p>
            <a:pPr algn="l">
              <a:spcAft>
                <a:spcPts val="600"/>
              </a:spcAft>
            </a:pPr>
            <a:r>
              <a:rPr sz="1600" b="0">
                <a:solidFill>
                  <a:srgbClr val="1F2328"/>
                </a:solidFill>
                <a:latin typeface="Calibri"/>
              </a:rPr>
              <a:t>Build a testing table for at least one module — add a row per test case.</a:t>
            </a:r>
          </a:p>
        </p:txBody>
      </p:sp>
      <p:sp>
        <p:nvSpPr>
          <p:cNvPr id="15" name="Rounded Rectangle 14"/>
          <p:cNvSpPr/>
          <p:nvPr/>
        </p:nvSpPr>
        <p:spPr>
          <a:xfrm>
            <a:off x="546100" y="3302000"/>
            <a:ext cx="558800" cy="558800"/>
          </a:xfrm>
          <a:prstGeom prst="roundRect">
            <a:avLst>
              <a:gd name="adj" fmla="val 45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6100" y="3302000"/>
            <a:ext cx="558800" cy="558800"/>
          </a:xfrm>
          <a:prstGeom prst="rect">
            <a:avLst/>
          </a:prstGeom>
          <a:noFill/>
        </p:spPr>
        <p:txBody>
          <a:bodyPr wrap="square" lIns="0" rIns="0" tIns="0" bIns="0" anchor="ctr">
            <a:spAutoFit/>
          </a:bodyPr>
          <a:lstStyle/>
          <a:p>
            <a:pPr algn="ctr">
              <a:spcAft>
                <a:spcPts val="600"/>
              </a:spcAft>
            </a:pPr>
            <a:r>
              <a:rPr sz="1700" b="1">
                <a:solidFill>
                  <a:srgbClr val="FFFFFF"/>
                </a:solidFill>
                <a:latin typeface="Calibri"/>
              </a:rPr>
              <a:t>2</a:t>
            </a:r>
          </a:p>
        </p:txBody>
      </p:sp>
      <p:sp>
        <p:nvSpPr>
          <p:cNvPr id="17" name="Rounded Rectangle 16"/>
          <p:cNvSpPr/>
          <p:nvPr/>
        </p:nvSpPr>
        <p:spPr>
          <a:xfrm>
            <a:off x="1282700" y="3302000"/>
            <a:ext cx="10325100" cy="558800"/>
          </a:xfrm>
          <a:prstGeom prst="roundRect">
            <a:avLst>
              <a:gd name="adj" fmla="val 10000"/>
            </a:avLst>
          </a:prstGeom>
          <a:solidFill>
            <a:srgbClr val="EEF1F3"/>
          </a:solidFill>
          <a:ln w="12700">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536700" y="3302000"/>
            <a:ext cx="9817100" cy="558800"/>
          </a:xfrm>
          <a:prstGeom prst="rect">
            <a:avLst/>
          </a:prstGeom>
          <a:noFill/>
        </p:spPr>
        <p:txBody>
          <a:bodyPr wrap="square" lIns="0" rIns="0" tIns="0" bIns="0" anchor="ctr">
            <a:spAutoFit/>
          </a:bodyPr>
          <a:lstStyle/>
          <a:p>
            <a:pPr algn="l">
              <a:spcAft>
                <a:spcPts val="600"/>
              </a:spcAft>
            </a:pPr>
            <a:r>
              <a:rPr sz="1600" b="0">
                <a:solidFill>
                  <a:srgbClr val="1F2328"/>
                </a:solidFill>
                <a:latin typeface="Calibri"/>
              </a:rPr>
              <a:t>Cover valid, valid-but-unusual and invalid data for that module.</a:t>
            </a:r>
          </a:p>
        </p:txBody>
      </p:sp>
      <p:sp>
        <p:nvSpPr>
          <p:cNvPr id="19" name="Rounded Rectangle 18"/>
          <p:cNvSpPr/>
          <p:nvPr/>
        </p:nvSpPr>
        <p:spPr>
          <a:xfrm>
            <a:off x="546100" y="4013200"/>
            <a:ext cx="558800" cy="558800"/>
          </a:xfrm>
          <a:prstGeom prst="roundRect">
            <a:avLst>
              <a:gd name="adj" fmla="val 45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6100" y="4013200"/>
            <a:ext cx="558800" cy="558800"/>
          </a:xfrm>
          <a:prstGeom prst="rect">
            <a:avLst/>
          </a:prstGeom>
          <a:noFill/>
        </p:spPr>
        <p:txBody>
          <a:bodyPr wrap="square" lIns="0" rIns="0" tIns="0" bIns="0" anchor="ctr">
            <a:spAutoFit/>
          </a:bodyPr>
          <a:lstStyle/>
          <a:p>
            <a:pPr algn="ctr">
              <a:spcAft>
                <a:spcPts val="600"/>
              </a:spcAft>
            </a:pPr>
            <a:r>
              <a:rPr sz="1700" b="1">
                <a:solidFill>
                  <a:srgbClr val="FFFFFF"/>
                </a:solidFill>
                <a:latin typeface="Calibri"/>
              </a:rPr>
              <a:t>3</a:t>
            </a:r>
          </a:p>
        </p:txBody>
      </p:sp>
      <p:sp>
        <p:nvSpPr>
          <p:cNvPr id="21" name="Rounded Rectangle 20"/>
          <p:cNvSpPr/>
          <p:nvPr/>
        </p:nvSpPr>
        <p:spPr>
          <a:xfrm>
            <a:off x="1282700" y="4013200"/>
            <a:ext cx="10325100" cy="558800"/>
          </a:xfrm>
          <a:prstGeom prst="roundRect">
            <a:avLst>
              <a:gd name="adj" fmla="val 10000"/>
            </a:avLst>
          </a:prstGeom>
          <a:solidFill>
            <a:srgbClr val="EEF1F3"/>
          </a:solidFill>
          <a:ln w="12700">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36700" y="4013200"/>
            <a:ext cx="9817100" cy="558800"/>
          </a:xfrm>
          <a:prstGeom prst="rect">
            <a:avLst/>
          </a:prstGeom>
          <a:noFill/>
        </p:spPr>
        <p:txBody>
          <a:bodyPr wrap="square" lIns="0" rIns="0" tIns="0" bIns="0" anchor="ctr">
            <a:spAutoFit/>
          </a:bodyPr>
          <a:lstStyle/>
          <a:p>
            <a:pPr algn="l">
              <a:spcAft>
                <a:spcPts val="600"/>
              </a:spcAft>
            </a:pPr>
            <a:r>
              <a:rPr sz="1600" b="0">
                <a:solidFill>
                  <a:srgbClr val="1F2328"/>
                </a:solidFill>
                <a:latin typeface="Calibri"/>
              </a:rPr>
              <a:t>Then confirm each module in your own design is alpha-tested and functioning.</a:t>
            </a:r>
          </a:p>
        </p:txBody>
      </p:sp>
      <p:sp>
        <p:nvSpPr>
          <p:cNvPr id="23" name="TextBox 22"/>
          <p:cNvSpPr txBox="1"/>
          <p:nvPr/>
        </p:nvSpPr>
        <p:spPr>
          <a:xfrm>
            <a:off x="546100" y="4876800"/>
            <a:ext cx="11061700" cy="762000"/>
          </a:xfrm>
          <a:prstGeom prst="rect">
            <a:avLst/>
          </a:prstGeom>
          <a:noFill/>
        </p:spPr>
        <p:txBody>
          <a:bodyPr wrap="square" lIns="0" rIns="0" tIns="0" bIns="0" anchor="t">
            <a:spAutoFit/>
          </a:bodyPr>
          <a:lstStyle/>
          <a:p>
            <a:pPr algn="l">
              <a:lnSpc>
                <a:spcPct val="130000"/>
              </a:lnSpc>
              <a:spcAft>
                <a:spcPts val="600"/>
              </a:spcAft>
            </a:pPr>
            <a:r>
              <a:rPr sz="1500" b="0">
                <a:solidFill>
                  <a:srgbClr val="57606A"/>
                </a:solidFill>
                <a:latin typeface="Calibri"/>
              </a:rPr>
              <a:t>The workbook table adds rows as you need them — there is no fixed number of test cases, and the number you need depends on your own design.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57200" y="254000"/>
            <a:ext cx="2219960" cy="355600"/>
          </a:xfrm>
          <a:prstGeom prst="roundRect">
            <a:avLst>
              <a:gd name="adj" fmla="val 45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4000"/>
            <a:ext cx="2219960" cy="355600"/>
          </a:xfrm>
          <a:prstGeom prst="rect">
            <a:avLst/>
          </a:prstGeom>
          <a:noFill/>
        </p:spPr>
        <p:txBody>
          <a:bodyPr wrap="square" lIns="0" rIns="0" tIns="0" bIns="0" anchor="ctr">
            <a:spAutoFit/>
          </a:bodyPr>
          <a:lstStyle/>
          <a:p>
            <a:pPr algn="ctr">
              <a:spcAft>
                <a:spcPts val="600"/>
              </a:spcAft>
            </a:pPr>
            <a:r>
              <a:rPr sz="1100" b="1">
                <a:solidFill>
                  <a:srgbClr val="FFFFFF"/>
                </a:solidFill>
                <a:latin typeface="Calibri"/>
              </a:rPr>
              <a:t>RESPONSIVE TEACHING</a:t>
            </a:r>
          </a:p>
        </p:txBody>
      </p:sp>
      <p:sp>
        <p:nvSpPr>
          <p:cNvPr id="4" name="Rounded Rectangle 3"/>
          <p:cNvSpPr/>
          <p:nvPr/>
        </p:nvSpPr>
        <p:spPr>
          <a:xfrm>
            <a:off x="10375900" y="254000"/>
            <a:ext cx="1498600" cy="355600"/>
          </a:xfrm>
          <a:prstGeom prst="roundRect">
            <a:avLst>
              <a:gd name="adj" fmla="val 45000"/>
            </a:avLst>
          </a:prstGeom>
          <a:solidFill>
            <a:srgbClr val="EEF1F3"/>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75900" y="254000"/>
            <a:ext cx="1498600" cy="355600"/>
          </a:xfrm>
          <a:prstGeom prst="rect">
            <a:avLst/>
          </a:prstGeom>
          <a:noFill/>
        </p:spPr>
        <p:txBody>
          <a:bodyPr wrap="square" lIns="0" rIns="0" tIns="0" bIns="0" anchor="ctr">
            <a:spAutoFit/>
          </a:bodyPr>
          <a:lstStyle/>
          <a:p>
            <a:pPr algn="ctr">
              <a:spcAft>
                <a:spcPts val="600"/>
              </a:spcAft>
            </a:pPr>
            <a:r>
              <a:rPr sz="1000" b="1">
                <a:solidFill>
                  <a:srgbClr val="64748B"/>
                </a:solidFill>
                <a:latin typeface="Calibri"/>
              </a:rPr>
              <a:t>✋ Off devices</a:t>
            </a:r>
          </a:p>
        </p:txBody>
      </p:sp>
      <p:sp>
        <p:nvSpPr>
          <p:cNvPr id="6" name="TextBox 5"/>
          <p:cNvSpPr txBox="1"/>
          <p:nvPr/>
        </p:nvSpPr>
        <p:spPr>
          <a:xfrm>
            <a:off x="546100" y="1003300"/>
            <a:ext cx="10782300" cy="635000"/>
          </a:xfrm>
          <a:prstGeom prst="rect">
            <a:avLst/>
          </a:prstGeom>
          <a:noFill/>
        </p:spPr>
        <p:txBody>
          <a:bodyPr wrap="square" lIns="0" rIns="0" tIns="0" bIns="0" anchor="t">
            <a:spAutoFit/>
          </a:bodyPr>
          <a:lstStyle/>
          <a:p>
            <a:pPr algn="l">
              <a:spcAft>
                <a:spcPts val="600"/>
              </a:spcAft>
            </a:pPr>
            <a:r>
              <a:rPr sz="2700" b="1">
                <a:solidFill>
                  <a:srgbClr val="1F2328"/>
                </a:solidFill>
                <a:latin typeface="Cambria"/>
              </a:rPr>
              <a:t>The gate before beta</a:t>
            </a:r>
          </a:p>
        </p:txBody>
      </p:sp>
      <p:sp>
        <p:nvSpPr>
          <p:cNvPr id="7" name="TextBox 6"/>
          <p:cNvSpPr txBox="1"/>
          <p:nvPr/>
        </p:nvSpPr>
        <p:spPr>
          <a:xfrm>
            <a:off x="457200" y="6502400"/>
            <a:ext cx="7315200" cy="266700"/>
          </a:xfrm>
          <a:prstGeom prst="rect">
            <a:avLst/>
          </a:prstGeom>
          <a:noFill/>
        </p:spPr>
        <p:txBody>
          <a:bodyPr wrap="square" lIns="0" rIns="0" tIns="0" bIns="0" anchor="t">
            <a:spAutoFit/>
          </a:bodyPr>
          <a:lstStyle/>
          <a:p>
            <a:pPr algn="l">
              <a:spcAft>
                <a:spcPts val="600"/>
              </a:spcAft>
            </a:pPr>
            <a:r>
              <a:rPr sz="900" b="0">
                <a:solidFill>
                  <a:srgbClr val="57606A"/>
                </a:solidFill>
                <a:latin typeface="Consolas"/>
              </a:rPr>
              <a:t>y12-sd-u4-l12-debug-alpha</a:t>
            </a:r>
          </a:p>
        </p:txBody>
      </p:sp>
      <p:sp>
        <p:nvSpPr>
          <p:cNvPr id="8" name="TextBox 7"/>
          <p:cNvSpPr txBox="1"/>
          <p:nvPr/>
        </p:nvSpPr>
        <p:spPr>
          <a:xfrm>
            <a:off x="11430000" y="6502400"/>
            <a:ext cx="457200" cy="266700"/>
          </a:xfrm>
          <a:prstGeom prst="rect">
            <a:avLst/>
          </a:prstGeom>
          <a:noFill/>
        </p:spPr>
        <p:txBody>
          <a:bodyPr wrap="square" lIns="0" rIns="0" tIns="0" bIns="0" anchor="t">
            <a:spAutoFit/>
          </a:bodyPr>
          <a:lstStyle/>
          <a:p>
            <a:pPr algn="r">
              <a:spcAft>
                <a:spcPts val="600"/>
              </a:spcAft>
            </a:pPr>
            <a:r>
              <a:rPr sz="900" b="0">
                <a:solidFill>
                  <a:srgbClr val="57606A"/>
                </a:solidFill>
                <a:latin typeface="Consolas"/>
              </a:rPr>
              <a:t>15</a:t>
            </a:r>
          </a:p>
        </p:txBody>
      </p:sp>
      <p:sp>
        <p:nvSpPr>
          <p:cNvPr id="9" name="Rounded Rectangle 8"/>
          <p:cNvSpPr/>
          <p:nvPr/>
        </p:nvSpPr>
        <p:spPr>
          <a:xfrm>
            <a:off x="546100" y="1828800"/>
            <a:ext cx="11061700" cy="1524000"/>
          </a:xfrm>
          <a:prstGeom prst="roundRect">
            <a:avLst>
              <a:gd name="adj" fmla="val 6000"/>
            </a:avLst>
          </a:prstGeom>
          <a:solidFill>
            <a:srgbClr val="F5F0FE"/>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3300" y="2133600"/>
            <a:ext cx="10147300" cy="965200"/>
          </a:xfrm>
          <a:prstGeom prst="rect">
            <a:avLst/>
          </a:prstGeom>
          <a:noFill/>
        </p:spPr>
        <p:txBody>
          <a:bodyPr wrap="square" lIns="0" rIns="0" tIns="0" bIns="0" anchor="ctr">
            <a:spAutoFit/>
          </a:bodyPr>
          <a:lstStyle/>
          <a:p>
            <a:pPr algn="l">
              <a:lnSpc>
                <a:spcPct val="130000"/>
              </a:lnSpc>
              <a:spcAft>
                <a:spcPts val="600"/>
              </a:spcAft>
            </a:pPr>
            <a:r>
              <a:rPr sz="1800" b="0">
                <a:solidFill>
                  <a:srgbClr val="1F2328"/>
                </a:solidFill>
                <a:latin typeface="Calibri"/>
              </a:rPr>
              <a:t>Every module must be alpha-tested and functioning correctly before beta testing begins. Beta testing assumes a working solution — not a debugging session with real users in the room.</a:t>
            </a:r>
          </a:p>
        </p:txBody>
      </p:sp>
      <p:sp>
        <p:nvSpPr>
          <p:cNvPr id="11" name="TextBox 10"/>
          <p:cNvSpPr txBox="1"/>
          <p:nvPr/>
        </p:nvSpPr>
        <p:spPr>
          <a:xfrm>
            <a:off x="546100" y="3657600"/>
            <a:ext cx="11061700" cy="508000"/>
          </a:xfrm>
          <a:prstGeom prst="rect">
            <a:avLst/>
          </a:prstGeom>
          <a:noFill/>
        </p:spPr>
        <p:txBody>
          <a:bodyPr wrap="square" lIns="0" rIns="0" tIns="0" bIns="0" anchor="t">
            <a:spAutoFit/>
          </a:bodyPr>
          <a:lstStyle/>
          <a:p>
            <a:pPr algn="l">
              <a:spcAft>
                <a:spcPts val="600"/>
              </a:spcAft>
            </a:pPr>
            <a:r>
              <a:rPr sz="1300" b="1">
                <a:solidFill>
                  <a:srgbClr val="8B5CF6"/>
                </a:solidFill>
                <a:latin typeface="Calibri"/>
              </a:rPr>
              <a:t>💬 Swap tables with a partner</a:t>
            </a:r>
          </a:p>
        </p:txBody>
      </p:sp>
      <p:sp>
        <p:nvSpPr>
          <p:cNvPr id="12" name="TextBox 11"/>
          <p:cNvSpPr txBox="1"/>
          <p:nvPr/>
        </p:nvSpPr>
        <p:spPr>
          <a:xfrm>
            <a:off x="546100" y="4089400"/>
            <a:ext cx="11061700" cy="1397000"/>
          </a:xfrm>
          <a:prstGeom prst="rect">
            <a:avLst/>
          </a:prstGeom>
          <a:noFill/>
        </p:spPr>
        <p:txBody>
          <a:bodyPr wrap="square" lIns="0" rIns="0" tIns="0" bIns="0" anchor="t">
            <a:spAutoFit/>
          </a:bodyPr>
          <a:lstStyle/>
          <a:p>
            <a:pPr algn="l">
              <a:lnSpc>
                <a:spcPct val="125000"/>
              </a:lnSpc>
              <a:spcAft>
                <a:spcPts val="1200"/>
              </a:spcAft>
            </a:pPr>
            <a:r>
              <a:rPr sz="1700" b="0">
                <a:solidFill>
                  <a:srgbClr val="1F2328"/>
                </a:solidFill>
                <a:latin typeface="Calibri"/>
              </a:rPr>
              <a:t>Is every column in their table filled in with real evidence — including the ones that passed?</a:t>
            </a:r>
          </a:p>
          <a:p>
            <a:pPr algn="l">
              <a:lnSpc>
                <a:spcPct val="125000"/>
              </a:lnSpc>
              <a:spcAft>
                <a:spcPts val="0"/>
              </a:spcAft>
            </a:pPr>
            <a:r>
              <a:rPr sz="1700" b="0">
                <a:solidFill>
                  <a:srgbClr val="1F2328"/>
                </a:solidFill>
                <a:latin typeface="Calibri"/>
              </a:rPr>
              <a:t>What is one 'valid but unusual' case they have not thought to test yet?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57200" y="254000"/>
            <a:ext cx="1905000" cy="355600"/>
          </a:xfrm>
          <a:prstGeom prst="roundRect">
            <a:avLst>
              <a:gd name="adj" fmla="val 45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4000"/>
            <a:ext cx="1905000" cy="355600"/>
          </a:xfrm>
          <a:prstGeom prst="rect">
            <a:avLst/>
          </a:prstGeom>
          <a:noFill/>
        </p:spPr>
        <p:txBody>
          <a:bodyPr wrap="square" lIns="0" rIns="0" tIns="0" bIns="0" anchor="ctr">
            <a:spAutoFit/>
          </a:bodyPr>
          <a:lstStyle/>
          <a:p>
            <a:pPr algn="ctr">
              <a:spcAft>
                <a:spcPts val="600"/>
              </a:spcAft>
            </a:pPr>
            <a:r>
              <a:rPr sz="1100" b="1">
                <a:solidFill>
                  <a:srgbClr val="FFFFFF"/>
                </a:solidFill>
                <a:latin typeface="Calibri"/>
              </a:rPr>
              <a:t>EXIT TICKET</a:t>
            </a:r>
          </a:p>
        </p:txBody>
      </p:sp>
      <p:sp>
        <p:nvSpPr>
          <p:cNvPr id="4" name="Rounded Rectangle 3"/>
          <p:cNvSpPr/>
          <p:nvPr/>
        </p:nvSpPr>
        <p:spPr>
          <a:xfrm>
            <a:off x="10375900" y="254000"/>
            <a:ext cx="1498600" cy="355600"/>
          </a:xfrm>
          <a:prstGeom prst="roundRect">
            <a:avLst>
              <a:gd name="adj" fmla="val 45000"/>
            </a:avLst>
          </a:prstGeom>
          <a:solidFill>
            <a:srgbClr val="E9FBF3"/>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75900" y="254000"/>
            <a:ext cx="1498600" cy="355600"/>
          </a:xfrm>
          <a:prstGeom prst="rect">
            <a:avLst/>
          </a:prstGeom>
          <a:noFill/>
        </p:spPr>
        <p:txBody>
          <a:bodyPr wrap="square" lIns="0" rIns="0" tIns="0" bIns="0" anchor="ctr">
            <a:spAutoFit/>
          </a:bodyPr>
          <a:lstStyle/>
          <a:p>
            <a:pPr algn="ctr">
              <a:spcAft>
                <a:spcPts val="600"/>
              </a:spcAft>
            </a:pPr>
            <a:r>
              <a:rPr sz="1000" b="1">
                <a:solidFill>
                  <a:srgbClr val="10B981"/>
                </a:solidFill>
                <a:latin typeface="Calibri"/>
              </a:rPr>
              <a:t>💻 On devices</a:t>
            </a:r>
          </a:p>
        </p:txBody>
      </p:sp>
      <p:sp>
        <p:nvSpPr>
          <p:cNvPr id="6" name="TextBox 5"/>
          <p:cNvSpPr txBox="1"/>
          <p:nvPr/>
        </p:nvSpPr>
        <p:spPr>
          <a:xfrm>
            <a:off x="546100" y="1003300"/>
            <a:ext cx="10782300" cy="635000"/>
          </a:xfrm>
          <a:prstGeom prst="rect">
            <a:avLst/>
          </a:prstGeom>
          <a:noFill/>
        </p:spPr>
        <p:txBody>
          <a:bodyPr wrap="square" lIns="0" rIns="0" tIns="0" bIns="0" anchor="t">
            <a:spAutoFit/>
          </a:bodyPr>
          <a:lstStyle/>
          <a:p>
            <a:pPr algn="l">
              <a:spcAft>
                <a:spcPts val="600"/>
              </a:spcAft>
            </a:pPr>
            <a:r>
              <a:rPr sz="2700" b="1">
                <a:solidFill>
                  <a:srgbClr val="1F2328"/>
                </a:solidFill>
                <a:latin typeface="Cambria"/>
              </a:rPr>
              <a:t>🚪 Exit Ticket</a:t>
            </a:r>
          </a:p>
        </p:txBody>
      </p:sp>
      <p:sp>
        <p:nvSpPr>
          <p:cNvPr id="7" name="TextBox 6"/>
          <p:cNvSpPr txBox="1"/>
          <p:nvPr/>
        </p:nvSpPr>
        <p:spPr>
          <a:xfrm>
            <a:off x="457200" y="6502400"/>
            <a:ext cx="7315200" cy="266700"/>
          </a:xfrm>
          <a:prstGeom prst="rect">
            <a:avLst/>
          </a:prstGeom>
          <a:noFill/>
        </p:spPr>
        <p:txBody>
          <a:bodyPr wrap="square" lIns="0" rIns="0" tIns="0" bIns="0" anchor="t">
            <a:spAutoFit/>
          </a:bodyPr>
          <a:lstStyle/>
          <a:p>
            <a:pPr algn="l">
              <a:spcAft>
                <a:spcPts val="600"/>
              </a:spcAft>
            </a:pPr>
            <a:r>
              <a:rPr sz="900" b="0">
                <a:solidFill>
                  <a:srgbClr val="57606A"/>
                </a:solidFill>
                <a:latin typeface="Consolas"/>
              </a:rPr>
              <a:t>y12-sd-u4-l12-debug-alpha</a:t>
            </a:r>
          </a:p>
        </p:txBody>
      </p:sp>
      <p:sp>
        <p:nvSpPr>
          <p:cNvPr id="8" name="TextBox 7"/>
          <p:cNvSpPr txBox="1"/>
          <p:nvPr/>
        </p:nvSpPr>
        <p:spPr>
          <a:xfrm>
            <a:off x="11430000" y="6502400"/>
            <a:ext cx="457200" cy="266700"/>
          </a:xfrm>
          <a:prstGeom prst="rect">
            <a:avLst/>
          </a:prstGeom>
          <a:noFill/>
        </p:spPr>
        <p:txBody>
          <a:bodyPr wrap="square" lIns="0" rIns="0" tIns="0" bIns="0" anchor="t">
            <a:spAutoFit/>
          </a:bodyPr>
          <a:lstStyle/>
          <a:p>
            <a:pPr algn="r">
              <a:spcAft>
                <a:spcPts val="600"/>
              </a:spcAft>
            </a:pPr>
            <a:r>
              <a:rPr sz="900" b="0">
                <a:solidFill>
                  <a:srgbClr val="57606A"/>
                </a:solidFill>
                <a:latin typeface="Consolas"/>
              </a:rPr>
              <a:t>16</a:t>
            </a:r>
          </a:p>
        </p:txBody>
      </p:sp>
      <p:sp>
        <p:nvSpPr>
          <p:cNvPr id="9" name="Rounded Rectangle 8"/>
          <p:cNvSpPr/>
          <p:nvPr/>
        </p:nvSpPr>
        <p:spPr>
          <a:xfrm>
            <a:off x="546100" y="1752600"/>
            <a:ext cx="11061700" cy="1219200"/>
          </a:xfrm>
          <a:prstGeom prst="roundRect">
            <a:avLst>
              <a:gd name="adj" fmla="val 8000"/>
            </a:avLst>
          </a:prstGeom>
          <a:solidFill>
            <a:srgbClr val="FDECEC"/>
          </a:solidFill>
          <a:ln w="127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1700" y="1752600"/>
            <a:ext cx="10350500" cy="1219200"/>
          </a:xfrm>
          <a:prstGeom prst="rect">
            <a:avLst/>
          </a:prstGeom>
          <a:noFill/>
        </p:spPr>
        <p:txBody>
          <a:bodyPr wrap="square" lIns="0" rIns="0" tIns="0" bIns="0" anchor="ctr">
            <a:spAutoFit/>
          </a:bodyPr>
          <a:lstStyle/>
          <a:p>
            <a:pPr algn="l">
              <a:lnSpc>
                <a:spcPct val="120000"/>
              </a:lnSpc>
              <a:spcAft>
                <a:spcPts val="1000"/>
              </a:spcAft>
            </a:pPr>
            <a:r>
              <a:rPr sz="1700" b="0">
                <a:solidFill>
                  <a:srgbClr val="1F2328"/>
                </a:solidFill>
                <a:latin typeface="Calibri"/>
              </a:rPr>
              <a:t>1.  Why does alpha testing happen before beta testing, not the other way round?</a:t>
            </a:r>
          </a:p>
          <a:p>
            <a:pPr algn="l">
              <a:lnSpc>
                <a:spcPct val="120000"/>
              </a:lnSpc>
              <a:spcAft>
                <a:spcPts val="0"/>
              </a:spcAft>
            </a:pPr>
            <a:r>
              <a:rPr sz="1700" b="0">
                <a:solidFill>
                  <a:srgbClr val="1F2328"/>
                </a:solidFill>
                <a:latin typeface="Calibri"/>
              </a:rPr>
              <a:t>2.  Which module took the most rounds of debugging, and what was the recurring issue?</a:t>
            </a:r>
          </a:p>
        </p:txBody>
      </p:sp>
      <p:sp>
        <p:nvSpPr>
          <p:cNvPr id="11" name="TextBox 10"/>
          <p:cNvSpPr txBox="1"/>
          <p:nvPr/>
        </p:nvSpPr>
        <p:spPr>
          <a:xfrm>
            <a:off x="546100" y="3327400"/>
            <a:ext cx="11061700" cy="330200"/>
          </a:xfrm>
          <a:prstGeom prst="rect">
            <a:avLst/>
          </a:prstGeom>
          <a:noFill/>
        </p:spPr>
        <p:txBody>
          <a:bodyPr wrap="square" lIns="0" rIns="0" tIns="0" bIns="0" anchor="t">
            <a:spAutoFit/>
          </a:bodyPr>
          <a:lstStyle/>
          <a:p>
            <a:pPr algn="l">
              <a:spcAft>
                <a:spcPts val="600"/>
              </a:spcAft>
            </a:pPr>
            <a:r>
              <a:rPr sz="1300" b="1">
                <a:solidFill>
                  <a:srgbClr val="57606A"/>
                </a:solidFill>
                <a:latin typeface="Calibri"/>
              </a:rPr>
              <a:t>Assessment checklist — where you should be</a:t>
            </a:r>
          </a:p>
        </p:txBody>
      </p:sp>
      <p:sp>
        <p:nvSpPr>
          <p:cNvPr id="12" name="Rounded Rectangle 11"/>
          <p:cNvSpPr/>
          <p:nvPr/>
        </p:nvSpPr>
        <p:spPr>
          <a:xfrm>
            <a:off x="546100" y="3759200"/>
            <a:ext cx="11061700" cy="685800"/>
          </a:xfrm>
          <a:prstGeom prst="roundRect">
            <a:avLst>
              <a:gd name="adj" fmla="val 12000"/>
            </a:avLst>
          </a:prstGeom>
          <a:solidFill>
            <a:srgbClr val="EEF1F3"/>
          </a:solidFill>
          <a:ln w="12700">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74700" y="3924300"/>
            <a:ext cx="2006600" cy="355600"/>
          </a:xfrm>
          <a:prstGeom prst="roundRect">
            <a:avLst>
              <a:gd name="adj" fmla="val 45000"/>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4700" y="3924300"/>
            <a:ext cx="2006600" cy="355600"/>
          </a:xfrm>
          <a:prstGeom prst="rect">
            <a:avLst/>
          </a:prstGeom>
          <a:noFill/>
        </p:spPr>
        <p:txBody>
          <a:bodyPr wrap="square" lIns="0" rIns="0" tIns="0" bIns="0" anchor="ctr">
            <a:spAutoFit/>
          </a:bodyPr>
          <a:lstStyle/>
          <a:p>
            <a:pPr algn="ctr">
              <a:spcAft>
                <a:spcPts val="600"/>
              </a:spcAft>
            </a:pPr>
            <a:r>
              <a:rPr sz="1000" b="1">
                <a:solidFill>
                  <a:srgbClr val="FFFFFF"/>
                </a:solidFill>
                <a:latin typeface="Calibri"/>
              </a:rPr>
              <a:t>BY THE END OF TODAY</a:t>
            </a:r>
          </a:p>
        </p:txBody>
      </p:sp>
      <p:sp>
        <p:nvSpPr>
          <p:cNvPr id="15" name="TextBox 14"/>
          <p:cNvSpPr txBox="1"/>
          <p:nvPr/>
        </p:nvSpPr>
        <p:spPr>
          <a:xfrm>
            <a:off x="2984500" y="3759200"/>
            <a:ext cx="8382000" cy="685800"/>
          </a:xfrm>
          <a:prstGeom prst="rect">
            <a:avLst/>
          </a:prstGeom>
          <a:noFill/>
        </p:spPr>
        <p:txBody>
          <a:bodyPr wrap="square" lIns="0" rIns="0" tIns="0" bIns="0" anchor="ctr">
            <a:spAutoFit/>
          </a:bodyPr>
          <a:lstStyle/>
          <a:p>
            <a:pPr algn="l">
              <a:spcAft>
                <a:spcPts val="600"/>
              </a:spcAft>
            </a:pPr>
            <a:r>
              <a:rPr sz="1500" b="0">
                <a:solidFill>
                  <a:srgbClr val="1F2328"/>
                </a:solidFill>
                <a:latin typeface="Calibri"/>
              </a:rPr>
              <a:t>At least one bug found, fixed and logged with the technique that revealed it.</a:t>
            </a:r>
          </a:p>
        </p:txBody>
      </p:sp>
      <p:sp>
        <p:nvSpPr>
          <p:cNvPr id="16" name="Rounded Rectangle 15"/>
          <p:cNvSpPr/>
          <p:nvPr/>
        </p:nvSpPr>
        <p:spPr>
          <a:xfrm>
            <a:off x="546100" y="4546600"/>
            <a:ext cx="11061700" cy="685800"/>
          </a:xfrm>
          <a:prstGeom prst="roundRect">
            <a:avLst>
              <a:gd name="adj" fmla="val 12000"/>
            </a:avLst>
          </a:prstGeom>
          <a:solidFill>
            <a:srgbClr val="EEF1F3"/>
          </a:solidFill>
          <a:ln w="12700">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74700" y="4711700"/>
            <a:ext cx="2006600" cy="355600"/>
          </a:xfrm>
          <a:prstGeom prst="roundRect">
            <a:avLst>
              <a:gd name="adj" fmla="val 45000"/>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4700" y="4711700"/>
            <a:ext cx="2006600" cy="355600"/>
          </a:xfrm>
          <a:prstGeom prst="rect">
            <a:avLst/>
          </a:prstGeom>
          <a:noFill/>
        </p:spPr>
        <p:txBody>
          <a:bodyPr wrap="square" lIns="0" rIns="0" tIns="0" bIns="0" anchor="ctr">
            <a:spAutoFit/>
          </a:bodyPr>
          <a:lstStyle/>
          <a:p>
            <a:pPr algn="ctr">
              <a:spcAft>
                <a:spcPts val="600"/>
              </a:spcAft>
            </a:pPr>
            <a:r>
              <a:rPr sz="1000" b="1">
                <a:solidFill>
                  <a:srgbClr val="FFFFFF"/>
                </a:solidFill>
                <a:latin typeface="Calibri"/>
              </a:rPr>
              <a:t>BY THE END OF THE WEEK</a:t>
            </a:r>
          </a:p>
        </p:txBody>
      </p:sp>
      <p:sp>
        <p:nvSpPr>
          <p:cNvPr id="19" name="TextBox 18"/>
          <p:cNvSpPr txBox="1"/>
          <p:nvPr/>
        </p:nvSpPr>
        <p:spPr>
          <a:xfrm>
            <a:off x="2984500" y="4546600"/>
            <a:ext cx="8382000" cy="685800"/>
          </a:xfrm>
          <a:prstGeom prst="rect">
            <a:avLst/>
          </a:prstGeom>
          <a:noFill/>
        </p:spPr>
        <p:txBody>
          <a:bodyPr wrap="square" lIns="0" rIns="0" tIns="0" bIns="0" anchor="ctr">
            <a:spAutoFit/>
          </a:bodyPr>
          <a:lstStyle/>
          <a:p>
            <a:pPr algn="l">
              <a:spcAft>
                <a:spcPts val="600"/>
              </a:spcAft>
            </a:pPr>
            <a:r>
              <a:rPr sz="1500" b="0">
                <a:solidFill>
                  <a:srgbClr val="1F2328"/>
                </a:solidFill>
                <a:latin typeface="Calibri"/>
              </a:rPr>
              <a:t>A testing table covering every module, with all five columns filled in.</a:t>
            </a:r>
          </a:p>
        </p:txBody>
      </p:sp>
      <p:sp>
        <p:nvSpPr>
          <p:cNvPr id="20" name="Rounded Rectangle 19"/>
          <p:cNvSpPr/>
          <p:nvPr/>
        </p:nvSpPr>
        <p:spPr>
          <a:xfrm>
            <a:off x="546100" y="5334000"/>
            <a:ext cx="11061700" cy="685800"/>
          </a:xfrm>
          <a:prstGeom prst="roundRect">
            <a:avLst>
              <a:gd name="adj" fmla="val 12000"/>
            </a:avLst>
          </a:prstGeom>
          <a:solidFill>
            <a:srgbClr val="EEF1F3"/>
          </a:solidFill>
          <a:ln w="12700">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74700" y="5499100"/>
            <a:ext cx="2006600" cy="355600"/>
          </a:xfrm>
          <a:prstGeom prst="roundRect">
            <a:avLst>
              <a:gd name="adj" fmla="val 45000"/>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4700" y="5499100"/>
            <a:ext cx="2006600" cy="355600"/>
          </a:xfrm>
          <a:prstGeom prst="rect">
            <a:avLst/>
          </a:prstGeom>
          <a:noFill/>
        </p:spPr>
        <p:txBody>
          <a:bodyPr wrap="square" lIns="0" rIns="0" tIns="0" bIns="0" anchor="ctr">
            <a:spAutoFit/>
          </a:bodyPr>
          <a:lstStyle/>
          <a:p>
            <a:pPr algn="ctr">
              <a:spcAft>
                <a:spcPts val="600"/>
              </a:spcAft>
            </a:pPr>
            <a:r>
              <a:rPr sz="1000" b="1">
                <a:solidFill>
                  <a:srgbClr val="FFFFFF"/>
                </a:solidFill>
                <a:latin typeface="Calibri"/>
              </a:rPr>
              <a:t>WEEK 6</a:t>
            </a:r>
          </a:p>
        </p:txBody>
      </p:sp>
      <p:sp>
        <p:nvSpPr>
          <p:cNvPr id="23" name="TextBox 22"/>
          <p:cNvSpPr txBox="1"/>
          <p:nvPr/>
        </p:nvSpPr>
        <p:spPr>
          <a:xfrm>
            <a:off x="2984500" y="5334000"/>
            <a:ext cx="8382000" cy="685800"/>
          </a:xfrm>
          <a:prstGeom prst="rect">
            <a:avLst/>
          </a:prstGeom>
          <a:noFill/>
        </p:spPr>
        <p:txBody>
          <a:bodyPr wrap="square" lIns="0" rIns="0" tIns="0" bIns="0" anchor="ctr">
            <a:spAutoFit/>
          </a:bodyPr>
          <a:lstStyle/>
          <a:p>
            <a:pPr algn="l">
              <a:spcAft>
                <a:spcPts val="600"/>
              </a:spcAft>
            </a:pPr>
            <a:r>
              <a:rPr sz="1500" b="0">
                <a:solidFill>
                  <a:srgbClr val="1F2328"/>
                </a:solidFill>
                <a:latin typeface="Calibri"/>
              </a:rPr>
              <a:t>Beta testing begins — Criterion 9, with at least two real external users.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6502400"/>
            <a:ext cx="7315200" cy="266700"/>
          </a:xfrm>
          <a:prstGeom prst="rect">
            <a:avLst/>
          </a:prstGeom>
          <a:noFill/>
        </p:spPr>
        <p:txBody>
          <a:bodyPr wrap="square" lIns="0" rIns="0" tIns="0" bIns="0" anchor="t">
            <a:spAutoFit/>
          </a:bodyPr>
          <a:lstStyle/>
          <a:p>
            <a:pPr algn="l">
              <a:spcAft>
                <a:spcPts val="600"/>
              </a:spcAft>
            </a:pPr>
            <a:r>
              <a:rPr sz="900" b="0">
                <a:solidFill>
                  <a:srgbClr val="57606A"/>
                </a:solidFill>
                <a:latin typeface="Consolas"/>
              </a:rPr>
              <a:t>y12-sd-u4-l12-debug-alpha</a:t>
            </a:r>
          </a:p>
        </p:txBody>
      </p:sp>
      <p:sp>
        <p:nvSpPr>
          <p:cNvPr id="3" name="TextBox 2"/>
          <p:cNvSpPr txBox="1"/>
          <p:nvPr/>
        </p:nvSpPr>
        <p:spPr>
          <a:xfrm>
            <a:off x="11430000" y="6502400"/>
            <a:ext cx="457200" cy="266700"/>
          </a:xfrm>
          <a:prstGeom prst="rect">
            <a:avLst/>
          </a:prstGeom>
          <a:noFill/>
        </p:spPr>
        <p:txBody>
          <a:bodyPr wrap="square" lIns="0" rIns="0" tIns="0" bIns="0" anchor="t">
            <a:spAutoFit/>
          </a:bodyPr>
          <a:lstStyle/>
          <a:p>
            <a:pPr algn="r">
              <a:spcAft>
                <a:spcPts val="600"/>
              </a:spcAft>
            </a:pPr>
            <a:r>
              <a:rPr sz="900" b="0">
                <a:solidFill>
                  <a:srgbClr val="57606A"/>
                </a:solidFill>
                <a:latin typeface="Consolas"/>
              </a:rPr>
              <a:t>17</a:t>
            </a:r>
          </a:p>
        </p:txBody>
      </p:sp>
      <p:sp>
        <p:nvSpPr>
          <p:cNvPr id="4" name="TextBox 3"/>
          <p:cNvSpPr txBox="1"/>
          <p:nvPr/>
        </p:nvSpPr>
        <p:spPr>
          <a:xfrm>
            <a:off x="546100" y="762000"/>
            <a:ext cx="11061700" cy="762000"/>
          </a:xfrm>
          <a:prstGeom prst="rect">
            <a:avLst/>
          </a:prstGeom>
          <a:noFill/>
        </p:spPr>
        <p:txBody>
          <a:bodyPr wrap="square" lIns="0" rIns="0" tIns="0" bIns="0" anchor="t">
            <a:spAutoFit/>
          </a:bodyPr>
          <a:lstStyle/>
          <a:p>
            <a:pPr algn="l">
              <a:spcAft>
                <a:spcPts val="600"/>
              </a:spcAft>
            </a:pPr>
            <a:r>
              <a:rPr sz="3400" b="1">
                <a:solidFill>
                  <a:srgbClr val="1F2328"/>
                </a:solidFill>
                <a:latin typeface="Cambria"/>
              </a:rPr>
              <a:t>Next Steps</a:t>
            </a:r>
          </a:p>
        </p:txBody>
      </p:sp>
      <p:sp>
        <p:nvSpPr>
          <p:cNvPr id="5" name="Rounded Rectangle 4"/>
          <p:cNvSpPr/>
          <p:nvPr/>
        </p:nvSpPr>
        <p:spPr>
          <a:xfrm>
            <a:off x="546100" y="1930400"/>
            <a:ext cx="11061700" cy="1346200"/>
          </a:xfrm>
          <a:prstGeom prst="roundRect">
            <a:avLst>
              <a:gd name="adj" fmla="val 8000"/>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01700" y="2159000"/>
            <a:ext cx="10350500" cy="304800"/>
          </a:xfrm>
          <a:prstGeom prst="rect">
            <a:avLst/>
          </a:prstGeom>
          <a:noFill/>
        </p:spPr>
        <p:txBody>
          <a:bodyPr wrap="square" lIns="0" rIns="0" tIns="0" bIns="0" anchor="t">
            <a:spAutoFit/>
          </a:bodyPr>
          <a:lstStyle/>
          <a:p>
            <a:pPr algn="l">
              <a:spcAft>
                <a:spcPts val="600"/>
              </a:spcAft>
            </a:pPr>
            <a:r>
              <a:rPr sz="1200" b="1">
                <a:solidFill>
                  <a:srgbClr val="FFFFFF"/>
                </a:solidFill>
                <a:latin typeface="Calibri"/>
              </a:rPr>
              <a:t>NEXT LESSON</a:t>
            </a:r>
          </a:p>
        </p:txBody>
      </p:sp>
      <p:sp>
        <p:nvSpPr>
          <p:cNvPr id="7" name="TextBox 6"/>
          <p:cNvSpPr txBox="1"/>
          <p:nvPr/>
        </p:nvSpPr>
        <p:spPr>
          <a:xfrm>
            <a:off x="901700" y="2540000"/>
            <a:ext cx="10350500" cy="584200"/>
          </a:xfrm>
          <a:prstGeom prst="rect">
            <a:avLst/>
          </a:prstGeom>
          <a:noFill/>
        </p:spPr>
        <p:txBody>
          <a:bodyPr wrap="square" lIns="0" rIns="0" tIns="0" bIns="0" anchor="t">
            <a:spAutoFit/>
          </a:bodyPr>
          <a:lstStyle/>
          <a:p>
            <a:pPr algn="l">
              <a:lnSpc>
                <a:spcPct val="120000"/>
              </a:lnSpc>
              <a:spcAft>
                <a:spcPts val="600"/>
              </a:spcAft>
            </a:pPr>
            <a:r>
              <a:rPr sz="1600" b="0">
                <a:solidFill>
                  <a:srgbClr val="FFFFFF"/>
                </a:solidFill>
                <a:latin typeface="Calibri"/>
              </a:rPr>
              <a:t>Beta Testing — strategy, scenarios and conduct, with at least two real external users. Criterion 9 begins.</a:t>
            </a:r>
          </a:p>
        </p:txBody>
      </p:sp>
      <p:sp>
        <p:nvSpPr>
          <p:cNvPr id="8" name="Rounded Rectangle 7"/>
          <p:cNvSpPr/>
          <p:nvPr/>
        </p:nvSpPr>
        <p:spPr>
          <a:xfrm>
            <a:off x="546100" y="3429000"/>
            <a:ext cx="11061700" cy="1346200"/>
          </a:xfrm>
          <a:prstGeom prst="roundRect">
            <a:avLst>
              <a:gd name="adj" fmla="val 8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1700" y="3657600"/>
            <a:ext cx="10350500" cy="304800"/>
          </a:xfrm>
          <a:prstGeom prst="rect">
            <a:avLst/>
          </a:prstGeom>
          <a:noFill/>
        </p:spPr>
        <p:txBody>
          <a:bodyPr wrap="square" lIns="0" rIns="0" tIns="0" bIns="0" anchor="t">
            <a:spAutoFit/>
          </a:bodyPr>
          <a:lstStyle/>
          <a:p>
            <a:pPr algn="l">
              <a:spcAft>
                <a:spcPts val="600"/>
              </a:spcAft>
            </a:pPr>
            <a:r>
              <a:rPr sz="1200" b="1">
                <a:solidFill>
                  <a:srgbClr val="FFFFFF"/>
                </a:solidFill>
                <a:latin typeface="Calibri"/>
              </a:rPr>
              <a:t>BEFORE NEXT LESSON</a:t>
            </a:r>
          </a:p>
        </p:txBody>
      </p:sp>
      <p:sp>
        <p:nvSpPr>
          <p:cNvPr id="10" name="TextBox 9"/>
          <p:cNvSpPr txBox="1"/>
          <p:nvPr/>
        </p:nvSpPr>
        <p:spPr>
          <a:xfrm>
            <a:off x="901700" y="4038600"/>
            <a:ext cx="10350500" cy="584200"/>
          </a:xfrm>
          <a:prstGeom prst="rect">
            <a:avLst/>
          </a:prstGeom>
          <a:noFill/>
        </p:spPr>
        <p:txBody>
          <a:bodyPr wrap="square" lIns="0" rIns="0" tIns="0" bIns="0" anchor="t">
            <a:spAutoFit/>
          </a:bodyPr>
          <a:lstStyle/>
          <a:p>
            <a:pPr algn="l">
              <a:lnSpc>
                <a:spcPct val="120000"/>
              </a:lnSpc>
              <a:spcAft>
                <a:spcPts val="600"/>
              </a:spcAft>
            </a:pPr>
            <a:r>
              <a:rPr sz="1600" b="0">
                <a:solidFill>
                  <a:srgbClr val="FFFFFF"/>
                </a:solidFill>
                <a:latin typeface="Calibri"/>
              </a:rPr>
              <a:t>Finish alpha-testing every remaining module, and start deciding who your beta testers will be — recruiting takes longer than you expect.</a:t>
            </a:r>
          </a:p>
        </p:txBody>
      </p:sp>
      <p:sp>
        <p:nvSpPr>
          <p:cNvPr id="11" name="Rounded Rectangle 10"/>
          <p:cNvSpPr/>
          <p:nvPr/>
        </p:nvSpPr>
        <p:spPr>
          <a:xfrm>
            <a:off x="546100" y="4927600"/>
            <a:ext cx="11061700" cy="1346200"/>
          </a:xfrm>
          <a:prstGeom prst="roundRect">
            <a:avLst>
              <a:gd name="adj" fmla="val 8000"/>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1700" y="5156200"/>
            <a:ext cx="10350500" cy="304800"/>
          </a:xfrm>
          <a:prstGeom prst="rect">
            <a:avLst/>
          </a:prstGeom>
          <a:noFill/>
        </p:spPr>
        <p:txBody>
          <a:bodyPr wrap="square" lIns="0" rIns="0" tIns="0" bIns="0" anchor="t">
            <a:spAutoFit/>
          </a:bodyPr>
          <a:lstStyle/>
          <a:p>
            <a:pPr algn="l">
              <a:spcAft>
                <a:spcPts val="600"/>
              </a:spcAft>
            </a:pPr>
            <a:r>
              <a:rPr sz="1200" b="1">
                <a:solidFill>
                  <a:srgbClr val="FFFFFF"/>
                </a:solidFill>
                <a:latin typeface="Calibri"/>
              </a:rPr>
              <a:t>NEED HELP?</a:t>
            </a:r>
          </a:p>
        </p:txBody>
      </p:sp>
      <p:sp>
        <p:nvSpPr>
          <p:cNvPr id="13" name="TextBox 12"/>
          <p:cNvSpPr txBox="1"/>
          <p:nvPr/>
        </p:nvSpPr>
        <p:spPr>
          <a:xfrm>
            <a:off x="901700" y="5537200"/>
            <a:ext cx="10350500" cy="584200"/>
          </a:xfrm>
          <a:prstGeom prst="rect">
            <a:avLst/>
          </a:prstGeom>
          <a:noFill/>
        </p:spPr>
        <p:txBody>
          <a:bodyPr wrap="square" lIns="0" rIns="0" tIns="0" bIns="0" anchor="t">
            <a:spAutoFit/>
          </a:bodyPr>
          <a:lstStyle/>
          <a:p>
            <a:pPr algn="l">
              <a:lnSpc>
                <a:spcPct val="120000"/>
              </a:lnSpc>
              <a:spcAft>
                <a:spcPts val="600"/>
              </a:spcAft>
            </a:pPr>
            <a:r>
              <a:rPr sz="1600" b="0">
                <a:solidFill>
                  <a:srgbClr val="FFFFFF"/>
                </a:solidFill>
                <a:latin typeface="Calibri"/>
              </a:rPr>
              <a:t>Can't find where a bug lives? Move your breakpoints earlier in the flow, not to where the error appears. If a module still fails alpha testing, flag it with me rather than pushing on to beta.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