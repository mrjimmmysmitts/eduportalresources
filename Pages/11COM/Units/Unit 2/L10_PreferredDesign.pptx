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D7.1 · MILESTONE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11 Applied Computing — Unit 2 · AoS1 Innovative Solutions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Choosing Your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Preferred Design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Converging on the one design your group will build — and being ready to justify why in front of the class.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052560" y="461772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1A1F29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0" y="4709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0" y="5349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required today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48495" y="6172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1129284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11292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Good Options, One Choice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 — talk it through at your table.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05740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24028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couldn’t decide between the two — they were both good, just good in different ways."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time you (or your group) had to pick between two genuinely good options — not a right-vs-wrong choice.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3891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tipped it?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727448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a gut feeling, or something you could actually point to and explain?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5349240"/>
            <a:ext cx="146304" cy="146304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257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explain it to someone else?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5596128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had to justify the choice to a stranger, what would you say?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1129284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11292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Quick Recall — Your Criteria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lesson, you wrote the standards you'll judge your solution against. Today you use them to choose.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28600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51560" y="25146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9260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Parts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· time frame · data required · collection method · judgement 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228600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5146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9260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vs Effectiveness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17720" y="35204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resources were used, vs whether the solution actually achieves its purpose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28600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83880" y="251460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29260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&gt; Subjective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83880" y="35204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measurable data whenever you genuinely can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check: does your table agree on the definition of each?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2185416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Today's Objective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22960" y="16002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EA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6002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able to compare my group's design ideas against our evaluation criteria and justify which one we will build.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29184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9184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41448" y="327355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a decision matrix does and why it beats a group vote.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950208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50208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41448" y="39319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score each design idea against our criteria and total the results.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4608576"/>
            <a:ext cx="130759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08576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59152" y="4590288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our preferred design and explain why the runner-up wasn't chosen.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" y="562356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1A1F29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62356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today: your group's preferred design is documented and signed off — Milestone 2 complete.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2089404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20894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42855" y="91440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EAF0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42855" y="9144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Divergence to Convergence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2296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has two very different jobs. Lessons 7–8 were about generating options. Today is about narrowing to one.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228600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F6F8F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DIVERGE  (Lessons 7–8)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9260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as many genuinely different ideas as possible — mock-ups, storyboards, pseudocode, sitemaps.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and variety matter more than polish.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97280" y="443484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44348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group already has 2–4 candidate designs from L7–8.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28600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EA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  (Today)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9260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those ideas against fixed, agreed standards — your evaluation criteria — and select one.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83680" y="3840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decision, not a popularity contest.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443484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44348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for this: the decision matrix (next slide).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rot="5400000">
            <a:off x="5806440" y="3520440"/>
            <a:ext cx="502920" cy="365760"/>
          </a:xfrm>
          <a:prstGeom prst="triangle">
            <a:avLst/>
          </a:prstGeom>
          <a:solidFill>
            <a:srgbClr val="4361E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2089404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20894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42855" y="91440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EAF0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42855" y="9144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Decision Matrix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22960" y="15544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table that turns “we like this one better” into a number your group can defend.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214884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488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0" y="2148840"/>
            <a:ext cx="2331720" cy="502920"/>
          </a:xfrm>
          <a:prstGeom prst="rect">
            <a:avLst/>
          </a:prstGeom>
          <a:solidFill>
            <a:srgbClr val="1A1F29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148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2148840"/>
            <a:ext cx="2331720" cy="502920"/>
          </a:xfrm>
          <a:prstGeom prst="rect">
            <a:avLst/>
          </a:prstGeom>
          <a:solidFill>
            <a:srgbClr val="1A1F29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148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2148840"/>
            <a:ext cx="2331720" cy="502920"/>
          </a:xfrm>
          <a:prstGeom prst="rect">
            <a:avLst/>
          </a:prstGeom>
          <a:solidFill>
            <a:srgbClr val="1A1F29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148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265176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1 score (1–5)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840480" y="2651760"/>
            <a:ext cx="2331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651760"/>
            <a:ext cx="2331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2651760"/>
            <a:ext cx="2331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108960"/>
            <a:ext cx="3017520" cy="457200"/>
          </a:xfrm>
          <a:prstGeom prst="rect">
            <a:avLst/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2 score (1–5)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840480" y="3108960"/>
            <a:ext cx="2331720" cy="457200"/>
          </a:xfrm>
          <a:prstGeom prst="rect">
            <a:avLst/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108960"/>
            <a:ext cx="2331720" cy="457200"/>
          </a:xfrm>
          <a:prstGeom prst="rect">
            <a:avLst/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0" y="3108960"/>
            <a:ext cx="2331720" cy="457200"/>
          </a:xfrm>
          <a:prstGeom prst="rect">
            <a:avLst/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356616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3566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3 score (1–5)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840480" y="3566160"/>
            <a:ext cx="2331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566160"/>
            <a:ext cx="2331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3566160"/>
            <a:ext cx="2331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4023360"/>
            <a:ext cx="3017520" cy="457200"/>
          </a:xfrm>
          <a:prstGeom prst="rect">
            <a:avLst/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023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4 score (1–5)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840480" y="4023360"/>
            <a:ext cx="2331720" cy="457200"/>
          </a:xfrm>
          <a:prstGeom prst="rect">
            <a:avLst/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4023360"/>
            <a:ext cx="2331720" cy="457200"/>
          </a:xfrm>
          <a:prstGeom prst="rect">
            <a:avLst/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03920" y="4023360"/>
            <a:ext cx="2331720" cy="457200"/>
          </a:xfrm>
          <a:prstGeom prst="rect">
            <a:avLst/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" y="448056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4480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840480" y="4480560"/>
            <a:ext cx="2331720" cy="457200"/>
          </a:xfrm>
          <a:prstGeom prst="rect">
            <a:avLst/>
          </a:prstGeom>
          <a:solidFill>
            <a:srgbClr val="EAF0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0" y="4480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172200" y="4480560"/>
            <a:ext cx="2331720" cy="457200"/>
          </a:xfrm>
          <a:prstGeom prst="rect">
            <a:avLst/>
          </a:prstGeom>
          <a:solidFill>
            <a:srgbClr val="EAF0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4480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503920" y="4480560"/>
            <a:ext cx="2331720" cy="457200"/>
          </a:xfrm>
          <a:prstGeom prst="rect">
            <a:avLst/>
          </a:prstGeom>
          <a:solidFill>
            <a:srgbClr val="EAF0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4480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22960" y="48920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design against every criterion, then total each column. The highest total is your evidence-based front-runner — not the final word.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2089404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20894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Worked Example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habit-tracker app concepts, scored against one criterion.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1031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10312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streak feature increases daily active users by 15% within 3 months, verified against analytics logs.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51206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5661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35204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 — Streak Counter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42519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visible counter with a badge. Direct, cheap to build, easy to log.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1560" y="525780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257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3337560"/>
            <a:ext cx="51206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5661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5204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B — Social Leaderboard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2519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users' streaks with friends. High novelty, harder to build, adds a privacy concern.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525780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5257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2089404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20894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42855" y="91440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EAF0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42855" y="9144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914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When the Matrix Doesn't Settle It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22960" y="15544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totals happen. The matrix is evidence for a group discussion, not a substitute for one.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23317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2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2697480"/>
            <a:ext cx="320040" cy="32004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24414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weighting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600200" y="28346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criteria equally important — or should one (e.g. feasibility) count more given your timeline?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36118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2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39776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372160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the scores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600200" y="41148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everyone score against the same evidence, or did opinions creep in unchecked?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48920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2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51560" y="52578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1600200" y="500176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dissent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600200" y="539496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group still disagrees, note it. A documented, reasoned decision beats a silent one.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1513332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1513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BREAK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60-Second Stretch: Pitch It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for this 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221284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the person next to you (any table, any group).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06324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08152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 seconds, pitch your group's current front-runner design — no notes.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395020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Listener: was the reason a score, or a feeling? Tell them honestly.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80060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81888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Swap. Sit down once both have pitched.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1513332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1513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 Your Workbook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L10_PreferredDesign_workbook.html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3317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2587752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74520" y="24688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Design Options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74520" y="286207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group's 2–4 candidate designs from Lessons 7–8.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36118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386791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74520" y="374904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Decision Matrix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874520" y="414223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design against your L9 criteria and total each.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48920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1560" y="514807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5148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874520" y="50292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Your Preferred Design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874520" y="542239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choice — and why the runner-up wasn't picked.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1513332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1513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Card — List &amp; Score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822960" y="173736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95728" y="1755648"/>
            <a:ext cx="384048" cy="384048"/>
          </a:xfrm>
          <a:prstGeom prst="ellipse">
            <a:avLst/>
          </a:prstGeom>
          <a:solidFill>
            <a:srgbClr val="1A1F29"/>
          </a:solidFill>
          <a:ln/>
        </p:spPr>
      </p:sp>
      <p:sp>
        <p:nvSpPr>
          <p:cNvPr id="14" name="Text 12"/>
          <p:cNvSpPr/>
          <p:nvPr/>
        </p:nvSpPr>
        <p:spPr>
          <a:xfrm>
            <a:off x="2395728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98648" y="1719072"/>
            <a:ext cx="7936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Lesson 7–8 mock-ups, storyboards, pseudocode or sitemaps.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251460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146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95728" y="2532888"/>
            <a:ext cx="384048" cy="384048"/>
          </a:xfrm>
          <a:prstGeom prst="ellipse">
            <a:avLst/>
          </a:prstGeom>
          <a:solidFill>
            <a:srgbClr val="1A1F29"/>
          </a:solidFill>
          <a:ln/>
        </p:spPr>
      </p:sp>
      <p:sp>
        <p:nvSpPr>
          <p:cNvPr id="19" name="Text 17"/>
          <p:cNvSpPr/>
          <p:nvPr/>
        </p:nvSpPr>
        <p:spPr>
          <a:xfrm>
            <a:off x="2395728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98648" y="2496312"/>
            <a:ext cx="7936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each candidate design's name and a one-line description in the workbook.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329184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9184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95728" y="3310128"/>
            <a:ext cx="384048" cy="384048"/>
          </a:xfrm>
          <a:prstGeom prst="ellipse">
            <a:avLst/>
          </a:prstGeom>
          <a:solidFill>
            <a:srgbClr val="1A1F29"/>
          </a:solidFill>
          <a:ln/>
        </p:spPr>
      </p:sp>
      <p:sp>
        <p:nvSpPr>
          <p:cNvPr id="24" name="Text 22"/>
          <p:cNvSpPr/>
          <p:nvPr/>
        </p:nvSpPr>
        <p:spPr>
          <a:xfrm>
            <a:off x="2395728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98648" y="3273552"/>
            <a:ext cx="7936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design against every criterion from your L9 criteria table (1–5).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406908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06908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95728" y="4087368"/>
            <a:ext cx="384048" cy="384048"/>
          </a:xfrm>
          <a:prstGeom prst="ellipse">
            <a:avLst/>
          </a:prstGeom>
          <a:solidFill>
            <a:srgbClr val="1A1F29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898648" y="4050792"/>
            <a:ext cx="7936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design or remove one if your group's options have changed since L7–8.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960" y="507492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EAF0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50749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that scores lower isn't a failure — it's evidence your criteria are doing their job. Score honestly, even for your favourite.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1513332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1513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14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Card — Converge &amp; Justify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822960" y="173736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95728" y="1755648"/>
            <a:ext cx="384048" cy="384048"/>
          </a:xfrm>
          <a:prstGeom prst="ellipse">
            <a:avLst/>
          </a:prstGeom>
          <a:solidFill>
            <a:srgbClr val="1A1F29"/>
          </a:solidFill>
          <a:ln/>
        </p:spPr>
      </p:sp>
      <p:sp>
        <p:nvSpPr>
          <p:cNvPr id="14" name="Text 12"/>
          <p:cNvSpPr/>
          <p:nvPr/>
        </p:nvSpPr>
        <p:spPr>
          <a:xfrm>
            <a:off x="2395728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98648" y="1719072"/>
            <a:ext cx="7936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highest-scoring design from your matrix.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251460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146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95728" y="2532888"/>
            <a:ext cx="384048" cy="384048"/>
          </a:xfrm>
          <a:prstGeom prst="ellipse">
            <a:avLst/>
          </a:prstGeom>
          <a:solidFill>
            <a:srgbClr val="1A1F29"/>
          </a:solidFill>
          <a:ln/>
        </p:spPr>
      </p:sp>
      <p:sp>
        <p:nvSpPr>
          <p:cNvPr id="19" name="Text 17"/>
          <p:cNvSpPr/>
          <p:nvPr/>
        </p:nvSpPr>
        <p:spPr>
          <a:xfrm>
            <a:off x="2395728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98648" y="2496312"/>
            <a:ext cx="7936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group: does the number match your gut sense? If not, why not?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3291840"/>
            <a:ext cx="130759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91840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13432" y="3310128"/>
            <a:ext cx="384048" cy="384048"/>
          </a:xfrm>
          <a:prstGeom prst="ellipse">
            <a:avLst/>
          </a:prstGeom>
          <a:solidFill>
            <a:srgbClr val="1A1F29"/>
          </a:solidFill>
          <a:ln/>
        </p:spPr>
      </p:sp>
      <p:sp>
        <p:nvSpPr>
          <p:cNvPr id="24" name="Text 22"/>
          <p:cNvSpPr/>
          <p:nvPr/>
        </p:nvSpPr>
        <p:spPr>
          <a:xfrm>
            <a:off x="2313432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16352" y="3273552"/>
            <a:ext cx="8019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justification — link the decision back to specific scores, not vibes.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4069080"/>
            <a:ext cx="130759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069080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13432" y="4087368"/>
            <a:ext cx="384048" cy="384048"/>
          </a:xfrm>
          <a:prstGeom prst="ellipse">
            <a:avLst/>
          </a:prstGeom>
          <a:solidFill>
            <a:srgbClr val="1A1F29"/>
          </a:solidFill>
          <a:ln/>
        </p:spPr>
      </p:sp>
      <p:sp>
        <p:nvSpPr>
          <p:cNvPr id="29" name="Text 27"/>
          <p:cNvSpPr/>
          <p:nvPr/>
        </p:nvSpPr>
        <p:spPr>
          <a:xfrm>
            <a:off x="2313432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816352" y="4050792"/>
            <a:ext cx="8019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writing, why the runner-up design wasn't chosen.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960" y="507492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6F8FB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50749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this is complete, flag your group as ready for sign-off — see your teacher for Milestone 2 approval.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14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Peer Feedback — Brief Pitch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gets 60 seconds to present their preferred design to a neighbouring group.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2194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423160"/>
            <a:ext cx="274320" cy="2743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3774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group (60s)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3255264"/>
            <a:ext cx="128016" cy="128016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154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preferred design.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51560" y="3849624"/>
            <a:ext cx="128016" cy="128016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3749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its top score and against which criterion.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4443984"/>
            <a:ext cx="128016" cy="128016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43434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reason the runner-up lost out.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7920" y="21945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4231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3774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group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325526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154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honest question.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46520" y="384962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3749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your group have scored it the same way?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60120" y="6355080"/>
            <a:ext cx="2185416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6355080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SIGN-OFF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Milestone 2 Checklist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— confirm every item before your teacher signs off.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2148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A1F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1031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design is named and documented in the workbook.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2770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A1F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72491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 is complete — every design scored against every criterion.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22960" y="339242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A1F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346704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justification links the decision to specific scores.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0142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A1F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968496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 design and why it wasn't chosen is explained.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46360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A1F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59028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member can explain the decision, not just one person.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22960" y="54864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A1F29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4864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checked → call your teacher over for Milestone 2 sign-off before the bell.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1513332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1513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14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 — complete Section 5 from memory. No looking back.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14884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4884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5328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decision matrix, and what problem does it solve?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29184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9184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6758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things your group should do if two designs score almost the same.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4434840"/>
            <a:ext cx="130759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34840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8188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one sentence, why your group's preferred design was chosen.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22960" y="557784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D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5778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decision matrix and justification are now Milestone 2 evidence — keep them, you'll need them for testing and evaluation later.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y11-ac-u2-l10-preferred-design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91295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635508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63550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42855" y="50292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1727" y="6035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362895" y="5029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Looking Ahead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22960" y="1600200"/>
            <a:ext cx="10515600" cy="1280160"/>
          </a:xfrm>
          <a:prstGeom prst="roundRect">
            <a:avLst>
              <a:gd name="adj" fmla="val 5714"/>
            </a:avLst>
          </a:prstGeom>
          <a:solidFill>
            <a:srgbClr val="EA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783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LESSON — PLANNING THE 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1488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digital systems and tools your group will use to build your preferred design, and re-confirming task delegation for the development phase.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PREFERRED DESIGN IS NOW LOCKED 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146304" cy="146304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4747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from L11 onward builds this design — not the runner-up.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146304" cy="146304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0690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decision matrix becomes part of your evidence for Outcome 1.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146304" cy="146304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6634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changes during the build, document why — don't silently swap designs.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562356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6F8F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62356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none set — but if Milestone 2 sign-off wasn't reached today, finish it before next lesson.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2026-08-05T22:28:11Z</dcterms:created>
  <dcterms:modified xsi:type="dcterms:W3CDTF">2026-08-05T22:28:11Z</dcterms:modified>
</cp:coreProperties>
</file>