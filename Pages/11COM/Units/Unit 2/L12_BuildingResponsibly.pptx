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Double period. This lesson sits deliberately between planning (L11) and building (L13) — it is a gate, not a detour. The framing that works: you are about to start building, and there are decisions you cannot cheaply undo once you have. The data you decide to collect is the main one.</a:t>
            </a:r>
          </a:p>
          <a:p/>
          <a:p>
            <a:r>
              <a:t>Timing: warm ups 10, objective 3, explicit 30, application 35, peer check 8, exit 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it fast — hands up per row. The pattern that emerges every time: students are comfortable with row 1, uneasy about row 2 and hostile to rows 3 and 4. Then turn it round: their own solution is asking somebody for something. The discomfort they just felt is the thing the law is trying to codify.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3 is the pivot into the lesson. Expect vague answers — "just their name" — and push once: what else does it store, even temporarily? Photos? Location? Anything about health, fitness or mood?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Extending tier is the assessable one — the study design key skill is "identify and discuss potential legal and ethical issues affecting the development of an innovative solution", and discussion means a decision, not a paragraph.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out. Give them ninety seconds to find the row that matches their own project, then take three or four groups aloud.</a:t>
            </a:r>
          </a:p>
          <a:p/>
          <a:p>
            <a:r>
              <a:t>The frequent surprise is the Health Records Act: a habit tracker, a fitness app or a wellbeing check-in is health information, and it is held to a higher standard than an email address.</a:t>
            </a:r>
          </a:p>
          <a:p/>
          <a:p>
            <a:r>
              <a:t>The AI Principles are a framework rather than legislation — say so explicitly, because students conflate the two in the exam.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date-of-birth example from the warm up is the cleanest illustration: an app that needs to know you are over 13 needs a yes/no, not a birthday. Ask what changes in their design if they store the answer instead of the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journal column matters for assessment as well as ethics — "document the development of an innovative solution" is a key skill, and a licence register is exactly that documentation.</a:t>
            </a:r>
          </a:p>
          <a:p/>
          <a:p>
            <a:r>
              <a:t>Common student misconception to name directly: "non-commercial" licences. Their project is not commercial, so those are usually fine — but they still have to check rather than assume.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biometrics line lands hardest and is worth pausing on. Several groups every year propose face or fingerprint login because it sounds impressive.</a:t>
            </a:r>
          </a:p>
          <a:p/>
          <a:p>
            <a:r>
              <a:t>On AI: be straightforward that using it is allowed and normal. The point is accountability and disclosure, not prohibition — they must be able to say what it produced and that they checked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Physical, quick, and it seeds the application task — the data they will not hand over is the data they should think hardest about collecting.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Groups work together but each student completes their own workbook — the audit is a group artefact, the reasoning is individual.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with one question: "what breaks if you delete that field?" Groups that cannot answer it have found their first cut.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row is the assessable one. Push back on "we will be careful" — that is not a change. A change is: we removed the date-of-birth field, we swapped the font, we stopped storing location between sessions.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minutes each way, strictly. The "what happens to the data afterwards" question is the one almost nobody has considered, and it is a genuinely good one for a real project too.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room and eyeball the licence register in particular — it is the item most often left empty, and the easiest to fix while the sources are still in their history.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Extending question is the one to read before next lesson — the answers tell you which groups have actually engaged and which have filled in a table.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Numbering note: this is L12 in the 11COM Unit 2 sequence, following L11 Planning the Build. The topic was taken from L11's own closing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4000"/>
            <a:ext cx="54864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y11-ac-u2-l12-building-responsibly</a:t>
            </a:r>
          </a:p>
        </p:txBody>
      </p:sp>
      <p:sp>
        <p:nvSpPr>
          <p:cNvPr id="3" name="TextBox 2"/>
          <p:cNvSpPr txBox="1"/>
          <p:nvPr/>
        </p:nvSpPr>
        <p:spPr>
          <a:xfrm>
            <a:off x="8978900" y="254000"/>
            <a:ext cx="2743200" cy="254000"/>
          </a:xfrm>
          <a:prstGeom prst="rect">
            <a:avLst/>
          </a:prstGeom>
          <a:noFill/>
        </p:spPr>
        <p:txBody>
          <a:bodyPr wrap="square" lIns="0" rIns="0" tIns="0" bIns="0" anchor="t">
            <a:spAutoFit/>
          </a:bodyPr>
          <a:lstStyle/>
          <a:p>
            <a:pPr algn="r">
              <a:spcAft>
                <a:spcPts val="600"/>
              </a:spcAft>
            </a:pPr>
            <a:r>
              <a:rPr sz="1050" b="0">
                <a:solidFill>
                  <a:srgbClr val="57606A"/>
                </a:solidFill>
                <a:latin typeface="DM Mono"/>
              </a:rPr>
              <a:t>Mr Smith</a:t>
            </a:r>
          </a:p>
        </p:txBody>
      </p:sp>
      <p:sp>
        <p:nvSpPr>
          <p:cNvPr id="4" name="TextBox 3"/>
          <p:cNvSpPr txBox="1"/>
          <p:nvPr/>
        </p:nvSpPr>
        <p:spPr>
          <a:xfrm>
            <a:off x="457200" y="1219200"/>
            <a:ext cx="6350000" cy="254000"/>
          </a:xfrm>
          <a:prstGeom prst="rect">
            <a:avLst/>
          </a:prstGeom>
          <a:noFill/>
        </p:spPr>
        <p:txBody>
          <a:bodyPr wrap="square" lIns="0" rIns="0" tIns="0" bIns="0" anchor="t">
            <a:spAutoFit/>
          </a:bodyPr>
          <a:lstStyle/>
          <a:p>
            <a:pPr algn="l">
              <a:spcAft>
                <a:spcPts val="600"/>
              </a:spcAft>
            </a:pPr>
            <a:r>
              <a:rPr sz="1100" b="1">
                <a:solidFill>
                  <a:srgbClr val="4361EE"/>
                </a:solidFill>
                <a:latin typeface="DM Sans"/>
              </a:rPr>
              <a:t>D9.1 · BUILDING RESPONSIBLY</a:t>
            </a:r>
          </a:p>
        </p:txBody>
      </p:sp>
      <p:sp>
        <p:nvSpPr>
          <p:cNvPr id="5" name="TextBox 4"/>
          <p:cNvSpPr txBox="1"/>
          <p:nvPr/>
        </p:nvSpPr>
        <p:spPr>
          <a:xfrm>
            <a:off x="457200" y="1574800"/>
            <a:ext cx="8890000" cy="304800"/>
          </a:xfrm>
          <a:prstGeom prst="rect">
            <a:avLst/>
          </a:prstGeom>
          <a:noFill/>
        </p:spPr>
        <p:txBody>
          <a:bodyPr wrap="square" lIns="0" rIns="0" tIns="0" bIns="0" anchor="t">
            <a:spAutoFit/>
          </a:bodyPr>
          <a:lstStyle/>
          <a:p>
            <a:pPr algn="l">
              <a:spcAft>
                <a:spcPts val="600"/>
              </a:spcAft>
            </a:pPr>
            <a:r>
              <a:rPr sz="1250" b="0">
                <a:solidFill>
                  <a:srgbClr val="57606A"/>
                </a:solidFill>
                <a:latin typeface="DM Sans"/>
              </a:rPr>
              <a:t>Year 11 Applied Computing — Unit 2 · AoS1 Innovative Solutions</a:t>
            </a:r>
          </a:p>
        </p:txBody>
      </p:sp>
      <p:sp>
        <p:nvSpPr>
          <p:cNvPr id="6" name="TextBox 5"/>
          <p:cNvSpPr txBox="1"/>
          <p:nvPr/>
        </p:nvSpPr>
        <p:spPr>
          <a:xfrm>
            <a:off x="457200" y="2133600"/>
            <a:ext cx="9144000" cy="1524000"/>
          </a:xfrm>
          <a:prstGeom prst="rect">
            <a:avLst/>
          </a:prstGeom>
          <a:noFill/>
        </p:spPr>
        <p:txBody>
          <a:bodyPr wrap="square" lIns="0" rIns="0" tIns="0" bIns="0" anchor="t">
            <a:spAutoFit/>
          </a:bodyPr>
          <a:lstStyle/>
          <a:p>
            <a:pPr algn="l">
              <a:lnSpc>
                <a:spcPct val="102000"/>
              </a:lnSpc>
              <a:spcAft>
                <a:spcPts val="0"/>
              </a:spcAft>
            </a:pPr>
            <a:r>
              <a:rPr sz="5200" b="0">
                <a:solidFill>
                  <a:srgbClr val="0D1117"/>
                </a:solidFill>
                <a:latin typeface="DM Serif Display"/>
              </a:rPr>
              <a:t>Building</a:t>
            </a:r>
          </a:p>
          <a:p>
            <a:pPr algn="l">
              <a:lnSpc>
                <a:spcPct val="102000"/>
              </a:lnSpc>
              <a:spcAft>
                <a:spcPts val="0"/>
              </a:spcAft>
            </a:pPr>
            <a:r>
              <a:rPr sz="5200" b="0">
                <a:solidFill>
                  <a:srgbClr val="0D1117"/>
                </a:solidFill>
                <a:latin typeface="DM Serif Display"/>
              </a:rPr>
              <a:t>Responsibly</a:t>
            </a:r>
          </a:p>
        </p:txBody>
      </p:sp>
      <p:sp>
        <p:nvSpPr>
          <p:cNvPr id="7" name="TextBox 6"/>
          <p:cNvSpPr txBox="1"/>
          <p:nvPr/>
        </p:nvSpPr>
        <p:spPr>
          <a:xfrm>
            <a:off x="457200" y="4064000"/>
            <a:ext cx="8890000" cy="1016000"/>
          </a:xfrm>
          <a:prstGeom prst="rect">
            <a:avLst/>
          </a:prstGeom>
          <a:noFill/>
        </p:spPr>
        <p:txBody>
          <a:bodyPr wrap="square" lIns="0" rIns="0" tIns="0" bIns="0" anchor="t">
            <a:spAutoFit/>
          </a:bodyPr>
          <a:lstStyle/>
          <a:p>
            <a:pPr algn="l">
              <a:lnSpc>
                <a:spcPct val="135000"/>
              </a:lnSpc>
              <a:spcAft>
                <a:spcPts val="600"/>
              </a:spcAft>
            </a:pPr>
            <a:r>
              <a:rPr sz="1500" b="0">
                <a:solidFill>
                  <a:srgbClr val="57606A"/>
                </a:solidFill>
                <a:latin typeface="DM Sans"/>
              </a:rPr>
              <a:t>Before you build: the legal and ethical rules that apply to your solution — copyright, privacy, and the data you're allowed to collect and store.</a:t>
            </a:r>
          </a:p>
        </p:txBody>
      </p:sp>
      <p:sp>
        <p:nvSpPr>
          <p:cNvPr id="8" name="Rounded Rectangle 7"/>
          <p:cNvSpPr/>
          <p:nvPr/>
        </p:nvSpPr>
        <p:spPr>
          <a:xfrm>
            <a:off x="457200" y="5384800"/>
            <a:ext cx="3175000" cy="381000"/>
          </a:xfrm>
          <a:prstGeom prst="roundRect">
            <a:avLst>
              <a:gd name="adj" fmla="val 50000"/>
            </a:avLst>
          </a:prstGeom>
          <a:solidFill>
            <a:srgbClr val="FEF3E0"/>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5384800"/>
            <a:ext cx="3175000" cy="381000"/>
          </a:xfrm>
          <a:prstGeom prst="rect">
            <a:avLst/>
          </a:prstGeom>
          <a:noFill/>
        </p:spPr>
        <p:txBody>
          <a:bodyPr wrap="square" lIns="0" rIns="0" tIns="0" bIns="0" anchor="ctr">
            <a:spAutoFit/>
          </a:bodyPr>
          <a:lstStyle/>
          <a:p>
            <a:pPr algn="ctr">
              <a:spcAft>
                <a:spcPts val="600"/>
              </a:spcAft>
            </a:pPr>
            <a:r>
              <a:rPr sz="1000" b="1">
                <a:solidFill>
                  <a:srgbClr val="F59E0B"/>
                </a:solidFill>
                <a:latin typeface="DM Sans"/>
              </a:rPr>
              <a:t>GATE BEFORE THE BUILD</a:t>
            </a:r>
          </a:p>
        </p:txBody>
      </p:sp>
      <p:sp>
        <p:nvSpPr>
          <p:cNvPr id="10" name="TextBox 9"/>
          <p:cNvSpPr txBox="1"/>
          <p:nvPr/>
        </p:nvSpPr>
        <p:spPr>
          <a:xfrm>
            <a:off x="10160000" y="2133600"/>
            <a:ext cx="1562100" cy="381000"/>
          </a:xfrm>
          <a:prstGeom prst="rect">
            <a:avLst/>
          </a:prstGeom>
          <a:noFill/>
        </p:spPr>
        <p:txBody>
          <a:bodyPr wrap="square" lIns="0" rIns="0" tIns="0" bIns="0" anchor="t">
            <a:spAutoFit/>
          </a:bodyPr>
          <a:lstStyle/>
          <a:p>
            <a:pPr algn="r">
              <a:spcAft>
                <a:spcPts val="600"/>
              </a:spcAft>
            </a:pPr>
            <a:r>
              <a:rPr sz="1100" b="1">
                <a:solidFill>
                  <a:srgbClr val="57606A"/>
                </a:solidFill>
                <a:latin typeface="DM Sans"/>
              </a:rPr>
              <a:t>LESSON 12</a:t>
            </a:r>
          </a:p>
        </p:txBody>
      </p:sp>
      <p:sp>
        <p:nvSpPr>
          <p:cNvPr id="11" name="Oval 10"/>
          <p:cNvSpPr/>
          <p:nvPr/>
        </p:nvSpPr>
        <p:spPr>
          <a:xfrm>
            <a:off x="10236200" y="2794000"/>
            <a:ext cx="1485900" cy="1485900"/>
          </a:xfrm>
          <a:prstGeom prst="ellipse">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42600" y="3200400"/>
            <a:ext cx="673100" cy="6731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4000"/>
            <a:ext cx="54864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y11-ac-u2-l12-building-responsibly</a:t>
            </a:r>
          </a:p>
        </p:txBody>
      </p:sp>
      <p:sp>
        <p:nvSpPr>
          <p:cNvPr id="3" name="TextBox 2"/>
          <p:cNvSpPr txBox="1"/>
          <p:nvPr/>
        </p:nvSpPr>
        <p:spPr>
          <a:xfrm>
            <a:off x="8978900" y="254000"/>
            <a:ext cx="2743200" cy="254000"/>
          </a:xfrm>
          <a:prstGeom prst="rect">
            <a:avLst/>
          </a:prstGeom>
          <a:noFill/>
        </p:spPr>
        <p:txBody>
          <a:bodyPr wrap="square" lIns="0" rIns="0" tIns="0" bIns="0" anchor="t">
            <a:spAutoFit/>
          </a:bodyPr>
          <a:lstStyle/>
          <a:p>
            <a:pPr algn="r">
              <a:spcAft>
                <a:spcPts val="600"/>
              </a:spcAft>
            </a:pPr>
            <a:r>
              <a:rPr sz="1050" b="0">
                <a:solidFill>
                  <a:srgbClr val="57606A"/>
                </a:solidFill>
                <a:latin typeface="DM Mono"/>
              </a:rPr>
              <a:t>Mr Smith</a:t>
            </a:r>
          </a:p>
        </p:txBody>
      </p:sp>
      <p:sp>
        <p:nvSpPr>
          <p:cNvPr id="4" name="Rounded Rectangle 3"/>
          <p:cNvSpPr/>
          <p:nvPr/>
        </p:nvSpPr>
        <p:spPr>
          <a:xfrm>
            <a:off x="8750300" y="596900"/>
            <a:ext cx="1397000" cy="304800"/>
          </a:xfrm>
          <a:prstGeom prst="roundRect">
            <a:avLst>
              <a:gd name="adj" fmla="val 50000"/>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50300" y="596900"/>
            <a:ext cx="1397000" cy="304800"/>
          </a:xfrm>
          <a:prstGeom prst="rect">
            <a:avLst/>
          </a:prstGeom>
          <a:noFill/>
        </p:spPr>
        <p:txBody>
          <a:bodyPr wrap="square" lIns="0" rIns="0" tIns="0" bIns="0" anchor="ctr">
            <a:spAutoFit/>
          </a:bodyPr>
          <a:lstStyle/>
          <a:p>
            <a:pPr algn="ctr">
              <a:spcAft>
                <a:spcPts val="600"/>
              </a:spcAft>
            </a:pPr>
            <a:r>
              <a:rPr sz="850" b="1">
                <a:solidFill>
                  <a:srgbClr val="F59E0B"/>
                </a:solidFill>
                <a:latin typeface="DM Sans"/>
              </a:rPr>
              <a:t>WARM UP</a:t>
            </a:r>
          </a:p>
        </p:txBody>
      </p:sp>
      <p:sp>
        <p:nvSpPr>
          <p:cNvPr id="6" name="Rounded Rectangle 5"/>
          <p:cNvSpPr/>
          <p:nvPr/>
        </p:nvSpPr>
        <p:spPr>
          <a:xfrm>
            <a:off x="10261600" y="596900"/>
            <a:ext cx="1460500" cy="304800"/>
          </a:xfrm>
          <a:prstGeom prst="roundRect">
            <a:avLst>
              <a:gd name="adj" fmla="val 50000"/>
            </a:avLst>
          </a:prstGeom>
          <a:solidFill>
            <a:srgbClr val="FFFFFF"/>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88600" y="711200"/>
            <a:ext cx="76200" cy="7620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02900" y="596900"/>
            <a:ext cx="1219200" cy="304800"/>
          </a:xfrm>
          <a:prstGeom prst="rect">
            <a:avLst/>
          </a:prstGeom>
          <a:noFill/>
        </p:spPr>
        <p:txBody>
          <a:bodyPr wrap="square" lIns="0" rIns="0" tIns="0" bIns="0" anchor="ctr">
            <a:spAutoFit/>
          </a:bodyPr>
          <a:lstStyle/>
          <a:p>
            <a:pPr algn="l">
              <a:spcAft>
                <a:spcPts val="600"/>
              </a:spcAft>
            </a:pPr>
            <a:r>
              <a:rPr sz="850" b="1">
                <a:solidFill>
                  <a:srgbClr val="EF4444"/>
                </a:solidFill>
                <a:latin typeface="DM Sans"/>
              </a:rPr>
              <a:t>DEVICES OFF</a:t>
            </a:r>
          </a:p>
        </p:txBody>
      </p:sp>
      <p:sp>
        <p:nvSpPr>
          <p:cNvPr id="9" name="TextBox 8"/>
          <p:cNvSpPr txBox="1"/>
          <p:nvPr/>
        </p:nvSpPr>
        <p:spPr>
          <a:xfrm>
            <a:off x="457200" y="1371600"/>
            <a:ext cx="11264900" cy="508000"/>
          </a:xfrm>
          <a:prstGeom prst="rect">
            <a:avLst/>
          </a:prstGeom>
          <a:noFill/>
        </p:spPr>
        <p:txBody>
          <a:bodyPr wrap="square" lIns="0" rIns="0" tIns="0" bIns="0" anchor="t">
            <a:spAutoFit/>
          </a:bodyPr>
          <a:lstStyle/>
          <a:p>
            <a:pPr algn="l">
              <a:spcAft>
                <a:spcPts val="600"/>
              </a:spcAft>
            </a:pPr>
            <a:r>
              <a:rPr sz="2900" b="0">
                <a:solidFill>
                  <a:srgbClr val="0D1117"/>
                </a:solidFill>
                <a:latin typeface="DM Serif Display"/>
              </a:rPr>
              <a:t>Would You Hand It Over?</a:t>
            </a:r>
          </a:p>
        </p:txBody>
      </p:sp>
      <p:sp>
        <p:nvSpPr>
          <p:cNvPr id="10" name="TextBox 9"/>
          <p:cNvSpPr txBox="1"/>
          <p:nvPr/>
        </p:nvSpPr>
        <p:spPr>
          <a:xfrm>
            <a:off x="457200" y="6426200"/>
            <a:ext cx="4572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1</a:t>
            </a:r>
          </a:p>
        </p:txBody>
      </p:sp>
      <p:sp>
        <p:nvSpPr>
          <p:cNvPr id="11" name="TextBox 10"/>
          <p:cNvSpPr txBox="1"/>
          <p:nvPr/>
        </p:nvSpPr>
        <p:spPr>
          <a:xfrm>
            <a:off x="457200" y="1981200"/>
            <a:ext cx="11264900" cy="304800"/>
          </a:xfrm>
          <a:prstGeom prst="rect">
            <a:avLst/>
          </a:prstGeom>
          <a:noFill/>
        </p:spPr>
        <p:txBody>
          <a:bodyPr wrap="square" lIns="0" rIns="0" tIns="0" bIns="0" anchor="t">
            <a:spAutoFit/>
          </a:bodyPr>
          <a:lstStyle/>
          <a:p>
            <a:pPr algn="l">
              <a:spcAft>
                <a:spcPts val="600"/>
              </a:spcAft>
            </a:pPr>
            <a:r>
              <a:rPr sz="1300" b="0">
                <a:solidFill>
                  <a:srgbClr val="57606A"/>
                </a:solidFill>
                <a:latin typeface="DM Sans"/>
              </a:rPr>
              <a:t>Devices off — discuss as a table.</a:t>
            </a:r>
          </a:p>
        </p:txBody>
      </p:sp>
      <p:graphicFrame>
        <p:nvGraphicFramePr>
          <p:cNvPr id="12" name="Table 11"/>
          <p:cNvGraphicFramePr>
            <a:graphicFrameLocks noGrp="1"/>
          </p:cNvGraphicFramePr>
          <p:nvPr/>
        </p:nvGraphicFramePr>
        <p:xfrm>
          <a:off x="457200" y="2413000"/>
          <a:ext cx="11264900" cy="2667000"/>
        </p:xfrm>
        <a:graphic>
          <a:graphicData uri="http://schemas.openxmlformats.org/drawingml/2006/table">
            <a:tbl>
              <a:tblPr firstRow="1" bandRow="1">
                <a:tableStyleId>{5C22544A-7EE6-4342-B048-85BDC9FD1C3A}</a:tableStyleId>
              </a:tblPr>
              <a:tblGrid>
                <a:gridCol w="8128000"/>
                <a:gridCol w="3136900"/>
              </a:tblGrid>
              <a:tr h="533400">
                <a:tc>
                  <a:txBody>
                    <a:bodyPr wrap="square"/>
                    <a:lstStyle/>
                    <a:p>
                      <a:r>
                        <a:rPr sz="1300" b="1">
                          <a:solidFill>
                            <a:srgbClr val="FFFFFF"/>
                          </a:solidFill>
                          <a:latin typeface="DM Sans"/>
                        </a:rPr>
                        <a:t>An app asks you for…</a:t>
                      </a:r>
                    </a:p>
                  </a:txBody>
                  <a:tcPr marL="114300" marR="114300" marT="63500" marB="63500" anchor="ctr">
                    <a:solidFill>
                      <a:srgbClr val="4361EE"/>
                    </a:solidFill>
                  </a:tcPr>
                </a:tc>
                <a:tc>
                  <a:txBody>
                    <a:bodyPr wrap="square"/>
                    <a:lstStyle/>
                    <a:p>
                      <a:r>
                        <a:rPr sz="1300" b="1">
                          <a:solidFill>
                            <a:srgbClr val="FFFFFF"/>
                          </a:solidFill>
                          <a:latin typeface="DM Sans"/>
                        </a:rPr>
                        <a:t>Would you give it?</a:t>
                      </a:r>
                    </a:p>
                  </a:txBody>
                  <a:tcPr marL="114300" marR="114300" marT="63500" marB="63500" anchor="ctr">
                    <a:solidFill>
                      <a:srgbClr val="4361EE"/>
                    </a:solidFill>
                  </a:tcPr>
                </a:tc>
              </a:tr>
              <a:tr h="533400">
                <a:tc>
                  <a:txBody>
                    <a:bodyPr wrap="square"/>
                    <a:lstStyle/>
                    <a:p>
                      <a:r>
                        <a:rPr sz="1300" b="0">
                          <a:solidFill>
                            <a:srgbClr val="0D1117"/>
                          </a:solidFill>
                          <a:latin typeface="DM Sans"/>
                        </a:rPr>
                        <a:t>Your email address, to log in</a:t>
                      </a:r>
                    </a:p>
                  </a:txBody>
                  <a:tcPr marL="114300" marR="114300" marT="63500" marB="63500" anchor="ctr">
                    <a:solidFill>
                      <a:srgbClr val="FFFFFF"/>
                    </a:solidFill>
                  </a:tcPr>
                </a:tc>
                <a:tc>
                  <a:txBody>
                    <a:bodyPr wrap="square"/>
                    <a:lstStyle/>
                    <a:p>
                      <a:r>
                        <a:rPr sz="1300" b="0">
                          <a:solidFill>
                            <a:srgbClr val="0D1117"/>
                          </a:solidFill>
                          <a:latin typeface="DM Sans"/>
                        </a:rPr>
                        <a:t/>
                      </a:r>
                    </a:p>
                  </a:txBody>
                  <a:tcPr marL="114300" marR="114300" marT="63500" marB="63500" anchor="ctr">
                    <a:solidFill>
                      <a:srgbClr val="FFFFFF"/>
                    </a:solidFill>
                  </a:tcPr>
                </a:tc>
              </a:tr>
              <a:tr h="533400">
                <a:tc>
                  <a:txBody>
                    <a:bodyPr wrap="square"/>
                    <a:lstStyle/>
                    <a:p>
                      <a:r>
                        <a:rPr sz="1300" b="0">
                          <a:solidFill>
                            <a:srgbClr val="0D1117"/>
                          </a:solidFill>
                          <a:latin typeface="DM Sans"/>
                        </a:rPr>
                        <a:t>Your full date of birth, for an app that only needs to know you are over 13</a:t>
                      </a:r>
                    </a:p>
                  </a:txBody>
                  <a:tcPr marL="114300" marR="114300" marT="63500" marB="63500" anchor="ctr">
                    <a:solidFill>
                      <a:srgbClr val="F6F8FA"/>
                    </a:solidFill>
                  </a:tcPr>
                </a:tc>
                <a:tc>
                  <a:txBody>
                    <a:bodyPr wrap="square"/>
                    <a:lstStyle/>
                    <a:p>
                      <a:r>
                        <a:rPr sz="1300" b="0">
                          <a:solidFill>
                            <a:srgbClr val="0D1117"/>
                          </a:solidFill>
                          <a:latin typeface="DM Sans"/>
                        </a:rPr>
                        <a:t/>
                      </a:r>
                    </a:p>
                  </a:txBody>
                  <a:tcPr marL="114300" marR="114300" marT="63500" marB="63500" anchor="ctr">
                    <a:solidFill>
                      <a:srgbClr val="F6F8FA"/>
                    </a:solidFill>
                  </a:tcPr>
                </a:tc>
              </a:tr>
              <a:tr h="533400">
                <a:tc>
                  <a:txBody>
                    <a:bodyPr wrap="square"/>
                    <a:lstStyle/>
                    <a:p>
                      <a:r>
                        <a:rPr sz="1300" b="0">
                          <a:solidFill>
                            <a:srgbClr val="0D1117"/>
                          </a:solidFill>
                          <a:latin typeface="DM Sans"/>
                        </a:rPr>
                        <a:t>Your location, running in the background, for a note-taking app</a:t>
                      </a:r>
                    </a:p>
                  </a:txBody>
                  <a:tcPr marL="114300" marR="114300" marT="63500" marB="63500" anchor="ctr">
                    <a:solidFill>
                      <a:srgbClr val="FFFFFF"/>
                    </a:solidFill>
                  </a:tcPr>
                </a:tc>
                <a:tc>
                  <a:txBody>
                    <a:bodyPr wrap="square"/>
                    <a:lstStyle/>
                    <a:p>
                      <a:r>
                        <a:rPr sz="1300" b="0">
                          <a:solidFill>
                            <a:srgbClr val="0D1117"/>
                          </a:solidFill>
                          <a:latin typeface="DM Sans"/>
                        </a:rPr>
                        <a:t/>
                      </a:r>
                    </a:p>
                  </a:txBody>
                  <a:tcPr marL="114300" marR="114300" marT="63500" marB="63500" anchor="ctr">
                    <a:solidFill>
                      <a:srgbClr val="FFFFFF"/>
                    </a:solidFill>
                  </a:tcPr>
                </a:tc>
              </a:tr>
              <a:tr h="533400">
                <a:tc>
                  <a:txBody>
                    <a:bodyPr wrap="square"/>
                    <a:lstStyle/>
                    <a:p>
                      <a:r>
                        <a:rPr sz="1300" b="0">
                          <a:solidFill>
                            <a:srgbClr val="0D1117"/>
                          </a:solidFill>
                          <a:latin typeface="DM Sans"/>
                        </a:rPr>
                        <a:t>A photo of your face, stored on their server, to unlock the app</a:t>
                      </a:r>
                    </a:p>
                  </a:txBody>
                  <a:tcPr marL="114300" marR="114300" marT="63500" marB="63500" anchor="ctr">
                    <a:solidFill>
                      <a:srgbClr val="F6F8FA"/>
                    </a:solidFill>
                  </a:tcPr>
                </a:tc>
                <a:tc>
                  <a:txBody>
                    <a:bodyPr wrap="square"/>
                    <a:lstStyle/>
                    <a:p>
                      <a:r>
                        <a:rPr sz="1300" b="0">
                          <a:solidFill>
                            <a:srgbClr val="0D1117"/>
                          </a:solidFill>
                          <a:latin typeface="DM Sans"/>
                        </a:rPr>
                        <a:t/>
                      </a:r>
                    </a:p>
                  </a:txBody>
                  <a:tcPr marL="114300" marR="114300" marT="63500" marB="63500" anchor="ctr">
                    <a:solidFill>
                      <a:srgbClr val="F6F8FA"/>
                    </a:solidFill>
                  </a:tcPr>
                </a:tc>
              </a:tr>
            </a:tbl>
          </a:graphicData>
        </a:graphic>
      </p:graphicFrame>
      <p:sp>
        <p:nvSpPr>
          <p:cNvPr id="13" name="TextBox 12"/>
          <p:cNvSpPr txBox="1"/>
          <p:nvPr/>
        </p:nvSpPr>
        <p:spPr>
          <a:xfrm>
            <a:off x="457200" y="5080000"/>
            <a:ext cx="11264900" cy="762000"/>
          </a:xfrm>
          <a:prstGeom prst="rect">
            <a:avLst/>
          </a:prstGeom>
          <a:noFill/>
        </p:spPr>
        <p:txBody>
          <a:bodyPr wrap="square" lIns="0" rIns="0" tIns="0" bIns="0" anchor="t">
            <a:spAutoFit/>
          </a:bodyPr>
          <a:lstStyle/>
          <a:p>
            <a:pPr algn="l">
              <a:lnSpc>
                <a:spcPct val="130000"/>
              </a:lnSpc>
              <a:spcAft>
                <a:spcPts val="600"/>
              </a:spcAft>
            </a:pPr>
            <a:r>
              <a:rPr sz="1500" b="0">
                <a:solidFill>
                  <a:srgbClr val="0D1117"/>
                </a:solidFill>
                <a:latin typeface="DM Sans"/>
              </a:rPr>
              <a:t>Now the harder question: your group is about to build something that collects data from real users. Which row above is closest to what you are planning to ask for?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4000"/>
            <a:ext cx="54864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y11-ac-u2-l12-building-responsibly</a:t>
            </a:r>
          </a:p>
        </p:txBody>
      </p:sp>
      <p:sp>
        <p:nvSpPr>
          <p:cNvPr id="3" name="TextBox 2"/>
          <p:cNvSpPr txBox="1"/>
          <p:nvPr/>
        </p:nvSpPr>
        <p:spPr>
          <a:xfrm>
            <a:off x="8978900" y="254000"/>
            <a:ext cx="2743200" cy="254000"/>
          </a:xfrm>
          <a:prstGeom prst="rect">
            <a:avLst/>
          </a:prstGeom>
          <a:noFill/>
        </p:spPr>
        <p:txBody>
          <a:bodyPr wrap="square" lIns="0" rIns="0" tIns="0" bIns="0" anchor="t">
            <a:spAutoFit/>
          </a:bodyPr>
          <a:lstStyle/>
          <a:p>
            <a:pPr algn="r">
              <a:spcAft>
                <a:spcPts val="600"/>
              </a:spcAft>
            </a:pPr>
            <a:r>
              <a:rPr sz="1050" b="0">
                <a:solidFill>
                  <a:srgbClr val="57606A"/>
                </a:solidFill>
                <a:latin typeface="DM Mono"/>
              </a:rPr>
              <a:t>Mr Smith</a:t>
            </a:r>
          </a:p>
        </p:txBody>
      </p:sp>
      <p:sp>
        <p:nvSpPr>
          <p:cNvPr id="4" name="Rounded Rectangle 3"/>
          <p:cNvSpPr/>
          <p:nvPr/>
        </p:nvSpPr>
        <p:spPr>
          <a:xfrm>
            <a:off x="8750300" y="596900"/>
            <a:ext cx="1397000" cy="304800"/>
          </a:xfrm>
          <a:prstGeom prst="roundRect">
            <a:avLst>
              <a:gd name="adj" fmla="val 50000"/>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50300" y="596900"/>
            <a:ext cx="1397000" cy="304800"/>
          </a:xfrm>
          <a:prstGeom prst="rect">
            <a:avLst/>
          </a:prstGeom>
          <a:noFill/>
        </p:spPr>
        <p:txBody>
          <a:bodyPr wrap="square" lIns="0" rIns="0" tIns="0" bIns="0" anchor="ctr">
            <a:spAutoFit/>
          </a:bodyPr>
          <a:lstStyle/>
          <a:p>
            <a:pPr algn="ctr">
              <a:spcAft>
                <a:spcPts val="600"/>
              </a:spcAft>
            </a:pPr>
            <a:r>
              <a:rPr sz="850" b="1">
                <a:solidFill>
                  <a:srgbClr val="F59E0B"/>
                </a:solidFill>
                <a:latin typeface="DM Sans"/>
              </a:rPr>
              <a:t>WARM UP</a:t>
            </a:r>
          </a:p>
        </p:txBody>
      </p:sp>
      <p:sp>
        <p:nvSpPr>
          <p:cNvPr id="6" name="Rounded Rectangle 5"/>
          <p:cNvSpPr/>
          <p:nvPr/>
        </p:nvSpPr>
        <p:spPr>
          <a:xfrm>
            <a:off x="10261600" y="596900"/>
            <a:ext cx="1460500" cy="304800"/>
          </a:xfrm>
          <a:prstGeom prst="roundRect">
            <a:avLst>
              <a:gd name="adj" fmla="val 50000"/>
            </a:avLst>
          </a:prstGeom>
          <a:solidFill>
            <a:srgbClr val="FFFFFF"/>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88600" y="711200"/>
            <a:ext cx="76200" cy="7620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02900" y="596900"/>
            <a:ext cx="1219200" cy="304800"/>
          </a:xfrm>
          <a:prstGeom prst="rect">
            <a:avLst/>
          </a:prstGeom>
          <a:noFill/>
        </p:spPr>
        <p:txBody>
          <a:bodyPr wrap="square" lIns="0" rIns="0" tIns="0" bIns="0" anchor="ctr">
            <a:spAutoFit/>
          </a:bodyPr>
          <a:lstStyle/>
          <a:p>
            <a:pPr algn="l">
              <a:spcAft>
                <a:spcPts val="600"/>
              </a:spcAft>
            </a:pPr>
            <a:r>
              <a:rPr sz="850" b="1">
                <a:solidFill>
                  <a:srgbClr val="EF4444"/>
                </a:solidFill>
                <a:latin typeface="DM Sans"/>
              </a:rPr>
              <a:t>DEVICES OFF</a:t>
            </a:r>
          </a:p>
        </p:txBody>
      </p:sp>
      <p:sp>
        <p:nvSpPr>
          <p:cNvPr id="9" name="TextBox 8"/>
          <p:cNvSpPr txBox="1"/>
          <p:nvPr/>
        </p:nvSpPr>
        <p:spPr>
          <a:xfrm>
            <a:off x="457200" y="1371600"/>
            <a:ext cx="11264900" cy="508000"/>
          </a:xfrm>
          <a:prstGeom prst="rect">
            <a:avLst/>
          </a:prstGeom>
          <a:noFill/>
        </p:spPr>
        <p:txBody>
          <a:bodyPr wrap="square" lIns="0" rIns="0" tIns="0" bIns="0" anchor="t">
            <a:spAutoFit/>
          </a:bodyPr>
          <a:lstStyle/>
          <a:p>
            <a:pPr algn="l">
              <a:spcAft>
                <a:spcPts val="600"/>
              </a:spcAft>
            </a:pPr>
            <a:r>
              <a:rPr sz="2900" b="0">
                <a:solidFill>
                  <a:srgbClr val="0D1117"/>
                </a:solidFill>
                <a:latin typeface="DM Serif Display"/>
              </a:rPr>
              <a:t>Quick Recall — Your Build Plan</a:t>
            </a:r>
          </a:p>
        </p:txBody>
      </p:sp>
      <p:sp>
        <p:nvSpPr>
          <p:cNvPr id="10" name="TextBox 9"/>
          <p:cNvSpPr txBox="1"/>
          <p:nvPr/>
        </p:nvSpPr>
        <p:spPr>
          <a:xfrm>
            <a:off x="457200" y="6426200"/>
            <a:ext cx="4572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2</a:t>
            </a:r>
          </a:p>
        </p:txBody>
      </p:sp>
      <p:sp>
        <p:nvSpPr>
          <p:cNvPr id="11" name="TextBox 10"/>
          <p:cNvSpPr txBox="1"/>
          <p:nvPr/>
        </p:nvSpPr>
        <p:spPr>
          <a:xfrm>
            <a:off x="457200" y="1981200"/>
            <a:ext cx="11264900" cy="304800"/>
          </a:xfrm>
          <a:prstGeom prst="rect">
            <a:avLst/>
          </a:prstGeom>
          <a:noFill/>
        </p:spPr>
        <p:txBody>
          <a:bodyPr wrap="square" lIns="0" rIns="0" tIns="0" bIns="0" anchor="t">
            <a:spAutoFit/>
          </a:bodyPr>
          <a:lstStyle/>
          <a:p>
            <a:pPr algn="l">
              <a:spcAft>
                <a:spcPts val="600"/>
              </a:spcAft>
            </a:pPr>
            <a:r>
              <a:rPr sz="1300" b="0">
                <a:solidFill>
                  <a:srgbClr val="57606A"/>
                </a:solidFill>
                <a:latin typeface="DM Sans"/>
              </a:rPr>
              <a:t>Devices off — answer from memory, then check with your group.</a:t>
            </a:r>
          </a:p>
        </p:txBody>
      </p:sp>
      <p:sp>
        <p:nvSpPr>
          <p:cNvPr id="12" name="Oval 11"/>
          <p:cNvSpPr/>
          <p:nvPr/>
        </p:nvSpPr>
        <p:spPr>
          <a:xfrm>
            <a:off x="457200" y="2540000"/>
            <a:ext cx="266700" cy="266700"/>
          </a:xfrm>
          <a:prstGeom prst="ellipse">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527300"/>
            <a:ext cx="266700" cy="266700"/>
          </a:xfrm>
          <a:prstGeom prst="rect">
            <a:avLst/>
          </a:prstGeom>
          <a:noFill/>
        </p:spPr>
        <p:txBody>
          <a:bodyPr wrap="square" lIns="0" rIns="0" tIns="0" bIns="0" anchor="ctr">
            <a:spAutoFit/>
          </a:bodyPr>
          <a:lstStyle/>
          <a:p>
            <a:pPr algn="ctr">
              <a:spcAft>
                <a:spcPts val="600"/>
              </a:spcAft>
            </a:pPr>
            <a:r>
              <a:rPr sz="1200" b="1">
                <a:solidFill>
                  <a:srgbClr val="FFFFFF"/>
                </a:solidFill>
                <a:latin typeface="DM Sans"/>
              </a:rPr>
              <a:t>✓</a:t>
            </a:r>
          </a:p>
        </p:txBody>
      </p:sp>
      <p:sp>
        <p:nvSpPr>
          <p:cNvPr id="14" name="TextBox 13"/>
          <p:cNvSpPr txBox="1"/>
          <p:nvPr/>
        </p:nvSpPr>
        <p:spPr>
          <a:xfrm>
            <a:off x="863600" y="2489200"/>
            <a:ext cx="10858500" cy="558800"/>
          </a:xfrm>
          <a:prstGeom prst="rect">
            <a:avLst/>
          </a:prstGeom>
          <a:noFill/>
        </p:spPr>
        <p:txBody>
          <a:bodyPr wrap="square" lIns="0" rIns="0" tIns="0" bIns="0" anchor="t">
            <a:spAutoFit/>
          </a:bodyPr>
          <a:lstStyle/>
          <a:p>
            <a:pPr algn="l">
              <a:lnSpc>
                <a:spcPct val="115000"/>
              </a:lnSpc>
              <a:spcAft>
                <a:spcPts val="600"/>
              </a:spcAft>
            </a:pPr>
            <a:r>
              <a:rPr sz="1550" b="0">
                <a:solidFill>
                  <a:srgbClr val="0D1117"/>
                </a:solidFill>
                <a:latin typeface="DM Sans"/>
              </a:rPr>
              <a:t>Which digital systems did your group commit to last lesson?</a:t>
            </a:r>
          </a:p>
        </p:txBody>
      </p:sp>
      <p:sp>
        <p:nvSpPr>
          <p:cNvPr id="15" name="Oval 14"/>
          <p:cNvSpPr/>
          <p:nvPr/>
        </p:nvSpPr>
        <p:spPr>
          <a:xfrm>
            <a:off x="457200" y="3098800"/>
            <a:ext cx="266700" cy="266700"/>
          </a:xfrm>
          <a:prstGeom prst="ellipse">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086100"/>
            <a:ext cx="266700" cy="266700"/>
          </a:xfrm>
          <a:prstGeom prst="rect">
            <a:avLst/>
          </a:prstGeom>
          <a:noFill/>
        </p:spPr>
        <p:txBody>
          <a:bodyPr wrap="square" lIns="0" rIns="0" tIns="0" bIns="0" anchor="ctr">
            <a:spAutoFit/>
          </a:bodyPr>
          <a:lstStyle/>
          <a:p>
            <a:pPr algn="ctr">
              <a:spcAft>
                <a:spcPts val="600"/>
              </a:spcAft>
            </a:pPr>
            <a:r>
              <a:rPr sz="1200" b="1">
                <a:solidFill>
                  <a:srgbClr val="FFFFFF"/>
                </a:solidFill>
                <a:latin typeface="DM Sans"/>
              </a:rPr>
              <a:t>✓</a:t>
            </a:r>
          </a:p>
        </p:txBody>
      </p:sp>
      <p:sp>
        <p:nvSpPr>
          <p:cNvPr id="17" name="TextBox 16"/>
          <p:cNvSpPr txBox="1"/>
          <p:nvPr/>
        </p:nvSpPr>
        <p:spPr>
          <a:xfrm>
            <a:off x="863600" y="3048000"/>
            <a:ext cx="10858500" cy="558800"/>
          </a:xfrm>
          <a:prstGeom prst="rect">
            <a:avLst/>
          </a:prstGeom>
          <a:noFill/>
        </p:spPr>
        <p:txBody>
          <a:bodyPr wrap="square" lIns="0" rIns="0" tIns="0" bIns="0" anchor="t">
            <a:spAutoFit/>
          </a:bodyPr>
          <a:lstStyle/>
          <a:p>
            <a:pPr algn="l">
              <a:lnSpc>
                <a:spcPct val="115000"/>
              </a:lnSpc>
              <a:spcAft>
                <a:spcPts val="600"/>
              </a:spcAft>
            </a:pPr>
            <a:r>
              <a:rPr sz="1550" b="0">
                <a:solidFill>
                  <a:srgbClr val="0D1117"/>
                </a:solidFill>
                <a:latin typeface="DM Sans"/>
              </a:rPr>
              <a:t>Name one build task from your plan, and who owns it.</a:t>
            </a:r>
          </a:p>
        </p:txBody>
      </p:sp>
      <p:sp>
        <p:nvSpPr>
          <p:cNvPr id="18" name="Oval 17"/>
          <p:cNvSpPr/>
          <p:nvPr/>
        </p:nvSpPr>
        <p:spPr>
          <a:xfrm>
            <a:off x="457200" y="3657600"/>
            <a:ext cx="266700" cy="266700"/>
          </a:xfrm>
          <a:prstGeom prst="ellipse">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644900"/>
            <a:ext cx="266700" cy="266700"/>
          </a:xfrm>
          <a:prstGeom prst="rect">
            <a:avLst/>
          </a:prstGeom>
          <a:noFill/>
        </p:spPr>
        <p:txBody>
          <a:bodyPr wrap="square" lIns="0" rIns="0" tIns="0" bIns="0" anchor="ctr">
            <a:spAutoFit/>
          </a:bodyPr>
          <a:lstStyle/>
          <a:p>
            <a:pPr algn="ctr">
              <a:spcAft>
                <a:spcPts val="600"/>
              </a:spcAft>
            </a:pPr>
            <a:r>
              <a:rPr sz="1200" b="1">
                <a:solidFill>
                  <a:srgbClr val="FFFFFF"/>
                </a:solidFill>
                <a:latin typeface="DM Sans"/>
              </a:rPr>
              <a:t>✓</a:t>
            </a:r>
          </a:p>
        </p:txBody>
      </p:sp>
      <p:sp>
        <p:nvSpPr>
          <p:cNvPr id="20" name="TextBox 19"/>
          <p:cNvSpPr txBox="1"/>
          <p:nvPr/>
        </p:nvSpPr>
        <p:spPr>
          <a:xfrm>
            <a:off x="863600" y="3606800"/>
            <a:ext cx="10858500" cy="558800"/>
          </a:xfrm>
          <a:prstGeom prst="rect">
            <a:avLst/>
          </a:prstGeom>
          <a:noFill/>
        </p:spPr>
        <p:txBody>
          <a:bodyPr wrap="square" lIns="0" rIns="0" tIns="0" bIns="0" anchor="t">
            <a:spAutoFit/>
          </a:bodyPr>
          <a:lstStyle/>
          <a:p>
            <a:pPr algn="l">
              <a:lnSpc>
                <a:spcPct val="115000"/>
              </a:lnSpc>
              <a:spcAft>
                <a:spcPts val="600"/>
              </a:spcAft>
            </a:pPr>
            <a:r>
              <a:rPr sz="1550" b="0">
                <a:solidFill>
                  <a:srgbClr val="0D1117"/>
                </a:solidFill>
                <a:latin typeface="DM Sans"/>
              </a:rPr>
              <a:t>What data does your preferred design need from its users in order to work at all?</a:t>
            </a:r>
          </a:p>
        </p:txBody>
      </p:sp>
      <p:sp>
        <p:nvSpPr>
          <p:cNvPr id="21" name="Rounded Rectangle 20"/>
          <p:cNvSpPr/>
          <p:nvPr/>
        </p:nvSpPr>
        <p:spPr>
          <a:xfrm>
            <a:off x="457200" y="4419600"/>
            <a:ext cx="11264900" cy="1219200"/>
          </a:xfrm>
          <a:prstGeom prst="roundRect">
            <a:avLst>
              <a:gd name="adj" fmla="val 7000"/>
            </a:avLst>
          </a:prstGeom>
          <a:solidFill>
            <a:srgbClr val="F6F8FA"/>
          </a:solidFill>
          <a:ln w="12700">
            <a:solidFill>
              <a:srgbClr val="576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3900" y="4546600"/>
            <a:ext cx="10731500" cy="266700"/>
          </a:xfrm>
          <a:prstGeom prst="rect">
            <a:avLst/>
          </a:prstGeom>
          <a:noFill/>
        </p:spPr>
        <p:txBody>
          <a:bodyPr wrap="square" lIns="0" rIns="0" tIns="0" bIns="0" anchor="t">
            <a:spAutoFit/>
          </a:bodyPr>
          <a:lstStyle/>
          <a:p>
            <a:pPr algn="l">
              <a:spcAft>
                <a:spcPts val="600"/>
              </a:spcAft>
            </a:pPr>
            <a:r>
              <a:rPr sz="1100" b="1">
                <a:solidFill>
                  <a:srgbClr val="57606A"/>
                </a:solidFill>
                <a:latin typeface="DM Sans"/>
              </a:rPr>
              <a:t>THE THIRD ONE IS TODAY</a:t>
            </a:r>
          </a:p>
        </p:txBody>
      </p:sp>
      <p:sp>
        <p:nvSpPr>
          <p:cNvPr id="23" name="TextBox 22"/>
          <p:cNvSpPr txBox="1"/>
          <p:nvPr/>
        </p:nvSpPr>
        <p:spPr>
          <a:xfrm>
            <a:off x="723900" y="4876800"/>
            <a:ext cx="10731500" cy="635000"/>
          </a:xfrm>
          <a:prstGeom prst="rect">
            <a:avLst/>
          </a:prstGeom>
          <a:noFill/>
        </p:spPr>
        <p:txBody>
          <a:bodyPr wrap="square" lIns="0" rIns="0" tIns="0" bIns="0" anchor="t">
            <a:spAutoFit/>
          </a:bodyPr>
          <a:lstStyle/>
          <a:p>
            <a:pPr algn="l">
              <a:lnSpc>
                <a:spcPct val="120000"/>
              </a:lnSpc>
              <a:spcAft>
                <a:spcPts val="700"/>
              </a:spcAft>
            </a:pPr>
            <a:r>
              <a:rPr sz="1450" b="0">
                <a:solidFill>
                  <a:srgbClr val="0D1117"/>
                </a:solidFill>
                <a:latin typeface="DM Sans"/>
              </a:rPr>
              <a:t>Most groups have never written that answer down. Until you do, you cannot say which laws apply to you — and "we did not think about it" is not a defence a real developer gets to use.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4000"/>
            <a:ext cx="54864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y11-ac-u2-l12-building-responsibly</a:t>
            </a:r>
          </a:p>
        </p:txBody>
      </p:sp>
      <p:sp>
        <p:nvSpPr>
          <p:cNvPr id="3" name="TextBox 2"/>
          <p:cNvSpPr txBox="1"/>
          <p:nvPr/>
        </p:nvSpPr>
        <p:spPr>
          <a:xfrm>
            <a:off x="8978900" y="254000"/>
            <a:ext cx="2743200" cy="254000"/>
          </a:xfrm>
          <a:prstGeom prst="rect">
            <a:avLst/>
          </a:prstGeom>
          <a:noFill/>
        </p:spPr>
        <p:txBody>
          <a:bodyPr wrap="square" lIns="0" rIns="0" tIns="0" bIns="0" anchor="t">
            <a:spAutoFit/>
          </a:bodyPr>
          <a:lstStyle/>
          <a:p>
            <a:pPr algn="r">
              <a:spcAft>
                <a:spcPts val="600"/>
              </a:spcAft>
            </a:pPr>
            <a:r>
              <a:rPr sz="1050" b="0">
                <a:solidFill>
                  <a:srgbClr val="57606A"/>
                </a:solidFill>
                <a:latin typeface="DM Mono"/>
              </a:rPr>
              <a:t>Mr Smith</a:t>
            </a:r>
          </a:p>
        </p:txBody>
      </p:sp>
      <p:sp>
        <p:nvSpPr>
          <p:cNvPr id="4" name="Rounded Rectangle 3"/>
          <p:cNvSpPr/>
          <p:nvPr/>
        </p:nvSpPr>
        <p:spPr>
          <a:xfrm>
            <a:off x="8125459" y="596900"/>
            <a:ext cx="2021840" cy="304800"/>
          </a:xfrm>
          <a:prstGeom prst="roundRect">
            <a:avLst>
              <a:gd name="adj" fmla="val 50000"/>
            </a:avLst>
          </a:prstGeom>
          <a:solidFill>
            <a:srgbClr val="FFFFFF"/>
          </a:solidFill>
          <a:ln w="12700">
            <a:solidFill>
              <a:srgbClr val="436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5459" y="596900"/>
            <a:ext cx="2021840" cy="304800"/>
          </a:xfrm>
          <a:prstGeom prst="rect">
            <a:avLst/>
          </a:prstGeom>
          <a:noFill/>
        </p:spPr>
        <p:txBody>
          <a:bodyPr wrap="square" lIns="0" rIns="0" tIns="0" bIns="0" anchor="ctr">
            <a:spAutoFit/>
          </a:bodyPr>
          <a:lstStyle/>
          <a:p>
            <a:pPr algn="ctr">
              <a:spcAft>
                <a:spcPts val="600"/>
              </a:spcAft>
            </a:pPr>
            <a:r>
              <a:rPr sz="850" b="1">
                <a:solidFill>
                  <a:srgbClr val="4361EE"/>
                </a:solidFill>
                <a:latin typeface="DM Sans"/>
              </a:rPr>
              <a:t>LEARNING OBJECTIVE</a:t>
            </a:r>
          </a:p>
        </p:txBody>
      </p:sp>
      <p:sp>
        <p:nvSpPr>
          <p:cNvPr id="6" name="Rounded Rectangle 5"/>
          <p:cNvSpPr/>
          <p:nvPr/>
        </p:nvSpPr>
        <p:spPr>
          <a:xfrm>
            <a:off x="10261600" y="596900"/>
            <a:ext cx="1460500" cy="304800"/>
          </a:xfrm>
          <a:prstGeom prst="roundRect">
            <a:avLst>
              <a:gd name="adj" fmla="val 50000"/>
            </a:avLst>
          </a:prstGeom>
          <a:solidFill>
            <a:srgbClr val="FFFFFF"/>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88600" y="711200"/>
            <a:ext cx="76200" cy="7620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02900" y="596900"/>
            <a:ext cx="1219200" cy="304800"/>
          </a:xfrm>
          <a:prstGeom prst="rect">
            <a:avLst/>
          </a:prstGeom>
          <a:noFill/>
        </p:spPr>
        <p:txBody>
          <a:bodyPr wrap="square" lIns="0" rIns="0" tIns="0" bIns="0" anchor="ctr">
            <a:spAutoFit/>
          </a:bodyPr>
          <a:lstStyle/>
          <a:p>
            <a:pPr algn="l">
              <a:spcAft>
                <a:spcPts val="600"/>
              </a:spcAft>
            </a:pPr>
            <a:r>
              <a:rPr sz="850" b="1">
                <a:solidFill>
                  <a:srgbClr val="EF4444"/>
                </a:solidFill>
                <a:latin typeface="DM Sans"/>
              </a:rPr>
              <a:t>DEVICES OFF</a:t>
            </a:r>
          </a:p>
        </p:txBody>
      </p:sp>
      <p:sp>
        <p:nvSpPr>
          <p:cNvPr id="9" name="TextBox 8"/>
          <p:cNvSpPr txBox="1"/>
          <p:nvPr/>
        </p:nvSpPr>
        <p:spPr>
          <a:xfrm>
            <a:off x="457200" y="1371600"/>
            <a:ext cx="11264900" cy="508000"/>
          </a:xfrm>
          <a:prstGeom prst="rect">
            <a:avLst/>
          </a:prstGeom>
          <a:noFill/>
        </p:spPr>
        <p:txBody>
          <a:bodyPr wrap="square" lIns="0" rIns="0" tIns="0" bIns="0" anchor="t">
            <a:spAutoFit/>
          </a:bodyPr>
          <a:lstStyle/>
          <a:p>
            <a:pPr algn="l">
              <a:spcAft>
                <a:spcPts val="600"/>
              </a:spcAft>
            </a:pPr>
            <a:r>
              <a:rPr sz="2900" b="0">
                <a:solidFill>
                  <a:srgbClr val="0D1117"/>
                </a:solidFill>
                <a:latin typeface="DM Serif Display"/>
              </a:rPr>
              <a:t>Today's Objective</a:t>
            </a:r>
          </a:p>
        </p:txBody>
      </p:sp>
      <p:sp>
        <p:nvSpPr>
          <p:cNvPr id="10" name="TextBox 9"/>
          <p:cNvSpPr txBox="1"/>
          <p:nvPr/>
        </p:nvSpPr>
        <p:spPr>
          <a:xfrm>
            <a:off x="457200" y="6426200"/>
            <a:ext cx="4572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3</a:t>
            </a:r>
          </a:p>
        </p:txBody>
      </p:sp>
      <p:sp>
        <p:nvSpPr>
          <p:cNvPr id="11" name="Rounded Rectangle 10"/>
          <p:cNvSpPr/>
          <p:nvPr/>
        </p:nvSpPr>
        <p:spPr>
          <a:xfrm>
            <a:off x="457200" y="1981200"/>
            <a:ext cx="11264900" cy="838200"/>
          </a:xfrm>
          <a:prstGeom prst="roundRect">
            <a:avLst>
              <a:gd name="adj" fmla="val 9000"/>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1981200"/>
            <a:ext cx="10731500" cy="838200"/>
          </a:xfrm>
          <a:prstGeom prst="rect">
            <a:avLst/>
          </a:prstGeom>
          <a:noFill/>
        </p:spPr>
        <p:txBody>
          <a:bodyPr wrap="square" lIns="0" rIns="0" tIns="0" bIns="0" anchor="ctr">
            <a:spAutoFit/>
          </a:bodyPr>
          <a:lstStyle/>
          <a:p>
            <a:pPr algn="l">
              <a:lnSpc>
                <a:spcPct val="120000"/>
              </a:lnSpc>
              <a:spcAft>
                <a:spcPts val="600"/>
              </a:spcAft>
            </a:pPr>
            <a:r>
              <a:rPr sz="1700" b="1">
                <a:solidFill>
                  <a:srgbClr val="FFFFFF"/>
                </a:solidFill>
                <a:latin typeface="DM Sans"/>
              </a:rPr>
              <a:t>To be able to identify the legal and ethical issues affecting my group's solution, and change the build plan where they apply.</a:t>
            </a:r>
          </a:p>
        </p:txBody>
      </p:sp>
      <p:sp>
        <p:nvSpPr>
          <p:cNvPr id="13" name="TextBox 12"/>
          <p:cNvSpPr txBox="1"/>
          <p:nvPr/>
        </p:nvSpPr>
        <p:spPr>
          <a:xfrm>
            <a:off x="457200" y="3048000"/>
            <a:ext cx="5080000" cy="266700"/>
          </a:xfrm>
          <a:prstGeom prst="rect">
            <a:avLst/>
          </a:prstGeom>
          <a:noFill/>
        </p:spPr>
        <p:txBody>
          <a:bodyPr wrap="square" lIns="0" rIns="0" tIns="0" bIns="0" anchor="t">
            <a:spAutoFit/>
          </a:bodyPr>
          <a:lstStyle/>
          <a:p>
            <a:pPr algn="l">
              <a:spcAft>
                <a:spcPts val="600"/>
              </a:spcAft>
            </a:pPr>
            <a:r>
              <a:rPr sz="1100" b="1">
                <a:solidFill>
                  <a:srgbClr val="57606A"/>
                </a:solidFill>
                <a:latin typeface="DM Sans"/>
              </a:rPr>
              <a:t>SUCCESS CRITERIA</a:t>
            </a:r>
          </a:p>
        </p:txBody>
      </p:sp>
      <p:sp>
        <p:nvSpPr>
          <p:cNvPr id="14" name="Rounded Rectangle 13"/>
          <p:cNvSpPr/>
          <p:nvPr/>
        </p:nvSpPr>
        <p:spPr>
          <a:xfrm>
            <a:off x="457200" y="3403600"/>
            <a:ext cx="11264900" cy="838200"/>
          </a:xfrm>
          <a:prstGeom prst="roundRect">
            <a:avLst>
              <a:gd name="adj" fmla="val 11000"/>
            </a:avLst>
          </a:prstGeom>
          <a:solidFill>
            <a:srgbClr val="F6F8FA"/>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23900" y="3670300"/>
            <a:ext cx="1752600"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900" y="3670300"/>
            <a:ext cx="1752600" cy="304800"/>
          </a:xfrm>
          <a:prstGeom prst="rect">
            <a:avLst/>
          </a:prstGeom>
          <a:noFill/>
        </p:spPr>
        <p:txBody>
          <a:bodyPr wrap="square" lIns="0" rIns="0" tIns="0" bIns="0" anchor="ctr">
            <a:spAutoFit/>
          </a:bodyPr>
          <a:lstStyle/>
          <a:p>
            <a:pPr algn="ctr">
              <a:spcAft>
                <a:spcPts val="600"/>
              </a:spcAft>
            </a:pPr>
            <a:r>
              <a:rPr sz="950" b="1">
                <a:solidFill>
                  <a:srgbClr val="10B981"/>
                </a:solidFill>
                <a:latin typeface="DM Sans"/>
              </a:rPr>
              <a:t>🟢 FOUNDATION</a:t>
            </a:r>
          </a:p>
        </p:txBody>
      </p:sp>
      <p:sp>
        <p:nvSpPr>
          <p:cNvPr id="17" name="TextBox 16"/>
          <p:cNvSpPr txBox="1"/>
          <p:nvPr/>
        </p:nvSpPr>
        <p:spPr>
          <a:xfrm>
            <a:off x="2705100" y="3403600"/>
            <a:ext cx="8763000" cy="838200"/>
          </a:xfrm>
          <a:prstGeom prst="rect">
            <a:avLst/>
          </a:prstGeom>
          <a:noFill/>
        </p:spPr>
        <p:txBody>
          <a:bodyPr wrap="square" lIns="0" rIns="0" tIns="0" bIns="0" anchor="ctr">
            <a:spAutoFit/>
          </a:bodyPr>
          <a:lstStyle/>
          <a:p>
            <a:pPr algn="l">
              <a:lnSpc>
                <a:spcPct val="120000"/>
              </a:lnSpc>
              <a:spcAft>
                <a:spcPts val="600"/>
              </a:spcAft>
            </a:pPr>
            <a:r>
              <a:rPr sz="1500" b="0">
                <a:solidFill>
                  <a:srgbClr val="0D1117"/>
                </a:solidFill>
                <a:latin typeface="DM Sans"/>
              </a:rPr>
              <a:t>I can name the data my solution collects, and which law covers it.</a:t>
            </a:r>
          </a:p>
        </p:txBody>
      </p:sp>
      <p:sp>
        <p:nvSpPr>
          <p:cNvPr id="18" name="Rounded Rectangle 17"/>
          <p:cNvSpPr/>
          <p:nvPr/>
        </p:nvSpPr>
        <p:spPr>
          <a:xfrm>
            <a:off x="457200" y="4368800"/>
            <a:ext cx="11264900" cy="838200"/>
          </a:xfrm>
          <a:prstGeom prst="roundRect">
            <a:avLst>
              <a:gd name="adj" fmla="val 11000"/>
            </a:avLst>
          </a:prstGeom>
          <a:solidFill>
            <a:srgbClr val="F6F8FA"/>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23900" y="4635500"/>
            <a:ext cx="1752600"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4635500"/>
            <a:ext cx="1752600" cy="304800"/>
          </a:xfrm>
          <a:prstGeom prst="rect">
            <a:avLst/>
          </a:prstGeom>
          <a:noFill/>
        </p:spPr>
        <p:txBody>
          <a:bodyPr wrap="square" lIns="0" rIns="0" tIns="0" bIns="0" anchor="ctr">
            <a:spAutoFit/>
          </a:bodyPr>
          <a:lstStyle/>
          <a:p>
            <a:pPr algn="ctr">
              <a:spcAft>
                <a:spcPts val="600"/>
              </a:spcAft>
            </a:pPr>
            <a:r>
              <a:rPr sz="950" b="1">
                <a:solidFill>
                  <a:srgbClr val="F59E0B"/>
                </a:solidFill>
                <a:latin typeface="DM Sans"/>
              </a:rPr>
              <a:t>🟡 DEVELOPING</a:t>
            </a:r>
          </a:p>
        </p:txBody>
      </p:sp>
      <p:sp>
        <p:nvSpPr>
          <p:cNvPr id="21" name="TextBox 20"/>
          <p:cNvSpPr txBox="1"/>
          <p:nvPr/>
        </p:nvSpPr>
        <p:spPr>
          <a:xfrm>
            <a:off x="2705100" y="4368800"/>
            <a:ext cx="8763000" cy="838200"/>
          </a:xfrm>
          <a:prstGeom prst="rect">
            <a:avLst/>
          </a:prstGeom>
          <a:noFill/>
        </p:spPr>
        <p:txBody>
          <a:bodyPr wrap="square" lIns="0" rIns="0" tIns="0" bIns="0" anchor="ctr">
            <a:spAutoFit/>
          </a:bodyPr>
          <a:lstStyle/>
          <a:p>
            <a:pPr algn="l">
              <a:lnSpc>
                <a:spcPct val="120000"/>
              </a:lnSpc>
              <a:spcAft>
                <a:spcPts val="600"/>
              </a:spcAft>
            </a:pPr>
            <a:r>
              <a:rPr sz="1500" b="0">
                <a:solidFill>
                  <a:srgbClr val="0D1117"/>
                </a:solidFill>
                <a:latin typeface="DM Sans"/>
              </a:rPr>
              <a:t>I can identify a legal or ethical issue in my own design and say what we will do about it.</a:t>
            </a:r>
          </a:p>
        </p:txBody>
      </p:sp>
      <p:sp>
        <p:nvSpPr>
          <p:cNvPr id="22" name="Rounded Rectangle 21"/>
          <p:cNvSpPr/>
          <p:nvPr/>
        </p:nvSpPr>
        <p:spPr>
          <a:xfrm>
            <a:off x="457200" y="5334000"/>
            <a:ext cx="11264900" cy="838200"/>
          </a:xfrm>
          <a:prstGeom prst="roundRect">
            <a:avLst>
              <a:gd name="adj" fmla="val 11000"/>
            </a:avLst>
          </a:prstGeom>
          <a:solidFill>
            <a:srgbClr val="F6F8FA"/>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23900" y="5600700"/>
            <a:ext cx="1752600"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900" y="5600700"/>
            <a:ext cx="1752600" cy="304800"/>
          </a:xfrm>
          <a:prstGeom prst="rect">
            <a:avLst/>
          </a:prstGeom>
          <a:noFill/>
        </p:spPr>
        <p:txBody>
          <a:bodyPr wrap="square" lIns="0" rIns="0" tIns="0" bIns="0" anchor="ctr">
            <a:spAutoFit/>
          </a:bodyPr>
          <a:lstStyle/>
          <a:p>
            <a:pPr algn="ctr">
              <a:spcAft>
                <a:spcPts val="600"/>
              </a:spcAft>
            </a:pPr>
            <a:r>
              <a:rPr sz="950" b="1">
                <a:solidFill>
                  <a:srgbClr val="8B5CF6"/>
                </a:solidFill>
                <a:latin typeface="DM Sans"/>
              </a:rPr>
              <a:t>🟣 EXTENDING</a:t>
            </a:r>
          </a:p>
        </p:txBody>
      </p:sp>
      <p:sp>
        <p:nvSpPr>
          <p:cNvPr id="25" name="TextBox 24"/>
          <p:cNvSpPr txBox="1"/>
          <p:nvPr/>
        </p:nvSpPr>
        <p:spPr>
          <a:xfrm>
            <a:off x="2705100" y="5334000"/>
            <a:ext cx="8763000" cy="838200"/>
          </a:xfrm>
          <a:prstGeom prst="rect">
            <a:avLst/>
          </a:prstGeom>
          <a:noFill/>
        </p:spPr>
        <p:txBody>
          <a:bodyPr wrap="square" lIns="0" rIns="0" tIns="0" bIns="0" anchor="ctr">
            <a:spAutoFit/>
          </a:bodyPr>
          <a:lstStyle/>
          <a:p>
            <a:pPr algn="l">
              <a:lnSpc>
                <a:spcPct val="120000"/>
              </a:lnSpc>
              <a:spcAft>
                <a:spcPts val="600"/>
              </a:spcAft>
            </a:pPr>
            <a:r>
              <a:rPr sz="1500" b="0">
                <a:solidFill>
                  <a:srgbClr val="0D1117"/>
                </a:solidFill>
                <a:latin typeface="DM Sans"/>
              </a:rPr>
              <a:t>I can justify a change we made to the build plan on legal or ethical grounds.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4000"/>
            <a:ext cx="54864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y11-ac-u2-l12-building-responsibly</a:t>
            </a:r>
          </a:p>
        </p:txBody>
      </p:sp>
      <p:sp>
        <p:nvSpPr>
          <p:cNvPr id="3" name="TextBox 2"/>
          <p:cNvSpPr txBox="1"/>
          <p:nvPr/>
        </p:nvSpPr>
        <p:spPr>
          <a:xfrm>
            <a:off x="8978900" y="254000"/>
            <a:ext cx="2743200" cy="254000"/>
          </a:xfrm>
          <a:prstGeom prst="rect">
            <a:avLst/>
          </a:prstGeom>
          <a:noFill/>
        </p:spPr>
        <p:txBody>
          <a:bodyPr wrap="square" lIns="0" rIns="0" tIns="0" bIns="0" anchor="t">
            <a:spAutoFit/>
          </a:bodyPr>
          <a:lstStyle/>
          <a:p>
            <a:pPr algn="r">
              <a:spcAft>
                <a:spcPts val="600"/>
              </a:spcAft>
            </a:pPr>
            <a:r>
              <a:rPr sz="1050" b="0">
                <a:solidFill>
                  <a:srgbClr val="57606A"/>
                </a:solidFill>
                <a:latin typeface="DM Mono"/>
              </a:rPr>
              <a:t>Mr Smith</a:t>
            </a:r>
          </a:p>
        </p:txBody>
      </p:sp>
      <p:sp>
        <p:nvSpPr>
          <p:cNvPr id="4" name="Rounded Rectangle 3"/>
          <p:cNvSpPr/>
          <p:nvPr/>
        </p:nvSpPr>
        <p:spPr>
          <a:xfrm>
            <a:off x="8219440" y="596900"/>
            <a:ext cx="1927860" cy="304800"/>
          </a:xfrm>
          <a:prstGeom prst="roundRect">
            <a:avLst>
              <a:gd name="adj" fmla="val 50000"/>
            </a:avLst>
          </a:prstGeom>
          <a:solidFill>
            <a:srgbClr val="FFFFFF"/>
          </a:solidFill>
          <a:ln w="12700">
            <a:solidFill>
              <a:srgbClr val="436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19440" y="596900"/>
            <a:ext cx="1927860" cy="304800"/>
          </a:xfrm>
          <a:prstGeom prst="rect">
            <a:avLst/>
          </a:prstGeom>
          <a:noFill/>
        </p:spPr>
        <p:txBody>
          <a:bodyPr wrap="square" lIns="0" rIns="0" tIns="0" bIns="0" anchor="ctr">
            <a:spAutoFit/>
          </a:bodyPr>
          <a:lstStyle/>
          <a:p>
            <a:pPr algn="ctr">
              <a:spcAft>
                <a:spcPts val="600"/>
              </a:spcAft>
            </a:pPr>
            <a:r>
              <a:rPr sz="850" b="1">
                <a:solidFill>
                  <a:srgbClr val="4361EE"/>
                </a:solidFill>
                <a:latin typeface="DM Sans"/>
              </a:rPr>
              <a:t>EXPLICIT TEACHING</a:t>
            </a:r>
          </a:p>
        </p:txBody>
      </p:sp>
      <p:sp>
        <p:nvSpPr>
          <p:cNvPr id="6" name="Rounded Rectangle 5"/>
          <p:cNvSpPr/>
          <p:nvPr/>
        </p:nvSpPr>
        <p:spPr>
          <a:xfrm>
            <a:off x="10261600" y="596900"/>
            <a:ext cx="1460500" cy="304800"/>
          </a:xfrm>
          <a:prstGeom prst="roundRect">
            <a:avLst>
              <a:gd name="adj" fmla="val 50000"/>
            </a:avLst>
          </a:prstGeom>
          <a:solidFill>
            <a:srgbClr val="FFFFFF"/>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88600" y="711200"/>
            <a:ext cx="76200" cy="7620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02900" y="596900"/>
            <a:ext cx="1219200" cy="304800"/>
          </a:xfrm>
          <a:prstGeom prst="rect">
            <a:avLst/>
          </a:prstGeom>
          <a:noFill/>
        </p:spPr>
        <p:txBody>
          <a:bodyPr wrap="square" lIns="0" rIns="0" tIns="0" bIns="0" anchor="ctr">
            <a:spAutoFit/>
          </a:bodyPr>
          <a:lstStyle/>
          <a:p>
            <a:pPr algn="l">
              <a:spcAft>
                <a:spcPts val="600"/>
              </a:spcAft>
            </a:pPr>
            <a:r>
              <a:rPr sz="850" b="1">
                <a:solidFill>
                  <a:srgbClr val="EF4444"/>
                </a:solidFill>
                <a:latin typeface="DM Sans"/>
              </a:rPr>
              <a:t>DEVICES OFF</a:t>
            </a:r>
          </a:p>
        </p:txBody>
      </p:sp>
      <p:sp>
        <p:nvSpPr>
          <p:cNvPr id="9" name="Rounded Rectangle 8"/>
          <p:cNvSpPr/>
          <p:nvPr/>
        </p:nvSpPr>
        <p:spPr>
          <a:xfrm>
            <a:off x="10172700" y="977900"/>
            <a:ext cx="1549400" cy="304800"/>
          </a:xfrm>
          <a:prstGeom prst="roundRect">
            <a:avLst>
              <a:gd name="adj" fmla="val 50000"/>
            </a:avLst>
          </a:prstGeom>
          <a:solidFill>
            <a:srgbClr val="E8E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72700" y="977900"/>
            <a:ext cx="1549400" cy="304800"/>
          </a:xfrm>
          <a:prstGeom prst="rect">
            <a:avLst/>
          </a:prstGeom>
          <a:noFill/>
        </p:spPr>
        <p:txBody>
          <a:bodyPr wrap="square" lIns="0" rIns="0" tIns="0" bIns="0" anchor="ctr">
            <a:spAutoFit/>
          </a:bodyPr>
          <a:lstStyle/>
          <a:p>
            <a:pPr algn="ctr">
              <a:spcAft>
                <a:spcPts val="600"/>
              </a:spcAft>
            </a:pPr>
            <a:r>
              <a:rPr sz="850" b="1">
                <a:solidFill>
                  <a:srgbClr val="4361EE"/>
                </a:solidFill>
                <a:latin typeface="DM Sans"/>
              </a:rPr>
              <a:t>📋 COPY THIS</a:t>
            </a:r>
          </a:p>
        </p:txBody>
      </p:sp>
      <p:sp>
        <p:nvSpPr>
          <p:cNvPr id="11" name="TextBox 10"/>
          <p:cNvSpPr txBox="1"/>
          <p:nvPr/>
        </p:nvSpPr>
        <p:spPr>
          <a:xfrm>
            <a:off x="457200" y="1371600"/>
            <a:ext cx="11264900" cy="508000"/>
          </a:xfrm>
          <a:prstGeom prst="rect">
            <a:avLst/>
          </a:prstGeom>
          <a:noFill/>
        </p:spPr>
        <p:txBody>
          <a:bodyPr wrap="square" lIns="0" rIns="0" tIns="0" bIns="0" anchor="t">
            <a:spAutoFit/>
          </a:bodyPr>
          <a:lstStyle/>
          <a:p>
            <a:pPr algn="l">
              <a:spcAft>
                <a:spcPts val="600"/>
              </a:spcAft>
            </a:pPr>
            <a:r>
              <a:rPr sz="2900" b="0">
                <a:solidFill>
                  <a:srgbClr val="0D1117"/>
                </a:solidFill>
                <a:latin typeface="DM Serif Display"/>
              </a:rPr>
              <a:t>The Rules That Apply to You</a:t>
            </a:r>
          </a:p>
        </p:txBody>
      </p:sp>
      <p:sp>
        <p:nvSpPr>
          <p:cNvPr id="12" name="TextBox 11"/>
          <p:cNvSpPr txBox="1"/>
          <p:nvPr/>
        </p:nvSpPr>
        <p:spPr>
          <a:xfrm>
            <a:off x="457200" y="6426200"/>
            <a:ext cx="4572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4</a:t>
            </a:r>
          </a:p>
        </p:txBody>
      </p:sp>
      <p:sp>
        <p:nvSpPr>
          <p:cNvPr id="13" name="TextBox 12"/>
          <p:cNvSpPr txBox="1"/>
          <p:nvPr/>
        </p:nvSpPr>
        <p:spPr>
          <a:xfrm>
            <a:off x="457200" y="1981200"/>
            <a:ext cx="11264900" cy="304800"/>
          </a:xfrm>
          <a:prstGeom prst="rect">
            <a:avLst/>
          </a:prstGeom>
          <a:noFill/>
        </p:spPr>
        <p:txBody>
          <a:bodyPr wrap="square" lIns="0" rIns="0" tIns="0" bIns="0" anchor="t">
            <a:spAutoFit/>
          </a:bodyPr>
          <a:lstStyle/>
          <a:p>
            <a:pPr algn="l">
              <a:spcAft>
                <a:spcPts val="600"/>
              </a:spcAft>
            </a:pPr>
            <a:r>
              <a:rPr sz="1450" b="0">
                <a:solidFill>
                  <a:srgbClr val="57606A"/>
                </a:solidFill>
                <a:latin typeface="DM Sans"/>
              </a:rPr>
              <a:t>Five instruments cover almost everything a Unit 2 solution can do.</a:t>
            </a:r>
          </a:p>
        </p:txBody>
      </p:sp>
      <p:graphicFrame>
        <p:nvGraphicFramePr>
          <p:cNvPr id="14" name="Table 13"/>
          <p:cNvGraphicFramePr>
            <a:graphicFrameLocks noGrp="1"/>
          </p:cNvGraphicFramePr>
          <p:nvPr/>
        </p:nvGraphicFramePr>
        <p:xfrm>
          <a:off x="457200" y="2413000"/>
          <a:ext cx="11264900" cy="4114800"/>
        </p:xfrm>
        <a:graphic>
          <a:graphicData uri="http://schemas.openxmlformats.org/drawingml/2006/table">
            <a:tbl>
              <a:tblPr firstRow="1" bandRow="1">
                <a:tableStyleId>{5C22544A-7EE6-4342-B048-85BDC9FD1C3A}</a:tableStyleId>
              </a:tblPr>
              <a:tblGrid>
                <a:gridCol w="2946400"/>
                <a:gridCol w="3810000"/>
                <a:gridCol w="4508500"/>
              </a:tblGrid>
              <a:tr h="685800">
                <a:tc>
                  <a:txBody>
                    <a:bodyPr wrap="square"/>
                    <a:lstStyle/>
                    <a:p>
                      <a:r>
                        <a:rPr sz="1100" b="1">
                          <a:solidFill>
                            <a:srgbClr val="FFFFFF"/>
                          </a:solidFill>
                          <a:latin typeface="DM Sans"/>
                        </a:rPr>
                        <a:t>Instrument</a:t>
                      </a:r>
                    </a:p>
                  </a:txBody>
                  <a:tcPr marL="114300" marR="114300" marT="63500" marB="63500" anchor="ctr">
                    <a:solidFill>
                      <a:srgbClr val="4361EE"/>
                    </a:solidFill>
                  </a:tcPr>
                </a:tc>
                <a:tc>
                  <a:txBody>
                    <a:bodyPr wrap="square"/>
                    <a:lstStyle/>
                    <a:p>
                      <a:r>
                        <a:rPr sz="1100" b="1">
                          <a:solidFill>
                            <a:srgbClr val="FFFFFF"/>
                          </a:solidFill>
                          <a:latin typeface="DM Sans"/>
                        </a:rPr>
                        <a:t>What it governs</a:t>
                      </a:r>
                    </a:p>
                  </a:txBody>
                  <a:tcPr marL="114300" marR="114300" marT="63500" marB="63500" anchor="ctr">
                    <a:solidFill>
                      <a:srgbClr val="4361EE"/>
                    </a:solidFill>
                  </a:tcPr>
                </a:tc>
                <a:tc>
                  <a:txBody>
                    <a:bodyPr wrap="square"/>
                    <a:lstStyle/>
                    <a:p>
                      <a:r>
                        <a:rPr sz="1100" b="1">
                          <a:solidFill>
                            <a:srgbClr val="FFFFFF"/>
                          </a:solidFill>
                          <a:latin typeface="DM Sans"/>
                        </a:rPr>
                        <a:t>When it applies to your project</a:t>
                      </a:r>
                    </a:p>
                  </a:txBody>
                  <a:tcPr marL="114300" marR="114300" marT="63500" marB="63500" anchor="ctr">
                    <a:solidFill>
                      <a:srgbClr val="4361EE"/>
                    </a:solidFill>
                  </a:tcPr>
                </a:tc>
              </a:tr>
              <a:tr h="685800">
                <a:tc>
                  <a:txBody>
                    <a:bodyPr wrap="square"/>
                    <a:lstStyle/>
                    <a:p>
                      <a:r>
                        <a:rPr sz="1100" b="0">
                          <a:solidFill>
                            <a:srgbClr val="0D1117"/>
                          </a:solidFill>
                          <a:latin typeface="DM Sans"/>
                        </a:rPr>
                        <a:t>Privacy Act 1988 (Cwlth)
APP 1, 2, 6</a:t>
                      </a:r>
                    </a:p>
                  </a:txBody>
                  <a:tcPr marL="114300" marR="114300" marT="63500" marB="63500" anchor="ctr">
                    <a:solidFill>
                      <a:srgbClr val="FFFFFF"/>
                    </a:solidFill>
                  </a:tcPr>
                </a:tc>
                <a:tc>
                  <a:txBody>
                    <a:bodyPr wrap="square"/>
                    <a:lstStyle/>
                    <a:p>
                      <a:r>
                        <a:rPr sz="1100" b="0">
                          <a:solidFill>
                            <a:srgbClr val="0D1117"/>
                          </a:solidFill>
                          <a:latin typeface="DM Sans"/>
                        </a:rPr>
                        <a:t>Personal information — anything that identifies a person</a:t>
                      </a:r>
                    </a:p>
                  </a:txBody>
                  <a:tcPr marL="114300" marR="114300" marT="63500" marB="63500" anchor="ctr">
                    <a:solidFill>
                      <a:srgbClr val="FFFFFF"/>
                    </a:solidFill>
                  </a:tcPr>
                </a:tc>
                <a:tc>
                  <a:txBody>
                    <a:bodyPr wrap="square"/>
                    <a:lstStyle/>
                    <a:p>
                      <a:r>
                        <a:rPr sz="1100" b="0">
                          <a:solidFill>
                            <a:srgbClr val="0D1117"/>
                          </a:solidFill>
                          <a:latin typeface="DM Sans"/>
                        </a:rPr>
                        <a:t>You collect names, emails, photos or accounts</a:t>
                      </a:r>
                    </a:p>
                  </a:txBody>
                  <a:tcPr marL="114300" marR="114300" marT="63500" marB="63500" anchor="ctr">
                    <a:solidFill>
                      <a:srgbClr val="FFFFFF"/>
                    </a:solidFill>
                  </a:tcPr>
                </a:tc>
              </a:tr>
              <a:tr h="685800">
                <a:tc>
                  <a:txBody>
                    <a:bodyPr wrap="square"/>
                    <a:lstStyle/>
                    <a:p>
                      <a:r>
                        <a:rPr sz="1100" b="0">
                          <a:solidFill>
                            <a:srgbClr val="0D1117"/>
                          </a:solidFill>
                          <a:latin typeface="DM Sans"/>
                        </a:rPr>
                        <a:t>Privacy and Data Protection Act 2014 (Vic)
IPP 1, 2, 5, 8</a:t>
                      </a:r>
                    </a:p>
                  </a:txBody>
                  <a:tcPr marL="114300" marR="114300" marT="63500" marB="63500" anchor="ctr">
                    <a:solidFill>
                      <a:srgbClr val="F6F8FA"/>
                    </a:solidFill>
                  </a:tcPr>
                </a:tc>
                <a:tc>
                  <a:txBody>
                    <a:bodyPr wrap="square"/>
                    <a:lstStyle/>
                    <a:p>
                      <a:r>
                        <a:rPr sz="1100" b="0">
                          <a:solidFill>
                            <a:srgbClr val="0D1117"/>
                          </a:solidFill>
                          <a:latin typeface="DM Sans"/>
                        </a:rPr>
                        <a:t>Personal information held by Victorian public bodies</a:t>
                      </a:r>
                    </a:p>
                  </a:txBody>
                  <a:tcPr marL="114300" marR="114300" marT="63500" marB="63500" anchor="ctr">
                    <a:solidFill>
                      <a:srgbClr val="F6F8FA"/>
                    </a:solidFill>
                  </a:tcPr>
                </a:tc>
                <a:tc>
                  <a:txBody>
                    <a:bodyPr wrap="square"/>
                    <a:lstStyle/>
                    <a:p>
                      <a:r>
                        <a:rPr sz="1100" b="0">
                          <a:solidFill>
                            <a:srgbClr val="0D1117"/>
                          </a:solidFill>
                          <a:latin typeface="DM Sans"/>
                        </a:rPr>
                        <a:t>Your solution is for a school, council or public service</a:t>
                      </a:r>
                    </a:p>
                  </a:txBody>
                  <a:tcPr marL="114300" marR="114300" marT="63500" marB="63500" anchor="ctr">
                    <a:solidFill>
                      <a:srgbClr val="F6F8FA"/>
                    </a:solidFill>
                  </a:tcPr>
                </a:tc>
              </a:tr>
              <a:tr h="685800">
                <a:tc>
                  <a:txBody>
                    <a:bodyPr wrap="square"/>
                    <a:lstStyle/>
                    <a:p>
                      <a:r>
                        <a:rPr sz="1100" b="0">
                          <a:solidFill>
                            <a:srgbClr val="0D1117"/>
                          </a:solidFill>
                          <a:latin typeface="DM Sans"/>
                        </a:rPr>
                        <a:t>Health Records Act 2001 (Vic)
HPP 1, 2, 5</a:t>
                      </a:r>
                    </a:p>
                  </a:txBody>
                  <a:tcPr marL="114300" marR="114300" marT="63500" marB="63500" anchor="ctr">
                    <a:solidFill>
                      <a:srgbClr val="FFFFFF"/>
                    </a:solidFill>
                  </a:tcPr>
                </a:tc>
                <a:tc>
                  <a:txBody>
                    <a:bodyPr wrap="square"/>
                    <a:lstStyle/>
                    <a:p>
                      <a:r>
                        <a:rPr sz="1100" b="0">
                          <a:solidFill>
                            <a:srgbClr val="0D1117"/>
                          </a:solidFill>
                          <a:latin typeface="DM Sans"/>
                        </a:rPr>
                        <a:t>Health information, which is treated more strictly</a:t>
                      </a:r>
                    </a:p>
                  </a:txBody>
                  <a:tcPr marL="114300" marR="114300" marT="63500" marB="63500" anchor="ctr">
                    <a:solidFill>
                      <a:srgbClr val="FFFFFF"/>
                    </a:solidFill>
                  </a:tcPr>
                </a:tc>
                <a:tc>
                  <a:txBody>
                    <a:bodyPr wrap="square"/>
                    <a:lstStyle/>
                    <a:p>
                      <a:r>
                        <a:rPr sz="1100" b="0">
                          <a:solidFill>
                            <a:srgbClr val="0D1117"/>
                          </a:solidFill>
                          <a:latin typeface="DM Sans"/>
                        </a:rPr>
                        <a:t>Anything on fitness, mood, diet, sleep or medication</a:t>
                      </a:r>
                    </a:p>
                  </a:txBody>
                  <a:tcPr marL="114300" marR="114300" marT="63500" marB="63500" anchor="ctr">
                    <a:solidFill>
                      <a:srgbClr val="FFFFFF"/>
                    </a:solidFill>
                  </a:tcPr>
                </a:tc>
              </a:tr>
              <a:tr h="685800">
                <a:tc>
                  <a:txBody>
                    <a:bodyPr wrap="square"/>
                    <a:lstStyle/>
                    <a:p>
                      <a:r>
                        <a:rPr sz="1100" b="0">
                          <a:solidFill>
                            <a:srgbClr val="0D1117"/>
                          </a:solidFill>
                          <a:latin typeface="DM Sans"/>
                        </a:rPr>
                        <a:t>Copyright Act 1968 (Cwlth)</a:t>
                      </a:r>
                    </a:p>
                  </a:txBody>
                  <a:tcPr marL="114300" marR="114300" marT="63500" marB="63500" anchor="ctr">
                    <a:solidFill>
                      <a:srgbClr val="F6F8FA"/>
                    </a:solidFill>
                  </a:tcPr>
                </a:tc>
                <a:tc>
                  <a:txBody>
                    <a:bodyPr wrap="square"/>
                    <a:lstStyle/>
                    <a:p>
                      <a:r>
                        <a:rPr sz="1100" b="0">
                          <a:solidFill>
                            <a:srgbClr val="0D1117"/>
                          </a:solidFill>
                          <a:latin typeface="DM Sans"/>
                        </a:rPr>
                        <a:t>Who owns creative work and who may reuse it</a:t>
                      </a:r>
                    </a:p>
                  </a:txBody>
                  <a:tcPr marL="114300" marR="114300" marT="63500" marB="63500" anchor="ctr">
                    <a:solidFill>
                      <a:srgbClr val="F6F8FA"/>
                    </a:solidFill>
                  </a:tcPr>
                </a:tc>
                <a:tc>
                  <a:txBody>
                    <a:bodyPr wrap="square"/>
                    <a:lstStyle/>
                    <a:p>
                      <a:r>
                        <a:rPr sz="1100" b="0">
                          <a:solidFill>
                            <a:srgbClr val="0D1117"/>
                          </a:solidFill>
                          <a:latin typeface="DM Sans"/>
                        </a:rPr>
                        <a:t>You use images, audio, fonts, code or text you did not make</a:t>
                      </a:r>
                    </a:p>
                  </a:txBody>
                  <a:tcPr marL="114300" marR="114300" marT="63500" marB="63500" anchor="ctr">
                    <a:solidFill>
                      <a:srgbClr val="F6F8FA"/>
                    </a:solidFill>
                  </a:tcPr>
                </a:tc>
              </a:tr>
              <a:tr h="685800">
                <a:tc>
                  <a:txBody>
                    <a:bodyPr wrap="square"/>
                    <a:lstStyle/>
                    <a:p>
                      <a:r>
                        <a:rPr sz="1100" b="0">
                          <a:solidFill>
                            <a:srgbClr val="0D1117"/>
                          </a:solidFill>
                          <a:latin typeface="DM Sans"/>
                        </a:rPr>
                        <a:t>Australia's AI Ethics Principles</a:t>
                      </a:r>
                    </a:p>
                  </a:txBody>
                  <a:tcPr marL="114300" marR="114300" marT="63500" marB="63500" anchor="ctr">
                    <a:solidFill>
                      <a:srgbClr val="FFFFFF"/>
                    </a:solidFill>
                  </a:tcPr>
                </a:tc>
                <a:tc>
                  <a:txBody>
                    <a:bodyPr wrap="square"/>
                    <a:lstStyle/>
                    <a:p>
                      <a:r>
                        <a:rPr sz="1100" b="0">
                          <a:solidFill>
                            <a:srgbClr val="0D1117"/>
                          </a:solidFill>
                          <a:latin typeface="DM Sans"/>
                        </a:rPr>
                        <a:t>Voluntary framework for fair, transparent, accountable AI</a:t>
                      </a:r>
                    </a:p>
                  </a:txBody>
                  <a:tcPr marL="114300" marR="114300" marT="63500" marB="63500" anchor="ctr">
                    <a:solidFill>
                      <a:srgbClr val="FFFFFF"/>
                    </a:solidFill>
                  </a:tcPr>
                </a:tc>
                <a:tc>
                  <a:txBody>
                    <a:bodyPr wrap="square"/>
                    <a:lstStyle/>
                    <a:p>
                      <a:r>
                        <a:rPr sz="1100" b="0">
                          <a:solidFill>
                            <a:srgbClr val="0D1117"/>
                          </a:solidFill>
                          <a:latin typeface="DM Sans"/>
                        </a:rPr>
                        <a:t>You use AI to build, generate or decide anything</a:t>
                      </a:r>
                    </a:p>
                  </a:txBody>
                  <a:tcPr marL="114300" marR="114300" marT="63500" marB="63500"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4000"/>
            <a:ext cx="54864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y11-ac-u2-l12-building-responsibly</a:t>
            </a:r>
          </a:p>
        </p:txBody>
      </p:sp>
      <p:sp>
        <p:nvSpPr>
          <p:cNvPr id="3" name="TextBox 2"/>
          <p:cNvSpPr txBox="1"/>
          <p:nvPr/>
        </p:nvSpPr>
        <p:spPr>
          <a:xfrm>
            <a:off x="8978900" y="254000"/>
            <a:ext cx="2743200" cy="254000"/>
          </a:xfrm>
          <a:prstGeom prst="rect">
            <a:avLst/>
          </a:prstGeom>
          <a:noFill/>
        </p:spPr>
        <p:txBody>
          <a:bodyPr wrap="square" lIns="0" rIns="0" tIns="0" bIns="0" anchor="t">
            <a:spAutoFit/>
          </a:bodyPr>
          <a:lstStyle/>
          <a:p>
            <a:pPr algn="r">
              <a:spcAft>
                <a:spcPts val="600"/>
              </a:spcAft>
            </a:pPr>
            <a:r>
              <a:rPr sz="1050" b="0">
                <a:solidFill>
                  <a:srgbClr val="57606A"/>
                </a:solidFill>
                <a:latin typeface="DM Mono"/>
              </a:rPr>
              <a:t>Mr Smith</a:t>
            </a:r>
          </a:p>
        </p:txBody>
      </p:sp>
      <p:sp>
        <p:nvSpPr>
          <p:cNvPr id="4" name="Rounded Rectangle 3"/>
          <p:cNvSpPr/>
          <p:nvPr/>
        </p:nvSpPr>
        <p:spPr>
          <a:xfrm>
            <a:off x="8219440" y="596900"/>
            <a:ext cx="1927860" cy="304800"/>
          </a:xfrm>
          <a:prstGeom prst="roundRect">
            <a:avLst>
              <a:gd name="adj" fmla="val 50000"/>
            </a:avLst>
          </a:prstGeom>
          <a:solidFill>
            <a:srgbClr val="FFFFFF"/>
          </a:solidFill>
          <a:ln w="12700">
            <a:solidFill>
              <a:srgbClr val="436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19440" y="596900"/>
            <a:ext cx="1927860" cy="304800"/>
          </a:xfrm>
          <a:prstGeom prst="rect">
            <a:avLst/>
          </a:prstGeom>
          <a:noFill/>
        </p:spPr>
        <p:txBody>
          <a:bodyPr wrap="square" lIns="0" rIns="0" tIns="0" bIns="0" anchor="ctr">
            <a:spAutoFit/>
          </a:bodyPr>
          <a:lstStyle/>
          <a:p>
            <a:pPr algn="ctr">
              <a:spcAft>
                <a:spcPts val="600"/>
              </a:spcAft>
            </a:pPr>
            <a:r>
              <a:rPr sz="850" b="1">
                <a:solidFill>
                  <a:srgbClr val="4361EE"/>
                </a:solidFill>
                <a:latin typeface="DM Sans"/>
              </a:rPr>
              <a:t>EXPLICIT TEACHING</a:t>
            </a:r>
          </a:p>
        </p:txBody>
      </p:sp>
      <p:sp>
        <p:nvSpPr>
          <p:cNvPr id="6" name="Rounded Rectangle 5"/>
          <p:cNvSpPr/>
          <p:nvPr/>
        </p:nvSpPr>
        <p:spPr>
          <a:xfrm>
            <a:off x="10261600" y="596900"/>
            <a:ext cx="1460500" cy="304800"/>
          </a:xfrm>
          <a:prstGeom prst="roundRect">
            <a:avLst>
              <a:gd name="adj" fmla="val 50000"/>
            </a:avLst>
          </a:prstGeom>
          <a:solidFill>
            <a:srgbClr val="FFFFFF"/>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88600" y="711200"/>
            <a:ext cx="76200" cy="7620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02900" y="596900"/>
            <a:ext cx="1219200" cy="304800"/>
          </a:xfrm>
          <a:prstGeom prst="rect">
            <a:avLst/>
          </a:prstGeom>
          <a:noFill/>
        </p:spPr>
        <p:txBody>
          <a:bodyPr wrap="square" lIns="0" rIns="0" tIns="0" bIns="0" anchor="ctr">
            <a:spAutoFit/>
          </a:bodyPr>
          <a:lstStyle/>
          <a:p>
            <a:pPr algn="l">
              <a:spcAft>
                <a:spcPts val="600"/>
              </a:spcAft>
            </a:pPr>
            <a:r>
              <a:rPr sz="850" b="1">
                <a:solidFill>
                  <a:srgbClr val="EF4444"/>
                </a:solidFill>
                <a:latin typeface="DM Sans"/>
              </a:rPr>
              <a:t>DEVICES OFF</a:t>
            </a:r>
          </a:p>
        </p:txBody>
      </p:sp>
      <p:sp>
        <p:nvSpPr>
          <p:cNvPr id="9" name="Rounded Rectangle 8"/>
          <p:cNvSpPr/>
          <p:nvPr/>
        </p:nvSpPr>
        <p:spPr>
          <a:xfrm>
            <a:off x="10172700" y="977900"/>
            <a:ext cx="1549400" cy="304800"/>
          </a:xfrm>
          <a:prstGeom prst="roundRect">
            <a:avLst>
              <a:gd name="adj" fmla="val 50000"/>
            </a:avLst>
          </a:prstGeom>
          <a:solidFill>
            <a:srgbClr val="E8E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72700" y="977900"/>
            <a:ext cx="1549400" cy="304800"/>
          </a:xfrm>
          <a:prstGeom prst="rect">
            <a:avLst/>
          </a:prstGeom>
          <a:noFill/>
        </p:spPr>
        <p:txBody>
          <a:bodyPr wrap="square" lIns="0" rIns="0" tIns="0" bIns="0" anchor="ctr">
            <a:spAutoFit/>
          </a:bodyPr>
          <a:lstStyle/>
          <a:p>
            <a:pPr algn="ctr">
              <a:spcAft>
                <a:spcPts val="600"/>
              </a:spcAft>
            </a:pPr>
            <a:r>
              <a:rPr sz="850" b="1">
                <a:solidFill>
                  <a:srgbClr val="4361EE"/>
                </a:solidFill>
                <a:latin typeface="DM Sans"/>
              </a:rPr>
              <a:t>📋 COPY THIS</a:t>
            </a:r>
          </a:p>
        </p:txBody>
      </p:sp>
      <p:sp>
        <p:nvSpPr>
          <p:cNvPr id="11" name="TextBox 10"/>
          <p:cNvSpPr txBox="1"/>
          <p:nvPr/>
        </p:nvSpPr>
        <p:spPr>
          <a:xfrm>
            <a:off x="457200" y="1371600"/>
            <a:ext cx="11264900" cy="508000"/>
          </a:xfrm>
          <a:prstGeom prst="rect">
            <a:avLst/>
          </a:prstGeom>
          <a:noFill/>
        </p:spPr>
        <p:txBody>
          <a:bodyPr wrap="square" lIns="0" rIns="0" tIns="0" bIns="0" anchor="t">
            <a:spAutoFit/>
          </a:bodyPr>
          <a:lstStyle/>
          <a:p>
            <a:pPr algn="l">
              <a:spcAft>
                <a:spcPts val="600"/>
              </a:spcAft>
            </a:pPr>
            <a:r>
              <a:rPr sz="2900" b="0">
                <a:solidFill>
                  <a:srgbClr val="0D1117"/>
                </a:solidFill>
                <a:latin typeface="DM Serif Display"/>
              </a:rPr>
              <a:t>Privacy: Only What You Need</a:t>
            </a:r>
          </a:p>
        </p:txBody>
      </p:sp>
      <p:sp>
        <p:nvSpPr>
          <p:cNvPr id="12" name="TextBox 11"/>
          <p:cNvSpPr txBox="1"/>
          <p:nvPr/>
        </p:nvSpPr>
        <p:spPr>
          <a:xfrm>
            <a:off x="457200" y="6426200"/>
            <a:ext cx="4572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5</a:t>
            </a:r>
          </a:p>
        </p:txBody>
      </p:sp>
      <p:sp>
        <p:nvSpPr>
          <p:cNvPr id="13" name="Rounded Rectangle 12"/>
          <p:cNvSpPr/>
          <p:nvPr/>
        </p:nvSpPr>
        <p:spPr>
          <a:xfrm>
            <a:off x="457200" y="1981200"/>
            <a:ext cx="11264900" cy="1168400"/>
          </a:xfrm>
          <a:prstGeom prst="roundRect">
            <a:avLst>
              <a:gd name="adj" fmla="val 7000"/>
            </a:avLst>
          </a:prstGeom>
          <a:solidFill>
            <a:srgbClr val="FEF3E0"/>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3900" y="2108200"/>
            <a:ext cx="10731500" cy="266700"/>
          </a:xfrm>
          <a:prstGeom prst="rect">
            <a:avLst/>
          </a:prstGeom>
          <a:noFill/>
        </p:spPr>
        <p:txBody>
          <a:bodyPr wrap="square" lIns="0" rIns="0" tIns="0" bIns="0" anchor="t">
            <a:spAutoFit/>
          </a:bodyPr>
          <a:lstStyle/>
          <a:p>
            <a:pPr algn="l">
              <a:spcAft>
                <a:spcPts val="600"/>
              </a:spcAft>
            </a:pPr>
            <a:r>
              <a:rPr sz="1100" b="1">
                <a:solidFill>
                  <a:srgbClr val="F59E0B"/>
                </a:solidFill>
                <a:latin typeface="DM Sans"/>
              </a:rPr>
              <a:t>📋 COPY THIS INTO YOUR NOTES</a:t>
            </a:r>
          </a:p>
        </p:txBody>
      </p:sp>
      <p:sp>
        <p:nvSpPr>
          <p:cNvPr id="15" name="TextBox 14"/>
          <p:cNvSpPr txBox="1"/>
          <p:nvPr/>
        </p:nvSpPr>
        <p:spPr>
          <a:xfrm>
            <a:off x="723900" y="2438400"/>
            <a:ext cx="10731500" cy="584200"/>
          </a:xfrm>
          <a:prstGeom prst="rect">
            <a:avLst/>
          </a:prstGeom>
          <a:noFill/>
        </p:spPr>
        <p:txBody>
          <a:bodyPr wrap="square" lIns="0" rIns="0" tIns="0" bIns="0" anchor="t">
            <a:spAutoFit/>
          </a:bodyPr>
          <a:lstStyle/>
          <a:p>
            <a:pPr algn="l">
              <a:lnSpc>
                <a:spcPct val="120000"/>
              </a:lnSpc>
              <a:spcAft>
                <a:spcPts val="700"/>
              </a:spcAft>
            </a:pPr>
            <a:r>
              <a:rPr sz="1450" b="0">
                <a:solidFill>
                  <a:srgbClr val="0D1117"/>
                </a:solidFill>
                <a:latin typeface="DM Sans"/>
              </a:rPr>
              <a:t>The principle underneath all of the privacy law is the same: collect the minimum you need for the purpose you stated, tell people what you are collecting and why, and use it only for that purpose.</a:t>
            </a:r>
          </a:p>
        </p:txBody>
      </p:sp>
      <p:sp>
        <p:nvSpPr>
          <p:cNvPr id="16" name="TextBox 15"/>
          <p:cNvSpPr txBox="1"/>
          <p:nvPr/>
        </p:nvSpPr>
        <p:spPr>
          <a:xfrm>
            <a:off x="457200" y="3378200"/>
            <a:ext cx="5461000" cy="266700"/>
          </a:xfrm>
          <a:prstGeom prst="rect">
            <a:avLst/>
          </a:prstGeom>
          <a:noFill/>
        </p:spPr>
        <p:txBody>
          <a:bodyPr wrap="square" lIns="0" rIns="0" tIns="0" bIns="0" anchor="t">
            <a:spAutoFit/>
          </a:bodyPr>
          <a:lstStyle/>
          <a:p>
            <a:pPr algn="l">
              <a:spcAft>
                <a:spcPts val="600"/>
              </a:spcAft>
            </a:pPr>
            <a:r>
              <a:rPr sz="1100" b="1">
                <a:solidFill>
                  <a:srgbClr val="57606A"/>
                </a:solidFill>
                <a:latin typeface="DM Sans"/>
              </a:rPr>
              <a:t>WHAT THE PRINCIPLES ASK</a:t>
            </a:r>
          </a:p>
        </p:txBody>
      </p:sp>
      <p:sp>
        <p:nvSpPr>
          <p:cNvPr id="17" name="Oval 16"/>
          <p:cNvSpPr/>
          <p:nvPr/>
        </p:nvSpPr>
        <p:spPr>
          <a:xfrm>
            <a:off x="457200" y="3759200"/>
            <a:ext cx="266700" cy="266700"/>
          </a:xfrm>
          <a:prstGeom prst="ellipse">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746500"/>
            <a:ext cx="266700" cy="266700"/>
          </a:xfrm>
          <a:prstGeom prst="rect">
            <a:avLst/>
          </a:prstGeom>
          <a:noFill/>
        </p:spPr>
        <p:txBody>
          <a:bodyPr wrap="square" lIns="0" rIns="0" tIns="0" bIns="0" anchor="ctr">
            <a:spAutoFit/>
          </a:bodyPr>
          <a:lstStyle/>
          <a:p>
            <a:pPr algn="ctr">
              <a:spcAft>
                <a:spcPts val="600"/>
              </a:spcAft>
            </a:pPr>
            <a:r>
              <a:rPr sz="1200" b="1">
                <a:solidFill>
                  <a:srgbClr val="FFFFFF"/>
                </a:solidFill>
                <a:latin typeface="DM Sans"/>
              </a:rPr>
              <a:t>✓</a:t>
            </a:r>
          </a:p>
        </p:txBody>
      </p:sp>
      <p:sp>
        <p:nvSpPr>
          <p:cNvPr id="19" name="TextBox 18"/>
          <p:cNvSpPr txBox="1"/>
          <p:nvPr/>
        </p:nvSpPr>
        <p:spPr>
          <a:xfrm>
            <a:off x="863600" y="3708400"/>
            <a:ext cx="5054600" cy="609600"/>
          </a:xfrm>
          <a:prstGeom prst="rect">
            <a:avLst/>
          </a:prstGeom>
          <a:noFill/>
        </p:spPr>
        <p:txBody>
          <a:bodyPr wrap="square" lIns="0" rIns="0" tIns="0" bIns="0" anchor="t">
            <a:spAutoFit/>
          </a:bodyPr>
          <a:lstStyle/>
          <a:p>
            <a:pPr algn="l">
              <a:lnSpc>
                <a:spcPct val="115000"/>
              </a:lnSpc>
              <a:spcAft>
                <a:spcPts val="600"/>
              </a:spcAft>
            </a:pPr>
            <a:r>
              <a:rPr sz="1350" b="0">
                <a:solidFill>
                  <a:srgbClr val="0D1117"/>
                </a:solidFill>
                <a:latin typeface="DM Sans"/>
              </a:rPr>
              <a:t>APP 1 — be open. Say what you collect, in language a user understands.</a:t>
            </a:r>
          </a:p>
        </p:txBody>
      </p:sp>
      <p:sp>
        <p:nvSpPr>
          <p:cNvPr id="20" name="Oval 19"/>
          <p:cNvSpPr/>
          <p:nvPr/>
        </p:nvSpPr>
        <p:spPr>
          <a:xfrm>
            <a:off x="457200" y="4368800"/>
            <a:ext cx="266700" cy="266700"/>
          </a:xfrm>
          <a:prstGeom prst="ellipse">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356100"/>
            <a:ext cx="266700" cy="266700"/>
          </a:xfrm>
          <a:prstGeom prst="rect">
            <a:avLst/>
          </a:prstGeom>
          <a:noFill/>
        </p:spPr>
        <p:txBody>
          <a:bodyPr wrap="square" lIns="0" rIns="0" tIns="0" bIns="0" anchor="ctr">
            <a:spAutoFit/>
          </a:bodyPr>
          <a:lstStyle/>
          <a:p>
            <a:pPr algn="ctr">
              <a:spcAft>
                <a:spcPts val="600"/>
              </a:spcAft>
            </a:pPr>
            <a:r>
              <a:rPr sz="1200" b="1">
                <a:solidFill>
                  <a:srgbClr val="FFFFFF"/>
                </a:solidFill>
                <a:latin typeface="DM Sans"/>
              </a:rPr>
              <a:t>✓</a:t>
            </a:r>
          </a:p>
        </p:txBody>
      </p:sp>
      <p:sp>
        <p:nvSpPr>
          <p:cNvPr id="22" name="TextBox 21"/>
          <p:cNvSpPr txBox="1"/>
          <p:nvPr/>
        </p:nvSpPr>
        <p:spPr>
          <a:xfrm>
            <a:off x="863600" y="4318000"/>
            <a:ext cx="5054600" cy="609600"/>
          </a:xfrm>
          <a:prstGeom prst="rect">
            <a:avLst/>
          </a:prstGeom>
          <a:noFill/>
        </p:spPr>
        <p:txBody>
          <a:bodyPr wrap="square" lIns="0" rIns="0" tIns="0" bIns="0" anchor="t">
            <a:spAutoFit/>
          </a:bodyPr>
          <a:lstStyle/>
          <a:p>
            <a:pPr algn="l">
              <a:lnSpc>
                <a:spcPct val="115000"/>
              </a:lnSpc>
              <a:spcAft>
                <a:spcPts val="600"/>
              </a:spcAft>
            </a:pPr>
            <a:r>
              <a:rPr sz="1350" b="0">
                <a:solidFill>
                  <a:srgbClr val="0D1117"/>
                </a:solidFill>
                <a:latin typeface="DM Sans"/>
              </a:rPr>
              <a:t>APP 2 — allow anonymity where it is practical.</a:t>
            </a:r>
          </a:p>
        </p:txBody>
      </p:sp>
      <p:sp>
        <p:nvSpPr>
          <p:cNvPr id="23" name="Oval 22"/>
          <p:cNvSpPr/>
          <p:nvPr/>
        </p:nvSpPr>
        <p:spPr>
          <a:xfrm>
            <a:off x="457200" y="4978400"/>
            <a:ext cx="266700" cy="266700"/>
          </a:xfrm>
          <a:prstGeom prst="ellipse">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965700"/>
            <a:ext cx="266700" cy="266700"/>
          </a:xfrm>
          <a:prstGeom prst="rect">
            <a:avLst/>
          </a:prstGeom>
          <a:noFill/>
        </p:spPr>
        <p:txBody>
          <a:bodyPr wrap="square" lIns="0" rIns="0" tIns="0" bIns="0" anchor="ctr">
            <a:spAutoFit/>
          </a:bodyPr>
          <a:lstStyle/>
          <a:p>
            <a:pPr algn="ctr">
              <a:spcAft>
                <a:spcPts val="600"/>
              </a:spcAft>
            </a:pPr>
            <a:r>
              <a:rPr sz="1200" b="1">
                <a:solidFill>
                  <a:srgbClr val="FFFFFF"/>
                </a:solidFill>
                <a:latin typeface="DM Sans"/>
              </a:rPr>
              <a:t>✓</a:t>
            </a:r>
          </a:p>
        </p:txBody>
      </p:sp>
      <p:sp>
        <p:nvSpPr>
          <p:cNvPr id="25" name="TextBox 24"/>
          <p:cNvSpPr txBox="1"/>
          <p:nvPr/>
        </p:nvSpPr>
        <p:spPr>
          <a:xfrm>
            <a:off x="863600" y="4927600"/>
            <a:ext cx="5054600" cy="609600"/>
          </a:xfrm>
          <a:prstGeom prst="rect">
            <a:avLst/>
          </a:prstGeom>
          <a:noFill/>
        </p:spPr>
        <p:txBody>
          <a:bodyPr wrap="square" lIns="0" rIns="0" tIns="0" bIns="0" anchor="t">
            <a:spAutoFit/>
          </a:bodyPr>
          <a:lstStyle/>
          <a:p>
            <a:pPr algn="l">
              <a:lnSpc>
                <a:spcPct val="115000"/>
              </a:lnSpc>
              <a:spcAft>
                <a:spcPts val="600"/>
              </a:spcAft>
            </a:pPr>
            <a:r>
              <a:rPr sz="1350" b="0">
                <a:solidFill>
                  <a:srgbClr val="0D1117"/>
                </a:solidFill>
                <a:latin typeface="DM Sans"/>
              </a:rPr>
              <a:t>APP 6 — use it only for the purpose you collected it for.</a:t>
            </a:r>
          </a:p>
        </p:txBody>
      </p:sp>
      <p:sp>
        <p:nvSpPr>
          <p:cNvPr id="26" name="Rounded Rectangle 25"/>
          <p:cNvSpPr/>
          <p:nvPr/>
        </p:nvSpPr>
        <p:spPr>
          <a:xfrm>
            <a:off x="6299200" y="3378200"/>
            <a:ext cx="5422900" cy="2209800"/>
          </a:xfrm>
          <a:prstGeom prst="roundRect">
            <a:avLst>
              <a:gd name="adj" fmla="val 7000"/>
            </a:avLst>
          </a:prstGeom>
          <a:solidFill>
            <a:srgbClr val="F6F8FA"/>
          </a:solidFill>
          <a:ln w="12700">
            <a:solidFill>
              <a:srgbClr val="576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65900" y="3505200"/>
            <a:ext cx="4889500" cy="266700"/>
          </a:xfrm>
          <a:prstGeom prst="rect">
            <a:avLst/>
          </a:prstGeom>
          <a:noFill/>
        </p:spPr>
        <p:txBody>
          <a:bodyPr wrap="square" lIns="0" rIns="0" tIns="0" bIns="0" anchor="t">
            <a:spAutoFit/>
          </a:bodyPr>
          <a:lstStyle/>
          <a:p>
            <a:pPr algn="l">
              <a:spcAft>
                <a:spcPts val="600"/>
              </a:spcAft>
            </a:pPr>
            <a:r>
              <a:rPr sz="1100" b="1">
                <a:solidFill>
                  <a:srgbClr val="57606A"/>
                </a:solidFill>
                <a:latin typeface="DM Sans"/>
              </a:rPr>
              <a:t>THE TEST TO APPLY TO YOUR OWN DESIGN</a:t>
            </a:r>
          </a:p>
        </p:txBody>
      </p:sp>
      <p:sp>
        <p:nvSpPr>
          <p:cNvPr id="28" name="TextBox 27"/>
          <p:cNvSpPr txBox="1"/>
          <p:nvPr/>
        </p:nvSpPr>
        <p:spPr>
          <a:xfrm>
            <a:off x="6565900" y="3835400"/>
            <a:ext cx="4889500" cy="1625600"/>
          </a:xfrm>
          <a:prstGeom prst="rect">
            <a:avLst/>
          </a:prstGeom>
          <a:noFill/>
        </p:spPr>
        <p:txBody>
          <a:bodyPr wrap="square" lIns="0" rIns="0" tIns="0" bIns="0" anchor="t">
            <a:spAutoFit/>
          </a:bodyPr>
          <a:lstStyle/>
          <a:p>
            <a:pPr algn="l">
              <a:lnSpc>
                <a:spcPct val="120000"/>
              </a:lnSpc>
              <a:spcAft>
                <a:spcPts val="700"/>
              </a:spcAft>
            </a:pPr>
            <a:r>
              <a:rPr sz="1350" b="0">
                <a:solidFill>
                  <a:srgbClr val="0D1117"/>
                </a:solidFill>
                <a:latin typeface="DM Sans"/>
              </a:rPr>
              <a:t>For every field your solution asks for:
Does the feature actually stop working without it?
If the answer is no, you are collecting it because it was easy to collect — and that is the thing the law is aimed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4000"/>
            <a:ext cx="54864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y11-ac-u2-l12-building-responsibly</a:t>
            </a:r>
          </a:p>
        </p:txBody>
      </p:sp>
      <p:sp>
        <p:nvSpPr>
          <p:cNvPr id="3" name="TextBox 2"/>
          <p:cNvSpPr txBox="1"/>
          <p:nvPr/>
        </p:nvSpPr>
        <p:spPr>
          <a:xfrm>
            <a:off x="8978900" y="254000"/>
            <a:ext cx="2743200" cy="254000"/>
          </a:xfrm>
          <a:prstGeom prst="rect">
            <a:avLst/>
          </a:prstGeom>
          <a:noFill/>
        </p:spPr>
        <p:txBody>
          <a:bodyPr wrap="square" lIns="0" rIns="0" tIns="0" bIns="0" anchor="t">
            <a:spAutoFit/>
          </a:bodyPr>
          <a:lstStyle/>
          <a:p>
            <a:pPr algn="r">
              <a:spcAft>
                <a:spcPts val="600"/>
              </a:spcAft>
            </a:pPr>
            <a:r>
              <a:rPr sz="1050" b="0">
                <a:solidFill>
                  <a:srgbClr val="57606A"/>
                </a:solidFill>
                <a:latin typeface="DM Mono"/>
              </a:rPr>
              <a:t>Mr Smith</a:t>
            </a:r>
          </a:p>
        </p:txBody>
      </p:sp>
      <p:sp>
        <p:nvSpPr>
          <p:cNvPr id="4" name="Rounded Rectangle 3"/>
          <p:cNvSpPr/>
          <p:nvPr/>
        </p:nvSpPr>
        <p:spPr>
          <a:xfrm>
            <a:off x="8219440" y="596900"/>
            <a:ext cx="1927860" cy="304800"/>
          </a:xfrm>
          <a:prstGeom prst="roundRect">
            <a:avLst>
              <a:gd name="adj" fmla="val 50000"/>
            </a:avLst>
          </a:prstGeom>
          <a:solidFill>
            <a:srgbClr val="FFFFFF"/>
          </a:solidFill>
          <a:ln w="12700">
            <a:solidFill>
              <a:srgbClr val="436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19440" y="596900"/>
            <a:ext cx="1927860" cy="304800"/>
          </a:xfrm>
          <a:prstGeom prst="rect">
            <a:avLst/>
          </a:prstGeom>
          <a:noFill/>
        </p:spPr>
        <p:txBody>
          <a:bodyPr wrap="square" lIns="0" rIns="0" tIns="0" bIns="0" anchor="ctr">
            <a:spAutoFit/>
          </a:bodyPr>
          <a:lstStyle/>
          <a:p>
            <a:pPr algn="ctr">
              <a:spcAft>
                <a:spcPts val="600"/>
              </a:spcAft>
            </a:pPr>
            <a:r>
              <a:rPr sz="850" b="1">
                <a:solidFill>
                  <a:srgbClr val="4361EE"/>
                </a:solidFill>
                <a:latin typeface="DM Sans"/>
              </a:rPr>
              <a:t>EXPLICIT TEACHING</a:t>
            </a:r>
          </a:p>
        </p:txBody>
      </p:sp>
      <p:sp>
        <p:nvSpPr>
          <p:cNvPr id="6" name="Rounded Rectangle 5"/>
          <p:cNvSpPr/>
          <p:nvPr/>
        </p:nvSpPr>
        <p:spPr>
          <a:xfrm>
            <a:off x="10261600" y="596900"/>
            <a:ext cx="1460500" cy="304800"/>
          </a:xfrm>
          <a:prstGeom prst="roundRect">
            <a:avLst>
              <a:gd name="adj" fmla="val 50000"/>
            </a:avLst>
          </a:prstGeom>
          <a:solidFill>
            <a:srgbClr val="FFFFFF"/>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88600" y="711200"/>
            <a:ext cx="76200" cy="7620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02900" y="596900"/>
            <a:ext cx="1219200" cy="304800"/>
          </a:xfrm>
          <a:prstGeom prst="rect">
            <a:avLst/>
          </a:prstGeom>
          <a:noFill/>
        </p:spPr>
        <p:txBody>
          <a:bodyPr wrap="square" lIns="0" rIns="0" tIns="0" bIns="0" anchor="ctr">
            <a:spAutoFit/>
          </a:bodyPr>
          <a:lstStyle/>
          <a:p>
            <a:pPr algn="l">
              <a:spcAft>
                <a:spcPts val="600"/>
              </a:spcAft>
            </a:pPr>
            <a:r>
              <a:rPr sz="850" b="1">
                <a:solidFill>
                  <a:srgbClr val="EF4444"/>
                </a:solidFill>
                <a:latin typeface="DM Sans"/>
              </a:rPr>
              <a:t>DEVICES OFF</a:t>
            </a:r>
          </a:p>
        </p:txBody>
      </p:sp>
      <p:sp>
        <p:nvSpPr>
          <p:cNvPr id="9" name="Rounded Rectangle 8"/>
          <p:cNvSpPr/>
          <p:nvPr/>
        </p:nvSpPr>
        <p:spPr>
          <a:xfrm>
            <a:off x="10172700" y="977900"/>
            <a:ext cx="1549400" cy="304800"/>
          </a:xfrm>
          <a:prstGeom prst="roundRect">
            <a:avLst>
              <a:gd name="adj" fmla="val 50000"/>
            </a:avLst>
          </a:prstGeom>
          <a:solidFill>
            <a:srgbClr val="E8E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72700" y="977900"/>
            <a:ext cx="1549400" cy="304800"/>
          </a:xfrm>
          <a:prstGeom prst="rect">
            <a:avLst/>
          </a:prstGeom>
          <a:noFill/>
        </p:spPr>
        <p:txBody>
          <a:bodyPr wrap="square" lIns="0" rIns="0" tIns="0" bIns="0" anchor="ctr">
            <a:spAutoFit/>
          </a:bodyPr>
          <a:lstStyle/>
          <a:p>
            <a:pPr algn="ctr">
              <a:spcAft>
                <a:spcPts val="600"/>
              </a:spcAft>
            </a:pPr>
            <a:r>
              <a:rPr sz="850" b="1">
                <a:solidFill>
                  <a:srgbClr val="4361EE"/>
                </a:solidFill>
                <a:latin typeface="DM Sans"/>
              </a:rPr>
              <a:t>📋 COPY THIS</a:t>
            </a:r>
          </a:p>
        </p:txBody>
      </p:sp>
      <p:sp>
        <p:nvSpPr>
          <p:cNvPr id="11" name="TextBox 10"/>
          <p:cNvSpPr txBox="1"/>
          <p:nvPr/>
        </p:nvSpPr>
        <p:spPr>
          <a:xfrm>
            <a:off x="457200" y="1371600"/>
            <a:ext cx="11264900" cy="508000"/>
          </a:xfrm>
          <a:prstGeom prst="rect">
            <a:avLst/>
          </a:prstGeom>
          <a:noFill/>
        </p:spPr>
        <p:txBody>
          <a:bodyPr wrap="square" lIns="0" rIns="0" tIns="0" bIns="0" anchor="t">
            <a:spAutoFit/>
          </a:bodyPr>
          <a:lstStyle/>
          <a:p>
            <a:pPr algn="l">
              <a:spcAft>
                <a:spcPts val="600"/>
              </a:spcAft>
            </a:pPr>
            <a:r>
              <a:rPr sz="2900" b="0">
                <a:solidFill>
                  <a:srgbClr val="0D1117"/>
                </a:solidFill>
                <a:latin typeface="DM Serif Display"/>
              </a:rPr>
              <a:t>Copyright: What You Can Actually Use</a:t>
            </a:r>
          </a:p>
        </p:txBody>
      </p:sp>
      <p:sp>
        <p:nvSpPr>
          <p:cNvPr id="12" name="TextBox 11"/>
          <p:cNvSpPr txBox="1"/>
          <p:nvPr/>
        </p:nvSpPr>
        <p:spPr>
          <a:xfrm>
            <a:off x="457200" y="6426200"/>
            <a:ext cx="4572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6</a:t>
            </a:r>
          </a:p>
        </p:txBody>
      </p:sp>
      <p:sp>
        <p:nvSpPr>
          <p:cNvPr id="13" name="TextBox 12"/>
          <p:cNvSpPr txBox="1"/>
          <p:nvPr/>
        </p:nvSpPr>
        <p:spPr>
          <a:xfrm>
            <a:off x="457200" y="1981200"/>
            <a:ext cx="11264900" cy="304800"/>
          </a:xfrm>
          <a:prstGeom prst="rect">
            <a:avLst/>
          </a:prstGeom>
          <a:noFill/>
        </p:spPr>
        <p:txBody>
          <a:bodyPr wrap="square" lIns="0" rIns="0" tIns="0" bIns="0" anchor="t">
            <a:spAutoFit/>
          </a:bodyPr>
          <a:lstStyle/>
          <a:p>
            <a:pPr algn="l">
              <a:lnSpc>
                <a:spcPct val="125000"/>
              </a:lnSpc>
              <a:spcAft>
                <a:spcPts val="600"/>
              </a:spcAft>
            </a:pPr>
            <a:r>
              <a:rPr sz="1450" b="0">
                <a:solidFill>
                  <a:srgbClr val="0D1117"/>
                </a:solidFill>
                <a:latin typeface="DM Sans"/>
              </a:rPr>
              <a:t>Copyright exists the moment something is created. There is no symbol required, and "I found it on Google" is not a licence.</a:t>
            </a:r>
          </a:p>
        </p:txBody>
      </p:sp>
      <p:graphicFrame>
        <p:nvGraphicFramePr>
          <p:cNvPr id="14" name="Table 13"/>
          <p:cNvGraphicFramePr>
            <a:graphicFrameLocks noGrp="1"/>
          </p:cNvGraphicFramePr>
          <p:nvPr/>
        </p:nvGraphicFramePr>
        <p:xfrm>
          <a:off x="457200" y="2743200"/>
          <a:ext cx="11264900" cy="2603500"/>
        </p:xfrm>
        <a:graphic>
          <a:graphicData uri="http://schemas.openxmlformats.org/drawingml/2006/table">
            <a:tbl>
              <a:tblPr firstRow="1" bandRow="1">
                <a:tableStyleId>{5C22544A-7EE6-4342-B048-85BDC9FD1C3A}</a:tableStyleId>
              </a:tblPr>
              <a:tblGrid>
                <a:gridCol w="2921000"/>
                <a:gridCol w="4191000"/>
                <a:gridCol w="4152900"/>
              </a:tblGrid>
              <a:tr h="520700">
                <a:tc>
                  <a:txBody>
                    <a:bodyPr wrap="square"/>
                    <a:lstStyle/>
                    <a:p>
                      <a:r>
                        <a:rPr sz="1200" b="1">
                          <a:solidFill>
                            <a:srgbClr val="FFFFFF"/>
                          </a:solidFill>
                          <a:latin typeface="DM Sans"/>
                        </a:rPr>
                        <a:t>You want to use…</a:t>
                      </a:r>
                    </a:p>
                  </a:txBody>
                  <a:tcPr marL="114300" marR="114300" marT="63500" marB="63500" anchor="ctr">
                    <a:solidFill>
                      <a:srgbClr val="4361EE"/>
                    </a:solidFill>
                  </a:tcPr>
                </a:tc>
                <a:tc>
                  <a:txBody>
                    <a:bodyPr wrap="square"/>
                    <a:lstStyle/>
                    <a:p>
                      <a:r>
                        <a:rPr sz="1200" b="1">
                          <a:solidFill>
                            <a:srgbClr val="FFFFFF"/>
                          </a:solidFill>
                          <a:latin typeface="DM Sans"/>
                        </a:rPr>
                        <a:t>Safe route</a:t>
                      </a:r>
                    </a:p>
                  </a:txBody>
                  <a:tcPr marL="114300" marR="114300" marT="63500" marB="63500" anchor="ctr">
                    <a:solidFill>
                      <a:srgbClr val="4361EE"/>
                    </a:solidFill>
                  </a:tcPr>
                </a:tc>
                <a:tc>
                  <a:txBody>
                    <a:bodyPr wrap="square"/>
                    <a:lstStyle/>
                    <a:p>
                      <a:r>
                        <a:rPr sz="1200" b="1">
                          <a:solidFill>
                            <a:srgbClr val="FFFFFF"/>
                          </a:solidFill>
                          <a:latin typeface="DM Sans"/>
                        </a:rPr>
                        <a:t>What to record in your journal</a:t>
                      </a:r>
                    </a:p>
                  </a:txBody>
                  <a:tcPr marL="114300" marR="114300" marT="63500" marB="63500" anchor="ctr">
                    <a:solidFill>
                      <a:srgbClr val="4361EE"/>
                    </a:solidFill>
                  </a:tcPr>
                </a:tc>
              </a:tr>
              <a:tr h="520700">
                <a:tc>
                  <a:txBody>
                    <a:bodyPr wrap="square"/>
                    <a:lstStyle/>
                    <a:p>
                      <a:r>
                        <a:rPr sz="1200" b="0">
                          <a:solidFill>
                            <a:srgbClr val="0D1117"/>
                          </a:solidFill>
                          <a:latin typeface="DM Sans"/>
                        </a:rPr>
                        <a:t>Images, icons, audio</a:t>
                      </a:r>
                    </a:p>
                  </a:txBody>
                  <a:tcPr marL="114300" marR="114300" marT="63500" marB="63500" anchor="ctr">
                    <a:solidFill>
                      <a:srgbClr val="FFFFFF"/>
                    </a:solidFill>
                  </a:tcPr>
                </a:tc>
                <a:tc>
                  <a:txBody>
                    <a:bodyPr wrap="square"/>
                    <a:lstStyle/>
                    <a:p>
                      <a:r>
                        <a:rPr sz="1200" b="0">
                          <a:solidFill>
                            <a:srgbClr val="0D1117"/>
                          </a:solidFill>
                          <a:latin typeface="DM Sans"/>
                        </a:rPr>
                        <a:t>Creative Commons, public domain, or your own</a:t>
                      </a:r>
                    </a:p>
                  </a:txBody>
                  <a:tcPr marL="114300" marR="114300" marT="63500" marB="63500" anchor="ctr">
                    <a:solidFill>
                      <a:srgbClr val="FFFFFF"/>
                    </a:solidFill>
                  </a:tcPr>
                </a:tc>
                <a:tc>
                  <a:txBody>
                    <a:bodyPr wrap="square"/>
                    <a:lstStyle/>
                    <a:p>
                      <a:r>
                        <a:rPr sz="1200" b="0">
                          <a:solidFill>
                            <a:srgbClr val="0D1117"/>
                          </a:solidFill>
                          <a:latin typeface="DM Sans"/>
                        </a:rPr>
                        <a:t>Source URL and licence type</a:t>
                      </a:r>
                    </a:p>
                  </a:txBody>
                  <a:tcPr marL="114300" marR="114300" marT="63500" marB="63500" anchor="ctr">
                    <a:solidFill>
                      <a:srgbClr val="FFFFFF"/>
                    </a:solidFill>
                  </a:tcPr>
                </a:tc>
              </a:tr>
              <a:tr h="520700">
                <a:tc>
                  <a:txBody>
                    <a:bodyPr wrap="square"/>
                    <a:lstStyle/>
                    <a:p>
                      <a:r>
                        <a:rPr sz="1200" b="0">
                          <a:solidFill>
                            <a:srgbClr val="0D1117"/>
                          </a:solidFill>
                          <a:latin typeface="DM Sans"/>
                        </a:rPr>
                        <a:t>Fonts</a:t>
                      </a:r>
                    </a:p>
                  </a:txBody>
                  <a:tcPr marL="114300" marR="114300" marT="63500" marB="63500" anchor="ctr">
                    <a:solidFill>
                      <a:srgbClr val="F6F8FA"/>
                    </a:solidFill>
                  </a:tcPr>
                </a:tc>
                <a:tc>
                  <a:txBody>
                    <a:bodyPr wrap="square"/>
                    <a:lstStyle/>
                    <a:p>
                      <a:r>
                        <a:rPr sz="1200" b="0">
                          <a:solidFill>
                            <a:srgbClr val="0D1117"/>
                          </a:solidFill>
                          <a:latin typeface="DM Sans"/>
                        </a:rPr>
                        <a:t>Google Fonts or another open licence</a:t>
                      </a:r>
                    </a:p>
                  </a:txBody>
                  <a:tcPr marL="114300" marR="114300" marT="63500" marB="63500" anchor="ctr">
                    <a:solidFill>
                      <a:srgbClr val="F6F8FA"/>
                    </a:solidFill>
                  </a:tcPr>
                </a:tc>
                <a:tc>
                  <a:txBody>
                    <a:bodyPr wrap="square"/>
                    <a:lstStyle/>
                    <a:p>
                      <a:r>
                        <a:rPr sz="1200" b="0">
                          <a:solidFill>
                            <a:srgbClr val="0D1117"/>
                          </a:solidFill>
                          <a:latin typeface="DM Sans"/>
                        </a:rPr>
                        <a:t>Font name and licence</a:t>
                      </a:r>
                    </a:p>
                  </a:txBody>
                  <a:tcPr marL="114300" marR="114300" marT="63500" marB="63500" anchor="ctr">
                    <a:solidFill>
                      <a:srgbClr val="F6F8FA"/>
                    </a:solidFill>
                  </a:tcPr>
                </a:tc>
              </a:tr>
              <a:tr h="520700">
                <a:tc>
                  <a:txBody>
                    <a:bodyPr wrap="square"/>
                    <a:lstStyle/>
                    <a:p>
                      <a:r>
                        <a:rPr sz="1200" b="0">
                          <a:solidFill>
                            <a:srgbClr val="0D1117"/>
                          </a:solidFill>
                          <a:latin typeface="DM Sans"/>
                        </a:rPr>
                        <a:t>Code snippets or libraries</a:t>
                      </a:r>
                    </a:p>
                  </a:txBody>
                  <a:tcPr marL="114300" marR="114300" marT="63500" marB="63500" anchor="ctr">
                    <a:solidFill>
                      <a:srgbClr val="FFFFFF"/>
                    </a:solidFill>
                  </a:tcPr>
                </a:tc>
                <a:tc>
                  <a:txBody>
                    <a:bodyPr wrap="square"/>
                    <a:lstStyle/>
                    <a:p>
                      <a:r>
                        <a:rPr sz="1200" b="0">
                          <a:solidFill>
                            <a:srgbClr val="0D1117"/>
                          </a:solidFill>
                          <a:latin typeface="DM Sans"/>
                        </a:rPr>
                        <a:t>An open-source licence that permits your use</a:t>
                      </a:r>
                    </a:p>
                  </a:txBody>
                  <a:tcPr marL="114300" marR="114300" marT="63500" marB="63500" anchor="ctr">
                    <a:solidFill>
                      <a:srgbClr val="FFFFFF"/>
                    </a:solidFill>
                  </a:tcPr>
                </a:tc>
                <a:tc>
                  <a:txBody>
                    <a:bodyPr wrap="square"/>
                    <a:lstStyle/>
                    <a:p>
                      <a:r>
                        <a:rPr sz="1200" b="0">
                          <a:solidFill>
                            <a:srgbClr val="0D1117"/>
                          </a:solidFill>
                          <a:latin typeface="DM Sans"/>
                        </a:rPr>
                        <a:t>Library, version, licence</a:t>
                      </a:r>
                    </a:p>
                  </a:txBody>
                  <a:tcPr marL="114300" marR="114300" marT="63500" marB="63500" anchor="ctr">
                    <a:solidFill>
                      <a:srgbClr val="FFFFFF"/>
                    </a:solidFill>
                  </a:tcPr>
                </a:tc>
              </a:tr>
              <a:tr h="520700">
                <a:tc>
                  <a:txBody>
                    <a:bodyPr wrap="square"/>
                    <a:lstStyle/>
                    <a:p>
                      <a:r>
                        <a:rPr sz="1200" b="0">
                          <a:solidFill>
                            <a:srgbClr val="0D1117"/>
                          </a:solidFill>
                          <a:latin typeface="DM Sans"/>
                        </a:rPr>
                        <a:t>Someone else's text or data</a:t>
                      </a:r>
                    </a:p>
                  </a:txBody>
                  <a:tcPr marL="114300" marR="114300" marT="63500" marB="63500" anchor="ctr">
                    <a:solidFill>
                      <a:srgbClr val="F6F8FA"/>
                    </a:solidFill>
                  </a:tcPr>
                </a:tc>
                <a:tc>
                  <a:txBody>
                    <a:bodyPr wrap="square"/>
                    <a:lstStyle/>
                    <a:p>
                      <a:r>
                        <a:rPr sz="1200" b="0">
                          <a:solidFill>
                            <a:srgbClr val="0D1117"/>
                          </a:solidFill>
                          <a:latin typeface="DM Sans"/>
                        </a:rPr>
                        <a:t>Permission, or a licence that allows it</a:t>
                      </a:r>
                    </a:p>
                  </a:txBody>
                  <a:tcPr marL="114300" marR="114300" marT="63500" marB="63500" anchor="ctr">
                    <a:solidFill>
                      <a:srgbClr val="F6F8FA"/>
                    </a:solidFill>
                  </a:tcPr>
                </a:tc>
                <a:tc>
                  <a:txBody>
                    <a:bodyPr wrap="square"/>
                    <a:lstStyle/>
                    <a:p>
                      <a:r>
                        <a:rPr sz="1200" b="0">
                          <a:solidFill>
                            <a:srgbClr val="0D1117"/>
                          </a:solidFill>
                          <a:latin typeface="DM Sans"/>
                        </a:rPr>
                        <a:t>Who gave permission, and when</a:t>
                      </a:r>
                    </a:p>
                  </a:txBody>
                  <a:tcPr marL="114300" marR="114300" marT="63500" marB="63500" anchor="ctr">
                    <a:solidFill>
                      <a:srgbClr val="F6F8FA"/>
                    </a:solidFill>
                  </a:tcPr>
                </a:tc>
              </a:tr>
            </a:tbl>
          </a:graphicData>
        </a:graphic>
      </p:graphicFrame>
      <p:sp>
        <p:nvSpPr>
          <p:cNvPr id="15" name="Rounded Rectangle 14"/>
          <p:cNvSpPr/>
          <p:nvPr/>
        </p:nvSpPr>
        <p:spPr>
          <a:xfrm>
            <a:off x="457200" y="5435600"/>
            <a:ext cx="11264900" cy="965200"/>
          </a:xfrm>
          <a:prstGeom prst="roundRect">
            <a:avLst>
              <a:gd name="adj" fmla="val 7000"/>
            </a:avLst>
          </a:prstGeom>
          <a:solidFill>
            <a:srgbClr val="FEF3E0"/>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900" y="5562600"/>
            <a:ext cx="10731500" cy="266700"/>
          </a:xfrm>
          <a:prstGeom prst="rect">
            <a:avLst/>
          </a:prstGeom>
          <a:noFill/>
        </p:spPr>
        <p:txBody>
          <a:bodyPr wrap="square" lIns="0" rIns="0" tIns="0" bIns="0" anchor="t">
            <a:spAutoFit/>
          </a:bodyPr>
          <a:lstStyle/>
          <a:p>
            <a:pPr algn="l">
              <a:spcAft>
                <a:spcPts val="600"/>
              </a:spcAft>
            </a:pPr>
            <a:r>
              <a:rPr sz="1100" b="1">
                <a:solidFill>
                  <a:srgbClr val="F59E0B"/>
                </a:solidFill>
                <a:latin typeface="DM Sans"/>
              </a:rPr>
              <a:t>ATTRIBUTION IS NOT A LICENCE</a:t>
            </a:r>
          </a:p>
        </p:txBody>
      </p:sp>
      <p:sp>
        <p:nvSpPr>
          <p:cNvPr id="17" name="TextBox 16"/>
          <p:cNvSpPr txBox="1"/>
          <p:nvPr/>
        </p:nvSpPr>
        <p:spPr>
          <a:xfrm>
            <a:off x="723900" y="5892800"/>
            <a:ext cx="10731500" cy="381000"/>
          </a:xfrm>
          <a:prstGeom prst="rect">
            <a:avLst/>
          </a:prstGeom>
          <a:noFill/>
        </p:spPr>
        <p:txBody>
          <a:bodyPr wrap="square" lIns="0" rIns="0" tIns="0" bIns="0" anchor="t">
            <a:spAutoFit/>
          </a:bodyPr>
          <a:lstStyle/>
          <a:p>
            <a:pPr algn="l">
              <a:lnSpc>
                <a:spcPct val="120000"/>
              </a:lnSpc>
              <a:spcAft>
                <a:spcPts val="700"/>
              </a:spcAft>
            </a:pPr>
            <a:r>
              <a:rPr sz="1350" b="0">
                <a:solidFill>
                  <a:srgbClr val="0D1117"/>
                </a:solidFill>
                <a:latin typeface="DM Sans"/>
              </a:rPr>
              <a:t>Crediting the creator does not by itself give you the right to use the work. The licence gives you the right; the credit is a condition of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4000"/>
            <a:ext cx="54864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y11-ac-u2-l12-building-responsibly</a:t>
            </a:r>
          </a:p>
        </p:txBody>
      </p:sp>
      <p:sp>
        <p:nvSpPr>
          <p:cNvPr id="3" name="TextBox 2"/>
          <p:cNvSpPr txBox="1"/>
          <p:nvPr/>
        </p:nvSpPr>
        <p:spPr>
          <a:xfrm>
            <a:off x="8978900" y="254000"/>
            <a:ext cx="2743200" cy="254000"/>
          </a:xfrm>
          <a:prstGeom prst="rect">
            <a:avLst/>
          </a:prstGeom>
          <a:noFill/>
        </p:spPr>
        <p:txBody>
          <a:bodyPr wrap="square" lIns="0" rIns="0" tIns="0" bIns="0" anchor="t">
            <a:spAutoFit/>
          </a:bodyPr>
          <a:lstStyle/>
          <a:p>
            <a:pPr algn="r">
              <a:spcAft>
                <a:spcPts val="600"/>
              </a:spcAft>
            </a:pPr>
            <a:r>
              <a:rPr sz="1050" b="0">
                <a:solidFill>
                  <a:srgbClr val="57606A"/>
                </a:solidFill>
                <a:latin typeface="DM Mono"/>
              </a:rPr>
              <a:t>Mr Smith</a:t>
            </a:r>
          </a:p>
        </p:txBody>
      </p:sp>
      <p:sp>
        <p:nvSpPr>
          <p:cNvPr id="4" name="Rounded Rectangle 3"/>
          <p:cNvSpPr/>
          <p:nvPr/>
        </p:nvSpPr>
        <p:spPr>
          <a:xfrm>
            <a:off x="8219440" y="596900"/>
            <a:ext cx="1927860" cy="304800"/>
          </a:xfrm>
          <a:prstGeom prst="roundRect">
            <a:avLst>
              <a:gd name="adj" fmla="val 50000"/>
            </a:avLst>
          </a:prstGeom>
          <a:solidFill>
            <a:srgbClr val="FFFFFF"/>
          </a:solidFill>
          <a:ln w="12700">
            <a:solidFill>
              <a:srgbClr val="436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19440" y="596900"/>
            <a:ext cx="1927860" cy="304800"/>
          </a:xfrm>
          <a:prstGeom prst="rect">
            <a:avLst/>
          </a:prstGeom>
          <a:noFill/>
        </p:spPr>
        <p:txBody>
          <a:bodyPr wrap="square" lIns="0" rIns="0" tIns="0" bIns="0" anchor="ctr">
            <a:spAutoFit/>
          </a:bodyPr>
          <a:lstStyle/>
          <a:p>
            <a:pPr algn="ctr">
              <a:spcAft>
                <a:spcPts val="600"/>
              </a:spcAft>
            </a:pPr>
            <a:r>
              <a:rPr sz="850" b="1">
                <a:solidFill>
                  <a:srgbClr val="4361EE"/>
                </a:solidFill>
                <a:latin typeface="DM Sans"/>
              </a:rPr>
              <a:t>EXPLICIT TEACHING</a:t>
            </a:r>
          </a:p>
        </p:txBody>
      </p:sp>
      <p:sp>
        <p:nvSpPr>
          <p:cNvPr id="6" name="Rounded Rectangle 5"/>
          <p:cNvSpPr/>
          <p:nvPr/>
        </p:nvSpPr>
        <p:spPr>
          <a:xfrm>
            <a:off x="10261600" y="596900"/>
            <a:ext cx="1460500" cy="304800"/>
          </a:xfrm>
          <a:prstGeom prst="roundRect">
            <a:avLst>
              <a:gd name="adj" fmla="val 50000"/>
            </a:avLst>
          </a:prstGeom>
          <a:solidFill>
            <a:srgbClr val="FFFFFF"/>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88600" y="711200"/>
            <a:ext cx="76200" cy="7620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02900" y="596900"/>
            <a:ext cx="1219200" cy="304800"/>
          </a:xfrm>
          <a:prstGeom prst="rect">
            <a:avLst/>
          </a:prstGeom>
          <a:noFill/>
        </p:spPr>
        <p:txBody>
          <a:bodyPr wrap="square" lIns="0" rIns="0" tIns="0" bIns="0" anchor="ctr">
            <a:spAutoFit/>
          </a:bodyPr>
          <a:lstStyle/>
          <a:p>
            <a:pPr algn="l">
              <a:spcAft>
                <a:spcPts val="600"/>
              </a:spcAft>
            </a:pPr>
            <a:r>
              <a:rPr sz="850" b="1">
                <a:solidFill>
                  <a:srgbClr val="EF4444"/>
                </a:solidFill>
                <a:latin typeface="DM Sans"/>
              </a:rPr>
              <a:t>DEVICES OFF</a:t>
            </a:r>
          </a:p>
        </p:txBody>
      </p:sp>
      <p:sp>
        <p:nvSpPr>
          <p:cNvPr id="9" name="Rounded Rectangle 8"/>
          <p:cNvSpPr/>
          <p:nvPr/>
        </p:nvSpPr>
        <p:spPr>
          <a:xfrm>
            <a:off x="10172700" y="977900"/>
            <a:ext cx="1549400" cy="304800"/>
          </a:xfrm>
          <a:prstGeom prst="roundRect">
            <a:avLst>
              <a:gd name="adj" fmla="val 50000"/>
            </a:avLst>
          </a:prstGeom>
          <a:solidFill>
            <a:srgbClr val="E8E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72700" y="977900"/>
            <a:ext cx="1549400" cy="304800"/>
          </a:xfrm>
          <a:prstGeom prst="rect">
            <a:avLst/>
          </a:prstGeom>
          <a:noFill/>
        </p:spPr>
        <p:txBody>
          <a:bodyPr wrap="square" lIns="0" rIns="0" tIns="0" bIns="0" anchor="ctr">
            <a:spAutoFit/>
          </a:bodyPr>
          <a:lstStyle/>
          <a:p>
            <a:pPr algn="ctr">
              <a:spcAft>
                <a:spcPts val="600"/>
              </a:spcAft>
            </a:pPr>
            <a:r>
              <a:rPr sz="850" b="1">
                <a:solidFill>
                  <a:srgbClr val="4361EE"/>
                </a:solidFill>
                <a:latin typeface="DM Sans"/>
              </a:rPr>
              <a:t>📋 COPY THIS</a:t>
            </a:r>
          </a:p>
        </p:txBody>
      </p:sp>
      <p:sp>
        <p:nvSpPr>
          <p:cNvPr id="11" name="TextBox 10"/>
          <p:cNvSpPr txBox="1"/>
          <p:nvPr/>
        </p:nvSpPr>
        <p:spPr>
          <a:xfrm>
            <a:off x="457200" y="1371600"/>
            <a:ext cx="11264900" cy="508000"/>
          </a:xfrm>
          <a:prstGeom prst="rect">
            <a:avLst/>
          </a:prstGeom>
          <a:noFill/>
        </p:spPr>
        <p:txBody>
          <a:bodyPr wrap="square" lIns="0" rIns="0" tIns="0" bIns="0" anchor="t">
            <a:spAutoFit/>
          </a:bodyPr>
          <a:lstStyle/>
          <a:p>
            <a:pPr algn="l">
              <a:spcAft>
                <a:spcPts val="600"/>
              </a:spcAft>
            </a:pPr>
            <a:r>
              <a:rPr sz="2900" b="0">
                <a:solidFill>
                  <a:srgbClr val="0D1117"/>
                </a:solidFill>
                <a:latin typeface="DM Serif Display"/>
              </a:rPr>
              <a:t>Legal Is the Floor, Not the Ceiling</a:t>
            </a:r>
          </a:p>
        </p:txBody>
      </p:sp>
      <p:sp>
        <p:nvSpPr>
          <p:cNvPr id="12" name="TextBox 11"/>
          <p:cNvSpPr txBox="1"/>
          <p:nvPr/>
        </p:nvSpPr>
        <p:spPr>
          <a:xfrm>
            <a:off x="457200" y="6426200"/>
            <a:ext cx="4572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7</a:t>
            </a:r>
          </a:p>
        </p:txBody>
      </p:sp>
      <p:sp>
        <p:nvSpPr>
          <p:cNvPr id="13" name="TextBox 12"/>
          <p:cNvSpPr txBox="1"/>
          <p:nvPr/>
        </p:nvSpPr>
        <p:spPr>
          <a:xfrm>
            <a:off x="457200" y="1981200"/>
            <a:ext cx="11264900" cy="304800"/>
          </a:xfrm>
          <a:prstGeom prst="rect">
            <a:avLst/>
          </a:prstGeom>
          <a:noFill/>
        </p:spPr>
        <p:txBody>
          <a:bodyPr wrap="square" lIns="0" rIns="0" tIns="0" bIns="0" anchor="t">
            <a:spAutoFit/>
          </a:bodyPr>
          <a:lstStyle/>
          <a:p>
            <a:pPr algn="l">
              <a:spcAft>
                <a:spcPts val="600"/>
              </a:spcAft>
            </a:pPr>
            <a:r>
              <a:rPr sz="1450" b="0">
                <a:solidFill>
                  <a:srgbClr val="57606A"/>
                </a:solidFill>
                <a:latin typeface="DM Sans"/>
              </a:rPr>
              <a:t>Plenty of things you are allowed to build are still things you should not build.</a:t>
            </a:r>
          </a:p>
        </p:txBody>
      </p:sp>
      <p:sp>
        <p:nvSpPr>
          <p:cNvPr id="14" name="TextBox 13"/>
          <p:cNvSpPr txBox="1"/>
          <p:nvPr/>
        </p:nvSpPr>
        <p:spPr>
          <a:xfrm>
            <a:off x="457200" y="2463800"/>
            <a:ext cx="5461000" cy="266700"/>
          </a:xfrm>
          <a:prstGeom prst="rect">
            <a:avLst/>
          </a:prstGeom>
          <a:noFill/>
        </p:spPr>
        <p:txBody>
          <a:bodyPr wrap="square" lIns="0" rIns="0" tIns="0" bIns="0" anchor="t">
            <a:spAutoFit/>
          </a:bodyPr>
          <a:lstStyle/>
          <a:p>
            <a:pPr algn="l">
              <a:spcAft>
                <a:spcPts val="600"/>
              </a:spcAft>
            </a:pPr>
            <a:r>
              <a:rPr sz="1100" b="1">
                <a:solidFill>
                  <a:srgbClr val="57606A"/>
                </a:solidFill>
                <a:latin typeface="DM Sans"/>
              </a:rPr>
              <a:t>IN EMERGING TECHNOLOGY</a:t>
            </a:r>
          </a:p>
        </p:txBody>
      </p:sp>
      <p:sp>
        <p:nvSpPr>
          <p:cNvPr id="15" name="Oval 14"/>
          <p:cNvSpPr/>
          <p:nvPr/>
        </p:nvSpPr>
        <p:spPr>
          <a:xfrm>
            <a:off x="457200" y="2844800"/>
            <a:ext cx="266700" cy="2667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832100"/>
            <a:ext cx="266700" cy="266700"/>
          </a:xfrm>
          <a:prstGeom prst="rect">
            <a:avLst/>
          </a:prstGeom>
          <a:noFill/>
        </p:spPr>
        <p:txBody>
          <a:bodyPr wrap="square" lIns="0" rIns="0" tIns="0" bIns="0" anchor="ctr">
            <a:spAutoFit/>
          </a:bodyPr>
          <a:lstStyle/>
          <a:p>
            <a:pPr algn="ctr">
              <a:spcAft>
                <a:spcPts val="600"/>
              </a:spcAft>
            </a:pPr>
            <a:r>
              <a:rPr sz="1200" b="1">
                <a:solidFill>
                  <a:srgbClr val="FFFFFF"/>
                </a:solidFill>
                <a:latin typeface="DM Sans"/>
              </a:rPr>
              <a:t>✓</a:t>
            </a:r>
          </a:p>
        </p:txBody>
      </p:sp>
      <p:sp>
        <p:nvSpPr>
          <p:cNvPr id="17" name="TextBox 16"/>
          <p:cNvSpPr txBox="1"/>
          <p:nvPr/>
        </p:nvSpPr>
        <p:spPr>
          <a:xfrm>
            <a:off x="863600" y="2794000"/>
            <a:ext cx="5054600" cy="685800"/>
          </a:xfrm>
          <a:prstGeom prst="rect">
            <a:avLst/>
          </a:prstGeom>
          <a:noFill/>
        </p:spPr>
        <p:txBody>
          <a:bodyPr wrap="square" lIns="0" rIns="0" tIns="0" bIns="0" anchor="t">
            <a:spAutoFit/>
          </a:bodyPr>
          <a:lstStyle/>
          <a:p>
            <a:pPr algn="l">
              <a:lnSpc>
                <a:spcPct val="115000"/>
              </a:lnSpc>
              <a:spcAft>
                <a:spcPts val="600"/>
              </a:spcAft>
            </a:pPr>
            <a:r>
              <a:rPr sz="1350" b="0">
                <a:solidFill>
                  <a:srgbClr val="0D1117"/>
                </a:solidFill>
                <a:latin typeface="DM Sans"/>
              </a:rPr>
              <a:t>Cyber security threats — what happens to your users if your data is breached?</a:t>
            </a:r>
          </a:p>
        </p:txBody>
      </p:sp>
      <p:sp>
        <p:nvSpPr>
          <p:cNvPr id="18" name="Oval 17"/>
          <p:cNvSpPr/>
          <p:nvPr/>
        </p:nvSpPr>
        <p:spPr>
          <a:xfrm>
            <a:off x="457200" y="3530600"/>
            <a:ext cx="266700" cy="2667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517900"/>
            <a:ext cx="266700" cy="266700"/>
          </a:xfrm>
          <a:prstGeom prst="rect">
            <a:avLst/>
          </a:prstGeom>
          <a:noFill/>
        </p:spPr>
        <p:txBody>
          <a:bodyPr wrap="square" lIns="0" rIns="0" tIns="0" bIns="0" anchor="ctr">
            <a:spAutoFit/>
          </a:bodyPr>
          <a:lstStyle/>
          <a:p>
            <a:pPr algn="ctr">
              <a:spcAft>
                <a:spcPts val="600"/>
              </a:spcAft>
            </a:pPr>
            <a:r>
              <a:rPr sz="1200" b="1">
                <a:solidFill>
                  <a:srgbClr val="FFFFFF"/>
                </a:solidFill>
                <a:latin typeface="DM Sans"/>
              </a:rPr>
              <a:t>✓</a:t>
            </a:r>
          </a:p>
        </p:txBody>
      </p:sp>
      <p:sp>
        <p:nvSpPr>
          <p:cNvPr id="20" name="TextBox 19"/>
          <p:cNvSpPr txBox="1"/>
          <p:nvPr/>
        </p:nvSpPr>
        <p:spPr>
          <a:xfrm>
            <a:off x="863600" y="3479800"/>
            <a:ext cx="5054600" cy="685800"/>
          </a:xfrm>
          <a:prstGeom prst="rect">
            <a:avLst/>
          </a:prstGeom>
          <a:noFill/>
        </p:spPr>
        <p:txBody>
          <a:bodyPr wrap="square" lIns="0" rIns="0" tIns="0" bIns="0" anchor="t">
            <a:spAutoFit/>
          </a:bodyPr>
          <a:lstStyle/>
          <a:p>
            <a:pPr algn="l">
              <a:lnSpc>
                <a:spcPct val="115000"/>
              </a:lnSpc>
              <a:spcAft>
                <a:spcPts val="600"/>
              </a:spcAft>
            </a:pPr>
            <a:r>
              <a:rPr sz="1350" b="0">
                <a:solidFill>
                  <a:srgbClr val="0D1117"/>
                </a:solidFill>
                <a:latin typeface="DM Sans"/>
              </a:rPr>
              <a:t>Biometric systems — a password can be changed; a face cannot.</a:t>
            </a:r>
          </a:p>
        </p:txBody>
      </p:sp>
      <p:sp>
        <p:nvSpPr>
          <p:cNvPr id="21" name="Oval 20"/>
          <p:cNvSpPr/>
          <p:nvPr/>
        </p:nvSpPr>
        <p:spPr>
          <a:xfrm>
            <a:off x="457200" y="4216400"/>
            <a:ext cx="266700" cy="2667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203700"/>
            <a:ext cx="266700" cy="266700"/>
          </a:xfrm>
          <a:prstGeom prst="rect">
            <a:avLst/>
          </a:prstGeom>
          <a:noFill/>
        </p:spPr>
        <p:txBody>
          <a:bodyPr wrap="square" lIns="0" rIns="0" tIns="0" bIns="0" anchor="ctr">
            <a:spAutoFit/>
          </a:bodyPr>
          <a:lstStyle/>
          <a:p>
            <a:pPr algn="ctr">
              <a:spcAft>
                <a:spcPts val="600"/>
              </a:spcAft>
            </a:pPr>
            <a:r>
              <a:rPr sz="1200" b="1">
                <a:solidFill>
                  <a:srgbClr val="FFFFFF"/>
                </a:solidFill>
                <a:latin typeface="DM Sans"/>
              </a:rPr>
              <a:t>✓</a:t>
            </a:r>
          </a:p>
        </p:txBody>
      </p:sp>
      <p:sp>
        <p:nvSpPr>
          <p:cNvPr id="23" name="TextBox 22"/>
          <p:cNvSpPr txBox="1"/>
          <p:nvPr/>
        </p:nvSpPr>
        <p:spPr>
          <a:xfrm>
            <a:off x="863600" y="4165600"/>
            <a:ext cx="5054600" cy="685800"/>
          </a:xfrm>
          <a:prstGeom prst="rect">
            <a:avLst/>
          </a:prstGeom>
          <a:noFill/>
        </p:spPr>
        <p:txBody>
          <a:bodyPr wrap="square" lIns="0" rIns="0" tIns="0" bIns="0" anchor="t">
            <a:spAutoFit/>
          </a:bodyPr>
          <a:lstStyle/>
          <a:p>
            <a:pPr algn="l">
              <a:lnSpc>
                <a:spcPct val="115000"/>
              </a:lnSpc>
              <a:spcAft>
                <a:spcPts val="600"/>
              </a:spcAft>
            </a:pPr>
            <a:r>
              <a:rPr sz="1350" b="0">
                <a:solidFill>
                  <a:srgbClr val="0D1117"/>
                </a:solidFill>
                <a:latin typeface="DM Sans"/>
              </a:rPr>
              <a:t>Job displacement — who does this solution replace, and was that the intent?</a:t>
            </a:r>
          </a:p>
        </p:txBody>
      </p:sp>
      <p:sp>
        <p:nvSpPr>
          <p:cNvPr id="24" name="TextBox 23"/>
          <p:cNvSpPr txBox="1"/>
          <p:nvPr/>
        </p:nvSpPr>
        <p:spPr>
          <a:xfrm>
            <a:off x="6299200" y="2463800"/>
            <a:ext cx="5422900" cy="266700"/>
          </a:xfrm>
          <a:prstGeom prst="rect">
            <a:avLst/>
          </a:prstGeom>
          <a:noFill/>
        </p:spPr>
        <p:txBody>
          <a:bodyPr wrap="square" lIns="0" rIns="0" tIns="0" bIns="0" anchor="t">
            <a:spAutoFit/>
          </a:bodyPr>
          <a:lstStyle/>
          <a:p>
            <a:pPr algn="l">
              <a:spcAft>
                <a:spcPts val="600"/>
              </a:spcAft>
            </a:pPr>
            <a:r>
              <a:rPr sz="1100" b="1">
                <a:solidFill>
                  <a:srgbClr val="57606A"/>
                </a:solidFill>
                <a:latin typeface="DM Sans"/>
              </a:rPr>
              <a:t>IN USING AI TO BUILD</a:t>
            </a:r>
          </a:p>
        </p:txBody>
      </p:sp>
      <p:sp>
        <p:nvSpPr>
          <p:cNvPr id="25" name="Oval 24"/>
          <p:cNvSpPr/>
          <p:nvPr/>
        </p:nvSpPr>
        <p:spPr>
          <a:xfrm>
            <a:off x="6299200" y="2844800"/>
            <a:ext cx="266700" cy="2667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99200" y="2832100"/>
            <a:ext cx="266700" cy="266700"/>
          </a:xfrm>
          <a:prstGeom prst="rect">
            <a:avLst/>
          </a:prstGeom>
          <a:noFill/>
        </p:spPr>
        <p:txBody>
          <a:bodyPr wrap="square" lIns="0" rIns="0" tIns="0" bIns="0" anchor="ctr">
            <a:spAutoFit/>
          </a:bodyPr>
          <a:lstStyle/>
          <a:p>
            <a:pPr algn="ctr">
              <a:spcAft>
                <a:spcPts val="600"/>
              </a:spcAft>
            </a:pPr>
            <a:r>
              <a:rPr sz="1200" b="1">
                <a:solidFill>
                  <a:srgbClr val="FFFFFF"/>
                </a:solidFill>
                <a:latin typeface="DM Sans"/>
              </a:rPr>
              <a:t>✓</a:t>
            </a:r>
          </a:p>
        </p:txBody>
      </p:sp>
      <p:sp>
        <p:nvSpPr>
          <p:cNvPr id="27" name="TextBox 26"/>
          <p:cNvSpPr txBox="1"/>
          <p:nvPr/>
        </p:nvSpPr>
        <p:spPr>
          <a:xfrm>
            <a:off x="6705600" y="2794000"/>
            <a:ext cx="5016500" cy="685800"/>
          </a:xfrm>
          <a:prstGeom prst="rect">
            <a:avLst/>
          </a:prstGeom>
          <a:noFill/>
        </p:spPr>
        <p:txBody>
          <a:bodyPr wrap="square" lIns="0" rIns="0" tIns="0" bIns="0" anchor="t">
            <a:spAutoFit/>
          </a:bodyPr>
          <a:lstStyle/>
          <a:p>
            <a:pPr algn="l">
              <a:lnSpc>
                <a:spcPct val="115000"/>
              </a:lnSpc>
              <a:spcAft>
                <a:spcPts val="600"/>
              </a:spcAft>
            </a:pPr>
            <a:r>
              <a:rPr sz="1350" b="0">
                <a:solidFill>
                  <a:srgbClr val="0D1117"/>
                </a:solidFill>
                <a:latin typeface="DM Sans"/>
              </a:rPr>
              <a:t>Output that is biased, discriminatory or harmful.</a:t>
            </a:r>
          </a:p>
        </p:txBody>
      </p:sp>
      <p:sp>
        <p:nvSpPr>
          <p:cNvPr id="28" name="Oval 27"/>
          <p:cNvSpPr/>
          <p:nvPr/>
        </p:nvSpPr>
        <p:spPr>
          <a:xfrm>
            <a:off x="6299200" y="3530600"/>
            <a:ext cx="266700" cy="2667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99200" y="3517900"/>
            <a:ext cx="266700" cy="266700"/>
          </a:xfrm>
          <a:prstGeom prst="rect">
            <a:avLst/>
          </a:prstGeom>
          <a:noFill/>
        </p:spPr>
        <p:txBody>
          <a:bodyPr wrap="square" lIns="0" rIns="0" tIns="0" bIns="0" anchor="ctr">
            <a:spAutoFit/>
          </a:bodyPr>
          <a:lstStyle/>
          <a:p>
            <a:pPr algn="ctr">
              <a:spcAft>
                <a:spcPts val="600"/>
              </a:spcAft>
            </a:pPr>
            <a:r>
              <a:rPr sz="1200" b="1">
                <a:solidFill>
                  <a:srgbClr val="FFFFFF"/>
                </a:solidFill>
                <a:latin typeface="DM Sans"/>
              </a:rPr>
              <a:t>✓</a:t>
            </a:r>
          </a:p>
        </p:txBody>
      </p:sp>
      <p:sp>
        <p:nvSpPr>
          <p:cNvPr id="30" name="TextBox 29"/>
          <p:cNvSpPr txBox="1"/>
          <p:nvPr/>
        </p:nvSpPr>
        <p:spPr>
          <a:xfrm>
            <a:off x="6705600" y="3479800"/>
            <a:ext cx="5016500" cy="685800"/>
          </a:xfrm>
          <a:prstGeom prst="rect">
            <a:avLst/>
          </a:prstGeom>
          <a:noFill/>
        </p:spPr>
        <p:txBody>
          <a:bodyPr wrap="square" lIns="0" rIns="0" tIns="0" bIns="0" anchor="t">
            <a:spAutoFit/>
          </a:bodyPr>
          <a:lstStyle/>
          <a:p>
            <a:pPr algn="l">
              <a:lnSpc>
                <a:spcPct val="115000"/>
              </a:lnSpc>
              <a:spcAft>
                <a:spcPts val="600"/>
              </a:spcAft>
            </a:pPr>
            <a:r>
              <a:rPr sz="1350" b="0">
                <a:solidFill>
                  <a:srgbClr val="0D1117"/>
                </a:solidFill>
                <a:latin typeface="DM Sans"/>
              </a:rPr>
              <a:t>Output that could be used for a cyber attack.</a:t>
            </a:r>
          </a:p>
        </p:txBody>
      </p:sp>
      <p:sp>
        <p:nvSpPr>
          <p:cNvPr id="31" name="Oval 30"/>
          <p:cNvSpPr/>
          <p:nvPr/>
        </p:nvSpPr>
        <p:spPr>
          <a:xfrm>
            <a:off x="6299200" y="4216400"/>
            <a:ext cx="266700" cy="2667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99200" y="4203700"/>
            <a:ext cx="266700" cy="266700"/>
          </a:xfrm>
          <a:prstGeom prst="rect">
            <a:avLst/>
          </a:prstGeom>
          <a:noFill/>
        </p:spPr>
        <p:txBody>
          <a:bodyPr wrap="square" lIns="0" rIns="0" tIns="0" bIns="0" anchor="ctr">
            <a:spAutoFit/>
          </a:bodyPr>
          <a:lstStyle/>
          <a:p>
            <a:pPr algn="ctr">
              <a:spcAft>
                <a:spcPts val="600"/>
              </a:spcAft>
            </a:pPr>
            <a:r>
              <a:rPr sz="1200" b="1">
                <a:solidFill>
                  <a:srgbClr val="FFFFFF"/>
                </a:solidFill>
                <a:latin typeface="DM Sans"/>
              </a:rPr>
              <a:t>✓</a:t>
            </a:r>
          </a:p>
        </p:txBody>
      </p:sp>
      <p:sp>
        <p:nvSpPr>
          <p:cNvPr id="33" name="TextBox 32"/>
          <p:cNvSpPr txBox="1"/>
          <p:nvPr/>
        </p:nvSpPr>
        <p:spPr>
          <a:xfrm>
            <a:off x="6705600" y="4165600"/>
            <a:ext cx="5016500" cy="685800"/>
          </a:xfrm>
          <a:prstGeom prst="rect">
            <a:avLst/>
          </a:prstGeom>
          <a:noFill/>
        </p:spPr>
        <p:txBody>
          <a:bodyPr wrap="square" lIns="0" rIns="0" tIns="0" bIns="0" anchor="t">
            <a:spAutoFit/>
          </a:bodyPr>
          <a:lstStyle/>
          <a:p>
            <a:pPr algn="l">
              <a:lnSpc>
                <a:spcPct val="115000"/>
              </a:lnSpc>
              <a:spcAft>
                <a:spcPts val="600"/>
              </a:spcAft>
            </a:pPr>
            <a:r>
              <a:rPr sz="1350" b="0">
                <a:solidFill>
                  <a:srgbClr val="0D1117"/>
                </a:solidFill>
                <a:latin typeface="DM Sans"/>
              </a:rPr>
              <a:t>Output generated from existing copyright material.</a:t>
            </a:r>
          </a:p>
        </p:txBody>
      </p:sp>
      <p:sp>
        <p:nvSpPr>
          <p:cNvPr id="34" name="Rounded Rectangle 33"/>
          <p:cNvSpPr/>
          <p:nvPr/>
        </p:nvSpPr>
        <p:spPr>
          <a:xfrm>
            <a:off x="457200" y="5029200"/>
            <a:ext cx="11264900" cy="1143000"/>
          </a:xfrm>
          <a:prstGeom prst="roundRect">
            <a:avLst>
              <a:gd name="adj" fmla="val 7000"/>
            </a:avLst>
          </a:prstGeom>
          <a:solidFill>
            <a:srgbClr val="F5F0FE"/>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3900" y="5156200"/>
            <a:ext cx="10731500" cy="266700"/>
          </a:xfrm>
          <a:prstGeom prst="rect">
            <a:avLst/>
          </a:prstGeom>
          <a:noFill/>
        </p:spPr>
        <p:txBody>
          <a:bodyPr wrap="square" lIns="0" rIns="0" tIns="0" bIns="0" anchor="t">
            <a:spAutoFit/>
          </a:bodyPr>
          <a:lstStyle/>
          <a:p>
            <a:pPr algn="l">
              <a:spcAft>
                <a:spcPts val="600"/>
              </a:spcAft>
            </a:pPr>
            <a:r>
              <a:rPr sz="1100" b="1">
                <a:solidFill>
                  <a:srgbClr val="8B5CF6"/>
                </a:solidFill>
                <a:latin typeface="DM Sans"/>
              </a:rPr>
              <a:t>AUSTRALIA'S AI ETHICS PRINCIPLES — A FRAMEWORK, NOT A LAW</a:t>
            </a:r>
          </a:p>
        </p:txBody>
      </p:sp>
      <p:sp>
        <p:nvSpPr>
          <p:cNvPr id="36" name="TextBox 35"/>
          <p:cNvSpPr txBox="1"/>
          <p:nvPr/>
        </p:nvSpPr>
        <p:spPr>
          <a:xfrm>
            <a:off x="723900" y="5486400"/>
            <a:ext cx="10731500" cy="558800"/>
          </a:xfrm>
          <a:prstGeom prst="rect">
            <a:avLst/>
          </a:prstGeom>
          <a:noFill/>
        </p:spPr>
        <p:txBody>
          <a:bodyPr wrap="square" lIns="0" rIns="0" tIns="0" bIns="0" anchor="t">
            <a:spAutoFit/>
          </a:bodyPr>
          <a:lstStyle/>
          <a:p>
            <a:pPr algn="l">
              <a:lnSpc>
                <a:spcPct val="120000"/>
              </a:lnSpc>
              <a:spcAft>
                <a:spcPts val="700"/>
              </a:spcAft>
            </a:pPr>
            <a:r>
              <a:rPr sz="1350" b="0">
                <a:solidFill>
                  <a:srgbClr val="0D1117"/>
                </a:solidFill>
                <a:latin typeface="DM Sans"/>
              </a:rPr>
              <a:t>Voluntary, but it is what industry is measured against: fairness, transparency, contestability, accountability. If you used AI to generate part of your solution, you are accountable for what it produced — not the tool.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4000"/>
            <a:ext cx="54864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y11-ac-u2-l12-building-responsibly</a:t>
            </a:r>
          </a:p>
        </p:txBody>
      </p:sp>
      <p:sp>
        <p:nvSpPr>
          <p:cNvPr id="3" name="TextBox 2"/>
          <p:cNvSpPr txBox="1"/>
          <p:nvPr/>
        </p:nvSpPr>
        <p:spPr>
          <a:xfrm>
            <a:off x="8978900" y="254000"/>
            <a:ext cx="2743200" cy="254000"/>
          </a:xfrm>
          <a:prstGeom prst="rect">
            <a:avLst/>
          </a:prstGeom>
          <a:noFill/>
        </p:spPr>
        <p:txBody>
          <a:bodyPr wrap="square" lIns="0" rIns="0" tIns="0" bIns="0" anchor="t">
            <a:spAutoFit/>
          </a:bodyPr>
          <a:lstStyle/>
          <a:p>
            <a:pPr algn="r">
              <a:spcAft>
                <a:spcPts val="600"/>
              </a:spcAft>
            </a:pPr>
            <a:r>
              <a:rPr sz="1050" b="0">
                <a:solidFill>
                  <a:srgbClr val="57606A"/>
                </a:solidFill>
                <a:latin typeface="DM Mono"/>
              </a:rPr>
              <a:t>Mr Smith</a:t>
            </a:r>
          </a:p>
        </p:txBody>
      </p:sp>
      <p:sp>
        <p:nvSpPr>
          <p:cNvPr id="4" name="Rounded Rectangle 3"/>
          <p:cNvSpPr/>
          <p:nvPr/>
        </p:nvSpPr>
        <p:spPr>
          <a:xfrm>
            <a:off x="8750300" y="596900"/>
            <a:ext cx="1397000" cy="304800"/>
          </a:xfrm>
          <a:prstGeom prst="roundRect">
            <a:avLst>
              <a:gd name="adj" fmla="val 50000"/>
            </a:avLst>
          </a:prstGeom>
          <a:solidFill>
            <a:srgbClr val="FFFFFF"/>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50300" y="596900"/>
            <a:ext cx="1397000" cy="304800"/>
          </a:xfrm>
          <a:prstGeom prst="rect">
            <a:avLst/>
          </a:prstGeom>
          <a:noFill/>
        </p:spPr>
        <p:txBody>
          <a:bodyPr wrap="square" lIns="0" rIns="0" tIns="0" bIns="0" anchor="ctr">
            <a:spAutoFit/>
          </a:bodyPr>
          <a:lstStyle/>
          <a:p>
            <a:pPr algn="ctr">
              <a:spcAft>
                <a:spcPts val="600"/>
              </a:spcAft>
            </a:pPr>
            <a:r>
              <a:rPr sz="850" b="1">
                <a:solidFill>
                  <a:srgbClr val="8B5CF6"/>
                </a:solidFill>
                <a:latin typeface="DM Sans"/>
              </a:rPr>
              <a:t>BRAIN BREAK</a:t>
            </a:r>
          </a:p>
        </p:txBody>
      </p:sp>
      <p:sp>
        <p:nvSpPr>
          <p:cNvPr id="6" name="Rounded Rectangle 5"/>
          <p:cNvSpPr/>
          <p:nvPr/>
        </p:nvSpPr>
        <p:spPr>
          <a:xfrm>
            <a:off x="10261600" y="596900"/>
            <a:ext cx="1460500" cy="304800"/>
          </a:xfrm>
          <a:prstGeom prst="roundRect">
            <a:avLst>
              <a:gd name="adj" fmla="val 50000"/>
            </a:avLst>
          </a:prstGeom>
          <a:solidFill>
            <a:srgbClr val="FFFFFF"/>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88600" y="711200"/>
            <a:ext cx="76200" cy="7620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02900" y="596900"/>
            <a:ext cx="1219200" cy="304800"/>
          </a:xfrm>
          <a:prstGeom prst="rect">
            <a:avLst/>
          </a:prstGeom>
          <a:noFill/>
        </p:spPr>
        <p:txBody>
          <a:bodyPr wrap="square" lIns="0" rIns="0" tIns="0" bIns="0" anchor="ctr">
            <a:spAutoFit/>
          </a:bodyPr>
          <a:lstStyle/>
          <a:p>
            <a:pPr algn="l">
              <a:spcAft>
                <a:spcPts val="600"/>
              </a:spcAft>
            </a:pPr>
            <a:r>
              <a:rPr sz="850" b="1">
                <a:solidFill>
                  <a:srgbClr val="EF4444"/>
                </a:solidFill>
                <a:latin typeface="DM Sans"/>
              </a:rPr>
              <a:t>DEVICES OFF</a:t>
            </a:r>
          </a:p>
        </p:txBody>
      </p:sp>
      <p:sp>
        <p:nvSpPr>
          <p:cNvPr id="9" name="TextBox 8"/>
          <p:cNvSpPr txBox="1"/>
          <p:nvPr/>
        </p:nvSpPr>
        <p:spPr>
          <a:xfrm>
            <a:off x="457200" y="1371600"/>
            <a:ext cx="11264900" cy="508000"/>
          </a:xfrm>
          <a:prstGeom prst="rect">
            <a:avLst/>
          </a:prstGeom>
          <a:noFill/>
        </p:spPr>
        <p:txBody>
          <a:bodyPr wrap="square" lIns="0" rIns="0" tIns="0" bIns="0" anchor="t">
            <a:spAutoFit/>
          </a:bodyPr>
          <a:lstStyle/>
          <a:p>
            <a:pPr algn="l">
              <a:spcAft>
                <a:spcPts val="600"/>
              </a:spcAft>
            </a:pPr>
            <a:r>
              <a:rPr sz="2900" b="0">
                <a:solidFill>
                  <a:srgbClr val="0D1117"/>
                </a:solidFill>
                <a:latin typeface="DM Serif Display"/>
              </a:rPr>
              <a:t>60-Second Stretch: Line Up</a:t>
            </a:r>
          </a:p>
        </p:txBody>
      </p:sp>
      <p:sp>
        <p:nvSpPr>
          <p:cNvPr id="10" name="TextBox 9"/>
          <p:cNvSpPr txBox="1"/>
          <p:nvPr/>
        </p:nvSpPr>
        <p:spPr>
          <a:xfrm>
            <a:off x="457200" y="6426200"/>
            <a:ext cx="4572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8</a:t>
            </a:r>
          </a:p>
        </p:txBody>
      </p:sp>
      <p:sp>
        <p:nvSpPr>
          <p:cNvPr id="11" name="TextBox 10"/>
          <p:cNvSpPr txBox="1"/>
          <p:nvPr/>
        </p:nvSpPr>
        <p:spPr>
          <a:xfrm>
            <a:off x="457200" y="2032000"/>
            <a:ext cx="11264900" cy="304800"/>
          </a:xfrm>
          <a:prstGeom prst="rect">
            <a:avLst/>
          </a:prstGeom>
          <a:noFill/>
        </p:spPr>
        <p:txBody>
          <a:bodyPr wrap="square" lIns="0" rIns="0" tIns="0" bIns="0" anchor="t">
            <a:spAutoFit/>
          </a:bodyPr>
          <a:lstStyle/>
          <a:p>
            <a:pPr algn="l">
              <a:spcAft>
                <a:spcPts val="600"/>
              </a:spcAft>
            </a:pPr>
            <a:r>
              <a:rPr sz="1450" b="0">
                <a:solidFill>
                  <a:srgbClr val="57606A"/>
                </a:solidFill>
                <a:latin typeface="DM Sans"/>
              </a:rPr>
              <a:t>Stand up for this one.</a:t>
            </a:r>
          </a:p>
        </p:txBody>
      </p:sp>
      <p:sp>
        <p:nvSpPr>
          <p:cNvPr id="12" name="Oval 11"/>
          <p:cNvSpPr/>
          <p:nvPr/>
        </p:nvSpPr>
        <p:spPr>
          <a:xfrm>
            <a:off x="457200" y="2540000"/>
            <a:ext cx="381000" cy="381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540000"/>
            <a:ext cx="381000" cy="381000"/>
          </a:xfrm>
          <a:prstGeom prst="rect">
            <a:avLst/>
          </a:prstGeom>
          <a:noFill/>
        </p:spPr>
        <p:txBody>
          <a:bodyPr wrap="square" lIns="0" rIns="0" tIns="0" bIns="0" anchor="ctr">
            <a:spAutoFit/>
          </a:bodyPr>
          <a:lstStyle/>
          <a:p>
            <a:pPr algn="ctr">
              <a:spcAft>
                <a:spcPts val="600"/>
              </a:spcAft>
            </a:pPr>
            <a:r>
              <a:rPr sz="1300" b="1">
                <a:solidFill>
                  <a:srgbClr val="FFFFFF"/>
                </a:solidFill>
                <a:latin typeface="DM Sans"/>
              </a:rPr>
              <a:t>1</a:t>
            </a:r>
          </a:p>
        </p:txBody>
      </p:sp>
      <p:sp>
        <p:nvSpPr>
          <p:cNvPr id="14" name="TextBox 13"/>
          <p:cNvSpPr txBox="1"/>
          <p:nvPr/>
        </p:nvSpPr>
        <p:spPr>
          <a:xfrm>
            <a:off x="1016000" y="2540000"/>
            <a:ext cx="10706100" cy="381000"/>
          </a:xfrm>
          <a:prstGeom prst="rect">
            <a:avLst/>
          </a:prstGeom>
          <a:noFill/>
        </p:spPr>
        <p:txBody>
          <a:bodyPr wrap="square" lIns="0" rIns="0" tIns="0" bIns="0" anchor="ctr">
            <a:spAutoFit/>
          </a:bodyPr>
          <a:lstStyle/>
          <a:p>
            <a:pPr algn="l">
              <a:spcAft>
                <a:spcPts val="600"/>
              </a:spcAft>
            </a:pPr>
            <a:r>
              <a:rPr sz="1500" b="0">
                <a:solidFill>
                  <a:srgbClr val="0D1117"/>
                </a:solidFill>
                <a:latin typeface="DM Sans"/>
              </a:rPr>
              <a:t>Teacher reads out a piece of data — "your school email", "your heart rate", "your home address".</a:t>
            </a:r>
          </a:p>
        </p:txBody>
      </p:sp>
      <p:sp>
        <p:nvSpPr>
          <p:cNvPr id="15" name="Oval 14"/>
          <p:cNvSpPr/>
          <p:nvPr/>
        </p:nvSpPr>
        <p:spPr>
          <a:xfrm>
            <a:off x="457200" y="3200400"/>
            <a:ext cx="381000" cy="381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200400"/>
            <a:ext cx="381000" cy="381000"/>
          </a:xfrm>
          <a:prstGeom prst="rect">
            <a:avLst/>
          </a:prstGeom>
          <a:noFill/>
        </p:spPr>
        <p:txBody>
          <a:bodyPr wrap="square" lIns="0" rIns="0" tIns="0" bIns="0" anchor="ctr">
            <a:spAutoFit/>
          </a:bodyPr>
          <a:lstStyle/>
          <a:p>
            <a:pPr algn="ctr">
              <a:spcAft>
                <a:spcPts val="600"/>
              </a:spcAft>
            </a:pPr>
            <a:r>
              <a:rPr sz="1300" b="1">
                <a:solidFill>
                  <a:srgbClr val="FFFFFF"/>
                </a:solidFill>
                <a:latin typeface="DM Sans"/>
              </a:rPr>
              <a:t>2</a:t>
            </a:r>
          </a:p>
        </p:txBody>
      </p:sp>
      <p:sp>
        <p:nvSpPr>
          <p:cNvPr id="17" name="TextBox 16"/>
          <p:cNvSpPr txBox="1"/>
          <p:nvPr/>
        </p:nvSpPr>
        <p:spPr>
          <a:xfrm>
            <a:off x="1016000" y="3200400"/>
            <a:ext cx="10706100" cy="381000"/>
          </a:xfrm>
          <a:prstGeom prst="rect">
            <a:avLst/>
          </a:prstGeom>
          <a:noFill/>
        </p:spPr>
        <p:txBody>
          <a:bodyPr wrap="square" lIns="0" rIns="0" tIns="0" bIns="0" anchor="ctr">
            <a:spAutoFit/>
          </a:bodyPr>
          <a:lstStyle/>
          <a:p>
            <a:pPr algn="l">
              <a:spcAft>
                <a:spcPts val="600"/>
              </a:spcAft>
            </a:pPr>
            <a:r>
              <a:rPr sz="1500" b="0">
                <a:solidFill>
                  <a:srgbClr val="0D1117"/>
                </a:solidFill>
                <a:latin typeface="DM Sans"/>
              </a:rPr>
              <a:t>Move LEFT if you would hand it to a student-built app. Move RIGHT if you would not.</a:t>
            </a:r>
          </a:p>
        </p:txBody>
      </p:sp>
      <p:sp>
        <p:nvSpPr>
          <p:cNvPr id="18" name="Oval 17"/>
          <p:cNvSpPr/>
          <p:nvPr/>
        </p:nvSpPr>
        <p:spPr>
          <a:xfrm>
            <a:off x="457200" y="3860800"/>
            <a:ext cx="381000" cy="381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860800"/>
            <a:ext cx="381000" cy="381000"/>
          </a:xfrm>
          <a:prstGeom prst="rect">
            <a:avLst/>
          </a:prstGeom>
          <a:noFill/>
        </p:spPr>
        <p:txBody>
          <a:bodyPr wrap="square" lIns="0" rIns="0" tIns="0" bIns="0" anchor="ctr">
            <a:spAutoFit/>
          </a:bodyPr>
          <a:lstStyle/>
          <a:p>
            <a:pPr algn="ctr">
              <a:spcAft>
                <a:spcPts val="600"/>
              </a:spcAft>
            </a:pPr>
            <a:r>
              <a:rPr sz="1300" b="1">
                <a:solidFill>
                  <a:srgbClr val="FFFFFF"/>
                </a:solidFill>
                <a:latin typeface="DM Sans"/>
              </a:rPr>
              <a:t>3</a:t>
            </a:r>
          </a:p>
        </p:txBody>
      </p:sp>
      <p:sp>
        <p:nvSpPr>
          <p:cNvPr id="20" name="TextBox 19"/>
          <p:cNvSpPr txBox="1"/>
          <p:nvPr/>
        </p:nvSpPr>
        <p:spPr>
          <a:xfrm>
            <a:off x="1016000" y="3860800"/>
            <a:ext cx="10706100" cy="381000"/>
          </a:xfrm>
          <a:prstGeom prst="rect">
            <a:avLst/>
          </a:prstGeom>
          <a:noFill/>
        </p:spPr>
        <p:txBody>
          <a:bodyPr wrap="square" lIns="0" rIns="0" tIns="0" bIns="0" anchor="ctr">
            <a:spAutoFit/>
          </a:bodyPr>
          <a:lstStyle/>
          <a:p>
            <a:pPr algn="l">
              <a:spcAft>
                <a:spcPts val="600"/>
              </a:spcAft>
            </a:pPr>
            <a:r>
              <a:rPr sz="1500" b="0">
                <a:solidFill>
                  <a:srgbClr val="0D1117"/>
                </a:solidFill>
                <a:latin typeface="DM Sans"/>
              </a:rPr>
              <a:t>One person from each side says why, in a sentence. Then sit down.</a:t>
            </a:r>
          </a:p>
        </p:txBody>
      </p:sp>
      <p:sp>
        <p:nvSpPr>
          <p:cNvPr id="21" name="TextBox 20"/>
          <p:cNvSpPr txBox="1"/>
          <p:nvPr/>
        </p:nvSpPr>
        <p:spPr>
          <a:xfrm>
            <a:off x="457200" y="4826000"/>
            <a:ext cx="11264900" cy="508000"/>
          </a:xfrm>
          <a:prstGeom prst="rect">
            <a:avLst/>
          </a:prstGeom>
          <a:noFill/>
        </p:spPr>
        <p:txBody>
          <a:bodyPr wrap="square" lIns="0" rIns="0" tIns="0" bIns="0" anchor="t">
            <a:spAutoFit/>
          </a:bodyPr>
          <a:lstStyle/>
          <a:p>
            <a:pPr algn="l">
              <a:spcAft>
                <a:spcPts val="600"/>
              </a:spcAft>
            </a:pPr>
            <a:r>
              <a:rPr sz="1450" b="0">
                <a:solidFill>
                  <a:srgbClr val="57606A"/>
                </a:solidFill>
                <a:latin typeface="DM Sans"/>
              </a:rPr>
              <a:t>Watch where the room splits. That line is roughly where the law sits too.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4000"/>
            <a:ext cx="54864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y11-ac-u2-l12-building-responsibly</a:t>
            </a:r>
          </a:p>
        </p:txBody>
      </p:sp>
      <p:sp>
        <p:nvSpPr>
          <p:cNvPr id="3" name="TextBox 2"/>
          <p:cNvSpPr txBox="1"/>
          <p:nvPr/>
        </p:nvSpPr>
        <p:spPr>
          <a:xfrm>
            <a:off x="8978900" y="254000"/>
            <a:ext cx="2743200" cy="254000"/>
          </a:xfrm>
          <a:prstGeom prst="rect">
            <a:avLst/>
          </a:prstGeom>
          <a:noFill/>
        </p:spPr>
        <p:txBody>
          <a:bodyPr wrap="square" lIns="0" rIns="0" tIns="0" bIns="0" anchor="t">
            <a:spAutoFit/>
          </a:bodyPr>
          <a:lstStyle/>
          <a:p>
            <a:pPr algn="r">
              <a:spcAft>
                <a:spcPts val="600"/>
              </a:spcAft>
            </a:pPr>
            <a:r>
              <a:rPr sz="1050" b="0">
                <a:solidFill>
                  <a:srgbClr val="57606A"/>
                </a:solidFill>
                <a:latin typeface="DM Mono"/>
              </a:rPr>
              <a:t>Mr Smith</a:t>
            </a:r>
          </a:p>
        </p:txBody>
      </p:sp>
      <p:sp>
        <p:nvSpPr>
          <p:cNvPr id="4" name="Rounded Rectangle 3"/>
          <p:cNvSpPr/>
          <p:nvPr/>
        </p:nvSpPr>
        <p:spPr>
          <a:xfrm>
            <a:off x="8750300" y="596900"/>
            <a:ext cx="1397000" cy="304800"/>
          </a:xfrm>
          <a:prstGeom prst="roundRect">
            <a:avLst>
              <a:gd name="adj" fmla="val 5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50300" y="596900"/>
            <a:ext cx="1397000" cy="304800"/>
          </a:xfrm>
          <a:prstGeom prst="rect">
            <a:avLst/>
          </a:prstGeom>
          <a:noFill/>
        </p:spPr>
        <p:txBody>
          <a:bodyPr wrap="square" lIns="0" rIns="0" tIns="0" bIns="0" anchor="ctr">
            <a:spAutoFit/>
          </a:bodyPr>
          <a:lstStyle/>
          <a:p>
            <a:pPr algn="ctr">
              <a:spcAft>
                <a:spcPts val="600"/>
              </a:spcAft>
            </a:pPr>
            <a:r>
              <a:rPr sz="850" b="1">
                <a:solidFill>
                  <a:srgbClr val="10B981"/>
                </a:solidFill>
                <a:latin typeface="DM Sans"/>
              </a:rPr>
              <a:t>APPLICATION</a:t>
            </a:r>
          </a:p>
        </p:txBody>
      </p:sp>
      <p:sp>
        <p:nvSpPr>
          <p:cNvPr id="6" name="Rounded Rectangle 5"/>
          <p:cNvSpPr/>
          <p:nvPr/>
        </p:nvSpPr>
        <p:spPr>
          <a:xfrm>
            <a:off x="10261600" y="596900"/>
            <a:ext cx="1460500" cy="304800"/>
          </a:xfrm>
          <a:prstGeom prst="roundRect">
            <a:avLst>
              <a:gd name="adj" fmla="val 5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88600" y="711200"/>
            <a:ext cx="76200" cy="76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02900" y="596900"/>
            <a:ext cx="1219200" cy="304800"/>
          </a:xfrm>
          <a:prstGeom prst="rect">
            <a:avLst/>
          </a:prstGeom>
          <a:noFill/>
        </p:spPr>
        <p:txBody>
          <a:bodyPr wrap="square" lIns="0" rIns="0" tIns="0" bIns="0" anchor="ctr">
            <a:spAutoFit/>
          </a:bodyPr>
          <a:lstStyle/>
          <a:p>
            <a:pPr algn="l">
              <a:spcAft>
                <a:spcPts val="600"/>
              </a:spcAft>
            </a:pPr>
            <a:r>
              <a:rPr sz="850" b="1">
                <a:solidFill>
                  <a:srgbClr val="10B981"/>
                </a:solidFill>
                <a:latin typeface="DM Sans"/>
              </a:rPr>
              <a:t>DEVICES ON</a:t>
            </a:r>
          </a:p>
        </p:txBody>
      </p:sp>
      <p:sp>
        <p:nvSpPr>
          <p:cNvPr id="9" name="TextBox 8"/>
          <p:cNvSpPr txBox="1"/>
          <p:nvPr/>
        </p:nvSpPr>
        <p:spPr>
          <a:xfrm>
            <a:off x="457200" y="1371600"/>
            <a:ext cx="11264900" cy="508000"/>
          </a:xfrm>
          <a:prstGeom prst="rect">
            <a:avLst/>
          </a:prstGeom>
          <a:noFill/>
        </p:spPr>
        <p:txBody>
          <a:bodyPr wrap="square" lIns="0" rIns="0" tIns="0" bIns="0" anchor="t">
            <a:spAutoFit/>
          </a:bodyPr>
          <a:lstStyle/>
          <a:p>
            <a:pPr algn="l">
              <a:spcAft>
                <a:spcPts val="600"/>
              </a:spcAft>
            </a:pPr>
            <a:r>
              <a:rPr sz="2900" b="0">
                <a:solidFill>
                  <a:srgbClr val="0D1117"/>
                </a:solidFill>
                <a:latin typeface="DM Serif Display"/>
              </a:rPr>
              <a:t>Open Your Workbook</a:t>
            </a:r>
          </a:p>
        </p:txBody>
      </p:sp>
      <p:sp>
        <p:nvSpPr>
          <p:cNvPr id="10" name="TextBox 9"/>
          <p:cNvSpPr txBox="1"/>
          <p:nvPr/>
        </p:nvSpPr>
        <p:spPr>
          <a:xfrm>
            <a:off x="457200" y="6426200"/>
            <a:ext cx="4572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9</a:t>
            </a:r>
          </a:p>
        </p:txBody>
      </p:sp>
      <p:sp>
        <p:nvSpPr>
          <p:cNvPr id="11" name="Rounded Rectangle 10"/>
          <p:cNvSpPr/>
          <p:nvPr/>
        </p:nvSpPr>
        <p:spPr>
          <a:xfrm>
            <a:off x="457200" y="1981200"/>
            <a:ext cx="11264900" cy="508000"/>
          </a:xfrm>
          <a:prstGeom prst="roundRect">
            <a:avLst>
              <a:gd name="adj" fmla="val 14000"/>
            </a:avLst>
          </a:prstGeom>
          <a:solidFill>
            <a:srgbClr val="E8E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1981200"/>
            <a:ext cx="10731500" cy="508000"/>
          </a:xfrm>
          <a:prstGeom prst="rect">
            <a:avLst/>
          </a:prstGeom>
          <a:noFill/>
        </p:spPr>
        <p:txBody>
          <a:bodyPr wrap="square" lIns="0" rIns="0" tIns="0" bIns="0" anchor="ctr">
            <a:spAutoFit/>
          </a:bodyPr>
          <a:lstStyle/>
          <a:p>
            <a:pPr algn="l">
              <a:spcAft>
                <a:spcPts val="600"/>
              </a:spcAft>
            </a:pPr>
            <a:r>
              <a:rPr sz="1400" b="1">
                <a:solidFill>
                  <a:srgbClr val="4361EE"/>
                </a:solidFill>
                <a:latin typeface="DM Mono"/>
              </a:rPr>
              <a:t>L12_BuildingResponsibly_workbook.html</a:t>
            </a:r>
          </a:p>
        </p:txBody>
      </p:sp>
      <p:sp>
        <p:nvSpPr>
          <p:cNvPr id="13" name="Rounded Rectangle 12"/>
          <p:cNvSpPr/>
          <p:nvPr/>
        </p:nvSpPr>
        <p:spPr>
          <a:xfrm>
            <a:off x="457200" y="2743200"/>
            <a:ext cx="11264900" cy="939800"/>
          </a:xfrm>
          <a:prstGeom prst="roundRect">
            <a:avLst>
              <a:gd name="adj" fmla="val 10000"/>
            </a:avLst>
          </a:prstGeom>
          <a:solidFill>
            <a:srgbClr val="F6F8FA"/>
          </a:solidFill>
          <a:ln w="12700">
            <a:solidFill>
              <a:srgbClr val="576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23900" y="3022600"/>
            <a:ext cx="381000" cy="3810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3022600"/>
            <a:ext cx="381000" cy="381000"/>
          </a:xfrm>
          <a:prstGeom prst="rect">
            <a:avLst/>
          </a:prstGeom>
          <a:noFill/>
        </p:spPr>
        <p:txBody>
          <a:bodyPr wrap="square" lIns="0" rIns="0" tIns="0" bIns="0" anchor="ctr">
            <a:spAutoFit/>
          </a:bodyPr>
          <a:lstStyle/>
          <a:p>
            <a:pPr algn="ctr">
              <a:spcAft>
                <a:spcPts val="600"/>
              </a:spcAft>
            </a:pPr>
            <a:r>
              <a:rPr sz="1300" b="1">
                <a:solidFill>
                  <a:srgbClr val="FFFFFF"/>
                </a:solidFill>
                <a:latin typeface="DM Sans"/>
              </a:rPr>
              <a:t>1</a:t>
            </a:r>
          </a:p>
        </p:txBody>
      </p:sp>
      <p:sp>
        <p:nvSpPr>
          <p:cNvPr id="16" name="TextBox 15"/>
          <p:cNvSpPr txBox="1"/>
          <p:nvPr/>
        </p:nvSpPr>
        <p:spPr>
          <a:xfrm>
            <a:off x="1308100" y="2946400"/>
            <a:ext cx="10160000" cy="266700"/>
          </a:xfrm>
          <a:prstGeom prst="rect">
            <a:avLst/>
          </a:prstGeom>
          <a:noFill/>
        </p:spPr>
        <p:txBody>
          <a:bodyPr wrap="square" lIns="0" rIns="0" tIns="0" bIns="0" anchor="t">
            <a:spAutoFit/>
          </a:bodyPr>
          <a:lstStyle/>
          <a:p>
            <a:pPr algn="l">
              <a:spcAft>
                <a:spcPts val="600"/>
              </a:spcAft>
            </a:pPr>
            <a:r>
              <a:rPr sz="1500" b="1">
                <a:solidFill>
                  <a:srgbClr val="0D1117"/>
                </a:solidFill>
                <a:latin typeface="DM Sans"/>
              </a:rPr>
              <a:t>Data Audit</a:t>
            </a:r>
          </a:p>
        </p:txBody>
      </p:sp>
      <p:sp>
        <p:nvSpPr>
          <p:cNvPr id="17" name="TextBox 16"/>
          <p:cNvSpPr txBox="1"/>
          <p:nvPr/>
        </p:nvSpPr>
        <p:spPr>
          <a:xfrm>
            <a:off x="1308100" y="3251200"/>
            <a:ext cx="10160000" cy="304800"/>
          </a:xfrm>
          <a:prstGeom prst="rect">
            <a:avLst/>
          </a:prstGeom>
          <a:noFill/>
        </p:spPr>
        <p:txBody>
          <a:bodyPr wrap="square" lIns="0" rIns="0" tIns="0" bIns="0" anchor="t">
            <a:spAutoFit/>
          </a:bodyPr>
          <a:lstStyle/>
          <a:p>
            <a:pPr algn="l">
              <a:spcAft>
                <a:spcPts val="600"/>
              </a:spcAft>
            </a:pPr>
            <a:r>
              <a:rPr sz="1350" b="0">
                <a:solidFill>
                  <a:srgbClr val="57606A"/>
                </a:solidFill>
                <a:latin typeface="DM Sans"/>
              </a:rPr>
              <a:t>List every piece of data your solution collects, and why it needs it.</a:t>
            </a:r>
          </a:p>
        </p:txBody>
      </p:sp>
      <p:sp>
        <p:nvSpPr>
          <p:cNvPr id="18" name="Rounded Rectangle 17"/>
          <p:cNvSpPr/>
          <p:nvPr/>
        </p:nvSpPr>
        <p:spPr>
          <a:xfrm>
            <a:off x="457200" y="3810000"/>
            <a:ext cx="11264900" cy="939800"/>
          </a:xfrm>
          <a:prstGeom prst="roundRect">
            <a:avLst>
              <a:gd name="adj" fmla="val 10000"/>
            </a:avLst>
          </a:prstGeom>
          <a:solidFill>
            <a:srgbClr val="F6F8FA"/>
          </a:solidFill>
          <a:ln w="12700">
            <a:solidFill>
              <a:srgbClr val="576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23900" y="4089400"/>
            <a:ext cx="381000" cy="3810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4089400"/>
            <a:ext cx="381000" cy="381000"/>
          </a:xfrm>
          <a:prstGeom prst="rect">
            <a:avLst/>
          </a:prstGeom>
          <a:noFill/>
        </p:spPr>
        <p:txBody>
          <a:bodyPr wrap="square" lIns="0" rIns="0" tIns="0" bIns="0" anchor="ctr">
            <a:spAutoFit/>
          </a:bodyPr>
          <a:lstStyle/>
          <a:p>
            <a:pPr algn="ctr">
              <a:spcAft>
                <a:spcPts val="600"/>
              </a:spcAft>
            </a:pPr>
            <a:r>
              <a:rPr sz="1300" b="1">
                <a:solidFill>
                  <a:srgbClr val="FFFFFF"/>
                </a:solidFill>
                <a:latin typeface="DM Sans"/>
              </a:rPr>
              <a:t>2</a:t>
            </a:r>
          </a:p>
        </p:txBody>
      </p:sp>
      <p:sp>
        <p:nvSpPr>
          <p:cNvPr id="21" name="TextBox 20"/>
          <p:cNvSpPr txBox="1"/>
          <p:nvPr/>
        </p:nvSpPr>
        <p:spPr>
          <a:xfrm>
            <a:off x="1308100" y="4013200"/>
            <a:ext cx="10160000" cy="266700"/>
          </a:xfrm>
          <a:prstGeom prst="rect">
            <a:avLst/>
          </a:prstGeom>
          <a:noFill/>
        </p:spPr>
        <p:txBody>
          <a:bodyPr wrap="square" lIns="0" rIns="0" tIns="0" bIns="0" anchor="t">
            <a:spAutoFit/>
          </a:bodyPr>
          <a:lstStyle/>
          <a:p>
            <a:pPr algn="l">
              <a:spcAft>
                <a:spcPts val="600"/>
              </a:spcAft>
            </a:pPr>
            <a:r>
              <a:rPr sz="1500" b="1">
                <a:solidFill>
                  <a:srgbClr val="0D1117"/>
                </a:solidFill>
                <a:latin typeface="DM Sans"/>
              </a:rPr>
              <a:t>Legal Register</a:t>
            </a:r>
          </a:p>
        </p:txBody>
      </p:sp>
      <p:sp>
        <p:nvSpPr>
          <p:cNvPr id="22" name="TextBox 21"/>
          <p:cNvSpPr txBox="1"/>
          <p:nvPr/>
        </p:nvSpPr>
        <p:spPr>
          <a:xfrm>
            <a:off x="1308100" y="4318000"/>
            <a:ext cx="10160000" cy="304800"/>
          </a:xfrm>
          <a:prstGeom prst="rect">
            <a:avLst/>
          </a:prstGeom>
          <a:noFill/>
        </p:spPr>
        <p:txBody>
          <a:bodyPr wrap="square" lIns="0" rIns="0" tIns="0" bIns="0" anchor="t">
            <a:spAutoFit/>
          </a:bodyPr>
          <a:lstStyle/>
          <a:p>
            <a:pPr algn="l">
              <a:spcAft>
                <a:spcPts val="600"/>
              </a:spcAft>
            </a:pPr>
            <a:r>
              <a:rPr sz="1350" b="0">
                <a:solidFill>
                  <a:srgbClr val="57606A"/>
                </a:solidFill>
                <a:latin typeface="DM Sans"/>
              </a:rPr>
              <a:t>Match each one to the law that covers it, and to a licence where relevant.</a:t>
            </a:r>
          </a:p>
        </p:txBody>
      </p:sp>
      <p:sp>
        <p:nvSpPr>
          <p:cNvPr id="23" name="Rounded Rectangle 22"/>
          <p:cNvSpPr/>
          <p:nvPr/>
        </p:nvSpPr>
        <p:spPr>
          <a:xfrm>
            <a:off x="457200" y="4876800"/>
            <a:ext cx="11264900" cy="939800"/>
          </a:xfrm>
          <a:prstGeom prst="roundRect">
            <a:avLst>
              <a:gd name="adj" fmla="val 10000"/>
            </a:avLst>
          </a:prstGeom>
          <a:solidFill>
            <a:srgbClr val="F6F8FA"/>
          </a:solidFill>
          <a:ln w="12700">
            <a:solidFill>
              <a:srgbClr val="576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23900" y="5156200"/>
            <a:ext cx="381000" cy="3810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3900" y="5156200"/>
            <a:ext cx="381000" cy="381000"/>
          </a:xfrm>
          <a:prstGeom prst="rect">
            <a:avLst/>
          </a:prstGeom>
          <a:noFill/>
        </p:spPr>
        <p:txBody>
          <a:bodyPr wrap="square" lIns="0" rIns="0" tIns="0" bIns="0" anchor="ctr">
            <a:spAutoFit/>
          </a:bodyPr>
          <a:lstStyle/>
          <a:p>
            <a:pPr algn="ctr">
              <a:spcAft>
                <a:spcPts val="600"/>
              </a:spcAft>
            </a:pPr>
            <a:r>
              <a:rPr sz="1300" b="1">
                <a:solidFill>
                  <a:srgbClr val="FFFFFF"/>
                </a:solidFill>
                <a:latin typeface="DM Sans"/>
              </a:rPr>
              <a:t>3</a:t>
            </a:r>
          </a:p>
        </p:txBody>
      </p:sp>
      <p:sp>
        <p:nvSpPr>
          <p:cNvPr id="26" name="TextBox 25"/>
          <p:cNvSpPr txBox="1"/>
          <p:nvPr/>
        </p:nvSpPr>
        <p:spPr>
          <a:xfrm>
            <a:off x="1308100" y="5080000"/>
            <a:ext cx="10160000" cy="266700"/>
          </a:xfrm>
          <a:prstGeom prst="rect">
            <a:avLst/>
          </a:prstGeom>
          <a:noFill/>
        </p:spPr>
        <p:txBody>
          <a:bodyPr wrap="square" lIns="0" rIns="0" tIns="0" bIns="0" anchor="t">
            <a:spAutoFit/>
          </a:bodyPr>
          <a:lstStyle/>
          <a:p>
            <a:pPr algn="l">
              <a:spcAft>
                <a:spcPts val="600"/>
              </a:spcAft>
            </a:pPr>
            <a:r>
              <a:rPr sz="1500" b="1">
                <a:solidFill>
                  <a:srgbClr val="0D1117"/>
                </a:solidFill>
                <a:latin typeface="DM Sans"/>
              </a:rPr>
              <a:t>Build Plan Changes</a:t>
            </a:r>
          </a:p>
        </p:txBody>
      </p:sp>
      <p:sp>
        <p:nvSpPr>
          <p:cNvPr id="27" name="TextBox 26"/>
          <p:cNvSpPr txBox="1"/>
          <p:nvPr/>
        </p:nvSpPr>
        <p:spPr>
          <a:xfrm>
            <a:off x="1308100" y="5384800"/>
            <a:ext cx="10160000" cy="304800"/>
          </a:xfrm>
          <a:prstGeom prst="rect">
            <a:avLst/>
          </a:prstGeom>
          <a:noFill/>
        </p:spPr>
        <p:txBody>
          <a:bodyPr wrap="square" lIns="0" rIns="0" tIns="0" bIns="0" anchor="t">
            <a:spAutoFit/>
          </a:bodyPr>
          <a:lstStyle/>
          <a:p>
            <a:pPr algn="l">
              <a:spcAft>
                <a:spcPts val="600"/>
              </a:spcAft>
            </a:pPr>
            <a:r>
              <a:rPr sz="1350" b="0">
                <a:solidFill>
                  <a:srgbClr val="57606A"/>
                </a:solidFill>
                <a:latin typeface="DM Sans"/>
              </a:rPr>
              <a:t>Write down what you are changing as a result — and what you are not.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4000"/>
            <a:ext cx="54864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y11-ac-u2-l12-building-responsibly</a:t>
            </a:r>
          </a:p>
        </p:txBody>
      </p:sp>
      <p:sp>
        <p:nvSpPr>
          <p:cNvPr id="3" name="TextBox 2"/>
          <p:cNvSpPr txBox="1"/>
          <p:nvPr/>
        </p:nvSpPr>
        <p:spPr>
          <a:xfrm>
            <a:off x="8978900" y="254000"/>
            <a:ext cx="2743200" cy="254000"/>
          </a:xfrm>
          <a:prstGeom prst="rect">
            <a:avLst/>
          </a:prstGeom>
          <a:noFill/>
        </p:spPr>
        <p:txBody>
          <a:bodyPr wrap="square" lIns="0" rIns="0" tIns="0" bIns="0" anchor="t">
            <a:spAutoFit/>
          </a:bodyPr>
          <a:lstStyle/>
          <a:p>
            <a:pPr algn="r">
              <a:spcAft>
                <a:spcPts val="600"/>
              </a:spcAft>
            </a:pPr>
            <a:r>
              <a:rPr sz="1050" b="0">
                <a:solidFill>
                  <a:srgbClr val="57606A"/>
                </a:solidFill>
                <a:latin typeface="DM Mono"/>
              </a:rPr>
              <a:t>Mr Smith</a:t>
            </a:r>
          </a:p>
        </p:txBody>
      </p:sp>
      <p:sp>
        <p:nvSpPr>
          <p:cNvPr id="4" name="Rounded Rectangle 3"/>
          <p:cNvSpPr/>
          <p:nvPr/>
        </p:nvSpPr>
        <p:spPr>
          <a:xfrm>
            <a:off x="8750300" y="596900"/>
            <a:ext cx="1397000" cy="304800"/>
          </a:xfrm>
          <a:prstGeom prst="roundRect">
            <a:avLst>
              <a:gd name="adj" fmla="val 5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50300" y="596900"/>
            <a:ext cx="1397000" cy="304800"/>
          </a:xfrm>
          <a:prstGeom prst="rect">
            <a:avLst/>
          </a:prstGeom>
          <a:noFill/>
        </p:spPr>
        <p:txBody>
          <a:bodyPr wrap="square" lIns="0" rIns="0" tIns="0" bIns="0" anchor="ctr">
            <a:spAutoFit/>
          </a:bodyPr>
          <a:lstStyle/>
          <a:p>
            <a:pPr algn="ctr">
              <a:spcAft>
                <a:spcPts val="600"/>
              </a:spcAft>
            </a:pPr>
            <a:r>
              <a:rPr sz="850" b="1">
                <a:solidFill>
                  <a:srgbClr val="10B981"/>
                </a:solidFill>
                <a:latin typeface="DM Sans"/>
              </a:rPr>
              <a:t>APPLICATION</a:t>
            </a:r>
          </a:p>
        </p:txBody>
      </p:sp>
      <p:sp>
        <p:nvSpPr>
          <p:cNvPr id="6" name="Rounded Rectangle 5"/>
          <p:cNvSpPr/>
          <p:nvPr/>
        </p:nvSpPr>
        <p:spPr>
          <a:xfrm>
            <a:off x="10261600" y="596900"/>
            <a:ext cx="1460500" cy="304800"/>
          </a:xfrm>
          <a:prstGeom prst="roundRect">
            <a:avLst>
              <a:gd name="adj" fmla="val 5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88600" y="711200"/>
            <a:ext cx="76200" cy="76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02900" y="596900"/>
            <a:ext cx="1219200" cy="304800"/>
          </a:xfrm>
          <a:prstGeom prst="rect">
            <a:avLst/>
          </a:prstGeom>
          <a:noFill/>
        </p:spPr>
        <p:txBody>
          <a:bodyPr wrap="square" lIns="0" rIns="0" tIns="0" bIns="0" anchor="ctr">
            <a:spAutoFit/>
          </a:bodyPr>
          <a:lstStyle/>
          <a:p>
            <a:pPr algn="l">
              <a:spcAft>
                <a:spcPts val="600"/>
              </a:spcAft>
            </a:pPr>
            <a:r>
              <a:rPr sz="850" b="1">
                <a:solidFill>
                  <a:srgbClr val="10B981"/>
                </a:solidFill>
                <a:latin typeface="DM Sans"/>
              </a:rPr>
              <a:t>DEVICES ON</a:t>
            </a:r>
          </a:p>
        </p:txBody>
      </p:sp>
      <p:sp>
        <p:nvSpPr>
          <p:cNvPr id="9" name="TextBox 8"/>
          <p:cNvSpPr txBox="1"/>
          <p:nvPr/>
        </p:nvSpPr>
        <p:spPr>
          <a:xfrm>
            <a:off x="457200" y="1371600"/>
            <a:ext cx="11264900" cy="508000"/>
          </a:xfrm>
          <a:prstGeom prst="rect">
            <a:avLst/>
          </a:prstGeom>
          <a:noFill/>
        </p:spPr>
        <p:txBody>
          <a:bodyPr wrap="square" lIns="0" rIns="0" tIns="0" bIns="0" anchor="t">
            <a:spAutoFit/>
          </a:bodyPr>
          <a:lstStyle/>
          <a:p>
            <a:pPr algn="l">
              <a:spcAft>
                <a:spcPts val="600"/>
              </a:spcAft>
            </a:pPr>
            <a:r>
              <a:rPr sz="2900" b="0">
                <a:solidFill>
                  <a:srgbClr val="0D1117"/>
                </a:solidFill>
                <a:latin typeface="DM Serif Display"/>
              </a:rPr>
              <a:t>Task Card — Audit Your Data</a:t>
            </a:r>
          </a:p>
        </p:txBody>
      </p:sp>
      <p:sp>
        <p:nvSpPr>
          <p:cNvPr id="10" name="TextBox 9"/>
          <p:cNvSpPr txBox="1"/>
          <p:nvPr/>
        </p:nvSpPr>
        <p:spPr>
          <a:xfrm>
            <a:off x="457200" y="6426200"/>
            <a:ext cx="4572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10</a:t>
            </a:r>
          </a:p>
        </p:txBody>
      </p:sp>
      <p:sp>
        <p:nvSpPr>
          <p:cNvPr id="11" name="Rounded Rectangle 10"/>
          <p:cNvSpPr/>
          <p:nvPr/>
        </p:nvSpPr>
        <p:spPr>
          <a:xfrm>
            <a:off x="457200" y="2082800"/>
            <a:ext cx="11264900" cy="736600"/>
          </a:xfrm>
          <a:prstGeom prst="roundRect">
            <a:avLst>
              <a:gd name="adj" fmla="val 12000"/>
            </a:avLst>
          </a:prstGeom>
          <a:solidFill>
            <a:srgbClr val="F6F8FA"/>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2082800"/>
            <a:ext cx="508000" cy="736600"/>
          </a:xfrm>
          <a:prstGeom prst="rect">
            <a:avLst/>
          </a:prstGeom>
          <a:noFill/>
        </p:spPr>
        <p:txBody>
          <a:bodyPr wrap="square" lIns="0" rIns="0" tIns="0" bIns="0" anchor="ctr">
            <a:spAutoFit/>
          </a:bodyPr>
          <a:lstStyle/>
          <a:p>
            <a:pPr algn="l">
              <a:spcAft>
                <a:spcPts val="600"/>
              </a:spcAft>
            </a:pPr>
            <a:r>
              <a:rPr sz="1700" b="0">
                <a:solidFill>
                  <a:srgbClr val="0D1117"/>
                </a:solidFill>
                <a:latin typeface="DM Sans"/>
              </a:rPr>
              <a:t>🟢</a:t>
            </a:r>
          </a:p>
        </p:txBody>
      </p:sp>
      <p:sp>
        <p:nvSpPr>
          <p:cNvPr id="13" name="TextBox 12"/>
          <p:cNvSpPr txBox="1"/>
          <p:nvPr/>
        </p:nvSpPr>
        <p:spPr>
          <a:xfrm>
            <a:off x="1333500" y="2082800"/>
            <a:ext cx="10134600" cy="736600"/>
          </a:xfrm>
          <a:prstGeom prst="rect">
            <a:avLst/>
          </a:prstGeom>
          <a:noFill/>
        </p:spPr>
        <p:txBody>
          <a:bodyPr wrap="square" lIns="0" rIns="0" tIns="0" bIns="0" anchor="ctr">
            <a:spAutoFit/>
          </a:bodyPr>
          <a:lstStyle/>
          <a:p>
            <a:pPr algn="l">
              <a:lnSpc>
                <a:spcPct val="120000"/>
              </a:lnSpc>
              <a:spcAft>
                <a:spcPts val="600"/>
              </a:spcAft>
            </a:pPr>
            <a:r>
              <a:rPr sz="1500" b="0">
                <a:solidFill>
                  <a:srgbClr val="0D1117"/>
                </a:solidFill>
                <a:latin typeface="DM Sans"/>
              </a:rPr>
              <a:t>Open your preferred design (L10) and your build plan (L11).</a:t>
            </a:r>
          </a:p>
        </p:txBody>
      </p:sp>
      <p:sp>
        <p:nvSpPr>
          <p:cNvPr id="14" name="Rounded Rectangle 13"/>
          <p:cNvSpPr/>
          <p:nvPr/>
        </p:nvSpPr>
        <p:spPr>
          <a:xfrm>
            <a:off x="457200" y="2946400"/>
            <a:ext cx="11264900" cy="736600"/>
          </a:xfrm>
          <a:prstGeom prst="roundRect">
            <a:avLst>
              <a:gd name="adj" fmla="val 12000"/>
            </a:avLst>
          </a:prstGeom>
          <a:solidFill>
            <a:srgbClr val="F6F8FA"/>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2946400"/>
            <a:ext cx="508000" cy="736600"/>
          </a:xfrm>
          <a:prstGeom prst="rect">
            <a:avLst/>
          </a:prstGeom>
          <a:noFill/>
        </p:spPr>
        <p:txBody>
          <a:bodyPr wrap="square" lIns="0" rIns="0" tIns="0" bIns="0" anchor="ctr">
            <a:spAutoFit/>
          </a:bodyPr>
          <a:lstStyle/>
          <a:p>
            <a:pPr algn="l">
              <a:spcAft>
                <a:spcPts val="600"/>
              </a:spcAft>
            </a:pPr>
            <a:r>
              <a:rPr sz="1700" b="0">
                <a:solidFill>
                  <a:srgbClr val="0D1117"/>
                </a:solidFill>
                <a:latin typeface="DM Sans"/>
              </a:rPr>
              <a:t>🟢</a:t>
            </a:r>
          </a:p>
        </p:txBody>
      </p:sp>
      <p:sp>
        <p:nvSpPr>
          <p:cNvPr id="16" name="TextBox 15"/>
          <p:cNvSpPr txBox="1"/>
          <p:nvPr/>
        </p:nvSpPr>
        <p:spPr>
          <a:xfrm>
            <a:off x="1333500" y="2946400"/>
            <a:ext cx="10134600" cy="736600"/>
          </a:xfrm>
          <a:prstGeom prst="rect">
            <a:avLst/>
          </a:prstGeom>
          <a:noFill/>
        </p:spPr>
        <p:txBody>
          <a:bodyPr wrap="square" lIns="0" rIns="0" tIns="0" bIns="0" anchor="ctr">
            <a:spAutoFit/>
          </a:bodyPr>
          <a:lstStyle/>
          <a:p>
            <a:pPr algn="l">
              <a:lnSpc>
                <a:spcPct val="120000"/>
              </a:lnSpc>
              <a:spcAft>
                <a:spcPts val="600"/>
              </a:spcAft>
            </a:pPr>
            <a:r>
              <a:rPr sz="1500" b="0">
                <a:solidFill>
                  <a:srgbClr val="0D1117"/>
                </a:solidFill>
                <a:latin typeface="DM Sans"/>
              </a:rPr>
              <a:t>List every field, upload or permission your solution asks a user for.</a:t>
            </a:r>
          </a:p>
        </p:txBody>
      </p:sp>
      <p:sp>
        <p:nvSpPr>
          <p:cNvPr id="17" name="Rounded Rectangle 16"/>
          <p:cNvSpPr/>
          <p:nvPr/>
        </p:nvSpPr>
        <p:spPr>
          <a:xfrm>
            <a:off x="457200" y="3810000"/>
            <a:ext cx="11264900" cy="736600"/>
          </a:xfrm>
          <a:prstGeom prst="roundRect">
            <a:avLst>
              <a:gd name="adj" fmla="val 12000"/>
            </a:avLst>
          </a:prstGeom>
          <a:solidFill>
            <a:srgbClr val="F6F8FA"/>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3900" y="3810000"/>
            <a:ext cx="508000" cy="736600"/>
          </a:xfrm>
          <a:prstGeom prst="rect">
            <a:avLst/>
          </a:prstGeom>
          <a:noFill/>
        </p:spPr>
        <p:txBody>
          <a:bodyPr wrap="square" lIns="0" rIns="0" tIns="0" bIns="0" anchor="ctr">
            <a:spAutoFit/>
          </a:bodyPr>
          <a:lstStyle/>
          <a:p>
            <a:pPr algn="l">
              <a:spcAft>
                <a:spcPts val="600"/>
              </a:spcAft>
            </a:pPr>
            <a:r>
              <a:rPr sz="1700" b="0">
                <a:solidFill>
                  <a:srgbClr val="0D1117"/>
                </a:solidFill>
                <a:latin typeface="DM Sans"/>
              </a:rPr>
              <a:t>🟡</a:t>
            </a:r>
          </a:p>
        </p:txBody>
      </p:sp>
      <p:sp>
        <p:nvSpPr>
          <p:cNvPr id="19" name="TextBox 18"/>
          <p:cNvSpPr txBox="1"/>
          <p:nvPr/>
        </p:nvSpPr>
        <p:spPr>
          <a:xfrm>
            <a:off x="1333500" y="3810000"/>
            <a:ext cx="10134600" cy="736600"/>
          </a:xfrm>
          <a:prstGeom prst="rect">
            <a:avLst/>
          </a:prstGeom>
          <a:noFill/>
        </p:spPr>
        <p:txBody>
          <a:bodyPr wrap="square" lIns="0" rIns="0" tIns="0" bIns="0" anchor="ctr">
            <a:spAutoFit/>
          </a:bodyPr>
          <a:lstStyle/>
          <a:p>
            <a:pPr algn="l">
              <a:lnSpc>
                <a:spcPct val="120000"/>
              </a:lnSpc>
              <a:spcAft>
                <a:spcPts val="600"/>
              </a:spcAft>
            </a:pPr>
            <a:r>
              <a:rPr sz="1500" b="0">
                <a:solidFill>
                  <a:srgbClr val="0D1117"/>
                </a:solidFill>
                <a:latin typeface="DM Sans"/>
              </a:rPr>
              <a:t>For each one, write why the feature cannot work without it.</a:t>
            </a:r>
          </a:p>
        </p:txBody>
      </p:sp>
      <p:sp>
        <p:nvSpPr>
          <p:cNvPr id="20" name="Rounded Rectangle 19"/>
          <p:cNvSpPr/>
          <p:nvPr/>
        </p:nvSpPr>
        <p:spPr>
          <a:xfrm>
            <a:off x="457200" y="4673600"/>
            <a:ext cx="11264900" cy="736600"/>
          </a:xfrm>
          <a:prstGeom prst="roundRect">
            <a:avLst>
              <a:gd name="adj" fmla="val 12000"/>
            </a:avLst>
          </a:prstGeom>
          <a:solidFill>
            <a:srgbClr val="F6F8FA"/>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3900" y="4673600"/>
            <a:ext cx="508000" cy="736600"/>
          </a:xfrm>
          <a:prstGeom prst="rect">
            <a:avLst/>
          </a:prstGeom>
          <a:noFill/>
        </p:spPr>
        <p:txBody>
          <a:bodyPr wrap="square" lIns="0" rIns="0" tIns="0" bIns="0" anchor="ctr">
            <a:spAutoFit/>
          </a:bodyPr>
          <a:lstStyle/>
          <a:p>
            <a:pPr algn="l">
              <a:spcAft>
                <a:spcPts val="600"/>
              </a:spcAft>
            </a:pPr>
            <a:r>
              <a:rPr sz="1700" b="0">
                <a:solidFill>
                  <a:srgbClr val="0D1117"/>
                </a:solidFill>
                <a:latin typeface="DM Sans"/>
              </a:rPr>
              <a:t>🟡</a:t>
            </a:r>
          </a:p>
        </p:txBody>
      </p:sp>
      <p:sp>
        <p:nvSpPr>
          <p:cNvPr id="22" name="TextBox 21"/>
          <p:cNvSpPr txBox="1"/>
          <p:nvPr/>
        </p:nvSpPr>
        <p:spPr>
          <a:xfrm>
            <a:off x="1333500" y="4673600"/>
            <a:ext cx="10134600" cy="736600"/>
          </a:xfrm>
          <a:prstGeom prst="rect">
            <a:avLst/>
          </a:prstGeom>
          <a:noFill/>
        </p:spPr>
        <p:txBody>
          <a:bodyPr wrap="square" lIns="0" rIns="0" tIns="0" bIns="0" anchor="ctr">
            <a:spAutoFit/>
          </a:bodyPr>
          <a:lstStyle/>
          <a:p>
            <a:pPr algn="l">
              <a:lnSpc>
                <a:spcPct val="120000"/>
              </a:lnSpc>
              <a:spcAft>
                <a:spcPts val="600"/>
              </a:spcAft>
            </a:pPr>
            <a:r>
              <a:rPr sz="1500" b="0">
                <a:solidFill>
                  <a:srgbClr val="0D1117"/>
                </a:solidFill>
                <a:latin typeface="DM Sans"/>
              </a:rPr>
              <a:t>Flag anything you cannot justify — those are your candidates to cut.</a:t>
            </a:r>
          </a:p>
        </p:txBody>
      </p:sp>
      <p:sp>
        <p:nvSpPr>
          <p:cNvPr id="23" name="TextBox 22"/>
          <p:cNvSpPr txBox="1"/>
          <p:nvPr/>
        </p:nvSpPr>
        <p:spPr>
          <a:xfrm>
            <a:off x="457200" y="5638800"/>
            <a:ext cx="11264900" cy="584200"/>
          </a:xfrm>
          <a:prstGeom prst="rect">
            <a:avLst/>
          </a:prstGeom>
          <a:noFill/>
        </p:spPr>
        <p:txBody>
          <a:bodyPr wrap="square" lIns="0" rIns="0" tIns="0" bIns="0" anchor="t">
            <a:spAutoFit/>
          </a:bodyPr>
          <a:lstStyle/>
          <a:p>
            <a:pPr algn="l">
              <a:lnSpc>
                <a:spcPct val="125000"/>
              </a:lnSpc>
              <a:spcAft>
                <a:spcPts val="600"/>
              </a:spcAft>
            </a:pPr>
            <a:r>
              <a:rPr sz="1300" b="0">
                <a:solidFill>
                  <a:srgbClr val="57606A"/>
                </a:solidFill>
                <a:latin typeface="DM Sans"/>
              </a:rPr>
              <a:t>If your solution collects nothing at all, say so in the workbook and explain how it still meets its purpose — that is a legitimate answer.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4000"/>
            <a:ext cx="54864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y11-ac-u2-l12-building-responsibly</a:t>
            </a:r>
          </a:p>
        </p:txBody>
      </p:sp>
      <p:sp>
        <p:nvSpPr>
          <p:cNvPr id="3" name="TextBox 2"/>
          <p:cNvSpPr txBox="1"/>
          <p:nvPr/>
        </p:nvSpPr>
        <p:spPr>
          <a:xfrm>
            <a:off x="8978900" y="254000"/>
            <a:ext cx="2743200" cy="254000"/>
          </a:xfrm>
          <a:prstGeom prst="rect">
            <a:avLst/>
          </a:prstGeom>
          <a:noFill/>
        </p:spPr>
        <p:txBody>
          <a:bodyPr wrap="square" lIns="0" rIns="0" tIns="0" bIns="0" anchor="t">
            <a:spAutoFit/>
          </a:bodyPr>
          <a:lstStyle/>
          <a:p>
            <a:pPr algn="r">
              <a:spcAft>
                <a:spcPts val="600"/>
              </a:spcAft>
            </a:pPr>
            <a:r>
              <a:rPr sz="1050" b="0">
                <a:solidFill>
                  <a:srgbClr val="57606A"/>
                </a:solidFill>
                <a:latin typeface="DM Mono"/>
              </a:rPr>
              <a:t>Mr Smith</a:t>
            </a:r>
          </a:p>
        </p:txBody>
      </p:sp>
      <p:sp>
        <p:nvSpPr>
          <p:cNvPr id="4" name="Rounded Rectangle 3"/>
          <p:cNvSpPr/>
          <p:nvPr/>
        </p:nvSpPr>
        <p:spPr>
          <a:xfrm>
            <a:off x="8750300" y="596900"/>
            <a:ext cx="1397000" cy="304800"/>
          </a:xfrm>
          <a:prstGeom prst="roundRect">
            <a:avLst>
              <a:gd name="adj" fmla="val 5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50300" y="596900"/>
            <a:ext cx="1397000" cy="304800"/>
          </a:xfrm>
          <a:prstGeom prst="rect">
            <a:avLst/>
          </a:prstGeom>
          <a:noFill/>
        </p:spPr>
        <p:txBody>
          <a:bodyPr wrap="square" lIns="0" rIns="0" tIns="0" bIns="0" anchor="ctr">
            <a:spAutoFit/>
          </a:bodyPr>
          <a:lstStyle/>
          <a:p>
            <a:pPr algn="ctr">
              <a:spcAft>
                <a:spcPts val="600"/>
              </a:spcAft>
            </a:pPr>
            <a:r>
              <a:rPr sz="850" b="1">
                <a:solidFill>
                  <a:srgbClr val="10B981"/>
                </a:solidFill>
                <a:latin typeface="DM Sans"/>
              </a:rPr>
              <a:t>APPLICATION</a:t>
            </a:r>
          </a:p>
        </p:txBody>
      </p:sp>
      <p:sp>
        <p:nvSpPr>
          <p:cNvPr id="6" name="Rounded Rectangle 5"/>
          <p:cNvSpPr/>
          <p:nvPr/>
        </p:nvSpPr>
        <p:spPr>
          <a:xfrm>
            <a:off x="10261600" y="596900"/>
            <a:ext cx="1460500" cy="304800"/>
          </a:xfrm>
          <a:prstGeom prst="roundRect">
            <a:avLst>
              <a:gd name="adj" fmla="val 5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88600" y="711200"/>
            <a:ext cx="76200" cy="76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02900" y="596900"/>
            <a:ext cx="1219200" cy="304800"/>
          </a:xfrm>
          <a:prstGeom prst="rect">
            <a:avLst/>
          </a:prstGeom>
          <a:noFill/>
        </p:spPr>
        <p:txBody>
          <a:bodyPr wrap="square" lIns="0" rIns="0" tIns="0" bIns="0" anchor="ctr">
            <a:spAutoFit/>
          </a:bodyPr>
          <a:lstStyle/>
          <a:p>
            <a:pPr algn="l">
              <a:spcAft>
                <a:spcPts val="600"/>
              </a:spcAft>
            </a:pPr>
            <a:r>
              <a:rPr sz="850" b="1">
                <a:solidFill>
                  <a:srgbClr val="10B981"/>
                </a:solidFill>
                <a:latin typeface="DM Sans"/>
              </a:rPr>
              <a:t>DEVICES ON</a:t>
            </a:r>
          </a:p>
        </p:txBody>
      </p:sp>
      <p:sp>
        <p:nvSpPr>
          <p:cNvPr id="9" name="TextBox 8"/>
          <p:cNvSpPr txBox="1"/>
          <p:nvPr/>
        </p:nvSpPr>
        <p:spPr>
          <a:xfrm>
            <a:off x="457200" y="1371600"/>
            <a:ext cx="11264900" cy="508000"/>
          </a:xfrm>
          <a:prstGeom prst="rect">
            <a:avLst/>
          </a:prstGeom>
          <a:noFill/>
        </p:spPr>
        <p:txBody>
          <a:bodyPr wrap="square" lIns="0" rIns="0" tIns="0" bIns="0" anchor="t">
            <a:spAutoFit/>
          </a:bodyPr>
          <a:lstStyle/>
          <a:p>
            <a:pPr algn="l">
              <a:spcAft>
                <a:spcPts val="600"/>
              </a:spcAft>
            </a:pPr>
            <a:r>
              <a:rPr sz="2900" b="0">
                <a:solidFill>
                  <a:srgbClr val="0D1117"/>
                </a:solidFill>
                <a:latin typeface="DM Serif Display"/>
              </a:rPr>
              <a:t>Task Card — Register &amp; Decide</a:t>
            </a:r>
          </a:p>
        </p:txBody>
      </p:sp>
      <p:sp>
        <p:nvSpPr>
          <p:cNvPr id="10" name="TextBox 9"/>
          <p:cNvSpPr txBox="1"/>
          <p:nvPr/>
        </p:nvSpPr>
        <p:spPr>
          <a:xfrm>
            <a:off x="457200" y="6426200"/>
            <a:ext cx="4572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11</a:t>
            </a:r>
          </a:p>
        </p:txBody>
      </p:sp>
      <p:sp>
        <p:nvSpPr>
          <p:cNvPr id="11" name="Rounded Rectangle 10"/>
          <p:cNvSpPr/>
          <p:nvPr/>
        </p:nvSpPr>
        <p:spPr>
          <a:xfrm>
            <a:off x="457200" y="2082800"/>
            <a:ext cx="11264900" cy="736600"/>
          </a:xfrm>
          <a:prstGeom prst="roundRect">
            <a:avLst>
              <a:gd name="adj" fmla="val 12000"/>
            </a:avLst>
          </a:prstGeom>
          <a:solidFill>
            <a:srgbClr val="F6F8FA"/>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2082800"/>
            <a:ext cx="508000" cy="736600"/>
          </a:xfrm>
          <a:prstGeom prst="rect">
            <a:avLst/>
          </a:prstGeom>
          <a:noFill/>
        </p:spPr>
        <p:txBody>
          <a:bodyPr wrap="square" lIns="0" rIns="0" tIns="0" bIns="0" anchor="ctr">
            <a:spAutoFit/>
          </a:bodyPr>
          <a:lstStyle/>
          <a:p>
            <a:pPr algn="l">
              <a:spcAft>
                <a:spcPts val="600"/>
              </a:spcAft>
            </a:pPr>
            <a:r>
              <a:rPr sz="1700" b="0">
                <a:solidFill>
                  <a:srgbClr val="0D1117"/>
                </a:solidFill>
                <a:latin typeface="DM Sans"/>
              </a:rPr>
              <a:t>🟡</a:t>
            </a:r>
          </a:p>
        </p:txBody>
      </p:sp>
      <p:sp>
        <p:nvSpPr>
          <p:cNvPr id="13" name="TextBox 12"/>
          <p:cNvSpPr txBox="1"/>
          <p:nvPr/>
        </p:nvSpPr>
        <p:spPr>
          <a:xfrm>
            <a:off x="1333500" y="2082800"/>
            <a:ext cx="10134600" cy="736600"/>
          </a:xfrm>
          <a:prstGeom prst="rect">
            <a:avLst/>
          </a:prstGeom>
          <a:noFill/>
        </p:spPr>
        <p:txBody>
          <a:bodyPr wrap="square" lIns="0" rIns="0" tIns="0" bIns="0" anchor="ctr">
            <a:spAutoFit/>
          </a:bodyPr>
          <a:lstStyle/>
          <a:p>
            <a:pPr algn="l">
              <a:lnSpc>
                <a:spcPct val="120000"/>
              </a:lnSpc>
              <a:spcAft>
                <a:spcPts val="600"/>
              </a:spcAft>
            </a:pPr>
            <a:r>
              <a:rPr sz="1500" b="0">
                <a:solidFill>
                  <a:srgbClr val="0D1117"/>
                </a:solidFill>
                <a:latin typeface="DM Sans"/>
              </a:rPr>
              <a:t>Match each data item to its instrument — Privacy Act, PDP Act, or Health Records Act.</a:t>
            </a:r>
          </a:p>
        </p:txBody>
      </p:sp>
      <p:sp>
        <p:nvSpPr>
          <p:cNvPr id="14" name="Rounded Rectangle 13"/>
          <p:cNvSpPr/>
          <p:nvPr/>
        </p:nvSpPr>
        <p:spPr>
          <a:xfrm>
            <a:off x="457200" y="2946400"/>
            <a:ext cx="11264900" cy="736600"/>
          </a:xfrm>
          <a:prstGeom prst="roundRect">
            <a:avLst>
              <a:gd name="adj" fmla="val 12000"/>
            </a:avLst>
          </a:prstGeom>
          <a:solidFill>
            <a:srgbClr val="F6F8FA"/>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2946400"/>
            <a:ext cx="508000" cy="736600"/>
          </a:xfrm>
          <a:prstGeom prst="rect">
            <a:avLst/>
          </a:prstGeom>
          <a:noFill/>
        </p:spPr>
        <p:txBody>
          <a:bodyPr wrap="square" lIns="0" rIns="0" tIns="0" bIns="0" anchor="ctr">
            <a:spAutoFit/>
          </a:bodyPr>
          <a:lstStyle/>
          <a:p>
            <a:pPr algn="l">
              <a:spcAft>
                <a:spcPts val="600"/>
              </a:spcAft>
            </a:pPr>
            <a:r>
              <a:rPr sz="1700" b="0">
                <a:solidFill>
                  <a:srgbClr val="0D1117"/>
                </a:solidFill>
                <a:latin typeface="DM Sans"/>
              </a:rPr>
              <a:t>🟡</a:t>
            </a:r>
          </a:p>
        </p:txBody>
      </p:sp>
      <p:sp>
        <p:nvSpPr>
          <p:cNvPr id="16" name="TextBox 15"/>
          <p:cNvSpPr txBox="1"/>
          <p:nvPr/>
        </p:nvSpPr>
        <p:spPr>
          <a:xfrm>
            <a:off x="1333500" y="2946400"/>
            <a:ext cx="10134600" cy="736600"/>
          </a:xfrm>
          <a:prstGeom prst="rect">
            <a:avLst/>
          </a:prstGeom>
          <a:noFill/>
        </p:spPr>
        <p:txBody>
          <a:bodyPr wrap="square" lIns="0" rIns="0" tIns="0" bIns="0" anchor="ctr">
            <a:spAutoFit/>
          </a:bodyPr>
          <a:lstStyle/>
          <a:p>
            <a:pPr algn="l">
              <a:lnSpc>
                <a:spcPct val="120000"/>
              </a:lnSpc>
              <a:spcAft>
                <a:spcPts val="600"/>
              </a:spcAft>
            </a:pPr>
            <a:r>
              <a:rPr sz="1500" b="0">
                <a:solidFill>
                  <a:srgbClr val="0D1117"/>
                </a:solidFill>
                <a:latin typeface="DM Sans"/>
              </a:rPr>
              <a:t>List every image, font, sound, library or AI-generated asset, with its licence.</a:t>
            </a:r>
          </a:p>
        </p:txBody>
      </p:sp>
      <p:sp>
        <p:nvSpPr>
          <p:cNvPr id="17" name="Rounded Rectangle 16"/>
          <p:cNvSpPr/>
          <p:nvPr/>
        </p:nvSpPr>
        <p:spPr>
          <a:xfrm>
            <a:off x="457200" y="3810000"/>
            <a:ext cx="11264900" cy="736600"/>
          </a:xfrm>
          <a:prstGeom prst="roundRect">
            <a:avLst>
              <a:gd name="adj" fmla="val 12000"/>
            </a:avLst>
          </a:prstGeom>
          <a:solidFill>
            <a:srgbClr val="F6F8FA"/>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3900" y="3810000"/>
            <a:ext cx="508000" cy="736600"/>
          </a:xfrm>
          <a:prstGeom prst="rect">
            <a:avLst/>
          </a:prstGeom>
          <a:noFill/>
        </p:spPr>
        <p:txBody>
          <a:bodyPr wrap="square" lIns="0" rIns="0" tIns="0" bIns="0" anchor="ctr">
            <a:spAutoFit/>
          </a:bodyPr>
          <a:lstStyle/>
          <a:p>
            <a:pPr algn="l">
              <a:spcAft>
                <a:spcPts val="600"/>
              </a:spcAft>
            </a:pPr>
            <a:r>
              <a:rPr sz="1700" b="0">
                <a:solidFill>
                  <a:srgbClr val="0D1117"/>
                </a:solidFill>
                <a:latin typeface="DM Sans"/>
              </a:rPr>
              <a:t>🟣</a:t>
            </a:r>
          </a:p>
        </p:txBody>
      </p:sp>
      <p:sp>
        <p:nvSpPr>
          <p:cNvPr id="19" name="TextBox 18"/>
          <p:cNvSpPr txBox="1"/>
          <p:nvPr/>
        </p:nvSpPr>
        <p:spPr>
          <a:xfrm>
            <a:off x="1333500" y="3810000"/>
            <a:ext cx="10134600" cy="736600"/>
          </a:xfrm>
          <a:prstGeom prst="rect">
            <a:avLst/>
          </a:prstGeom>
          <a:noFill/>
        </p:spPr>
        <p:txBody>
          <a:bodyPr wrap="square" lIns="0" rIns="0" tIns="0" bIns="0" anchor="ctr">
            <a:spAutoFit/>
          </a:bodyPr>
          <a:lstStyle/>
          <a:p>
            <a:pPr algn="l">
              <a:lnSpc>
                <a:spcPct val="120000"/>
              </a:lnSpc>
              <a:spcAft>
                <a:spcPts val="600"/>
              </a:spcAft>
            </a:pPr>
            <a:r>
              <a:rPr sz="1500" b="0">
                <a:solidFill>
                  <a:srgbClr val="0D1117"/>
                </a:solidFill>
                <a:latin typeface="DM Sans"/>
              </a:rPr>
              <a:t>Name one ethical issue your solution raises that no law covers.</a:t>
            </a:r>
          </a:p>
        </p:txBody>
      </p:sp>
      <p:sp>
        <p:nvSpPr>
          <p:cNvPr id="20" name="Rounded Rectangle 19"/>
          <p:cNvSpPr/>
          <p:nvPr/>
        </p:nvSpPr>
        <p:spPr>
          <a:xfrm>
            <a:off x="457200" y="4673600"/>
            <a:ext cx="11264900" cy="736600"/>
          </a:xfrm>
          <a:prstGeom prst="roundRect">
            <a:avLst>
              <a:gd name="adj" fmla="val 12000"/>
            </a:avLst>
          </a:prstGeom>
          <a:solidFill>
            <a:srgbClr val="F6F8FA"/>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3900" y="4673600"/>
            <a:ext cx="508000" cy="736600"/>
          </a:xfrm>
          <a:prstGeom prst="rect">
            <a:avLst/>
          </a:prstGeom>
          <a:noFill/>
        </p:spPr>
        <p:txBody>
          <a:bodyPr wrap="square" lIns="0" rIns="0" tIns="0" bIns="0" anchor="ctr">
            <a:spAutoFit/>
          </a:bodyPr>
          <a:lstStyle/>
          <a:p>
            <a:pPr algn="l">
              <a:spcAft>
                <a:spcPts val="600"/>
              </a:spcAft>
            </a:pPr>
            <a:r>
              <a:rPr sz="1700" b="0">
                <a:solidFill>
                  <a:srgbClr val="0D1117"/>
                </a:solidFill>
                <a:latin typeface="DM Sans"/>
              </a:rPr>
              <a:t>🟣</a:t>
            </a:r>
          </a:p>
        </p:txBody>
      </p:sp>
      <p:sp>
        <p:nvSpPr>
          <p:cNvPr id="22" name="TextBox 21"/>
          <p:cNvSpPr txBox="1"/>
          <p:nvPr/>
        </p:nvSpPr>
        <p:spPr>
          <a:xfrm>
            <a:off x="1333500" y="4673600"/>
            <a:ext cx="10134600" cy="736600"/>
          </a:xfrm>
          <a:prstGeom prst="rect">
            <a:avLst/>
          </a:prstGeom>
          <a:noFill/>
        </p:spPr>
        <p:txBody>
          <a:bodyPr wrap="square" lIns="0" rIns="0" tIns="0" bIns="0" anchor="ctr">
            <a:spAutoFit/>
          </a:bodyPr>
          <a:lstStyle/>
          <a:p>
            <a:pPr algn="l">
              <a:lnSpc>
                <a:spcPct val="120000"/>
              </a:lnSpc>
              <a:spcAft>
                <a:spcPts val="600"/>
              </a:spcAft>
            </a:pPr>
            <a:r>
              <a:rPr sz="1500" b="0">
                <a:solidFill>
                  <a:srgbClr val="0D1117"/>
                </a:solidFill>
                <a:latin typeface="DM Sans"/>
              </a:rPr>
              <a:t>Write the change you are making to the build plan — or your reason for not making one.</a:t>
            </a:r>
          </a:p>
        </p:txBody>
      </p:sp>
      <p:sp>
        <p:nvSpPr>
          <p:cNvPr id="23" name="Rounded Rectangle 22"/>
          <p:cNvSpPr/>
          <p:nvPr/>
        </p:nvSpPr>
        <p:spPr>
          <a:xfrm>
            <a:off x="457200" y="5537200"/>
            <a:ext cx="11264900" cy="812800"/>
          </a:xfrm>
          <a:prstGeom prst="roundRect">
            <a:avLst>
              <a:gd name="adj" fmla="val 7000"/>
            </a:avLst>
          </a:prstGeom>
          <a:solidFill>
            <a:srgbClr val="FEF3E0"/>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900" y="5664200"/>
            <a:ext cx="10731500" cy="266700"/>
          </a:xfrm>
          <a:prstGeom prst="rect">
            <a:avLst/>
          </a:prstGeom>
          <a:noFill/>
        </p:spPr>
        <p:txBody>
          <a:bodyPr wrap="square" lIns="0" rIns="0" tIns="0" bIns="0" anchor="t">
            <a:spAutoFit/>
          </a:bodyPr>
          <a:lstStyle/>
          <a:p>
            <a:pPr algn="l">
              <a:spcAft>
                <a:spcPts val="600"/>
              </a:spcAft>
            </a:pPr>
            <a:r>
              <a:rPr sz="1100" b="1">
                <a:solidFill>
                  <a:srgbClr val="F59E0B"/>
                </a:solidFill>
                <a:latin typeface="DM Sans"/>
              </a:rPr>
              <a:t>DECIDING TO CHANGE NOTHING IS A DECISION</a:t>
            </a:r>
          </a:p>
        </p:txBody>
      </p:sp>
      <p:sp>
        <p:nvSpPr>
          <p:cNvPr id="25" name="TextBox 24"/>
          <p:cNvSpPr txBox="1"/>
          <p:nvPr/>
        </p:nvSpPr>
        <p:spPr>
          <a:xfrm>
            <a:off x="723900" y="5994400"/>
            <a:ext cx="10731500" cy="228600"/>
          </a:xfrm>
          <a:prstGeom prst="rect">
            <a:avLst/>
          </a:prstGeom>
          <a:noFill/>
        </p:spPr>
        <p:txBody>
          <a:bodyPr wrap="square" lIns="0" rIns="0" tIns="0" bIns="0" anchor="t">
            <a:spAutoFit/>
          </a:bodyPr>
          <a:lstStyle/>
          <a:p>
            <a:pPr algn="l">
              <a:lnSpc>
                <a:spcPct val="120000"/>
              </a:lnSpc>
              <a:spcAft>
                <a:spcPts val="700"/>
              </a:spcAft>
            </a:pPr>
            <a:r>
              <a:rPr sz="1300" b="0">
                <a:solidFill>
                  <a:srgbClr val="0D1117"/>
                </a:solidFill>
                <a:latin typeface="DM Sans"/>
              </a:rPr>
              <a:t>It just has to be a reasoned one, written down — that is what "discuss" means in the key skill.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4000"/>
            <a:ext cx="54864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y11-ac-u2-l12-building-responsibly</a:t>
            </a:r>
          </a:p>
        </p:txBody>
      </p:sp>
      <p:sp>
        <p:nvSpPr>
          <p:cNvPr id="3" name="TextBox 2"/>
          <p:cNvSpPr txBox="1"/>
          <p:nvPr/>
        </p:nvSpPr>
        <p:spPr>
          <a:xfrm>
            <a:off x="8978900" y="254000"/>
            <a:ext cx="2743200" cy="254000"/>
          </a:xfrm>
          <a:prstGeom prst="rect">
            <a:avLst/>
          </a:prstGeom>
          <a:noFill/>
        </p:spPr>
        <p:txBody>
          <a:bodyPr wrap="square" lIns="0" rIns="0" tIns="0" bIns="0" anchor="t">
            <a:spAutoFit/>
          </a:bodyPr>
          <a:lstStyle/>
          <a:p>
            <a:pPr algn="r">
              <a:spcAft>
                <a:spcPts val="600"/>
              </a:spcAft>
            </a:pPr>
            <a:r>
              <a:rPr sz="1050" b="0">
                <a:solidFill>
                  <a:srgbClr val="57606A"/>
                </a:solidFill>
                <a:latin typeface="DM Mono"/>
              </a:rPr>
              <a:t>Mr Smith</a:t>
            </a:r>
          </a:p>
        </p:txBody>
      </p:sp>
      <p:sp>
        <p:nvSpPr>
          <p:cNvPr id="4" name="Rounded Rectangle 3"/>
          <p:cNvSpPr/>
          <p:nvPr/>
        </p:nvSpPr>
        <p:spPr>
          <a:xfrm>
            <a:off x="8750300" y="596900"/>
            <a:ext cx="1397000" cy="304800"/>
          </a:xfrm>
          <a:prstGeom prst="roundRect">
            <a:avLst>
              <a:gd name="adj" fmla="val 50000"/>
            </a:avLst>
          </a:prstGeom>
          <a:solidFill>
            <a:srgbClr val="FFFFFF"/>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50300" y="596900"/>
            <a:ext cx="1397000" cy="304800"/>
          </a:xfrm>
          <a:prstGeom prst="rect">
            <a:avLst/>
          </a:prstGeom>
          <a:noFill/>
        </p:spPr>
        <p:txBody>
          <a:bodyPr wrap="square" lIns="0" rIns="0" tIns="0" bIns="0" anchor="ctr">
            <a:spAutoFit/>
          </a:bodyPr>
          <a:lstStyle/>
          <a:p>
            <a:pPr algn="ctr">
              <a:spcAft>
                <a:spcPts val="600"/>
              </a:spcAft>
            </a:pPr>
            <a:r>
              <a:rPr sz="850" b="1">
                <a:solidFill>
                  <a:srgbClr val="8B5CF6"/>
                </a:solidFill>
                <a:latin typeface="DM Sans"/>
              </a:rPr>
              <a:t>RESPONSIVE</a:t>
            </a:r>
          </a:p>
        </p:txBody>
      </p:sp>
      <p:sp>
        <p:nvSpPr>
          <p:cNvPr id="6" name="Rounded Rectangle 5"/>
          <p:cNvSpPr/>
          <p:nvPr/>
        </p:nvSpPr>
        <p:spPr>
          <a:xfrm>
            <a:off x="10261600" y="596900"/>
            <a:ext cx="1460500" cy="304800"/>
          </a:xfrm>
          <a:prstGeom prst="roundRect">
            <a:avLst>
              <a:gd name="adj" fmla="val 5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88600" y="711200"/>
            <a:ext cx="76200" cy="76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02900" y="596900"/>
            <a:ext cx="1219200" cy="304800"/>
          </a:xfrm>
          <a:prstGeom prst="rect">
            <a:avLst/>
          </a:prstGeom>
          <a:noFill/>
        </p:spPr>
        <p:txBody>
          <a:bodyPr wrap="square" lIns="0" rIns="0" tIns="0" bIns="0" anchor="ctr">
            <a:spAutoFit/>
          </a:bodyPr>
          <a:lstStyle/>
          <a:p>
            <a:pPr algn="l">
              <a:spcAft>
                <a:spcPts val="600"/>
              </a:spcAft>
            </a:pPr>
            <a:r>
              <a:rPr sz="850" b="1">
                <a:solidFill>
                  <a:srgbClr val="10B981"/>
                </a:solidFill>
                <a:latin typeface="DM Sans"/>
              </a:rPr>
              <a:t>DEVICES ON</a:t>
            </a:r>
          </a:p>
        </p:txBody>
      </p:sp>
      <p:sp>
        <p:nvSpPr>
          <p:cNvPr id="9" name="TextBox 8"/>
          <p:cNvSpPr txBox="1"/>
          <p:nvPr/>
        </p:nvSpPr>
        <p:spPr>
          <a:xfrm>
            <a:off x="457200" y="1371600"/>
            <a:ext cx="11264900" cy="508000"/>
          </a:xfrm>
          <a:prstGeom prst="rect">
            <a:avLst/>
          </a:prstGeom>
          <a:noFill/>
        </p:spPr>
        <p:txBody>
          <a:bodyPr wrap="square" lIns="0" rIns="0" tIns="0" bIns="0" anchor="t">
            <a:spAutoFit/>
          </a:bodyPr>
          <a:lstStyle/>
          <a:p>
            <a:pPr algn="l">
              <a:spcAft>
                <a:spcPts val="600"/>
              </a:spcAft>
            </a:pPr>
            <a:r>
              <a:rPr sz="2900" b="0">
                <a:solidFill>
                  <a:srgbClr val="0D1117"/>
                </a:solidFill>
                <a:latin typeface="DM Serif Display"/>
              </a:rPr>
              <a:t>Peer Check — Be the Difficult User</a:t>
            </a:r>
          </a:p>
        </p:txBody>
      </p:sp>
      <p:sp>
        <p:nvSpPr>
          <p:cNvPr id="10" name="TextBox 9"/>
          <p:cNvSpPr txBox="1"/>
          <p:nvPr/>
        </p:nvSpPr>
        <p:spPr>
          <a:xfrm>
            <a:off x="457200" y="6426200"/>
            <a:ext cx="4572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12</a:t>
            </a:r>
          </a:p>
        </p:txBody>
      </p:sp>
      <p:sp>
        <p:nvSpPr>
          <p:cNvPr id="11" name="TextBox 10"/>
          <p:cNvSpPr txBox="1"/>
          <p:nvPr/>
        </p:nvSpPr>
        <p:spPr>
          <a:xfrm>
            <a:off x="457200" y="1981200"/>
            <a:ext cx="11264900" cy="304800"/>
          </a:xfrm>
          <a:prstGeom prst="rect">
            <a:avLst/>
          </a:prstGeom>
          <a:noFill/>
        </p:spPr>
        <p:txBody>
          <a:bodyPr wrap="square" lIns="0" rIns="0" tIns="0" bIns="0" anchor="t">
            <a:spAutoFit/>
          </a:bodyPr>
          <a:lstStyle/>
          <a:p>
            <a:pPr algn="l">
              <a:spcAft>
                <a:spcPts val="600"/>
              </a:spcAft>
            </a:pPr>
            <a:r>
              <a:rPr sz="1450" b="0">
                <a:solidFill>
                  <a:srgbClr val="57606A"/>
                </a:solidFill>
                <a:latin typeface="DM Sans"/>
              </a:rPr>
              <a:t>Swap with a neighbouring group for four minutes.</a:t>
            </a:r>
          </a:p>
        </p:txBody>
      </p:sp>
      <p:sp>
        <p:nvSpPr>
          <p:cNvPr id="12" name="Oval 11"/>
          <p:cNvSpPr/>
          <p:nvPr/>
        </p:nvSpPr>
        <p:spPr>
          <a:xfrm>
            <a:off x="457200" y="2514600"/>
            <a:ext cx="266700" cy="2667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501900"/>
            <a:ext cx="266700" cy="266700"/>
          </a:xfrm>
          <a:prstGeom prst="rect">
            <a:avLst/>
          </a:prstGeom>
          <a:noFill/>
        </p:spPr>
        <p:txBody>
          <a:bodyPr wrap="square" lIns="0" rIns="0" tIns="0" bIns="0" anchor="ctr">
            <a:spAutoFit/>
          </a:bodyPr>
          <a:lstStyle/>
          <a:p>
            <a:pPr algn="ctr">
              <a:spcAft>
                <a:spcPts val="600"/>
              </a:spcAft>
            </a:pPr>
            <a:r>
              <a:rPr sz="1200" b="1">
                <a:solidFill>
                  <a:srgbClr val="FFFFFF"/>
                </a:solidFill>
                <a:latin typeface="DM Sans"/>
              </a:rPr>
              <a:t>✓</a:t>
            </a:r>
          </a:p>
        </p:txBody>
      </p:sp>
      <p:sp>
        <p:nvSpPr>
          <p:cNvPr id="14" name="TextBox 13"/>
          <p:cNvSpPr txBox="1"/>
          <p:nvPr/>
        </p:nvSpPr>
        <p:spPr>
          <a:xfrm>
            <a:off x="863600" y="2463800"/>
            <a:ext cx="10858500" cy="660400"/>
          </a:xfrm>
          <a:prstGeom prst="rect">
            <a:avLst/>
          </a:prstGeom>
          <a:noFill/>
        </p:spPr>
        <p:txBody>
          <a:bodyPr wrap="square" lIns="0" rIns="0" tIns="0" bIns="0" anchor="t">
            <a:spAutoFit/>
          </a:bodyPr>
          <a:lstStyle/>
          <a:p>
            <a:pPr algn="l">
              <a:lnSpc>
                <a:spcPct val="115000"/>
              </a:lnSpc>
              <a:spcAft>
                <a:spcPts val="600"/>
              </a:spcAft>
            </a:pPr>
            <a:r>
              <a:rPr sz="1500" b="0">
                <a:solidFill>
                  <a:srgbClr val="0D1117"/>
                </a:solidFill>
                <a:latin typeface="DM Sans"/>
              </a:rPr>
              <a:t>Read their data audit. Find one field you would refuse to give them, and say why.</a:t>
            </a:r>
          </a:p>
        </p:txBody>
      </p:sp>
      <p:sp>
        <p:nvSpPr>
          <p:cNvPr id="15" name="Oval 14"/>
          <p:cNvSpPr/>
          <p:nvPr/>
        </p:nvSpPr>
        <p:spPr>
          <a:xfrm>
            <a:off x="457200" y="3175000"/>
            <a:ext cx="266700" cy="2667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162300"/>
            <a:ext cx="266700" cy="266700"/>
          </a:xfrm>
          <a:prstGeom prst="rect">
            <a:avLst/>
          </a:prstGeom>
          <a:noFill/>
        </p:spPr>
        <p:txBody>
          <a:bodyPr wrap="square" lIns="0" rIns="0" tIns="0" bIns="0" anchor="ctr">
            <a:spAutoFit/>
          </a:bodyPr>
          <a:lstStyle/>
          <a:p>
            <a:pPr algn="ctr">
              <a:spcAft>
                <a:spcPts val="600"/>
              </a:spcAft>
            </a:pPr>
            <a:r>
              <a:rPr sz="1200" b="1">
                <a:solidFill>
                  <a:srgbClr val="FFFFFF"/>
                </a:solidFill>
                <a:latin typeface="DM Sans"/>
              </a:rPr>
              <a:t>✓</a:t>
            </a:r>
          </a:p>
        </p:txBody>
      </p:sp>
      <p:sp>
        <p:nvSpPr>
          <p:cNvPr id="17" name="TextBox 16"/>
          <p:cNvSpPr txBox="1"/>
          <p:nvPr/>
        </p:nvSpPr>
        <p:spPr>
          <a:xfrm>
            <a:off x="863600" y="3124200"/>
            <a:ext cx="10858500" cy="660400"/>
          </a:xfrm>
          <a:prstGeom prst="rect">
            <a:avLst/>
          </a:prstGeom>
          <a:noFill/>
        </p:spPr>
        <p:txBody>
          <a:bodyPr wrap="square" lIns="0" rIns="0" tIns="0" bIns="0" anchor="t">
            <a:spAutoFit/>
          </a:bodyPr>
          <a:lstStyle/>
          <a:p>
            <a:pPr algn="l">
              <a:lnSpc>
                <a:spcPct val="115000"/>
              </a:lnSpc>
              <a:spcAft>
                <a:spcPts val="600"/>
              </a:spcAft>
            </a:pPr>
            <a:r>
              <a:rPr sz="1500" b="0">
                <a:solidFill>
                  <a:srgbClr val="0D1117"/>
                </a:solidFill>
                <a:latin typeface="DM Sans"/>
              </a:rPr>
              <a:t>Ask what happens to that data after their project finishes. Listen to whether they have an answer.</a:t>
            </a:r>
          </a:p>
        </p:txBody>
      </p:sp>
      <p:sp>
        <p:nvSpPr>
          <p:cNvPr id="18" name="Oval 17"/>
          <p:cNvSpPr/>
          <p:nvPr/>
        </p:nvSpPr>
        <p:spPr>
          <a:xfrm>
            <a:off x="457200" y="3835400"/>
            <a:ext cx="266700" cy="2667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822700"/>
            <a:ext cx="266700" cy="266700"/>
          </a:xfrm>
          <a:prstGeom prst="rect">
            <a:avLst/>
          </a:prstGeom>
          <a:noFill/>
        </p:spPr>
        <p:txBody>
          <a:bodyPr wrap="square" lIns="0" rIns="0" tIns="0" bIns="0" anchor="ctr">
            <a:spAutoFit/>
          </a:bodyPr>
          <a:lstStyle/>
          <a:p>
            <a:pPr algn="ctr">
              <a:spcAft>
                <a:spcPts val="600"/>
              </a:spcAft>
            </a:pPr>
            <a:r>
              <a:rPr sz="1200" b="1">
                <a:solidFill>
                  <a:srgbClr val="FFFFFF"/>
                </a:solidFill>
                <a:latin typeface="DM Sans"/>
              </a:rPr>
              <a:t>✓</a:t>
            </a:r>
          </a:p>
        </p:txBody>
      </p:sp>
      <p:sp>
        <p:nvSpPr>
          <p:cNvPr id="20" name="TextBox 19"/>
          <p:cNvSpPr txBox="1"/>
          <p:nvPr/>
        </p:nvSpPr>
        <p:spPr>
          <a:xfrm>
            <a:off x="863600" y="3784600"/>
            <a:ext cx="10858500" cy="660400"/>
          </a:xfrm>
          <a:prstGeom prst="rect">
            <a:avLst/>
          </a:prstGeom>
          <a:noFill/>
        </p:spPr>
        <p:txBody>
          <a:bodyPr wrap="square" lIns="0" rIns="0" tIns="0" bIns="0" anchor="t">
            <a:spAutoFit/>
          </a:bodyPr>
          <a:lstStyle/>
          <a:p>
            <a:pPr algn="l">
              <a:lnSpc>
                <a:spcPct val="115000"/>
              </a:lnSpc>
              <a:spcAft>
                <a:spcPts val="600"/>
              </a:spcAft>
            </a:pPr>
            <a:r>
              <a:rPr sz="1500" b="0">
                <a:solidFill>
                  <a:srgbClr val="0D1117"/>
                </a:solidFill>
                <a:latin typeface="DM Sans"/>
              </a:rPr>
              <a:t>Find one asset in their register with no licence recorded against it.</a:t>
            </a:r>
          </a:p>
        </p:txBody>
      </p:sp>
      <p:sp>
        <p:nvSpPr>
          <p:cNvPr id="21" name="Rounded Rectangle 20"/>
          <p:cNvSpPr/>
          <p:nvPr/>
        </p:nvSpPr>
        <p:spPr>
          <a:xfrm>
            <a:off x="457200" y="4724400"/>
            <a:ext cx="11264900" cy="1270000"/>
          </a:xfrm>
          <a:prstGeom prst="roundRect">
            <a:avLst>
              <a:gd name="adj" fmla="val 7000"/>
            </a:avLst>
          </a:prstGeom>
          <a:solidFill>
            <a:srgbClr val="F5F0FE"/>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3900" y="4851400"/>
            <a:ext cx="10731500" cy="266700"/>
          </a:xfrm>
          <a:prstGeom prst="rect">
            <a:avLst/>
          </a:prstGeom>
          <a:noFill/>
        </p:spPr>
        <p:txBody>
          <a:bodyPr wrap="square" lIns="0" rIns="0" tIns="0" bIns="0" anchor="t">
            <a:spAutoFit/>
          </a:bodyPr>
          <a:lstStyle/>
          <a:p>
            <a:pPr algn="l">
              <a:spcAft>
                <a:spcPts val="600"/>
              </a:spcAft>
            </a:pPr>
            <a:r>
              <a:rPr sz="1100" b="1">
                <a:solidFill>
                  <a:srgbClr val="8B5CF6"/>
                </a:solidFill>
                <a:latin typeface="DM Sans"/>
              </a:rPr>
              <a:t>THEN SWAP BACK</a:t>
            </a:r>
          </a:p>
        </p:txBody>
      </p:sp>
      <p:sp>
        <p:nvSpPr>
          <p:cNvPr id="23" name="TextBox 22"/>
          <p:cNvSpPr txBox="1"/>
          <p:nvPr/>
        </p:nvSpPr>
        <p:spPr>
          <a:xfrm>
            <a:off x="723900" y="5181600"/>
            <a:ext cx="10731500" cy="685800"/>
          </a:xfrm>
          <a:prstGeom prst="rect">
            <a:avLst/>
          </a:prstGeom>
          <a:noFill/>
        </p:spPr>
        <p:txBody>
          <a:bodyPr wrap="square" lIns="0" rIns="0" tIns="0" bIns="0" anchor="t">
            <a:spAutoFit/>
          </a:bodyPr>
          <a:lstStyle/>
          <a:p>
            <a:pPr algn="l">
              <a:lnSpc>
                <a:spcPct val="120000"/>
              </a:lnSpc>
              <a:spcAft>
                <a:spcPts val="700"/>
              </a:spcAft>
            </a:pPr>
            <a:r>
              <a:rPr sz="1450" b="0">
                <a:solidFill>
                  <a:srgbClr val="0D1117"/>
                </a:solidFill>
                <a:latin typeface="DM Sans"/>
              </a:rPr>
              <a:t>Each group writes down the single strongest objection they received. If you can answer it properly, write the answer. If you cannot, that is your next build-plan change.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4000"/>
            <a:ext cx="54864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y11-ac-u2-l12-building-responsibly</a:t>
            </a:r>
          </a:p>
        </p:txBody>
      </p:sp>
      <p:sp>
        <p:nvSpPr>
          <p:cNvPr id="3" name="TextBox 2"/>
          <p:cNvSpPr txBox="1"/>
          <p:nvPr/>
        </p:nvSpPr>
        <p:spPr>
          <a:xfrm>
            <a:off x="8978900" y="254000"/>
            <a:ext cx="2743200" cy="254000"/>
          </a:xfrm>
          <a:prstGeom prst="rect">
            <a:avLst/>
          </a:prstGeom>
          <a:noFill/>
        </p:spPr>
        <p:txBody>
          <a:bodyPr wrap="square" lIns="0" rIns="0" tIns="0" bIns="0" anchor="t">
            <a:spAutoFit/>
          </a:bodyPr>
          <a:lstStyle/>
          <a:p>
            <a:pPr algn="r">
              <a:spcAft>
                <a:spcPts val="600"/>
              </a:spcAft>
            </a:pPr>
            <a:r>
              <a:rPr sz="1050" b="0">
                <a:solidFill>
                  <a:srgbClr val="57606A"/>
                </a:solidFill>
                <a:latin typeface="DM Mono"/>
              </a:rPr>
              <a:t>Mr Smith</a:t>
            </a:r>
          </a:p>
        </p:txBody>
      </p:sp>
      <p:sp>
        <p:nvSpPr>
          <p:cNvPr id="4" name="Rounded Rectangle 3"/>
          <p:cNvSpPr/>
          <p:nvPr/>
        </p:nvSpPr>
        <p:spPr>
          <a:xfrm>
            <a:off x="8750300" y="596900"/>
            <a:ext cx="1397000" cy="304800"/>
          </a:xfrm>
          <a:prstGeom prst="roundRect">
            <a:avLst>
              <a:gd name="adj" fmla="val 5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50300" y="596900"/>
            <a:ext cx="1397000" cy="304800"/>
          </a:xfrm>
          <a:prstGeom prst="rect">
            <a:avLst/>
          </a:prstGeom>
          <a:noFill/>
        </p:spPr>
        <p:txBody>
          <a:bodyPr wrap="square" lIns="0" rIns="0" tIns="0" bIns="0" anchor="ctr">
            <a:spAutoFit/>
          </a:bodyPr>
          <a:lstStyle/>
          <a:p>
            <a:pPr algn="ctr">
              <a:spcAft>
                <a:spcPts val="600"/>
              </a:spcAft>
            </a:pPr>
            <a:r>
              <a:rPr sz="850" b="1">
                <a:solidFill>
                  <a:srgbClr val="10B981"/>
                </a:solidFill>
                <a:latin typeface="DM Sans"/>
              </a:rPr>
              <a:t>CHECKPOINT</a:t>
            </a:r>
          </a:p>
        </p:txBody>
      </p:sp>
      <p:sp>
        <p:nvSpPr>
          <p:cNvPr id="6" name="Rounded Rectangle 5"/>
          <p:cNvSpPr/>
          <p:nvPr/>
        </p:nvSpPr>
        <p:spPr>
          <a:xfrm>
            <a:off x="10261600" y="596900"/>
            <a:ext cx="1460500" cy="304800"/>
          </a:xfrm>
          <a:prstGeom prst="roundRect">
            <a:avLst>
              <a:gd name="adj" fmla="val 50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88600" y="711200"/>
            <a:ext cx="76200" cy="76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02900" y="596900"/>
            <a:ext cx="1219200" cy="304800"/>
          </a:xfrm>
          <a:prstGeom prst="rect">
            <a:avLst/>
          </a:prstGeom>
          <a:noFill/>
        </p:spPr>
        <p:txBody>
          <a:bodyPr wrap="square" lIns="0" rIns="0" tIns="0" bIns="0" anchor="ctr">
            <a:spAutoFit/>
          </a:bodyPr>
          <a:lstStyle/>
          <a:p>
            <a:pPr algn="l">
              <a:spcAft>
                <a:spcPts val="600"/>
              </a:spcAft>
            </a:pPr>
            <a:r>
              <a:rPr sz="850" b="1">
                <a:solidFill>
                  <a:srgbClr val="10B981"/>
                </a:solidFill>
                <a:latin typeface="DM Sans"/>
              </a:rPr>
              <a:t>DEVICES ON</a:t>
            </a:r>
          </a:p>
        </p:txBody>
      </p:sp>
      <p:sp>
        <p:nvSpPr>
          <p:cNvPr id="9" name="TextBox 8"/>
          <p:cNvSpPr txBox="1"/>
          <p:nvPr/>
        </p:nvSpPr>
        <p:spPr>
          <a:xfrm>
            <a:off x="457200" y="1371600"/>
            <a:ext cx="11264900" cy="508000"/>
          </a:xfrm>
          <a:prstGeom prst="rect">
            <a:avLst/>
          </a:prstGeom>
          <a:noFill/>
        </p:spPr>
        <p:txBody>
          <a:bodyPr wrap="square" lIns="0" rIns="0" tIns="0" bIns="0" anchor="t">
            <a:spAutoFit/>
          </a:bodyPr>
          <a:lstStyle/>
          <a:p>
            <a:pPr algn="l">
              <a:spcAft>
                <a:spcPts val="600"/>
              </a:spcAft>
            </a:pPr>
            <a:r>
              <a:rPr sz="2900" b="0">
                <a:solidFill>
                  <a:srgbClr val="0D1117"/>
                </a:solidFill>
                <a:latin typeface="DM Serif Display"/>
              </a:rPr>
              <a:t>Before You Build</a:t>
            </a:r>
          </a:p>
        </p:txBody>
      </p:sp>
      <p:sp>
        <p:nvSpPr>
          <p:cNvPr id="10" name="TextBox 9"/>
          <p:cNvSpPr txBox="1"/>
          <p:nvPr/>
        </p:nvSpPr>
        <p:spPr>
          <a:xfrm>
            <a:off x="457200" y="6426200"/>
            <a:ext cx="4572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13</a:t>
            </a:r>
          </a:p>
        </p:txBody>
      </p:sp>
      <p:sp>
        <p:nvSpPr>
          <p:cNvPr id="11" name="TextBox 10"/>
          <p:cNvSpPr txBox="1"/>
          <p:nvPr/>
        </p:nvSpPr>
        <p:spPr>
          <a:xfrm>
            <a:off x="457200" y="1981200"/>
            <a:ext cx="11264900" cy="304800"/>
          </a:xfrm>
          <a:prstGeom prst="rect">
            <a:avLst/>
          </a:prstGeom>
          <a:noFill/>
        </p:spPr>
        <p:txBody>
          <a:bodyPr wrap="square" lIns="0" rIns="0" tIns="0" bIns="0" anchor="t">
            <a:spAutoFit/>
          </a:bodyPr>
          <a:lstStyle/>
          <a:p>
            <a:pPr algn="l">
              <a:spcAft>
                <a:spcPts val="600"/>
              </a:spcAft>
            </a:pPr>
            <a:r>
              <a:rPr sz="1450" b="0">
                <a:solidFill>
                  <a:srgbClr val="57606A"/>
                </a:solidFill>
                <a:latin typeface="DM Sans"/>
              </a:rPr>
              <a:t>Confirm every item before you leave — you start building next lesson.</a:t>
            </a:r>
          </a:p>
        </p:txBody>
      </p:sp>
      <p:sp>
        <p:nvSpPr>
          <p:cNvPr id="12" name="Oval 11"/>
          <p:cNvSpPr/>
          <p:nvPr/>
        </p:nvSpPr>
        <p:spPr>
          <a:xfrm>
            <a:off x="457200" y="2540000"/>
            <a:ext cx="266700" cy="2667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527300"/>
            <a:ext cx="266700" cy="266700"/>
          </a:xfrm>
          <a:prstGeom prst="rect">
            <a:avLst/>
          </a:prstGeom>
          <a:noFill/>
        </p:spPr>
        <p:txBody>
          <a:bodyPr wrap="square" lIns="0" rIns="0" tIns="0" bIns="0" anchor="ctr">
            <a:spAutoFit/>
          </a:bodyPr>
          <a:lstStyle/>
          <a:p>
            <a:pPr algn="ctr">
              <a:spcAft>
                <a:spcPts val="600"/>
              </a:spcAft>
            </a:pPr>
            <a:r>
              <a:rPr sz="1200" b="1">
                <a:solidFill>
                  <a:srgbClr val="FFFFFF"/>
                </a:solidFill>
                <a:latin typeface="DM Sans"/>
              </a:rPr>
              <a:t>✓</a:t>
            </a:r>
          </a:p>
        </p:txBody>
      </p:sp>
      <p:sp>
        <p:nvSpPr>
          <p:cNvPr id="14" name="TextBox 13"/>
          <p:cNvSpPr txBox="1"/>
          <p:nvPr/>
        </p:nvSpPr>
        <p:spPr>
          <a:xfrm>
            <a:off x="863600" y="2489200"/>
            <a:ext cx="10858500" cy="609600"/>
          </a:xfrm>
          <a:prstGeom prst="rect">
            <a:avLst/>
          </a:prstGeom>
          <a:noFill/>
        </p:spPr>
        <p:txBody>
          <a:bodyPr wrap="square" lIns="0" rIns="0" tIns="0" bIns="0" anchor="t">
            <a:spAutoFit/>
          </a:bodyPr>
          <a:lstStyle/>
          <a:p>
            <a:pPr algn="l">
              <a:lnSpc>
                <a:spcPct val="115000"/>
              </a:lnSpc>
              <a:spcAft>
                <a:spcPts val="600"/>
              </a:spcAft>
            </a:pPr>
            <a:r>
              <a:rPr sz="1450" b="0">
                <a:solidFill>
                  <a:srgbClr val="0D1117"/>
                </a:solidFill>
                <a:latin typeface="DM Sans"/>
              </a:rPr>
              <a:t>Every data item your solution collects is listed, with a reason it is needed.</a:t>
            </a:r>
          </a:p>
        </p:txBody>
      </p:sp>
      <p:sp>
        <p:nvSpPr>
          <p:cNvPr id="15" name="Oval 14"/>
          <p:cNvSpPr/>
          <p:nvPr/>
        </p:nvSpPr>
        <p:spPr>
          <a:xfrm>
            <a:off x="457200" y="3149600"/>
            <a:ext cx="266700" cy="2667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136900"/>
            <a:ext cx="266700" cy="266700"/>
          </a:xfrm>
          <a:prstGeom prst="rect">
            <a:avLst/>
          </a:prstGeom>
          <a:noFill/>
        </p:spPr>
        <p:txBody>
          <a:bodyPr wrap="square" lIns="0" rIns="0" tIns="0" bIns="0" anchor="ctr">
            <a:spAutoFit/>
          </a:bodyPr>
          <a:lstStyle/>
          <a:p>
            <a:pPr algn="ctr">
              <a:spcAft>
                <a:spcPts val="600"/>
              </a:spcAft>
            </a:pPr>
            <a:r>
              <a:rPr sz="1200" b="1">
                <a:solidFill>
                  <a:srgbClr val="FFFFFF"/>
                </a:solidFill>
                <a:latin typeface="DM Sans"/>
              </a:rPr>
              <a:t>✓</a:t>
            </a:r>
          </a:p>
        </p:txBody>
      </p:sp>
      <p:sp>
        <p:nvSpPr>
          <p:cNvPr id="17" name="TextBox 16"/>
          <p:cNvSpPr txBox="1"/>
          <p:nvPr/>
        </p:nvSpPr>
        <p:spPr>
          <a:xfrm>
            <a:off x="863600" y="3098800"/>
            <a:ext cx="10858500" cy="609600"/>
          </a:xfrm>
          <a:prstGeom prst="rect">
            <a:avLst/>
          </a:prstGeom>
          <a:noFill/>
        </p:spPr>
        <p:txBody>
          <a:bodyPr wrap="square" lIns="0" rIns="0" tIns="0" bIns="0" anchor="t">
            <a:spAutoFit/>
          </a:bodyPr>
          <a:lstStyle/>
          <a:p>
            <a:pPr algn="l">
              <a:lnSpc>
                <a:spcPct val="115000"/>
              </a:lnSpc>
              <a:spcAft>
                <a:spcPts val="600"/>
              </a:spcAft>
            </a:pPr>
            <a:r>
              <a:rPr sz="1450" b="0">
                <a:solidFill>
                  <a:srgbClr val="0D1117"/>
                </a:solidFill>
                <a:latin typeface="DM Sans"/>
              </a:rPr>
              <a:t>Each one is matched to the legislation that covers it.</a:t>
            </a:r>
          </a:p>
        </p:txBody>
      </p:sp>
      <p:sp>
        <p:nvSpPr>
          <p:cNvPr id="18" name="Oval 17"/>
          <p:cNvSpPr/>
          <p:nvPr/>
        </p:nvSpPr>
        <p:spPr>
          <a:xfrm>
            <a:off x="457200" y="3759200"/>
            <a:ext cx="266700" cy="2667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746500"/>
            <a:ext cx="266700" cy="266700"/>
          </a:xfrm>
          <a:prstGeom prst="rect">
            <a:avLst/>
          </a:prstGeom>
          <a:noFill/>
        </p:spPr>
        <p:txBody>
          <a:bodyPr wrap="square" lIns="0" rIns="0" tIns="0" bIns="0" anchor="ctr">
            <a:spAutoFit/>
          </a:bodyPr>
          <a:lstStyle/>
          <a:p>
            <a:pPr algn="ctr">
              <a:spcAft>
                <a:spcPts val="600"/>
              </a:spcAft>
            </a:pPr>
            <a:r>
              <a:rPr sz="1200" b="1">
                <a:solidFill>
                  <a:srgbClr val="FFFFFF"/>
                </a:solidFill>
                <a:latin typeface="DM Sans"/>
              </a:rPr>
              <a:t>✓</a:t>
            </a:r>
          </a:p>
        </p:txBody>
      </p:sp>
      <p:sp>
        <p:nvSpPr>
          <p:cNvPr id="20" name="TextBox 19"/>
          <p:cNvSpPr txBox="1"/>
          <p:nvPr/>
        </p:nvSpPr>
        <p:spPr>
          <a:xfrm>
            <a:off x="863600" y="3708400"/>
            <a:ext cx="10858500" cy="609600"/>
          </a:xfrm>
          <a:prstGeom prst="rect">
            <a:avLst/>
          </a:prstGeom>
          <a:noFill/>
        </p:spPr>
        <p:txBody>
          <a:bodyPr wrap="square" lIns="0" rIns="0" tIns="0" bIns="0" anchor="t">
            <a:spAutoFit/>
          </a:bodyPr>
          <a:lstStyle/>
          <a:p>
            <a:pPr algn="l">
              <a:lnSpc>
                <a:spcPct val="115000"/>
              </a:lnSpc>
              <a:spcAft>
                <a:spcPts val="600"/>
              </a:spcAft>
            </a:pPr>
            <a:r>
              <a:rPr sz="1450" b="0">
                <a:solidFill>
                  <a:srgbClr val="0D1117"/>
                </a:solidFill>
                <a:latin typeface="DM Sans"/>
              </a:rPr>
              <a:t>Every borrowed image, font, sound, library and AI-generated asset has a licence recorded.</a:t>
            </a:r>
          </a:p>
        </p:txBody>
      </p:sp>
      <p:sp>
        <p:nvSpPr>
          <p:cNvPr id="21" name="Oval 20"/>
          <p:cNvSpPr/>
          <p:nvPr/>
        </p:nvSpPr>
        <p:spPr>
          <a:xfrm>
            <a:off x="457200" y="4368800"/>
            <a:ext cx="266700" cy="2667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356100"/>
            <a:ext cx="266700" cy="266700"/>
          </a:xfrm>
          <a:prstGeom prst="rect">
            <a:avLst/>
          </a:prstGeom>
          <a:noFill/>
        </p:spPr>
        <p:txBody>
          <a:bodyPr wrap="square" lIns="0" rIns="0" tIns="0" bIns="0" anchor="ctr">
            <a:spAutoFit/>
          </a:bodyPr>
          <a:lstStyle/>
          <a:p>
            <a:pPr algn="ctr">
              <a:spcAft>
                <a:spcPts val="600"/>
              </a:spcAft>
            </a:pPr>
            <a:r>
              <a:rPr sz="1200" b="1">
                <a:solidFill>
                  <a:srgbClr val="FFFFFF"/>
                </a:solidFill>
                <a:latin typeface="DM Sans"/>
              </a:rPr>
              <a:t>✓</a:t>
            </a:r>
          </a:p>
        </p:txBody>
      </p:sp>
      <p:sp>
        <p:nvSpPr>
          <p:cNvPr id="23" name="TextBox 22"/>
          <p:cNvSpPr txBox="1"/>
          <p:nvPr/>
        </p:nvSpPr>
        <p:spPr>
          <a:xfrm>
            <a:off x="863600" y="4318000"/>
            <a:ext cx="10858500" cy="609600"/>
          </a:xfrm>
          <a:prstGeom prst="rect">
            <a:avLst/>
          </a:prstGeom>
          <a:noFill/>
        </p:spPr>
        <p:txBody>
          <a:bodyPr wrap="square" lIns="0" rIns="0" tIns="0" bIns="0" anchor="t">
            <a:spAutoFit/>
          </a:bodyPr>
          <a:lstStyle/>
          <a:p>
            <a:pPr algn="l">
              <a:lnSpc>
                <a:spcPct val="115000"/>
              </a:lnSpc>
              <a:spcAft>
                <a:spcPts val="600"/>
              </a:spcAft>
            </a:pPr>
            <a:r>
              <a:rPr sz="1450" b="0">
                <a:solidFill>
                  <a:srgbClr val="0D1117"/>
                </a:solidFill>
                <a:latin typeface="DM Sans"/>
              </a:rPr>
              <a:t>At least one ethical issue is named that no law covers.</a:t>
            </a:r>
          </a:p>
        </p:txBody>
      </p:sp>
      <p:sp>
        <p:nvSpPr>
          <p:cNvPr id="24" name="Oval 23"/>
          <p:cNvSpPr/>
          <p:nvPr/>
        </p:nvSpPr>
        <p:spPr>
          <a:xfrm>
            <a:off x="457200" y="4978400"/>
            <a:ext cx="266700" cy="2667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965700"/>
            <a:ext cx="266700" cy="266700"/>
          </a:xfrm>
          <a:prstGeom prst="rect">
            <a:avLst/>
          </a:prstGeom>
          <a:noFill/>
        </p:spPr>
        <p:txBody>
          <a:bodyPr wrap="square" lIns="0" rIns="0" tIns="0" bIns="0" anchor="ctr">
            <a:spAutoFit/>
          </a:bodyPr>
          <a:lstStyle/>
          <a:p>
            <a:pPr algn="ctr">
              <a:spcAft>
                <a:spcPts val="600"/>
              </a:spcAft>
            </a:pPr>
            <a:r>
              <a:rPr sz="1200" b="1">
                <a:solidFill>
                  <a:srgbClr val="FFFFFF"/>
                </a:solidFill>
                <a:latin typeface="DM Sans"/>
              </a:rPr>
              <a:t>✓</a:t>
            </a:r>
          </a:p>
        </p:txBody>
      </p:sp>
      <p:sp>
        <p:nvSpPr>
          <p:cNvPr id="26" name="TextBox 25"/>
          <p:cNvSpPr txBox="1"/>
          <p:nvPr/>
        </p:nvSpPr>
        <p:spPr>
          <a:xfrm>
            <a:off x="863600" y="4927600"/>
            <a:ext cx="10858500" cy="609600"/>
          </a:xfrm>
          <a:prstGeom prst="rect">
            <a:avLst/>
          </a:prstGeom>
          <a:noFill/>
        </p:spPr>
        <p:txBody>
          <a:bodyPr wrap="square" lIns="0" rIns="0" tIns="0" bIns="0" anchor="t">
            <a:spAutoFit/>
          </a:bodyPr>
          <a:lstStyle/>
          <a:p>
            <a:pPr algn="l">
              <a:lnSpc>
                <a:spcPct val="115000"/>
              </a:lnSpc>
              <a:spcAft>
                <a:spcPts val="600"/>
              </a:spcAft>
            </a:pPr>
            <a:r>
              <a:rPr sz="1450" b="0">
                <a:solidFill>
                  <a:srgbClr val="0D1117"/>
                </a:solidFill>
                <a:latin typeface="DM Sans"/>
              </a:rPr>
              <a:t>The build plan change is written down — or the reason there is none.</a:t>
            </a:r>
          </a:p>
        </p:txBody>
      </p:sp>
      <p:sp>
        <p:nvSpPr>
          <p:cNvPr id="27" name="TextBox 26"/>
          <p:cNvSpPr txBox="1"/>
          <p:nvPr/>
        </p:nvSpPr>
        <p:spPr>
          <a:xfrm>
            <a:off x="457200" y="5689600"/>
            <a:ext cx="11264900" cy="584200"/>
          </a:xfrm>
          <a:prstGeom prst="rect">
            <a:avLst/>
          </a:prstGeom>
          <a:noFill/>
        </p:spPr>
        <p:txBody>
          <a:bodyPr wrap="square" lIns="0" rIns="0" tIns="0" bIns="0" anchor="t">
            <a:spAutoFit/>
          </a:bodyPr>
          <a:lstStyle/>
          <a:p>
            <a:pPr algn="l">
              <a:lnSpc>
                <a:spcPct val="125000"/>
              </a:lnSpc>
              <a:spcAft>
                <a:spcPts val="600"/>
              </a:spcAft>
            </a:pPr>
            <a:r>
              <a:rPr sz="1300" b="0">
                <a:solidFill>
                  <a:srgbClr val="57606A"/>
                </a:solidFill>
                <a:latin typeface="DM Sans"/>
              </a:rPr>
              <a:t>This is not busywork before the fun part. Every item here is evidence for Outcome 1, and it is far cheaper to fix now than after you have built on top of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4000"/>
            <a:ext cx="54864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y11-ac-u2-l12-building-responsibly</a:t>
            </a:r>
          </a:p>
        </p:txBody>
      </p:sp>
      <p:sp>
        <p:nvSpPr>
          <p:cNvPr id="3" name="TextBox 2"/>
          <p:cNvSpPr txBox="1"/>
          <p:nvPr/>
        </p:nvSpPr>
        <p:spPr>
          <a:xfrm>
            <a:off x="8978900" y="254000"/>
            <a:ext cx="2743200" cy="254000"/>
          </a:xfrm>
          <a:prstGeom prst="rect">
            <a:avLst/>
          </a:prstGeom>
          <a:noFill/>
        </p:spPr>
        <p:txBody>
          <a:bodyPr wrap="square" lIns="0" rIns="0" tIns="0" bIns="0" anchor="t">
            <a:spAutoFit/>
          </a:bodyPr>
          <a:lstStyle/>
          <a:p>
            <a:pPr algn="r">
              <a:spcAft>
                <a:spcPts val="600"/>
              </a:spcAft>
            </a:pPr>
            <a:r>
              <a:rPr sz="1050" b="0">
                <a:solidFill>
                  <a:srgbClr val="57606A"/>
                </a:solidFill>
                <a:latin typeface="DM Mono"/>
              </a:rPr>
              <a:t>Mr Smith</a:t>
            </a:r>
          </a:p>
        </p:txBody>
      </p:sp>
      <p:sp>
        <p:nvSpPr>
          <p:cNvPr id="4" name="Rounded Rectangle 3"/>
          <p:cNvSpPr/>
          <p:nvPr/>
        </p:nvSpPr>
        <p:spPr>
          <a:xfrm>
            <a:off x="8750300" y="596900"/>
            <a:ext cx="1397000" cy="304800"/>
          </a:xfrm>
          <a:prstGeom prst="roundRect">
            <a:avLst>
              <a:gd name="adj" fmla="val 50000"/>
            </a:avLst>
          </a:prstGeom>
          <a:solidFill>
            <a:srgbClr val="FFFFFF"/>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50300" y="596900"/>
            <a:ext cx="1397000" cy="304800"/>
          </a:xfrm>
          <a:prstGeom prst="rect">
            <a:avLst/>
          </a:prstGeom>
          <a:noFill/>
        </p:spPr>
        <p:txBody>
          <a:bodyPr wrap="square" lIns="0" rIns="0" tIns="0" bIns="0" anchor="ctr">
            <a:spAutoFit/>
          </a:bodyPr>
          <a:lstStyle/>
          <a:p>
            <a:pPr algn="ctr">
              <a:spcAft>
                <a:spcPts val="600"/>
              </a:spcAft>
            </a:pPr>
            <a:r>
              <a:rPr sz="850" b="1">
                <a:solidFill>
                  <a:srgbClr val="EF4444"/>
                </a:solidFill>
                <a:latin typeface="DM Sans"/>
              </a:rPr>
              <a:t>EXIT TICKET</a:t>
            </a:r>
          </a:p>
        </p:txBody>
      </p:sp>
      <p:sp>
        <p:nvSpPr>
          <p:cNvPr id="6" name="Rounded Rectangle 5"/>
          <p:cNvSpPr/>
          <p:nvPr/>
        </p:nvSpPr>
        <p:spPr>
          <a:xfrm>
            <a:off x="10261600" y="596900"/>
            <a:ext cx="1460500" cy="304800"/>
          </a:xfrm>
          <a:prstGeom prst="roundRect">
            <a:avLst>
              <a:gd name="adj" fmla="val 50000"/>
            </a:avLst>
          </a:prstGeom>
          <a:solidFill>
            <a:srgbClr val="FFFFFF"/>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88600" y="711200"/>
            <a:ext cx="76200" cy="7620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02900" y="596900"/>
            <a:ext cx="1219200" cy="304800"/>
          </a:xfrm>
          <a:prstGeom prst="rect">
            <a:avLst/>
          </a:prstGeom>
          <a:noFill/>
        </p:spPr>
        <p:txBody>
          <a:bodyPr wrap="square" lIns="0" rIns="0" tIns="0" bIns="0" anchor="ctr">
            <a:spAutoFit/>
          </a:bodyPr>
          <a:lstStyle/>
          <a:p>
            <a:pPr algn="l">
              <a:spcAft>
                <a:spcPts val="600"/>
              </a:spcAft>
            </a:pPr>
            <a:r>
              <a:rPr sz="850" b="1">
                <a:solidFill>
                  <a:srgbClr val="EF4444"/>
                </a:solidFill>
                <a:latin typeface="DM Sans"/>
              </a:rPr>
              <a:t>DEVICES OFF</a:t>
            </a:r>
          </a:p>
        </p:txBody>
      </p:sp>
      <p:sp>
        <p:nvSpPr>
          <p:cNvPr id="9" name="TextBox 8"/>
          <p:cNvSpPr txBox="1"/>
          <p:nvPr/>
        </p:nvSpPr>
        <p:spPr>
          <a:xfrm>
            <a:off x="457200" y="1371600"/>
            <a:ext cx="11264900" cy="508000"/>
          </a:xfrm>
          <a:prstGeom prst="rect">
            <a:avLst/>
          </a:prstGeom>
          <a:noFill/>
        </p:spPr>
        <p:txBody>
          <a:bodyPr wrap="square" lIns="0" rIns="0" tIns="0" bIns="0" anchor="t">
            <a:spAutoFit/>
          </a:bodyPr>
          <a:lstStyle/>
          <a:p>
            <a:pPr algn="l">
              <a:spcAft>
                <a:spcPts val="600"/>
              </a:spcAft>
            </a:pPr>
            <a:r>
              <a:rPr sz="2900" b="0">
                <a:solidFill>
                  <a:srgbClr val="0D1117"/>
                </a:solidFill>
                <a:latin typeface="DM Serif Display"/>
              </a:rPr>
              <a:t>Exit Ticket</a:t>
            </a:r>
          </a:p>
        </p:txBody>
      </p:sp>
      <p:sp>
        <p:nvSpPr>
          <p:cNvPr id="10" name="TextBox 9"/>
          <p:cNvSpPr txBox="1"/>
          <p:nvPr/>
        </p:nvSpPr>
        <p:spPr>
          <a:xfrm>
            <a:off x="457200" y="6426200"/>
            <a:ext cx="4572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14</a:t>
            </a:r>
          </a:p>
        </p:txBody>
      </p:sp>
      <p:sp>
        <p:nvSpPr>
          <p:cNvPr id="11" name="TextBox 10"/>
          <p:cNvSpPr txBox="1"/>
          <p:nvPr/>
        </p:nvSpPr>
        <p:spPr>
          <a:xfrm>
            <a:off x="457200" y="1981200"/>
            <a:ext cx="11264900" cy="304800"/>
          </a:xfrm>
          <a:prstGeom prst="rect">
            <a:avLst/>
          </a:prstGeom>
          <a:noFill/>
        </p:spPr>
        <p:txBody>
          <a:bodyPr wrap="square" lIns="0" rIns="0" tIns="0" bIns="0" anchor="t">
            <a:spAutoFit/>
          </a:bodyPr>
          <a:lstStyle/>
          <a:p>
            <a:pPr algn="l">
              <a:spcAft>
                <a:spcPts val="600"/>
              </a:spcAft>
            </a:pPr>
            <a:r>
              <a:rPr sz="1300" b="0">
                <a:solidFill>
                  <a:srgbClr val="57606A"/>
                </a:solidFill>
                <a:latin typeface="DM Sans"/>
              </a:rPr>
              <a:t>Devices off — complete Section 5 from memory. No looking back.</a:t>
            </a:r>
          </a:p>
        </p:txBody>
      </p:sp>
      <p:sp>
        <p:nvSpPr>
          <p:cNvPr id="12" name="Rounded Rectangle 11"/>
          <p:cNvSpPr/>
          <p:nvPr/>
        </p:nvSpPr>
        <p:spPr>
          <a:xfrm>
            <a:off x="457200" y="2489200"/>
            <a:ext cx="11264900" cy="1041400"/>
          </a:xfrm>
          <a:prstGeom prst="roundRect">
            <a:avLst>
              <a:gd name="adj" fmla="val 9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23900" y="2679700"/>
            <a:ext cx="1752600"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3900" y="2679700"/>
            <a:ext cx="1752600" cy="304800"/>
          </a:xfrm>
          <a:prstGeom prst="rect">
            <a:avLst/>
          </a:prstGeom>
          <a:noFill/>
        </p:spPr>
        <p:txBody>
          <a:bodyPr wrap="square" lIns="0" rIns="0" tIns="0" bIns="0" anchor="ctr">
            <a:spAutoFit/>
          </a:bodyPr>
          <a:lstStyle/>
          <a:p>
            <a:pPr algn="ctr">
              <a:spcAft>
                <a:spcPts val="600"/>
              </a:spcAft>
            </a:pPr>
            <a:r>
              <a:rPr sz="950" b="1">
                <a:solidFill>
                  <a:srgbClr val="10B981"/>
                </a:solidFill>
                <a:latin typeface="DM Sans"/>
              </a:rPr>
              <a:t>🟢 FOUNDATION</a:t>
            </a:r>
          </a:p>
        </p:txBody>
      </p:sp>
      <p:sp>
        <p:nvSpPr>
          <p:cNvPr id="15" name="TextBox 14"/>
          <p:cNvSpPr txBox="1"/>
          <p:nvPr/>
        </p:nvSpPr>
        <p:spPr>
          <a:xfrm>
            <a:off x="723900" y="3073400"/>
            <a:ext cx="10731500" cy="330200"/>
          </a:xfrm>
          <a:prstGeom prst="rect">
            <a:avLst/>
          </a:prstGeom>
          <a:noFill/>
        </p:spPr>
        <p:txBody>
          <a:bodyPr wrap="square" lIns="0" rIns="0" tIns="0" bIns="0" anchor="t">
            <a:spAutoFit/>
          </a:bodyPr>
          <a:lstStyle/>
          <a:p>
            <a:pPr algn="l">
              <a:spcAft>
                <a:spcPts val="600"/>
              </a:spcAft>
            </a:pPr>
            <a:r>
              <a:rPr sz="1500" b="0">
                <a:solidFill>
                  <a:srgbClr val="0D1117"/>
                </a:solidFill>
                <a:latin typeface="DM Sans"/>
              </a:rPr>
              <a:t>Name one piece of data your solution collects, and the law that covers it.</a:t>
            </a:r>
          </a:p>
        </p:txBody>
      </p:sp>
      <p:sp>
        <p:nvSpPr>
          <p:cNvPr id="16" name="Rounded Rectangle 15"/>
          <p:cNvSpPr/>
          <p:nvPr/>
        </p:nvSpPr>
        <p:spPr>
          <a:xfrm>
            <a:off x="457200" y="3657600"/>
            <a:ext cx="11264900" cy="1041400"/>
          </a:xfrm>
          <a:prstGeom prst="roundRect">
            <a:avLst>
              <a:gd name="adj" fmla="val 9000"/>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23900" y="3848100"/>
            <a:ext cx="1752600"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3900" y="3848100"/>
            <a:ext cx="1752600" cy="304800"/>
          </a:xfrm>
          <a:prstGeom prst="rect">
            <a:avLst/>
          </a:prstGeom>
          <a:noFill/>
        </p:spPr>
        <p:txBody>
          <a:bodyPr wrap="square" lIns="0" rIns="0" tIns="0" bIns="0" anchor="ctr">
            <a:spAutoFit/>
          </a:bodyPr>
          <a:lstStyle/>
          <a:p>
            <a:pPr algn="ctr">
              <a:spcAft>
                <a:spcPts val="600"/>
              </a:spcAft>
            </a:pPr>
            <a:r>
              <a:rPr sz="950" b="1">
                <a:solidFill>
                  <a:srgbClr val="F59E0B"/>
                </a:solidFill>
                <a:latin typeface="DM Sans"/>
              </a:rPr>
              <a:t>🟡 DEVELOPING</a:t>
            </a:r>
          </a:p>
        </p:txBody>
      </p:sp>
      <p:sp>
        <p:nvSpPr>
          <p:cNvPr id="19" name="TextBox 18"/>
          <p:cNvSpPr txBox="1"/>
          <p:nvPr/>
        </p:nvSpPr>
        <p:spPr>
          <a:xfrm>
            <a:off x="723900" y="4241800"/>
            <a:ext cx="10731500" cy="330200"/>
          </a:xfrm>
          <a:prstGeom prst="rect">
            <a:avLst/>
          </a:prstGeom>
          <a:noFill/>
        </p:spPr>
        <p:txBody>
          <a:bodyPr wrap="square" lIns="0" rIns="0" tIns="0" bIns="0" anchor="t">
            <a:spAutoFit/>
          </a:bodyPr>
          <a:lstStyle/>
          <a:p>
            <a:pPr algn="l">
              <a:spcAft>
                <a:spcPts val="600"/>
              </a:spcAft>
            </a:pPr>
            <a:r>
              <a:rPr sz="1500" b="0">
                <a:solidFill>
                  <a:srgbClr val="0D1117"/>
                </a:solidFill>
                <a:latin typeface="DM Sans"/>
              </a:rPr>
              <a:t>Why is attribution not the same thing as a licence?</a:t>
            </a:r>
          </a:p>
        </p:txBody>
      </p:sp>
      <p:sp>
        <p:nvSpPr>
          <p:cNvPr id="20" name="Rounded Rectangle 19"/>
          <p:cNvSpPr/>
          <p:nvPr/>
        </p:nvSpPr>
        <p:spPr>
          <a:xfrm>
            <a:off x="457200" y="4826000"/>
            <a:ext cx="11264900" cy="1041400"/>
          </a:xfrm>
          <a:prstGeom prst="roundRect">
            <a:avLst>
              <a:gd name="adj" fmla="val 9000"/>
            </a:avLst>
          </a:prstGeom>
          <a:solidFill>
            <a:srgbClr val="FFFFFF"/>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23900" y="5016500"/>
            <a:ext cx="1752600" cy="304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3900" y="5016500"/>
            <a:ext cx="1752600" cy="304800"/>
          </a:xfrm>
          <a:prstGeom prst="rect">
            <a:avLst/>
          </a:prstGeom>
          <a:noFill/>
        </p:spPr>
        <p:txBody>
          <a:bodyPr wrap="square" lIns="0" rIns="0" tIns="0" bIns="0" anchor="ctr">
            <a:spAutoFit/>
          </a:bodyPr>
          <a:lstStyle/>
          <a:p>
            <a:pPr algn="ctr">
              <a:spcAft>
                <a:spcPts val="600"/>
              </a:spcAft>
            </a:pPr>
            <a:r>
              <a:rPr sz="950" b="1">
                <a:solidFill>
                  <a:srgbClr val="8B5CF6"/>
                </a:solidFill>
                <a:latin typeface="DM Sans"/>
              </a:rPr>
              <a:t>🟣 EXTENDING</a:t>
            </a:r>
          </a:p>
        </p:txBody>
      </p:sp>
      <p:sp>
        <p:nvSpPr>
          <p:cNvPr id="23" name="TextBox 22"/>
          <p:cNvSpPr txBox="1"/>
          <p:nvPr/>
        </p:nvSpPr>
        <p:spPr>
          <a:xfrm>
            <a:off x="723900" y="5410200"/>
            <a:ext cx="10731500" cy="330200"/>
          </a:xfrm>
          <a:prstGeom prst="rect">
            <a:avLst/>
          </a:prstGeom>
          <a:noFill/>
        </p:spPr>
        <p:txBody>
          <a:bodyPr wrap="square" lIns="0" rIns="0" tIns="0" bIns="0" anchor="t">
            <a:spAutoFit/>
          </a:bodyPr>
          <a:lstStyle/>
          <a:p>
            <a:pPr algn="l">
              <a:spcAft>
                <a:spcPts val="600"/>
              </a:spcAft>
            </a:pPr>
            <a:r>
              <a:rPr sz="1500" b="0">
                <a:solidFill>
                  <a:srgbClr val="0D1117"/>
                </a:solidFill>
                <a:latin typeface="DM Sans"/>
              </a:rPr>
              <a:t>Describe one thing your solution could legally do that your group decided it should not. Why?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4000"/>
            <a:ext cx="54864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y11-ac-u2-l12-building-responsibly</a:t>
            </a:r>
          </a:p>
        </p:txBody>
      </p:sp>
      <p:sp>
        <p:nvSpPr>
          <p:cNvPr id="3" name="TextBox 2"/>
          <p:cNvSpPr txBox="1"/>
          <p:nvPr/>
        </p:nvSpPr>
        <p:spPr>
          <a:xfrm>
            <a:off x="8978900" y="254000"/>
            <a:ext cx="2743200" cy="254000"/>
          </a:xfrm>
          <a:prstGeom prst="rect">
            <a:avLst/>
          </a:prstGeom>
          <a:noFill/>
        </p:spPr>
        <p:txBody>
          <a:bodyPr wrap="square" lIns="0" rIns="0" tIns="0" bIns="0" anchor="t">
            <a:spAutoFit/>
          </a:bodyPr>
          <a:lstStyle/>
          <a:p>
            <a:pPr algn="r">
              <a:spcAft>
                <a:spcPts val="600"/>
              </a:spcAft>
            </a:pPr>
            <a:r>
              <a:rPr sz="1050" b="0">
                <a:solidFill>
                  <a:srgbClr val="57606A"/>
                </a:solidFill>
                <a:latin typeface="DM Mono"/>
              </a:rPr>
              <a:t>Mr Smith</a:t>
            </a:r>
          </a:p>
        </p:txBody>
      </p:sp>
      <p:sp>
        <p:nvSpPr>
          <p:cNvPr id="4" name="Rounded Rectangle 3"/>
          <p:cNvSpPr/>
          <p:nvPr/>
        </p:nvSpPr>
        <p:spPr>
          <a:xfrm>
            <a:off x="8750300" y="596900"/>
            <a:ext cx="1397000" cy="304800"/>
          </a:xfrm>
          <a:prstGeom prst="roundRect">
            <a:avLst>
              <a:gd name="adj" fmla="val 50000"/>
            </a:avLst>
          </a:prstGeom>
          <a:solidFill>
            <a:srgbClr val="FFFFFF"/>
          </a:solidFill>
          <a:ln w="12700">
            <a:solidFill>
              <a:srgbClr val="576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50300" y="596900"/>
            <a:ext cx="1397000" cy="304800"/>
          </a:xfrm>
          <a:prstGeom prst="rect">
            <a:avLst/>
          </a:prstGeom>
          <a:noFill/>
        </p:spPr>
        <p:txBody>
          <a:bodyPr wrap="square" lIns="0" rIns="0" tIns="0" bIns="0" anchor="ctr">
            <a:spAutoFit/>
          </a:bodyPr>
          <a:lstStyle/>
          <a:p>
            <a:pPr algn="ctr">
              <a:spcAft>
                <a:spcPts val="600"/>
              </a:spcAft>
            </a:pPr>
            <a:r>
              <a:rPr sz="850" b="1">
                <a:solidFill>
                  <a:srgbClr val="57606A"/>
                </a:solidFill>
                <a:latin typeface="DM Sans"/>
              </a:rPr>
              <a:t>NEXT STEPS</a:t>
            </a:r>
          </a:p>
        </p:txBody>
      </p:sp>
      <p:sp>
        <p:nvSpPr>
          <p:cNvPr id="6" name="Rounded Rectangle 5"/>
          <p:cNvSpPr/>
          <p:nvPr/>
        </p:nvSpPr>
        <p:spPr>
          <a:xfrm>
            <a:off x="10261600" y="596900"/>
            <a:ext cx="1460500" cy="304800"/>
          </a:xfrm>
          <a:prstGeom prst="roundRect">
            <a:avLst>
              <a:gd name="adj" fmla="val 50000"/>
            </a:avLst>
          </a:prstGeom>
          <a:solidFill>
            <a:srgbClr val="FFFFFF"/>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88600" y="711200"/>
            <a:ext cx="76200" cy="7620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02900" y="596900"/>
            <a:ext cx="1219200" cy="304800"/>
          </a:xfrm>
          <a:prstGeom prst="rect">
            <a:avLst/>
          </a:prstGeom>
          <a:noFill/>
        </p:spPr>
        <p:txBody>
          <a:bodyPr wrap="square" lIns="0" rIns="0" tIns="0" bIns="0" anchor="ctr">
            <a:spAutoFit/>
          </a:bodyPr>
          <a:lstStyle/>
          <a:p>
            <a:pPr algn="l">
              <a:spcAft>
                <a:spcPts val="600"/>
              </a:spcAft>
            </a:pPr>
            <a:r>
              <a:rPr sz="850" b="1">
                <a:solidFill>
                  <a:srgbClr val="EF4444"/>
                </a:solidFill>
                <a:latin typeface="DM Sans"/>
              </a:rPr>
              <a:t>DEVICES OFF</a:t>
            </a:r>
          </a:p>
        </p:txBody>
      </p:sp>
      <p:sp>
        <p:nvSpPr>
          <p:cNvPr id="9" name="TextBox 8"/>
          <p:cNvSpPr txBox="1"/>
          <p:nvPr/>
        </p:nvSpPr>
        <p:spPr>
          <a:xfrm>
            <a:off x="457200" y="1371600"/>
            <a:ext cx="11264900" cy="508000"/>
          </a:xfrm>
          <a:prstGeom prst="rect">
            <a:avLst/>
          </a:prstGeom>
          <a:noFill/>
        </p:spPr>
        <p:txBody>
          <a:bodyPr wrap="square" lIns="0" rIns="0" tIns="0" bIns="0" anchor="t">
            <a:spAutoFit/>
          </a:bodyPr>
          <a:lstStyle/>
          <a:p>
            <a:pPr algn="l">
              <a:spcAft>
                <a:spcPts val="600"/>
              </a:spcAft>
            </a:pPr>
            <a:r>
              <a:rPr sz="2900" b="0">
                <a:solidFill>
                  <a:srgbClr val="0D1117"/>
                </a:solidFill>
                <a:latin typeface="DM Serif Display"/>
              </a:rPr>
              <a:t>Looking Ahead</a:t>
            </a:r>
          </a:p>
        </p:txBody>
      </p:sp>
      <p:sp>
        <p:nvSpPr>
          <p:cNvPr id="10" name="TextBox 9"/>
          <p:cNvSpPr txBox="1"/>
          <p:nvPr/>
        </p:nvSpPr>
        <p:spPr>
          <a:xfrm>
            <a:off x="457200" y="6426200"/>
            <a:ext cx="457200" cy="254000"/>
          </a:xfrm>
          <a:prstGeom prst="rect">
            <a:avLst/>
          </a:prstGeom>
          <a:noFill/>
        </p:spPr>
        <p:txBody>
          <a:bodyPr wrap="square" lIns="0" rIns="0" tIns="0" bIns="0" anchor="t">
            <a:spAutoFit/>
          </a:bodyPr>
          <a:lstStyle/>
          <a:p>
            <a:pPr algn="l">
              <a:spcAft>
                <a:spcPts val="600"/>
              </a:spcAft>
            </a:pPr>
            <a:r>
              <a:rPr sz="1050" b="0">
                <a:solidFill>
                  <a:srgbClr val="57606A"/>
                </a:solidFill>
                <a:latin typeface="DM Mono"/>
              </a:rPr>
              <a:t>15</a:t>
            </a:r>
          </a:p>
        </p:txBody>
      </p:sp>
      <p:sp>
        <p:nvSpPr>
          <p:cNvPr id="11" name="Rounded Rectangle 10"/>
          <p:cNvSpPr/>
          <p:nvPr/>
        </p:nvSpPr>
        <p:spPr>
          <a:xfrm>
            <a:off x="457200" y="1981200"/>
            <a:ext cx="11264900" cy="1066800"/>
          </a:xfrm>
          <a:prstGeom prst="roundRect">
            <a:avLst>
              <a:gd name="adj" fmla="val 9000"/>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2159000"/>
            <a:ext cx="10731500" cy="266700"/>
          </a:xfrm>
          <a:prstGeom prst="rect">
            <a:avLst/>
          </a:prstGeom>
          <a:noFill/>
        </p:spPr>
        <p:txBody>
          <a:bodyPr wrap="square" lIns="0" rIns="0" tIns="0" bIns="0" anchor="t">
            <a:spAutoFit/>
          </a:bodyPr>
          <a:lstStyle/>
          <a:p>
            <a:pPr algn="l">
              <a:spcAft>
                <a:spcPts val="600"/>
              </a:spcAft>
            </a:pPr>
            <a:r>
              <a:rPr sz="1100" b="1">
                <a:solidFill>
                  <a:srgbClr val="FFFFFF"/>
                </a:solidFill>
                <a:latin typeface="DM Sans"/>
              </a:rPr>
              <a:t>NEXT LESSON — BUILDING BEGINS</a:t>
            </a:r>
          </a:p>
        </p:txBody>
      </p:sp>
      <p:sp>
        <p:nvSpPr>
          <p:cNvPr id="13" name="TextBox 12"/>
          <p:cNvSpPr txBox="1"/>
          <p:nvPr/>
        </p:nvSpPr>
        <p:spPr>
          <a:xfrm>
            <a:off x="723900" y="2489200"/>
            <a:ext cx="10731500" cy="457200"/>
          </a:xfrm>
          <a:prstGeom prst="rect">
            <a:avLst/>
          </a:prstGeom>
          <a:noFill/>
        </p:spPr>
        <p:txBody>
          <a:bodyPr wrap="square" lIns="0" rIns="0" tIns="0" bIns="0" anchor="t">
            <a:spAutoFit/>
          </a:bodyPr>
          <a:lstStyle/>
          <a:p>
            <a:pPr algn="l">
              <a:lnSpc>
                <a:spcPct val="120000"/>
              </a:lnSpc>
              <a:spcAft>
                <a:spcPts val="600"/>
              </a:spcAft>
            </a:pPr>
            <a:r>
              <a:rPr sz="1450" b="0">
                <a:solidFill>
                  <a:srgbClr val="FFFFFF"/>
                </a:solidFill>
                <a:latin typeface="DM Sans"/>
              </a:rPr>
              <a:t>You start building your preferred design, working from your build plan — with the changes you made today already in it.</a:t>
            </a:r>
          </a:p>
        </p:txBody>
      </p:sp>
      <p:sp>
        <p:nvSpPr>
          <p:cNvPr id="14" name="Rounded Rectangle 13"/>
          <p:cNvSpPr/>
          <p:nvPr/>
        </p:nvSpPr>
        <p:spPr>
          <a:xfrm>
            <a:off x="457200" y="3200400"/>
            <a:ext cx="11264900" cy="1092200"/>
          </a:xfrm>
          <a:prstGeom prst="roundRect">
            <a:avLst>
              <a:gd name="adj" fmla="val 9000"/>
            </a:avLst>
          </a:prstGeom>
          <a:solidFill>
            <a:srgbClr val="FEF3E0"/>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3352800"/>
            <a:ext cx="10731500" cy="266700"/>
          </a:xfrm>
          <a:prstGeom prst="rect">
            <a:avLst/>
          </a:prstGeom>
          <a:noFill/>
        </p:spPr>
        <p:txBody>
          <a:bodyPr wrap="square" lIns="0" rIns="0" tIns="0" bIns="0" anchor="t">
            <a:spAutoFit/>
          </a:bodyPr>
          <a:lstStyle/>
          <a:p>
            <a:pPr algn="l">
              <a:spcAft>
                <a:spcPts val="600"/>
              </a:spcAft>
            </a:pPr>
            <a:r>
              <a:rPr sz="1100" b="1">
                <a:solidFill>
                  <a:srgbClr val="F59E0B"/>
                </a:solidFill>
                <a:latin typeface="DM Sans"/>
              </a:rPr>
              <a:t>YOUR LEGAL REGISTER IS A LIVE DOCUMENT</a:t>
            </a:r>
          </a:p>
        </p:txBody>
      </p:sp>
      <p:sp>
        <p:nvSpPr>
          <p:cNvPr id="16" name="TextBox 15"/>
          <p:cNvSpPr txBox="1"/>
          <p:nvPr/>
        </p:nvSpPr>
        <p:spPr>
          <a:xfrm>
            <a:off x="723900" y="3683000"/>
            <a:ext cx="10731500" cy="406400"/>
          </a:xfrm>
          <a:prstGeom prst="rect">
            <a:avLst/>
          </a:prstGeom>
          <a:noFill/>
        </p:spPr>
        <p:txBody>
          <a:bodyPr wrap="square" lIns="0" rIns="0" tIns="0" bIns="0" anchor="t">
            <a:spAutoFit/>
          </a:bodyPr>
          <a:lstStyle/>
          <a:p>
            <a:pPr algn="l">
              <a:lnSpc>
                <a:spcPct val="120000"/>
              </a:lnSpc>
              <a:spcAft>
                <a:spcPts val="600"/>
              </a:spcAft>
            </a:pPr>
            <a:r>
              <a:rPr sz="1400" b="0">
                <a:solidFill>
                  <a:srgbClr val="0D1117"/>
                </a:solidFill>
                <a:latin typeface="DM Sans"/>
              </a:rPr>
              <a:t>Every time you add an asset or a field during the build, add a line to it. Reconstructing it at the end is far harder than keeping it.</a:t>
            </a:r>
          </a:p>
        </p:txBody>
      </p:sp>
      <p:sp>
        <p:nvSpPr>
          <p:cNvPr id="17" name="TextBox 16"/>
          <p:cNvSpPr txBox="1"/>
          <p:nvPr/>
        </p:nvSpPr>
        <p:spPr>
          <a:xfrm>
            <a:off x="457200" y="4470400"/>
            <a:ext cx="11264900" cy="266700"/>
          </a:xfrm>
          <a:prstGeom prst="rect">
            <a:avLst/>
          </a:prstGeom>
          <a:noFill/>
        </p:spPr>
        <p:txBody>
          <a:bodyPr wrap="square" lIns="0" rIns="0" tIns="0" bIns="0" anchor="t">
            <a:spAutoFit/>
          </a:bodyPr>
          <a:lstStyle/>
          <a:p>
            <a:pPr algn="l">
              <a:spcAft>
                <a:spcPts val="600"/>
              </a:spcAft>
            </a:pPr>
            <a:r>
              <a:rPr sz="1100" b="1">
                <a:solidFill>
                  <a:srgbClr val="57606A"/>
                </a:solidFill>
                <a:latin typeface="DM Sans"/>
              </a:rPr>
              <a:t>BEFORE DISMISSING</a:t>
            </a:r>
          </a:p>
        </p:txBody>
      </p:sp>
      <p:sp>
        <p:nvSpPr>
          <p:cNvPr id="18" name="Oval 17"/>
          <p:cNvSpPr/>
          <p:nvPr/>
        </p:nvSpPr>
        <p:spPr>
          <a:xfrm>
            <a:off x="457200" y="4826000"/>
            <a:ext cx="266700" cy="2667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813300"/>
            <a:ext cx="266700" cy="266700"/>
          </a:xfrm>
          <a:prstGeom prst="rect">
            <a:avLst/>
          </a:prstGeom>
          <a:noFill/>
        </p:spPr>
        <p:txBody>
          <a:bodyPr wrap="square" lIns="0" rIns="0" tIns="0" bIns="0" anchor="ctr">
            <a:spAutoFit/>
          </a:bodyPr>
          <a:lstStyle/>
          <a:p>
            <a:pPr algn="ctr">
              <a:spcAft>
                <a:spcPts val="600"/>
              </a:spcAft>
            </a:pPr>
            <a:r>
              <a:rPr sz="1200" b="1">
                <a:solidFill>
                  <a:srgbClr val="FFFFFF"/>
                </a:solidFill>
                <a:latin typeface="DM Sans"/>
              </a:rPr>
              <a:t>✓</a:t>
            </a:r>
          </a:p>
        </p:txBody>
      </p:sp>
      <p:sp>
        <p:nvSpPr>
          <p:cNvPr id="20" name="TextBox 19"/>
          <p:cNvSpPr txBox="1"/>
          <p:nvPr/>
        </p:nvSpPr>
        <p:spPr>
          <a:xfrm>
            <a:off x="863600" y="4775200"/>
            <a:ext cx="10858500" cy="431800"/>
          </a:xfrm>
          <a:prstGeom prst="rect">
            <a:avLst/>
          </a:prstGeom>
          <a:noFill/>
        </p:spPr>
        <p:txBody>
          <a:bodyPr wrap="square" lIns="0" rIns="0" tIns="0" bIns="0" anchor="t">
            <a:spAutoFit/>
          </a:bodyPr>
          <a:lstStyle/>
          <a:p>
            <a:pPr algn="l">
              <a:lnSpc>
                <a:spcPct val="115000"/>
              </a:lnSpc>
              <a:spcAft>
                <a:spcPts val="600"/>
              </a:spcAft>
            </a:pPr>
            <a:r>
              <a:rPr sz="1400" b="0">
                <a:solidFill>
                  <a:srgbClr val="0D1117"/>
                </a:solidFill>
                <a:latin typeface="DM Sans"/>
              </a:rPr>
              <a:t>Workbook saved (check the Saved ✓ confirmation)</a:t>
            </a:r>
          </a:p>
        </p:txBody>
      </p:sp>
      <p:sp>
        <p:nvSpPr>
          <p:cNvPr id="21" name="Oval 20"/>
          <p:cNvSpPr/>
          <p:nvPr/>
        </p:nvSpPr>
        <p:spPr>
          <a:xfrm>
            <a:off x="457200" y="5257800"/>
            <a:ext cx="266700" cy="2667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5245100"/>
            <a:ext cx="266700" cy="266700"/>
          </a:xfrm>
          <a:prstGeom prst="rect">
            <a:avLst/>
          </a:prstGeom>
          <a:noFill/>
        </p:spPr>
        <p:txBody>
          <a:bodyPr wrap="square" lIns="0" rIns="0" tIns="0" bIns="0" anchor="ctr">
            <a:spAutoFit/>
          </a:bodyPr>
          <a:lstStyle/>
          <a:p>
            <a:pPr algn="ctr">
              <a:spcAft>
                <a:spcPts val="600"/>
              </a:spcAft>
            </a:pPr>
            <a:r>
              <a:rPr sz="1200" b="1">
                <a:solidFill>
                  <a:srgbClr val="FFFFFF"/>
                </a:solidFill>
                <a:latin typeface="DM Sans"/>
              </a:rPr>
              <a:t>✓</a:t>
            </a:r>
          </a:p>
        </p:txBody>
      </p:sp>
      <p:sp>
        <p:nvSpPr>
          <p:cNvPr id="23" name="TextBox 22"/>
          <p:cNvSpPr txBox="1"/>
          <p:nvPr/>
        </p:nvSpPr>
        <p:spPr>
          <a:xfrm>
            <a:off x="863600" y="5207000"/>
            <a:ext cx="10858500" cy="431800"/>
          </a:xfrm>
          <a:prstGeom prst="rect">
            <a:avLst/>
          </a:prstGeom>
          <a:noFill/>
        </p:spPr>
        <p:txBody>
          <a:bodyPr wrap="square" lIns="0" rIns="0" tIns="0" bIns="0" anchor="t">
            <a:spAutoFit/>
          </a:bodyPr>
          <a:lstStyle/>
          <a:p>
            <a:pPr algn="l">
              <a:lnSpc>
                <a:spcPct val="115000"/>
              </a:lnSpc>
              <a:spcAft>
                <a:spcPts val="600"/>
              </a:spcAft>
            </a:pPr>
            <a:r>
              <a:rPr sz="1400" b="0">
                <a:solidFill>
                  <a:srgbClr val="0D1117"/>
                </a:solidFill>
                <a:latin typeface="DM Sans"/>
              </a:rPr>
              <a:t>Data audit and licence register both complete</a:t>
            </a:r>
          </a:p>
        </p:txBody>
      </p:sp>
      <p:sp>
        <p:nvSpPr>
          <p:cNvPr id="24" name="Oval 23"/>
          <p:cNvSpPr/>
          <p:nvPr/>
        </p:nvSpPr>
        <p:spPr>
          <a:xfrm>
            <a:off x="457200" y="5689600"/>
            <a:ext cx="266700" cy="2667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5676900"/>
            <a:ext cx="266700" cy="266700"/>
          </a:xfrm>
          <a:prstGeom prst="rect">
            <a:avLst/>
          </a:prstGeom>
          <a:noFill/>
        </p:spPr>
        <p:txBody>
          <a:bodyPr wrap="square" lIns="0" rIns="0" tIns="0" bIns="0" anchor="ctr">
            <a:spAutoFit/>
          </a:bodyPr>
          <a:lstStyle/>
          <a:p>
            <a:pPr algn="ctr">
              <a:spcAft>
                <a:spcPts val="600"/>
              </a:spcAft>
            </a:pPr>
            <a:r>
              <a:rPr sz="1200" b="1">
                <a:solidFill>
                  <a:srgbClr val="FFFFFF"/>
                </a:solidFill>
                <a:latin typeface="DM Sans"/>
              </a:rPr>
              <a:t>✓</a:t>
            </a:r>
          </a:p>
        </p:txBody>
      </p:sp>
      <p:sp>
        <p:nvSpPr>
          <p:cNvPr id="26" name="TextBox 25"/>
          <p:cNvSpPr txBox="1"/>
          <p:nvPr/>
        </p:nvSpPr>
        <p:spPr>
          <a:xfrm>
            <a:off x="863600" y="5638800"/>
            <a:ext cx="10858500" cy="431800"/>
          </a:xfrm>
          <a:prstGeom prst="rect">
            <a:avLst/>
          </a:prstGeom>
          <a:noFill/>
        </p:spPr>
        <p:txBody>
          <a:bodyPr wrap="square" lIns="0" rIns="0" tIns="0" bIns="0" anchor="t">
            <a:spAutoFit/>
          </a:bodyPr>
          <a:lstStyle/>
          <a:p>
            <a:pPr algn="l">
              <a:lnSpc>
                <a:spcPct val="115000"/>
              </a:lnSpc>
              <a:spcAft>
                <a:spcPts val="600"/>
              </a:spcAft>
            </a:pPr>
            <a:r>
              <a:rPr sz="1400" b="0">
                <a:solidFill>
                  <a:srgbClr val="0D1117"/>
                </a:solidFill>
                <a:latin typeface="DM Sans"/>
              </a:rPr>
              <a:t>Bring your build plan next lesson — building starts straight away</a:t>
            </a:r>
          </a:p>
        </p:txBody>
      </p:sp>
      <p:sp>
        <p:nvSpPr>
          <p:cNvPr id="27" name="TextBox 26"/>
          <p:cNvSpPr txBox="1"/>
          <p:nvPr/>
        </p:nvSpPr>
        <p:spPr>
          <a:xfrm>
            <a:off x="457200" y="6096000"/>
            <a:ext cx="11264900" cy="266700"/>
          </a:xfrm>
          <a:prstGeom prst="rect">
            <a:avLst/>
          </a:prstGeom>
          <a:noFill/>
        </p:spPr>
        <p:txBody>
          <a:bodyPr wrap="square" lIns="0" rIns="0" tIns="0" bIns="0" anchor="t">
            <a:spAutoFit/>
          </a:bodyPr>
          <a:lstStyle/>
          <a:p>
            <a:pPr algn="l">
              <a:spcAft>
                <a:spcPts val="600"/>
              </a:spcAft>
            </a:pPr>
            <a:r>
              <a:rPr sz="1200" b="1">
                <a:solidFill>
                  <a:srgbClr val="57606A"/>
                </a:solidFill>
                <a:latin typeface="DM Mono"/>
              </a:rPr>
              <a:t>HOMEWORK: none set — all work stays in class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