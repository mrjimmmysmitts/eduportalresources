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p:scale>
          <a:sx n="63" d="100"/>
          <a:sy n="63" d="100"/>
        </p:scale>
        <p:origin x="78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6233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This lesson combines timetable slots D3.2 (Characteristics of creative and innovative solutions) and D4.1 (Solution specifications) into one double period.
FIRST HALF (devices OFF): Slides 2-11, explicit teaching on both topics. Paper notes only.
SECOND HALF (from Slide 13 - Laptop Gate): students open the digital workbook and work through Sections 1-4.
Timing guide: ~40 min explicit (both topics), 5 min brain break, ~50 min workbook application across both areas. Ask students to bring their L4 data collection instrument / results and their refined problem statement.
Milestone 1 is due at D4.2, the lesson immediately after this 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warm-up — NO hints on this slide by design. Give 60-90 seconds think time, then cold-call 2-3 groups.
Key observations to draw out (do not offer these yourself): Response A only reacts after the problem happens; Response B prevents the gap by catching it earlier and combines a social routine with a small piece of technology.
Segue: "Being different is easy. Today we will pin down exactly what makes something genuinely innovative, then turn that idea into something buildable."
Timing: 4-5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criterion aloud or ask a student to read it. Ask: 'Which tier is your personal goal for today?' - quick thumb vote, do not press for public answers.
Remind students: criteria map to workbook sections - characteristics work in S1-S2, specification work in S3-S4.
Timing: 2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NOTES phase. Write the formula and the four names into paper notes - they will need these names verbatim at the exit ticket.
Ask: "Can someone give an example of something new that was NOT actually useful?"
This slide previews the four; the next two slides pair them up for closer treatment.
Timing: 4 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Response A/B pair from the warm-up - now formalised as the test for originality.
Cold-call: "Why does the lost-property box fail the test?" (It already exists almost everywhere; it responds after the fact.)
For effectiveness, cold-call one group to complete the quick self-test verbally using their own D2.2/L4 refined problem statement.
Timing: 7-8 min for both.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user-centred: ask "What specific evidence - not an assumption - could you point to right now for your own idea?" If no data yet, that is fine - use predictions and flag them as such in the workbook.
For disruption: cold-call "Which column would the lost-property box sit in? What about the buddy-check-in idea?"
Timing: 7-8 min for both.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all four questions once as a group.
Tell students: "A strong concept rarely scores well on all four on the first attempt - identifying your weakest one honestly is more valuable than claiming a perfect score."
After this: bridge into specifications (next 3 slides), then the brain break.
Timing: 2 min.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transition slide - keep pace brisk here, the detail comes in the next two slides.
Frame it: "You have decided your idea is a good direction. Now we make it buildable."
Timing: 2 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a vague requirement like "the app should be good with reminders" cannot be built against directly - two different developers would build two different things.
Cold-call: "Give me a functional requirement for your own concept, right now, off the top of your head." Then ask the class to spot whether it is precise enough.
Timing: 6-7 min.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scope thinking back to Lesson 4's user IS/ISN'T framework - same intentional-boundary thinking, applied to features now instead of people.
Emphasise: being explicit about what is out of scope protects groups from quietly running out of time trying to build everything.
Timing: 5-6 min.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explicit slide before the brain break. This checklist previews the workbook Sections 3-4 directly.
After this: brain break, then laptop gate.
Timing: 2 min.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Brain Break Variant 3 (Variant 1 used in D2.1, Variant 2 used in L4).
The LIE is #3: QWERTY was designed to REDUCE mechanical typewriter jamming, not to maximise speed - opposite of the popular myth.
#1 and #2 are both true and both involve repurposing something familiar in a new context - a good bridge back into the specification work ahead (turning a strengthened idea into something buildable).
Timing: 4-5 min.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Confirm every group has: (1) their refined problem statement from Lesson 4, (2) any survey/interview results collected so far, even partial.
Sections 1-2 cover characteristics (D3.2); Sections 3-4 cover the specification draft (D4.1). Both happen in this single laptop-gate block.
Timing: 1 min to transition.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as groups rate their concept. Watch for groups scoring everything a 4 or 5 without justification - push back gently.
Groups without collected data yet should rate User-Centred based on predictions, flagged clearly.
Budget roughly 12-15 min here before moving to the specification sections - this half needs to leave enough time for Sections 3-4.
Timing: ~12-15 min.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check requirements are specific enough to build against - a common failure is a requirement so vague two developers would build different things.
Cold-call 1-2 groups to read a requirement aloud; ask the class whether it passes the "two different people, same behaviour" test.
Timing: ~10 min.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deliberate real-world-limits step - resist letting groups skip past genuine constraints in favour of vague ones like "not enough time" without specifics.
Cold-call check-in: pick 2 groups and ask them to state one in-scope and one out-of-scope item out loud.
Extending task (Q11) is optional stretch for groups who finish early.
Timing: ~10 min.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feedback, not marking - fresh eyes on both the characteristics self-critique and the specification draft.
Set a visible timer for 3 minutes. Remind students feedback should be specific, not "looks good".
After this: exit ticket, devices off.
Timing: 5 min.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on paper or have students complete the digital exit ticket without scrolling back.
Q13 is the real test of today's specification content - listen for "what vs how well", not just repeated examples.
Timing: 5 min.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dismissing: spot-check that every group has (1) a strengthened concept from Sections 1-2, (2) at least four functional requirements, (3) a clear in/out scope statement.
Remind groups: Milestone 1 (problem statement + Gantt chart) is due next lesson (D4.2) - their functional requirements from today directly become the task list their Gantt chart needs to schedule, so bring today's workbook.
Groups whose data collection instrument is still out in the field should keep gathering responses between now and then - not formal homework, but useful.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754880" cy="6858000"/>
          </a:xfrm>
          <a:prstGeom prst="rect">
            <a:avLst/>
          </a:prstGeom>
          <a:solidFill>
            <a:srgbClr val="4361EE"/>
          </a:solidFill>
          <a:ln w="12700">
            <a:solidFill>
              <a:srgbClr val="333333"/>
            </a:solidFill>
            <a:prstDash val="solid"/>
          </a:ln>
        </p:spPr>
        <p:txBody>
          <a:bodyPr/>
          <a:lstStyle/>
          <a:p>
            <a:endParaRPr lang="en-AU"/>
          </a:p>
        </p:txBody>
      </p:sp>
      <p:sp>
        <p:nvSpPr>
          <p:cNvPr id="3" name="Text 1"/>
          <p:cNvSpPr/>
          <p:nvPr/>
        </p:nvSpPr>
        <p:spPr>
          <a:xfrm>
            <a:off x="548640" y="640080"/>
            <a:ext cx="3657600" cy="548640"/>
          </a:xfrm>
          <a:prstGeom prst="rect">
            <a:avLst/>
          </a:prstGeom>
          <a:noFill/>
          <a:ln/>
        </p:spPr>
        <p:txBody>
          <a:bodyPr wrap="square" lIns="0" tIns="0" rIns="0" bIns="0" rtlCol="0" anchor="ctr"/>
          <a:lstStyle/>
          <a:p>
            <a:pPr marL="0" indent="0">
              <a:buNone/>
            </a:pPr>
            <a:r>
              <a:rPr lang="en-US" sz="1500" dirty="0">
                <a:solidFill>
                  <a:srgbClr val="FFFFFF"/>
                </a:solidFill>
                <a:latin typeface="DM Mono" pitchFamily="34" charset="0"/>
                <a:ea typeface="DM Mono" pitchFamily="34" charset="-122"/>
                <a:cs typeface="DM Mono" pitchFamily="34" charset="-120"/>
              </a:rPr>
              <a:t>D3.2 + D4.1</a:t>
            </a:r>
            <a:endParaRPr lang="en-US" sz="1500" dirty="0"/>
          </a:p>
        </p:txBody>
      </p:sp>
      <p:sp>
        <p:nvSpPr>
          <p:cNvPr id="4" name="Text 2"/>
          <p:cNvSpPr/>
          <p:nvPr/>
        </p:nvSpPr>
        <p:spPr>
          <a:xfrm>
            <a:off x="548640" y="1051560"/>
            <a:ext cx="3657600" cy="365760"/>
          </a:xfrm>
          <a:prstGeom prst="rect">
            <a:avLst/>
          </a:prstGeom>
          <a:noFill/>
          <a:ln/>
        </p:spPr>
        <p:txBody>
          <a:bodyPr wrap="square" lIns="0" tIns="0" rIns="0" bIns="0" rtlCol="0" anchor="ctr"/>
          <a:lstStyle/>
          <a:p>
            <a:pPr marL="0" indent="0">
              <a:buNone/>
            </a:pPr>
            <a:r>
              <a:rPr lang="en-US" sz="1300" dirty="0">
                <a:solidFill>
                  <a:srgbClr val="C7D2FE"/>
                </a:solidFill>
                <a:latin typeface="DM Mono" pitchFamily="34" charset="0"/>
                <a:ea typeface="DM Mono" pitchFamily="34" charset="-122"/>
                <a:cs typeface="DM Mono" pitchFamily="34" charset="-120"/>
              </a:rPr>
              <a:t>LESSON 5</a:t>
            </a:r>
            <a:endParaRPr lang="en-US" sz="1300" dirty="0"/>
          </a:p>
        </p:txBody>
      </p:sp>
      <p:sp>
        <p:nvSpPr>
          <p:cNvPr id="5" name="Shape 3"/>
          <p:cNvSpPr/>
          <p:nvPr/>
        </p:nvSpPr>
        <p:spPr>
          <a:xfrm>
            <a:off x="548640" y="1828800"/>
            <a:ext cx="1188720" cy="1188720"/>
          </a:xfrm>
          <a:prstGeom prst="ellipse">
            <a:avLst/>
          </a:prstGeom>
          <a:solidFill>
            <a:srgbClr val="FFFFFF"/>
          </a:solidFill>
          <a:ln w="12700">
            <a:solidFill>
              <a:srgbClr val="333333"/>
            </a:solidFill>
            <a:prstDash val="solid"/>
          </a:ln>
          <a:effectLst>
            <a:outerShdw blurRad="76200" dist="25400" dir="5400000" algn="bl" rotWithShape="0">
              <a:srgbClr val="000000">
                <a:alpha val="18000"/>
              </a:srgbClr>
            </a:outerShdw>
          </a:effectLst>
        </p:spPr>
        <p:txBody>
          <a:bodyPr/>
          <a:lstStyle/>
          <a:p>
            <a:endParaRPr lang="en-AU"/>
          </a:p>
        </p:txBody>
      </p:sp>
      <p:pic>
        <p:nvPicPr>
          <p:cNvPr id="6" name="Image 0" descr="/home/claude/work/icon_lightbulb_4361EE.png"/>
          <p:cNvPicPr>
            <a:picLocks noChangeAspect="1"/>
          </p:cNvPicPr>
          <p:nvPr/>
        </p:nvPicPr>
        <p:blipFill>
          <a:blip r:embed="rId3"/>
          <a:stretch>
            <a:fillRect/>
          </a:stretch>
        </p:blipFill>
        <p:spPr>
          <a:xfrm>
            <a:off x="795528" y="2075688"/>
            <a:ext cx="694944" cy="694944"/>
          </a:xfrm>
          <a:prstGeom prst="rect">
            <a:avLst/>
          </a:prstGeom>
        </p:spPr>
      </p:pic>
      <p:sp>
        <p:nvSpPr>
          <p:cNvPr id="7" name="Text 4"/>
          <p:cNvSpPr/>
          <p:nvPr/>
        </p:nvSpPr>
        <p:spPr>
          <a:xfrm>
            <a:off x="548640" y="3291840"/>
            <a:ext cx="3931920" cy="1920240"/>
          </a:xfrm>
          <a:prstGeom prst="rect">
            <a:avLst/>
          </a:prstGeom>
          <a:noFill/>
          <a:ln/>
        </p:spPr>
        <p:txBody>
          <a:bodyPr wrap="square" lIns="0" tIns="0" rIns="0" bIns="0" rtlCol="0" anchor="ctr"/>
          <a:lstStyle/>
          <a:p>
            <a:pPr marL="0" indent="0">
              <a:lnSpc>
                <a:spcPct val="105000"/>
              </a:lnSpc>
              <a:buNone/>
            </a:pPr>
            <a:r>
              <a:rPr lang="en-US" sz="3000" b="1" dirty="0">
                <a:solidFill>
                  <a:srgbClr val="FFFFFF"/>
                </a:solidFill>
                <a:latin typeface="Bookman Old Style" pitchFamily="34" charset="0"/>
                <a:ea typeface="Bookman Old Style" pitchFamily="34" charset="-122"/>
                <a:cs typeface="Bookman Old Style" pitchFamily="34" charset="-120"/>
              </a:rPr>
              <a:t>Characteristics &amp;</a:t>
            </a:r>
            <a:endParaRPr lang="en-US" sz="3000" dirty="0"/>
          </a:p>
          <a:p>
            <a:pPr marL="0" indent="0">
              <a:lnSpc>
                <a:spcPct val="105000"/>
              </a:lnSpc>
              <a:buNone/>
            </a:pPr>
            <a:r>
              <a:rPr lang="en-US" sz="3000" b="1" dirty="0">
                <a:solidFill>
                  <a:srgbClr val="FFFFFF"/>
                </a:solidFill>
                <a:latin typeface="Bookman Old Style" pitchFamily="34" charset="0"/>
                <a:ea typeface="Bookman Old Style" pitchFamily="34" charset="-122"/>
                <a:cs typeface="Bookman Old Style" pitchFamily="34" charset="-120"/>
              </a:rPr>
              <a:t>Solution</a:t>
            </a:r>
            <a:endParaRPr lang="en-US" sz="3000" dirty="0"/>
          </a:p>
          <a:p>
            <a:pPr marL="0" indent="0">
              <a:lnSpc>
                <a:spcPct val="105000"/>
              </a:lnSpc>
              <a:buNone/>
            </a:pPr>
            <a:r>
              <a:rPr lang="en-US" sz="3000" b="1" dirty="0">
                <a:solidFill>
                  <a:srgbClr val="FFFFFF"/>
                </a:solidFill>
                <a:latin typeface="Bookman Old Style" pitchFamily="34" charset="0"/>
                <a:ea typeface="Bookman Old Style" pitchFamily="34" charset="-122"/>
                <a:cs typeface="Bookman Old Style" pitchFamily="34" charset="-120"/>
              </a:rPr>
              <a:t>Specifications</a:t>
            </a:r>
            <a:endParaRPr lang="en-US" sz="3000" dirty="0"/>
          </a:p>
        </p:txBody>
      </p:sp>
      <p:sp>
        <p:nvSpPr>
          <p:cNvPr id="8" name="Text 5"/>
          <p:cNvSpPr/>
          <p:nvPr/>
        </p:nvSpPr>
        <p:spPr>
          <a:xfrm>
            <a:off x="548640" y="5943600"/>
            <a:ext cx="3931920" cy="365760"/>
          </a:xfrm>
          <a:prstGeom prst="rect">
            <a:avLst/>
          </a:prstGeom>
          <a:noFill/>
          <a:ln/>
        </p:spPr>
        <p:txBody>
          <a:bodyPr wrap="square" lIns="0" tIns="0" rIns="0" bIns="0" rtlCol="0" anchor="ctr"/>
          <a:lstStyle/>
          <a:p>
            <a:pPr marL="0" indent="0">
              <a:buNone/>
            </a:pPr>
            <a:r>
              <a:rPr lang="en-US" sz="1300" dirty="0">
                <a:solidFill>
                  <a:srgbClr val="C7D2FE"/>
                </a:solidFill>
                <a:latin typeface="Calibri" pitchFamily="34" charset="0"/>
                <a:ea typeface="Calibri" pitchFamily="34" charset="-122"/>
                <a:cs typeface="Calibri" pitchFamily="34" charset="-120"/>
              </a:rPr>
              <a:t>Year 11 Applied Computing — Unit 2</a:t>
            </a:r>
            <a:endParaRPr lang="en-US" sz="1300" dirty="0"/>
          </a:p>
        </p:txBody>
      </p:sp>
      <p:sp>
        <p:nvSpPr>
          <p:cNvPr id="9" name="Text 6"/>
          <p:cNvSpPr/>
          <p:nvPr/>
        </p:nvSpPr>
        <p:spPr>
          <a:xfrm>
            <a:off x="5212080" y="640080"/>
            <a:ext cx="6400800" cy="365760"/>
          </a:xfrm>
          <a:prstGeom prst="rect">
            <a:avLst/>
          </a:prstGeom>
          <a:noFill/>
          <a:ln/>
        </p:spPr>
        <p:txBody>
          <a:bodyPr wrap="square" lIns="0" tIns="0" rIns="0" bIns="0" rtlCol="0" anchor="ctr"/>
          <a:lstStyle/>
          <a:p>
            <a:pPr marL="0" indent="0">
              <a:buNone/>
            </a:pPr>
            <a:r>
              <a:rPr lang="en-US" sz="1200" dirty="0">
                <a:solidFill>
                  <a:srgbClr val="8B949E"/>
                </a:solidFill>
                <a:latin typeface="DM Mono" pitchFamily="34" charset="0"/>
                <a:ea typeface="DM Mono" pitchFamily="34" charset="-122"/>
                <a:cs typeface="DM Mono" pitchFamily="34" charset="-120"/>
              </a:rPr>
              <a:t>AoS1  Innovative Solutions</a:t>
            </a:r>
            <a:endParaRPr lang="en-US" sz="1200" dirty="0"/>
          </a:p>
        </p:txBody>
      </p:sp>
      <p:sp>
        <p:nvSpPr>
          <p:cNvPr id="10" name="Text 7"/>
          <p:cNvSpPr/>
          <p:nvPr/>
        </p:nvSpPr>
        <p:spPr>
          <a:xfrm>
            <a:off x="5212080" y="1097280"/>
            <a:ext cx="6400800" cy="914400"/>
          </a:xfrm>
          <a:prstGeom prst="rect">
            <a:avLst/>
          </a:prstGeom>
          <a:noFill/>
          <a:ln/>
        </p:spPr>
        <p:txBody>
          <a:bodyPr wrap="square" lIns="0" tIns="0" rIns="0" bIns="0" rtlCol="0" anchor="ctr"/>
          <a:lstStyle/>
          <a:p>
            <a:pPr marL="0" indent="0">
              <a:buNone/>
            </a:pPr>
            <a:r>
              <a:rPr lang="en-US" sz="1600" dirty="0">
                <a:solidFill>
                  <a:srgbClr val="57606A"/>
                </a:solidFill>
                <a:latin typeface="Calibri" pitchFamily="34" charset="0"/>
                <a:ea typeface="Calibri" pitchFamily="34" charset="-122"/>
                <a:cs typeface="Calibri" pitchFamily="34" charset="-120"/>
              </a:rPr>
              <a:t>Testing your emerging concept against four characteristics of</a:t>
            </a:r>
            <a:endParaRPr lang="en-US" sz="1600" dirty="0"/>
          </a:p>
          <a:p>
            <a:pPr marL="0" indent="0">
              <a:buNone/>
            </a:pPr>
            <a:r>
              <a:rPr lang="en-US" sz="1600" dirty="0">
                <a:solidFill>
                  <a:srgbClr val="57606A"/>
                </a:solidFill>
                <a:latin typeface="Calibri" pitchFamily="34" charset="0"/>
                <a:ea typeface="Calibri" pitchFamily="34" charset="-122"/>
                <a:cs typeface="Calibri" pitchFamily="34" charset="-120"/>
              </a:rPr>
              <a:t>genuine innovation, then drafting its first specification.</a:t>
            </a:r>
            <a:endParaRPr lang="en-US" sz="1600" dirty="0"/>
          </a:p>
        </p:txBody>
      </p:sp>
      <p:sp>
        <p:nvSpPr>
          <p:cNvPr id="11" name="Shape 8"/>
          <p:cNvSpPr/>
          <p:nvPr/>
        </p:nvSpPr>
        <p:spPr>
          <a:xfrm>
            <a:off x="5212080" y="2377440"/>
            <a:ext cx="1371600" cy="868680"/>
          </a:xfrm>
          <a:prstGeom prst="roundRect">
            <a:avLst>
              <a:gd name="adj" fmla="val 8421"/>
            </a:avLst>
          </a:prstGeom>
          <a:solidFill>
            <a:srgbClr val="4361EE"/>
          </a:solidFill>
          <a:ln w="12700">
            <a:solidFill>
              <a:srgbClr val="333333"/>
            </a:solidFill>
            <a:prstDash val="solid"/>
          </a:ln>
        </p:spPr>
        <p:txBody>
          <a:bodyPr/>
          <a:lstStyle/>
          <a:p>
            <a:endParaRPr lang="en-AU"/>
          </a:p>
        </p:txBody>
      </p:sp>
      <p:sp>
        <p:nvSpPr>
          <p:cNvPr id="12" name="Text 9"/>
          <p:cNvSpPr/>
          <p:nvPr/>
        </p:nvSpPr>
        <p:spPr>
          <a:xfrm>
            <a:off x="5212080" y="2377440"/>
            <a:ext cx="1371600" cy="868680"/>
          </a:xfrm>
          <a:prstGeom prst="rect">
            <a:avLst/>
          </a:prstGeom>
          <a:noFill/>
          <a:ln/>
        </p:spPr>
        <p:txBody>
          <a:bodyPr wrap="square" lIns="0" tIns="0" rIns="0" bIns="0" rtlCol="0" anchor="ctr"/>
          <a:lstStyle/>
          <a:p>
            <a:pPr marL="0" indent="0" algn="ctr">
              <a:buNone/>
            </a:pPr>
            <a:r>
              <a:rPr lang="en-US" sz="1700" b="1" dirty="0">
                <a:solidFill>
                  <a:srgbClr val="4361EE"/>
                </a:solidFill>
                <a:latin typeface="DM Mono" pitchFamily="34" charset="0"/>
                <a:ea typeface="DM Mono" pitchFamily="34" charset="-122"/>
                <a:cs typeface="DM Mono" pitchFamily="34" charset="-120"/>
              </a:rPr>
              <a:t>D3.2</a:t>
            </a:r>
            <a:endParaRPr lang="en-US" sz="1700" dirty="0"/>
          </a:p>
        </p:txBody>
      </p:sp>
      <p:sp>
        <p:nvSpPr>
          <p:cNvPr id="13" name="Shape 10"/>
          <p:cNvSpPr/>
          <p:nvPr/>
        </p:nvSpPr>
        <p:spPr>
          <a:xfrm>
            <a:off x="6720840" y="2377440"/>
            <a:ext cx="3931920" cy="868680"/>
          </a:xfrm>
          <a:prstGeom prst="roundRect">
            <a:avLst>
              <a:gd name="adj" fmla="val 8421"/>
            </a:avLst>
          </a:prstGeom>
          <a:solidFill>
            <a:srgbClr val="F6F8FA"/>
          </a:solidFill>
          <a:ln w="12700">
            <a:solidFill>
              <a:srgbClr val="D0D7DE"/>
            </a:solidFill>
            <a:prstDash val="solid"/>
          </a:ln>
        </p:spPr>
        <p:txBody>
          <a:bodyPr/>
          <a:lstStyle/>
          <a:p>
            <a:endParaRPr lang="en-AU"/>
          </a:p>
        </p:txBody>
      </p:sp>
      <p:sp>
        <p:nvSpPr>
          <p:cNvPr id="14" name="Text 11"/>
          <p:cNvSpPr/>
          <p:nvPr/>
        </p:nvSpPr>
        <p:spPr>
          <a:xfrm>
            <a:off x="6903720" y="2377440"/>
            <a:ext cx="3566160" cy="868680"/>
          </a:xfrm>
          <a:prstGeom prst="rect">
            <a:avLst/>
          </a:prstGeom>
          <a:noFill/>
          <a:ln/>
        </p:spPr>
        <p:txBody>
          <a:bodyPr wrap="square" lIns="0" tIns="0" rIns="0" bIns="0" rtlCol="0" anchor="ctr"/>
          <a:lstStyle/>
          <a:p>
            <a:pPr marL="0" indent="0">
              <a:buNone/>
            </a:pPr>
            <a:r>
              <a:rPr lang="en-US" sz="1400" b="1" dirty="0">
                <a:solidFill>
                  <a:srgbClr val="0D1117"/>
                </a:solidFill>
                <a:latin typeface="Calibri" pitchFamily="34" charset="0"/>
                <a:ea typeface="Calibri" pitchFamily="34" charset="-122"/>
                <a:cs typeface="Calibri" pitchFamily="34" charset="-120"/>
              </a:rPr>
              <a:t>Characteristics of Innovative Solutions</a:t>
            </a:r>
            <a:endParaRPr lang="en-US" sz="1400" dirty="0"/>
          </a:p>
        </p:txBody>
      </p:sp>
      <p:sp>
        <p:nvSpPr>
          <p:cNvPr id="15" name="Shape 12"/>
          <p:cNvSpPr/>
          <p:nvPr/>
        </p:nvSpPr>
        <p:spPr>
          <a:xfrm>
            <a:off x="5212080" y="3566160"/>
            <a:ext cx="1371600" cy="868680"/>
          </a:xfrm>
          <a:prstGeom prst="roundRect">
            <a:avLst>
              <a:gd name="adj" fmla="val 8421"/>
            </a:avLst>
          </a:prstGeom>
          <a:solidFill>
            <a:srgbClr val="8B5CF6"/>
          </a:solidFill>
          <a:ln w="12700">
            <a:solidFill>
              <a:srgbClr val="333333"/>
            </a:solidFill>
            <a:prstDash val="solid"/>
          </a:ln>
        </p:spPr>
        <p:txBody>
          <a:bodyPr/>
          <a:lstStyle/>
          <a:p>
            <a:endParaRPr lang="en-AU"/>
          </a:p>
        </p:txBody>
      </p:sp>
      <p:sp>
        <p:nvSpPr>
          <p:cNvPr id="16" name="Text 13"/>
          <p:cNvSpPr/>
          <p:nvPr/>
        </p:nvSpPr>
        <p:spPr>
          <a:xfrm>
            <a:off x="5212080" y="3566160"/>
            <a:ext cx="1371600" cy="868680"/>
          </a:xfrm>
          <a:prstGeom prst="rect">
            <a:avLst/>
          </a:prstGeom>
          <a:noFill/>
          <a:ln/>
        </p:spPr>
        <p:txBody>
          <a:bodyPr wrap="square" lIns="0" tIns="0" rIns="0" bIns="0" rtlCol="0" anchor="ctr"/>
          <a:lstStyle/>
          <a:p>
            <a:pPr marL="0" indent="0" algn="ctr">
              <a:buNone/>
            </a:pPr>
            <a:r>
              <a:rPr lang="en-US" sz="1700" b="1" dirty="0">
                <a:solidFill>
                  <a:srgbClr val="8B5CF6"/>
                </a:solidFill>
                <a:latin typeface="DM Mono" pitchFamily="34" charset="0"/>
                <a:ea typeface="DM Mono" pitchFamily="34" charset="-122"/>
                <a:cs typeface="DM Mono" pitchFamily="34" charset="-120"/>
              </a:rPr>
              <a:t>D4.1</a:t>
            </a:r>
            <a:endParaRPr lang="en-US" sz="1700" dirty="0"/>
          </a:p>
        </p:txBody>
      </p:sp>
      <p:sp>
        <p:nvSpPr>
          <p:cNvPr id="17" name="Shape 14"/>
          <p:cNvSpPr/>
          <p:nvPr/>
        </p:nvSpPr>
        <p:spPr>
          <a:xfrm>
            <a:off x="6720840" y="3566160"/>
            <a:ext cx="3931920" cy="868680"/>
          </a:xfrm>
          <a:prstGeom prst="roundRect">
            <a:avLst>
              <a:gd name="adj" fmla="val 8421"/>
            </a:avLst>
          </a:prstGeom>
          <a:solidFill>
            <a:srgbClr val="F6F8FA"/>
          </a:solidFill>
          <a:ln w="12700">
            <a:solidFill>
              <a:srgbClr val="D0D7DE"/>
            </a:solidFill>
            <a:prstDash val="solid"/>
          </a:ln>
        </p:spPr>
        <p:txBody>
          <a:bodyPr/>
          <a:lstStyle/>
          <a:p>
            <a:endParaRPr lang="en-AU"/>
          </a:p>
        </p:txBody>
      </p:sp>
      <p:sp>
        <p:nvSpPr>
          <p:cNvPr id="18" name="Text 15"/>
          <p:cNvSpPr/>
          <p:nvPr/>
        </p:nvSpPr>
        <p:spPr>
          <a:xfrm>
            <a:off x="6903720" y="3566160"/>
            <a:ext cx="3566160" cy="868680"/>
          </a:xfrm>
          <a:prstGeom prst="rect">
            <a:avLst/>
          </a:prstGeom>
          <a:noFill/>
          <a:ln/>
        </p:spPr>
        <p:txBody>
          <a:bodyPr wrap="square" lIns="0" tIns="0" rIns="0" bIns="0" rtlCol="0" anchor="ctr"/>
          <a:lstStyle/>
          <a:p>
            <a:pPr marL="0" indent="0">
              <a:buNone/>
            </a:pPr>
            <a:r>
              <a:rPr lang="en-US" sz="1400" b="1" dirty="0">
                <a:solidFill>
                  <a:srgbClr val="0D1117"/>
                </a:solidFill>
                <a:latin typeface="Calibri" pitchFamily="34" charset="0"/>
                <a:ea typeface="Calibri" pitchFamily="34" charset="-122"/>
                <a:cs typeface="Calibri" pitchFamily="34" charset="-120"/>
              </a:rPr>
              <a:t>Solution Specifications</a:t>
            </a:r>
            <a:endParaRPr lang="en-US" sz="1400" dirty="0"/>
          </a:p>
        </p:txBody>
      </p:sp>
      <p:sp>
        <p:nvSpPr>
          <p:cNvPr id="20" name="Text 17"/>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21" name="Text 18"/>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EF4444"/>
          </a:solidFill>
          <a:ln w="12700">
            <a:solidFill>
              <a:srgbClr val="EF4444"/>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WARM-UP</a:t>
            </a:r>
            <a:endParaRPr lang="en-US" sz="1200" dirty="0"/>
          </a:p>
        </p:txBody>
      </p:sp>
      <p:sp>
        <p:nvSpPr>
          <p:cNvPr id="4" name="Text 2"/>
          <p:cNvSpPr/>
          <p:nvPr/>
        </p:nvSpPr>
        <p:spPr>
          <a:xfrm>
            <a:off x="457200" y="868680"/>
            <a:ext cx="11247120" cy="640080"/>
          </a:xfrm>
          <a:prstGeom prst="rect">
            <a:avLst/>
          </a:prstGeom>
          <a:noFill/>
          <a:ln/>
        </p:spPr>
        <p:txBody>
          <a:bodyPr wrap="square" lIns="0" tIns="0" rIns="0" bIns="0" rtlCol="0" anchor="ctr"/>
          <a:lstStyle/>
          <a:p>
            <a:pPr marL="0" indent="0">
              <a:buNone/>
            </a:pPr>
            <a:r>
              <a:rPr lang="en-US" sz="3000" b="1" dirty="0">
                <a:solidFill>
                  <a:srgbClr val="0D1117"/>
                </a:solidFill>
                <a:latin typeface="Bookman Old Style" pitchFamily="34" charset="0"/>
                <a:ea typeface="Bookman Old Style" pitchFamily="34" charset="-122"/>
                <a:cs typeface="Bookman Old Style" pitchFamily="34" charset="-120"/>
              </a:rPr>
              <a:t>Spot the Truly Innovative Idea</a:t>
            </a:r>
            <a:endParaRPr lang="en-US" sz="3000" dirty="0"/>
          </a:p>
        </p:txBody>
      </p:sp>
      <p:sp>
        <p:nvSpPr>
          <p:cNvPr id="5" name="Text 3"/>
          <p:cNvSpPr/>
          <p:nvPr/>
        </p:nvSpPr>
        <p:spPr>
          <a:xfrm>
            <a:off x="457200" y="1508760"/>
            <a:ext cx="11247120" cy="548640"/>
          </a:xfrm>
          <a:prstGeom prst="rect">
            <a:avLst/>
          </a:prstGeom>
          <a:noFill/>
          <a:ln/>
        </p:spPr>
        <p:txBody>
          <a:bodyPr wrap="square" lIns="0" tIns="0" rIns="0" bIns="0" rtlCol="0" anchor="ctr"/>
          <a:lstStyle/>
          <a:p>
            <a:pPr marL="0" indent="0">
              <a:buNone/>
            </a:pPr>
            <a:r>
              <a:rPr lang="en-US" sz="1600" dirty="0">
                <a:solidFill>
                  <a:srgbClr val="57606A"/>
                </a:solidFill>
                <a:latin typeface="Calibri" pitchFamily="34" charset="0"/>
                <a:ea typeface="Calibri" pitchFamily="34" charset="-122"/>
                <a:cs typeface="Calibri" pitchFamily="34" charset="-120"/>
              </a:rPr>
              <a:t>Two groups tackled the same problem: "Students keep forgetting equipment for class." Which response is more innovative — not just different?</a:t>
            </a:r>
            <a:endParaRPr lang="en-US" sz="1600" dirty="0"/>
          </a:p>
        </p:txBody>
      </p:sp>
      <p:sp>
        <p:nvSpPr>
          <p:cNvPr id="6" name="Shape 4"/>
          <p:cNvSpPr/>
          <p:nvPr/>
        </p:nvSpPr>
        <p:spPr>
          <a:xfrm>
            <a:off x="457200" y="2286000"/>
            <a:ext cx="5394960" cy="3291840"/>
          </a:xfrm>
          <a:prstGeom prst="roundRect">
            <a:avLst>
              <a:gd name="adj" fmla="val 2778"/>
            </a:avLst>
          </a:prstGeom>
          <a:solidFill>
            <a:srgbClr val="F6F8FA"/>
          </a:solidFill>
          <a:ln w="12700">
            <a:solidFill>
              <a:srgbClr val="D0D7DE"/>
            </a:solidFill>
            <a:prstDash val="solid"/>
          </a:ln>
        </p:spPr>
        <p:txBody>
          <a:bodyPr/>
          <a:lstStyle/>
          <a:p>
            <a:endParaRPr lang="en-AU"/>
          </a:p>
        </p:txBody>
      </p:sp>
      <p:sp>
        <p:nvSpPr>
          <p:cNvPr id="7" name="Text 5"/>
          <p:cNvSpPr/>
          <p:nvPr/>
        </p:nvSpPr>
        <p:spPr>
          <a:xfrm>
            <a:off x="731520" y="2514600"/>
            <a:ext cx="4846320" cy="365760"/>
          </a:xfrm>
          <a:prstGeom prst="rect">
            <a:avLst/>
          </a:prstGeom>
          <a:noFill/>
          <a:ln/>
        </p:spPr>
        <p:txBody>
          <a:bodyPr wrap="square" lIns="0" tIns="0" rIns="0" bIns="0" rtlCol="0" anchor="ctr"/>
          <a:lstStyle/>
          <a:p>
            <a:pPr marL="0" indent="0">
              <a:buNone/>
            </a:pPr>
            <a:r>
              <a:rPr lang="en-US" sz="1300" b="1" dirty="0">
                <a:solidFill>
                  <a:srgbClr val="57606A"/>
                </a:solidFill>
                <a:latin typeface="DM Mono" pitchFamily="34" charset="0"/>
                <a:ea typeface="DM Mono" pitchFamily="34" charset="-122"/>
                <a:cs typeface="DM Mono" pitchFamily="34" charset="-120"/>
              </a:rPr>
              <a:t>RESPONSE A</a:t>
            </a:r>
            <a:endParaRPr lang="en-US" sz="1300" dirty="0"/>
          </a:p>
        </p:txBody>
      </p:sp>
      <p:sp>
        <p:nvSpPr>
          <p:cNvPr id="8" name="Text 6"/>
          <p:cNvSpPr/>
          <p:nvPr/>
        </p:nvSpPr>
        <p:spPr>
          <a:xfrm>
            <a:off x="731520" y="2926080"/>
            <a:ext cx="4846320" cy="2468880"/>
          </a:xfrm>
          <a:prstGeom prst="rect">
            <a:avLst/>
          </a:prstGeom>
          <a:noFill/>
          <a:ln/>
        </p:spPr>
        <p:txBody>
          <a:bodyPr wrap="square" lIns="0" tIns="0" rIns="0" bIns="0" rtlCol="0" anchor="t"/>
          <a:lstStyle/>
          <a:p>
            <a:pPr marL="0" indent="0">
              <a:buNone/>
            </a:pPr>
            <a:r>
              <a:rPr lang="en-US" sz="1800" dirty="0">
                <a:solidFill>
                  <a:srgbClr val="0D1117"/>
                </a:solidFill>
                <a:latin typeface="Calibri" pitchFamily="34" charset="0"/>
                <a:ea typeface="Calibri" pitchFamily="34" charset="-122"/>
                <a:cs typeface="Calibri" pitchFamily="34" charset="-120"/>
              </a:rPr>
              <a:t>"We put a lost-property box at the front of the room for anything students forget."</a:t>
            </a:r>
            <a:endParaRPr lang="en-US" sz="1800" dirty="0"/>
          </a:p>
        </p:txBody>
      </p:sp>
      <p:sp>
        <p:nvSpPr>
          <p:cNvPr id="9" name="Shape 7"/>
          <p:cNvSpPr/>
          <p:nvPr/>
        </p:nvSpPr>
        <p:spPr>
          <a:xfrm>
            <a:off x="6309360" y="2286000"/>
            <a:ext cx="5394960" cy="3291840"/>
          </a:xfrm>
          <a:prstGeom prst="roundRect">
            <a:avLst>
              <a:gd name="adj" fmla="val 2778"/>
            </a:avLst>
          </a:prstGeom>
          <a:solidFill>
            <a:srgbClr val="EAEEFC"/>
          </a:solidFill>
          <a:ln w="12700">
            <a:solidFill>
              <a:srgbClr val="4361EE"/>
            </a:solidFill>
            <a:prstDash val="solid"/>
          </a:ln>
        </p:spPr>
        <p:txBody>
          <a:bodyPr/>
          <a:lstStyle/>
          <a:p>
            <a:endParaRPr lang="en-AU"/>
          </a:p>
        </p:txBody>
      </p:sp>
      <p:sp>
        <p:nvSpPr>
          <p:cNvPr id="10" name="Text 8"/>
          <p:cNvSpPr/>
          <p:nvPr/>
        </p:nvSpPr>
        <p:spPr>
          <a:xfrm>
            <a:off x="6583680" y="2514600"/>
            <a:ext cx="4846320" cy="365760"/>
          </a:xfrm>
          <a:prstGeom prst="rect">
            <a:avLst/>
          </a:prstGeom>
          <a:noFill/>
          <a:ln/>
        </p:spPr>
        <p:txBody>
          <a:bodyPr wrap="square" lIns="0" tIns="0" rIns="0" bIns="0" rtlCol="0" anchor="ctr"/>
          <a:lstStyle/>
          <a:p>
            <a:pPr marL="0" indent="0">
              <a:buNone/>
            </a:pPr>
            <a:r>
              <a:rPr lang="en-US" sz="1300" b="1" dirty="0">
                <a:solidFill>
                  <a:srgbClr val="4361EE"/>
                </a:solidFill>
                <a:latin typeface="DM Mono" pitchFamily="34" charset="0"/>
                <a:ea typeface="DM Mono" pitchFamily="34" charset="-122"/>
                <a:cs typeface="DM Mono" pitchFamily="34" charset="-120"/>
              </a:rPr>
              <a:t>RESPONSE B</a:t>
            </a:r>
            <a:endParaRPr lang="en-US" sz="1300" dirty="0"/>
          </a:p>
        </p:txBody>
      </p:sp>
      <p:sp>
        <p:nvSpPr>
          <p:cNvPr id="11" name="Text 9"/>
          <p:cNvSpPr/>
          <p:nvPr/>
        </p:nvSpPr>
        <p:spPr>
          <a:xfrm>
            <a:off x="6583680" y="2926080"/>
            <a:ext cx="4846320" cy="2468880"/>
          </a:xfrm>
          <a:prstGeom prst="rect">
            <a:avLst/>
          </a:prstGeom>
          <a:noFill/>
          <a:ln/>
        </p:spPr>
        <p:txBody>
          <a:bodyPr wrap="square" lIns="0" tIns="0" rIns="0" bIns="0" rtlCol="0" anchor="t"/>
          <a:lstStyle/>
          <a:p>
            <a:pPr marL="0" indent="0">
              <a:buNone/>
            </a:pPr>
            <a:r>
              <a:rPr lang="en-US" sz="1800" dirty="0">
                <a:solidFill>
                  <a:srgbClr val="0D1117"/>
                </a:solidFill>
                <a:latin typeface="Calibri" pitchFamily="34" charset="0"/>
                <a:ea typeface="Calibri" pitchFamily="34" charset="-122"/>
                <a:cs typeface="Calibri" pitchFamily="34" charset="-120"/>
              </a:rPr>
              <a:t>"We built a peer buddy-check-in system, backed by a shared reminder app, that catches the gap before class starts — not after."</a:t>
            </a:r>
            <a:endParaRPr lang="en-US" sz="1800" dirty="0"/>
          </a:p>
        </p:txBody>
      </p:sp>
      <p:sp>
        <p:nvSpPr>
          <p:cNvPr id="12" name="Text 10"/>
          <p:cNvSpPr/>
          <p:nvPr/>
        </p:nvSpPr>
        <p:spPr>
          <a:xfrm>
            <a:off x="457200" y="5806440"/>
            <a:ext cx="11247120" cy="36576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Devices OFF — think first, then discuss with your group (2 min)</a:t>
            </a:r>
            <a:endParaRPr lang="en-US" sz="1300" dirty="0"/>
          </a:p>
        </p:txBody>
      </p:sp>
      <p:sp>
        <p:nvSpPr>
          <p:cNvPr id="13" name="Text 11"/>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4" name="Text 12"/>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4361EE"/>
          </a:solidFill>
          <a:ln w="12700">
            <a:solidFill>
              <a:srgbClr val="4361EE"/>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p>
        </p:txBody>
      </p:sp>
      <p:sp>
        <p:nvSpPr>
          <p:cNvPr id="4" name="Text 2"/>
          <p:cNvSpPr/>
          <p:nvPr/>
        </p:nvSpPr>
        <p:spPr>
          <a:xfrm>
            <a:off x="457200" y="868680"/>
            <a:ext cx="11247120" cy="457200"/>
          </a:xfrm>
          <a:prstGeom prst="rect">
            <a:avLst/>
          </a:prstGeom>
          <a:noFill/>
          <a:ln/>
        </p:spPr>
        <p:txBody>
          <a:bodyPr wrap="square" lIns="0" tIns="0" rIns="0" bIns="0" rtlCol="0" anchor="ctr"/>
          <a:lstStyle/>
          <a:p>
            <a:pPr marL="0" indent="0">
              <a:buNone/>
            </a:pPr>
            <a:r>
              <a:rPr lang="en-US" sz="2400" b="1" dirty="0">
                <a:solidFill>
                  <a:srgbClr val="0D1117"/>
                </a:solidFill>
                <a:latin typeface="Bookman Old Style" pitchFamily="34" charset="0"/>
                <a:ea typeface="Bookman Old Style" pitchFamily="34" charset="-122"/>
                <a:cs typeface="Bookman Old Style" pitchFamily="34" charset="-120"/>
              </a:rPr>
              <a:t>Learning Objective</a:t>
            </a:r>
            <a:endParaRPr lang="en-US" sz="2400" dirty="0"/>
          </a:p>
        </p:txBody>
      </p:sp>
      <p:sp>
        <p:nvSpPr>
          <p:cNvPr id="5" name="Text 3"/>
          <p:cNvSpPr/>
          <p:nvPr/>
        </p:nvSpPr>
        <p:spPr>
          <a:xfrm>
            <a:off x="457200" y="1371600"/>
            <a:ext cx="11247120" cy="822960"/>
          </a:xfrm>
          <a:prstGeom prst="rect">
            <a:avLst/>
          </a:prstGeom>
          <a:noFill/>
          <a:ln/>
        </p:spPr>
        <p:txBody>
          <a:bodyPr wrap="square" lIns="0" tIns="0" rIns="0" bIns="0" rtlCol="0" anchor="ctr"/>
          <a:lstStyle/>
          <a:p>
            <a:pPr marL="0" indent="0">
              <a:buNone/>
            </a:pPr>
            <a:r>
              <a:rPr lang="en-US" sz="1700" dirty="0">
                <a:solidFill>
                  <a:srgbClr val="57606A"/>
                </a:solidFill>
                <a:latin typeface="Calibri" pitchFamily="34" charset="0"/>
                <a:ea typeface="Calibri" pitchFamily="34" charset="-122"/>
                <a:cs typeface="Calibri" pitchFamily="34" charset="-120"/>
              </a:rPr>
              <a:t>To be able to evaluate a solution concept against the characteristics of a creative and innovative solution, and draft the functional and non-functional requirements, constraints and scope of that solution.</a:t>
            </a:r>
            <a:endParaRPr lang="en-US" sz="1700" dirty="0"/>
          </a:p>
        </p:txBody>
      </p:sp>
      <p:sp>
        <p:nvSpPr>
          <p:cNvPr id="6" name="Shape 4"/>
          <p:cNvSpPr/>
          <p:nvPr/>
        </p:nvSpPr>
        <p:spPr>
          <a:xfrm>
            <a:off x="457200" y="2514600"/>
            <a:ext cx="3657600" cy="1143000"/>
          </a:xfrm>
          <a:prstGeom prst="roundRect">
            <a:avLst>
              <a:gd name="adj" fmla="val 6400"/>
            </a:avLst>
          </a:prstGeom>
          <a:solidFill>
            <a:srgbClr val="E6F9F2"/>
          </a:solidFill>
          <a:ln w="12700">
            <a:solidFill>
              <a:srgbClr val="10B981"/>
            </a:solidFill>
            <a:prstDash val="solid"/>
          </a:ln>
          <a:effectLst>
            <a:outerShdw blurRad="76200" dist="25400" dir="5400000" algn="bl" rotWithShape="0">
              <a:srgbClr val="000000">
                <a:alpha val="18000"/>
              </a:srgbClr>
            </a:outerShdw>
          </a:effectLst>
        </p:spPr>
        <p:txBody>
          <a:bodyPr/>
          <a:lstStyle/>
          <a:p>
            <a:endParaRPr lang="en-AU"/>
          </a:p>
        </p:txBody>
      </p:sp>
      <p:sp>
        <p:nvSpPr>
          <p:cNvPr id="7" name="Text 5"/>
          <p:cNvSpPr/>
          <p:nvPr/>
        </p:nvSpPr>
        <p:spPr>
          <a:xfrm>
            <a:off x="640080" y="2606040"/>
            <a:ext cx="3291840" cy="274320"/>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  Foundation</a:t>
            </a:r>
            <a:endParaRPr lang="en-US" sz="1300" dirty="0"/>
          </a:p>
        </p:txBody>
      </p:sp>
      <p:sp>
        <p:nvSpPr>
          <p:cNvPr id="8" name="Text 6"/>
          <p:cNvSpPr/>
          <p:nvPr/>
        </p:nvSpPr>
        <p:spPr>
          <a:xfrm>
            <a:off x="640080" y="2898648"/>
            <a:ext cx="3291840" cy="685800"/>
          </a:xfrm>
          <a:prstGeom prst="rect">
            <a:avLst/>
          </a:prstGeom>
          <a:noFill/>
          <a:ln/>
        </p:spPr>
        <p:txBody>
          <a:bodyPr wrap="square" lIns="0" tIns="0" rIns="0" bIns="0" rtlCol="0" anchor="t"/>
          <a:lstStyle/>
          <a:p>
            <a:pPr marL="0" indent="0">
              <a:buNone/>
            </a:pPr>
            <a:r>
              <a:rPr lang="en-US" sz="1200" dirty="0">
                <a:solidFill>
                  <a:srgbClr val="0D1117"/>
                </a:solidFill>
                <a:latin typeface="Calibri" pitchFamily="34" charset="0"/>
                <a:ea typeface="Calibri" pitchFamily="34" charset="-122"/>
                <a:cs typeface="Calibri" pitchFamily="34" charset="-120"/>
              </a:rPr>
              <a:t>I can name the four characteristics of an innovative solution and describe my concept in specific, buildable terms.</a:t>
            </a:r>
            <a:endParaRPr lang="en-US" sz="1200" dirty="0"/>
          </a:p>
        </p:txBody>
      </p:sp>
      <p:sp>
        <p:nvSpPr>
          <p:cNvPr id="9" name="Shape 7"/>
          <p:cNvSpPr/>
          <p:nvPr/>
        </p:nvSpPr>
        <p:spPr>
          <a:xfrm>
            <a:off x="4251960" y="2514600"/>
            <a:ext cx="3657600" cy="1143000"/>
          </a:xfrm>
          <a:prstGeom prst="roundRect">
            <a:avLst>
              <a:gd name="adj" fmla="val 6400"/>
            </a:avLst>
          </a:prstGeom>
          <a:solidFill>
            <a:srgbClr val="FEF3E2"/>
          </a:solidFill>
          <a:ln w="12700">
            <a:solidFill>
              <a:srgbClr val="F59E0B"/>
            </a:solidFill>
            <a:prstDash val="solid"/>
          </a:ln>
          <a:effectLst>
            <a:outerShdw blurRad="76200" dist="25400" dir="5400000" algn="bl" rotWithShape="0">
              <a:srgbClr val="000000">
                <a:alpha val="18000"/>
              </a:srgbClr>
            </a:outerShdw>
          </a:effectLst>
        </p:spPr>
        <p:txBody>
          <a:bodyPr/>
          <a:lstStyle/>
          <a:p>
            <a:endParaRPr lang="en-AU"/>
          </a:p>
        </p:txBody>
      </p:sp>
      <p:sp>
        <p:nvSpPr>
          <p:cNvPr id="10" name="Text 8"/>
          <p:cNvSpPr/>
          <p:nvPr/>
        </p:nvSpPr>
        <p:spPr>
          <a:xfrm>
            <a:off x="4434840" y="2606040"/>
            <a:ext cx="329184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Developing</a:t>
            </a:r>
            <a:endParaRPr lang="en-US" sz="1300" dirty="0"/>
          </a:p>
        </p:txBody>
      </p:sp>
      <p:sp>
        <p:nvSpPr>
          <p:cNvPr id="11" name="Text 9"/>
          <p:cNvSpPr/>
          <p:nvPr/>
        </p:nvSpPr>
        <p:spPr>
          <a:xfrm>
            <a:off x="4434840" y="2898648"/>
            <a:ext cx="3291840" cy="685800"/>
          </a:xfrm>
          <a:prstGeom prst="rect">
            <a:avLst/>
          </a:prstGeom>
          <a:noFill/>
          <a:ln/>
        </p:spPr>
        <p:txBody>
          <a:bodyPr wrap="square" lIns="0" tIns="0" rIns="0" bIns="0" rtlCol="0" anchor="t"/>
          <a:lstStyle/>
          <a:p>
            <a:pPr marL="0" indent="0">
              <a:buNone/>
            </a:pPr>
            <a:r>
              <a:rPr lang="en-US" sz="1200" dirty="0">
                <a:solidFill>
                  <a:srgbClr val="0D1117"/>
                </a:solidFill>
                <a:latin typeface="Calibri" pitchFamily="34" charset="0"/>
                <a:ea typeface="Calibri" pitchFamily="34" charset="-122"/>
                <a:cs typeface="Calibri" pitchFamily="34" charset="-120"/>
              </a:rPr>
              <a:t>I can rate my concept against the four characteristics and draft functional and non-functional requirements, constraints and scope.</a:t>
            </a:r>
            <a:endParaRPr lang="en-US" sz="1200" dirty="0"/>
          </a:p>
        </p:txBody>
      </p:sp>
      <p:sp>
        <p:nvSpPr>
          <p:cNvPr id="12" name="Shape 10"/>
          <p:cNvSpPr/>
          <p:nvPr/>
        </p:nvSpPr>
        <p:spPr>
          <a:xfrm>
            <a:off x="8046720" y="2514600"/>
            <a:ext cx="3657600" cy="1143000"/>
          </a:xfrm>
          <a:prstGeom prst="roundRect">
            <a:avLst>
              <a:gd name="adj" fmla="val 6400"/>
            </a:avLst>
          </a:prstGeom>
          <a:solidFill>
            <a:srgbClr val="F1ECFE"/>
          </a:solidFill>
          <a:ln w="12700">
            <a:solidFill>
              <a:srgbClr val="8B5CF6"/>
            </a:solidFill>
            <a:prstDash val="solid"/>
          </a:ln>
          <a:effectLst>
            <a:outerShdw blurRad="76200" dist="25400" dir="5400000" algn="bl" rotWithShape="0">
              <a:srgbClr val="000000">
                <a:alpha val="18000"/>
              </a:srgbClr>
            </a:outerShdw>
          </a:effectLst>
        </p:spPr>
        <p:txBody>
          <a:bodyPr/>
          <a:lstStyle/>
          <a:p>
            <a:endParaRPr lang="en-AU"/>
          </a:p>
        </p:txBody>
      </p:sp>
      <p:sp>
        <p:nvSpPr>
          <p:cNvPr id="13" name="Text 11"/>
          <p:cNvSpPr/>
          <p:nvPr/>
        </p:nvSpPr>
        <p:spPr>
          <a:xfrm>
            <a:off x="8229600" y="2606040"/>
            <a:ext cx="3291840" cy="274320"/>
          </a:xfrm>
          <a:prstGeom prst="rect">
            <a:avLst/>
          </a:prstGeom>
          <a:noFill/>
          <a:ln/>
        </p:spPr>
        <p:txBody>
          <a:bodyPr wrap="square" lIns="0" tIns="0" rIns="0" bIns="0" rtlCol="0" anchor="ctr"/>
          <a:lstStyle/>
          <a:p>
            <a:pPr marL="0" indent="0">
              <a:buNone/>
            </a:pPr>
            <a:r>
              <a:rPr lang="en-US" sz="1300" b="1" dirty="0">
                <a:solidFill>
                  <a:srgbClr val="8B5CF6"/>
                </a:solidFill>
                <a:latin typeface="Calibri" pitchFamily="34" charset="0"/>
                <a:ea typeface="Calibri" pitchFamily="34" charset="-122"/>
                <a:cs typeface="Calibri" pitchFamily="34" charset="-120"/>
              </a:rPr>
              <a:t>🟣  Extending</a:t>
            </a:r>
            <a:endParaRPr lang="en-US" sz="1300" dirty="0"/>
          </a:p>
        </p:txBody>
      </p:sp>
      <p:sp>
        <p:nvSpPr>
          <p:cNvPr id="14" name="Text 12"/>
          <p:cNvSpPr/>
          <p:nvPr/>
        </p:nvSpPr>
        <p:spPr>
          <a:xfrm>
            <a:off x="8229600" y="2898648"/>
            <a:ext cx="3291840" cy="685800"/>
          </a:xfrm>
          <a:prstGeom prst="rect">
            <a:avLst/>
          </a:prstGeom>
          <a:noFill/>
          <a:ln/>
        </p:spPr>
        <p:txBody>
          <a:bodyPr wrap="square" lIns="0" tIns="0" rIns="0" bIns="0" rtlCol="0" anchor="t"/>
          <a:lstStyle/>
          <a:p>
            <a:pPr marL="0" indent="0">
              <a:buNone/>
            </a:pPr>
            <a:r>
              <a:rPr lang="en-US" sz="1200" dirty="0">
                <a:solidFill>
                  <a:srgbClr val="0D1117"/>
                </a:solidFill>
                <a:latin typeface="Calibri" pitchFamily="34" charset="0"/>
                <a:ea typeface="Calibri" pitchFamily="34" charset="-122"/>
                <a:cs typeface="Calibri" pitchFamily="34" charset="-120"/>
              </a:rPr>
              <a:t>I can identify my weakest characteristic and propose a strengthening change, and write a precise, unambiguous functional requirement.</a:t>
            </a:r>
            <a:endParaRPr lang="en-US" sz="1200" dirty="0"/>
          </a:p>
        </p:txBody>
      </p:sp>
      <p:sp>
        <p:nvSpPr>
          <p:cNvPr id="15" name="Shape 13"/>
          <p:cNvSpPr/>
          <p:nvPr/>
        </p:nvSpPr>
        <p:spPr>
          <a:xfrm>
            <a:off x="457200" y="4069080"/>
            <a:ext cx="11247120" cy="2103120"/>
          </a:xfrm>
          <a:prstGeom prst="roundRect">
            <a:avLst>
              <a:gd name="adj" fmla="val 4348"/>
            </a:avLst>
          </a:prstGeom>
          <a:solidFill>
            <a:srgbClr val="F6F8FA"/>
          </a:solidFill>
          <a:ln w="12700">
            <a:solidFill>
              <a:srgbClr val="D0D7DE"/>
            </a:solidFill>
            <a:prstDash val="solid"/>
          </a:ln>
        </p:spPr>
        <p:txBody>
          <a:bodyPr/>
          <a:lstStyle/>
          <a:p>
            <a:endParaRPr lang="en-AU"/>
          </a:p>
        </p:txBody>
      </p:sp>
      <p:sp>
        <p:nvSpPr>
          <p:cNvPr id="16" name="Text 14"/>
          <p:cNvSpPr/>
          <p:nvPr/>
        </p:nvSpPr>
        <p:spPr>
          <a:xfrm>
            <a:off x="731520" y="4251960"/>
            <a:ext cx="10698480" cy="320040"/>
          </a:xfrm>
          <a:prstGeom prst="rect">
            <a:avLst/>
          </a:prstGeom>
          <a:noFill/>
          <a:ln/>
        </p:spPr>
        <p:txBody>
          <a:bodyPr wrap="square" lIns="0" tIns="0" rIns="0" bIns="0" rtlCol="0" anchor="ctr"/>
          <a:lstStyle/>
          <a:p>
            <a:pPr marL="0" indent="0">
              <a:buNone/>
            </a:pPr>
            <a:r>
              <a:rPr lang="en-US" sz="1200" b="1" dirty="0">
                <a:solidFill>
                  <a:srgbClr val="57606A"/>
                </a:solidFill>
                <a:latin typeface="DM Mono" pitchFamily="34" charset="0"/>
                <a:ea typeface="DM Mono" pitchFamily="34" charset="-122"/>
                <a:cs typeface="DM Mono" pitchFamily="34" charset="-120"/>
              </a:rPr>
              <a:t>Where this fits</a:t>
            </a:r>
            <a:endParaRPr lang="en-US" sz="1200" dirty="0"/>
          </a:p>
        </p:txBody>
      </p:sp>
      <p:sp>
        <p:nvSpPr>
          <p:cNvPr id="17" name="Text 15"/>
          <p:cNvSpPr/>
          <p:nvPr/>
        </p:nvSpPr>
        <p:spPr>
          <a:xfrm>
            <a:off x="731520" y="4572000"/>
            <a:ext cx="10698480" cy="1463040"/>
          </a:xfrm>
          <a:prstGeom prst="rect">
            <a:avLst/>
          </a:prstGeom>
          <a:noFill/>
          <a:ln/>
        </p:spPr>
        <p:txBody>
          <a:bodyPr wrap="square" lIns="0" tIns="0" rIns="0" bIns="0" rtlCol="0" anchor="t"/>
          <a:lstStyle/>
          <a:p>
            <a:pPr marL="0" indent="0">
              <a:buNone/>
            </a:pPr>
            <a:r>
              <a:rPr lang="en-US" sz="1500" dirty="0">
                <a:solidFill>
                  <a:srgbClr val="0D1117"/>
                </a:solidFill>
                <a:latin typeface="Calibri" pitchFamily="34" charset="0"/>
                <a:ea typeface="Calibri" pitchFamily="34" charset="-122"/>
                <a:cs typeface="Calibri" pitchFamily="34" charset="-120"/>
              </a:rPr>
              <a:t>Lesson 4 gave you a refined problem statement and a data collection instrument. </a:t>
            </a:r>
            <a:r>
              <a:rPr lang="en-US" sz="1500" b="1" dirty="0">
                <a:solidFill>
                  <a:srgbClr val="0D1117"/>
                </a:solidFill>
                <a:latin typeface="Calibri" pitchFamily="34" charset="0"/>
                <a:ea typeface="Calibri" pitchFamily="34" charset="-122"/>
                <a:cs typeface="Calibri" pitchFamily="34" charset="-120"/>
              </a:rPr>
              <a:t>Today</a:t>
            </a:r>
            <a:r>
              <a:rPr lang="en-US" sz="1500" dirty="0">
                <a:solidFill>
                  <a:srgbClr val="0D1117"/>
                </a:solidFill>
                <a:latin typeface="Calibri" pitchFamily="34" charset="0"/>
                <a:ea typeface="Calibri" pitchFamily="34" charset="-122"/>
                <a:cs typeface="Calibri" pitchFamily="34" charset="-120"/>
              </a:rPr>
              <a:t> you test whether your concept is genuinely innovative, then turn it into a first specification. Milestone 1 (problem statement + Gantt chart) is due next lesson — today’s specification is the input your project plan gets built around.</a:t>
            </a:r>
            <a:endParaRPr lang="en-US" sz="1500" dirty="0"/>
          </a:p>
        </p:txBody>
      </p:sp>
      <p:sp>
        <p:nvSpPr>
          <p:cNvPr id="18" name="Text 16"/>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9" name="Text 17"/>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4361EE"/>
          </a:solidFill>
          <a:ln w="12700">
            <a:solidFill>
              <a:srgbClr val="4361EE"/>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2331720" y="384048"/>
            <a:ext cx="5486400" cy="274320"/>
          </a:xfrm>
          <a:prstGeom prst="rect">
            <a:avLst/>
          </a:prstGeom>
          <a:noFill/>
          <a:ln/>
        </p:spPr>
        <p:txBody>
          <a:bodyPr wrap="square" lIns="0" tIns="0" rIns="0" bIns="0" rtlCol="0" anchor="ctr"/>
          <a:lstStyle/>
          <a:p>
            <a:pPr marL="0" indent="0">
              <a:buNone/>
            </a:pPr>
            <a:r>
              <a:rPr lang="en-US" sz="1200" dirty="0">
                <a:solidFill>
                  <a:srgbClr val="8B949E"/>
                </a:solidFill>
                <a:latin typeface="DM Mono" pitchFamily="34" charset="0"/>
                <a:ea typeface="DM Mono" pitchFamily="34" charset="-122"/>
                <a:cs typeface="DM Mono" pitchFamily="34" charset="-120"/>
              </a:rPr>
              <a:t>D3.2 · The Four-Characteristic Lens</a:t>
            </a:r>
            <a:endParaRPr lang="en-US" sz="1200" dirty="0"/>
          </a:p>
        </p:txBody>
      </p:sp>
      <p:sp>
        <p:nvSpPr>
          <p:cNvPr id="5" name="Text 3"/>
          <p:cNvSpPr/>
          <p:nvPr/>
        </p:nvSpPr>
        <p:spPr>
          <a:xfrm>
            <a:off x="457200" y="868680"/>
            <a:ext cx="11247120" cy="548640"/>
          </a:xfrm>
          <a:prstGeom prst="rect">
            <a:avLst/>
          </a:prstGeom>
          <a:noFill/>
          <a:ln/>
        </p:spPr>
        <p:txBody>
          <a:bodyPr wrap="square" lIns="0" tIns="0" rIns="0" bIns="0" rtlCol="0" anchor="ctr"/>
          <a:lstStyle/>
          <a:p>
            <a:pPr marL="0" indent="0">
              <a:buNone/>
            </a:pPr>
            <a:r>
              <a:rPr lang="en-US" sz="2800" b="1" dirty="0">
                <a:solidFill>
                  <a:srgbClr val="0D1117"/>
                </a:solidFill>
                <a:latin typeface="Bookman Old Style" pitchFamily="34" charset="0"/>
                <a:ea typeface="Bookman Old Style" pitchFamily="34" charset="-122"/>
                <a:cs typeface="Bookman Old Style" pitchFamily="34" charset="-120"/>
              </a:rPr>
              <a:t>Novelty vs Innovation</a:t>
            </a:r>
            <a:endParaRPr lang="en-US" sz="2800" dirty="0"/>
          </a:p>
        </p:txBody>
      </p:sp>
      <p:sp>
        <p:nvSpPr>
          <p:cNvPr id="6" name="Shape 4"/>
          <p:cNvSpPr/>
          <p:nvPr/>
        </p:nvSpPr>
        <p:spPr>
          <a:xfrm>
            <a:off x="457200" y="1645920"/>
            <a:ext cx="11247120" cy="1051560"/>
          </a:xfrm>
          <a:prstGeom prst="roundRect">
            <a:avLst>
              <a:gd name="adj" fmla="val 8696"/>
            </a:avLst>
          </a:prstGeom>
          <a:solidFill>
            <a:srgbClr val="0D1117"/>
          </a:solidFill>
          <a:ln w="12700">
            <a:solidFill>
              <a:srgbClr val="333333"/>
            </a:solidFill>
            <a:prstDash val="solid"/>
          </a:ln>
        </p:spPr>
        <p:txBody>
          <a:bodyPr/>
          <a:lstStyle/>
          <a:p>
            <a:endParaRPr lang="en-AU"/>
          </a:p>
        </p:txBody>
      </p:sp>
      <p:sp>
        <p:nvSpPr>
          <p:cNvPr id="7" name="Text 5"/>
          <p:cNvSpPr/>
          <p:nvPr/>
        </p:nvSpPr>
        <p:spPr>
          <a:xfrm>
            <a:off x="822960" y="1645920"/>
            <a:ext cx="10515600" cy="1051560"/>
          </a:xfrm>
          <a:prstGeom prst="rect">
            <a:avLst/>
          </a:prstGeom>
          <a:noFill/>
          <a:ln/>
        </p:spPr>
        <p:txBody>
          <a:bodyPr wrap="square" lIns="0" tIns="0" rIns="0" bIns="0" rtlCol="0" anchor="ctr"/>
          <a:lstStyle/>
          <a:p>
            <a:pPr marL="0" indent="0">
              <a:buNone/>
            </a:pPr>
            <a:r>
              <a:rPr lang="en-US" sz="1800" b="1" dirty="0">
                <a:solidFill>
                  <a:srgbClr val="F59E0B"/>
                </a:solidFill>
                <a:latin typeface="DM Mono" pitchFamily="34" charset="0"/>
                <a:ea typeface="DM Mono" pitchFamily="34" charset="-122"/>
                <a:cs typeface="DM Mono" pitchFamily="34" charset="-120"/>
              </a:rPr>
              <a:t>Innovation</a:t>
            </a:r>
            <a:r>
              <a:rPr lang="en-US" sz="1800" dirty="0">
                <a:solidFill>
                  <a:srgbClr val="FFFFFF"/>
                </a:solidFill>
                <a:latin typeface="DM Mono" pitchFamily="34" charset="0"/>
                <a:ea typeface="DM Mono" pitchFamily="34" charset="-122"/>
                <a:cs typeface="DM Mono" pitchFamily="34" charset="-120"/>
              </a:rPr>
              <a:t>  =  new (or newly applied) idea  </a:t>
            </a:r>
            <a:r>
              <a:rPr lang="en-US" sz="1800" b="1" dirty="0">
                <a:solidFill>
                  <a:srgbClr val="F59E0B"/>
                </a:solidFill>
                <a:latin typeface="DM Mono" pitchFamily="34" charset="0"/>
                <a:ea typeface="DM Mono" pitchFamily="34" charset="-122"/>
                <a:cs typeface="DM Mono" pitchFamily="34" charset="-120"/>
              </a:rPr>
              <a:t>+</a:t>
            </a:r>
            <a:r>
              <a:rPr lang="en-US" sz="1800" dirty="0">
                <a:solidFill>
                  <a:srgbClr val="FFFFFF"/>
                </a:solidFill>
                <a:latin typeface="DM Mono" pitchFamily="34" charset="0"/>
                <a:ea typeface="DM Mono" pitchFamily="34" charset="-122"/>
                <a:cs typeface="DM Mono" pitchFamily="34" charset="-120"/>
              </a:rPr>
              <a:t>  genuine value for a real user, in a real context</a:t>
            </a:r>
            <a:endParaRPr lang="en-US" sz="1800" dirty="0"/>
          </a:p>
        </p:txBody>
      </p:sp>
      <p:sp>
        <p:nvSpPr>
          <p:cNvPr id="8" name="Text 6"/>
          <p:cNvSpPr/>
          <p:nvPr/>
        </p:nvSpPr>
        <p:spPr>
          <a:xfrm>
            <a:off x="457200" y="2971800"/>
            <a:ext cx="11247120" cy="548640"/>
          </a:xfrm>
          <a:prstGeom prst="rect">
            <a:avLst/>
          </a:prstGeom>
          <a:noFill/>
          <a:ln/>
        </p:spPr>
        <p:txBody>
          <a:bodyPr wrap="square" lIns="0" tIns="0" rIns="0" bIns="0" rtlCol="0" anchor="ctr"/>
          <a:lstStyle/>
          <a:p>
            <a:pPr marL="0" indent="0">
              <a:buNone/>
            </a:pPr>
            <a:r>
              <a:rPr lang="en-US" sz="1700" dirty="0">
                <a:solidFill>
                  <a:srgbClr val="57606A"/>
                </a:solidFill>
                <a:latin typeface="Calibri" pitchFamily="34" charset="0"/>
                <a:ea typeface="Calibri" pitchFamily="34" charset="-122"/>
                <a:cs typeface="Calibri" pitchFamily="34" charset="-120"/>
              </a:rPr>
              <a:t>Novelty on its own is just difference. Innovation requires that difference to actually improve something for someone.</a:t>
            </a:r>
            <a:endParaRPr lang="en-US" sz="1700" dirty="0"/>
          </a:p>
        </p:txBody>
      </p:sp>
      <p:sp>
        <p:nvSpPr>
          <p:cNvPr id="9" name="Text 7"/>
          <p:cNvSpPr/>
          <p:nvPr/>
        </p:nvSpPr>
        <p:spPr>
          <a:xfrm>
            <a:off x="457200" y="3611880"/>
            <a:ext cx="11247120" cy="548640"/>
          </a:xfrm>
          <a:prstGeom prst="rect">
            <a:avLst/>
          </a:prstGeom>
          <a:noFill/>
          <a:ln/>
        </p:spPr>
        <p:txBody>
          <a:bodyPr wrap="square" lIns="0" tIns="0" rIns="0" bIns="0" rtlCol="0" anchor="ctr"/>
          <a:lstStyle/>
          <a:p>
            <a:pPr marL="0" indent="0">
              <a:buNone/>
            </a:pPr>
            <a:r>
              <a:rPr lang="en-US" sz="1600" dirty="0">
                <a:solidFill>
                  <a:srgbClr val="57606A"/>
                </a:solidFill>
                <a:latin typeface="Calibri" pitchFamily="34" charset="0"/>
                <a:ea typeface="Calibri" pitchFamily="34" charset="-122"/>
                <a:cs typeface="Calibri" pitchFamily="34" charset="-120"/>
              </a:rPr>
              <a:t>That’s why this is a checklist of four separate qualities — a solution needs more than one of them to count as genuinely innovative:</a:t>
            </a:r>
            <a:endParaRPr lang="en-US" sz="1600" dirty="0"/>
          </a:p>
        </p:txBody>
      </p:sp>
      <p:sp>
        <p:nvSpPr>
          <p:cNvPr id="10" name="Shape 8"/>
          <p:cNvSpPr/>
          <p:nvPr/>
        </p:nvSpPr>
        <p:spPr>
          <a:xfrm>
            <a:off x="457200" y="4297680"/>
            <a:ext cx="2651760" cy="1371600"/>
          </a:xfrm>
          <a:prstGeom prst="roundRect">
            <a:avLst>
              <a:gd name="adj" fmla="val 6667"/>
            </a:avLst>
          </a:prstGeom>
          <a:solidFill>
            <a:srgbClr val="EAEEFC"/>
          </a:solidFill>
          <a:ln w="12700">
            <a:solidFill>
              <a:srgbClr val="4361EE"/>
            </a:solidFill>
            <a:prstDash val="solid"/>
          </a:ln>
          <a:effectLst>
            <a:outerShdw blurRad="76200" dist="25400" dir="5400000" algn="bl" rotWithShape="0">
              <a:srgbClr val="000000">
                <a:alpha val="18000"/>
              </a:srgbClr>
            </a:outerShdw>
          </a:effectLst>
        </p:spPr>
        <p:txBody>
          <a:bodyPr/>
          <a:lstStyle/>
          <a:p>
            <a:endParaRPr lang="en-AU"/>
          </a:p>
        </p:txBody>
      </p:sp>
      <p:sp>
        <p:nvSpPr>
          <p:cNvPr id="11" name="Shape 9"/>
          <p:cNvSpPr/>
          <p:nvPr/>
        </p:nvSpPr>
        <p:spPr>
          <a:xfrm>
            <a:off x="640080" y="4480560"/>
            <a:ext cx="502920" cy="502920"/>
          </a:xfrm>
          <a:prstGeom prst="ellipse">
            <a:avLst/>
          </a:prstGeom>
          <a:solidFill>
            <a:srgbClr val="4361EE"/>
          </a:solidFill>
          <a:ln w="12700">
            <a:solidFill>
              <a:srgbClr val="333333"/>
            </a:solidFill>
            <a:prstDash val="solid"/>
          </a:ln>
        </p:spPr>
        <p:txBody>
          <a:bodyPr/>
          <a:lstStyle/>
          <a:p>
            <a:endParaRPr lang="en-AU"/>
          </a:p>
        </p:txBody>
      </p:sp>
      <p:sp>
        <p:nvSpPr>
          <p:cNvPr id="12" name="Text 10"/>
          <p:cNvSpPr/>
          <p:nvPr/>
        </p:nvSpPr>
        <p:spPr>
          <a:xfrm>
            <a:off x="640080" y="44805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Text 11"/>
          <p:cNvSpPr/>
          <p:nvPr/>
        </p:nvSpPr>
        <p:spPr>
          <a:xfrm>
            <a:off x="594360" y="5120640"/>
            <a:ext cx="2377440" cy="502920"/>
          </a:xfrm>
          <a:prstGeom prst="rect">
            <a:avLst/>
          </a:prstGeom>
          <a:noFill/>
          <a:ln/>
        </p:spPr>
        <p:txBody>
          <a:bodyPr wrap="square" lIns="0" tIns="0" rIns="0" bIns="0" rtlCol="0" anchor="t"/>
          <a:lstStyle/>
          <a:p>
            <a:pPr marL="0" indent="0">
              <a:buNone/>
            </a:pPr>
            <a:r>
              <a:rPr lang="en-US" sz="1400" b="1" dirty="0">
                <a:solidFill>
                  <a:srgbClr val="4361EE"/>
                </a:solidFill>
                <a:latin typeface="Calibri" pitchFamily="34" charset="0"/>
                <a:ea typeface="Calibri" pitchFamily="34" charset="-122"/>
                <a:cs typeface="Calibri" pitchFamily="34" charset="-120"/>
              </a:rPr>
              <a:t>Originality</a:t>
            </a:r>
            <a:endParaRPr lang="en-US" sz="1400" dirty="0"/>
          </a:p>
        </p:txBody>
      </p:sp>
      <p:sp>
        <p:nvSpPr>
          <p:cNvPr id="14" name="Shape 12"/>
          <p:cNvSpPr/>
          <p:nvPr/>
        </p:nvSpPr>
        <p:spPr>
          <a:xfrm>
            <a:off x="3291840" y="4297680"/>
            <a:ext cx="2651760" cy="1371600"/>
          </a:xfrm>
          <a:prstGeom prst="roundRect">
            <a:avLst>
              <a:gd name="adj" fmla="val 6667"/>
            </a:avLst>
          </a:prstGeom>
          <a:solidFill>
            <a:srgbClr val="E6F9F2"/>
          </a:solidFill>
          <a:ln w="12700">
            <a:solidFill>
              <a:srgbClr val="10B981"/>
            </a:solidFill>
            <a:prstDash val="solid"/>
          </a:ln>
          <a:effectLst>
            <a:outerShdw blurRad="76200" dist="25400" dir="5400000" algn="bl" rotWithShape="0">
              <a:srgbClr val="000000">
                <a:alpha val="18000"/>
              </a:srgbClr>
            </a:outerShdw>
          </a:effectLst>
        </p:spPr>
        <p:txBody>
          <a:bodyPr/>
          <a:lstStyle/>
          <a:p>
            <a:endParaRPr lang="en-AU"/>
          </a:p>
        </p:txBody>
      </p:sp>
      <p:sp>
        <p:nvSpPr>
          <p:cNvPr id="15" name="Shape 13"/>
          <p:cNvSpPr/>
          <p:nvPr/>
        </p:nvSpPr>
        <p:spPr>
          <a:xfrm>
            <a:off x="3474720" y="4480560"/>
            <a:ext cx="502920" cy="502920"/>
          </a:xfrm>
          <a:prstGeom prst="ellipse">
            <a:avLst/>
          </a:prstGeom>
          <a:solidFill>
            <a:srgbClr val="10B981"/>
          </a:solidFill>
          <a:ln w="12700">
            <a:solidFill>
              <a:srgbClr val="333333"/>
            </a:solidFill>
            <a:prstDash val="solid"/>
          </a:ln>
        </p:spPr>
        <p:txBody>
          <a:bodyPr/>
          <a:lstStyle/>
          <a:p>
            <a:endParaRPr lang="en-AU"/>
          </a:p>
        </p:txBody>
      </p:sp>
      <p:sp>
        <p:nvSpPr>
          <p:cNvPr id="16" name="Text 14"/>
          <p:cNvSpPr/>
          <p:nvPr/>
        </p:nvSpPr>
        <p:spPr>
          <a:xfrm>
            <a:off x="3474720" y="44805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5"/>
          <p:cNvSpPr/>
          <p:nvPr/>
        </p:nvSpPr>
        <p:spPr>
          <a:xfrm>
            <a:off x="3429000" y="5120640"/>
            <a:ext cx="2377440" cy="502920"/>
          </a:xfrm>
          <a:prstGeom prst="rect">
            <a:avLst/>
          </a:prstGeom>
          <a:noFill/>
          <a:ln/>
        </p:spPr>
        <p:txBody>
          <a:bodyPr wrap="square" lIns="0" tIns="0" rIns="0" bIns="0" rtlCol="0" anchor="t"/>
          <a:lstStyle/>
          <a:p>
            <a:pPr marL="0" indent="0">
              <a:buNone/>
            </a:pPr>
            <a:r>
              <a:rPr lang="en-US" sz="1400" b="1" dirty="0">
                <a:solidFill>
                  <a:srgbClr val="10B981"/>
                </a:solidFill>
                <a:latin typeface="Calibri" pitchFamily="34" charset="0"/>
                <a:ea typeface="Calibri" pitchFamily="34" charset="-122"/>
                <a:cs typeface="Calibri" pitchFamily="34" charset="-120"/>
              </a:rPr>
              <a:t>Effectiveness</a:t>
            </a:r>
            <a:endParaRPr lang="en-US" sz="1400" dirty="0"/>
          </a:p>
        </p:txBody>
      </p:sp>
      <p:sp>
        <p:nvSpPr>
          <p:cNvPr id="18" name="Shape 16"/>
          <p:cNvSpPr/>
          <p:nvPr/>
        </p:nvSpPr>
        <p:spPr>
          <a:xfrm>
            <a:off x="6126480" y="4297680"/>
            <a:ext cx="2651760" cy="1371600"/>
          </a:xfrm>
          <a:prstGeom prst="roundRect">
            <a:avLst>
              <a:gd name="adj" fmla="val 6667"/>
            </a:avLst>
          </a:prstGeom>
          <a:solidFill>
            <a:srgbClr val="FEF3E2"/>
          </a:solidFill>
          <a:ln w="12700">
            <a:solidFill>
              <a:srgbClr val="F59E0B"/>
            </a:solidFill>
            <a:prstDash val="solid"/>
          </a:ln>
          <a:effectLst>
            <a:outerShdw blurRad="76200" dist="25400" dir="5400000" algn="bl" rotWithShape="0">
              <a:srgbClr val="000000">
                <a:alpha val="18000"/>
              </a:srgbClr>
            </a:outerShdw>
          </a:effectLst>
        </p:spPr>
        <p:txBody>
          <a:bodyPr/>
          <a:lstStyle/>
          <a:p>
            <a:endParaRPr lang="en-AU"/>
          </a:p>
        </p:txBody>
      </p:sp>
      <p:sp>
        <p:nvSpPr>
          <p:cNvPr id="19" name="Shape 17"/>
          <p:cNvSpPr/>
          <p:nvPr/>
        </p:nvSpPr>
        <p:spPr>
          <a:xfrm>
            <a:off x="6309360" y="4480560"/>
            <a:ext cx="502920" cy="502920"/>
          </a:xfrm>
          <a:prstGeom prst="ellipse">
            <a:avLst/>
          </a:prstGeom>
          <a:solidFill>
            <a:srgbClr val="F59E0B"/>
          </a:solidFill>
          <a:ln w="12700">
            <a:solidFill>
              <a:srgbClr val="333333"/>
            </a:solidFill>
            <a:prstDash val="solid"/>
          </a:ln>
        </p:spPr>
        <p:txBody>
          <a:bodyPr/>
          <a:lstStyle/>
          <a:p>
            <a:endParaRPr lang="en-AU"/>
          </a:p>
        </p:txBody>
      </p:sp>
      <p:sp>
        <p:nvSpPr>
          <p:cNvPr id="20" name="Text 18"/>
          <p:cNvSpPr/>
          <p:nvPr/>
        </p:nvSpPr>
        <p:spPr>
          <a:xfrm>
            <a:off x="6309360" y="44805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6263640" y="5120640"/>
            <a:ext cx="2377440" cy="502920"/>
          </a:xfrm>
          <a:prstGeom prst="rect">
            <a:avLst/>
          </a:prstGeom>
          <a:noFill/>
          <a:ln/>
        </p:spPr>
        <p:txBody>
          <a:bodyPr wrap="square" lIns="0" tIns="0" rIns="0" bIns="0" rtlCol="0" anchor="t"/>
          <a:lstStyle/>
          <a:p>
            <a:pPr marL="0" indent="0">
              <a:buNone/>
            </a:pPr>
            <a:r>
              <a:rPr lang="en-US" sz="1400" b="1" dirty="0">
                <a:solidFill>
                  <a:srgbClr val="F59E0B"/>
                </a:solidFill>
                <a:latin typeface="Calibri" pitchFamily="34" charset="0"/>
                <a:ea typeface="Calibri" pitchFamily="34" charset="-122"/>
                <a:cs typeface="Calibri" pitchFamily="34" charset="-120"/>
              </a:rPr>
              <a:t>User-Centred</a:t>
            </a:r>
            <a:endParaRPr lang="en-US" sz="1400" dirty="0"/>
          </a:p>
        </p:txBody>
      </p:sp>
      <p:sp>
        <p:nvSpPr>
          <p:cNvPr id="22" name="Shape 20"/>
          <p:cNvSpPr/>
          <p:nvPr/>
        </p:nvSpPr>
        <p:spPr>
          <a:xfrm>
            <a:off x="8961120" y="4297680"/>
            <a:ext cx="2651760" cy="1371600"/>
          </a:xfrm>
          <a:prstGeom prst="roundRect">
            <a:avLst>
              <a:gd name="adj" fmla="val 6667"/>
            </a:avLst>
          </a:prstGeom>
          <a:solidFill>
            <a:srgbClr val="F1ECFE"/>
          </a:solidFill>
          <a:ln w="12700">
            <a:solidFill>
              <a:srgbClr val="8B5CF6"/>
            </a:solidFill>
            <a:prstDash val="solid"/>
          </a:ln>
          <a:effectLst>
            <a:outerShdw blurRad="76200" dist="25400" dir="5400000" algn="bl" rotWithShape="0">
              <a:srgbClr val="000000">
                <a:alpha val="18000"/>
              </a:srgbClr>
            </a:outerShdw>
          </a:effectLst>
        </p:spPr>
        <p:txBody>
          <a:bodyPr/>
          <a:lstStyle/>
          <a:p>
            <a:endParaRPr lang="en-AU"/>
          </a:p>
        </p:txBody>
      </p:sp>
      <p:sp>
        <p:nvSpPr>
          <p:cNvPr id="23" name="Shape 21"/>
          <p:cNvSpPr/>
          <p:nvPr/>
        </p:nvSpPr>
        <p:spPr>
          <a:xfrm>
            <a:off x="9144000" y="4480560"/>
            <a:ext cx="502920" cy="502920"/>
          </a:xfrm>
          <a:prstGeom prst="ellipse">
            <a:avLst/>
          </a:prstGeom>
          <a:solidFill>
            <a:srgbClr val="8B5CF6"/>
          </a:solidFill>
          <a:ln w="12700">
            <a:solidFill>
              <a:srgbClr val="333333"/>
            </a:solidFill>
            <a:prstDash val="solid"/>
          </a:ln>
        </p:spPr>
        <p:txBody>
          <a:bodyPr/>
          <a:lstStyle/>
          <a:p>
            <a:endParaRPr lang="en-AU"/>
          </a:p>
        </p:txBody>
      </p:sp>
      <p:sp>
        <p:nvSpPr>
          <p:cNvPr id="24" name="Text 22"/>
          <p:cNvSpPr/>
          <p:nvPr/>
        </p:nvSpPr>
        <p:spPr>
          <a:xfrm>
            <a:off x="9144000" y="44805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9098280" y="5120640"/>
            <a:ext cx="2377440" cy="502920"/>
          </a:xfrm>
          <a:prstGeom prst="rect">
            <a:avLst/>
          </a:prstGeom>
          <a:noFill/>
          <a:ln/>
        </p:spPr>
        <p:txBody>
          <a:bodyPr wrap="square" lIns="0" tIns="0" rIns="0" bIns="0" rtlCol="0" anchor="t"/>
          <a:lstStyle/>
          <a:p>
            <a:pPr marL="0" indent="0">
              <a:buNone/>
            </a:pPr>
            <a:r>
              <a:rPr lang="en-US" sz="1400" b="1" dirty="0">
                <a:solidFill>
                  <a:srgbClr val="8B5CF6"/>
                </a:solidFill>
                <a:latin typeface="Calibri" pitchFamily="34" charset="0"/>
                <a:ea typeface="Calibri" pitchFamily="34" charset="-122"/>
                <a:cs typeface="Calibri" pitchFamily="34" charset="-120"/>
              </a:rPr>
              <a:t>Disruptive Potential</a:t>
            </a:r>
            <a:endParaRPr lang="en-US" sz="1400" dirty="0"/>
          </a:p>
        </p:txBody>
      </p:sp>
      <p:sp>
        <p:nvSpPr>
          <p:cNvPr id="26" name="Text 24"/>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27" name="Text 25"/>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4361EE"/>
          </a:solidFill>
          <a:ln w="12700">
            <a:solidFill>
              <a:srgbClr val="4361EE"/>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2331720" y="384048"/>
            <a:ext cx="5486400" cy="274320"/>
          </a:xfrm>
          <a:prstGeom prst="rect">
            <a:avLst/>
          </a:prstGeom>
          <a:noFill/>
          <a:ln/>
        </p:spPr>
        <p:txBody>
          <a:bodyPr wrap="square" lIns="0" tIns="0" rIns="0" bIns="0" rtlCol="0" anchor="ctr"/>
          <a:lstStyle/>
          <a:p>
            <a:pPr marL="0" indent="0">
              <a:buNone/>
            </a:pPr>
            <a:r>
              <a:rPr lang="en-US" sz="1200" dirty="0">
                <a:solidFill>
                  <a:srgbClr val="4361EE"/>
                </a:solidFill>
                <a:latin typeface="DM Mono" pitchFamily="34" charset="0"/>
                <a:ea typeface="DM Mono" pitchFamily="34" charset="-122"/>
                <a:cs typeface="DM Mono" pitchFamily="34" charset="-120"/>
              </a:rPr>
              <a:t>Characteristics 1 &amp; 2</a:t>
            </a:r>
            <a:endParaRPr lang="en-US" sz="1200" dirty="0"/>
          </a:p>
        </p:txBody>
      </p:sp>
      <p:sp>
        <p:nvSpPr>
          <p:cNvPr id="5" name="Text 3"/>
          <p:cNvSpPr/>
          <p:nvPr/>
        </p:nvSpPr>
        <p:spPr>
          <a:xfrm>
            <a:off x="457200" y="868680"/>
            <a:ext cx="11247120" cy="548640"/>
          </a:xfrm>
          <a:prstGeom prst="rect">
            <a:avLst/>
          </a:prstGeom>
          <a:noFill/>
          <a:ln/>
        </p:spPr>
        <p:txBody>
          <a:bodyPr wrap="square" lIns="0" tIns="0" rIns="0" bIns="0" rtlCol="0" anchor="ctr"/>
          <a:lstStyle/>
          <a:p>
            <a:pPr marL="0" indent="0">
              <a:buNone/>
            </a:pPr>
            <a:r>
              <a:rPr lang="en-US" sz="2700" b="1" dirty="0">
                <a:solidFill>
                  <a:srgbClr val="0D1117"/>
                </a:solidFill>
                <a:latin typeface="Bookman Old Style" pitchFamily="34" charset="0"/>
                <a:ea typeface="Bookman Old Style" pitchFamily="34" charset="-122"/>
                <a:cs typeface="Bookman Old Style" pitchFamily="34" charset="-120"/>
              </a:rPr>
              <a:t>Originality &amp; Effectiveness</a:t>
            </a:r>
            <a:endParaRPr lang="en-US" sz="2700" dirty="0"/>
          </a:p>
        </p:txBody>
      </p:sp>
      <p:sp>
        <p:nvSpPr>
          <p:cNvPr id="6" name="Shape 4"/>
          <p:cNvSpPr/>
          <p:nvPr/>
        </p:nvSpPr>
        <p:spPr>
          <a:xfrm>
            <a:off x="457200" y="1554480"/>
            <a:ext cx="5394960" cy="4480560"/>
          </a:xfrm>
          <a:prstGeom prst="roundRect">
            <a:avLst>
              <a:gd name="adj" fmla="val 2041"/>
            </a:avLst>
          </a:prstGeom>
          <a:solidFill>
            <a:srgbClr val="EAEEFC"/>
          </a:solidFill>
          <a:ln w="12700">
            <a:solidFill>
              <a:srgbClr val="4361EE"/>
            </a:solidFill>
            <a:prstDash val="solid"/>
          </a:ln>
        </p:spPr>
        <p:txBody>
          <a:bodyPr/>
          <a:lstStyle/>
          <a:p>
            <a:endParaRPr lang="en-AU"/>
          </a:p>
        </p:txBody>
      </p:sp>
      <p:sp>
        <p:nvSpPr>
          <p:cNvPr id="7" name="Text 5"/>
          <p:cNvSpPr/>
          <p:nvPr/>
        </p:nvSpPr>
        <p:spPr>
          <a:xfrm>
            <a:off x="685800" y="1737360"/>
            <a:ext cx="4937760" cy="365760"/>
          </a:xfrm>
          <a:prstGeom prst="rect">
            <a:avLst/>
          </a:prstGeom>
          <a:noFill/>
          <a:ln/>
        </p:spPr>
        <p:txBody>
          <a:bodyPr wrap="square" lIns="0" tIns="0" rIns="0" bIns="0" rtlCol="0" anchor="ctr"/>
          <a:lstStyle/>
          <a:p>
            <a:pPr marL="0" indent="0">
              <a:buNone/>
            </a:pPr>
            <a:r>
              <a:rPr lang="en-US" sz="1300" b="1" dirty="0">
                <a:solidFill>
                  <a:srgbClr val="4361EE"/>
                </a:solidFill>
                <a:latin typeface="DM Mono" pitchFamily="34" charset="0"/>
                <a:ea typeface="DM Mono" pitchFamily="34" charset="-122"/>
                <a:cs typeface="DM Mono" pitchFamily="34" charset="-120"/>
              </a:rPr>
              <a:t>1 · ORIGINALITY</a:t>
            </a:r>
            <a:endParaRPr lang="en-US" sz="1300" dirty="0"/>
          </a:p>
        </p:txBody>
      </p:sp>
      <p:sp>
        <p:nvSpPr>
          <p:cNvPr id="8" name="Text 6"/>
          <p:cNvSpPr/>
          <p:nvPr/>
        </p:nvSpPr>
        <p:spPr>
          <a:xfrm>
            <a:off x="685800" y="2148840"/>
            <a:ext cx="4937760" cy="777240"/>
          </a:xfrm>
          <a:prstGeom prst="rect">
            <a:avLst/>
          </a:prstGeom>
          <a:noFill/>
          <a:ln/>
        </p:spPr>
        <p:txBody>
          <a:bodyPr wrap="square" lIns="0" tIns="0" rIns="0" bIns="0" rtlCol="0" anchor="ctr"/>
          <a:lstStyle/>
          <a:p>
            <a:pPr marL="0" indent="0">
              <a:buNone/>
            </a:pPr>
            <a:r>
              <a:rPr lang="en-US" sz="1450" b="1" dirty="0">
                <a:solidFill>
                  <a:srgbClr val="0D1117"/>
                </a:solidFill>
                <a:latin typeface="Calibri" pitchFamily="34" charset="0"/>
                <a:ea typeface="Calibri" pitchFamily="34" charset="-122"/>
                <a:cs typeface="Calibri" pitchFamily="34" charset="-120"/>
              </a:rPr>
              <a:t>Has someone already solved this exact problem, for this exact user, this exact way?</a:t>
            </a:r>
            <a:endParaRPr lang="en-US" sz="1450" dirty="0"/>
          </a:p>
        </p:txBody>
      </p:sp>
      <p:sp>
        <p:nvSpPr>
          <p:cNvPr id="9" name="Shape 7"/>
          <p:cNvSpPr/>
          <p:nvPr/>
        </p:nvSpPr>
        <p:spPr>
          <a:xfrm>
            <a:off x="685800" y="3017520"/>
            <a:ext cx="4937760" cy="960120"/>
          </a:xfrm>
          <a:prstGeom prst="roundRect">
            <a:avLst>
              <a:gd name="adj" fmla="val 5714"/>
            </a:avLst>
          </a:prstGeom>
          <a:solidFill>
            <a:srgbClr val="FDEBEB"/>
          </a:solidFill>
          <a:ln w="12700">
            <a:solidFill>
              <a:srgbClr val="EF4444"/>
            </a:solidFill>
            <a:prstDash val="solid"/>
          </a:ln>
        </p:spPr>
        <p:txBody>
          <a:bodyPr/>
          <a:lstStyle/>
          <a:p>
            <a:endParaRPr lang="en-AU"/>
          </a:p>
        </p:txBody>
      </p:sp>
      <p:sp>
        <p:nvSpPr>
          <p:cNvPr id="10" name="Text 8"/>
          <p:cNvSpPr/>
          <p:nvPr/>
        </p:nvSpPr>
        <p:spPr>
          <a:xfrm>
            <a:off x="868680" y="3017520"/>
            <a:ext cx="4572000" cy="960120"/>
          </a:xfrm>
          <a:prstGeom prst="rect">
            <a:avLst/>
          </a:prstGeom>
          <a:noFill/>
          <a:ln/>
        </p:spPr>
        <p:txBody>
          <a:bodyPr wrap="square" lIns="0" tIns="0" rIns="0" bIns="0" rtlCol="0" anchor="ctr"/>
          <a:lstStyle/>
          <a:p>
            <a:pPr marL="0" indent="0">
              <a:buNone/>
            </a:pPr>
            <a:r>
              <a:rPr lang="en-US" sz="1300" i="1" dirty="0">
                <a:solidFill>
                  <a:srgbClr val="0D1117"/>
                </a:solidFill>
                <a:latin typeface="Calibri" pitchFamily="34" charset="0"/>
                <a:ea typeface="Calibri" pitchFamily="34" charset="-122"/>
                <a:cs typeface="Calibri" pitchFamily="34" charset="-120"/>
              </a:rPr>
              <a:t>"Put a lost-property box at the front."</a:t>
            </a:r>
            <a:endParaRPr lang="en-US" sz="1300" dirty="0"/>
          </a:p>
        </p:txBody>
      </p:sp>
      <p:sp>
        <p:nvSpPr>
          <p:cNvPr id="11" name="Shape 9"/>
          <p:cNvSpPr/>
          <p:nvPr/>
        </p:nvSpPr>
        <p:spPr>
          <a:xfrm>
            <a:off x="685800" y="4114800"/>
            <a:ext cx="4937760" cy="1737360"/>
          </a:xfrm>
          <a:prstGeom prst="roundRect">
            <a:avLst>
              <a:gd name="adj" fmla="val 3158"/>
            </a:avLst>
          </a:prstGeom>
          <a:solidFill>
            <a:srgbClr val="E6F9F2"/>
          </a:solidFill>
          <a:ln w="12700">
            <a:solidFill>
              <a:srgbClr val="10B981"/>
            </a:solidFill>
            <a:prstDash val="solid"/>
          </a:ln>
        </p:spPr>
        <p:txBody>
          <a:bodyPr/>
          <a:lstStyle/>
          <a:p>
            <a:endParaRPr lang="en-AU"/>
          </a:p>
        </p:txBody>
      </p:sp>
      <p:sp>
        <p:nvSpPr>
          <p:cNvPr id="12" name="Text 10"/>
          <p:cNvSpPr/>
          <p:nvPr/>
        </p:nvSpPr>
        <p:spPr>
          <a:xfrm>
            <a:off x="868680" y="4114800"/>
            <a:ext cx="4572000" cy="1737360"/>
          </a:xfrm>
          <a:prstGeom prst="rect">
            <a:avLst/>
          </a:prstGeom>
          <a:noFill/>
          <a:ln/>
        </p:spPr>
        <p:txBody>
          <a:bodyPr wrap="square" lIns="0" tIns="0" rIns="0" bIns="0" rtlCol="0" anchor="ctr"/>
          <a:lstStyle/>
          <a:p>
            <a:pPr marL="0" indent="0">
              <a:buNone/>
            </a:pPr>
            <a:r>
              <a:rPr lang="en-US" sz="1300" i="1" dirty="0">
                <a:solidFill>
                  <a:srgbClr val="0D1117"/>
                </a:solidFill>
                <a:latin typeface="Calibri" pitchFamily="34" charset="0"/>
                <a:ea typeface="Calibri" pitchFamily="34" charset="-122"/>
                <a:cs typeface="Calibri" pitchFamily="34" charset="-120"/>
              </a:rPr>
              <a:t>"Peer buddy-check-in system that catches the gap before class starts."</a:t>
            </a:r>
            <a:endParaRPr lang="en-US" sz="1300" dirty="0"/>
          </a:p>
        </p:txBody>
      </p:sp>
      <p:sp>
        <p:nvSpPr>
          <p:cNvPr id="13" name="Shape 11"/>
          <p:cNvSpPr/>
          <p:nvPr/>
        </p:nvSpPr>
        <p:spPr>
          <a:xfrm>
            <a:off x="6309360" y="1554480"/>
            <a:ext cx="5394960" cy="4480560"/>
          </a:xfrm>
          <a:prstGeom prst="roundRect">
            <a:avLst>
              <a:gd name="adj" fmla="val 2041"/>
            </a:avLst>
          </a:prstGeom>
          <a:solidFill>
            <a:srgbClr val="E6F9F2"/>
          </a:solidFill>
          <a:ln w="12700">
            <a:solidFill>
              <a:srgbClr val="10B981"/>
            </a:solidFill>
            <a:prstDash val="solid"/>
          </a:ln>
        </p:spPr>
        <p:txBody>
          <a:bodyPr/>
          <a:lstStyle/>
          <a:p>
            <a:endParaRPr lang="en-AU"/>
          </a:p>
        </p:txBody>
      </p:sp>
      <p:sp>
        <p:nvSpPr>
          <p:cNvPr id="14" name="Text 12"/>
          <p:cNvSpPr/>
          <p:nvPr/>
        </p:nvSpPr>
        <p:spPr>
          <a:xfrm>
            <a:off x="6537960" y="1737360"/>
            <a:ext cx="4937760" cy="365760"/>
          </a:xfrm>
          <a:prstGeom prst="rect">
            <a:avLst/>
          </a:prstGeom>
          <a:noFill/>
          <a:ln/>
        </p:spPr>
        <p:txBody>
          <a:bodyPr wrap="square" lIns="0" tIns="0" rIns="0" bIns="0" rtlCol="0" anchor="ctr"/>
          <a:lstStyle/>
          <a:p>
            <a:pPr marL="0" indent="0">
              <a:buNone/>
            </a:pPr>
            <a:r>
              <a:rPr lang="en-US" sz="1300" b="1" dirty="0">
                <a:solidFill>
                  <a:srgbClr val="10B981"/>
                </a:solidFill>
                <a:latin typeface="DM Mono" pitchFamily="34" charset="0"/>
                <a:ea typeface="DM Mono" pitchFamily="34" charset="-122"/>
                <a:cs typeface="DM Mono" pitchFamily="34" charset="-120"/>
              </a:rPr>
              <a:t>2 · EFFECTIVENESS</a:t>
            </a:r>
            <a:endParaRPr lang="en-US" sz="1300" dirty="0"/>
          </a:p>
        </p:txBody>
      </p:sp>
      <p:sp>
        <p:nvSpPr>
          <p:cNvPr id="15" name="Text 13"/>
          <p:cNvSpPr/>
          <p:nvPr/>
        </p:nvSpPr>
        <p:spPr>
          <a:xfrm>
            <a:off x="6537960" y="2148840"/>
            <a:ext cx="4937760" cy="777240"/>
          </a:xfrm>
          <a:prstGeom prst="rect">
            <a:avLst/>
          </a:prstGeom>
          <a:noFill/>
          <a:ln/>
        </p:spPr>
        <p:txBody>
          <a:bodyPr wrap="square" lIns="0" tIns="0" rIns="0" bIns="0" rtlCol="0" anchor="ctr"/>
          <a:lstStyle/>
          <a:p>
            <a:pPr marL="0" indent="0">
              <a:buNone/>
            </a:pPr>
            <a:r>
              <a:rPr lang="en-US" sz="1450" b="1" dirty="0">
                <a:solidFill>
                  <a:srgbClr val="0D1117"/>
                </a:solidFill>
                <a:latin typeface="Calibri" pitchFamily="34" charset="0"/>
                <a:ea typeface="Calibri" pitchFamily="34" charset="-122"/>
                <a:cs typeface="Calibri" pitchFamily="34" charset="-120"/>
              </a:rPr>
              <a:t>Does the idea actually solve the problem in your refined problem statement?</a:t>
            </a:r>
            <a:endParaRPr lang="en-US" sz="1450" dirty="0"/>
          </a:p>
        </p:txBody>
      </p:sp>
      <p:sp>
        <p:nvSpPr>
          <p:cNvPr id="16" name="Shape 14"/>
          <p:cNvSpPr/>
          <p:nvPr/>
        </p:nvSpPr>
        <p:spPr>
          <a:xfrm>
            <a:off x="6537960" y="3017520"/>
            <a:ext cx="4937760" cy="1051560"/>
          </a:xfrm>
          <a:prstGeom prst="roundRect">
            <a:avLst>
              <a:gd name="adj" fmla="val 5217"/>
            </a:avLst>
          </a:prstGeom>
          <a:solidFill>
            <a:srgbClr val="0D1117"/>
          </a:solidFill>
          <a:ln w="12700">
            <a:solidFill>
              <a:srgbClr val="333333"/>
            </a:solidFill>
            <a:prstDash val="solid"/>
          </a:ln>
        </p:spPr>
        <p:txBody>
          <a:bodyPr/>
          <a:lstStyle/>
          <a:p>
            <a:endParaRPr lang="en-AU"/>
          </a:p>
        </p:txBody>
      </p:sp>
      <p:sp>
        <p:nvSpPr>
          <p:cNvPr id="17" name="Text 15"/>
          <p:cNvSpPr/>
          <p:nvPr/>
        </p:nvSpPr>
        <p:spPr>
          <a:xfrm>
            <a:off x="6720840" y="3017520"/>
            <a:ext cx="4572000" cy="1051560"/>
          </a:xfrm>
          <a:prstGeom prst="rect">
            <a:avLst/>
          </a:prstGeom>
          <a:noFill/>
          <a:ln/>
        </p:spPr>
        <p:txBody>
          <a:bodyPr wrap="square" lIns="0" tIns="0" rIns="0" bIns="0" rtlCol="0" anchor="ctr"/>
          <a:lstStyle/>
          <a:p>
            <a:pPr marL="0" indent="0">
              <a:buNone/>
            </a:pPr>
            <a:r>
              <a:rPr lang="en-US" sz="1250" dirty="0">
                <a:solidFill>
                  <a:srgbClr val="F59E0B"/>
                </a:solidFill>
                <a:latin typeface="DM Mono" pitchFamily="34" charset="0"/>
                <a:ea typeface="DM Mono" pitchFamily="34" charset="-122"/>
                <a:cs typeface="DM Mono" pitchFamily="34" charset="-120"/>
              </a:rPr>
              <a:t>[USER]</a:t>
            </a:r>
            <a:r>
              <a:rPr lang="en-US" sz="1250" dirty="0">
                <a:solidFill>
                  <a:srgbClr val="FFFFFF"/>
                </a:solidFill>
                <a:latin typeface="DM Mono" pitchFamily="34" charset="0"/>
                <a:ea typeface="DM Mono" pitchFamily="34" charset="-122"/>
                <a:cs typeface="DM Mono" pitchFamily="34" charset="-120"/>
              </a:rPr>
              <a:t> need to </a:t>
            </a:r>
            <a:r>
              <a:rPr lang="en-US" sz="1250" dirty="0">
                <a:solidFill>
                  <a:srgbClr val="F59E0B"/>
                </a:solidFill>
                <a:latin typeface="DM Mono" pitchFamily="34" charset="0"/>
                <a:ea typeface="DM Mono" pitchFamily="34" charset="-122"/>
                <a:cs typeface="DM Mono" pitchFamily="34" charset="-120"/>
              </a:rPr>
              <a:t>[GOAL]</a:t>
            </a:r>
            <a:r>
              <a:rPr lang="en-US" sz="1250" dirty="0">
                <a:solidFill>
                  <a:srgbClr val="FFFFFF"/>
                </a:solidFill>
                <a:latin typeface="DM Mono" pitchFamily="34" charset="0"/>
                <a:ea typeface="DM Mono" pitchFamily="34" charset="-122"/>
                <a:cs typeface="DM Mono" pitchFamily="34" charset="-120"/>
              </a:rPr>
              <a:t> because </a:t>
            </a:r>
            <a:r>
              <a:rPr lang="en-US" sz="1250" dirty="0">
                <a:solidFill>
                  <a:srgbClr val="F59E0B"/>
                </a:solidFill>
                <a:latin typeface="DM Mono" pitchFamily="34" charset="0"/>
                <a:ea typeface="DM Mono" pitchFamily="34" charset="-122"/>
                <a:cs typeface="DM Mono" pitchFamily="34" charset="-120"/>
              </a:rPr>
              <a:t>[INSIGHT]</a:t>
            </a:r>
            <a:endParaRPr lang="en-US" sz="1250" dirty="0"/>
          </a:p>
        </p:txBody>
      </p:sp>
      <p:sp>
        <p:nvSpPr>
          <p:cNvPr id="18" name="Text 16"/>
          <p:cNvSpPr/>
          <p:nvPr/>
        </p:nvSpPr>
        <p:spPr>
          <a:xfrm>
            <a:off x="6537960" y="4251960"/>
            <a:ext cx="4937760" cy="1600200"/>
          </a:xfrm>
          <a:prstGeom prst="rect">
            <a:avLst/>
          </a:prstGeom>
          <a:noFill/>
          <a:ln/>
        </p:spPr>
        <p:txBody>
          <a:bodyPr wrap="square" lIns="0" tIns="0" rIns="0" bIns="0" rtlCol="0" anchor="t"/>
          <a:lstStyle/>
          <a:p>
            <a:pPr marL="0" indent="0">
              <a:buNone/>
            </a:pPr>
            <a:r>
              <a:rPr lang="en-US" sz="1350" i="1" dirty="0">
                <a:solidFill>
                  <a:srgbClr val="0D1117"/>
                </a:solidFill>
                <a:latin typeface="Calibri" pitchFamily="34" charset="0"/>
                <a:ea typeface="Calibri" pitchFamily="34" charset="-122"/>
                <a:cs typeface="Calibri" pitchFamily="34" charset="-120"/>
              </a:rPr>
              <a:t>Quick self-test: finish "my idea lets [user] achieve [goal] by ___." Can you fill the blank concretely?</a:t>
            </a:r>
            <a:endParaRPr lang="en-US" sz="1350" dirty="0"/>
          </a:p>
        </p:txBody>
      </p:sp>
      <p:sp>
        <p:nvSpPr>
          <p:cNvPr id="19" name="Text 17"/>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20" name="Text 18"/>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4361EE"/>
          </a:solidFill>
          <a:ln w="12700">
            <a:solidFill>
              <a:srgbClr val="4361EE"/>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2331720" y="384048"/>
            <a:ext cx="5486400" cy="274320"/>
          </a:xfrm>
          <a:prstGeom prst="rect">
            <a:avLst/>
          </a:prstGeom>
          <a:noFill/>
          <a:ln/>
        </p:spPr>
        <p:txBody>
          <a:bodyPr wrap="square" lIns="0" tIns="0" rIns="0" bIns="0" rtlCol="0" anchor="ctr"/>
          <a:lstStyle/>
          <a:p>
            <a:pPr marL="0" indent="0">
              <a:buNone/>
            </a:pPr>
            <a:r>
              <a:rPr lang="en-US" sz="1200" dirty="0">
                <a:solidFill>
                  <a:srgbClr val="F59E0B"/>
                </a:solidFill>
                <a:latin typeface="DM Mono" pitchFamily="34" charset="0"/>
                <a:ea typeface="DM Mono" pitchFamily="34" charset="-122"/>
                <a:cs typeface="DM Mono" pitchFamily="34" charset="-120"/>
              </a:rPr>
              <a:t>Characteristics 3 &amp; 4</a:t>
            </a:r>
            <a:endParaRPr lang="en-US" sz="1200" dirty="0"/>
          </a:p>
        </p:txBody>
      </p:sp>
      <p:sp>
        <p:nvSpPr>
          <p:cNvPr id="5" name="Text 3"/>
          <p:cNvSpPr/>
          <p:nvPr/>
        </p:nvSpPr>
        <p:spPr>
          <a:xfrm>
            <a:off x="457200" y="868680"/>
            <a:ext cx="11247120" cy="548640"/>
          </a:xfrm>
          <a:prstGeom prst="rect">
            <a:avLst/>
          </a:prstGeom>
          <a:noFill/>
          <a:ln/>
        </p:spPr>
        <p:txBody>
          <a:bodyPr wrap="square" lIns="0" tIns="0" rIns="0" bIns="0" rtlCol="0" anchor="ctr"/>
          <a:lstStyle/>
          <a:p>
            <a:pPr marL="0" indent="0">
              <a:buNone/>
            </a:pPr>
            <a:r>
              <a:rPr lang="en-US" sz="2500" b="1" dirty="0">
                <a:solidFill>
                  <a:srgbClr val="0D1117"/>
                </a:solidFill>
                <a:latin typeface="Bookman Old Style" pitchFamily="34" charset="0"/>
                <a:ea typeface="Bookman Old Style" pitchFamily="34" charset="-122"/>
                <a:cs typeface="Bookman Old Style" pitchFamily="34" charset="-120"/>
              </a:rPr>
              <a:t>User-Centred &amp; Disruptive Potential</a:t>
            </a:r>
            <a:endParaRPr lang="en-US" sz="2500" dirty="0"/>
          </a:p>
        </p:txBody>
      </p:sp>
      <p:sp>
        <p:nvSpPr>
          <p:cNvPr id="6" name="Shape 4"/>
          <p:cNvSpPr/>
          <p:nvPr/>
        </p:nvSpPr>
        <p:spPr>
          <a:xfrm>
            <a:off x="457200" y="1554480"/>
            <a:ext cx="5394960" cy="4480560"/>
          </a:xfrm>
          <a:prstGeom prst="roundRect">
            <a:avLst>
              <a:gd name="adj" fmla="val 2041"/>
            </a:avLst>
          </a:prstGeom>
          <a:solidFill>
            <a:srgbClr val="FEF3E2"/>
          </a:solidFill>
          <a:ln w="12700">
            <a:solidFill>
              <a:srgbClr val="F59E0B"/>
            </a:solidFill>
            <a:prstDash val="solid"/>
          </a:ln>
        </p:spPr>
        <p:txBody>
          <a:bodyPr/>
          <a:lstStyle/>
          <a:p>
            <a:endParaRPr lang="en-AU"/>
          </a:p>
        </p:txBody>
      </p:sp>
      <p:sp>
        <p:nvSpPr>
          <p:cNvPr id="7" name="Text 5"/>
          <p:cNvSpPr/>
          <p:nvPr/>
        </p:nvSpPr>
        <p:spPr>
          <a:xfrm>
            <a:off x="685800" y="1737360"/>
            <a:ext cx="4937760" cy="365760"/>
          </a:xfrm>
          <a:prstGeom prst="rect">
            <a:avLst/>
          </a:prstGeom>
          <a:noFill/>
          <a:ln/>
        </p:spPr>
        <p:txBody>
          <a:bodyPr wrap="square" lIns="0" tIns="0" rIns="0" bIns="0" rtlCol="0" anchor="ctr"/>
          <a:lstStyle/>
          <a:p>
            <a:pPr marL="0" indent="0">
              <a:buNone/>
            </a:pPr>
            <a:r>
              <a:rPr lang="en-US" sz="1300" b="1" dirty="0">
                <a:solidFill>
                  <a:srgbClr val="F59E0B"/>
                </a:solidFill>
                <a:latin typeface="DM Mono" pitchFamily="34" charset="0"/>
                <a:ea typeface="DM Mono" pitchFamily="34" charset="-122"/>
                <a:cs typeface="DM Mono" pitchFamily="34" charset="-120"/>
              </a:rPr>
              <a:t>3 · USER-CENTRED</a:t>
            </a:r>
            <a:endParaRPr lang="en-US" sz="1300" dirty="0"/>
          </a:p>
        </p:txBody>
      </p:sp>
      <p:sp>
        <p:nvSpPr>
          <p:cNvPr id="8" name="Text 6"/>
          <p:cNvSpPr/>
          <p:nvPr/>
        </p:nvSpPr>
        <p:spPr>
          <a:xfrm>
            <a:off x="685800" y="2148840"/>
            <a:ext cx="4937760" cy="640080"/>
          </a:xfrm>
          <a:prstGeom prst="rect">
            <a:avLst/>
          </a:prstGeom>
          <a:noFill/>
          <a:ln/>
        </p:spPr>
        <p:txBody>
          <a:bodyPr wrap="square" lIns="0" tIns="0" rIns="0" bIns="0" rtlCol="0" anchor="ctr"/>
          <a:lstStyle/>
          <a:p>
            <a:pPr marL="0" indent="0">
              <a:buNone/>
            </a:pPr>
            <a:r>
              <a:rPr lang="en-US" sz="1400" b="1" dirty="0">
                <a:solidFill>
                  <a:srgbClr val="0D1117"/>
                </a:solidFill>
                <a:latin typeface="Calibri" pitchFamily="34" charset="0"/>
                <a:ea typeface="Calibri" pitchFamily="34" charset="-122"/>
                <a:cs typeface="Calibri" pitchFamily="34" charset="-120"/>
              </a:rPr>
              <a:t>Built around evidence about your user — or around what your group assumed?</a:t>
            </a:r>
            <a:endParaRPr lang="en-US" sz="1400" dirty="0"/>
          </a:p>
        </p:txBody>
      </p:sp>
      <p:sp>
        <p:nvSpPr>
          <p:cNvPr id="9" name="Shape 7"/>
          <p:cNvSpPr/>
          <p:nvPr/>
        </p:nvSpPr>
        <p:spPr>
          <a:xfrm>
            <a:off x="685800" y="2926080"/>
            <a:ext cx="4937760" cy="960120"/>
          </a:xfrm>
          <a:prstGeom prst="roundRect">
            <a:avLst>
              <a:gd name="adj" fmla="val 5714"/>
            </a:avLst>
          </a:prstGeom>
          <a:solidFill>
            <a:srgbClr val="FDEBEB"/>
          </a:solidFill>
          <a:ln w="12700">
            <a:solidFill>
              <a:srgbClr val="EF4444"/>
            </a:solidFill>
            <a:prstDash val="solid"/>
          </a:ln>
        </p:spPr>
        <p:txBody>
          <a:bodyPr/>
          <a:lstStyle/>
          <a:p>
            <a:endParaRPr lang="en-AU"/>
          </a:p>
        </p:txBody>
      </p:sp>
      <p:sp>
        <p:nvSpPr>
          <p:cNvPr id="10" name="Text 8"/>
          <p:cNvSpPr/>
          <p:nvPr/>
        </p:nvSpPr>
        <p:spPr>
          <a:xfrm>
            <a:off x="868680" y="2926080"/>
            <a:ext cx="4572000" cy="960120"/>
          </a:xfrm>
          <a:prstGeom prst="rect">
            <a:avLst/>
          </a:prstGeom>
          <a:noFill/>
          <a:ln/>
        </p:spPr>
        <p:txBody>
          <a:bodyPr wrap="square" lIns="0" tIns="0" rIns="0" bIns="0" rtlCol="0" anchor="ctr"/>
          <a:lstStyle/>
          <a:p>
            <a:pPr marL="0" indent="0">
              <a:buNone/>
            </a:pPr>
            <a:r>
              <a:rPr lang="en-US" sz="1300" i="1" dirty="0">
                <a:solidFill>
                  <a:srgbClr val="0D1117"/>
                </a:solidFill>
                <a:latin typeface="Calibri" pitchFamily="34" charset="0"/>
                <a:ea typeface="Calibri" pitchFamily="34" charset="-122"/>
                <a:cs typeface="Calibri" pitchFamily="34" charset="-120"/>
              </a:rPr>
              <a:t>"We think students would like reminders."</a:t>
            </a:r>
            <a:endParaRPr lang="en-US" sz="1300" dirty="0"/>
          </a:p>
        </p:txBody>
      </p:sp>
      <p:sp>
        <p:nvSpPr>
          <p:cNvPr id="11" name="Shape 9"/>
          <p:cNvSpPr/>
          <p:nvPr/>
        </p:nvSpPr>
        <p:spPr>
          <a:xfrm>
            <a:off x="685800" y="4023360"/>
            <a:ext cx="4937760" cy="1828800"/>
          </a:xfrm>
          <a:prstGeom prst="roundRect">
            <a:avLst>
              <a:gd name="adj" fmla="val 3000"/>
            </a:avLst>
          </a:prstGeom>
          <a:solidFill>
            <a:srgbClr val="E6F9F2"/>
          </a:solidFill>
          <a:ln w="12700">
            <a:solidFill>
              <a:srgbClr val="10B981"/>
            </a:solidFill>
            <a:prstDash val="solid"/>
          </a:ln>
        </p:spPr>
        <p:txBody>
          <a:bodyPr/>
          <a:lstStyle/>
          <a:p>
            <a:endParaRPr lang="en-AU"/>
          </a:p>
        </p:txBody>
      </p:sp>
      <p:sp>
        <p:nvSpPr>
          <p:cNvPr id="12" name="Text 10"/>
          <p:cNvSpPr/>
          <p:nvPr/>
        </p:nvSpPr>
        <p:spPr>
          <a:xfrm>
            <a:off x="868680" y="4023360"/>
            <a:ext cx="4572000" cy="1828800"/>
          </a:xfrm>
          <a:prstGeom prst="rect">
            <a:avLst/>
          </a:prstGeom>
          <a:noFill/>
          <a:ln/>
        </p:spPr>
        <p:txBody>
          <a:bodyPr wrap="square" lIns="0" tIns="0" rIns="0" bIns="0" rtlCol="0" anchor="ctr"/>
          <a:lstStyle/>
          <a:p>
            <a:pPr marL="0" indent="0">
              <a:buNone/>
            </a:pPr>
            <a:r>
              <a:rPr lang="en-US" sz="1250" i="1" dirty="0">
                <a:solidFill>
                  <a:srgbClr val="0D1117"/>
                </a:solidFill>
                <a:latin typeface="Calibri" pitchFamily="34" charset="0"/>
                <a:ea typeface="Calibri" pitchFamily="34" charset="-122"/>
                <a:cs typeface="Calibri" pitchFamily="34" charset="-120"/>
              </a:rPr>
              <a:t>"3 of 5 interviewees forget because they pack the night before — reminder must trigger in the morning."</a:t>
            </a:r>
            <a:endParaRPr lang="en-US" sz="1250" dirty="0"/>
          </a:p>
        </p:txBody>
      </p:sp>
      <p:sp>
        <p:nvSpPr>
          <p:cNvPr id="13" name="Shape 11"/>
          <p:cNvSpPr/>
          <p:nvPr/>
        </p:nvSpPr>
        <p:spPr>
          <a:xfrm>
            <a:off x="6309360" y="1554480"/>
            <a:ext cx="5394960" cy="4480560"/>
          </a:xfrm>
          <a:prstGeom prst="roundRect">
            <a:avLst>
              <a:gd name="adj" fmla="val 2041"/>
            </a:avLst>
          </a:prstGeom>
          <a:solidFill>
            <a:srgbClr val="F1ECFE"/>
          </a:solidFill>
          <a:ln w="12700">
            <a:solidFill>
              <a:srgbClr val="8B5CF6"/>
            </a:solidFill>
            <a:prstDash val="solid"/>
          </a:ln>
        </p:spPr>
        <p:txBody>
          <a:bodyPr/>
          <a:lstStyle/>
          <a:p>
            <a:endParaRPr lang="en-AU"/>
          </a:p>
        </p:txBody>
      </p:sp>
      <p:sp>
        <p:nvSpPr>
          <p:cNvPr id="14" name="Text 12"/>
          <p:cNvSpPr/>
          <p:nvPr/>
        </p:nvSpPr>
        <p:spPr>
          <a:xfrm>
            <a:off x="6537960" y="1737360"/>
            <a:ext cx="4937760" cy="365760"/>
          </a:xfrm>
          <a:prstGeom prst="rect">
            <a:avLst/>
          </a:prstGeom>
          <a:noFill/>
          <a:ln/>
        </p:spPr>
        <p:txBody>
          <a:bodyPr wrap="square" lIns="0" tIns="0" rIns="0" bIns="0" rtlCol="0" anchor="ctr"/>
          <a:lstStyle/>
          <a:p>
            <a:pPr marL="0" indent="0">
              <a:buNone/>
            </a:pPr>
            <a:r>
              <a:rPr lang="en-US" sz="1300" b="1" dirty="0">
                <a:solidFill>
                  <a:srgbClr val="8B5CF6"/>
                </a:solidFill>
                <a:latin typeface="DM Mono" pitchFamily="34" charset="0"/>
                <a:ea typeface="DM Mono" pitchFamily="34" charset="-122"/>
                <a:cs typeface="DM Mono" pitchFamily="34" charset="-120"/>
              </a:rPr>
              <a:t>4 · DISRUPTIVE POTENTIAL</a:t>
            </a:r>
            <a:endParaRPr lang="en-US" sz="1300" dirty="0"/>
          </a:p>
        </p:txBody>
      </p:sp>
      <p:sp>
        <p:nvSpPr>
          <p:cNvPr id="15" name="Text 13"/>
          <p:cNvSpPr/>
          <p:nvPr/>
        </p:nvSpPr>
        <p:spPr>
          <a:xfrm>
            <a:off x="6537960" y="2148840"/>
            <a:ext cx="4937760" cy="640080"/>
          </a:xfrm>
          <a:prstGeom prst="rect">
            <a:avLst/>
          </a:prstGeom>
          <a:noFill/>
          <a:ln/>
        </p:spPr>
        <p:txBody>
          <a:bodyPr wrap="square" lIns="0" tIns="0" rIns="0" bIns="0" rtlCol="0" anchor="ctr"/>
          <a:lstStyle/>
          <a:p>
            <a:pPr marL="0" indent="0">
              <a:buNone/>
            </a:pPr>
            <a:r>
              <a:rPr lang="en-US" sz="1400" b="1" dirty="0">
                <a:solidFill>
                  <a:srgbClr val="0D1117"/>
                </a:solidFill>
                <a:latin typeface="Calibri" pitchFamily="34" charset="0"/>
                <a:ea typeface="Calibri" pitchFamily="34" charset="-122"/>
                <a:cs typeface="Calibri" pitchFamily="34" charset="-120"/>
              </a:rPr>
              <a:t>Does it change the underlying routine, or just add something on top?</a:t>
            </a:r>
            <a:endParaRPr lang="en-US" sz="1400" dirty="0"/>
          </a:p>
        </p:txBody>
      </p:sp>
      <p:sp>
        <p:nvSpPr>
          <p:cNvPr id="16" name="Shape 14"/>
          <p:cNvSpPr/>
          <p:nvPr/>
        </p:nvSpPr>
        <p:spPr>
          <a:xfrm>
            <a:off x="6537960" y="2926080"/>
            <a:ext cx="4937760" cy="1371600"/>
          </a:xfrm>
          <a:prstGeom prst="roundRect">
            <a:avLst>
              <a:gd name="adj" fmla="val 4000"/>
            </a:avLst>
          </a:prstGeom>
          <a:solidFill>
            <a:srgbClr val="FFFFFF"/>
          </a:solidFill>
          <a:ln w="12700">
            <a:solidFill>
              <a:srgbClr val="D0D7DE"/>
            </a:solidFill>
            <a:prstDash val="solid"/>
          </a:ln>
        </p:spPr>
        <p:txBody>
          <a:bodyPr/>
          <a:lstStyle/>
          <a:p>
            <a:endParaRPr lang="en-AU"/>
          </a:p>
        </p:txBody>
      </p:sp>
      <p:sp>
        <p:nvSpPr>
          <p:cNvPr id="17" name="Text 15"/>
          <p:cNvSpPr/>
          <p:nvPr/>
        </p:nvSpPr>
        <p:spPr>
          <a:xfrm>
            <a:off x="6720840" y="2926080"/>
            <a:ext cx="4572000" cy="1371600"/>
          </a:xfrm>
          <a:prstGeom prst="rect">
            <a:avLst/>
          </a:prstGeom>
          <a:noFill/>
          <a:ln/>
        </p:spPr>
        <p:txBody>
          <a:bodyPr wrap="square" lIns="0" tIns="0" rIns="0" bIns="0" rtlCol="0" anchor="ctr"/>
          <a:lstStyle/>
          <a:p>
            <a:pPr marL="0" indent="0">
              <a:buNone/>
            </a:pPr>
            <a:r>
              <a:rPr lang="en-US" sz="1250" dirty="0">
                <a:solidFill>
                  <a:srgbClr val="0D1117"/>
                </a:solidFill>
                <a:latin typeface="Calibri" pitchFamily="34" charset="0"/>
                <a:ea typeface="Calibri" pitchFamily="34" charset="-122"/>
                <a:cs typeface="Calibri" pitchFamily="34" charset="-120"/>
              </a:rPr>
              <a:t>LOW: Digitises an existing paper process exactly as-is.</a:t>
            </a:r>
            <a:endParaRPr lang="en-US" sz="1250" dirty="0"/>
          </a:p>
        </p:txBody>
      </p:sp>
      <p:sp>
        <p:nvSpPr>
          <p:cNvPr id="18" name="Shape 16"/>
          <p:cNvSpPr/>
          <p:nvPr/>
        </p:nvSpPr>
        <p:spPr>
          <a:xfrm>
            <a:off x="6537960" y="4434840"/>
            <a:ext cx="4937760" cy="1417320"/>
          </a:xfrm>
          <a:prstGeom prst="roundRect">
            <a:avLst>
              <a:gd name="adj" fmla="val 3871"/>
            </a:avLst>
          </a:prstGeom>
          <a:solidFill>
            <a:srgbClr val="8B5CF6"/>
          </a:solidFill>
          <a:ln w="12700">
            <a:solidFill>
              <a:srgbClr val="333333"/>
            </a:solidFill>
            <a:prstDash val="solid"/>
          </a:ln>
        </p:spPr>
        <p:txBody>
          <a:bodyPr/>
          <a:lstStyle/>
          <a:p>
            <a:endParaRPr lang="en-AU"/>
          </a:p>
        </p:txBody>
      </p:sp>
      <p:sp>
        <p:nvSpPr>
          <p:cNvPr id="19" name="Text 17"/>
          <p:cNvSpPr/>
          <p:nvPr/>
        </p:nvSpPr>
        <p:spPr>
          <a:xfrm>
            <a:off x="6720840" y="4434840"/>
            <a:ext cx="4572000" cy="1417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HIGHER: Removes the need to remember at all, by shifting the check to a point you can’t skip.</a:t>
            </a:r>
            <a:endParaRPr lang="en-US" sz="1250" dirty="0"/>
          </a:p>
        </p:txBody>
      </p:sp>
      <p:sp>
        <p:nvSpPr>
          <p:cNvPr id="20" name="Text 18"/>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21" name="Text 19"/>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4361EE"/>
          </a:solidFill>
          <a:ln w="12700">
            <a:solidFill>
              <a:srgbClr val="4361EE"/>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2331720" y="384048"/>
            <a:ext cx="5486400" cy="274320"/>
          </a:xfrm>
          <a:prstGeom prst="rect">
            <a:avLst/>
          </a:prstGeom>
          <a:noFill/>
          <a:ln/>
        </p:spPr>
        <p:txBody>
          <a:bodyPr wrap="square" lIns="0" tIns="0" rIns="0" bIns="0" rtlCol="0" anchor="ctr"/>
          <a:lstStyle/>
          <a:p>
            <a:pPr marL="0" indent="0">
              <a:buNone/>
            </a:pPr>
            <a:r>
              <a:rPr lang="en-US" sz="1200" dirty="0">
                <a:solidFill>
                  <a:srgbClr val="8B949E"/>
                </a:solidFill>
                <a:latin typeface="DM Mono" pitchFamily="34" charset="0"/>
                <a:ea typeface="DM Mono" pitchFamily="34" charset="-122"/>
                <a:cs typeface="DM Mono" pitchFamily="34" charset="-120"/>
              </a:rPr>
              <a:t>Recap</a:t>
            </a:r>
            <a:endParaRPr lang="en-US" sz="1200" dirty="0"/>
          </a:p>
        </p:txBody>
      </p:sp>
      <p:sp>
        <p:nvSpPr>
          <p:cNvPr id="5" name="Text 3"/>
          <p:cNvSpPr/>
          <p:nvPr/>
        </p:nvSpPr>
        <p:spPr>
          <a:xfrm>
            <a:off x="457200" y="868680"/>
            <a:ext cx="11247120" cy="548640"/>
          </a:xfrm>
          <a:prstGeom prst="rect">
            <a:avLst/>
          </a:prstGeom>
          <a:noFill/>
          <a:ln/>
        </p:spPr>
        <p:txBody>
          <a:bodyPr wrap="square" lIns="0" tIns="0" rIns="0" bIns="0" rtlCol="0" anchor="ctr"/>
          <a:lstStyle/>
          <a:p>
            <a:pPr marL="0" indent="0">
              <a:buNone/>
            </a:pPr>
            <a:r>
              <a:rPr lang="en-US" sz="2800" b="1" dirty="0">
                <a:solidFill>
                  <a:srgbClr val="0D1117"/>
                </a:solidFill>
                <a:latin typeface="Bookman Old Style" pitchFamily="34" charset="0"/>
                <a:ea typeface="Bookman Old Style" pitchFamily="34" charset="-122"/>
                <a:cs typeface="Bookman Old Style" pitchFamily="34" charset="-120"/>
              </a:rPr>
              <a:t>The Four-Characteristic Lens</a:t>
            </a:r>
            <a:endParaRPr lang="en-US" sz="2800" dirty="0"/>
          </a:p>
        </p:txBody>
      </p:sp>
      <p:sp>
        <p:nvSpPr>
          <p:cNvPr id="6" name="Shape 4"/>
          <p:cNvSpPr/>
          <p:nvPr/>
        </p:nvSpPr>
        <p:spPr>
          <a:xfrm>
            <a:off x="457200" y="1600200"/>
            <a:ext cx="11247120" cy="914400"/>
          </a:xfrm>
          <a:prstGeom prst="roundRect">
            <a:avLst>
              <a:gd name="adj" fmla="val 8000"/>
            </a:avLst>
          </a:prstGeom>
          <a:solidFill>
            <a:srgbClr val="EAEEFC"/>
          </a:solidFill>
          <a:ln w="12700">
            <a:solidFill>
              <a:srgbClr val="4361EE"/>
            </a:solidFill>
            <a:prstDash val="solid"/>
          </a:ln>
        </p:spPr>
        <p:txBody>
          <a:bodyPr/>
          <a:lstStyle/>
          <a:p>
            <a:endParaRPr lang="en-AU"/>
          </a:p>
        </p:txBody>
      </p:sp>
      <p:sp>
        <p:nvSpPr>
          <p:cNvPr id="7" name="Shape 5"/>
          <p:cNvSpPr/>
          <p:nvPr/>
        </p:nvSpPr>
        <p:spPr>
          <a:xfrm>
            <a:off x="685800" y="1783080"/>
            <a:ext cx="548640" cy="548640"/>
          </a:xfrm>
          <a:prstGeom prst="ellipse">
            <a:avLst/>
          </a:prstGeom>
          <a:solidFill>
            <a:srgbClr val="4361EE"/>
          </a:solidFill>
          <a:ln w="12700">
            <a:solidFill>
              <a:srgbClr val="333333"/>
            </a:solidFill>
            <a:prstDash val="solid"/>
          </a:ln>
        </p:spPr>
        <p:txBody>
          <a:bodyPr/>
          <a:lstStyle/>
          <a:p>
            <a:endParaRPr lang="en-AU"/>
          </a:p>
        </p:txBody>
      </p:sp>
      <p:sp>
        <p:nvSpPr>
          <p:cNvPr id="8" name="Text 6"/>
          <p:cNvSpPr/>
          <p:nvPr/>
        </p:nvSpPr>
        <p:spPr>
          <a:xfrm>
            <a:off x="685800" y="17830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417320" y="1673352"/>
            <a:ext cx="2743200" cy="777240"/>
          </a:xfrm>
          <a:prstGeom prst="rect">
            <a:avLst/>
          </a:prstGeom>
          <a:noFill/>
          <a:ln/>
        </p:spPr>
        <p:txBody>
          <a:bodyPr wrap="square" lIns="0" tIns="0" rIns="0" bIns="0" rtlCol="0" anchor="ctr"/>
          <a:lstStyle/>
          <a:p>
            <a:pPr marL="0" indent="0">
              <a:buNone/>
            </a:pPr>
            <a:r>
              <a:rPr lang="en-US" sz="1600" b="1" dirty="0">
                <a:solidFill>
                  <a:srgbClr val="4361EE"/>
                </a:solidFill>
                <a:latin typeface="Calibri" pitchFamily="34" charset="0"/>
                <a:ea typeface="Calibri" pitchFamily="34" charset="-122"/>
                <a:cs typeface="Calibri" pitchFamily="34" charset="-120"/>
              </a:rPr>
              <a:t>Originality</a:t>
            </a:r>
            <a:endParaRPr lang="en-US" sz="1600" dirty="0"/>
          </a:p>
        </p:txBody>
      </p:sp>
      <p:sp>
        <p:nvSpPr>
          <p:cNvPr id="10" name="Text 8"/>
          <p:cNvSpPr/>
          <p:nvPr/>
        </p:nvSpPr>
        <p:spPr>
          <a:xfrm>
            <a:off x="4297680" y="1673352"/>
            <a:ext cx="7223760" cy="777240"/>
          </a:xfrm>
          <a:prstGeom prst="rect">
            <a:avLst/>
          </a:prstGeom>
          <a:noFill/>
          <a:ln/>
        </p:spPr>
        <p:txBody>
          <a:bodyPr wrap="square" lIns="0" tIns="0" rIns="0" bIns="0" rtlCol="0" anchor="ctr"/>
          <a:lstStyle/>
          <a:p>
            <a:pPr marL="0" indent="0">
              <a:buNone/>
            </a:pPr>
            <a:r>
              <a:rPr lang="en-US" sz="1450" dirty="0">
                <a:solidFill>
                  <a:srgbClr val="0D1117"/>
                </a:solidFill>
                <a:latin typeface="Calibri" pitchFamily="34" charset="0"/>
                <a:ea typeface="Calibri" pitchFamily="34" charset="-122"/>
                <a:cs typeface="Calibri" pitchFamily="34" charset="-120"/>
              </a:rPr>
              <a:t>Has someone already solved this exact problem, for this exact user, this way?</a:t>
            </a:r>
            <a:endParaRPr lang="en-US" sz="1450" dirty="0"/>
          </a:p>
        </p:txBody>
      </p:sp>
      <p:sp>
        <p:nvSpPr>
          <p:cNvPr id="11" name="Shape 9"/>
          <p:cNvSpPr/>
          <p:nvPr/>
        </p:nvSpPr>
        <p:spPr>
          <a:xfrm>
            <a:off x="457200" y="2651760"/>
            <a:ext cx="11247120" cy="914400"/>
          </a:xfrm>
          <a:prstGeom prst="roundRect">
            <a:avLst>
              <a:gd name="adj" fmla="val 8000"/>
            </a:avLst>
          </a:prstGeom>
          <a:solidFill>
            <a:srgbClr val="E6F9F2"/>
          </a:solidFill>
          <a:ln w="12700">
            <a:solidFill>
              <a:srgbClr val="10B981"/>
            </a:solidFill>
            <a:prstDash val="solid"/>
          </a:ln>
        </p:spPr>
        <p:txBody>
          <a:bodyPr/>
          <a:lstStyle/>
          <a:p>
            <a:endParaRPr lang="en-AU"/>
          </a:p>
        </p:txBody>
      </p:sp>
      <p:sp>
        <p:nvSpPr>
          <p:cNvPr id="12" name="Shape 10"/>
          <p:cNvSpPr/>
          <p:nvPr/>
        </p:nvSpPr>
        <p:spPr>
          <a:xfrm>
            <a:off x="685800" y="2834640"/>
            <a:ext cx="548640" cy="548640"/>
          </a:xfrm>
          <a:prstGeom prst="ellipse">
            <a:avLst/>
          </a:prstGeom>
          <a:solidFill>
            <a:srgbClr val="10B981"/>
          </a:solidFill>
          <a:ln w="12700">
            <a:solidFill>
              <a:srgbClr val="333333"/>
            </a:solidFill>
            <a:prstDash val="solid"/>
          </a:ln>
        </p:spPr>
        <p:txBody>
          <a:bodyPr/>
          <a:lstStyle/>
          <a:p>
            <a:endParaRPr lang="en-AU"/>
          </a:p>
        </p:txBody>
      </p:sp>
      <p:sp>
        <p:nvSpPr>
          <p:cNvPr id="13" name="Text 11"/>
          <p:cNvSpPr/>
          <p:nvPr/>
        </p:nvSpPr>
        <p:spPr>
          <a:xfrm>
            <a:off x="685800" y="2834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417320" y="2724912"/>
            <a:ext cx="2743200" cy="777240"/>
          </a:xfrm>
          <a:prstGeom prst="rect">
            <a:avLst/>
          </a:prstGeom>
          <a:noFill/>
          <a:ln/>
        </p:spPr>
        <p:txBody>
          <a:bodyPr wrap="square" lIns="0" tIns="0" rIns="0" bIns="0" rtlCol="0" anchor="ctr"/>
          <a:lstStyle/>
          <a:p>
            <a:pPr marL="0" indent="0">
              <a:buNone/>
            </a:pPr>
            <a:r>
              <a:rPr lang="en-US" sz="1600" b="1" dirty="0">
                <a:solidFill>
                  <a:srgbClr val="10B981"/>
                </a:solidFill>
                <a:latin typeface="Calibri" pitchFamily="34" charset="0"/>
                <a:ea typeface="Calibri" pitchFamily="34" charset="-122"/>
                <a:cs typeface="Calibri" pitchFamily="34" charset="-120"/>
              </a:rPr>
              <a:t>Effectiveness</a:t>
            </a:r>
            <a:endParaRPr lang="en-US" sz="1600" dirty="0"/>
          </a:p>
        </p:txBody>
      </p:sp>
      <p:sp>
        <p:nvSpPr>
          <p:cNvPr id="15" name="Text 13"/>
          <p:cNvSpPr/>
          <p:nvPr/>
        </p:nvSpPr>
        <p:spPr>
          <a:xfrm>
            <a:off x="4297680" y="2724912"/>
            <a:ext cx="7223760" cy="777240"/>
          </a:xfrm>
          <a:prstGeom prst="rect">
            <a:avLst/>
          </a:prstGeom>
          <a:noFill/>
          <a:ln/>
        </p:spPr>
        <p:txBody>
          <a:bodyPr wrap="square" lIns="0" tIns="0" rIns="0" bIns="0" rtlCol="0" anchor="ctr"/>
          <a:lstStyle/>
          <a:p>
            <a:pPr marL="0" indent="0">
              <a:buNone/>
            </a:pPr>
            <a:r>
              <a:rPr lang="en-US" sz="1450" dirty="0">
                <a:solidFill>
                  <a:srgbClr val="0D1117"/>
                </a:solidFill>
                <a:latin typeface="Calibri" pitchFamily="34" charset="0"/>
                <a:ea typeface="Calibri" pitchFamily="34" charset="-122"/>
                <a:cs typeface="Calibri" pitchFamily="34" charset="-120"/>
              </a:rPr>
              <a:t>Can you complete "my idea lets [user] achieve [goal] by ___" concretely?</a:t>
            </a:r>
            <a:endParaRPr lang="en-US" sz="1450" dirty="0"/>
          </a:p>
        </p:txBody>
      </p:sp>
      <p:sp>
        <p:nvSpPr>
          <p:cNvPr id="16" name="Shape 14"/>
          <p:cNvSpPr/>
          <p:nvPr/>
        </p:nvSpPr>
        <p:spPr>
          <a:xfrm>
            <a:off x="457200" y="3703320"/>
            <a:ext cx="11247120" cy="914400"/>
          </a:xfrm>
          <a:prstGeom prst="roundRect">
            <a:avLst>
              <a:gd name="adj" fmla="val 8000"/>
            </a:avLst>
          </a:prstGeom>
          <a:solidFill>
            <a:srgbClr val="FEF3E2"/>
          </a:solidFill>
          <a:ln w="12700">
            <a:solidFill>
              <a:srgbClr val="F59E0B"/>
            </a:solidFill>
            <a:prstDash val="solid"/>
          </a:ln>
        </p:spPr>
        <p:txBody>
          <a:bodyPr/>
          <a:lstStyle/>
          <a:p>
            <a:endParaRPr lang="en-AU"/>
          </a:p>
        </p:txBody>
      </p:sp>
      <p:sp>
        <p:nvSpPr>
          <p:cNvPr id="17" name="Shape 15"/>
          <p:cNvSpPr/>
          <p:nvPr/>
        </p:nvSpPr>
        <p:spPr>
          <a:xfrm>
            <a:off x="685800" y="3886200"/>
            <a:ext cx="548640" cy="548640"/>
          </a:xfrm>
          <a:prstGeom prst="ellipse">
            <a:avLst/>
          </a:prstGeom>
          <a:solidFill>
            <a:srgbClr val="F59E0B"/>
          </a:solidFill>
          <a:ln w="12700">
            <a:solidFill>
              <a:srgbClr val="333333"/>
            </a:solidFill>
            <a:prstDash val="solid"/>
          </a:ln>
        </p:spPr>
        <p:txBody>
          <a:bodyPr/>
          <a:lstStyle/>
          <a:p>
            <a:endParaRPr lang="en-AU"/>
          </a:p>
        </p:txBody>
      </p:sp>
      <p:sp>
        <p:nvSpPr>
          <p:cNvPr id="18" name="Text 16"/>
          <p:cNvSpPr/>
          <p:nvPr/>
        </p:nvSpPr>
        <p:spPr>
          <a:xfrm>
            <a:off x="685800" y="3886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1417320" y="3776472"/>
            <a:ext cx="2743200" cy="77724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User-centred</a:t>
            </a:r>
            <a:endParaRPr lang="en-US" sz="1600" dirty="0"/>
          </a:p>
        </p:txBody>
      </p:sp>
      <p:sp>
        <p:nvSpPr>
          <p:cNvPr id="20" name="Text 18"/>
          <p:cNvSpPr/>
          <p:nvPr/>
        </p:nvSpPr>
        <p:spPr>
          <a:xfrm>
            <a:off x="4297680" y="3776472"/>
            <a:ext cx="7223760" cy="777240"/>
          </a:xfrm>
          <a:prstGeom prst="rect">
            <a:avLst/>
          </a:prstGeom>
          <a:noFill/>
          <a:ln/>
        </p:spPr>
        <p:txBody>
          <a:bodyPr wrap="square" lIns="0" tIns="0" rIns="0" bIns="0" rtlCol="0" anchor="ctr"/>
          <a:lstStyle/>
          <a:p>
            <a:pPr marL="0" indent="0">
              <a:buNone/>
            </a:pPr>
            <a:r>
              <a:rPr lang="en-US" sz="1450" dirty="0">
                <a:solidFill>
                  <a:srgbClr val="0D1117"/>
                </a:solidFill>
                <a:latin typeface="Calibri" pitchFamily="34" charset="0"/>
                <a:ea typeface="Calibri" pitchFamily="34" charset="-122"/>
                <a:cs typeface="Calibri" pitchFamily="34" charset="-120"/>
              </a:rPr>
              <a:t>Can you point to specific evidence — not an assumption — behind this decision?</a:t>
            </a:r>
            <a:endParaRPr lang="en-US" sz="1450" dirty="0"/>
          </a:p>
        </p:txBody>
      </p:sp>
      <p:sp>
        <p:nvSpPr>
          <p:cNvPr id="21" name="Shape 19"/>
          <p:cNvSpPr/>
          <p:nvPr/>
        </p:nvSpPr>
        <p:spPr>
          <a:xfrm>
            <a:off x="457200" y="4754880"/>
            <a:ext cx="11247120" cy="914400"/>
          </a:xfrm>
          <a:prstGeom prst="roundRect">
            <a:avLst>
              <a:gd name="adj" fmla="val 8000"/>
            </a:avLst>
          </a:prstGeom>
          <a:solidFill>
            <a:srgbClr val="F1ECFE"/>
          </a:solidFill>
          <a:ln w="12700">
            <a:solidFill>
              <a:srgbClr val="8B5CF6"/>
            </a:solidFill>
            <a:prstDash val="solid"/>
          </a:ln>
        </p:spPr>
        <p:txBody>
          <a:bodyPr/>
          <a:lstStyle/>
          <a:p>
            <a:endParaRPr lang="en-AU"/>
          </a:p>
        </p:txBody>
      </p:sp>
      <p:sp>
        <p:nvSpPr>
          <p:cNvPr id="22" name="Shape 20"/>
          <p:cNvSpPr/>
          <p:nvPr/>
        </p:nvSpPr>
        <p:spPr>
          <a:xfrm>
            <a:off x="685800" y="4937760"/>
            <a:ext cx="548640" cy="548640"/>
          </a:xfrm>
          <a:prstGeom prst="ellipse">
            <a:avLst/>
          </a:prstGeom>
          <a:solidFill>
            <a:srgbClr val="8B5CF6"/>
          </a:solidFill>
          <a:ln w="12700">
            <a:solidFill>
              <a:srgbClr val="333333"/>
            </a:solidFill>
            <a:prstDash val="solid"/>
          </a:ln>
        </p:spPr>
        <p:txBody>
          <a:bodyPr/>
          <a:lstStyle/>
          <a:p>
            <a:endParaRPr lang="en-AU"/>
          </a:p>
        </p:txBody>
      </p:sp>
      <p:sp>
        <p:nvSpPr>
          <p:cNvPr id="23" name="Text 21"/>
          <p:cNvSpPr/>
          <p:nvPr/>
        </p:nvSpPr>
        <p:spPr>
          <a:xfrm>
            <a:off x="685800" y="4937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4" name="Text 22"/>
          <p:cNvSpPr/>
          <p:nvPr/>
        </p:nvSpPr>
        <p:spPr>
          <a:xfrm>
            <a:off x="1417320" y="4828032"/>
            <a:ext cx="2743200" cy="777240"/>
          </a:xfrm>
          <a:prstGeom prst="rect">
            <a:avLst/>
          </a:prstGeom>
          <a:noFill/>
          <a:ln/>
        </p:spPr>
        <p:txBody>
          <a:bodyPr wrap="square" lIns="0" tIns="0" rIns="0" bIns="0" rtlCol="0" anchor="ctr"/>
          <a:lstStyle/>
          <a:p>
            <a:pPr marL="0" indent="0">
              <a:buNone/>
            </a:pPr>
            <a:r>
              <a:rPr lang="en-US" sz="1600" b="1" dirty="0">
                <a:solidFill>
                  <a:srgbClr val="8B5CF6"/>
                </a:solidFill>
                <a:latin typeface="Calibri" pitchFamily="34" charset="0"/>
                <a:ea typeface="Calibri" pitchFamily="34" charset="-122"/>
                <a:cs typeface="Calibri" pitchFamily="34" charset="-120"/>
              </a:rPr>
              <a:t>Disruptive potential</a:t>
            </a:r>
            <a:endParaRPr lang="en-US" sz="1600" dirty="0"/>
          </a:p>
        </p:txBody>
      </p:sp>
      <p:sp>
        <p:nvSpPr>
          <p:cNvPr id="25" name="Text 23"/>
          <p:cNvSpPr/>
          <p:nvPr/>
        </p:nvSpPr>
        <p:spPr>
          <a:xfrm>
            <a:off x="4297680" y="4828032"/>
            <a:ext cx="7223760" cy="777240"/>
          </a:xfrm>
          <a:prstGeom prst="rect">
            <a:avLst/>
          </a:prstGeom>
          <a:noFill/>
          <a:ln/>
        </p:spPr>
        <p:txBody>
          <a:bodyPr wrap="square" lIns="0" tIns="0" rIns="0" bIns="0" rtlCol="0" anchor="ctr"/>
          <a:lstStyle/>
          <a:p>
            <a:pPr marL="0" indent="0">
              <a:buNone/>
            </a:pPr>
            <a:r>
              <a:rPr lang="en-US" sz="1450" dirty="0">
                <a:solidFill>
                  <a:srgbClr val="0D1117"/>
                </a:solidFill>
                <a:latin typeface="Calibri" pitchFamily="34" charset="0"/>
                <a:ea typeface="Calibri" pitchFamily="34" charset="-122"/>
                <a:cs typeface="Calibri" pitchFamily="34" charset="-120"/>
              </a:rPr>
              <a:t>Does this change the underlying routine, or just add something on top of it?</a:t>
            </a:r>
            <a:endParaRPr lang="en-US" sz="1450" dirty="0"/>
          </a:p>
        </p:txBody>
      </p:sp>
      <p:sp>
        <p:nvSpPr>
          <p:cNvPr id="26" name="Text 24"/>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27" name="Text 25"/>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8B5CF6"/>
          </a:solidFill>
          <a:ln w="12700">
            <a:solidFill>
              <a:srgbClr val="8B5CF6"/>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2331720" y="384048"/>
            <a:ext cx="5486400" cy="274320"/>
          </a:xfrm>
          <a:prstGeom prst="rect">
            <a:avLst/>
          </a:prstGeom>
          <a:noFill/>
          <a:ln/>
        </p:spPr>
        <p:txBody>
          <a:bodyPr wrap="square" lIns="0" tIns="0" rIns="0" bIns="0" rtlCol="0" anchor="ctr"/>
          <a:lstStyle/>
          <a:p>
            <a:pPr marL="0" indent="0">
              <a:buNone/>
            </a:pPr>
            <a:r>
              <a:rPr lang="en-US" sz="1200" dirty="0">
                <a:solidFill>
                  <a:srgbClr val="8B949E"/>
                </a:solidFill>
                <a:latin typeface="DM Mono" pitchFamily="34" charset="0"/>
                <a:ea typeface="DM Mono" pitchFamily="34" charset="-122"/>
                <a:cs typeface="DM Mono" pitchFamily="34" charset="-120"/>
              </a:rPr>
              <a:t>D4.1 · Solution Specifications</a:t>
            </a:r>
            <a:endParaRPr lang="en-US" sz="1200" dirty="0"/>
          </a:p>
        </p:txBody>
      </p:sp>
      <p:sp>
        <p:nvSpPr>
          <p:cNvPr id="5" name="Text 3"/>
          <p:cNvSpPr/>
          <p:nvPr/>
        </p:nvSpPr>
        <p:spPr>
          <a:xfrm>
            <a:off x="457200" y="868680"/>
            <a:ext cx="11247120" cy="548640"/>
          </a:xfrm>
          <a:prstGeom prst="rect">
            <a:avLst/>
          </a:prstGeom>
          <a:noFill/>
          <a:ln/>
        </p:spPr>
        <p:txBody>
          <a:bodyPr wrap="square" lIns="0" tIns="0" rIns="0" bIns="0" rtlCol="0" anchor="ctr"/>
          <a:lstStyle/>
          <a:p>
            <a:pPr marL="0" indent="0">
              <a:buNone/>
            </a:pPr>
            <a:r>
              <a:rPr lang="en-US" sz="2600" b="1" dirty="0">
                <a:solidFill>
                  <a:srgbClr val="0D1117"/>
                </a:solidFill>
                <a:latin typeface="Bookman Old Style" pitchFamily="34" charset="0"/>
                <a:ea typeface="Bookman Old Style" pitchFamily="34" charset="-122"/>
                <a:cs typeface="Bookman Old Style" pitchFamily="34" charset="-120"/>
              </a:rPr>
              <a:t>From Characteristics to Specifications</a:t>
            </a:r>
            <a:endParaRPr lang="en-US" sz="2600" dirty="0"/>
          </a:p>
        </p:txBody>
      </p:sp>
      <p:sp>
        <p:nvSpPr>
          <p:cNvPr id="6" name="Text 4"/>
          <p:cNvSpPr/>
          <p:nvPr/>
        </p:nvSpPr>
        <p:spPr>
          <a:xfrm>
            <a:off x="457200" y="1554480"/>
            <a:ext cx="11247120" cy="914400"/>
          </a:xfrm>
          <a:prstGeom prst="rect">
            <a:avLst/>
          </a:prstGeom>
          <a:noFill/>
          <a:ln/>
        </p:spPr>
        <p:txBody>
          <a:bodyPr wrap="square" lIns="0" tIns="0" rIns="0" bIns="0" rtlCol="0" anchor="ctr"/>
          <a:lstStyle/>
          <a:p>
            <a:pPr marL="0" indent="0">
              <a:buNone/>
            </a:pPr>
            <a:r>
              <a:rPr lang="en-US" sz="1700" dirty="0">
                <a:solidFill>
                  <a:srgbClr val="57606A"/>
                </a:solidFill>
                <a:latin typeface="Calibri" pitchFamily="34" charset="0"/>
                <a:ea typeface="Calibri" pitchFamily="34" charset="-122"/>
                <a:cs typeface="Calibri" pitchFamily="34" charset="-120"/>
              </a:rPr>
              <a:t>Rating your concept tells you whether it’s a good direction. A specification turns that direction into something a group can actually build against — a precise, shared description every member is building toward.</a:t>
            </a:r>
            <a:endParaRPr lang="en-US" sz="1700" dirty="0"/>
          </a:p>
        </p:txBody>
      </p:sp>
      <p:sp>
        <p:nvSpPr>
          <p:cNvPr id="7" name="Shape 5"/>
          <p:cNvSpPr/>
          <p:nvPr/>
        </p:nvSpPr>
        <p:spPr>
          <a:xfrm>
            <a:off x="457200" y="2743200"/>
            <a:ext cx="2651760" cy="2377440"/>
          </a:xfrm>
          <a:prstGeom prst="roundRect">
            <a:avLst>
              <a:gd name="adj" fmla="val 3846"/>
            </a:avLst>
          </a:prstGeom>
          <a:solidFill>
            <a:srgbClr val="EAEEFC"/>
          </a:solidFill>
          <a:ln w="12700">
            <a:solidFill>
              <a:srgbClr val="4361EE"/>
            </a:solidFill>
            <a:prstDash val="solid"/>
          </a:ln>
          <a:effectLst>
            <a:outerShdw blurRad="76200" dist="25400" dir="5400000" algn="bl" rotWithShape="0">
              <a:srgbClr val="000000">
                <a:alpha val="18000"/>
              </a:srgbClr>
            </a:outerShdw>
          </a:effectLst>
        </p:spPr>
        <p:txBody>
          <a:bodyPr/>
          <a:lstStyle/>
          <a:p>
            <a:endParaRPr lang="en-AU"/>
          </a:p>
        </p:txBody>
      </p:sp>
      <p:sp>
        <p:nvSpPr>
          <p:cNvPr id="8" name="Text 6"/>
          <p:cNvSpPr/>
          <p:nvPr/>
        </p:nvSpPr>
        <p:spPr>
          <a:xfrm>
            <a:off x="594360" y="2971800"/>
            <a:ext cx="2377440" cy="822960"/>
          </a:xfrm>
          <a:prstGeom prst="rect">
            <a:avLst/>
          </a:prstGeom>
          <a:noFill/>
          <a:ln/>
        </p:spPr>
        <p:txBody>
          <a:bodyPr wrap="square" lIns="0" tIns="0" rIns="0" bIns="0" rtlCol="0" anchor="ctr"/>
          <a:lstStyle/>
          <a:p>
            <a:pPr marL="0" indent="0">
              <a:buNone/>
            </a:pPr>
            <a:r>
              <a:rPr lang="en-US" sz="1600" b="1" dirty="0">
                <a:solidFill>
                  <a:srgbClr val="4361EE"/>
                </a:solidFill>
                <a:latin typeface="Calibri" pitchFamily="34" charset="0"/>
                <a:ea typeface="Calibri" pitchFamily="34" charset="-122"/>
                <a:cs typeface="Calibri" pitchFamily="34" charset="-120"/>
              </a:rPr>
              <a:t>Functional</a:t>
            </a:r>
            <a:endParaRPr lang="en-US" sz="1600" dirty="0"/>
          </a:p>
          <a:p>
            <a:pPr marL="0" indent="0">
              <a:buNone/>
            </a:pPr>
            <a:r>
              <a:rPr lang="en-US" sz="1600" b="1" dirty="0">
                <a:solidFill>
                  <a:srgbClr val="4361EE"/>
                </a:solidFill>
                <a:latin typeface="Calibri" pitchFamily="34" charset="0"/>
                <a:ea typeface="Calibri" pitchFamily="34" charset="-122"/>
                <a:cs typeface="Calibri" pitchFamily="34" charset="-120"/>
              </a:rPr>
              <a:t>Requirements</a:t>
            </a:r>
            <a:endParaRPr lang="en-US" sz="1600" dirty="0"/>
          </a:p>
        </p:txBody>
      </p:sp>
      <p:sp>
        <p:nvSpPr>
          <p:cNvPr id="9" name="Text 7"/>
          <p:cNvSpPr/>
          <p:nvPr/>
        </p:nvSpPr>
        <p:spPr>
          <a:xfrm>
            <a:off x="594360" y="4023360"/>
            <a:ext cx="2377440" cy="914400"/>
          </a:xfrm>
          <a:prstGeom prst="rect">
            <a:avLst/>
          </a:prstGeom>
          <a:noFill/>
          <a:ln/>
        </p:spPr>
        <p:txBody>
          <a:bodyPr wrap="square" lIns="0" tIns="0" rIns="0" bIns="0" rtlCol="0" anchor="t"/>
          <a:lstStyle/>
          <a:p>
            <a:pPr marL="0" indent="0">
              <a:buNone/>
            </a:pPr>
            <a:r>
              <a:rPr lang="en-US" sz="1350" i="1" dirty="0">
                <a:solidFill>
                  <a:srgbClr val="0D1117"/>
                </a:solidFill>
                <a:latin typeface="Calibri" pitchFamily="34" charset="0"/>
                <a:ea typeface="Calibri" pitchFamily="34" charset="-122"/>
                <a:cs typeface="Calibri" pitchFamily="34" charset="-120"/>
              </a:rPr>
              <a:t>What it must do</a:t>
            </a:r>
            <a:endParaRPr lang="en-US" sz="1350" dirty="0"/>
          </a:p>
        </p:txBody>
      </p:sp>
      <p:sp>
        <p:nvSpPr>
          <p:cNvPr id="10" name="Shape 8"/>
          <p:cNvSpPr/>
          <p:nvPr/>
        </p:nvSpPr>
        <p:spPr>
          <a:xfrm>
            <a:off x="3291840" y="2743200"/>
            <a:ext cx="2651760" cy="2377440"/>
          </a:xfrm>
          <a:prstGeom prst="roundRect">
            <a:avLst>
              <a:gd name="adj" fmla="val 3846"/>
            </a:avLst>
          </a:prstGeom>
          <a:solidFill>
            <a:srgbClr val="E6F9F2"/>
          </a:solidFill>
          <a:ln w="12700">
            <a:solidFill>
              <a:srgbClr val="10B981"/>
            </a:solidFill>
            <a:prstDash val="solid"/>
          </a:ln>
          <a:effectLst>
            <a:outerShdw blurRad="76200" dist="25400" dir="5400000" algn="bl" rotWithShape="0">
              <a:srgbClr val="000000">
                <a:alpha val="18000"/>
              </a:srgbClr>
            </a:outerShdw>
          </a:effectLst>
        </p:spPr>
        <p:txBody>
          <a:bodyPr/>
          <a:lstStyle/>
          <a:p>
            <a:endParaRPr lang="en-AU"/>
          </a:p>
        </p:txBody>
      </p:sp>
      <p:sp>
        <p:nvSpPr>
          <p:cNvPr id="11" name="Text 9"/>
          <p:cNvSpPr/>
          <p:nvPr/>
        </p:nvSpPr>
        <p:spPr>
          <a:xfrm>
            <a:off x="3429000" y="2971800"/>
            <a:ext cx="2377440" cy="822960"/>
          </a:xfrm>
          <a:prstGeom prst="rect">
            <a:avLst/>
          </a:prstGeom>
          <a:noFill/>
          <a:ln/>
        </p:spPr>
        <p:txBody>
          <a:bodyPr wrap="square" lIns="0" tIns="0" rIns="0" bIns="0" rtlCol="0" anchor="ctr"/>
          <a:lstStyle/>
          <a:p>
            <a:pPr marL="0" indent="0">
              <a:buNone/>
            </a:pPr>
            <a:r>
              <a:rPr lang="en-US" sz="1600" b="1" dirty="0">
                <a:solidFill>
                  <a:srgbClr val="10B981"/>
                </a:solidFill>
                <a:latin typeface="Calibri" pitchFamily="34" charset="0"/>
                <a:ea typeface="Calibri" pitchFamily="34" charset="-122"/>
                <a:cs typeface="Calibri" pitchFamily="34" charset="-120"/>
              </a:rPr>
              <a:t>Non-Functional</a:t>
            </a:r>
            <a:endParaRPr lang="en-US" sz="1600" dirty="0"/>
          </a:p>
          <a:p>
            <a:pPr marL="0" indent="0">
              <a:buNone/>
            </a:pPr>
            <a:r>
              <a:rPr lang="en-US" sz="1600" b="1" dirty="0">
                <a:solidFill>
                  <a:srgbClr val="10B981"/>
                </a:solidFill>
                <a:latin typeface="Calibri" pitchFamily="34" charset="0"/>
                <a:ea typeface="Calibri" pitchFamily="34" charset="-122"/>
                <a:cs typeface="Calibri" pitchFamily="34" charset="-120"/>
              </a:rPr>
              <a:t>Requirements</a:t>
            </a:r>
            <a:endParaRPr lang="en-US" sz="1600" dirty="0"/>
          </a:p>
        </p:txBody>
      </p:sp>
      <p:sp>
        <p:nvSpPr>
          <p:cNvPr id="12" name="Text 10"/>
          <p:cNvSpPr/>
          <p:nvPr/>
        </p:nvSpPr>
        <p:spPr>
          <a:xfrm>
            <a:off x="3429000" y="4023360"/>
            <a:ext cx="2377440" cy="914400"/>
          </a:xfrm>
          <a:prstGeom prst="rect">
            <a:avLst/>
          </a:prstGeom>
          <a:noFill/>
          <a:ln/>
        </p:spPr>
        <p:txBody>
          <a:bodyPr wrap="square" lIns="0" tIns="0" rIns="0" bIns="0" rtlCol="0" anchor="t"/>
          <a:lstStyle/>
          <a:p>
            <a:pPr marL="0" indent="0">
              <a:buNone/>
            </a:pPr>
            <a:r>
              <a:rPr lang="en-US" sz="1350" i="1" dirty="0">
                <a:solidFill>
                  <a:srgbClr val="0D1117"/>
                </a:solidFill>
                <a:latin typeface="Calibri" pitchFamily="34" charset="0"/>
                <a:ea typeface="Calibri" pitchFamily="34" charset="-122"/>
                <a:cs typeface="Calibri" pitchFamily="34" charset="-120"/>
              </a:rPr>
              <a:t>How well it must do it</a:t>
            </a:r>
            <a:endParaRPr lang="en-US" sz="1350" dirty="0"/>
          </a:p>
        </p:txBody>
      </p:sp>
      <p:sp>
        <p:nvSpPr>
          <p:cNvPr id="13" name="Shape 11"/>
          <p:cNvSpPr/>
          <p:nvPr/>
        </p:nvSpPr>
        <p:spPr>
          <a:xfrm>
            <a:off x="6126480" y="2743200"/>
            <a:ext cx="2651760" cy="2377440"/>
          </a:xfrm>
          <a:prstGeom prst="roundRect">
            <a:avLst>
              <a:gd name="adj" fmla="val 3846"/>
            </a:avLst>
          </a:prstGeom>
          <a:solidFill>
            <a:srgbClr val="FEF3E2"/>
          </a:solidFill>
          <a:ln w="12700">
            <a:solidFill>
              <a:srgbClr val="F59E0B"/>
            </a:solidFill>
            <a:prstDash val="solid"/>
          </a:ln>
          <a:effectLst>
            <a:outerShdw blurRad="76200" dist="25400" dir="5400000" algn="bl" rotWithShape="0">
              <a:srgbClr val="000000">
                <a:alpha val="18000"/>
              </a:srgbClr>
            </a:outerShdw>
          </a:effectLst>
        </p:spPr>
        <p:txBody>
          <a:bodyPr/>
          <a:lstStyle/>
          <a:p>
            <a:endParaRPr lang="en-AU"/>
          </a:p>
        </p:txBody>
      </p:sp>
      <p:sp>
        <p:nvSpPr>
          <p:cNvPr id="14" name="Text 12"/>
          <p:cNvSpPr/>
          <p:nvPr/>
        </p:nvSpPr>
        <p:spPr>
          <a:xfrm>
            <a:off x="6263640" y="2971800"/>
            <a:ext cx="2377440" cy="82296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Constraints</a:t>
            </a:r>
            <a:endParaRPr lang="en-US" sz="1600" dirty="0"/>
          </a:p>
        </p:txBody>
      </p:sp>
      <p:sp>
        <p:nvSpPr>
          <p:cNvPr id="15" name="Text 13"/>
          <p:cNvSpPr/>
          <p:nvPr/>
        </p:nvSpPr>
        <p:spPr>
          <a:xfrm>
            <a:off x="6263640" y="4023360"/>
            <a:ext cx="2377440" cy="914400"/>
          </a:xfrm>
          <a:prstGeom prst="rect">
            <a:avLst/>
          </a:prstGeom>
          <a:noFill/>
          <a:ln/>
        </p:spPr>
        <p:txBody>
          <a:bodyPr wrap="square" lIns="0" tIns="0" rIns="0" bIns="0" rtlCol="0" anchor="t"/>
          <a:lstStyle/>
          <a:p>
            <a:pPr marL="0" indent="0">
              <a:buNone/>
            </a:pPr>
            <a:r>
              <a:rPr lang="en-US" sz="1350" i="1" dirty="0">
                <a:solidFill>
                  <a:srgbClr val="0D1117"/>
                </a:solidFill>
                <a:latin typeface="Calibri" pitchFamily="34" charset="0"/>
                <a:ea typeface="Calibri" pitchFamily="34" charset="-122"/>
                <a:cs typeface="Calibri" pitchFamily="34" charset="-120"/>
              </a:rPr>
              <a:t>Real limits on the project</a:t>
            </a:r>
            <a:endParaRPr lang="en-US" sz="1350" dirty="0"/>
          </a:p>
        </p:txBody>
      </p:sp>
      <p:sp>
        <p:nvSpPr>
          <p:cNvPr id="16" name="Shape 14"/>
          <p:cNvSpPr/>
          <p:nvPr/>
        </p:nvSpPr>
        <p:spPr>
          <a:xfrm>
            <a:off x="8961120" y="2743200"/>
            <a:ext cx="2651760" cy="2377440"/>
          </a:xfrm>
          <a:prstGeom prst="roundRect">
            <a:avLst>
              <a:gd name="adj" fmla="val 3846"/>
            </a:avLst>
          </a:prstGeom>
          <a:solidFill>
            <a:srgbClr val="F1ECFE"/>
          </a:solidFill>
          <a:ln w="12700">
            <a:solidFill>
              <a:srgbClr val="8B5CF6"/>
            </a:solidFill>
            <a:prstDash val="solid"/>
          </a:ln>
          <a:effectLst>
            <a:outerShdw blurRad="76200" dist="25400" dir="5400000" algn="bl" rotWithShape="0">
              <a:srgbClr val="000000">
                <a:alpha val="18000"/>
              </a:srgbClr>
            </a:outerShdw>
          </a:effectLst>
        </p:spPr>
        <p:txBody>
          <a:bodyPr/>
          <a:lstStyle/>
          <a:p>
            <a:endParaRPr lang="en-AU"/>
          </a:p>
        </p:txBody>
      </p:sp>
      <p:sp>
        <p:nvSpPr>
          <p:cNvPr id="17" name="Text 15"/>
          <p:cNvSpPr/>
          <p:nvPr/>
        </p:nvSpPr>
        <p:spPr>
          <a:xfrm>
            <a:off x="9098280" y="2971800"/>
            <a:ext cx="2377440" cy="822960"/>
          </a:xfrm>
          <a:prstGeom prst="rect">
            <a:avLst/>
          </a:prstGeom>
          <a:noFill/>
          <a:ln/>
        </p:spPr>
        <p:txBody>
          <a:bodyPr wrap="square" lIns="0" tIns="0" rIns="0" bIns="0" rtlCol="0" anchor="ctr"/>
          <a:lstStyle/>
          <a:p>
            <a:pPr marL="0" indent="0">
              <a:buNone/>
            </a:pPr>
            <a:r>
              <a:rPr lang="en-US" sz="1600" b="1" dirty="0">
                <a:solidFill>
                  <a:srgbClr val="8B5CF6"/>
                </a:solidFill>
                <a:latin typeface="Calibri" pitchFamily="34" charset="0"/>
                <a:ea typeface="Calibri" pitchFamily="34" charset="-122"/>
                <a:cs typeface="Calibri" pitchFamily="34" charset="-120"/>
              </a:rPr>
              <a:t>Scope</a:t>
            </a:r>
            <a:endParaRPr lang="en-US" sz="1600" dirty="0"/>
          </a:p>
        </p:txBody>
      </p:sp>
      <p:sp>
        <p:nvSpPr>
          <p:cNvPr id="18" name="Text 16"/>
          <p:cNvSpPr/>
          <p:nvPr/>
        </p:nvSpPr>
        <p:spPr>
          <a:xfrm>
            <a:off x="9098280" y="4023360"/>
            <a:ext cx="2377440" cy="914400"/>
          </a:xfrm>
          <a:prstGeom prst="rect">
            <a:avLst/>
          </a:prstGeom>
          <a:noFill/>
          <a:ln/>
        </p:spPr>
        <p:txBody>
          <a:bodyPr wrap="square" lIns="0" tIns="0" rIns="0" bIns="0" rtlCol="0" anchor="t"/>
          <a:lstStyle/>
          <a:p>
            <a:pPr marL="0" indent="0">
              <a:buNone/>
            </a:pPr>
            <a:r>
              <a:rPr lang="en-US" sz="1350" i="1" dirty="0">
                <a:solidFill>
                  <a:srgbClr val="0D1117"/>
                </a:solidFill>
                <a:latin typeface="Calibri" pitchFamily="34" charset="0"/>
                <a:ea typeface="Calibri" pitchFamily="34" charset="-122"/>
                <a:cs typeface="Calibri" pitchFamily="34" charset="-120"/>
              </a:rPr>
              <a:t>What’s in, what’s out</a:t>
            </a:r>
            <a:endParaRPr lang="en-US" sz="1350" dirty="0"/>
          </a:p>
        </p:txBody>
      </p:sp>
      <p:sp>
        <p:nvSpPr>
          <p:cNvPr id="19" name="Text 17"/>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20" name="Text 18"/>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8B5CF6"/>
          </a:solidFill>
          <a:ln w="12700">
            <a:solidFill>
              <a:srgbClr val="8B5CF6"/>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2331720" y="384048"/>
            <a:ext cx="5486400" cy="274320"/>
          </a:xfrm>
          <a:prstGeom prst="rect">
            <a:avLst/>
          </a:prstGeom>
          <a:noFill/>
          <a:ln/>
        </p:spPr>
        <p:txBody>
          <a:bodyPr wrap="square" lIns="0" tIns="0" rIns="0" bIns="0" rtlCol="0" anchor="ctr"/>
          <a:lstStyle/>
          <a:p>
            <a:pPr marL="0" indent="0">
              <a:buNone/>
            </a:pPr>
            <a:r>
              <a:rPr lang="en-US" sz="1200" dirty="0">
                <a:solidFill>
                  <a:srgbClr val="8B949E"/>
                </a:solidFill>
                <a:latin typeface="DM Mono" pitchFamily="34" charset="0"/>
                <a:ea typeface="DM Mono" pitchFamily="34" charset="-122"/>
                <a:cs typeface="DM Mono" pitchFamily="34" charset="-120"/>
              </a:rPr>
              <a:t>D4.1 · Solution Specifications</a:t>
            </a:r>
            <a:endParaRPr lang="en-US" sz="1200" dirty="0"/>
          </a:p>
        </p:txBody>
      </p:sp>
      <p:sp>
        <p:nvSpPr>
          <p:cNvPr id="5" name="Text 3"/>
          <p:cNvSpPr/>
          <p:nvPr/>
        </p:nvSpPr>
        <p:spPr>
          <a:xfrm>
            <a:off x="457200" y="868680"/>
            <a:ext cx="11247120" cy="548640"/>
          </a:xfrm>
          <a:prstGeom prst="rect">
            <a:avLst/>
          </a:prstGeom>
          <a:noFill/>
          <a:ln/>
        </p:spPr>
        <p:txBody>
          <a:bodyPr wrap="square" lIns="0" tIns="0" rIns="0" bIns="0" rtlCol="0" anchor="ctr"/>
          <a:lstStyle/>
          <a:p>
            <a:pPr marL="0" indent="0">
              <a:buNone/>
            </a:pPr>
            <a:r>
              <a:rPr lang="en-US" sz="2700" b="1" dirty="0">
                <a:solidFill>
                  <a:srgbClr val="0D1117"/>
                </a:solidFill>
                <a:latin typeface="Bookman Old Style" pitchFamily="34" charset="0"/>
                <a:ea typeface="Bookman Old Style" pitchFamily="34" charset="-122"/>
                <a:cs typeface="Bookman Old Style" pitchFamily="34" charset="-120"/>
              </a:rPr>
              <a:t>Functional vs Non-Functional</a:t>
            </a:r>
            <a:endParaRPr lang="en-US" sz="2700" dirty="0"/>
          </a:p>
        </p:txBody>
      </p:sp>
      <p:sp>
        <p:nvSpPr>
          <p:cNvPr id="6" name="Shape 4"/>
          <p:cNvSpPr/>
          <p:nvPr/>
        </p:nvSpPr>
        <p:spPr>
          <a:xfrm>
            <a:off x="457200" y="1600200"/>
            <a:ext cx="5394960" cy="457200"/>
          </a:xfrm>
          <a:prstGeom prst="rect">
            <a:avLst/>
          </a:prstGeom>
          <a:solidFill>
            <a:srgbClr val="4361EE"/>
          </a:solidFill>
          <a:ln w="12700">
            <a:solidFill>
              <a:srgbClr val="333333"/>
            </a:solidFill>
            <a:prstDash val="solid"/>
          </a:ln>
        </p:spPr>
        <p:txBody>
          <a:bodyPr/>
          <a:lstStyle/>
          <a:p>
            <a:endParaRPr lang="en-AU"/>
          </a:p>
        </p:txBody>
      </p:sp>
      <p:sp>
        <p:nvSpPr>
          <p:cNvPr id="7" name="Text 5"/>
          <p:cNvSpPr/>
          <p:nvPr/>
        </p:nvSpPr>
        <p:spPr>
          <a:xfrm>
            <a:off x="457200" y="1600200"/>
            <a:ext cx="53949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FUNCTIONAL — WHAT it must do</a:t>
            </a:r>
            <a:endParaRPr lang="en-US" sz="1300" dirty="0"/>
          </a:p>
        </p:txBody>
      </p:sp>
      <p:sp>
        <p:nvSpPr>
          <p:cNvPr id="8" name="Shape 6"/>
          <p:cNvSpPr/>
          <p:nvPr/>
        </p:nvSpPr>
        <p:spPr>
          <a:xfrm>
            <a:off x="6309360" y="1600200"/>
            <a:ext cx="5394960" cy="457200"/>
          </a:xfrm>
          <a:prstGeom prst="rect">
            <a:avLst/>
          </a:prstGeom>
          <a:solidFill>
            <a:srgbClr val="10B981"/>
          </a:solidFill>
          <a:ln w="12700">
            <a:solidFill>
              <a:srgbClr val="333333"/>
            </a:solidFill>
            <a:prstDash val="solid"/>
          </a:ln>
        </p:spPr>
        <p:txBody>
          <a:bodyPr/>
          <a:lstStyle/>
          <a:p>
            <a:endParaRPr lang="en-AU"/>
          </a:p>
        </p:txBody>
      </p:sp>
      <p:sp>
        <p:nvSpPr>
          <p:cNvPr id="9" name="Text 7"/>
          <p:cNvSpPr/>
          <p:nvPr/>
        </p:nvSpPr>
        <p:spPr>
          <a:xfrm>
            <a:off x="6309360" y="1600200"/>
            <a:ext cx="53949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NON-FUNCTIONAL — HOW WELL it performs</a:t>
            </a:r>
            <a:endParaRPr lang="en-US" sz="1300" dirty="0"/>
          </a:p>
        </p:txBody>
      </p:sp>
      <p:sp>
        <p:nvSpPr>
          <p:cNvPr id="10" name="Shape 8"/>
          <p:cNvSpPr/>
          <p:nvPr/>
        </p:nvSpPr>
        <p:spPr>
          <a:xfrm>
            <a:off x="457200" y="2148840"/>
            <a:ext cx="5394960" cy="1143000"/>
          </a:xfrm>
          <a:prstGeom prst="rect">
            <a:avLst/>
          </a:prstGeom>
          <a:solidFill>
            <a:srgbClr val="F6F8FA"/>
          </a:solidFill>
          <a:ln w="12700">
            <a:solidFill>
              <a:srgbClr val="D0D7DE"/>
            </a:solidFill>
            <a:prstDash val="solid"/>
          </a:ln>
        </p:spPr>
        <p:txBody>
          <a:bodyPr/>
          <a:lstStyle/>
          <a:p>
            <a:endParaRPr lang="en-AU"/>
          </a:p>
        </p:txBody>
      </p:sp>
      <p:sp>
        <p:nvSpPr>
          <p:cNvPr id="11" name="Text 9"/>
          <p:cNvSpPr/>
          <p:nvPr/>
        </p:nvSpPr>
        <p:spPr>
          <a:xfrm>
            <a:off x="685800" y="2148840"/>
            <a:ext cx="4937760" cy="1143000"/>
          </a:xfrm>
          <a:prstGeom prst="rect">
            <a:avLst/>
          </a:prstGeom>
          <a:noFill/>
          <a:ln/>
        </p:spPr>
        <p:txBody>
          <a:bodyPr wrap="square" lIns="0" tIns="0" rIns="0" bIns="0" rtlCol="0" anchor="ctr"/>
          <a:lstStyle/>
          <a:p>
            <a:pPr marL="0" indent="0">
              <a:buNone/>
            </a:pPr>
            <a:r>
              <a:rPr lang="en-US" sz="1350" i="1" dirty="0">
                <a:solidFill>
                  <a:srgbClr val="0D1117"/>
                </a:solidFill>
                <a:latin typeface="Calibri" pitchFamily="34" charset="0"/>
                <a:ea typeface="Calibri" pitchFamily="34" charset="-122"/>
                <a:cs typeface="Calibri" pitchFamily="34" charset="-120"/>
              </a:rPr>
              <a:t>"The system must send a reminder notification at a time the user sets."</a:t>
            </a:r>
            <a:endParaRPr lang="en-US" sz="1350" dirty="0"/>
          </a:p>
        </p:txBody>
      </p:sp>
      <p:sp>
        <p:nvSpPr>
          <p:cNvPr id="12" name="Shape 10"/>
          <p:cNvSpPr/>
          <p:nvPr/>
        </p:nvSpPr>
        <p:spPr>
          <a:xfrm>
            <a:off x="6309360" y="2148840"/>
            <a:ext cx="5394960" cy="1143000"/>
          </a:xfrm>
          <a:prstGeom prst="rect">
            <a:avLst/>
          </a:prstGeom>
          <a:solidFill>
            <a:srgbClr val="E6F9F2"/>
          </a:solidFill>
          <a:ln w="12700">
            <a:solidFill>
              <a:srgbClr val="D0D7DE"/>
            </a:solidFill>
            <a:prstDash val="solid"/>
          </a:ln>
        </p:spPr>
        <p:txBody>
          <a:bodyPr/>
          <a:lstStyle/>
          <a:p>
            <a:endParaRPr lang="en-AU"/>
          </a:p>
        </p:txBody>
      </p:sp>
      <p:sp>
        <p:nvSpPr>
          <p:cNvPr id="13" name="Text 11"/>
          <p:cNvSpPr/>
          <p:nvPr/>
        </p:nvSpPr>
        <p:spPr>
          <a:xfrm>
            <a:off x="6537960" y="2148840"/>
            <a:ext cx="4937760" cy="1143000"/>
          </a:xfrm>
          <a:prstGeom prst="rect">
            <a:avLst/>
          </a:prstGeom>
          <a:noFill/>
          <a:ln/>
        </p:spPr>
        <p:txBody>
          <a:bodyPr wrap="square" lIns="0" tIns="0" rIns="0" bIns="0" rtlCol="0" anchor="ctr"/>
          <a:lstStyle/>
          <a:p>
            <a:pPr marL="0" indent="0">
              <a:buNone/>
            </a:pPr>
            <a:r>
              <a:rPr lang="en-US" sz="1350" i="1" dirty="0">
                <a:solidFill>
                  <a:srgbClr val="0D1117"/>
                </a:solidFill>
                <a:latin typeface="Calibri" pitchFamily="34" charset="0"/>
                <a:ea typeface="Calibri" pitchFamily="34" charset="-122"/>
                <a:cs typeface="Calibri" pitchFamily="34" charset="-120"/>
              </a:rPr>
              <a:t>"The reminder must arrive within 10 seconds of the scheduled time."</a:t>
            </a:r>
            <a:endParaRPr lang="en-US" sz="1350" dirty="0"/>
          </a:p>
        </p:txBody>
      </p:sp>
      <p:sp>
        <p:nvSpPr>
          <p:cNvPr id="14" name="Shape 12"/>
          <p:cNvSpPr/>
          <p:nvPr/>
        </p:nvSpPr>
        <p:spPr>
          <a:xfrm>
            <a:off x="457200" y="3383280"/>
            <a:ext cx="5394960" cy="1143000"/>
          </a:xfrm>
          <a:prstGeom prst="rect">
            <a:avLst/>
          </a:prstGeom>
          <a:solidFill>
            <a:srgbClr val="FFFFFF"/>
          </a:solidFill>
          <a:ln w="12700">
            <a:solidFill>
              <a:srgbClr val="D0D7DE"/>
            </a:solidFill>
            <a:prstDash val="solid"/>
          </a:ln>
        </p:spPr>
        <p:txBody>
          <a:bodyPr/>
          <a:lstStyle/>
          <a:p>
            <a:endParaRPr lang="en-AU"/>
          </a:p>
        </p:txBody>
      </p:sp>
      <p:sp>
        <p:nvSpPr>
          <p:cNvPr id="15" name="Text 13"/>
          <p:cNvSpPr/>
          <p:nvPr/>
        </p:nvSpPr>
        <p:spPr>
          <a:xfrm>
            <a:off x="685800" y="3383280"/>
            <a:ext cx="4937760" cy="1143000"/>
          </a:xfrm>
          <a:prstGeom prst="rect">
            <a:avLst/>
          </a:prstGeom>
          <a:noFill/>
          <a:ln/>
        </p:spPr>
        <p:txBody>
          <a:bodyPr wrap="square" lIns="0" tIns="0" rIns="0" bIns="0" rtlCol="0" anchor="ctr"/>
          <a:lstStyle/>
          <a:p>
            <a:pPr marL="0" indent="0">
              <a:buNone/>
            </a:pPr>
            <a:r>
              <a:rPr lang="en-US" sz="1350" i="1" dirty="0">
                <a:solidFill>
                  <a:srgbClr val="0D1117"/>
                </a:solidFill>
                <a:latin typeface="Calibri" pitchFamily="34" charset="0"/>
                <a:ea typeface="Calibri" pitchFamily="34" charset="-122"/>
                <a:cs typeface="Calibri" pitchFamily="34" charset="-120"/>
              </a:rPr>
              <a:t>"The system must let a user mark a checklist item as complete."</a:t>
            </a:r>
            <a:endParaRPr lang="en-US" sz="1350" dirty="0"/>
          </a:p>
        </p:txBody>
      </p:sp>
      <p:sp>
        <p:nvSpPr>
          <p:cNvPr id="16" name="Shape 14"/>
          <p:cNvSpPr/>
          <p:nvPr/>
        </p:nvSpPr>
        <p:spPr>
          <a:xfrm>
            <a:off x="6309360" y="3383280"/>
            <a:ext cx="5394960" cy="1143000"/>
          </a:xfrm>
          <a:prstGeom prst="rect">
            <a:avLst/>
          </a:prstGeom>
          <a:solidFill>
            <a:srgbClr val="FFFFFF"/>
          </a:solidFill>
          <a:ln w="12700">
            <a:solidFill>
              <a:srgbClr val="D0D7DE"/>
            </a:solidFill>
            <a:prstDash val="solid"/>
          </a:ln>
        </p:spPr>
        <p:txBody>
          <a:bodyPr/>
          <a:lstStyle/>
          <a:p>
            <a:endParaRPr lang="en-AU"/>
          </a:p>
        </p:txBody>
      </p:sp>
      <p:sp>
        <p:nvSpPr>
          <p:cNvPr id="17" name="Text 15"/>
          <p:cNvSpPr/>
          <p:nvPr/>
        </p:nvSpPr>
        <p:spPr>
          <a:xfrm>
            <a:off x="6537960" y="3383280"/>
            <a:ext cx="4937760" cy="1143000"/>
          </a:xfrm>
          <a:prstGeom prst="rect">
            <a:avLst/>
          </a:prstGeom>
          <a:noFill/>
          <a:ln/>
        </p:spPr>
        <p:txBody>
          <a:bodyPr wrap="square" lIns="0" tIns="0" rIns="0" bIns="0" rtlCol="0" anchor="ctr"/>
          <a:lstStyle/>
          <a:p>
            <a:pPr marL="0" indent="0">
              <a:buNone/>
            </a:pPr>
            <a:r>
              <a:rPr lang="en-US" sz="1350" i="1" dirty="0">
                <a:solidFill>
                  <a:srgbClr val="0D1117"/>
                </a:solidFill>
                <a:latin typeface="Calibri" pitchFamily="34" charset="0"/>
                <a:ea typeface="Calibri" pitchFamily="34" charset="-122"/>
                <a:cs typeface="Calibri" pitchFamily="34" charset="-120"/>
              </a:rPr>
              <a:t>"The interface must be usable by a first-time user within 2 minutes."</a:t>
            </a:r>
            <a:endParaRPr lang="en-US" sz="1350" dirty="0"/>
          </a:p>
        </p:txBody>
      </p:sp>
      <p:sp>
        <p:nvSpPr>
          <p:cNvPr id="18" name="Shape 16"/>
          <p:cNvSpPr/>
          <p:nvPr/>
        </p:nvSpPr>
        <p:spPr>
          <a:xfrm>
            <a:off x="457200" y="4709160"/>
            <a:ext cx="11247120" cy="1280160"/>
          </a:xfrm>
          <a:prstGeom prst="roundRect">
            <a:avLst>
              <a:gd name="adj" fmla="val 5714"/>
            </a:avLst>
          </a:prstGeom>
          <a:solidFill>
            <a:srgbClr val="FEF3E2"/>
          </a:solidFill>
          <a:ln w="12700">
            <a:solidFill>
              <a:srgbClr val="F59E0B"/>
            </a:solidFill>
            <a:prstDash val="solid"/>
          </a:ln>
        </p:spPr>
        <p:txBody>
          <a:bodyPr/>
          <a:lstStyle/>
          <a:p>
            <a:endParaRPr lang="en-AU"/>
          </a:p>
        </p:txBody>
      </p:sp>
      <p:sp>
        <p:nvSpPr>
          <p:cNvPr id="19" name="Text 17"/>
          <p:cNvSpPr/>
          <p:nvPr/>
        </p:nvSpPr>
        <p:spPr>
          <a:xfrm>
            <a:off x="731520" y="4846320"/>
            <a:ext cx="10698480" cy="320040"/>
          </a:xfrm>
          <a:prstGeom prst="rect">
            <a:avLst/>
          </a:prstGeom>
          <a:noFill/>
          <a:ln/>
        </p:spPr>
        <p:txBody>
          <a:bodyPr wrap="square" lIns="0" tIns="0" rIns="0" bIns="0" rtlCol="0" anchor="ctr"/>
          <a:lstStyle/>
          <a:p>
            <a:pPr marL="0" indent="0">
              <a:buNone/>
            </a:pPr>
            <a:r>
              <a:rPr lang="en-US" sz="1100" b="1" dirty="0">
                <a:solidFill>
                  <a:srgbClr val="F59E0B"/>
                </a:solidFill>
                <a:latin typeface="DM Mono" pitchFamily="34" charset="0"/>
                <a:ea typeface="DM Mono" pitchFamily="34" charset="-122"/>
                <a:cs typeface="DM Mono" pitchFamily="34" charset="-120"/>
              </a:rPr>
              <a:t>COMMON NON-FUNCTIONAL CATEGORIES</a:t>
            </a:r>
            <a:endParaRPr lang="en-US" sz="1100" dirty="0"/>
          </a:p>
        </p:txBody>
      </p:sp>
      <p:sp>
        <p:nvSpPr>
          <p:cNvPr id="20" name="Text 18"/>
          <p:cNvSpPr/>
          <p:nvPr/>
        </p:nvSpPr>
        <p:spPr>
          <a:xfrm>
            <a:off x="731520" y="5166360"/>
            <a:ext cx="10698480" cy="777240"/>
          </a:xfrm>
          <a:prstGeom prst="rect">
            <a:avLst/>
          </a:prstGeom>
          <a:noFill/>
          <a:ln/>
        </p:spPr>
        <p:txBody>
          <a:bodyPr wrap="square" lIns="0" tIns="0" rIns="0" bIns="0" rtlCol="0" anchor="t"/>
          <a:lstStyle/>
          <a:p>
            <a:pPr marL="0" indent="0">
              <a:buNone/>
            </a:pPr>
            <a:r>
              <a:rPr lang="en-US" sz="1350" dirty="0">
                <a:solidFill>
                  <a:srgbClr val="0D1117"/>
                </a:solidFill>
                <a:latin typeface="Calibri" pitchFamily="34" charset="0"/>
                <a:ea typeface="Calibri" pitchFamily="34" charset="-122"/>
                <a:cs typeface="Calibri" pitchFamily="34" charset="-120"/>
              </a:rPr>
              <a:t>Performance (speed), usability/accessibility (can the target user actually use it easily), reliability (does it work consistently), security/privacy (is user data protected). Pick the ones that matter most for your concept.</a:t>
            </a:r>
            <a:endParaRPr lang="en-US" sz="1350" dirty="0"/>
          </a:p>
        </p:txBody>
      </p:sp>
      <p:sp>
        <p:nvSpPr>
          <p:cNvPr id="21" name="Text 19"/>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22" name="Text 20"/>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8B5CF6"/>
          </a:solidFill>
          <a:ln w="12700">
            <a:solidFill>
              <a:srgbClr val="8B5CF6"/>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2331720" y="384048"/>
            <a:ext cx="5486400" cy="274320"/>
          </a:xfrm>
          <a:prstGeom prst="rect">
            <a:avLst/>
          </a:prstGeom>
          <a:noFill/>
          <a:ln/>
        </p:spPr>
        <p:txBody>
          <a:bodyPr wrap="square" lIns="0" tIns="0" rIns="0" bIns="0" rtlCol="0" anchor="ctr"/>
          <a:lstStyle/>
          <a:p>
            <a:pPr marL="0" indent="0">
              <a:buNone/>
            </a:pPr>
            <a:r>
              <a:rPr lang="en-US" sz="1200" dirty="0">
                <a:solidFill>
                  <a:srgbClr val="8B949E"/>
                </a:solidFill>
                <a:latin typeface="DM Mono" pitchFamily="34" charset="0"/>
                <a:ea typeface="DM Mono" pitchFamily="34" charset="-122"/>
                <a:cs typeface="DM Mono" pitchFamily="34" charset="-120"/>
              </a:rPr>
              <a:t>D4.1 · Solution Specifications</a:t>
            </a:r>
            <a:endParaRPr lang="en-US" sz="1200" dirty="0"/>
          </a:p>
        </p:txBody>
      </p:sp>
      <p:sp>
        <p:nvSpPr>
          <p:cNvPr id="5" name="Text 3"/>
          <p:cNvSpPr/>
          <p:nvPr/>
        </p:nvSpPr>
        <p:spPr>
          <a:xfrm>
            <a:off x="457200" y="868680"/>
            <a:ext cx="11247120" cy="548640"/>
          </a:xfrm>
          <a:prstGeom prst="rect">
            <a:avLst/>
          </a:prstGeom>
          <a:noFill/>
          <a:ln/>
        </p:spPr>
        <p:txBody>
          <a:bodyPr wrap="square" lIns="0" tIns="0" rIns="0" bIns="0" rtlCol="0" anchor="ctr"/>
          <a:lstStyle/>
          <a:p>
            <a:pPr marL="0" indent="0">
              <a:buNone/>
            </a:pPr>
            <a:r>
              <a:rPr lang="en-US" sz="2800" b="1" dirty="0">
                <a:solidFill>
                  <a:srgbClr val="0D1117"/>
                </a:solidFill>
                <a:latin typeface="Bookman Old Style" pitchFamily="34" charset="0"/>
                <a:ea typeface="Bookman Old Style" pitchFamily="34" charset="-122"/>
                <a:cs typeface="Bookman Old Style" pitchFamily="34" charset="-120"/>
              </a:rPr>
              <a:t>Constraints &amp; Scope</a:t>
            </a:r>
            <a:endParaRPr lang="en-US" sz="2800" dirty="0"/>
          </a:p>
        </p:txBody>
      </p:sp>
      <p:sp>
        <p:nvSpPr>
          <p:cNvPr id="6" name="Shape 4"/>
          <p:cNvSpPr/>
          <p:nvPr/>
        </p:nvSpPr>
        <p:spPr>
          <a:xfrm>
            <a:off x="457200" y="1554480"/>
            <a:ext cx="11247120" cy="1371600"/>
          </a:xfrm>
          <a:prstGeom prst="roundRect">
            <a:avLst>
              <a:gd name="adj" fmla="val 6667"/>
            </a:avLst>
          </a:prstGeom>
          <a:solidFill>
            <a:srgbClr val="FEF3E2"/>
          </a:solidFill>
          <a:ln w="12700">
            <a:solidFill>
              <a:srgbClr val="F59E0B"/>
            </a:solidFill>
            <a:prstDash val="solid"/>
          </a:ln>
        </p:spPr>
        <p:txBody>
          <a:bodyPr/>
          <a:lstStyle/>
          <a:p>
            <a:endParaRPr lang="en-AU"/>
          </a:p>
        </p:txBody>
      </p:sp>
      <p:sp>
        <p:nvSpPr>
          <p:cNvPr id="7" name="Text 5"/>
          <p:cNvSpPr/>
          <p:nvPr/>
        </p:nvSpPr>
        <p:spPr>
          <a:xfrm>
            <a:off x="731520" y="1691640"/>
            <a:ext cx="10698480" cy="320040"/>
          </a:xfrm>
          <a:prstGeom prst="rect">
            <a:avLst/>
          </a:prstGeom>
          <a:noFill/>
          <a:ln/>
        </p:spPr>
        <p:txBody>
          <a:bodyPr wrap="square" lIns="0" tIns="0" rIns="0" bIns="0" rtlCol="0" anchor="ctr"/>
          <a:lstStyle/>
          <a:p>
            <a:pPr marL="0" indent="0">
              <a:buNone/>
            </a:pPr>
            <a:r>
              <a:rPr lang="en-US" sz="1200" b="1" dirty="0">
                <a:solidFill>
                  <a:srgbClr val="F59E0B"/>
                </a:solidFill>
                <a:latin typeface="DM Mono" pitchFamily="34" charset="0"/>
                <a:ea typeface="DM Mono" pitchFamily="34" charset="-122"/>
                <a:cs typeface="DM Mono" pitchFamily="34" charset="-120"/>
              </a:rPr>
              <a:t>CONSTRAINTS — real limits imposed on your project</a:t>
            </a:r>
            <a:endParaRPr lang="en-US" sz="1200" dirty="0"/>
          </a:p>
        </p:txBody>
      </p:sp>
      <p:sp>
        <p:nvSpPr>
          <p:cNvPr id="8" name="Text 6"/>
          <p:cNvSpPr/>
          <p:nvPr/>
        </p:nvSpPr>
        <p:spPr>
          <a:xfrm>
            <a:off x="731520" y="2011680"/>
            <a:ext cx="10698480" cy="868680"/>
          </a:xfrm>
          <a:prstGeom prst="rect">
            <a:avLst/>
          </a:prstGeom>
          <a:noFill/>
          <a:ln/>
        </p:spPr>
        <p:txBody>
          <a:bodyPr wrap="square" lIns="0" tIns="0" rIns="0" bIns="0" rtlCol="0" anchor="t"/>
          <a:lstStyle/>
          <a:p>
            <a:pPr marL="0" indent="0">
              <a:buNone/>
            </a:pPr>
            <a:r>
              <a:rPr lang="en-US" sz="1450" dirty="0">
                <a:solidFill>
                  <a:srgbClr val="0D1117"/>
                </a:solidFill>
                <a:latin typeface="Calibri" pitchFamily="34" charset="0"/>
                <a:ea typeface="Calibri" pitchFamily="34" charset="-122"/>
                <a:cs typeface="Calibri" pitchFamily="34" charset="-120"/>
              </a:rPr>
              <a:t>Devices and software actually available at school • time remaining before Outcome 1 submission • programming/design skills currently in your group. Naming a constraint is only useful if you can say what it means for a specific decision.</a:t>
            </a:r>
            <a:endParaRPr lang="en-US" sz="1450" dirty="0"/>
          </a:p>
        </p:txBody>
      </p:sp>
      <p:sp>
        <p:nvSpPr>
          <p:cNvPr id="9" name="Shape 7"/>
          <p:cNvSpPr/>
          <p:nvPr/>
        </p:nvSpPr>
        <p:spPr>
          <a:xfrm>
            <a:off x="457200" y="3108960"/>
            <a:ext cx="11247120" cy="640080"/>
          </a:xfrm>
          <a:prstGeom prst="roundRect">
            <a:avLst>
              <a:gd name="adj" fmla="val 14286"/>
            </a:avLst>
          </a:prstGeom>
          <a:solidFill>
            <a:srgbClr val="8B5CF6"/>
          </a:solidFill>
          <a:ln w="12700">
            <a:solidFill>
              <a:srgbClr val="333333"/>
            </a:solidFill>
            <a:prstDash val="solid"/>
          </a:ln>
        </p:spPr>
        <p:txBody>
          <a:bodyPr/>
          <a:lstStyle/>
          <a:p>
            <a:endParaRPr lang="en-AU"/>
          </a:p>
        </p:txBody>
      </p:sp>
      <p:sp>
        <p:nvSpPr>
          <p:cNvPr id="10" name="Text 8"/>
          <p:cNvSpPr/>
          <p:nvPr/>
        </p:nvSpPr>
        <p:spPr>
          <a:xfrm>
            <a:off x="731520" y="3108960"/>
            <a:ext cx="10698480" cy="6400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SCOPE — the boundary of the version you’re committing to build</a:t>
            </a:r>
            <a:endParaRPr lang="en-US" sz="1500" dirty="0"/>
          </a:p>
        </p:txBody>
      </p:sp>
      <p:sp>
        <p:nvSpPr>
          <p:cNvPr id="11" name="Shape 9"/>
          <p:cNvSpPr/>
          <p:nvPr/>
        </p:nvSpPr>
        <p:spPr>
          <a:xfrm>
            <a:off x="457200" y="3931920"/>
            <a:ext cx="5394960" cy="1920240"/>
          </a:xfrm>
          <a:prstGeom prst="roundRect">
            <a:avLst>
              <a:gd name="adj" fmla="val 4762"/>
            </a:avLst>
          </a:prstGeom>
          <a:solidFill>
            <a:srgbClr val="E6F9F2"/>
          </a:solidFill>
          <a:ln w="12700">
            <a:solidFill>
              <a:srgbClr val="10B981"/>
            </a:solidFill>
            <a:prstDash val="solid"/>
          </a:ln>
        </p:spPr>
        <p:txBody>
          <a:bodyPr/>
          <a:lstStyle/>
          <a:p>
            <a:endParaRPr lang="en-AU"/>
          </a:p>
        </p:txBody>
      </p:sp>
      <p:sp>
        <p:nvSpPr>
          <p:cNvPr id="12" name="Text 10"/>
          <p:cNvSpPr/>
          <p:nvPr/>
        </p:nvSpPr>
        <p:spPr>
          <a:xfrm>
            <a:off x="685800" y="4069080"/>
            <a:ext cx="4937760" cy="320040"/>
          </a:xfrm>
          <a:prstGeom prst="rect">
            <a:avLst/>
          </a:prstGeom>
          <a:noFill/>
          <a:ln/>
        </p:spPr>
        <p:txBody>
          <a:bodyPr wrap="square" lIns="0" tIns="0" rIns="0" bIns="0" rtlCol="0" anchor="ctr"/>
          <a:lstStyle/>
          <a:p>
            <a:pPr marL="0" indent="0">
              <a:buNone/>
            </a:pPr>
            <a:r>
              <a:rPr lang="en-US" sz="1200" b="1" dirty="0">
                <a:solidFill>
                  <a:srgbClr val="10B981"/>
                </a:solidFill>
                <a:latin typeface="DM Mono" pitchFamily="34" charset="0"/>
                <a:ea typeface="DM Mono" pitchFamily="34" charset="-122"/>
                <a:cs typeface="DM Mono" pitchFamily="34" charset="-120"/>
              </a:rPr>
              <a:t>IN SCOPE</a:t>
            </a:r>
            <a:endParaRPr lang="en-US" sz="1200" dirty="0"/>
          </a:p>
        </p:txBody>
      </p:sp>
      <p:sp>
        <p:nvSpPr>
          <p:cNvPr id="13" name="Text 11"/>
          <p:cNvSpPr/>
          <p:nvPr/>
        </p:nvSpPr>
        <p:spPr>
          <a:xfrm>
            <a:off x="685800" y="4434840"/>
            <a:ext cx="4937760" cy="1280160"/>
          </a:xfrm>
          <a:prstGeom prst="rect">
            <a:avLst/>
          </a:prstGeom>
          <a:noFill/>
          <a:ln/>
        </p:spPr>
        <p:txBody>
          <a:bodyPr wrap="square" lIns="0" tIns="0" rIns="0" bIns="0" rtlCol="0" anchor="t"/>
          <a:lstStyle/>
          <a:p>
            <a:pPr marL="0" indent="0">
              <a:buNone/>
            </a:pPr>
            <a:r>
              <a:rPr lang="en-US" sz="1400" i="1" dirty="0">
                <a:solidFill>
                  <a:srgbClr val="0D1117"/>
                </a:solidFill>
                <a:latin typeface="Calibri" pitchFamily="34" charset="0"/>
                <a:ea typeface="Calibri" pitchFamily="34" charset="-122"/>
                <a:cs typeface="Calibri" pitchFamily="34" charset="-120"/>
              </a:rPr>
              <a:t>A shared reminder that notifies both buddies at a set check-in time.</a:t>
            </a:r>
            <a:endParaRPr lang="en-US" sz="1400" dirty="0"/>
          </a:p>
        </p:txBody>
      </p:sp>
      <p:sp>
        <p:nvSpPr>
          <p:cNvPr id="14" name="Shape 12"/>
          <p:cNvSpPr/>
          <p:nvPr/>
        </p:nvSpPr>
        <p:spPr>
          <a:xfrm>
            <a:off x="6309360" y="3931920"/>
            <a:ext cx="5394960" cy="1920240"/>
          </a:xfrm>
          <a:prstGeom prst="roundRect">
            <a:avLst>
              <a:gd name="adj" fmla="val 4762"/>
            </a:avLst>
          </a:prstGeom>
          <a:solidFill>
            <a:srgbClr val="FDEBEB"/>
          </a:solidFill>
          <a:ln w="12700">
            <a:solidFill>
              <a:srgbClr val="EF4444"/>
            </a:solidFill>
            <a:prstDash val="solid"/>
          </a:ln>
        </p:spPr>
        <p:txBody>
          <a:bodyPr/>
          <a:lstStyle/>
          <a:p>
            <a:endParaRPr lang="en-AU"/>
          </a:p>
        </p:txBody>
      </p:sp>
      <p:sp>
        <p:nvSpPr>
          <p:cNvPr id="15" name="Text 13"/>
          <p:cNvSpPr/>
          <p:nvPr/>
        </p:nvSpPr>
        <p:spPr>
          <a:xfrm>
            <a:off x="6537960" y="4069080"/>
            <a:ext cx="4937760" cy="320040"/>
          </a:xfrm>
          <a:prstGeom prst="rect">
            <a:avLst/>
          </a:prstGeom>
          <a:noFill/>
          <a:ln/>
        </p:spPr>
        <p:txBody>
          <a:bodyPr wrap="square" lIns="0" tIns="0" rIns="0" bIns="0" rtlCol="0" anchor="ctr"/>
          <a:lstStyle/>
          <a:p>
            <a:pPr marL="0" indent="0">
              <a:buNone/>
            </a:pPr>
            <a:r>
              <a:rPr lang="en-US" sz="1200" b="1" dirty="0">
                <a:solidFill>
                  <a:srgbClr val="EF4444"/>
                </a:solidFill>
                <a:latin typeface="DM Mono" pitchFamily="34" charset="0"/>
                <a:ea typeface="DM Mono" pitchFamily="34" charset="-122"/>
                <a:cs typeface="DM Mono" pitchFamily="34" charset="-120"/>
              </a:rPr>
              <a:t>OUT OF SCOPE (for now)</a:t>
            </a:r>
            <a:endParaRPr lang="en-US" sz="1200" dirty="0"/>
          </a:p>
        </p:txBody>
      </p:sp>
      <p:sp>
        <p:nvSpPr>
          <p:cNvPr id="16" name="Text 14"/>
          <p:cNvSpPr/>
          <p:nvPr/>
        </p:nvSpPr>
        <p:spPr>
          <a:xfrm>
            <a:off x="6537960" y="4434840"/>
            <a:ext cx="4937760" cy="1280160"/>
          </a:xfrm>
          <a:prstGeom prst="rect">
            <a:avLst/>
          </a:prstGeom>
          <a:noFill/>
          <a:ln/>
        </p:spPr>
        <p:txBody>
          <a:bodyPr wrap="square" lIns="0" tIns="0" rIns="0" bIns="0" rtlCol="0" anchor="t"/>
          <a:lstStyle/>
          <a:p>
            <a:pPr marL="0" indent="0">
              <a:buNone/>
            </a:pPr>
            <a:r>
              <a:rPr lang="en-US" sz="1400" i="1" dirty="0">
                <a:solidFill>
                  <a:srgbClr val="0D1117"/>
                </a:solidFill>
                <a:latin typeface="Calibri" pitchFamily="34" charset="0"/>
                <a:ea typeface="Calibri" pitchFamily="34" charset="-122"/>
                <a:cs typeface="Calibri" pitchFamily="34" charset="-120"/>
              </a:rPr>
              <a:t>Automatically detecting whether equipment is actually packed — needs extra hardware; noted as a future extension.</a:t>
            </a:r>
            <a:endParaRPr lang="en-US" sz="1400" dirty="0"/>
          </a:p>
        </p:txBody>
      </p:sp>
      <p:sp>
        <p:nvSpPr>
          <p:cNvPr id="17" name="Text 15"/>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8" name="Text 16"/>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8B5CF6"/>
          </a:solidFill>
          <a:ln w="12700">
            <a:solidFill>
              <a:srgbClr val="8B5CF6"/>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2331720" y="384048"/>
            <a:ext cx="5486400" cy="274320"/>
          </a:xfrm>
          <a:prstGeom prst="rect">
            <a:avLst/>
          </a:prstGeom>
          <a:noFill/>
          <a:ln/>
        </p:spPr>
        <p:txBody>
          <a:bodyPr wrap="square" lIns="0" tIns="0" rIns="0" bIns="0" rtlCol="0" anchor="ctr"/>
          <a:lstStyle/>
          <a:p>
            <a:pPr marL="0" indent="0">
              <a:buNone/>
            </a:pPr>
            <a:r>
              <a:rPr lang="en-US" sz="1200" dirty="0">
                <a:solidFill>
                  <a:srgbClr val="8B949E"/>
                </a:solidFill>
                <a:latin typeface="DM Mono" pitchFamily="34" charset="0"/>
                <a:ea typeface="DM Mono" pitchFamily="34" charset="-122"/>
                <a:cs typeface="DM Mono" pitchFamily="34" charset="-120"/>
              </a:rPr>
              <a:t>Recap</a:t>
            </a:r>
            <a:endParaRPr lang="en-US" sz="1200" dirty="0"/>
          </a:p>
        </p:txBody>
      </p:sp>
      <p:sp>
        <p:nvSpPr>
          <p:cNvPr id="5" name="Text 3"/>
          <p:cNvSpPr/>
          <p:nvPr/>
        </p:nvSpPr>
        <p:spPr>
          <a:xfrm>
            <a:off x="457200" y="868680"/>
            <a:ext cx="11247120" cy="548640"/>
          </a:xfrm>
          <a:prstGeom prst="rect">
            <a:avLst/>
          </a:prstGeom>
          <a:noFill/>
          <a:ln/>
        </p:spPr>
        <p:txBody>
          <a:bodyPr wrap="square" lIns="0" tIns="0" rIns="0" bIns="0" rtlCol="0" anchor="ctr"/>
          <a:lstStyle/>
          <a:p>
            <a:pPr marL="0" indent="0">
              <a:buNone/>
            </a:pPr>
            <a:r>
              <a:rPr lang="en-US" sz="2800" b="1" dirty="0">
                <a:solidFill>
                  <a:srgbClr val="0D1117"/>
                </a:solidFill>
                <a:latin typeface="Bookman Old Style" pitchFamily="34" charset="0"/>
                <a:ea typeface="Bookman Old Style" pitchFamily="34" charset="-122"/>
                <a:cs typeface="Bookman Old Style" pitchFamily="34" charset="-120"/>
              </a:rPr>
              <a:t>Specification Checklist</a:t>
            </a:r>
            <a:endParaRPr lang="en-US" sz="2800" dirty="0"/>
          </a:p>
        </p:txBody>
      </p:sp>
      <p:sp>
        <p:nvSpPr>
          <p:cNvPr id="6" name="Shape 4"/>
          <p:cNvSpPr/>
          <p:nvPr/>
        </p:nvSpPr>
        <p:spPr>
          <a:xfrm>
            <a:off x="457200" y="1600200"/>
            <a:ext cx="11247120" cy="914400"/>
          </a:xfrm>
          <a:prstGeom prst="roundRect">
            <a:avLst>
              <a:gd name="adj" fmla="val 8000"/>
            </a:avLst>
          </a:prstGeom>
          <a:solidFill>
            <a:srgbClr val="EAEEFC"/>
          </a:solidFill>
          <a:ln w="12700">
            <a:solidFill>
              <a:srgbClr val="4361EE"/>
            </a:solidFill>
            <a:prstDash val="solid"/>
          </a:ln>
        </p:spPr>
        <p:txBody>
          <a:bodyPr/>
          <a:lstStyle/>
          <a:p>
            <a:endParaRPr lang="en-AU"/>
          </a:p>
        </p:txBody>
      </p:sp>
      <p:sp>
        <p:nvSpPr>
          <p:cNvPr id="7" name="Text 5"/>
          <p:cNvSpPr/>
          <p:nvPr/>
        </p:nvSpPr>
        <p:spPr>
          <a:xfrm>
            <a:off x="685800" y="1673352"/>
            <a:ext cx="2743200" cy="777240"/>
          </a:xfrm>
          <a:prstGeom prst="rect">
            <a:avLst/>
          </a:prstGeom>
          <a:noFill/>
          <a:ln/>
        </p:spPr>
        <p:txBody>
          <a:bodyPr wrap="square" lIns="0" tIns="0" rIns="0" bIns="0" rtlCol="0" anchor="ctr"/>
          <a:lstStyle/>
          <a:p>
            <a:pPr marL="0" indent="0">
              <a:buNone/>
            </a:pPr>
            <a:r>
              <a:rPr lang="en-US" sz="1450" b="1" dirty="0">
                <a:solidFill>
                  <a:srgbClr val="4361EE"/>
                </a:solidFill>
                <a:latin typeface="Calibri" pitchFamily="34" charset="0"/>
                <a:ea typeface="Calibri" pitchFamily="34" charset="-122"/>
                <a:cs typeface="Calibri" pitchFamily="34" charset="-120"/>
              </a:rPr>
              <a:t>Functional</a:t>
            </a:r>
            <a:endParaRPr lang="en-US" sz="1450" dirty="0"/>
          </a:p>
          <a:p>
            <a:pPr marL="0" indent="0">
              <a:buNone/>
            </a:pPr>
            <a:r>
              <a:rPr lang="en-US" sz="1450" b="1" dirty="0">
                <a:solidFill>
                  <a:srgbClr val="4361EE"/>
                </a:solidFill>
                <a:latin typeface="Calibri" pitchFamily="34" charset="0"/>
                <a:ea typeface="Calibri" pitchFamily="34" charset="-122"/>
                <a:cs typeface="Calibri" pitchFamily="34" charset="-120"/>
              </a:rPr>
              <a:t>Requirements</a:t>
            </a:r>
            <a:endParaRPr lang="en-US" sz="1450" dirty="0"/>
          </a:p>
        </p:txBody>
      </p:sp>
      <p:sp>
        <p:nvSpPr>
          <p:cNvPr id="8" name="Text 6"/>
          <p:cNvSpPr/>
          <p:nvPr/>
        </p:nvSpPr>
        <p:spPr>
          <a:xfrm>
            <a:off x="3566160" y="1673352"/>
            <a:ext cx="7955280" cy="777240"/>
          </a:xfrm>
          <a:prstGeom prst="rect">
            <a:avLst/>
          </a:prstGeom>
          <a:noFill/>
          <a:ln/>
        </p:spPr>
        <p:txBody>
          <a:bodyPr wrap="square" lIns="0" tIns="0" rIns="0" bIns="0" rtlCol="0" anchor="ctr"/>
          <a:lstStyle/>
          <a:p>
            <a:pPr marL="0" indent="0">
              <a:buNone/>
            </a:pPr>
            <a:r>
              <a:rPr lang="en-US" sz="1450" dirty="0">
                <a:solidFill>
                  <a:srgbClr val="0D1117"/>
                </a:solidFill>
                <a:latin typeface="Calibri" pitchFamily="34" charset="0"/>
                <a:ea typeface="Calibri" pitchFamily="34" charset="-122"/>
                <a:cs typeface="Calibri" pitchFamily="34" charset="-120"/>
              </a:rPr>
              <a:t>Have I named at least four specific things the solution must do?</a:t>
            </a:r>
            <a:endParaRPr lang="en-US" sz="1450" dirty="0"/>
          </a:p>
        </p:txBody>
      </p:sp>
      <p:sp>
        <p:nvSpPr>
          <p:cNvPr id="9" name="Shape 7"/>
          <p:cNvSpPr/>
          <p:nvPr/>
        </p:nvSpPr>
        <p:spPr>
          <a:xfrm>
            <a:off x="457200" y="2651760"/>
            <a:ext cx="11247120" cy="914400"/>
          </a:xfrm>
          <a:prstGeom prst="roundRect">
            <a:avLst>
              <a:gd name="adj" fmla="val 8000"/>
            </a:avLst>
          </a:prstGeom>
          <a:solidFill>
            <a:srgbClr val="E6F9F2"/>
          </a:solidFill>
          <a:ln w="12700">
            <a:solidFill>
              <a:srgbClr val="10B981"/>
            </a:solidFill>
            <a:prstDash val="solid"/>
          </a:ln>
        </p:spPr>
        <p:txBody>
          <a:bodyPr/>
          <a:lstStyle/>
          <a:p>
            <a:endParaRPr lang="en-AU"/>
          </a:p>
        </p:txBody>
      </p:sp>
      <p:sp>
        <p:nvSpPr>
          <p:cNvPr id="10" name="Text 8"/>
          <p:cNvSpPr/>
          <p:nvPr/>
        </p:nvSpPr>
        <p:spPr>
          <a:xfrm>
            <a:off x="685800" y="2724912"/>
            <a:ext cx="2743200" cy="777240"/>
          </a:xfrm>
          <a:prstGeom prst="rect">
            <a:avLst/>
          </a:prstGeom>
          <a:noFill/>
          <a:ln/>
        </p:spPr>
        <p:txBody>
          <a:bodyPr wrap="square" lIns="0" tIns="0" rIns="0" bIns="0" rtlCol="0" anchor="ctr"/>
          <a:lstStyle/>
          <a:p>
            <a:pPr marL="0" indent="0">
              <a:buNone/>
            </a:pPr>
            <a:r>
              <a:rPr lang="en-US" sz="1450" b="1" dirty="0">
                <a:solidFill>
                  <a:srgbClr val="10B981"/>
                </a:solidFill>
                <a:latin typeface="Calibri" pitchFamily="34" charset="0"/>
                <a:ea typeface="Calibri" pitchFamily="34" charset="-122"/>
                <a:cs typeface="Calibri" pitchFamily="34" charset="-120"/>
              </a:rPr>
              <a:t>Non-Functional</a:t>
            </a:r>
            <a:endParaRPr lang="en-US" sz="1450" dirty="0"/>
          </a:p>
          <a:p>
            <a:pPr marL="0" indent="0">
              <a:buNone/>
            </a:pPr>
            <a:r>
              <a:rPr lang="en-US" sz="1450" b="1" dirty="0">
                <a:solidFill>
                  <a:srgbClr val="10B981"/>
                </a:solidFill>
                <a:latin typeface="Calibri" pitchFamily="34" charset="0"/>
                <a:ea typeface="Calibri" pitchFamily="34" charset="-122"/>
                <a:cs typeface="Calibri" pitchFamily="34" charset="-120"/>
              </a:rPr>
              <a:t>Requirements</a:t>
            </a:r>
            <a:endParaRPr lang="en-US" sz="1450" dirty="0"/>
          </a:p>
        </p:txBody>
      </p:sp>
      <p:sp>
        <p:nvSpPr>
          <p:cNvPr id="11" name="Text 9"/>
          <p:cNvSpPr/>
          <p:nvPr/>
        </p:nvSpPr>
        <p:spPr>
          <a:xfrm>
            <a:off x="3566160" y="2724912"/>
            <a:ext cx="7955280" cy="777240"/>
          </a:xfrm>
          <a:prstGeom prst="rect">
            <a:avLst/>
          </a:prstGeom>
          <a:noFill/>
          <a:ln/>
        </p:spPr>
        <p:txBody>
          <a:bodyPr wrap="square" lIns="0" tIns="0" rIns="0" bIns="0" rtlCol="0" anchor="ctr"/>
          <a:lstStyle/>
          <a:p>
            <a:pPr marL="0" indent="0">
              <a:buNone/>
            </a:pPr>
            <a:r>
              <a:rPr lang="en-US" sz="1450" dirty="0">
                <a:solidFill>
                  <a:srgbClr val="0D1117"/>
                </a:solidFill>
                <a:latin typeface="Calibri" pitchFamily="34" charset="0"/>
                <a:ea typeface="Calibri" pitchFamily="34" charset="-122"/>
                <a:cs typeface="Calibri" pitchFamily="34" charset="-120"/>
              </a:rPr>
              <a:t>Have I named at least two qualities of how well it must perform?</a:t>
            </a:r>
            <a:endParaRPr lang="en-US" sz="1450" dirty="0"/>
          </a:p>
        </p:txBody>
      </p:sp>
      <p:sp>
        <p:nvSpPr>
          <p:cNvPr id="12" name="Shape 10"/>
          <p:cNvSpPr/>
          <p:nvPr/>
        </p:nvSpPr>
        <p:spPr>
          <a:xfrm>
            <a:off x="457200" y="3703320"/>
            <a:ext cx="11247120" cy="914400"/>
          </a:xfrm>
          <a:prstGeom prst="roundRect">
            <a:avLst>
              <a:gd name="adj" fmla="val 8000"/>
            </a:avLst>
          </a:prstGeom>
          <a:solidFill>
            <a:srgbClr val="FEF3E2"/>
          </a:solidFill>
          <a:ln w="12700">
            <a:solidFill>
              <a:srgbClr val="F59E0B"/>
            </a:solidFill>
            <a:prstDash val="solid"/>
          </a:ln>
        </p:spPr>
        <p:txBody>
          <a:bodyPr/>
          <a:lstStyle/>
          <a:p>
            <a:endParaRPr lang="en-AU"/>
          </a:p>
        </p:txBody>
      </p:sp>
      <p:sp>
        <p:nvSpPr>
          <p:cNvPr id="13" name="Text 11"/>
          <p:cNvSpPr/>
          <p:nvPr/>
        </p:nvSpPr>
        <p:spPr>
          <a:xfrm>
            <a:off x="685800" y="3776472"/>
            <a:ext cx="2743200" cy="777240"/>
          </a:xfrm>
          <a:prstGeom prst="rect">
            <a:avLst/>
          </a:prstGeom>
          <a:noFill/>
          <a:ln/>
        </p:spPr>
        <p:txBody>
          <a:bodyPr wrap="square" lIns="0" tIns="0" rIns="0" bIns="0" rtlCol="0" anchor="ctr"/>
          <a:lstStyle/>
          <a:p>
            <a:pPr marL="0" indent="0">
              <a:buNone/>
            </a:pPr>
            <a:r>
              <a:rPr lang="en-US" sz="1450" b="1" dirty="0">
                <a:solidFill>
                  <a:srgbClr val="F59E0B"/>
                </a:solidFill>
                <a:latin typeface="Calibri" pitchFamily="34" charset="0"/>
                <a:ea typeface="Calibri" pitchFamily="34" charset="-122"/>
                <a:cs typeface="Calibri" pitchFamily="34" charset="-120"/>
              </a:rPr>
              <a:t>Constraints</a:t>
            </a:r>
            <a:endParaRPr lang="en-US" sz="1450" dirty="0"/>
          </a:p>
        </p:txBody>
      </p:sp>
      <p:sp>
        <p:nvSpPr>
          <p:cNvPr id="14" name="Text 12"/>
          <p:cNvSpPr/>
          <p:nvPr/>
        </p:nvSpPr>
        <p:spPr>
          <a:xfrm>
            <a:off x="3566160" y="3776472"/>
            <a:ext cx="7955280" cy="777240"/>
          </a:xfrm>
          <a:prstGeom prst="rect">
            <a:avLst/>
          </a:prstGeom>
          <a:noFill/>
          <a:ln/>
        </p:spPr>
        <p:txBody>
          <a:bodyPr wrap="square" lIns="0" tIns="0" rIns="0" bIns="0" rtlCol="0" anchor="ctr"/>
          <a:lstStyle/>
          <a:p>
            <a:pPr marL="0" indent="0">
              <a:buNone/>
            </a:pPr>
            <a:r>
              <a:rPr lang="en-US" sz="1450" dirty="0">
                <a:solidFill>
                  <a:srgbClr val="0D1117"/>
                </a:solidFill>
                <a:latin typeface="Calibri" pitchFamily="34" charset="0"/>
                <a:ea typeface="Calibri" pitchFamily="34" charset="-122"/>
                <a:cs typeface="Calibri" pitchFamily="34" charset="-120"/>
              </a:rPr>
              <a:t>Have I named real limits on budget, time, technology, or skills?</a:t>
            </a:r>
            <a:endParaRPr lang="en-US" sz="1450" dirty="0"/>
          </a:p>
        </p:txBody>
      </p:sp>
      <p:sp>
        <p:nvSpPr>
          <p:cNvPr id="15" name="Shape 13"/>
          <p:cNvSpPr/>
          <p:nvPr/>
        </p:nvSpPr>
        <p:spPr>
          <a:xfrm>
            <a:off x="457200" y="4754880"/>
            <a:ext cx="11247120" cy="914400"/>
          </a:xfrm>
          <a:prstGeom prst="roundRect">
            <a:avLst>
              <a:gd name="adj" fmla="val 8000"/>
            </a:avLst>
          </a:prstGeom>
          <a:solidFill>
            <a:srgbClr val="F1ECFE"/>
          </a:solidFill>
          <a:ln w="12700">
            <a:solidFill>
              <a:srgbClr val="8B5CF6"/>
            </a:solidFill>
            <a:prstDash val="solid"/>
          </a:ln>
        </p:spPr>
        <p:txBody>
          <a:bodyPr/>
          <a:lstStyle/>
          <a:p>
            <a:endParaRPr lang="en-AU"/>
          </a:p>
        </p:txBody>
      </p:sp>
      <p:sp>
        <p:nvSpPr>
          <p:cNvPr id="16" name="Text 14"/>
          <p:cNvSpPr/>
          <p:nvPr/>
        </p:nvSpPr>
        <p:spPr>
          <a:xfrm>
            <a:off x="685800" y="4828032"/>
            <a:ext cx="2743200" cy="777240"/>
          </a:xfrm>
          <a:prstGeom prst="rect">
            <a:avLst/>
          </a:prstGeom>
          <a:noFill/>
          <a:ln/>
        </p:spPr>
        <p:txBody>
          <a:bodyPr wrap="square" lIns="0" tIns="0" rIns="0" bIns="0" rtlCol="0" anchor="ctr"/>
          <a:lstStyle/>
          <a:p>
            <a:pPr marL="0" indent="0">
              <a:buNone/>
            </a:pPr>
            <a:r>
              <a:rPr lang="en-US" sz="1450" b="1" dirty="0">
                <a:solidFill>
                  <a:srgbClr val="8B5CF6"/>
                </a:solidFill>
                <a:latin typeface="Calibri" pitchFamily="34" charset="0"/>
                <a:ea typeface="Calibri" pitchFamily="34" charset="-122"/>
                <a:cs typeface="Calibri" pitchFamily="34" charset="-120"/>
              </a:rPr>
              <a:t>Scope</a:t>
            </a:r>
            <a:endParaRPr lang="en-US" sz="1450" dirty="0"/>
          </a:p>
        </p:txBody>
      </p:sp>
      <p:sp>
        <p:nvSpPr>
          <p:cNvPr id="17" name="Text 15"/>
          <p:cNvSpPr/>
          <p:nvPr/>
        </p:nvSpPr>
        <p:spPr>
          <a:xfrm>
            <a:off x="3566160" y="4828032"/>
            <a:ext cx="7955280" cy="777240"/>
          </a:xfrm>
          <a:prstGeom prst="rect">
            <a:avLst/>
          </a:prstGeom>
          <a:noFill/>
          <a:ln/>
        </p:spPr>
        <p:txBody>
          <a:bodyPr wrap="square" lIns="0" tIns="0" rIns="0" bIns="0" rtlCol="0" anchor="ctr"/>
          <a:lstStyle/>
          <a:p>
            <a:pPr marL="0" indent="0">
              <a:buNone/>
            </a:pPr>
            <a:r>
              <a:rPr lang="en-US" sz="1450" dirty="0">
                <a:solidFill>
                  <a:srgbClr val="0D1117"/>
                </a:solidFill>
                <a:latin typeface="Calibri" pitchFamily="34" charset="0"/>
                <a:ea typeface="Calibri" pitchFamily="34" charset="-122"/>
                <a:cs typeface="Calibri" pitchFamily="34" charset="-120"/>
              </a:rPr>
              <a:t>Is it clear what’s in, and what’s deliberately left out?</a:t>
            </a:r>
            <a:endParaRPr lang="en-US" sz="1450" dirty="0"/>
          </a:p>
        </p:txBody>
      </p:sp>
      <p:sp>
        <p:nvSpPr>
          <p:cNvPr id="18" name="Text 16"/>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9" name="Text 17"/>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57200" y="457200"/>
            <a:ext cx="2743200" cy="502920"/>
          </a:xfrm>
          <a:prstGeom prst="roundRect">
            <a:avLst>
              <a:gd name="adj" fmla="val 14545"/>
            </a:avLst>
          </a:prstGeom>
          <a:solidFill>
            <a:srgbClr val="F59E0B"/>
          </a:solidFill>
          <a:ln w="12700">
            <a:solidFill>
              <a:srgbClr val="333333"/>
            </a:solidFill>
            <a:prstDash val="solid"/>
          </a:ln>
        </p:spPr>
        <p:txBody>
          <a:bodyPr/>
          <a:lstStyle/>
          <a:p>
            <a:endParaRPr lang="en-AU"/>
          </a:p>
        </p:txBody>
      </p:sp>
      <p:sp>
        <p:nvSpPr>
          <p:cNvPr id="3" name="Text 1"/>
          <p:cNvSpPr/>
          <p:nvPr/>
        </p:nvSpPr>
        <p:spPr>
          <a:xfrm>
            <a:off x="457200" y="457200"/>
            <a:ext cx="274320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BRAIN BREAK</a:t>
            </a:r>
            <a:endParaRPr lang="en-US" sz="1500" dirty="0"/>
          </a:p>
        </p:txBody>
      </p:sp>
      <p:sp>
        <p:nvSpPr>
          <p:cNvPr id="4" name="Text 2"/>
          <p:cNvSpPr/>
          <p:nvPr/>
        </p:nvSpPr>
        <p:spPr>
          <a:xfrm>
            <a:off x="457200" y="1188720"/>
            <a:ext cx="11247120" cy="640080"/>
          </a:xfrm>
          <a:prstGeom prst="rect">
            <a:avLst/>
          </a:prstGeom>
          <a:noFill/>
          <a:ln/>
        </p:spPr>
        <p:txBody>
          <a:bodyPr wrap="square" lIns="0" tIns="0" rIns="0" bIns="0"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Two Truths and a Tech Lie</a:t>
            </a:r>
            <a:endParaRPr lang="en-US" sz="2800" dirty="0"/>
          </a:p>
        </p:txBody>
      </p:sp>
      <p:sp>
        <p:nvSpPr>
          <p:cNvPr id="5" name="Text 3"/>
          <p:cNvSpPr/>
          <p:nvPr/>
        </p:nvSpPr>
        <p:spPr>
          <a:xfrm>
            <a:off x="457200" y="1828800"/>
            <a:ext cx="11247120" cy="457200"/>
          </a:xfrm>
          <a:prstGeom prst="rect">
            <a:avLst/>
          </a:prstGeom>
          <a:noFill/>
          <a:ln/>
        </p:spPr>
        <p:txBody>
          <a:bodyPr wrap="square" lIns="0" tIns="0" rIns="0" bIns="0" rtlCol="0" anchor="ctr"/>
          <a:lstStyle/>
          <a:p>
            <a:pPr marL="0" indent="0">
              <a:buNone/>
            </a:pPr>
            <a:r>
              <a:rPr lang="en-US" sz="1600" i="1" dirty="0">
                <a:solidFill>
                  <a:srgbClr val="C7D2FE"/>
                </a:solidFill>
                <a:latin typeface="Calibri" pitchFamily="34" charset="0"/>
                <a:ea typeface="Calibri" pitchFamily="34" charset="-122"/>
                <a:cs typeface="Calibri" pitchFamily="34" charset="-120"/>
              </a:rPr>
              <a:t>Which one is the LIE? Discuss with your group</a:t>
            </a:r>
            <a:endParaRPr lang="en-US" sz="1600" dirty="0"/>
          </a:p>
        </p:txBody>
      </p:sp>
      <p:sp>
        <p:nvSpPr>
          <p:cNvPr id="6" name="Shape 4"/>
          <p:cNvSpPr/>
          <p:nvPr/>
        </p:nvSpPr>
        <p:spPr>
          <a:xfrm>
            <a:off x="548640" y="2560320"/>
            <a:ext cx="502920" cy="502920"/>
          </a:xfrm>
          <a:prstGeom prst="ellipse">
            <a:avLst/>
          </a:prstGeom>
          <a:solidFill>
            <a:srgbClr val="F59E0B"/>
          </a:solidFill>
          <a:ln w="12700">
            <a:solidFill>
              <a:srgbClr val="333333"/>
            </a:solidFill>
            <a:prstDash val="solid"/>
          </a:ln>
        </p:spPr>
        <p:txBody>
          <a:bodyPr/>
          <a:lstStyle/>
          <a:p>
            <a:endParaRPr lang="en-AU"/>
          </a:p>
        </p:txBody>
      </p:sp>
      <p:sp>
        <p:nvSpPr>
          <p:cNvPr id="7" name="Text 5"/>
          <p:cNvSpPr/>
          <p:nvPr/>
        </p:nvSpPr>
        <p:spPr>
          <a:xfrm>
            <a:off x="548640" y="2560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Shape 6"/>
          <p:cNvSpPr/>
          <p:nvPr/>
        </p:nvSpPr>
        <p:spPr>
          <a:xfrm>
            <a:off x="1234440" y="2560320"/>
            <a:ext cx="10424160" cy="1051560"/>
          </a:xfrm>
          <a:prstGeom prst="roundRect">
            <a:avLst>
              <a:gd name="adj" fmla="val 6957"/>
            </a:avLst>
          </a:prstGeom>
          <a:solidFill>
            <a:srgbClr val="1F2530"/>
          </a:solidFill>
          <a:ln w="12700">
            <a:solidFill>
              <a:srgbClr val="30363D"/>
            </a:solidFill>
            <a:prstDash val="solid"/>
          </a:ln>
        </p:spPr>
        <p:txBody>
          <a:bodyPr/>
          <a:lstStyle/>
          <a:p>
            <a:endParaRPr lang="en-AU"/>
          </a:p>
        </p:txBody>
      </p:sp>
      <p:sp>
        <p:nvSpPr>
          <p:cNvPr id="9" name="Text 7"/>
          <p:cNvSpPr/>
          <p:nvPr/>
        </p:nvSpPr>
        <p:spPr>
          <a:xfrm>
            <a:off x="1463040" y="2560320"/>
            <a:ext cx="9966960" cy="105156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The Post-it Note was invented by accident, from a "failed" attempt to create a super-strong adhesive.</a:t>
            </a:r>
            <a:endParaRPr lang="en-US" sz="1550" dirty="0"/>
          </a:p>
        </p:txBody>
      </p:sp>
      <p:sp>
        <p:nvSpPr>
          <p:cNvPr id="10" name="Shape 8"/>
          <p:cNvSpPr/>
          <p:nvPr/>
        </p:nvSpPr>
        <p:spPr>
          <a:xfrm>
            <a:off x="548640" y="3794760"/>
            <a:ext cx="502920" cy="502920"/>
          </a:xfrm>
          <a:prstGeom prst="ellipse">
            <a:avLst/>
          </a:prstGeom>
          <a:solidFill>
            <a:srgbClr val="F59E0B"/>
          </a:solidFill>
          <a:ln w="12700">
            <a:solidFill>
              <a:srgbClr val="333333"/>
            </a:solidFill>
            <a:prstDash val="solid"/>
          </a:ln>
        </p:spPr>
        <p:txBody>
          <a:bodyPr/>
          <a:lstStyle/>
          <a:p>
            <a:endParaRPr lang="en-AU"/>
          </a:p>
        </p:txBody>
      </p:sp>
      <p:sp>
        <p:nvSpPr>
          <p:cNvPr id="11" name="Text 9"/>
          <p:cNvSpPr/>
          <p:nvPr/>
        </p:nvSpPr>
        <p:spPr>
          <a:xfrm>
            <a:off x="548640" y="3794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1234440" y="3794760"/>
            <a:ext cx="10424160" cy="1051560"/>
          </a:xfrm>
          <a:prstGeom prst="roundRect">
            <a:avLst>
              <a:gd name="adj" fmla="val 6957"/>
            </a:avLst>
          </a:prstGeom>
          <a:solidFill>
            <a:srgbClr val="1F2530"/>
          </a:solidFill>
          <a:ln w="12700">
            <a:solidFill>
              <a:srgbClr val="30363D"/>
            </a:solidFill>
            <a:prstDash val="solid"/>
          </a:ln>
        </p:spPr>
        <p:txBody>
          <a:bodyPr/>
          <a:lstStyle/>
          <a:p>
            <a:endParaRPr lang="en-AU"/>
          </a:p>
        </p:txBody>
      </p:sp>
      <p:sp>
        <p:nvSpPr>
          <p:cNvPr id="13" name="Text 11"/>
          <p:cNvSpPr/>
          <p:nvPr/>
        </p:nvSpPr>
        <p:spPr>
          <a:xfrm>
            <a:off x="1463040" y="3794760"/>
            <a:ext cx="9966960" cy="105156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Bubble wrap was originally designed and marketed as a textured wallpaper before it became packaging.</a:t>
            </a:r>
            <a:endParaRPr lang="en-US" sz="1550" dirty="0"/>
          </a:p>
        </p:txBody>
      </p:sp>
      <p:sp>
        <p:nvSpPr>
          <p:cNvPr id="14" name="Shape 12"/>
          <p:cNvSpPr/>
          <p:nvPr/>
        </p:nvSpPr>
        <p:spPr>
          <a:xfrm>
            <a:off x="548640" y="5029200"/>
            <a:ext cx="502920" cy="502920"/>
          </a:xfrm>
          <a:prstGeom prst="ellipse">
            <a:avLst/>
          </a:prstGeom>
          <a:solidFill>
            <a:srgbClr val="F59E0B"/>
          </a:solidFill>
          <a:ln w="12700">
            <a:solidFill>
              <a:srgbClr val="333333"/>
            </a:solidFill>
            <a:prstDash val="solid"/>
          </a:ln>
        </p:spPr>
        <p:txBody>
          <a:bodyPr/>
          <a:lstStyle/>
          <a:p>
            <a:endParaRPr lang="en-AU"/>
          </a:p>
        </p:txBody>
      </p:sp>
      <p:sp>
        <p:nvSpPr>
          <p:cNvPr id="15" name="Text 13"/>
          <p:cNvSpPr/>
          <p:nvPr/>
        </p:nvSpPr>
        <p:spPr>
          <a:xfrm>
            <a:off x="548640" y="5029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Shape 14"/>
          <p:cNvSpPr/>
          <p:nvPr/>
        </p:nvSpPr>
        <p:spPr>
          <a:xfrm>
            <a:off x="1234440" y="5029200"/>
            <a:ext cx="10424160" cy="1051560"/>
          </a:xfrm>
          <a:prstGeom prst="roundRect">
            <a:avLst>
              <a:gd name="adj" fmla="val 6957"/>
            </a:avLst>
          </a:prstGeom>
          <a:solidFill>
            <a:srgbClr val="1F2530"/>
          </a:solidFill>
          <a:ln w="12700">
            <a:solidFill>
              <a:srgbClr val="30363D"/>
            </a:solidFill>
            <a:prstDash val="solid"/>
          </a:ln>
        </p:spPr>
        <p:txBody>
          <a:bodyPr/>
          <a:lstStyle/>
          <a:p>
            <a:endParaRPr lang="en-AU"/>
          </a:p>
        </p:txBody>
      </p:sp>
      <p:sp>
        <p:nvSpPr>
          <p:cNvPr id="17" name="Text 15"/>
          <p:cNvSpPr/>
          <p:nvPr/>
        </p:nvSpPr>
        <p:spPr>
          <a:xfrm>
            <a:off x="1463040" y="5029200"/>
            <a:ext cx="9966960" cy="105156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The QWERTY keyboard layout was scientifically designed to maximise typing speed.</a:t>
            </a:r>
            <a:endParaRPr lang="en-US" sz="1550" dirty="0"/>
          </a:p>
        </p:txBody>
      </p:sp>
      <p:sp>
        <p:nvSpPr>
          <p:cNvPr id="18" name="Text 16"/>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9" name="Text 17"/>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251960" y="1280160"/>
            <a:ext cx="3657600" cy="1280160"/>
          </a:xfrm>
          <a:prstGeom prst="roundRect">
            <a:avLst>
              <a:gd name="adj" fmla="val 10714"/>
            </a:avLst>
          </a:prstGeom>
          <a:solidFill>
            <a:srgbClr val="10B981"/>
          </a:solidFill>
          <a:ln w="12700">
            <a:solidFill>
              <a:srgbClr val="333333"/>
            </a:solidFill>
            <a:prstDash val="solid"/>
          </a:ln>
          <a:effectLst>
            <a:outerShdw blurRad="76200" dist="25400" dir="5400000" algn="bl" rotWithShape="0">
              <a:srgbClr val="000000">
                <a:alpha val="18000"/>
              </a:srgbClr>
            </a:outerShdw>
          </a:effectLst>
        </p:spPr>
        <p:txBody>
          <a:bodyPr/>
          <a:lstStyle/>
          <a:p>
            <a:endParaRPr lang="en-AU"/>
          </a:p>
        </p:txBody>
      </p:sp>
      <p:sp>
        <p:nvSpPr>
          <p:cNvPr id="3" name="Text 1"/>
          <p:cNvSpPr/>
          <p:nvPr/>
        </p:nvSpPr>
        <p:spPr>
          <a:xfrm>
            <a:off x="4251960" y="1280160"/>
            <a:ext cx="3657600" cy="12801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DEVICES ON</a:t>
            </a:r>
            <a:endParaRPr lang="en-US" sz="2600" dirty="0"/>
          </a:p>
        </p:txBody>
      </p:sp>
      <p:sp>
        <p:nvSpPr>
          <p:cNvPr id="4" name="Text 2"/>
          <p:cNvSpPr/>
          <p:nvPr/>
        </p:nvSpPr>
        <p:spPr>
          <a:xfrm>
            <a:off x="457200" y="2788920"/>
            <a:ext cx="11247120" cy="457200"/>
          </a:xfrm>
          <a:prstGeom prst="rect">
            <a:avLst/>
          </a:prstGeom>
          <a:noFill/>
          <a:ln/>
        </p:spPr>
        <p:txBody>
          <a:bodyPr wrap="square" lIns="0" tIns="0" rIns="0" bIns="0" rtlCol="0" anchor="ctr"/>
          <a:lstStyle/>
          <a:p>
            <a:pPr marL="0" indent="0" algn="ctr">
              <a:buNone/>
            </a:pPr>
            <a:r>
              <a:rPr lang="en-US" sz="1600" dirty="0">
                <a:solidFill>
                  <a:srgbClr val="10B981"/>
                </a:solidFill>
                <a:latin typeface="DM Mono" pitchFamily="34" charset="0"/>
                <a:ea typeface="DM Mono" pitchFamily="34" charset="-122"/>
                <a:cs typeface="DM Mono" pitchFamily="34" charset="-120"/>
              </a:rPr>
              <a:t>LAPTOP GATE</a:t>
            </a:r>
            <a:endParaRPr lang="en-US" sz="1600" dirty="0"/>
          </a:p>
        </p:txBody>
      </p:sp>
      <p:sp>
        <p:nvSpPr>
          <p:cNvPr id="5" name="Text 3"/>
          <p:cNvSpPr/>
          <p:nvPr/>
        </p:nvSpPr>
        <p:spPr>
          <a:xfrm>
            <a:off x="457200" y="3246120"/>
            <a:ext cx="1124712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Bookman Old Style" pitchFamily="34" charset="0"/>
                <a:ea typeface="Bookman Old Style" pitchFamily="34" charset="-122"/>
                <a:cs typeface="Bookman Old Style" pitchFamily="34" charset="-120"/>
              </a:rPr>
              <a:t>Open your workbook now</a:t>
            </a:r>
            <a:endParaRPr lang="en-US" sz="3000" dirty="0"/>
          </a:p>
        </p:txBody>
      </p:sp>
      <p:sp>
        <p:nvSpPr>
          <p:cNvPr id="6" name="Text 4"/>
          <p:cNvSpPr/>
          <p:nvPr/>
        </p:nvSpPr>
        <p:spPr>
          <a:xfrm>
            <a:off x="457200" y="3977640"/>
            <a:ext cx="11247120" cy="457200"/>
          </a:xfrm>
          <a:prstGeom prst="rect">
            <a:avLst/>
          </a:prstGeom>
          <a:noFill/>
          <a:ln/>
        </p:spPr>
        <p:txBody>
          <a:bodyPr wrap="square" lIns="0" tIns="0" rIns="0" bIns="0" rtlCol="0" anchor="ctr"/>
          <a:lstStyle/>
          <a:p>
            <a:pPr marL="0" indent="0" algn="ctr">
              <a:buNone/>
            </a:pPr>
            <a:r>
              <a:rPr lang="en-US" sz="1700" dirty="0">
                <a:solidFill>
                  <a:srgbClr val="C7D2FE"/>
                </a:solidFill>
                <a:latin typeface="Calibri" pitchFamily="34" charset="0"/>
                <a:ea typeface="Calibri" pitchFamily="34" charset="-122"/>
                <a:cs typeface="Calibri" pitchFamily="34" charset="-120"/>
              </a:rPr>
              <a:t>L5 Workbook — Sections 1 through 4</a:t>
            </a:r>
            <a:endParaRPr lang="en-US" sz="1700" dirty="0"/>
          </a:p>
        </p:txBody>
      </p:sp>
      <p:sp>
        <p:nvSpPr>
          <p:cNvPr id="7" name="Shape 5"/>
          <p:cNvSpPr/>
          <p:nvPr/>
        </p:nvSpPr>
        <p:spPr>
          <a:xfrm>
            <a:off x="1965960" y="4754880"/>
            <a:ext cx="8229600" cy="1188720"/>
          </a:xfrm>
          <a:prstGeom prst="roundRect">
            <a:avLst>
              <a:gd name="adj" fmla="val 7692"/>
            </a:avLst>
          </a:prstGeom>
          <a:solidFill>
            <a:srgbClr val="1F2530"/>
          </a:solidFill>
          <a:ln w="12700">
            <a:solidFill>
              <a:srgbClr val="30363D"/>
            </a:solidFill>
            <a:prstDash val="solid"/>
          </a:ln>
        </p:spPr>
        <p:txBody>
          <a:bodyPr/>
          <a:lstStyle/>
          <a:p>
            <a:endParaRPr lang="en-AU"/>
          </a:p>
        </p:txBody>
      </p:sp>
      <p:sp>
        <p:nvSpPr>
          <p:cNvPr id="8" name="Text 6"/>
          <p:cNvSpPr/>
          <p:nvPr/>
        </p:nvSpPr>
        <p:spPr>
          <a:xfrm>
            <a:off x="2194560" y="4754880"/>
            <a:ext cx="7772400" cy="1188720"/>
          </a:xfrm>
          <a:prstGeom prst="rect">
            <a:avLst/>
          </a:prstGeom>
          <a:noFill/>
          <a:ln/>
        </p:spPr>
        <p:txBody>
          <a:bodyPr wrap="square" lIns="0" tIns="0" rIns="0" bIns="0" rtlCol="0" anchor="ctr"/>
          <a:lstStyle/>
          <a:p>
            <a:pPr marL="0" indent="0" algn="ctr">
              <a:buNone/>
            </a:pPr>
            <a:r>
              <a:rPr lang="en-US" sz="1500" i="1" dirty="0">
                <a:solidFill>
                  <a:srgbClr val="FFFFFF"/>
                </a:solidFill>
                <a:latin typeface="Calibri" pitchFamily="34" charset="0"/>
                <a:ea typeface="Calibri" pitchFamily="34" charset="-122"/>
                <a:cs typeface="Calibri" pitchFamily="34" charset="-120"/>
              </a:rPr>
              <a:t>Bring: your refined problem statement (L4) and any data collected so far.</a:t>
            </a:r>
            <a:endParaRPr lang="en-US" sz="1500" dirty="0"/>
          </a:p>
        </p:txBody>
      </p:sp>
      <p:sp>
        <p:nvSpPr>
          <p:cNvPr id="9" name="Text 7"/>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0" name="Text 8"/>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10B981"/>
          </a:solidFill>
          <a:ln w="12700">
            <a:solidFill>
              <a:srgbClr val="10B981"/>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4" name="Text 2"/>
          <p:cNvSpPr/>
          <p:nvPr/>
        </p:nvSpPr>
        <p:spPr>
          <a:xfrm>
            <a:off x="2331720" y="384048"/>
            <a:ext cx="9144000" cy="548640"/>
          </a:xfrm>
          <a:prstGeom prst="rect">
            <a:avLst/>
          </a:prstGeom>
          <a:noFill/>
          <a:ln/>
        </p:spPr>
        <p:txBody>
          <a:bodyPr wrap="square" lIns="0" tIns="0" rIns="0" bIns="0" rtlCol="0" anchor="ctr"/>
          <a:lstStyle/>
          <a:p>
            <a:pPr marL="0" indent="0">
              <a:buNone/>
            </a:pPr>
            <a:r>
              <a:rPr lang="en-US" sz="2500" b="1" dirty="0">
                <a:solidFill>
                  <a:srgbClr val="0D1117"/>
                </a:solidFill>
                <a:latin typeface="Bookman Old Style" pitchFamily="34" charset="0"/>
                <a:ea typeface="Bookman Old Style" pitchFamily="34" charset="-122"/>
                <a:cs typeface="Bookman Old Style" pitchFamily="34" charset="-120"/>
              </a:rPr>
              <a:t>Rate &amp; Strengthen Your Concept</a:t>
            </a:r>
            <a:endParaRPr lang="en-US" sz="2500" dirty="0"/>
          </a:p>
        </p:txBody>
      </p:sp>
      <p:sp>
        <p:nvSpPr>
          <p:cNvPr id="5" name="Text 3"/>
          <p:cNvSpPr/>
          <p:nvPr/>
        </p:nvSpPr>
        <p:spPr>
          <a:xfrm>
            <a:off x="457200" y="1051560"/>
            <a:ext cx="11247120" cy="365760"/>
          </a:xfrm>
          <a:prstGeom prst="rect">
            <a:avLst/>
          </a:prstGeom>
          <a:noFill/>
          <a:ln/>
        </p:spPr>
        <p:txBody>
          <a:bodyPr wrap="square" lIns="0" tIns="0" rIns="0" bIns="0" rtlCol="0" anchor="ctr"/>
          <a:lstStyle/>
          <a:p>
            <a:pPr marL="0" indent="0">
              <a:buNone/>
            </a:pPr>
            <a:r>
              <a:rPr lang="en-US" sz="1400" dirty="0">
                <a:solidFill>
                  <a:srgbClr val="4361EE"/>
                </a:solidFill>
                <a:latin typeface="DM Mono" pitchFamily="34" charset="0"/>
                <a:ea typeface="DM Mono" pitchFamily="34" charset="-122"/>
                <a:cs typeface="DM Mono" pitchFamily="34" charset="-120"/>
              </a:rPr>
              <a:t>📋 Open your workbook — Sections 1 &amp; 2</a:t>
            </a:r>
            <a:endParaRPr lang="en-US" sz="1400" dirty="0"/>
          </a:p>
        </p:txBody>
      </p:sp>
      <p:sp>
        <p:nvSpPr>
          <p:cNvPr id="6" name="Shape 4"/>
          <p:cNvSpPr/>
          <p:nvPr/>
        </p:nvSpPr>
        <p:spPr>
          <a:xfrm>
            <a:off x="457200" y="1737360"/>
            <a:ext cx="11247120" cy="1325880"/>
          </a:xfrm>
          <a:prstGeom prst="roundRect">
            <a:avLst>
              <a:gd name="adj" fmla="val 6897"/>
            </a:avLst>
          </a:prstGeom>
          <a:solidFill>
            <a:srgbClr val="EAEEFC"/>
          </a:solidFill>
          <a:ln w="12700">
            <a:solidFill>
              <a:srgbClr val="4361EE"/>
            </a:solidFill>
            <a:prstDash val="solid"/>
          </a:ln>
        </p:spPr>
        <p:txBody>
          <a:bodyPr/>
          <a:lstStyle/>
          <a:p>
            <a:endParaRPr lang="en-AU"/>
          </a:p>
        </p:txBody>
      </p:sp>
      <p:sp>
        <p:nvSpPr>
          <p:cNvPr id="7" name="Shape 5"/>
          <p:cNvSpPr/>
          <p:nvPr/>
        </p:nvSpPr>
        <p:spPr>
          <a:xfrm>
            <a:off x="685800" y="2057400"/>
            <a:ext cx="1554480" cy="457200"/>
          </a:xfrm>
          <a:prstGeom prst="roundRect">
            <a:avLst>
              <a:gd name="adj" fmla="val 12000"/>
            </a:avLst>
          </a:prstGeom>
          <a:solidFill>
            <a:srgbClr val="4361EE"/>
          </a:solidFill>
          <a:ln w="12700">
            <a:solidFill>
              <a:srgbClr val="333333"/>
            </a:solidFill>
            <a:prstDash val="solid"/>
          </a:ln>
        </p:spPr>
        <p:txBody>
          <a:bodyPr/>
          <a:lstStyle/>
          <a:p>
            <a:endParaRPr lang="en-AU"/>
          </a:p>
        </p:txBody>
      </p:sp>
      <p:sp>
        <p:nvSpPr>
          <p:cNvPr id="8" name="Text 6"/>
          <p:cNvSpPr/>
          <p:nvPr/>
        </p:nvSpPr>
        <p:spPr>
          <a:xfrm>
            <a:off x="685800" y="2057400"/>
            <a:ext cx="15544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DM Mono" pitchFamily="34" charset="0"/>
                <a:ea typeface="DM Mono" pitchFamily="34" charset="-122"/>
                <a:cs typeface="DM Mono" pitchFamily="34" charset="-120"/>
              </a:rPr>
              <a:t>Q1-Q2</a:t>
            </a:r>
            <a:endParaRPr lang="en-US" sz="1400" dirty="0"/>
          </a:p>
        </p:txBody>
      </p:sp>
      <p:sp>
        <p:nvSpPr>
          <p:cNvPr id="9" name="Text 7"/>
          <p:cNvSpPr/>
          <p:nvPr/>
        </p:nvSpPr>
        <p:spPr>
          <a:xfrm>
            <a:off x="2468880" y="1737360"/>
            <a:ext cx="8961120" cy="1325880"/>
          </a:xfrm>
          <a:prstGeom prst="rect">
            <a:avLst/>
          </a:prstGeom>
          <a:noFill/>
          <a:ln/>
        </p:spPr>
        <p:txBody>
          <a:bodyPr wrap="square" lIns="0" tIns="0" rIns="0" bIns="0" rtlCol="0" anchor="ctr"/>
          <a:lstStyle/>
          <a:p>
            <a:pPr marL="0" indent="0">
              <a:buNone/>
            </a:pPr>
            <a:r>
              <a:rPr lang="en-US" sz="1550" dirty="0">
                <a:solidFill>
                  <a:srgbClr val="0D1117"/>
                </a:solidFill>
                <a:latin typeface="Calibri" pitchFamily="34" charset="0"/>
                <a:ea typeface="Calibri" pitchFamily="34" charset="-122"/>
                <a:cs typeface="Calibri" pitchFamily="34" charset="-120"/>
              </a:rPr>
              <a:t>Describe your concept, then rate it 1-5 against all four characteristics with justifications.</a:t>
            </a:r>
            <a:endParaRPr lang="en-US" sz="1550" dirty="0"/>
          </a:p>
        </p:txBody>
      </p:sp>
      <p:sp>
        <p:nvSpPr>
          <p:cNvPr id="10" name="Shape 8"/>
          <p:cNvSpPr/>
          <p:nvPr/>
        </p:nvSpPr>
        <p:spPr>
          <a:xfrm>
            <a:off x="457200" y="3291840"/>
            <a:ext cx="11247120" cy="1325880"/>
          </a:xfrm>
          <a:prstGeom prst="roundRect">
            <a:avLst>
              <a:gd name="adj" fmla="val 6897"/>
            </a:avLst>
          </a:prstGeom>
          <a:solidFill>
            <a:srgbClr val="FEF3E2"/>
          </a:solidFill>
          <a:ln w="12700">
            <a:solidFill>
              <a:srgbClr val="F59E0B"/>
            </a:solidFill>
            <a:prstDash val="solid"/>
          </a:ln>
        </p:spPr>
        <p:txBody>
          <a:bodyPr/>
          <a:lstStyle/>
          <a:p>
            <a:endParaRPr lang="en-AU"/>
          </a:p>
        </p:txBody>
      </p:sp>
      <p:sp>
        <p:nvSpPr>
          <p:cNvPr id="11" name="Shape 9"/>
          <p:cNvSpPr/>
          <p:nvPr/>
        </p:nvSpPr>
        <p:spPr>
          <a:xfrm>
            <a:off x="685800" y="3611880"/>
            <a:ext cx="1554480" cy="457200"/>
          </a:xfrm>
          <a:prstGeom prst="roundRect">
            <a:avLst>
              <a:gd name="adj" fmla="val 12000"/>
            </a:avLst>
          </a:prstGeom>
          <a:solidFill>
            <a:srgbClr val="F59E0B"/>
          </a:solidFill>
          <a:ln w="12700">
            <a:solidFill>
              <a:srgbClr val="333333"/>
            </a:solidFill>
            <a:prstDash val="solid"/>
          </a:ln>
        </p:spPr>
        <p:txBody>
          <a:bodyPr/>
          <a:lstStyle/>
          <a:p>
            <a:endParaRPr lang="en-AU"/>
          </a:p>
        </p:txBody>
      </p:sp>
      <p:sp>
        <p:nvSpPr>
          <p:cNvPr id="12" name="Text 10"/>
          <p:cNvSpPr/>
          <p:nvPr/>
        </p:nvSpPr>
        <p:spPr>
          <a:xfrm>
            <a:off x="685800" y="3611880"/>
            <a:ext cx="15544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DM Mono" pitchFamily="34" charset="0"/>
                <a:ea typeface="DM Mono" pitchFamily="34" charset="-122"/>
                <a:cs typeface="DM Mono" pitchFamily="34" charset="-120"/>
              </a:rPr>
              <a:t>Q3-Q5</a:t>
            </a:r>
            <a:endParaRPr lang="en-US" sz="1400" dirty="0"/>
          </a:p>
        </p:txBody>
      </p:sp>
      <p:sp>
        <p:nvSpPr>
          <p:cNvPr id="13" name="Text 11"/>
          <p:cNvSpPr/>
          <p:nvPr/>
        </p:nvSpPr>
        <p:spPr>
          <a:xfrm>
            <a:off x="2468880" y="3291840"/>
            <a:ext cx="8961120" cy="1325880"/>
          </a:xfrm>
          <a:prstGeom prst="rect">
            <a:avLst/>
          </a:prstGeom>
          <a:noFill/>
          <a:ln/>
        </p:spPr>
        <p:txBody>
          <a:bodyPr wrap="square" lIns="0" tIns="0" rIns="0" bIns="0" rtlCol="0" anchor="ctr"/>
          <a:lstStyle/>
          <a:p>
            <a:pPr marL="0" indent="0">
              <a:buNone/>
            </a:pPr>
            <a:r>
              <a:rPr lang="en-US" sz="1550" dirty="0">
                <a:solidFill>
                  <a:srgbClr val="0D1117"/>
                </a:solidFill>
                <a:latin typeface="Calibri" pitchFamily="34" charset="0"/>
                <a:ea typeface="Calibri" pitchFamily="34" charset="-122"/>
                <a:cs typeface="Calibri" pitchFamily="34" charset="-120"/>
              </a:rPr>
              <a:t>Name your weakest characteristic, propose a specific strengthening change, and consider trade-offs.</a:t>
            </a:r>
            <a:endParaRPr lang="en-US" sz="1550" dirty="0"/>
          </a:p>
        </p:txBody>
      </p:sp>
      <p:sp>
        <p:nvSpPr>
          <p:cNvPr id="14" name="Shape 12"/>
          <p:cNvSpPr/>
          <p:nvPr/>
        </p:nvSpPr>
        <p:spPr>
          <a:xfrm>
            <a:off x="457200" y="5029200"/>
            <a:ext cx="11247120" cy="1051560"/>
          </a:xfrm>
          <a:prstGeom prst="roundRect">
            <a:avLst>
              <a:gd name="adj" fmla="val 6957"/>
            </a:avLst>
          </a:prstGeom>
          <a:solidFill>
            <a:srgbClr val="FEF3E2"/>
          </a:solidFill>
          <a:ln w="12700">
            <a:solidFill>
              <a:srgbClr val="F59E0B"/>
            </a:solidFill>
            <a:prstDash val="solid"/>
          </a:ln>
        </p:spPr>
        <p:txBody>
          <a:bodyPr/>
          <a:lstStyle/>
          <a:p>
            <a:endParaRPr lang="en-AU"/>
          </a:p>
        </p:txBody>
      </p:sp>
      <p:sp>
        <p:nvSpPr>
          <p:cNvPr id="15" name="Text 13"/>
          <p:cNvSpPr/>
          <p:nvPr/>
        </p:nvSpPr>
        <p:spPr>
          <a:xfrm>
            <a:off x="731520" y="5029200"/>
            <a:ext cx="10698480" cy="1051560"/>
          </a:xfrm>
          <a:prstGeom prst="rect">
            <a:avLst/>
          </a:prstGeom>
          <a:noFill/>
          <a:ln/>
        </p:spPr>
        <p:txBody>
          <a:bodyPr wrap="square" lIns="0" tIns="0" rIns="0" bIns="0" rtlCol="0" anchor="ctr"/>
          <a:lstStyle/>
          <a:p>
            <a:pPr marL="0" indent="0">
              <a:buNone/>
            </a:pPr>
            <a:r>
              <a:rPr lang="en-US" sz="1450" i="1" dirty="0">
                <a:solidFill>
                  <a:srgbClr val="0D1117"/>
                </a:solidFill>
                <a:latin typeface="Calibri" pitchFamily="34" charset="0"/>
                <a:ea typeface="Calibri" pitchFamily="34" charset="-122"/>
                <a:cs typeface="Calibri" pitchFamily="34" charset="-120"/>
              </a:rPr>
              <a:t>Rate honestly. A concept that scores low across the board is exactly what this half of the lesson is for finding out — better now than after your specification is drafted.</a:t>
            </a:r>
            <a:endParaRPr lang="en-US" sz="1450" dirty="0"/>
          </a:p>
        </p:txBody>
      </p:sp>
      <p:sp>
        <p:nvSpPr>
          <p:cNvPr id="16" name="Text 14"/>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7" name="Text 15"/>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10B981"/>
          </a:solidFill>
          <a:ln w="12700">
            <a:solidFill>
              <a:srgbClr val="10B981"/>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4" name="Text 2"/>
          <p:cNvSpPr/>
          <p:nvPr/>
        </p:nvSpPr>
        <p:spPr>
          <a:xfrm>
            <a:off x="2331720" y="384048"/>
            <a:ext cx="9144000" cy="548640"/>
          </a:xfrm>
          <a:prstGeom prst="rect">
            <a:avLst/>
          </a:prstGeom>
          <a:noFill/>
          <a:ln/>
        </p:spPr>
        <p:txBody>
          <a:bodyPr wrap="square" lIns="0" tIns="0" rIns="0" bIns="0" rtlCol="0" anchor="ctr"/>
          <a:lstStyle/>
          <a:p>
            <a:pPr marL="0" indent="0">
              <a:buNone/>
            </a:pPr>
            <a:r>
              <a:rPr lang="en-US" sz="2400" b="1" dirty="0">
                <a:solidFill>
                  <a:srgbClr val="0D1117"/>
                </a:solidFill>
                <a:latin typeface="Bookman Old Style" pitchFamily="34" charset="0"/>
                <a:ea typeface="Bookman Old Style" pitchFamily="34" charset="-122"/>
                <a:cs typeface="Bookman Old Style" pitchFamily="34" charset="-120"/>
              </a:rPr>
              <a:t>Draft Your Functional Requirements</a:t>
            </a:r>
            <a:endParaRPr lang="en-US" sz="2400" dirty="0"/>
          </a:p>
        </p:txBody>
      </p:sp>
      <p:sp>
        <p:nvSpPr>
          <p:cNvPr id="5" name="Text 3"/>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dirty="0">
                <a:solidFill>
                  <a:srgbClr val="4361EE"/>
                </a:solidFill>
                <a:latin typeface="DM Mono" pitchFamily="34" charset="0"/>
                <a:ea typeface="DM Mono" pitchFamily="34" charset="-122"/>
                <a:cs typeface="DM Mono" pitchFamily="34" charset="-120"/>
              </a:rPr>
              <a:t>📋 Open your workbook — Section 3</a:t>
            </a:r>
            <a:endParaRPr lang="en-US" sz="1400" dirty="0"/>
          </a:p>
        </p:txBody>
      </p:sp>
      <p:sp>
        <p:nvSpPr>
          <p:cNvPr id="6" name="Text 4"/>
          <p:cNvSpPr/>
          <p:nvPr/>
        </p:nvSpPr>
        <p:spPr>
          <a:xfrm>
            <a:off x="457200" y="1508760"/>
            <a:ext cx="11247120" cy="640080"/>
          </a:xfrm>
          <a:prstGeom prst="rect">
            <a:avLst/>
          </a:prstGeom>
          <a:noFill/>
          <a:ln/>
        </p:spPr>
        <p:txBody>
          <a:bodyPr wrap="square" lIns="0" tIns="0" rIns="0" bIns="0" rtlCol="0" anchor="ctr"/>
          <a:lstStyle/>
          <a:p>
            <a:pPr marL="0" indent="0">
              <a:buNone/>
            </a:pPr>
            <a:r>
              <a:rPr lang="en-US" sz="1600" dirty="0">
                <a:solidFill>
                  <a:srgbClr val="57606A"/>
                </a:solidFill>
                <a:latin typeface="Calibri" pitchFamily="34" charset="0"/>
                <a:ea typeface="Calibri" pitchFamily="34" charset="-122"/>
                <a:cs typeface="Calibri" pitchFamily="34" charset="-120"/>
              </a:rPr>
              <a:t>Using your (possibly strengthened) concept from Sections 1-2, write at least four functional requirements — specific things the solution must do.</a:t>
            </a:r>
            <a:endParaRPr lang="en-US" sz="1600" dirty="0"/>
          </a:p>
        </p:txBody>
      </p:sp>
      <p:sp>
        <p:nvSpPr>
          <p:cNvPr id="7" name="Shape 5"/>
          <p:cNvSpPr/>
          <p:nvPr/>
        </p:nvSpPr>
        <p:spPr>
          <a:xfrm>
            <a:off x="457200" y="2331720"/>
            <a:ext cx="11247120" cy="1188720"/>
          </a:xfrm>
          <a:prstGeom prst="roundRect">
            <a:avLst>
              <a:gd name="adj" fmla="val 7692"/>
            </a:avLst>
          </a:prstGeom>
          <a:solidFill>
            <a:srgbClr val="EAEEFC"/>
          </a:solidFill>
          <a:ln w="12700">
            <a:solidFill>
              <a:srgbClr val="4361EE"/>
            </a:solidFill>
            <a:prstDash val="solid"/>
          </a:ln>
        </p:spPr>
        <p:txBody>
          <a:bodyPr/>
          <a:lstStyle/>
          <a:p>
            <a:endParaRPr lang="en-AU"/>
          </a:p>
        </p:txBody>
      </p:sp>
      <p:sp>
        <p:nvSpPr>
          <p:cNvPr id="8" name="Text 6"/>
          <p:cNvSpPr/>
          <p:nvPr/>
        </p:nvSpPr>
        <p:spPr>
          <a:xfrm>
            <a:off x="731520" y="2468880"/>
            <a:ext cx="10698480" cy="320040"/>
          </a:xfrm>
          <a:prstGeom prst="rect">
            <a:avLst/>
          </a:prstGeom>
          <a:noFill/>
          <a:ln/>
        </p:spPr>
        <p:txBody>
          <a:bodyPr wrap="square" lIns="0" tIns="0" rIns="0" bIns="0" rtlCol="0" anchor="ctr"/>
          <a:lstStyle/>
          <a:p>
            <a:pPr marL="0" indent="0">
              <a:buNone/>
            </a:pPr>
            <a:r>
              <a:rPr lang="en-US" sz="1200" b="1" dirty="0">
                <a:solidFill>
                  <a:srgbClr val="4361EE"/>
                </a:solidFill>
                <a:latin typeface="DM Mono" pitchFamily="34" charset="0"/>
                <a:ea typeface="DM Mono" pitchFamily="34" charset="-122"/>
                <a:cs typeface="DM Mono" pitchFamily="34" charset="-120"/>
              </a:rPr>
              <a:t>TEMPLATE</a:t>
            </a:r>
            <a:endParaRPr lang="en-US" sz="1200" dirty="0"/>
          </a:p>
        </p:txBody>
      </p:sp>
      <p:sp>
        <p:nvSpPr>
          <p:cNvPr id="9" name="Text 7"/>
          <p:cNvSpPr/>
          <p:nvPr/>
        </p:nvSpPr>
        <p:spPr>
          <a:xfrm>
            <a:off x="731520" y="2788920"/>
            <a:ext cx="10698480" cy="640080"/>
          </a:xfrm>
          <a:prstGeom prst="rect">
            <a:avLst/>
          </a:prstGeom>
          <a:noFill/>
          <a:ln/>
        </p:spPr>
        <p:txBody>
          <a:bodyPr wrap="square" lIns="0" tIns="0" rIns="0" bIns="0" rtlCol="0" anchor="t"/>
          <a:lstStyle/>
          <a:p>
            <a:pPr marL="0" indent="0">
              <a:buNone/>
            </a:pPr>
            <a:r>
              <a:rPr lang="en-US" sz="1700" dirty="0">
                <a:solidFill>
                  <a:srgbClr val="0D1117"/>
                </a:solidFill>
                <a:latin typeface="DM Mono" pitchFamily="34" charset="0"/>
                <a:ea typeface="DM Mono" pitchFamily="34" charset="-122"/>
                <a:cs typeface="DM Mono" pitchFamily="34" charset="-120"/>
              </a:rPr>
              <a:t>"The system must be able to ___."</a:t>
            </a:r>
            <a:endParaRPr lang="en-US" sz="1700" dirty="0"/>
          </a:p>
        </p:txBody>
      </p:sp>
      <p:sp>
        <p:nvSpPr>
          <p:cNvPr id="10" name="Shape 8"/>
          <p:cNvSpPr/>
          <p:nvPr/>
        </p:nvSpPr>
        <p:spPr>
          <a:xfrm>
            <a:off x="457200" y="3749040"/>
            <a:ext cx="11247120" cy="2286000"/>
          </a:xfrm>
          <a:prstGeom prst="roundRect">
            <a:avLst>
              <a:gd name="adj" fmla="val 4000"/>
            </a:avLst>
          </a:prstGeom>
          <a:solidFill>
            <a:srgbClr val="F6F8FA"/>
          </a:solidFill>
          <a:ln w="12700">
            <a:solidFill>
              <a:srgbClr val="D0D7DE"/>
            </a:solidFill>
            <a:prstDash val="solid"/>
          </a:ln>
        </p:spPr>
        <p:txBody>
          <a:bodyPr/>
          <a:lstStyle/>
          <a:p>
            <a:endParaRPr lang="en-AU"/>
          </a:p>
        </p:txBody>
      </p:sp>
      <p:sp>
        <p:nvSpPr>
          <p:cNvPr id="11" name="Text 9"/>
          <p:cNvSpPr/>
          <p:nvPr/>
        </p:nvSpPr>
        <p:spPr>
          <a:xfrm>
            <a:off x="731520" y="3886200"/>
            <a:ext cx="10698480" cy="320040"/>
          </a:xfrm>
          <a:prstGeom prst="rect">
            <a:avLst/>
          </a:prstGeom>
          <a:noFill/>
          <a:ln/>
        </p:spPr>
        <p:txBody>
          <a:bodyPr wrap="square" lIns="0" tIns="0" rIns="0" bIns="0" rtlCol="0" anchor="ctr"/>
          <a:lstStyle/>
          <a:p>
            <a:pPr marL="0" indent="0">
              <a:buNone/>
            </a:pPr>
            <a:r>
              <a:rPr lang="en-US" sz="1100" b="1" dirty="0">
                <a:solidFill>
                  <a:srgbClr val="8B5CF6"/>
                </a:solidFill>
                <a:latin typeface="DM Mono" pitchFamily="34" charset="0"/>
                <a:ea typeface="DM Mono" pitchFamily="34" charset="-122"/>
                <a:cs typeface="DM Mono" pitchFamily="34" charset="-120"/>
              </a:rPr>
              <a:t>EXTENDING (Q7)</a:t>
            </a:r>
            <a:endParaRPr lang="en-US" sz="1100" dirty="0"/>
          </a:p>
        </p:txBody>
      </p:sp>
      <p:sp>
        <p:nvSpPr>
          <p:cNvPr id="12" name="Text 10"/>
          <p:cNvSpPr/>
          <p:nvPr/>
        </p:nvSpPr>
        <p:spPr>
          <a:xfrm>
            <a:off x="731520" y="4206240"/>
            <a:ext cx="10698480" cy="1737360"/>
          </a:xfrm>
          <a:prstGeom prst="rect">
            <a:avLst/>
          </a:prstGeom>
          <a:noFill/>
          <a:ln/>
        </p:spPr>
        <p:txBody>
          <a:bodyPr wrap="square" lIns="0" tIns="0" rIns="0" bIns="0" rtlCol="0" anchor="t"/>
          <a:lstStyle/>
          <a:p>
            <a:pPr marL="0" indent="0">
              <a:buNone/>
            </a:pPr>
            <a:r>
              <a:rPr lang="en-US" sz="1500" dirty="0">
                <a:solidFill>
                  <a:srgbClr val="0D1117"/>
                </a:solidFill>
                <a:latin typeface="Calibri" pitchFamily="34" charset="0"/>
                <a:ea typeface="Calibri" pitchFamily="34" charset="-122"/>
                <a:cs typeface="Calibri" pitchFamily="34" charset="-120"/>
              </a:rPr>
              <a:t>Pick one requirement. Would two different people building it end up with the same behaviour? If not, rewrite it more precisely — name the trigger, the action, and the outcome.</a:t>
            </a:r>
            <a:endParaRPr lang="en-US" sz="1500" dirty="0"/>
          </a:p>
        </p:txBody>
      </p:sp>
      <p:sp>
        <p:nvSpPr>
          <p:cNvPr id="13" name="Text 11"/>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4" name="Text 12"/>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10B981"/>
          </a:solidFill>
          <a:ln w="12700">
            <a:solidFill>
              <a:srgbClr val="10B981"/>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4" name="Text 2"/>
          <p:cNvSpPr/>
          <p:nvPr/>
        </p:nvSpPr>
        <p:spPr>
          <a:xfrm>
            <a:off x="2331720" y="384048"/>
            <a:ext cx="9144000" cy="548640"/>
          </a:xfrm>
          <a:prstGeom prst="rect">
            <a:avLst/>
          </a:prstGeom>
          <a:noFill/>
          <a:ln/>
        </p:spPr>
        <p:txBody>
          <a:bodyPr wrap="square" lIns="0" tIns="0" rIns="0" bIns="0" rtlCol="0" anchor="ctr"/>
          <a:lstStyle/>
          <a:p>
            <a:pPr marL="0" indent="0">
              <a:buNone/>
            </a:pPr>
            <a:r>
              <a:rPr lang="en-US" sz="2300" b="1" dirty="0">
                <a:solidFill>
                  <a:srgbClr val="0D1117"/>
                </a:solidFill>
                <a:latin typeface="Bookman Old Style" pitchFamily="34" charset="0"/>
                <a:ea typeface="Bookman Old Style" pitchFamily="34" charset="-122"/>
                <a:cs typeface="Bookman Old Style" pitchFamily="34" charset="-120"/>
              </a:rPr>
              <a:t>Non-Functional, Constraints &amp; Scope</a:t>
            </a:r>
            <a:endParaRPr lang="en-US" sz="2300" dirty="0"/>
          </a:p>
        </p:txBody>
      </p:sp>
      <p:sp>
        <p:nvSpPr>
          <p:cNvPr id="5" name="Text 3"/>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dirty="0">
                <a:solidFill>
                  <a:srgbClr val="4361EE"/>
                </a:solidFill>
                <a:latin typeface="DM Mono" pitchFamily="34" charset="0"/>
                <a:ea typeface="DM Mono" pitchFamily="34" charset="-122"/>
                <a:cs typeface="DM Mono" pitchFamily="34" charset="-120"/>
              </a:rPr>
              <a:t>📋 Open your workbook — Section 4</a:t>
            </a:r>
            <a:endParaRPr lang="en-US" sz="1400" dirty="0"/>
          </a:p>
        </p:txBody>
      </p:sp>
      <p:sp>
        <p:nvSpPr>
          <p:cNvPr id="6" name="Shape 4"/>
          <p:cNvSpPr/>
          <p:nvPr/>
        </p:nvSpPr>
        <p:spPr>
          <a:xfrm>
            <a:off x="457200" y="1554480"/>
            <a:ext cx="11247120" cy="914400"/>
          </a:xfrm>
          <a:prstGeom prst="roundRect">
            <a:avLst>
              <a:gd name="adj" fmla="val 8000"/>
            </a:avLst>
          </a:prstGeom>
          <a:solidFill>
            <a:srgbClr val="E6F9F2"/>
          </a:solidFill>
          <a:ln w="12700">
            <a:solidFill>
              <a:srgbClr val="10B981"/>
            </a:solidFill>
            <a:prstDash val="solid"/>
          </a:ln>
        </p:spPr>
        <p:txBody>
          <a:bodyPr/>
          <a:lstStyle/>
          <a:p>
            <a:endParaRPr lang="en-AU"/>
          </a:p>
        </p:txBody>
      </p:sp>
      <p:sp>
        <p:nvSpPr>
          <p:cNvPr id="7" name="Text 5"/>
          <p:cNvSpPr/>
          <p:nvPr/>
        </p:nvSpPr>
        <p:spPr>
          <a:xfrm>
            <a:off x="640080" y="1554480"/>
            <a:ext cx="548640" cy="91440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188720" y="1554480"/>
            <a:ext cx="822960" cy="914400"/>
          </a:xfrm>
          <a:prstGeom prst="rect">
            <a:avLst/>
          </a:prstGeom>
          <a:noFill/>
          <a:ln/>
        </p:spPr>
        <p:txBody>
          <a:bodyPr wrap="square" lIns="0" tIns="0" rIns="0" bIns="0" rtlCol="0" anchor="ctr"/>
          <a:lstStyle/>
          <a:p>
            <a:pPr marL="0" indent="0">
              <a:buNone/>
            </a:pPr>
            <a:r>
              <a:rPr lang="en-US" sz="1500" b="1" dirty="0">
                <a:solidFill>
                  <a:srgbClr val="10B981"/>
                </a:solidFill>
                <a:latin typeface="DM Mono" pitchFamily="34" charset="0"/>
                <a:ea typeface="DM Mono" pitchFamily="34" charset="-122"/>
                <a:cs typeface="DM Mono" pitchFamily="34" charset="-120"/>
              </a:rPr>
              <a:t>Q8</a:t>
            </a:r>
            <a:endParaRPr lang="en-US" sz="1500" dirty="0"/>
          </a:p>
        </p:txBody>
      </p:sp>
      <p:sp>
        <p:nvSpPr>
          <p:cNvPr id="9" name="Text 7"/>
          <p:cNvSpPr/>
          <p:nvPr/>
        </p:nvSpPr>
        <p:spPr>
          <a:xfrm>
            <a:off x="2057400" y="1554480"/>
            <a:ext cx="9418320" cy="914400"/>
          </a:xfrm>
          <a:prstGeom prst="rect">
            <a:avLst/>
          </a:prstGeom>
          <a:noFill/>
          <a:ln/>
        </p:spPr>
        <p:txBody>
          <a:bodyPr wrap="square" lIns="0" tIns="0" rIns="0" bIns="0" rtlCol="0" anchor="ctr"/>
          <a:lstStyle/>
          <a:p>
            <a:pPr marL="0" indent="0">
              <a:buNone/>
            </a:pPr>
            <a:r>
              <a:rPr lang="en-US" sz="1500" dirty="0">
                <a:solidFill>
                  <a:srgbClr val="0D1117"/>
                </a:solidFill>
                <a:latin typeface="Calibri" pitchFamily="34" charset="0"/>
                <a:ea typeface="Calibri" pitchFamily="34" charset="-122"/>
                <a:cs typeface="Calibri" pitchFamily="34" charset="-120"/>
              </a:rPr>
              <a:t>List at least two non-functional requirements (speed, usability, reliability, security).</a:t>
            </a:r>
            <a:endParaRPr lang="en-US" sz="1500" dirty="0"/>
          </a:p>
        </p:txBody>
      </p:sp>
      <p:sp>
        <p:nvSpPr>
          <p:cNvPr id="10" name="Shape 8"/>
          <p:cNvSpPr/>
          <p:nvPr/>
        </p:nvSpPr>
        <p:spPr>
          <a:xfrm>
            <a:off x="457200" y="2606040"/>
            <a:ext cx="11247120" cy="914400"/>
          </a:xfrm>
          <a:prstGeom prst="roundRect">
            <a:avLst>
              <a:gd name="adj" fmla="val 8000"/>
            </a:avLst>
          </a:prstGeom>
          <a:solidFill>
            <a:srgbClr val="FEF3E2"/>
          </a:solidFill>
          <a:ln w="12700">
            <a:solidFill>
              <a:srgbClr val="F59E0B"/>
            </a:solidFill>
            <a:prstDash val="solid"/>
          </a:ln>
        </p:spPr>
        <p:txBody>
          <a:bodyPr/>
          <a:lstStyle/>
          <a:p>
            <a:endParaRPr lang="en-AU"/>
          </a:p>
        </p:txBody>
      </p:sp>
      <p:sp>
        <p:nvSpPr>
          <p:cNvPr id="11" name="Text 9"/>
          <p:cNvSpPr/>
          <p:nvPr/>
        </p:nvSpPr>
        <p:spPr>
          <a:xfrm>
            <a:off x="640080" y="2606040"/>
            <a:ext cx="548640" cy="91440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1188720" y="2606040"/>
            <a:ext cx="822960" cy="914400"/>
          </a:xfrm>
          <a:prstGeom prst="rect">
            <a:avLst/>
          </a:prstGeom>
          <a:noFill/>
          <a:ln/>
        </p:spPr>
        <p:txBody>
          <a:bodyPr wrap="square" lIns="0" tIns="0" rIns="0" bIns="0" rtlCol="0" anchor="ctr"/>
          <a:lstStyle/>
          <a:p>
            <a:pPr marL="0" indent="0">
              <a:buNone/>
            </a:pPr>
            <a:r>
              <a:rPr lang="en-US" sz="1500" b="1" dirty="0">
                <a:solidFill>
                  <a:srgbClr val="F59E0B"/>
                </a:solidFill>
                <a:latin typeface="DM Mono" pitchFamily="34" charset="0"/>
                <a:ea typeface="DM Mono" pitchFamily="34" charset="-122"/>
                <a:cs typeface="DM Mono" pitchFamily="34" charset="-120"/>
              </a:rPr>
              <a:t>Q9</a:t>
            </a:r>
            <a:endParaRPr lang="en-US" sz="1500" dirty="0"/>
          </a:p>
        </p:txBody>
      </p:sp>
      <p:sp>
        <p:nvSpPr>
          <p:cNvPr id="13" name="Text 11"/>
          <p:cNvSpPr/>
          <p:nvPr/>
        </p:nvSpPr>
        <p:spPr>
          <a:xfrm>
            <a:off x="2057400" y="2606040"/>
            <a:ext cx="9418320" cy="914400"/>
          </a:xfrm>
          <a:prstGeom prst="rect">
            <a:avLst/>
          </a:prstGeom>
          <a:noFill/>
          <a:ln/>
        </p:spPr>
        <p:txBody>
          <a:bodyPr wrap="square" lIns="0" tIns="0" rIns="0" bIns="0" rtlCol="0" anchor="ctr"/>
          <a:lstStyle/>
          <a:p>
            <a:pPr marL="0" indent="0">
              <a:buNone/>
            </a:pPr>
            <a:r>
              <a:rPr lang="en-US" sz="1500" dirty="0">
                <a:solidFill>
                  <a:srgbClr val="0D1117"/>
                </a:solidFill>
                <a:latin typeface="Calibri" pitchFamily="34" charset="0"/>
                <a:ea typeface="Calibri" pitchFamily="34" charset="-122"/>
                <a:cs typeface="Calibri" pitchFamily="34" charset="-120"/>
              </a:rPr>
              <a:t>List at least two real constraints on budget, time, technology, or your group’s skills.</a:t>
            </a:r>
            <a:endParaRPr lang="en-US" sz="1500" dirty="0"/>
          </a:p>
        </p:txBody>
      </p:sp>
      <p:sp>
        <p:nvSpPr>
          <p:cNvPr id="14" name="Shape 12"/>
          <p:cNvSpPr/>
          <p:nvPr/>
        </p:nvSpPr>
        <p:spPr>
          <a:xfrm>
            <a:off x="457200" y="3657600"/>
            <a:ext cx="11247120" cy="914400"/>
          </a:xfrm>
          <a:prstGeom prst="roundRect">
            <a:avLst>
              <a:gd name="adj" fmla="val 8000"/>
            </a:avLst>
          </a:prstGeom>
          <a:solidFill>
            <a:srgbClr val="F1ECFE"/>
          </a:solidFill>
          <a:ln w="12700">
            <a:solidFill>
              <a:srgbClr val="8B5CF6"/>
            </a:solidFill>
            <a:prstDash val="solid"/>
          </a:ln>
        </p:spPr>
        <p:txBody>
          <a:bodyPr/>
          <a:lstStyle/>
          <a:p>
            <a:endParaRPr lang="en-AU"/>
          </a:p>
        </p:txBody>
      </p:sp>
      <p:sp>
        <p:nvSpPr>
          <p:cNvPr id="15" name="Text 13"/>
          <p:cNvSpPr/>
          <p:nvPr/>
        </p:nvSpPr>
        <p:spPr>
          <a:xfrm>
            <a:off x="640080" y="3657600"/>
            <a:ext cx="548640" cy="91440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1188720" y="3657600"/>
            <a:ext cx="822960" cy="914400"/>
          </a:xfrm>
          <a:prstGeom prst="rect">
            <a:avLst/>
          </a:prstGeom>
          <a:noFill/>
          <a:ln/>
        </p:spPr>
        <p:txBody>
          <a:bodyPr wrap="square" lIns="0" tIns="0" rIns="0" bIns="0" rtlCol="0" anchor="ctr"/>
          <a:lstStyle/>
          <a:p>
            <a:pPr marL="0" indent="0">
              <a:buNone/>
            </a:pPr>
            <a:r>
              <a:rPr lang="en-US" sz="1500" b="1" dirty="0">
                <a:solidFill>
                  <a:srgbClr val="8B5CF6"/>
                </a:solidFill>
                <a:latin typeface="DM Mono" pitchFamily="34" charset="0"/>
                <a:ea typeface="DM Mono" pitchFamily="34" charset="-122"/>
                <a:cs typeface="DM Mono" pitchFamily="34" charset="-120"/>
              </a:rPr>
              <a:t>Q10</a:t>
            </a:r>
            <a:endParaRPr lang="en-US" sz="1500" dirty="0"/>
          </a:p>
        </p:txBody>
      </p:sp>
      <p:sp>
        <p:nvSpPr>
          <p:cNvPr id="17" name="Text 15"/>
          <p:cNvSpPr/>
          <p:nvPr/>
        </p:nvSpPr>
        <p:spPr>
          <a:xfrm>
            <a:off x="2057400" y="3657600"/>
            <a:ext cx="9418320" cy="914400"/>
          </a:xfrm>
          <a:prstGeom prst="rect">
            <a:avLst/>
          </a:prstGeom>
          <a:noFill/>
          <a:ln/>
        </p:spPr>
        <p:txBody>
          <a:bodyPr wrap="square" lIns="0" tIns="0" rIns="0" bIns="0" rtlCol="0" anchor="ctr"/>
          <a:lstStyle/>
          <a:p>
            <a:pPr marL="0" indent="0">
              <a:buNone/>
            </a:pPr>
            <a:r>
              <a:rPr lang="en-US" sz="1500" dirty="0">
                <a:solidFill>
                  <a:srgbClr val="0D1117"/>
                </a:solidFill>
                <a:latin typeface="Calibri" pitchFamily="34" charset="0"/>
                <a:ea typeface="Calibri" pitchFamily="34" charset="-122"/>
                <a:cs typeface="Calibri" pitchFamily="34" charset="-120"/>
              </a:rPr>
              <a:t>Define what’s IN scope and what’s deliberately OUT of scope for now.</a:t>
            </a:r>
            <a:endParaRPr lang="en-US" sz="1500" dirty="0"/>
          </a:p>
        </p:txBody>
      </p:sp>
      <p:sp>
        <p:nvSpPr>
          <p:cNvPr id="18" name="Shape 16"/>
          <p:cNvSpPr/>
          <p:nvPr/>
        </p:nvSpPr>
        <p:spPr>
          <a:xfrm>
            <a:off x="457200" y="4709160"/>
            <a:ext cx="11247120" cy="914400"/>
          </a:xfrm>
          <a:prstGeom prst="roundRect">
            <a:avLst>
              <a:gd name="adj" fmla="val 8000"/>
            </a:avLst>
          </a:prstGeom>
          <a:solidFill>
            <a:srgbClr val="F1ECFE"/>
          </a:solidFill>
          <a:ln w="12700">
            <a:solidFill>
              <a:srgbClr val="8B5CF6"/>
            </a:solidFill>
            <a:prstDash val="solid"/>
          </a:ln>
        </p:spPr>
        <p:txBody>
          <a:bodyPr/>
          <a:lstStyle/>
          <a:p>
            <a:endParaRPr lang="en-AU"/>
          </a:p>
        </p:txBody>
      </p:sp>
      <p:sp>
        <p:nvSpPr>
          <p:cNvPr id="19" name="Text 17"/>
          <p:cNvSpPr/>
          <p:nvPr/>
        </p:nvSpPr>
        <p:spPr>
          <a:xfrm>
            <a:off x="640080" y="4709160"/>
            <a:ext cx="548640" cy="91440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0" name="Text 18"/>
          <p:cNvSpPr/>
          <p:nvPr/>
        </p:nvSpPr>
        <p:spPr>
          <a:xfrm>
            <a:off x="1188720" y="4709160"/>
            <a:ext cx="822960" cy="914400"/>
          </a:xfrm>
          <a:prstGeom prst="rect">
            <a:avLst/>
          </a:prstGeom>
          <a:noFill/>
          <a:ln/>
        </p:spPr>
        <p:txBody>
          <a:bodyPr wrap="square" lIns="0" tIns="0" rIns="0" bIns="0" rtlCol="0" anchor="ctr"/>
          <a:lstStyle/>
          <a:p>
            <a:pPr marL="0" indent="0">
              <a:buNone/>
            </a:pPr>
            <a:r>
              <a:rPr lang="en-US" sz="1500" b="1" dirty="0">
                <a:solidFill>
                  <a:srgbClr val="8B5CF6"/>
                </a:solidFill>
                <a:latin typeface="DM Mono" pitchFamily="34" charset="0"/>
                <a:ea typeface="DM Mono" pitchFamily="34" charset="-122"/>
                <a:cs typeface="DM Mono" pitchFamily="34" charset="-120"/>
              </a:rPr>
              <a:t>Q11</a:t>
            </a:r>
            <a:endParaRPr lang="en-US" sz="1500" dirty="0"/>
          </a:p>
        </p:txBody>
      </p:sp>
      <p:sp>
        <p:nvSpPr>
          <p:cNvPr id="21" name="Text 19"/>
          <p:cNvSpPr/>
          <p:nvPr/>
        </p:nvSpPr>
        <p:spPr>
          <a:xfrm>
            <a:off x="2057400" y="4709160"/>
            <a:ext cx="9418320" cy="914400"/>
          </a:xfrm>
          <a:prstGeom prst="rect">
            <a:avLst/>
          </a:prstGeom>
          <a:noFill/>
          <a:ln/>
        </p:spPr>
        <p:txBody>
          <a:bodyPr wrap="square" lIns="0" tIns="0" rIns="0" bIns="0" rtlCol="0" anchor="ctr"/>
          <a:lstStyle/>
          <a:p>
            <a:pPr marL="0" indent="0">
              <a:buNone/>
            </a:pPr>
            <a:r>
              <a:rPr lang="en-US" sz="1500" dirty="0">
                <a:solidFill>
                  <a:srgbClr val="0D1117"/>
                </a:solidFill>
                <a:latin typeface="Calibri" pitchFamily="34" charset="0"/>
                <a:ea typeface="Calibri" pitchFamily="34" charset="-122"/>
                <a:cs typeface="Calibri" pitchFamily="34" charset="-120"/>
              </a:rPr>
              <a:t>Extending: explain how one constraint will shape a specific design decision.</a:t>
            </a:r>
            <a:endParaRPr lang="en-US" sz="1500" dirty="0"/>
          </a:p>
        </p:txBody>
      </p:sp>
      <p:sp>
        <p:nvSpPr>
          <p:cNvPr id="22" name="Text 20"/>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23" name="Text 21"/>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8B5CF6"/>
          </a:solidFill>
          <a:ln w="12700">
            <a:solidFill>
              <a:srgbClr val="8B5CF6"/>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RESPONSIVE</a:t>
            </a:r>
            <a:endParaRPr lang="en-US" sz="1200" dirty="0"/>
          </a:p>
        </p:txBody>
      </p:sp>
      <p:sp>
        <p:nvSpPr>
          <p:cNvPr id="4" name="Text 2"/>
          <p:cNvSpPr/>
          <p:nvPr/>
        </p:nvSpPr>
        <p:spPr>
          <a:xfrm>
            <a:off x="2331720" y="384048"/>
            <a:ext cx="9144000" cy="548640"/>
          </a:xfrm>
          <a:prstGeom prst="rect">
            <a:avLst/>
          </a:prstGeom>
          <a:noFill/>
          <a:ln/>
        </p:spPr>
        <p:txBody>
          <a:bodyPr wrap="square" lIns="0" tIns="0" rIns="0" bIns="0" rtlCol="0" anchor="ctr"/>
          <a:lstStyle/>
          <a:p>
            <a:pPr marL="0" indent="0">
              <a:buNone/>
            </a:pPr>
            <a:r>
              <a:rPr lang="en-US" sz="2800" b="1" dirty="0">
                <a:solidFill>
                  <a:srgbClr val="0D1117"/>
                </a:solidFill>
                <a:latin typeface="Bookman Old Style" pitchFamily="34" charset="0"/>
                <a:ea typeface="Bookman Old Style" pitchFamily="34" charset="-122"/>
                <a:cs typeface="Bookman Old Style" pitchFamily="34" charset="-120"/>
              </a:rPr>
              <a:t>Quick Peer Share</a:t>
            </a:r>
            <a:endParaRPr lang="en-US" sz="2800" dirty="0"/>
          </a:p>
        </p:txBody>
      </p:sp>
      <p:sp>
        <p:nvSpPr>
          <p:cNvPr id="5" name="Text 3"/>
          <p:cNvSpPr/>
          <p:nvPr/>
        </p:nvSpPr>
        <p:spPr>
          <a:xfrm>
            <a:off x="457200" y="1051560"/>
            <a:ext cx="11247120" cy="457200"/>
          </a:xfrm>
          <a:prstGeom prst="rect">
            <a:avLst/>
          </a:prstGeom>
          <a:noFill/>
          <a:ln/>
        </p:spPr>
        <p:txBody>
          <a:bodyPr wrap="square" lIns="0" tIns="0" rIns="0" bIns="0" rtlCol="0" anchor="ctr"/>
          <a:lstStyle/>
          <a:p>
            <a:pPr marL="0" indent="0">
              <a:buNone/>
            </a:pPr>
            <a:r>
              <a:rPr lang="en-US" sz="1600" dirty="0">
                <a:solidFill>
                  <a:srgbClr val="57606A"/>
                </a:solidFill>
                <a:latin typeface="Calibri" pitchFamily="34" charset="0"/>
                <a:ea typeface="Calibri" pitchFamily="34" charset="-122"/>
                <a:cs typeface="Calibri" pitchFamily="34" charset="-120"/>
              </a:rPr>
              <a:t>Swap workbooks (or screens) with a neighbouring group for 3 minutes.</a:t>
            </a:r>
            <a:endParaRPr lang="en-US" sz="1600" dirty="0"/>
          </a:p>
        </p:txBody>
      </p:sp>
      <p:sp>
        <p:nvSpPr>
          <p:cNvPr id="6" name="Shape 4"/>
          <p:cNvSpPr/>
          <p:nvPr/>
        </p:nvSpPr>
        <p:spPr>
          <a:xfrm>
            <a:off x="457200" y="1920240"/>
            <a:ext cx="502920" cy="502920"/>
          </a:xfrm>
          <a:prstGeom prst="ellipse">
            <a:avLst/>
          </a:prstGeom>
          <a:solidFill>
            <a:srgbClr val="8B5CF6"/>
          </a:solidFill>
          <a:ln w="12700">
            <a:solidFill>
              <a:srgbClr val="333333"/>
            </a:solidFill>
            <a:prstDash val="solid"/>
          </a:ln>
        </p:spPr>
        <p:txBody>
          <a:bodyPr/>
          <a:lstStyle/>
          <a:p>
            <a:endParaRPr lang="en-AU"/>
          </a:p>
        </p:txBody>
      </p:sp>
      <p:sp>
        <p:nvSpPr>
          <p:cNvPr id="7" name="Text 5"/>
          <p:cNvSpPr/>
          <p:nvPr/>
        </p:nvSpPr>
        <p:spPr>
          <a:xfrm>
            <a:off x="457200" y="1920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Shape 6"/>
          <p:cNvSpPr/>
          <p:nvPr/>
        </p:nvSpPr>
        <p:spPr>
          <a:xfrm>
            <a:off x="1143000" y="1920240"/>
            <a:ext cx="10561320" cy="1051560"/>
          </a:xfrm>
          <a:prstGeom prst="roundRect">
            <a:avLst>
              <a:gd name="adj" fmla="val 6957"/>
            </a:avLst>
          </a:prstGeom>
          <a:solidFill>
            <a:srgbClr val="F1ECFE"/>
          </a:solidFill>
          <a:ln w="12700">
            <a:solidFill>
              <a:srgbClr val="8B5CF6"/>
            </a:solidFill>
            <a:prstDash val="solid"/>
          </a:ln>
        </p:spPr>
        <p:txBody>
          <a:bodyPr/>
          <a:lstStyle/>
          <a:p>
            <a:endParaRPr lang="en-AU"/>
          </a:p>
        </p:txBody>
      </p:sp>
      <p:sp>
        <p:nvSpPr>
          <p:cNvPr id="9" name="Text 7"/>
          <p:cNvSpPr/>
          <p:nvPr/>
        </p:nvSpPr>
        <p:spPr>
          <a:xfrm>
            <a:off x="1371600" y="1920240"/>
            <a:ext cx="10104120" cy="1051560"/>
          </a:xfrm>
          <a:prstGeom prst="rect">
            <a:avLst/>
          </a:prstGeom>
          <a:noFill/>
          <a:ln/>
        </p:spPr>
        <p:txBody>
          <a:bodyPr wrap="square" lIns="0" tIns="0" rIns="0" bIns="0" rtlCol="0" anchor="ctr"/>
          <a:lstStyle/>
          <a:p>
            <a:pPr marL="0" indent="0">
              <a:buNone/>
            </a:pPr>
            <a:r>
              <a:rPr lang="en-US" sz="1550" dirty="0">
                <a:solidFill>
                  <a:srgbClr val="0D1117"/>
                </a:solidFill>
                <a:latin typeface="Calibri" pitchFamily="34" charset="0"/>
                <a:ea typeface="Calibri" pitchFamily="34" charset="-122"/>
                <a:cs typeface="Calibri" pitchFamily="34" charset="-120"/>
              </a:rPr>
              <a:t>Read their weakest characteristic and proposed change (Section 2).</a:t>
            </a:r>
            <a:endParaRPr lang="en-US" sz="1550" dirty="0"/>
          </a:p>
        </p:txBody>
      </p:sp>
      <p:sp>
        <p:nvSpPr>
          <p:cNvPr id="10" name="Shape 8"/>
          <p:cNvSpPr/>
          <p:nvPr/>
        </p:nvSpPr>
        <p:spPr>
          <a:xfrm>
            <a:off x="457200" y="3154680"/>
            <a:ext cx="502920" cy="502920"/>
          </a:xfrm>
          <a:prstGeom prst="ellipse">
            <a:avLst/>
          </a:prstGeom>
          <a:solidFill>
            <a:srgbClr val="8B5CF6"/>
          </a:solidFill>
          <a:ln w="12700">
            <a:solidFill>
              <a:srgbClr val="333333"/>
            </a:solidFill>
            <a:prstDash val="solid"/>
          </a:ln>
        </p:spPr>
        <p:txBody>
          <a:bodyPr/>
          <a:lstStyle/>
          <a:p>
            <a:endParaRPr lang="en-AU"/>
          </a:p>
        </p:txBody>
      </p:sp>
      <p:sp>
        <p:nvSpPr>
          <p:cNvPr id="11" name="Text 9"/>
          <p:cNvSpPr/>
          <p:nvPr/>
        </p:nvSpPr>
        <p:spPr>
          <a:xfrm>
            <a:off x="457200" y="3154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1143000" y="3154680"/>
            <a:ext cx="10561320" cy="1051560"/>
          </a:xfrm>
          <a:prstGeom prst="roundRect">
            <a:avLst>
              <a:gd name="adj" fmla="val 6957"/>
            </a:avLst>
          </a:prstGeom>
          <a:solidFill>
            <a:srgbClr val="F1ECFE"/>
          </a:solidFill>
          <a:ln w="12700">
            <a:solidFill>
              <a:srgbClr val="8B5CF6"/>
            </a:solidFill>
            <a:prstDash val="solid"/>
          </a:ln>
        </p:spPr>
        <p:txBody>
          <a:bodyPr/>
          <a:lstStyle/>
          <a:p>
            <a:endParaRPr lang="en-AU"/>
          </a:p>
        </p:txBody>
      </p:sp>
      <p:sp>
        <p:nvSpPr>
          <p:cNvPr id="13" name="Text 11"/>
          <p:cNvSpPr/>
          <p:nvPr/>
        </p:nvSpPr>
        <p:spPr>
          <a:xfrm>
            <a:off x="1371600" y="3154680"/>
            <a:ext cx="10104120" cy="1051560"/>
          </a:xfrm>
          <a:prstGeom prst="rect">
            <a:avLst/>
          </a:prstGeom>
          <a:noFill/>
          <a:ln/>
        </p:spPr>
        <p:txBody>
          <a:bodyPr wrap="square" lIns="0" tIns="0" rIns="0" bIns="0" rtlCol="0" anchor="ctr"/>
          <a:lstStyle/>
          <a:p>
            <a:pPr marL="0" indent="0">
              <a:buNone/>
            </a:pPr>
            <a:r>
              <a:rPr lang="en-US" sz="1550" dirty="0">
                <a:solidFill>
                  <a:srgbClr val="0D1117"/>
                </a:solidFill>
                <a:latin typeface="Calibri" pitchFamily="34" charset="0"/>
                <a:ea typeface="Calibri" pitchFamily="34" charset="-122"/>
                <a:cs typeface="Calibri" pitchFamily="34" charset="-120"/>
              </a:rPr>
              <a:t>Read one functional requirement — could you build it without asking them a question?</a:t>
            </a:r>
            <a:endParaRPr lang="en-US" sz="1550" dirty="0"/>
          </a:p>
        </p:txBody>
      </p:sp>
      <p:sp>
        <p:nvSpPr>
          <p:cNvPr id="14" name="Shape 12"/>
          <p:cNvSpPr/>
          <p:nvPr/>
        </p:nvSpPr>
        <p:spPr>
          <a:xfrm>
            <a:off x="457200" y="4389120"/>
            <a:ext cx="502920" cy="502920"/>
          </a:xfrm>
          <a:prstGeom prst="ellipse">
            <a:avLst/>
          </a:prstGeom>
          <a:solidFill>
            <a:srgbClr val="8B5CF6"/>
          </a:solidFill>
          <a:ln w="12700">
            <a:solidFill>
              <a:srgbClr val="333333"/>
            </a:solidFill>
            <a:prstDash val="solid"/>
          </a:ln>
        </p:spPr>
        <p:txBody>
          <a:bodyPr/>
          <a:lstStyle/>
          <a:p>
            <a:endParaRPr lang="en-AU"/>
          </a:p>
        </p:txBody>
      </p:sp>
      <p:sp>
        <p:nvSpPr>
          <p:cNvPr id="15" name="Text 13"/>
          <p:cNvSpPr/>
          <p:nvPr/>
        </p:nvSpPr>
        <p:spPr>
          <a:xfrm>
            <a:off x="457200" y="4389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Shape 14"/>
          <p:cNvSpPr/>
          <p:nvPr/>
        </p:nvSpPr>
        <p:spPr>
          <a:xfrm>
            <a:off x="1143000" y="4389120"/>
            <a:ext cx="10561320" cy="1051560"/>
          </a:xfrm>
          <a:prstGeom prst="roundRect">
            <a:avLst>
              <a:gd name="adj" fmla="val 6957"/>
            </a:avLst>
          </a:prstGeom>
          <a:solidFill>
            <a:srgbClr val="F1ECFE"/>
          </a:solidFill>
          <a:ln w="12700">
            <a:solidFill>
              <a:srgbClr val="8B5CF6"/>
            </a:solidFill>
            <a:prstDash val="solid"/>
          </a:ln>
        </p:spPr>
        <p:txBody>
          <a:bodyPr/>
          <a:lstStyle/>
          <a:p>
            <a:endParaRPr lang="en-AU"/>
          </a:p>
        </p:txBody>
      </p:sp>
      <p:sp>
        <p:nvSpPr>
          <p:cNvPr id="17" name="Text 15"/>
          <p:cNvSpPr/>
          <p:nvPr/>
        </p:nvSpPr>
        <p:spPr>
          <a:xfrm>
            <a:off x="1371600" y="4389120"/>
            <a:ext cx="10104120" cy="1051560"/>
          </a:xfrm>
          <a:prstGeom prst="rect">
            <a:avLst/>
          </a:prstGeom>
          <a:noFill/>
          <a:ln/>
        </p:spPr>
        <p:txBody>
          <a:bodyPr wrap="square" lIns="0" tIns="0" rIns="0" bIns="0" rtlCol="0" anchor="ctr"/>
          <a:lstStyle/>
          <a:p>
            <a:pPr marL="0" indent="0">
              <a:buNone/>
            </a:pPr>
            <a:r>
              <a:rPr lang="en-US" sz="1550" dirty="0">
                <a:solidFill>
                  <a:srgbClr val="0D1117"/>
                </a:solidFill>
                <a:latin typeface="Calibri" pitchFamily="34" charset="0"/>
                <a:ea typeface="Calibri" pitchFamily="34" charset="-122"/>
                <a:cs typeface="Calibri" pitchFamily="34" charset="-120"/>
              </a:rPr>
              <a:t>Name one thing you’d add to their "out of scope" list that they might have missed.</a:t>
            </a:r>
            <a:endParaRPr lang="en-US" sz="1550" dirty="0"/>
          </a:p>
        </p:txBody>
      </p:sp>
      <p:sp>
        <p:nvSpPr>
          <p:cNvPr id="18" name="Text 16"/>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9" name="Text 17"/>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365760"/>
          </a:xfrm>
          <a:prstGeom prst="roundRect">
            <a:avLst>
              <a:gd name="adj" fmla="val 15000"/>
            </a:avLst>
          </a:prstGeom>
          <a:solidFill>
            <a:srgbClr val="EF4444"/>
          </a:solidFill>
          <a:ln w="12700">
            <a:solidFill>
              <a:srgbClr val="EF4444"/>
            </a:solidFill>
            <a:prstDash val="solid"/>
          </a:ln>
        </p:spPr>
        <p:txBody>
          <a:bodyPr/>
          <a:lstStyle/>
          <a:p>
            <a:endParaRPr lang="en-AU"/>
          </a:p>
        </p:txBody>
      </p:sp>
      <p:sp>
        <p:nvSpPr>
          <p:cNvPr id="3" name="Text 1"/>
          <p:cNvSpPr/>
          <p:nvPr/>
        </p:nvSpPr>
        <p:spPr>
          <a:xfrm>
            <a:off x="457200" y="320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EXIT TICKET</a:t>
            </a:r>
            <a:endParaRPr lang="en-US" sz="1200" dirty="0"/>
          </a:p>
        </p:txBody>
      </p:sp>
      <p:sp>
        <p:nvSpPr>
          <p:cNvPr id="4" name="Text 2"/>
          <p:cNvSpPr/>
          <p:nvPr/>
        </p:nvSpPr>
        <p:spPr>
          <a:xfrm>
            <a:off x="2331720" y="384048"/>
            <a:ext cx="9144000" cy="548640"/>
          </a:xfrm>
          <a:prstGeom prst="rect">
            <a:avLst/>
          </a:prstGeom>
          <a:noFill/>
          <a:ln/>
        </p:spPr>
        <p:txBody>
          <a:bodyPr wrap="square" lIns="0" tIns="0" rIns="0" bIns="0" rtlCol="0" anchor="ctr"/>
          <a:lstStyle/>
          <a:p>
            <a:pPr marL="0" indent="0">
              <a:buNone/>
            </a:pPr>
            <a:r>
              <a:rPr lang="en-US" sz="3000" b="1" dirty="0">
                <a:solidFill>
                  <a:srgbClr val="0D1117"/>
                </a:solidFill>
                <a:latin typeface="Bookman Old Style" pitchFamily="34" charset="0"/>
                <a:ea typeface="Bookman Old Style" pitchFamily="34" charset="-122"/>
                <a:cs typeface="Bookman Old Style" pitchFamily="34" charset="-120"/>
              </a:rPr>
              <a:t>Exit Ticket</a:t>
            </a:r>
            <a:endParaRPr lang="en-US" sz="3000" dirty="0"/>
          </a:p>
        </p:txBody>
      </p:sp>
      <p:sp>
        <p:nvSpPr>
          <p:cNvPr id="5" name="Text 3"/>
          <p:cNvSpPr/>
          <p:nvPr/>
        </p:nvSpPr>
        <p:spPr>
          <a:xfrm>
            <a:off x="457200" y="1051560"/>
            <a:ext cx="11247120" cy="457200"/>
          </a:xfrm>
          <a:prstGeom prst="rect">
            <a:avLst/>
          </a:prstGeom>
          <a:noFill/>
          <a:ln/>
        </p:spPr>
        <p:txBody>
          <a:bodyPr wrap="square" lIns="0" tIns="0" rIns="0" bIns="0" rtlCol="0" anchor="ctr"/>
          <a:lstStyle/>
          <a:p>
            <a:pPr marL="0" indent="0">
              <a:buNone/>
            </a:pPr>
            <a:r>
              <a:rPr lang="en-US" sz="1600" i="1" dirty="0">
                <a:solidFill>
                  <a:srgbClr val="8B949E"/>
                </a:solidFill>
                <a:latin typeface="Calibri" pitchFamily="34" charset="0"/>
                <a:ea typeface="Calibri" pitchFamily="34" charset="-122"/>
                <a:cs typeface="Calibri" pitchFamily="34" charset="-120"/>
              </a:rPr>
              <a:t>Devices OFF — complete Section 5 from memory. No looking back.</a:t>
            </a:r>
            <a:endParaRPr lang="en-US" sz="1600" dirty="0"/>
          </a:p>
        </p:txBody>
      </p:sp>
      <p:sp>
        <p:nvSpPr>
          <p:cNvPr id="6" name="Shape 4"/>
          <p:cNvSpPr/>
          <p:nvPr/>
        </p:nvSpPr>
        <p:spPr>
          <a:xfrm>
            <a:off x="457200" y="1828800"/>
            <a:ext cx="11247120" cy="1234440"/>
          </a:xfrm>
          <a:prstGeom prst="roundRect">
            <a:avLst>
              <a:gd name="adj" fmla="val 7407"/>
            </a:avLst>
          </a:prstGeom>
          <a:solidFill>
            <a:srgbClr val="FDEBEB"/>
          </a:solidFill>
          <a:ln w="12700">
            <a:solidFill>
              <a:srgbClr val="EF4444"/>
            </a:solidFill>
            <a:prstDash val="solid"/>
          </a:ln>
        </p:spPr>
        <p:txBody>
          <a:bodyPr/>
          <a:lstStyle/>
          <a:p>
            <a:endParaRPr lang="en-AU"/>
          </a:p>
        </p:txBody>
      </p:sp>
      <p:sp>
        <p:nvSpPr>
          <p:cNvPr id="7" name="Text 5"/>
          <p:cNvSpPr/>
          <p:nvPr/>
        </p:nvSpPr>
        <p:spPr>
          <a:xfrm>
            <a:off x="685800" y="1965960"/>
            <a:ext cx="914400" cy="365760"/>
          </a:xfrm>
          <a:prstGeom prst="rect">
            <a:avLst/>
          </a:prstGeom>
          <a:noFill/>
          <a:ln/>
        </p:spPr>
        <p:txBody>
          <a:bodyPr wrap="square" lIns="0" tIns="0" rIns="0" bIns="0" rtlCol="0" anchor="ctr"/>
          <a:lstStyle/>
          <a:p>
            <a:pPr marL="0" indent="0">
              <a:buNone/>
            </a:pPr>
            <a:r>
              <a:rPr lang="en-US" sz="1500" b="1" dirty="0">
                <a:solidFill>
                  <a:srgbClr val="EF4444"/>
                </a:solidFill>
                <a:latin typeface="DM Mono" pitchFamily="34" charset="0"/>
                <a:ea typeface="DM Mono" pitchFamily="34" charset="-122"/>
                <a:cs typeface="DM Mono" pitchFamily="34" charset="-120"/>
              </a:rPr>
              <a:t>Q12</a:t>
            </a:r>
            <a:endParaRPr lang="en-US" sz="1500" dirty="0"/>
          </a:p>
        </p:txBody>
      </p:sp>
      <p:sp>
        <p:nvSpPr>
          <p:cNvPr id="8" name="Text 6"/>
          <p:cNvSpPr/>
          <p:nvPr/>
        </p:nvSpPr>
        <p:spPr>
          <a:xfrm>
            <a:off x="685800" y="2331720"/>
            <a:ext cx="914400" cy="54864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1737360" y="1828800"/>
            <a:ext cx="9692640" cy="1234440"/>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Name the four characteristics of a creative and innovative solution, from memory.</a:t>
            </a:r>
            <a:endParaRPr lang="en-US" sz="1600" dirty="0"/>
          </a:p>
        </p:txBody>
      </p:sp>
      <p:sp>
        <p:nvSpPr>
          <p:cNvPr id="10" name="Shape 8"/>
          <p:cNvSpPr/>
          <p:nvPr/>
        </p:nvSpPr>
        <p:spPr>
          <a:xfrm>
            <a:off x="457200" y="3246120"/>
            <a:ext cx="11247120" cy="1234440"/>
          </a:xfrm>
          <a:prstGeom prst="roundRect">
            <a:avLst>
              <a:gd name="adj" fmla="val 7407"/>
            </a:avLst>
          </a:prstGeom>
          <a:solidFill>
            <a:srgbClr val="FDEBEB"/>
          </a:solidFill>
          <a:ln w="12700">
            <a:solidFill>
              <a:srgbClr val="EF4444"/>
            </a:solidFill>
            <a:prstDash val="solid"/>
          </a:ln>
        </p:spPr>
        <p:txBody>
          <a:bodyPr/>
          <a:lstStyle/>
          <a:p>
            <a:endParaRPr lang="en-AU"/>
          </a:p>
        </p:txBody>
      </p:sp>
      <p:sp>
        <p:nvSpPr>
          <p:cNvPr id="11" name="Text 9"/>
          <p:cNvSpPr/>
          <p:nvPr/>
        </p:nvSpPr>
        <p:spPr>
          <a:xfrm>
            <a:off x="685800" y="3383280"/>
            <a:ext cx="914400" cy="365760"/>
          </a:xfrm>
          <a:prstGeom prst="rect">
            <a:avLst/>
          </a:prstGeom>
          <a:noFill/>
          <a:ln/>
        </p:spPr>
        <p:txBody>
          <a:bodyPr wrap="square" lIns="0" tIns="0" rIns="0" bIns="0" rtlCol="0" anchor="ctr"/>
          <a:lstStyle/>
          <a:p>
            <a:pPr marL="0" indent="0">
              <a:buNone/>
            </a:pPr>
            <a:r>
              <a:rPr lang="en-US" sz="1500" b="1" dirty="0">
                <a:solidFill>
                  <a:srgbClr val="EF4444"/>
                </a:solidFill>
                <a:latin typeface="DM Mono" pitchFamily="34" charset="0"/>
                <a:ea typeface="DM Mono" pitchFamily="34" charset="-122"/>
                <a:cs typeface="DM Mono" pitchFamily="34" charset="-120"/>
              </a:rPr>
              <a:t>Q13</a:t>
            </a:r>
            <a:endParaRPr lang="en-US" sz="1500" dirty="0"/>
          </a:p>
        </p:txBody>
      </p:sp>
      <p:sp>
        <p:nvSpPr>
          <p:cNvPr id="12" name="Text 10"/>
          <p:cNvSpPr/>
          <p:nvPr/>
        </p:nvSpPr>
        <p:spPr>
          <a:xfrm>
            <a:off x="685800" y="3749040"/>
            <a:ext cx="914400" cy="54864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1737360" y="3246120"/>
            <a:ext cx="9692640" cy="1234440"/>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In your own words, what is the difference between a functional and a non-functional requirement?</a:t>
            </a:r>
            <a:endParaRPr lang="en-US" sz="1600" dirty="0"/>
          </a:p>
        </p:txBody>
      </p:sp>
      <p:sp>
        <p:nvSpPr>
          <p:cNvPr id="14" name="Shape 12"/>
          <p:cNvSpPr/>
          <p:nvPr/>
        </p:nvSpPr>
        <p:spPr>
          <a:xfrm>
            <a:off x="457200" y="4663440"/>
            <a:ext cx="11247120" cy="1234440"/>
          </a:xfrm>
          <a:prstGeom prst="roundRect">
            <a:avLst>
              <a:gd name="adj" fmla="val 7407"/>
            </a:avLst>
          </a:prstGeom>
          <a:solidFill>
            <a:srgbClr val="FDEBEB"/>
          </a:solidFill>
          <a:ln w="12700">
            <a:solidFill>
              <a:srgbClr val="EF4444"/>
            </a:solidFill>
            <a:prstDash val="solid"/>
          </a:ln>
        </p:spPr>
        <p:txBody>
          <a:bodyPr/>
          <a:lstStyle/>
          <a:p>
            <a:endParaRPr lang="en-AU"/>
          </a:p>
        </p:txBody>
      </p:sp>
      <p:sp>
        <p:nvSpPr>
          <p:cNvPr id="15" name="Text 13"/>
          <p:cNvSpPr/>
          <p:nvPr/>
        </p:nvSpPr>
        <p:spPr>
          <a:xfrm>
            <a:off x="685800" y="4800600"/>
            <a:ext cx="914400" cy="365760"/>
          </a:xfrm>
          <a:prstGeom prst="rect">
            <a:avLst/>
          </a:prstGeom>
          <a:noFill/>
          <a:ln/>
        </p:spPr>
        <p:txBody>
          <a:bodyPr wrap="square" lIns="0" tIns="0" rIns="0" bIns="0" rtlCol="0" anchor="ctr"/>
          <a:lstStyle/>
          <a:p>
            <a:pPr marL="0" indent="0">
              <a:buNone/>
            </a:pPr>
            <a:r>
              <a:rPr lang="en-US" sz="1500" b="1" dirty="0">
                <a:solidFill>
                  <a:srgbClr val="EF4444"/>
                </a:solidFill>
                <a:latin typeface="DM Mono" pitchFamily="34" charset="0"/>
                <a:ea typeface="DM Mono" pitchFamily="34" charset="-122"/>
                <a:cs typeface="DM Mono" pitchFamily="34" charset="-120"/>
              </a:rPr>
              <a:t>Q14</a:t>
            </a:r>
            <a:endParaRPr lang="en-US" sz="1500" dirty="0"/>
          </a:p>
        </p:txBody>
      </p:sp>
      <p:sp>
        <p:nvSpPr>
          <p:cNvPr id="16" name="Text 14"/>
          <p:cNvSpPr/>
          <p:nvPr/>
        </p:nvSpPr>
        <p:spPr>
          <a:xfrm>
            <a:off x="685800" y="5166360"/>
            <a:ext cx="914400" cy="54864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737360" y="4663440"/>
            <a:ext cx="9692640" cy="1234440"/>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Name one constraint on your project and how it connects to something out of scope.</a:t>
            </a:r>
            <a:endParaRPr lang="en-US" sz="1600" dirty="0"/>
          </a:p>
        </p:txBody>
      </p:sp>
      <p:sp>
        <p:nvSpPr>
          <p:cNvPr id="18" name="Text 16"/>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9" name="Text 17"/>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57200" y="457200"/>
            <a:ext cx="2377440" cy="457200"/>
          </a:xfrm>
          <a:prstGeom prst="roundRect">
            <a:avLst>
              <a:gd name="adj" fmla="val 16000"/>
            </a:avLst>
          </a:prstGeom>
          <a:solidFill>
            <a:srgbClr val="4361EE"/>
          </a:solidFill>
          <a:ln w="12700">
            <a:solidFill>
              <a:srgbClr val="333333"/>
            </a:solidFill>
            <a:prstDash val="solid"/>
          </a:ln>
        </p:spPr>
        <p:txBody>
          <a:bodyPr/>
          <a:lstStyle/>
          <a:p>
            <a:endParaRPr lang="en-AU"/>
          </a:p>
        </p:txBody>
      </p:sp>
      <p:sp>
        <p:nvSpPr>
          <p:cNvPr id="3" name="Text 1"/>
          <p:cNvSpPr/>
          <p:nvPr/>
        </p:nvSpPr>
        <p:spPr>
          <a:xfrm>
            <a:off x="457200" y="457200"/>
            <a:ext cx="23774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NEXT STEPS</a:t>
            </a:r>
            <a:endParaRPr lang="en-US" sz="1400" dirty="0"/>
          </a:p>
        </p:txBody>
      </p:sp>
      <p:sp>
        <p:nvSpPr>
          <p:cNvPr id="4" name="Text 2"/>
          <p:cNvSpPr/>
          <p:nvPr/>
        </p:nvSpPr>
        <p:spPr>
          <a:xfrm>
            <a:off x="457200" y="1097280"/>
            <a:ext cx="11247120" cy="64008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Looking Ahead</a:t>
            </a:r>
            <a:endParaRPr lang="en-US" sz="3000" dirty="0"/>
          </a:p>
        </p:txBody>
      </p:sp>
      <p:sp>
        <p:nvSpPr>
          <p:cNvPr id="5" name="Shape 3"/>
          <p:cNvSpPr/>
          <p:nvPr/>
        </p:nvSpPr>
        <p:spPr>
          <a:xfrm>
            <a:off x="457200" y="1965960"/>
            <a:ext cx="11247120" cy="1737360"/>
          </a:xfrm>
          <a:prstGeom prst="roundRect">
            <a:avLst>
              <a:gd name="adj" fmla="val 5263"/>
            </a:avLst>
          </a:prstGeom>
          <a:solidFill>
            <a:srgbClr val="EF4444"/>
          </a:solidFill>
          <a:ln w="12700">
            <a:solidFill>
              <a:srgbClr val="333333"/>
            </a:solidFill>
            <a:prstDash val="solid"/>
          </a:ln>
          <a:effectLst>
            <a:outerShdw blurRad="76200" dist="25400" dir="5400000" algn="bl" rotWithShape="0">
              <a:srgbClr val="000000">
                <a:alpha val="18000"/>
              </a:srgbClr>
            </a:outerShdw>
          </a:effectLst>
        </p:spPr>
        <p:txBody>
          <a:bodyPr/>
          <a:lstStyle/>
          <a:p>
            <a:endParaRPr lang="en-AU"/>
          </a:p>
        </p:txBody>
      </p:sp>
      <p:sp>
        <p:nvSpPr>
          <p:cNvPr id="6" name="Text 4"/>
          <p:cNvSpPr/>
          <p:nvPr/>
        </p:nvSpPr>
        <p:spPr>
          <a:xfrm>
            <a:off x="731520" y="2148840"/>
            <a:ext cx="10698480" cy="365760"/>
          </a:xfrm>
          <a:prstGeom prst="rect">
            <a:avLst/>
          </a:prstGeom>
          <a:noFill/>
          <a:ln/>
        </p:spPr>
        <p:txBody>
          <a:bodyPr wrap="square" lIns="0" tIns="0" rIns="0" bIns="0" rtlCol="0" anchor="ctr"/>
          <a:lstStyle/>
          <a:p>
            <a:pPr marL="0" indent="0">
              <a:buNone/>
            </a:pPr>
            <a:r>
              <a:rPr lang="en-US" sz="1300" b="1" dirty="0">
                <a:solidFill>
                  <a:srgbClr val="FFFFFF"/>
                </a:solidFill>
                <a:latin typeface="DM Mono" pitchFamily="34" charset="0"/>
                <a:ea typeface="DM Mono" pitchFamily="34" charset="-122"/>
                <a:cs typeface="DM Mono" pitchFamily="34" charset="-120"/>
              </a:rPr>
              <a:t>D4.2 · GROUP MILESTONE 1 — DUE NEXT LESSON</a:t>
            </a:r>
            <a:endParaRPr lang="en-US" sz="1300" dirty="0"/>
          </a:p>
        </p:txBody>
      </p:sp>
      <p:sp>
        <p:nvSpPr>
          <p:cNvPr id="7" name="Text 5"/>
          <p:cNvSpPr/>
          <p:nvPr/>
        </p:nvSpPr>
        <p:spPr>
          <a:xfrm>
            <a:off x="731520" y="2514600"/>
            <a:ext cx="10698480" cy="109728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Refined problem statement + project plan (Gantt chart: tasks, time allocation, milestones, dependencies, critical path) due for teacher sign-off. Groups establish task delegation and individual accountability before design work begins.</a:t>
            </a:r>
            <a:endParaRPr lang="en-US" sz="1450" dirty="0"/>
          </a:p>
        </p:txBody>
      </p:sp>
      <p:sp>
        <p:nvSpPr>
          <p:cNvPr id="8" name="Shape 6"/>
          <p:cNvSpPr/>
          <p:nvPr/>
        </p:nvSpPr>
        <p:spPr>
          <a:xfrm>
            <a:off x="457200" y="3886200"/>
            <a:ext cx="11247120" cy="1371600"/>
          </a:xfrm>
          <a:prstGeom prst="roundRect">
            <a:avLst>
              <a:gd name="adj" fmla="val 6667"/>
            </a:avLst>
          </a:prstGeom>
          <a:solidFill>
            <a:srgbClr val="1F2530"/>
          </a:solidFill>
          <a:ln w="12700">
            <a:solidFill>
              <a:srgbClr val="30363D"/>
            </a:solidFill>
            <a:prstDash val="solid"/>
          </a:ln>
        </p:spPr>
        <p:txBody>
          <a:bodyPr/>
          <a:lstStyle/>
          <a:p>
            <a:endParaRPr lang="en-AU"/>
          </a:p>
        </p:txBody>
      </p:sp>
      <p:sp>
        <p:nvSpPr>
          <p:cNvPr id="9" name="Text 7"/>
          <p:cNvSpPr/>
          <p:nvPr/>
        </p:nvSpPr>
        <p:spPr>
          <a:xfrm>
            <a:off x="731520" y="4023360"/>
            <a:ext cx="10698480" cy="365760"/>
          </a:xfrm>
          <a:prstGeom prst="rect">
            <a:avLst/>
          </a:prstGeom>
          <a:noFill/>
          <a:ln/>
        </p:spPr>
        <p:txBody>
          <a:bodyPr wrap="square" lIns="0" tIns="0" rIns="0" bIns="0" rtlCol="0" anchor="ctr"/>
          <a:lstStyle/>
          <a:p>
            <a:pPr marL="0" indent="0">
              <a:buNone/>
            </a:pPr>
            <a:r>
              <a:rPr lang="en-US" sz="1200" b="1" dirty="0">
                <a:solidFill>
                  <a:srgbClr val="C7D2FE"/>
                </a:solidFill>
                <a:latin typeface="DM Mono" pitchFamily="34" charset="0"/>
                <a:ea typeface="DM Mono" pitchFamily="34" charset="-122"/>
                <a:cs typeface="DM Mono" pitchFamily="34" charset="-120"/>
              </a:rPr>
              <a:t>YOUR SPECIFICATION FEEDS THE GANTT CHART</a:t>
            </a:r>
            <a:endParaRPr lang="en-US" sz="1200" dirty="0"/>
          </a:p>
        </p:txBody>
      </p:sp>
      <p:sp>
        <p:nvSpPr>
          <p:cNvPr id="10" name="Text 8"/>
          <p:cNvSpPr/>
          <p:nvPr/>
        </p:nvSpPr>
        <p:spPr>
          <a:xfrm>
            <a:off x="731520" y="4389120"/>
            <a:ext cx="10698480" cy="77724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Your functional requirements from today become the tasks your Gantt chart needs to schedule — bring today’s workbook to Milestone 1.</a:t>
            </a:r>
            <a:endParaRPr lang="en-US" sz="1450" dirty="0"/>
          </a:p>
        </p:txBody>
      </p:sp>
      <p:sp>
        <p:nvSpPr>
          <p:cNvPr id="11" name="Text 9"/>
          <p:cNvSpPr/>
          <p:nvPr/>
        </p:nvSpPr>
        <p:spPr>
          <a:xfrm>
            <a:off x="457200" y="5440680"/>
            <a:ext cx="11247120" cy="822960"/>
          </a:xfrm>
          <a:prstGeom prst="rect">
            <a:avLst/>
          </a:prstGeom>
          <a:noFill/>
          <a:ln/>
        </p:spPr>
        <p:txBody>
          <a:bodyPr wrap="square" lIns="0" tIns="0" rIns="0" bIns="0" rtlCol="0" anchor="ctr"/>
          <a:lstStyle/>
          <a:p>
            <a:pPr marL="0" indent="0">
              <a:buNone/>
            </a:pPr>
            <a:r>
              <a:rPr lang="en-US" sz="1350" i="1" dirty="0">
                <a:solidFill>
                  <a:srgbClr val="8B949E"/>
                </a:solidFill>
                <a:latin typeface="Calibri" pitchFamily="34" charset="0"/>
                <a:ea typeface="Calibri" pitchFamily="34" charset="-122"/>
                <a:cs typeface="Calibri" pitchFamily="34" charset="-120"/>
              </a:rPr>
              <a:t>Before dismissing: confirm every group has a strengthened concept, at least four functional requirements, and a clear in/out scope statement — all three carry directly into Milestone 1.</a:t>
            </a:r>
            <a:endParaRPr lang="en-US" sz="1350" dirty="0"/>
          </a:p>
        </p:txBody>
      </p:sp>
      <p:sp>
        <p:nvSpPr>
          <p:cNvPr id="12" name="Text 10"/>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8B949E"/>
                </a:solidFill>
                <a:latin typeface="DM Mono" pitchFamily="34" charset="0"/>
                <a:ea typeface="DM Mono" pitchFamily="34" charset="-122"/>
                <a:cs typeface="DM Mono" pitchFamily="34" charset="-120"/>
              </a:rPr>
              <a:t>y11-ac-u2-l5-characteristics-specifications</a:t>
            </a:r>
            <a:endParaRPr lang="en-US" sz="900" dirty="0"/>
          </a:p>
        </p:txBody>
      </p:sp>
      <p:sp>
        <p:nvSpPr>
          <p:cNvPr id="13" name="Text 11"/>
          <p:cNvSpPr/>
          <p:nvPr/>
        </p:nvSpPr>
        <p:spPr>
          <a:xfrm>
            <a:off x="10515600" y="6510528"/>
            <a:ext cx="1188720" cy="274320"/>
          </a:xfrm>
          <a:prstGeom prst="rect">
            <a:avLst/>
          </a:prstGeom>
          <a:noFill/>
          <a:ln/>
        </p:spPr>
        <p:txBody>
          <a:bodyPr wrap="square" lIns="0" tIns="0" rIns="0" bIns="0" rtlCol="0" anchor="ctr"/>
          <a:lstStyle/>
          <a:p>
            <a:pPr marL="0" indent="0" algn="r">
              <a:buNone/>
            </a:pPr>
            <a:r>
              <a:rPr lang="en-US" sz="900" dirty="0">
                <a:solidFill>
                  <a:srgbClr val="8B949E"/>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3049</Words>
  <Application>Microsoft Office PowerPoint</Application>
  <PresentationFormat>Widescreen</PresentationFormat>
  <Paragraphs>280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Bookman Old Style</vt:lpstr>
      <vt:lpstr>Calibri</vt:lpstr>
      <vt:lpstr>DM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James Smith 5</cp:lastModifiedBy>
  <cp:revision>2</cp:revision>
  <dcterms:created xsi:type="dcterms:W3CDTF">2026-07-14T23:54:10Z</dcterms:created>
  <dcterms:modified xsi:type="dcterms:W3CDTF">2026-07-15T04:14:31Z</dcterms:modified>
</cp:coreProperties>
</file>