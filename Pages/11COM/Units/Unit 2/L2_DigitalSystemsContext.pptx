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of the Unit 2 sequence. Students should already be in their AoS1 groups from D1.1 (or finalising group formation). Today widens their lens before they narrow their topic next lesson (D2.2). Devices OFF for the explicit teaching block — point at the five icons across the bottom and ask if anyone can already guess all five sectors before you reveal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2-3 minutes of pair discussion. Don't confirm or deny guesses yet — the reveal is next slide. Cold-call 2-3 pairs for their guesses before moving on; don't ask for volunteers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all four answers before moving to the bridge-line slide next. Keep pace brisk — about 2 minutes total for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landing slide — bridges from the warm-up reveal into the learning objective. Read aloud, then move straight into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then point at each tier briefly. Students copy the objective and tiers into their PAPER workbook (COPY chip, top right) — devices are off, this is not the digital workbook. Keep this slide brisk — under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questions are the lens for every sector example coming up. Tell students to keep asking both questions as you move through the five sectors — it's the structure of the workbook table they'll complete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sector before any examples — this is the pattern for all five sectors. Ask: 'what barrier' rather than 'what disability', keeping the focus on the system's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chip is on — these four examples go into students' PAPER workbooks now. The digital workbook's function/capability table is filled in later, during Application of Learning, using these paper notes — don't expect devices open at this point. Don't dwell long if no groups are exploring assistive tech/IoT — keep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hints on the slide deliberately — let students reason from the five sectors just covered. Cold-call 2-3 students for their answer and reasoning before opening it to volunteers.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 short break before the application task — keep it light, no content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Devices ON from this point. Roughly 15-18 minutes for this task. Circulate to check groups are genuinely filling the capability column, not just copying the example description verbatim.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verbally — call a sector name and have the class call back the capability in one phrase. Not graded; it's a quick formative pulse-check before moving to the assessment reminder.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Reassurance slide, not pressure — groups should feel they have time. Milestone 1 isn't due until Week 4 (D4.2). This is just keeping the destination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preview only. Full content for D2.1 will be taught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via workbook submission. Use the self-assessment data to inform which sectors need revisiting at the start of D2.1 if several groups are stuck on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00E"/>
        </a:solidFill>
      </p:bgPr>
    </p:bg>
    <p:spTree>
      <p:nvGrpSpPr>
        <p:cNvPr id="1" name=""/>
        <p:cNvGrpSpPr/>
        <p:nvPr/>
      </p:nvGrpSpPr>
      <p:grpSpPr>
        <a:xfrm>
          <a:off x="0" y="0"/>
          <a:ext cx="0" cy="0"/>
          <a:chOff x="0" y="0"/>
          <a:chExt cx="0" cy="0"/>
        </a:xfrm>
      </p:grpSpPr>
      <p:sp>
        <p:nvSpPr>
          <p:cNvPr id="2" name="Text 0"/>
          <p:cNvSpPr/>
          <p:nvPr/>
        </p:nvSpPr>
        <p:spPr>
          <a:xfrm>
            <a:off x="640080" y="822960"/>
            <a:ext cx="10058400" cy="365760"/>
          </a:xfrm>
          <a:prstGeom prst="rect">
            <a:avLst/>
          </a:prstGeom>
          <a:noFill/>
          <a:ln/>
        </p:spPr>
        <p:txBody>
          <a:bodyPr wrap="square" lIns="0" tIns="0" rIns="0" bIns="0" rtlCol="0" anchor="ctr"/>
          <a:lstStyle/>
          <a:p>
            <a:pPr indent="0" marL="0">
              <a:buNone/>
            </a:pPr>
            <a:r>
              <a:rPr lang="en-US" sz="1600" b="1" spc="200" kern="0" dirty="0">
                <a:solidFill>
                  <a:srgbClr val="EDE8DF"/>
                </a:solidFill>
                <a:latin typeface="Courier New" pitchFamily="34" charset="0"/>
                <a:ea typeface="Courier New" pitchFamily="34" charset="-122"/>
                <a:cs typeface="Courier New" pitchFamily="34" charset="-120"/>
              </a:rPr>
              <a:t>VCE APPLIED COMPUTING  ·  UNIT 2  ·  AREA OF STUDY 1  ·  LESSON 2</a:t>
            </a:r>
            <a:endParaRPr lang="en-US" sz="1600" dirty="0"/>
          </a:p>
        </p:txBody>
      </p:sp>
      <p:sp>
        <p:nvSpPr>
          <p:cNvPr id="3" name="Text 1"/>
          <p:cNvSpPr/>
          <p:nvPr/>
        </p:nvSpPr>
        <p:spPr>
          <a:xfrm>
            <a:off x="640080" y="2286000"/>
            <a:ext cx="10515600" cy="1463040"/>
          </a:xfrm>
          <a:prstGeom prst="rect">
            <a:avLst/>
          </a:prstGeom>
          <a:noFill/>
          <a:ln/>
        </p:spPr>
        <p:txBody>
          <a:bodyPr wrap="square" lIns="0" tIns="0" rIns="0" bIns="0" rtlCol="0" anchor="t"/>
          <a:lstStyle/>
          <a:p>
            <a:pPr algn="l" indent="0" marL="0">
              <a:buNone/>
            </a:pPr>
            <a:r>
              <a:rPr lang="en-US" sz="5600" b="1" dirty="0">
                <a:solidFill>
                  <a:srgbClr val="FFFFFF"/>
                </a:solidFill>
                <a:latin typeface="Cambria" pitchFamily="34" charset="0"/>
                <a:ea typeface="Cambria" pitchFamily="34" charset="-122"/>
                <a:cs typeface="Cambria" pitchFamily="34" charset="-120"/>
              </a:rPr>
              <a:t>Digital Systems in Context</a:t>
            </a:r>
            <a:endParaRPr lang="en-US" sz="5600" dirty="0"/>
          </a:p>
        </p:txBody>
      </p:sp>
      <p:sp>
        <p:nvSpPr>
          <p:cNvPr id="4" name="Text 2"/>
          <p:cNvSpPr/>
          <p:nvPr/>
        </p:nvSpPr>
        <p:spPr>
          <a:xfrm>
            <a:off x="640080" y="3794760"/>
            <a:ext cx="9601200" cy="548640"/>
          </a:xfrm>
          <a:prstGeom prst="rect">
            <a:avLst/>
          </a:prstGeom>
          <a:noFill/>
          <a:ln/>
        </p:spPr>
        <p:txBody>
          <a:bodyPr wrap="square" lIns="0" tIns="0" rIns="0" bIns="0" rtlCol="0" anchor="ctr"/>
          <a:lstStyle/>
          <a:p>
            <a:pPr indent="0" marL="0">
              <a:buNone/>
            </a:pPr>
            <a:r>
              <a:rPr lang="en-US" sz="2000" i="1" dirty="0">
                <a:solidFill>
                  <a:srgbClr val="EDE8DF"/>
                </a:solidFill>
                <a:latin typeface="Calibri" pitchFamily="34" charset="0"/>
                <a:ea typeface="Calibri" pitchFamily="34" charset="-122"/>
                <a:cs typeface="Calibri" pitchFamily="34" charset="-120"/>
              </a:rPr>
              <a:t>Functions and capabilities of digital systems used by individuals and organisations</a:t>
            </a:r>
            <a:endParaRPr lang="en-US" sz="2000" dirty="0"/>
          </a:p>
        </p:txBody>
      </p:sp>
      <p:sp>
        <p:nvSpPr>
          <p:cNvPr id="5" name="Shape 3"/>
          <p:cNvSpPr/>
          <p:nvPr/>
        </p:nvSpPr>
        <p:spPr>
          <a:xfrm>
            <a:off x="9829800" y="457200"/>
            <a:ext cx="1874520" cy="384048"/>
          </a:xfrm>
          <a:prstGeom prst="roundRect">
            <a:avLst>
              <a:gd name="adj" fmla="val 19048"/>
            </a:avLst>
          </a:prstGeom>
          <a:solidFill>
            <a:srgbClr val="12100E"/>
          </a:solidFill>
          <a:ln w="19050">
            <a:solidFill>
              <a:srgbClr val="8C1F28"/>
            </a:solidFill>
            <a:prstDash val="solid"/>
          </a:ln>
        </p:spPr>
      </p:sp>
      <p:sp>
        <p:nvSpPr>
          <p:cNvPr id="6" name="Text 4"/>
          <p:cNvSpPr/>
          <p:nvPr/>
        </p:nvSpPr>
        <p:spPr>
          <a:xfrm>
            <a:off x="9829800" y="457200"/>
            <a:ext cx="1874520" cy="384048"/>
          </a:xfrm>
          <a:prstGeom prst="rect">
            <a:avLst/>
          </a:prstGeom>
          <a:noFill/>
          <a:ln/>
        </p:spPr>
        <p:txBody>
          <a:bodyPr wrap="square" lIns="0" tIns="0" rIns="0" bIns="0" rtlCol="0" anchor="ctr"/>
          <a:lstStyle/>
          <a:p>
            <a:pPr algn="ctr" indent="0" marL="0">
              <a:buNone/>
            </a:pPr>
            <a:r>
              <a:rPr lang="en-US" sz="1200" b="1" spc="100" kern="0" dirty="0">
                <a:solidFill>
                  <a:srgbClr val="FF8B8B"/>
                </a:solidFill>
                <a:latin typeface="Courier New" pitchFamily="34" charset="0"/>
                <a:ea typeface="Courier New" pitchFamily="34" charset="-122"/>
                <a:cs typeface="Courier New" pitchFamily="34" charset="-120"/>
              </a:rPr>
              <a:t>DEVICES: OFF</a:t>
            </a:r>
            <a:endParaRPr lang="en-US" sz="1200" dirty="0"/>
          </a:p>
        </p:txBody>
      </p:sp>
      <p:sp>
        <p:nvSpPr>
          <p:cNvPr id="7" name="Shape 5"/>
          <p:cNvSpPr/>
          <p:nvPr/>
        </p:nvSpPr>
        <p:spPr>
          <a:xfrm>
            <a:off x="640080" y="5074920"/>
            <a:ext cx="777240" cy="777240"/>
          </a:xfrm>
          <a:prstGeom prst="ellipse">
            <a:avLst/>
          </a:prstGeom>
          <a:solidFill>
            <a:srgbClr val="2B3A8C"/>
          </a:solidFill>
          <a:ln/>
        </p:spPr>
      </p:sp>
      <p:pic>
        <p:nvPicPr>
          <p:cNvPr id="8" name="Image 0" descr="preencoded.png">    </p:cNvPr>
          <p:cNvPicPr>
            <a:picLocks noChangeAspect="1"/>
          </p:cNvPicPr>
          <p:nvPr/>
        </p:nvPicPr>
        <p:blipFill>
          <a:blip r:embed="rId1"/>
          <a:stretch>
            <a:fillRect/>
          </a:stretch>
        </p:blipFill>
        <p:spPr>
          <a:xfrm>
            <a:off x="804672" y="5239512"/>
            <a:ext cx="457200" cy="457200"/>
          </a:xfrm>
          <a:prstGeom prst="rect">
            <a:avLst/>
          </a:prstGeom>
        </p:spPr>
      </p:pic>
      <p:sp>
        <p:nvSpPr>
          <p:cNvPr id="9" name="Shape 6"/>
          <p:cNvSpPr/>
          <p:nvPr/>
        </p:nvSpPr>
        <p:spPr>
          <a:xfrm>
            <a:off x="2057400" y="5074920"/>
            <a:ext cx="777240" cy="777240"/>
          </a:xfrm>
          <a:prstGeom prst="ellipse">
            <a:avLst/>
          </a:prstGeom>
          <a:solidFill>
            <a:srgbClr val="1B5E47"/>
          </a:solidFill>
          <a:ln/>
        </p:spPr>
      </p:sp>
      <p:pic>
        <p:nvPicPr>
          <p:cNvPr id="10" name="Image 1" descr="preencoded.png">    </p:cNvPr>
          <p:cNvPicPr>
            <a:picLocks noChangeAspect="1"/>
          </p:cNvPicPr>
          <p:nvPr/>
        </p:nvPicPr>
        <p:blipFill>
          <a:blip r:embed="rId2"/>
          <a:stretch>
            <a:fillRect/>
          </a:stretch>
        </p:blipFill>
        <p:spPr>
          <a:xfrm>
            <a:off x="2221992" y="5239512"/>
            <a:ext cx="457200" cy="457200"/>
          </a:xfrm>
          <a:prstGeom prst="rect">
            <a:avLst/>
          </a:prstGeom>
        </p:spPr>
      </p:pic>
      <p:sp>
        <p:nvSpPr>
          <p:cNvPr id="11" name="Shape 7"/>
          <p:cNvSpPr/>
          <p:nvPr/>
        </p:nvSpPr>
        <p:spPr>
          <a:xfrm>
            <a:off x="3474720" y="5074920"/>
            <a:ext cx="777240" cy="777240"/>
          </a:xfrm>
          <a:prstGeom prst="ellipse">
            <a:avLst/>
          </a:prstGeom>
          <a:solidFill>
            <a:srgbClr val="0B6E73"/>
          </a:solidFill>
          <a:ln/>
        </p:spPr>
      </p:sp>
      <p:pic>
        <p:nvPicPr>
          <p:cNvPr id="12" name="Image 2" descr="preencoded.png">    </p:cNvPr>
          <p:cNvPicPr>
            <a:picLocks noChangeAspect="1"/>
          </p:cNvPicPr>
          <p:nvPr/>
        </p:nvPicPr>
        <p:blipFill>
          <a:blip r:embed="rId3"/>
          <a:stretch>
            <a:fillRect/>
          </a:stretch>
        </p:blipFill>
        <p:spPr>
          <a:xfrm>
            <a:off x="3639312" y="5239512"/>
            <a:ext cx="457200" cy="457200"/>
          </a:xfrm>
          <a:prstGeom prst="rect">
            <a:avLst/>
          </a:prstGeom>
        </p:spPr>
      </p:pic>
      <p:sp>
        <p:nvSpPr>
          <p:cNvPr id="13" name="Shape 8"/>
          <p:cNvSpPr/>
          <p:nvPr/>
        </p:nvSpPr>
        <p:spPr>
          <a:xfrm>
            <a:off x="4892040" y="5074920"/>
            <a:ext cx="777240" cy="777240"/>
          </a:xfrm>
          <a:prstGeom prst="ellipse">
            <a:avLst/>
          </a:prstGeom>
          <a:solidFill>
            <a:srgbClr val="B8620A"/>
          </a:solidFill>
          <a:ln/>
        </p:spPr>
      </p:sp>
      <p:pic>
        <p:nvPicPr>
          <p:cNvPr id="14" name="Image 3" descr="preencoded.png">    </p:cNvPr>
          <p:cNvPicPr>
            <a:picLocks noChangeAspect="1"/>
          </p:cNvPicPr>
          <p:nvPr/>
        </p:nvPicPr>
        <p:blipFill>
          <a:blip r:embed="rId4"/>
          <a:stretch>
            <a:fillRect/>
          </a:stretch>
        </p:blipFill>
        <p:spPr>
          <a:xfrm>
            <a:off x="5056632" y="5239512"/>
            <a:ext cx="457200" cy="457200"/>
          </a:xfrm>
          <a:prstGeom prst="rect">
            <a:avLst/>
          </a:prstGeom>
        </p:spPr>
      </p:pic>
      <p:sp>
        <p:nvSpPr>
          <p:cNvPr id="15" name="Shape 9"/>
          <p:cNvSpPr/>
          <p:nvPr/>
        </p:nvSpPr>
        <p:spPr>
          <a:xfrm>
            <a:off x="6309360" y="5074920"/>
            <a:ext cx="777240" cy="777240"/>
          </a:xfrm>
          <a:prstGeom prst="ellipse">
            <a:avLst/>
          </a:prstGeom>
          <a:solidFill>
            <a:srgbClr val="8C1F28"/>
          </a:solidFill>
          <a:ln/>
        </p:spPr>
      </p:sp>
      <p:pic>
        <p:nvPicPr>
          <p:cNvPr id="16" name="Image 4" descr="preencoded.png">    </p:cNvPr>
          <p:cNvPicPr>
            <a:picLocks noChangeAspect="1"/>
          </p:cNvPicPr>
          <p:nvPr/>
        </p:nvPicPr>
        <p:blipFill>
          <a:blip r:embed="rId5"/>
          <a:stretch>
            <a:fillRect/>
          </a:stretch>
        </p:blipFill>
        <p:spPr>
          <a:xfrm>
            <a:off x="6473952" y="5239512"/>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B8620A"/>
                </a:solidFill>
                <a:latin typeface="Courier New" pitchFamily="34" charset="0"/>
                <a:ea typeface="Courier New" pitchFamily="34" charset="-122"/>
                <a:cs typeface="Courier New" pitchFamily="34" charset="-120"/>
              </a:rPr>
              <a:t>WARM UP</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Spot the System</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6" name="Text 4"/>
          <p:cNvSpPr/>
          <p:nvPr/>
        </p:nvSpPr>
        <p:spPr>
          <a:xfrm>
            <a:off x="548640" y="1417320"/>
            <a:ext cx="10515600" cy="548640"/>
          </a:xfrm>
          <a:prstGeom prst="rect">
            <a:avLst/>
          </a:prstGeom>
          <a:noFill/>
          <a:ln/>
        </p:spPr>
        <p:txBody>
          <a:bodyPr wrap="square" lIns="0" tIns="0" rIns="0" bIns="0" rtlCol="0" anchor="ctr"/>
          <a:lstStyle/>
          <a:p>
            <a:pPr indent="0" marL="0">
              <a:buNone/>
            </a:pPr>
            <a:r>
              <a:rPr lang="en-US" sz="2000" dirty="0">
                <a:solidFill>
                  <a:srgbClr val="2C2A28"/>
                </a:solidFill>
                <a:latin typeface="Calibri" pitchFamily="34" charset="0"/>
                <a:ea typeface="Calibri" pitchFamily="34" charset="-122"/>
                <a:cs typeface="Calibri" pitchFamily="34" charset="-120"/>
              </a:rPr>
              <a:t>Four everyday moments. What digital system is actually working behind each one?</a:t>
            </a:r>
            <a:endParaRPr lang="en-US" sz="2000" dirty="0"/>
          </a:p>
        </p:txBody>
      </p:sp>
      <p:sp>
        <p:nvSpPr>
          <p:cNvPr id="7" name="Shape 5"/>
          <p:cNvSpPr/>
          <p:nvPr/>
        </p:nvSpPr>
        <p:spPr>
          <a:xfrm>
            <a:off x="640080" y="2377440"/>
            <a:ext cx="502920" cy="502920"/>
          </a:xfrm>
          <a:prstGeom prst="ellipse">
            <a:avLst/>
          </a:prstGeom>
          <a:solidFill>
            <a:srgbClr val="2C2A28"/>
          </a:solidFill>
          <a:ln/>
        </p:spPr>
      </p:sp>
      <p:sp>
        <p:nvSpPr>
          <p:cNvPr id="8" name="Text 6"/>
          <p:cNvSpPr/>
          <p:nvPr/>
        </p:nvSpPr>
        <p:spPr>
          <a:xfrm>
            <a:off x="640080" y="23774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a:t>
            </a:r>
            <a:endParaRPr lang="en-US" sz="2000" dirty="0"/>
          </a:p>
        </p:txBody>
      </p:sp>
      <p:sp>
        <p:nvSpPr>
          <p:cNvPr id="9" name="Text 7"/>
          <p:cNvSpPr/>
          <p:nvPr/>
        </p:nvSpPr>
        <p:spPr>
          <a:xfrm>
            <a:off x="1417320" y="2331720"/>
            <a:ext cx="9601200" cy="594360"/>
          </a:xfrm>
          <a:prstGeom prst="rect">
            <a:avLst/>
          </a:prstGeom>
          <a:noFill/>
          <a:ln/>
        </p:spPr>
        <p:txBody>
          <a:bodyPr wrap="square" lIns="0" tIns="0" rIns="0" bIns="0" rtlCol="0" anchor="ctr"/>
          <a:lstStyle/>
          <a:p>
            <a:pPr indent="0" marL="0">
              <a:buNone/>
            </a:pPr>
            <a:r>
              <a:rPr lang="en-US" sz="2000" dirty="0">
                <a:solidFill>
                  <a:srgbClr val="12100E"/>
                </a:solidFill>
                <a:latin typeface="Calibri" pitchFamily="34" charset="0"/>
                <a:ea typeface="Calibri" pitchFamily="34" charset="-122"/>
                <a:cs typeface="Calibri" pitchFamily="34" charset="-120"/>
              </a:rPr>
              <a:t>Tapping your card to pay for a coffee</a:t>
            </a:r>
            <a:endParaRPr lang="en-US" sz="2000" dirty="0"/>
          </a:p>
        </p:txBody>
      </p:sp>
      <p:sp>
        <p:nvSpPr>
          <p:cNvPr id="10" name="Shape 8"/>
          <p:cNvSpPr/>
          <p:nvPr/>
        </p:nvSpPr>
        <p:spPr>
          <a:xfrm>
            <a:off x="640080" y="3246120"/>
            <a:ext cx="502920" cy="502920"/>
          </a:xfrm>
          <a:prstGeom prst="ellipse">
            <a:avLst/>
          </a:prstGeom>
          <a:solidFill>
            <a:srgbClr val="2C2A28"/>
          </a:solidFill>
          <a:ln/>
        </p:spPr>
      </p:sp>
      <p:sp>
        <p:nvSpPr>
          <p:cNvPr id="11" name="Text 9"/>
          <p:cNvSpPr/>
          <p:nvPr/>
        </p:nvSpPr>
        <p:spPr>
          <a:xfrm>
            <a:off x="640080" y="32461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2</a:t>
            </a:r>
            <a:endParaRPr lang="en-US" sz="2000" dirty="0"/>
          </a:p>
        </p:txBody>
      </p:sp>
      <p:sp>
        <p:nvSpPr>
          <p:cNvPr id="12" name="Text 10"/>
          <p:cNvSpPr/>
          <p:nvPr/>
        </p:nvSpPr>
        <p:spPr>
          <a:xfrm>
            <a:off x="1417320" y="3200400"/>
            <a:ext cx="9601200" cy="594360"/>
          </a:xfrm>
          <a:prstGeom prst="rect">
            <a:avLst/>
          </a:prstGeom>
          <a:noFill/>
          <a:ln/>
        </p:spPr>
        <p:txBody>
          <a:bodyPr wrap="square" lIns="0" tIns="0" rIns="0" bIns="0" rtlCol="0" anchor="ctr"/>
          <a:lstStyle/>
          <a:p>
            <a:pPr indent="0" marL="0">
              <a:buNone/>
            </a:pPr>
            <a:r>
              <a:rPr lang="en-US" sz="2000" dirty="0">
                <a:solidFill>
                  <a:srgbClr val="12100E"/>
                </a:solidFill>
                <a:latin typeface="Calibri" pitchFamily="34" charset="0"/>
                <a:ea typeface="Calibri" pitchFamily="34" charset="-122"/>
                <a:cs typeface="Calibri" pitchFamily="34" charset="-120"/>
              </a:rPr>
              <a:t>Your maps app suddenly reroutes you around a traffic jam</a:t>
            </a:r>
            <a:endParaRPr lang="en-US" sz="2000" dirty="0"/>
          </a:p>
        </p:txBody>
      </p:sp>
      <p:sp>
        <p:nvSpPr>
          <p:cNvPr id="13" name="Shape 11"/>
          <p:cNvSpPr/>
          <p:nvPr/>
        </p:nvSpPr>
        <p:spPr>
          <a:xfrm>
            <a:off x="640080" y="4114800"/>
            <a:ext cx="502920" cy="502920"/>
          </a:xfrm>
          <a:prstGeom prst="ellipse">
            <a:avLst/>
          </a:prstGeom>
          <a:solidFill>
            <a:srgbClr val="2C2A28"/>
          </a:solidFill>
          <a:ln/>
        </p:spPr>
      </p:sp>
      <p:sp>
        <p:nvSpPr>
          <p:cNvPr id="14" name="Text 12"/>
          <p:cNvSpPr/>
          <p:nvPr/>
        </p:nvSpPr>
        <p:spPr>
          <a:xfrm>
            <a:off x="640080" y="41148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3</a:t>
            </a:r>
            <a:endParaRPr lang="en-US" sz="2000" dirty="0"/>
          </a:p>
        </p:txBody>
      </p:sp>
      <p:sp>
        <p:nvSpPr>
          <p:cNvPr id="15" name="Text 13"/>
          <p:cNvSpPr/>
          <p:nvPr/>
        </p:nvSpPr>
        <p:spPr>
          <a:xfrm>
            <a:off x="1417320" y="4069080"/>
            <a:ext cx="9601200" cy="594360"/>
          </a:xfrm>
          <a:prstGeom prst="rect">
            <a:avLst/>
          </a:prstGeom>
          <a:noFill/>
          <a:ln/>
        </p:spPr>
        <p:txBody>
          <a:bodyPr wrap="square" lIns="0" tIns="0" rIns="0" bIns="0" rtlCol="0" anchor="ctr"/>
          <a:lstStyle/>
          <a:p>
            <a:pPr indent="0" marL="0">
              <a:buNone/>
            </a:pPr>
            <a:r>
              <a:rPr lang="en-US" sz="2000" dirty="0">
                <a:solidFill>
                  <a:srgbClr val="12100E"/>
                </a:solidFill>
                <a:latin typeface="Calibri" pitchFamily="34" charset="0"/>
                <a:ea typeface="Calibri" pitchFamily="34" charset="-122"/>
                <a:cs typeface="Calibri" pitchFamily="34" charset="-120"/>
              </a:rPr>
              <a:t>A set of traffic lights changes its timing during rush hour</a:t>
            </a:r>
            <a:endParaRPr lang="en-US" sz="2000" dirty="0"/>
          </a:p>
        </p:txBody>
      </p:sp>
      <p:sp>
        <p:nvSpPr>
          <p:cNvPr id="16" name="Shape 14"/>
          <p:cNvSpPr/>
          <p:nvPr/>
        </p:nvSpPr>
        <p:spPr>
          <a:xfrm>
            <a:off x="640080" y="4983480"/>
            <a:ext cx="502920" cy="502920"/>
          </a:xfrm>
          <a:prstGeom prst="ellipse">
            <a:avLst/>
          </a:prstGeom>
          <a:solidFill>
            <a:srgbClr val="2C2A28"/>
          </a:solidFill>
          <a:ln/>
        </p:spPr>
      </p:sp>
      <p:sp>
        <p:nvSpPr>
          <p:cNvPr id="17" name="Text 15"/>
          <p:cNvSpPr/>
          <p:nvPr/>
        </p:nvSpPr>
        <p:spPr>
          <a:xfrm>
            <a:off x="640080" y="4983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4</a:t>
            </a:r>
            <a:endParaRPr lang="en-US" sz="2000" dirty="0"/>
          </a:p>
        </p:txBody>
      </p:sp>
      <p:sp>
        <p:nvSpPr>
          <p:cNvPr id="18" name="Text 16"/>
          <p:cNvSpPr/>
          <p:nvPr/>
        </p:nvSpPr>
        <p:spPr>
          <a:xfrm>
            <a:off x="1417320" y="4937760"/>
            <a:ext cx="9601200" cy="594360"/>
          </a:xfrm>
          <a:prstGeom prst="rect">
            <a:avLst/>
          </a:prstGeom>
          <a:noFill/>
          <a:ln/>
        </p:spPr>
        <p:txBody>
          <a:bodyPr wrap="square" lIns="0" tIns="0" rIns="0" bIns="0" rtlCol="0" anchor="ctr"/>
          <a:lstStyle/>
          <a:p>
            <a:pPr indent="0" marL="0">
              <a:buNone/>
            </a:pPr>
            <a:r>
              <a:rPr lang="en-US" sz="2000" dirty="0">
                <a:solidFill>
                  <a:srgbClr val="12100E"/>
                </a:solidFill>
                <a:latin typeface="Calibri" pitchFamily="34" charset="0"/>
                <a:ea typeface="Calibri" pitchFamily="34" charset="-122"/>
                <a:cs typeface="Calibri" pitchFamily="34" charset="-120"/>
              </a:rPr>
              <a:t>A phone reads a web page out loud to someone who can't see the screen</a:t>
            </a:r>
            <a:endParaRPr lang="en-US" sz="2000" dirty="0"/>
          </a:p>
        </p:txBody>
      </p:sp>
      <p:sp>
        <p:nvSpPr>
          <p:cNvPr id="19" name="Text 17"/>
          <p:cNvSpPr/>
          <p:nvPr/>
        </p:nvSpPr>
        <p:spPr>
          <a:xfrm>
            <a:off x="548640" y="5943600"/>
            <a:ext cx="10058400" cy="457200"/>
          </a:xfrm>
          <a:prstGeom prst="rect">
            <a:avLst/>
          </a:prstGeom>
          <a:noFill/>
          <a:ln/>
        </p:spPr>
        <p:txBody>
          <a:bodyPr wrap="square" lIns="0" tIns="0" rIns="0" bIns="0" rtlCol="0" anchor="ctr"/>
          <a:lstStyle/>
          <a:p>
            <a:pPr indent="0" marL="0">
              <a:buNone/>
            </a:pPr>
            <a:r>
              <a:rPr lang="en-US" sz="1800" i="1" dirty="0">
                <a:solidFill>
                  <a:srgbClr val="6B6762"/>
                </a:solidFill>
                <a:latin typeface="Calibri" pitchFamily="34" charset="0"/>
                <a:ea typeface="Calibri" pitchFamily="34" charset="-122"/>
                <a:cs typeface="Calibri" pitchFamily="34" charset="-120"/>
              </a:rPr>
              <a:t>Talk with the person next to you — no wrong guesses yet.</a:t>
            </a:r>
            <a:endParaRPr lang="en-US" sz="1800" dirty="0"/>
          </a:p>
        </p:txBody>
      </p:sp>
      <p:sp>
        <p:nvSpPr>
          <p:cNvPr id="20" name="Text 18"/>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B8620A"/>
                </a:solidFill>
                <a:latin typeface="Courier New" pitchFamily="34" charset="0"/>
                <a:ea typeface="Courier New" pitchFamily="34" charset="-122"/>
                <a:cs typeface="Courier New" pitchFamily="34" charset="-120"/>
              </a:rPr>
              <a:t>WARM UP</a:t>
            </a:r>
            <a:endParaRPr lang="en-US" sz="1300" dirty="0"/>
          </a:p>
        </p:txBody>
      </p:sp>
      <p:sp>
        <p:nvSpPr>
          <p:cNvPr id="21" name="Text 19"/>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22" name="Text 20"/>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B8620A"/>
                </a:solidFill>
                <a:latin typeface="Courier New" pitchFamily="34" charset="0"/>
                <a:ea typeface="Courier New" pitchFamily="34" charset="-122"/>
                <a:cs typeface="Courier New" pitchFamily="34" charset="-120"/>
              </a:rPr>
              <a:t>WARM UP — REVEAL</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Every One of Those Is a Digital System</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6" name="Shape 4"/>
          <p:cNvSpPr/>
          <p:nvPr/>
        </p:nvSpPr>
        <p:spPr>
          <a:xfrm>
            <a:off x="548640" y="1691640"/>
            <a:ext cx="11064240" cy="868680"/>
          </a:xfrm>
          <a:prstGeom prst="roundRect">
            <a:avLst>
              <a:gd name="adj" fmla="val 8421"/>
            </a:avLst>
          </a:prstGeom>
          <a:solidFill>
            <a:srgbClr val="FFFFFF"/>
          </a:solidFill>
          <a:ln/>
          <a:effectLst>
            <a:outerShdw sx="100000" sy="100000" kx="0" ky="0" algn="bl" rotWithShape="0" blurRad="76200" dist="25400" dir="2700000">
              <a:srgbClr val="000000">
                <a:alpha val="10000"/>
              </a:srgbClr>
            </a:outerShdw>
          </a:effectLst>
        </p:spPr>
      </p:sp>
      <p:sp>
        <p:nvSpPr>
          <p:cNvPr id="7" name="Text 5"/>
          <p:cNvSpPr/>
          <p:nvPr/>
        </p:nvSpPr>
        <p:spPr>
          <a:xfrm>
            <a:off x="868680" y="1801368"/>
            <a:ext cx="2743200" cy="6400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Tap to pay</a:t>
            </a:r>
            <a:endParaRPr lang="en-US" sz="2000" dirty="0"/>
          </a:p>
        </p:txBody>
      </p:sp>
      <p:sp>
        <p:nvSpPr>
          <p:cNvPr id="8" name="Text 6"/>
          <p:cNvSpPr/>
          <p:nvPr/>
        </p:nvSpPr>
        <p:spPr>
          <a:xfrm>
            <a:off x="3749040" y="1801368"/>
            <a:ext cx="7589520" cy="6400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Financial services — contactless payment + fraud detection</a:t>
            </a:r>
            <a:endParaRPr lang="en-US" sz="1900" dirty="0"/>
          </a:p>
        </p:txBody>
      </p:sp>
      <p:sp>
        <p:nvSpPr>
          <p:cNvPr id="9" name="Shape 7"/>
          <p:cNvSpPr/>
          <p:nvPr/>
        </p:nvSpPr>
        <p:spPr>
          <a:xfrm>
            <a:off x="548640" y="2743200"/>
            <a:ext cx="11064240" cy="868680"/>
          </a:xfrm>
          <a:prstGeom prst="roundRect">
            <a:avLst>
              <a:gd name="adj" fmla="val 8421"/>
            </a:avLst>
          </a:prstGeom>
          <a:solidFill>
            <a:srgbClr val="FFFFFF"/>
          </a:solidFill>
          <a:ln/>
          <a:effectLst>
            <a:outerShdw sx="100000" sy="100000" kx="0" ky="0" algn="bl" rotWithShape="0" blurRad="76200" dist="25400" dir="2700000">
              <a:srgbClr val="000000">
                <a:alpha val="10000"/>
              </a:srgbClr>
            </a:outerShdw>
          </a:effectLst>
        </p:spPr>
      </p:sp>
      <p:sp>
        <p:nvSpPr>
          <p:cNvPr id="10" name="Text 8"/>
          <p:cNvSpPr/>
          <p:nvPr/>
        </p:nvSpPr>
        <p:spPr>
          <a:xfrm>
            <a:off x="868680" y="2852928"/>
            <a:ext cx="2743200" cy="6400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Map reroute</a:t>
            </a:r>
            <a:endParaRPr lang="en-US" sz="2000" dirty="0"/>
          </a:p>
        </p:txBody>
      </p:sp>
      <p:sp>
        <p:nvSpPr>
          <p:cNvPr id="11" name="Text 9"/>
          <p:cNvSpPr/>
          <p:nvPr/>
        </p:nvSpPr>
        <p:spPr>
          <a:xfrm>
            <a:off x="3749040" y="2852928"/>
            <a:ext cx="7589520" cy="6400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GPS / location systems — real-time positioning</a:t>
            </a:r>
            <a:endParaRPr lang="en-US" sz="1900" dirty="0"/>
          </a:p>
        </p:txBody>
      </p:sp>
      <p:sp>
        <p:nvSpPr>
          <p:cNvPr id="12" name="Shape 10"/>
          <p:cNvSpPr/>
          <p:nvPr/>
        </p:nvSpPr>
        <p:spPr>
          <a:xfrm>
            <a:off x="548640" y="3794760"/>
            <a:ext cx="11064240" cy="868680"/>
          </a:xfrm>
          <a:prstGeom prst="roundRect">
            <a:avLst>
              <a:gd name="adj" fmla="val 8421"/>
            </a:avLst>
          </a:prstGeom>
          <a:solidFill>
            <a:srgbClr val="FFFFFF"/>
          </a:solidFill>
          <a:ln/>
          <a:effectLst>
            <a:outerShdw sx="100000" sy="100000" kx="0" ky="0" algn="bl" rotWithShape="0" blurRad="76200" dist="25400" dir="2700000">
              <a:srgbClr val="000000">
                <a:alpha val="10000"/>
              </a:srgbClr>
            </a:outerShdw>
          </a:effectLst>
        </p:spPr>
      </p:sp>
      <p:sp>
        <p:nvSpPr>
          <p:cNvPr id="13" name="Text 11"/>
          <p:cNvSpPr/>
          <p:nvPr/>
        </p:nvSpPr>
        <p:spPr>
          <a:xfrm>
            <a:off x="868680" y="3904488"/>
            <a:ext cx="2743200" cy="6400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Smart traffic lights</a:t>
            </a:r>
            <a:endParaRPr lang="en-US" sz="2000" dirty="0"/>
          </a:p>
        </p:txBody>
      </p:sp>
      <p:sp>
        <p:nvSpPr>
          <p:cNvPr id="14" name="Text 12"/>
          <p:cNvSpPr/>
          <p:nvPr/>
        </p:nvSpPr>
        <p:spPr>
          <a:xfrm>
            <a:off x="3749040" y="3904488"/>
            <a:ext cx="7589520" cy="6400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Traffic management — adaptive signal timing</a:t>
            </a:r>
            <a:endParaRPr lang="en-US" sz="1900" dirty="0"/>
          </a:p>
        </p:txBody>
      </p:sp>
      <p:sp>
        <p:nvSpPr>
          <p:cNvPr id="15" name="Shape 13"/>
          <p:cNvSpPr/>
          <p:nvPr/>
        </p:nvSpPr>
        <p:spPr>
          <a:xfrm>
            <a:off x="548640" y="4846320"/>
            <a:ext cx="11064240" cy="868680"/>
          </a:xfrm>
          <a:prstGeom prst="roundRect">
            <a:avLst>
              <a:gd name="adj" fmla="val 8421"/>
            </a:avLst>
          </a:prstGeom>
          <a:solidFill>
            <a:srgbClr val="FFFFFF"/>
          </a:solidFill>
          <a:ln/>
          <a:effectLst>
            <a:outerShdw sx="100000" sy="100000" kx="0" ky="0" algn="bl" rotWithShape="0" blurRad="76200" dist="25400" dir="2700000">
              <a:srgbClr val="000000">
                <a:alpha val="10000"/>
              </a:srgbClr>
            </a:outerShdw>
          </a:effectLst>
        </p:spPr>
      </p:sp>
      <p:sp>
        <p:nvSpPr>
          <p:cNvPr id="16" name="Text 14"/>
          <p:cNvSpPr/>
          <p:nvPr/>
        </p:nvSpPr>
        <p:spPr>
          <a:xfrm>
            <a:off x="868680" y="4956048"/>
            <a:ext cx="2743200" cy="6400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Screen reader</a:t>
            </a:r>
            <a:endParaRPr lang="en-US" sz="2000" dirty="0"/>
          </a:p>
        </p:txBody>
      </p:sp>
      <p:sp>
        <p:nvSpPr>
          <p:cNvPr id="17" name="Text 15"/>
          <p:cNvSpPr/>
          <p:nvPr/>
        </p:nvSpPr>
        <p:spPr>
          <a:xfrm>
            <a:off x="3749040" y="4956048"/>
            <a:ext cx="7589520" cy="6400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Assistive technology — removes a barrier to access</a:t>
            </a:r>
            <a:endParaRPr lang="en-US" sz="1900" dirty="0"/>
          </a:p>
        </p:txBody>
      </p:sp>
      <p:sp>
        <p:nvSpPr>
          <p:cNvPr id="18" name="Text 16"/>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B8620A"/>
                </a:solidFill>
                <a:latin typeface="Courier New" pitchFamily="34" charset="0"/>
                <a:ea typeface="Courier New" pitchFamily="34" charset="-122"/>
                <a:cs typeface="Courier New" pitchFamily="34" charset="-120"/>
              </a:rPr>
              <a:t>WARM UP</a:t>
            </a:r>
            <a:endParaRPr lang="en-US" sz="1300" dirty="0"/>
          </a:p>
        </p:txBody>
      </p:sp>
      <p:sp>
        <p:nvSpPr>
          <p:cNvPr id="19" name="Text 17"/>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20" name="Text 18"/>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3A8C"/>
        </a:solidFill>
      </p:bgPr>
    </p:bg>
    <p:spTree>
      <p:nvGrpSpPr>
        <p:cNvPr id="1" name=""/>
        <p:cNvGrpSpPr/>
        <p:nvPr/>
      </p:nvGrpSpPr>
      <p:grpSpPr>
        <a:xfrm>
          <a:off x="0" y="0"/>
          <a:ext cx="0" cy="0"/>
          <a:chOff x="0" y="0"/>
          <a:chExt cx="0" cy="0"/>
        </a:xfrm>
      </p:grpSpPr>
      <p:sp>
        <p:nvSpPr>
          <p:cNvPr id="2" name="Shape 0"/>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3" name="Text 1"/>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4" name="Text 2"/>
          <p:cNvSpPr/>
          <p:nvPr/>
        </p:nvSpPr>
        <p:spPr>
          <a:xfrm>
            <a:off x="914400" y="2377440"/>
            <a:ext cx="1033272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Every piece of technology you use started with someone noticing a problem worth solving.</a:t>
            </a:r>
            <a:endParaRPr lang="en-US" sz="3000" dirty="0"/>
          </a:p>
        </p:txBody>
      </p:sp>
      <p:sp>
        <p:nvSpPr>
          <p:cNvPr id="5" name="Text 3"/>
          <p:cNvSpPr/>
          <p:nvPr/>
        </p:nvSpPr>
        <p:spPr>
          <a:xfrm>
            <a:off x="914400" y="3931920"/>
            <a:ext cx="10332720" cy="731520"/>
          </a:xfrm>
          <a:prstGeom prst="rect">
            <a:avLst/>
          </a:prstGeom>
          <a:noFill/>
          <a:ln/>
        </p:spPr>
        <p:txBody>
          <a:bodyPr wrap="square" lIns="0" tIns="0" rIns="0" bIns="0" rtlCol="0" anchor="ctr"/>
          <a:lstStyle/>
          <a:p>
            <a:pPr algn="ctr" indent="0" marL="0">
              <a:buNone/>
            </a:pPr>
            <a:r>
              <a:rPr lang="en-US" sz="2100" i="1" dirty="0">
                <a:solidFill>
                  <a:srgbClr val="EDE8DF"/>
                </a:solidFill>
                <a:latin typeface="Calibri" pitchFamily="34" charset="0"/>
                <a:ea typeface="Calibri" pitchFamily="34" charset="-122"/>
                <a:cs typeface="Calibri" pitchFamily="34" charset="-120"/>
              </a:rPr>
              <a:t>Today is about widening your view of what's already out there.</a:t>
            </a:r>
            <a:endParaRPr lang="en-US" sz="2100" dirty="0"/>
          </a:p>
        </p:txBody>
      </p:sp>
      <p:sp>
        <p:nvSpPr>
          <p:cNvPr id="6" name="Text 4"/>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EDE8DF"/>
                </a:solidFill>
                <a:latin typeface="Courier New" pitchFamily="34" charset="0"/>
                <a:ea typeface="Courier New" pitchFamily="34" charset="-122"/>
                <a:cs typeface="Courier New" pitchFamily="34" charset="-120"/>
              </a:rPr>
              <a:t>WARM UP</a:t>
            </a:r>
            <a:endParaRPr lang="en-US" sz="1300" dirty="0"/>
          </a:p>
        </p:txBody>
      </p:sp>
      <p:sp>
        <p:nvSpPr>
          <p:cNvPr id="7" name="Text 5"/>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8" name="Text 6"/>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2B3A8C"/>
                </a:solidFill>
                <a:latin typeface="Courier New" pitchFamily="34" charset="0"/>
                <a:ea typeface="Courier New" pitchFamily="34" charset="-122"/>
                <a:cs typeface="Courier New" pitchFamily="34" charset="-120"/>
              </a:rPr>
              <a:t>LEARNING OBJECTIVE</a:t>
            </a:r>
            <a:endParaRPr lang="en-US" sz="1400" dirty="0"/>
          </a:p>
        </p:txBody>
      </p:sp>
      <p:sp>
        <p:nvSpPr>
          <p:cNvPr id="3" name="Shape 1"/>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4" name="Text 2"/>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5" name="Shape 3"/>
          <p:cNvSpPr/>
          <p:nvPr/>
        </p:nvSpPr>
        <p:spPr>
          <a:xfrm>
            <a:off x="548640" y="914400"/>
            <a:ext cx="11064240" cy="1051560"/>
          </a:xfrm>
          <a:prstGeom prst="roundRect">
            <a:avLst>
              <a:gd name="adj" fmla="val 8696"/>
            </a:avLst>
          </a:prstGeom>
          <a:solidFill>
            <a:srgbClr val="12100E"/>
          </a:solidFill>
          <a:ln/>
        </p:spPr>
      </p:sp>
      <p:sp>
        <p:nvSpPr>
          <p:cNvPr id="6" name="Text 4"/>
          <p:cNvSpPr/>
          <p:nvPr/>
        </p:nvSpPr>
        <p:spPr>
          <a:xfrm>
            <a:off x="868680" y="914400"/>
            <a:ext cx="10424160" cy="10515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To be able to describe the functions and capabilities of digital systems used by individuals and organisations, and use real examples to start narrowing your group's topic.</a:t>
            </a:r>
            <a:endParaRPr lang="en-US" sz="2100" dirty="0"/>
          </a:p>
        </p:txBody>
      </p:sp>
      <p:sp>
        <p:nvSpPr>
          <p:cNvPr id="7" name="Shape 5"/>
          <p:cNvSpPr/>
          <p:nvPr/>
        </p:nvSpPr>
        <p:spPr>
          <a:xfrm>
            <a:off x="7955280" y="411480"/>
            <a:ext cx="1691640" cy="384048"/>
          </a:xfrm>
          <a:prstGeom prst="roundRect">
            <a:avLst>
              <a:gd name="adj" fmla="val 19048"/>
            </a:avLst>
          </a:prstGeom>
          <a:solidFill>
            <a:srgbClr val="B8620A"/>
          </a:solidFill>
          <a:ln/>
        </p:spPr>
      </p:sp>
      <p:sp>
        <p:nvSpPr>
          <p:cNvPr id="8" name="Text 6"/>
          <p:cNvSpPr/>
          <p:nvPr/>
        </p:nvSpPr>
        <p:spPr>
          <a:xfrm>
            <a:off x="7955280" y="411480"/>
            <a:ext cx="1691640"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ourier New" pitchFamily="34" charset="0"/>
                <a:ea typeface="Courier New" pitchFamily="34" charset="-122"/>
                <a:cs typeface="Courier New" pitchFamily="34" charset="-120"/>
              </a:rPr>
              <a:t>COPY THIS</a:t>
            </a:r>
            <a:endParaRPr lang="en-US" sz="1300" dirty="0"/>
          </a:p>
        </p:txBody>
      </p:sp>
      <p:sp>
        <p:nvSpPr>
          <p:cNvPr id="9" name="Text 7"/>
          <p:cNvSpPr/>
          <p:nvPr/>
        </p:nvSpPr>
        <p:spPr>
          <a:xfrm>
            <a:off x="548640" y="2240280"/>
            <a:ext cx="5486400" cy="365760"/>
          </a:xfrm>
          <a:prstGeom prst="rect">
            <a:avLst/>
          </a:prstGeom>
          <a:noFill/>
          <a:ln/>
        </p:spPr>
        <p:txBody>
          <a:bodyPr wrap="square" lIns="0" tIns="0" rIns="0" bIns="0" rtlCol="0" anchor="ctr"/>
          <a:lstStyle/>
          <a:p>
            <a:pPr indent="0" marL="0">
              <a:buNone/>
            </a:pPr>
            <a:r>
              <a:rPr lang="en-US" sz="1600" b="1" spc="200" kern="0" dirty="0">
                <a:solidFill>
                  <a:srgbClr val="6B6762"/>
                </a:solidFill>
                <a:latin typeface="Courier New" pitchFamily="34" charset="0"/>
                <a:ea typeface="Courier New" pitchFamily="34" charset="-122"/>
                <a:cs typeface="Courier New" pitchFamily="34" charset="-120"/>
              </a:rPr>
              <a:t>SUCCESS CRITERIA</a:t>
            </a:r>
            <a:endParaRPr lang="en-US" sz="1600" dirty="0"/>
          </a:p>
        </p:txBody>
      </p:sp>
      <p:sp>
        <p:nvSpPr>
          <p:cNvPr id="10" name="Shape 8"/>
          <p:cNvSpPr/>
          <p:nvPr/>
        </p:nvSpPr>
        <p:spPr>
          <a:xfrm>
            <a:off x="548640" y="2697480"/>
            <a:ext cx="11064240" cy="1143000"/>
          </a:xfrm>
          <a:prstGeom prst="roundRect">
            <a:avLst>
              <a:gd name="adj" fmla="val 6400"/>
            </a:avLst>
          </a:prstGeom>
          <a:solidFill>
            <a:srgbClr val="FFFFFF"/>
          </a:solidFill>
          <a:ln/>
          <a:effectLst>
            <a:outerShdw sx="100000" sy="100000" kx="0" ky="0" algn="bl" rotWithShape="0" blurRad="76200" dist="25400" dir="2700000">
              <a:srgbClr val="000000">
                <a:alpha val="10000"/>
              </a:srgbClr>
            </a:outerShdw>
          </a:effectLst>
        </p:spPr>
      </p:sp>
      <p:sp>
        <p:nvSpPr>
          <p:cNvPr id="11" name="Shape 9"/>
          <p:cNvSpPr/>
          <p:nvPr/>
        </p:nvSpPr>
        <p:spPr>
          <a:xfrm>
            <a:off x="868680" y="2898648"/>
            <a:ext cx="1874520" cy="457200"/>
          </a:xfrm>
          <a:prstGeom prst="roundRect">
            <a:avLst>
              <a:gd name="adj" fmla="val 14000"/>
            </a:avLst>
          </a:prstGeom>
          <a:solidFill>
            <a:srgbClr val="1B5E47"/>
          </a:solidFill>
          <a:ln/>
        </p:spPr>
      </p:sp>
      <p:sp>
        <p:nvSpPr>
          <p:cNvPr id="12" name="Text 10"/>
          <p:cNvSpPr/>
          <p:nvPr/>
        </p:nvSpPr>
        <p:spPr>
          <a:xfrm>
            <a:off x="868680" y="2898648"/>
            <a:ext cx="1874520" cy="45720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ourier New" pitchFamily="34" charset="0"/>
                <a:ea typeface="Courier New" pitchFamily="34" charset="-122"/>
                <a:cs typeface="Courier New" pitchFamily="34" charset="-120"/>
              </a:rPr>
              <a:t>FOUNDATION</a:t>
            </a:r>
            <a:endParaRPr lang="en-US" sz="1400" dirty="0"/>
          </a:p>
        </p:txBody>
      </p:sp>
      <p:sp>
        <p:nvSpPr>
          <p:cNvPr id="13" name="Text 11"/>
          <p:cNvSpPr/>
          <p:nvPr/>
        </p:nvSpPr>
        <p:spPr>
          <a:xfrm>
            <a:off x="2971800" y="2807208"/>
            <a:ext cx="8412480" cy="914400"/>
          </a:xfrm>
          <a:prstGeom prst="rect">
            <a:avLst/>
          </a:prstGeom>
          <a:noFill/>
          <a:ln/>
        </p:spPr>
        <p:txBody>
          <a:bodyPr wrap="square" lIns="0" tIns="0" rIns="0" bIns="0" rtlCol="0" anchor="ctr"/>
          <a:lstStyle/>
          <a:p>
            <a:pPr indent="0" marL="0">
              <a:buNone/>
            </a:pPr>
            <a:r>
              <a:rPr lang="en-US" sz="1900" dirty="0">
                <a:solidFill>
                  <a:srgbClr val="12100E"/>
                </a:solidFill>
                <a:latin typeface="Calibri" pitchFamily="34" charset="0"/>
                <a:ea typeface="Calibri" pitchFamily="34" charset="-122"/>
                <a:cs typeface="Calibri" pitchFamily="34" charset="-120"/>
              </a:rPr>
              <a:t>I can describe what a digital system in at least two sectors is used for.</a:t>
            </a:r>
            <a:endParaRPr lang="en-US" sz="1900" dirty="0"/>
          </a:p>
        </p:txBody>
      </p:sp>
      <p:sp>
        <p:nvSpPr>
          <p:cNvPr id="14" name="Shape 12"/>
          <p:cNvSpPr/>
          <p:nvPr/>
        </p:nvSpPr>
        <p:spPr>
          <a:xfrm>
            <a:off x="548640" y="4023360"/>
            <a:ext cx="11064240" cy="1143000"/>
          </a:xfrm>
          <a:prstGeom prst="roundRect">
            <a:avLst>
              <a:gd name="adj" fmla="val 6400"/>
            </a:avLst>
          </a:prstGeom>
          <a:solidFill>
            <a:srgbClr val="FFFFFF"/>
          </a:solidFill>
          <a:ln/>
          <a:effectLst>
            <a:outerShdw sx="100000" sy="100000" kx="0" ky="0" algn="bl" rotWithShape="0" blurRad="76200" dist="25400" dir="2700000">
              <a:srgbClr val="000000">
                <a:alpha val="10000"/>
              </a:srgbClr>
            </a:outerShdw>
          </a:effectLst>
        </p:spPr>
      </p:sp>
      <p:sp>
        <p:nvSpPr>
          <p:cNvPr id="15" name="Shape 13"/>
          <p:cNvSpPr/>
          <p:nvPr/>
        </p:nvSpPr>
        <p:spPr>
          <a:xfrm>
            <a:off x="868680" y="4224528"/>
            <a:ext cx="1874520" cy="457200"/>
          </a:xfrm>
          <a:prstGeom prst="roundRect">
            <a:avLst>
              <a:gd name="adj" fmla="val 14000"/>
            </a:avLst>
          </a:prstGeom>
          <a:solidFill>
            <a:srgbClr val="B8620A"/>
          </a:solidFill>
          <a:ln/>
        </p:spPr>
      </p:sp>
      <p:sp>
        <p:nvSpPr>
          <p:cNvPr id="16" name="Text 14"/>
          <p:cNvSpPr/>
          <p:nvPr/>
        </p:nvSpPr>
        <p:spPr>
          <a:xfrm>
            <a:off x="868680" y="4224528"/>
            <a:ext cx="1874520" cy="45720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ourier New" pitchFamily="34" charset="0"/>
                <a:ea typeface="Courier New" pitchFamily="34" charset="-122"/>
                <a:cs typeface="Courier New" pitchFamily="34" charset="-120"/>
              </a:rPr>
              <a:t>DEVELOPING</a:t>
            </a:r>
            <a:endParaRPr lang="en-US" sz="1400" dirty="0"/>
          </a:p>
        </p:txBody>
      </p:sp>
      <p:sp>
        <p:nvSpPr>
          <p:cNvPr id="17" name="Text 15"/>
          <p:cNvSpPr/>
          <p:nvPr/>
        </p:nvSpPr>
        <p:spPr>
          <a:xfrm>
            <a:off x="2971800" y="4133088"/>
            <a:ext cx="8412480" cy="914400"/>
          </a:xfrm>
          <a:prstGeom prst="rect">
            <a:avLst/>
          </a:prstGeom>
          <a:noFill/>
          <a:ln/>
        </p:spPr>
        <p:txBody>
          <a:bodyPr wrap="square" lIns="0" tIns="0" rIns="0" bIns="0" rtlCol="0" anchor="ctr"/>
          <a:lstStyle/>
          <a:p>
            <a:pPr indent="0" marL="0">
              <a:buNone/>
            </a:pPr>
            <a:r>
              <a:rPr lang="en-US" sz="1900" dirty="0">
                <a:solidFill>
                  <a:srgbClr val="12100E"/>
                </a:solidFill>
                <a:latin typeface="Calibri" pitchFamily="34" charset="0"/>
                <a:ea typeface="Calibri" pitchFamily="34" charset="-122"/>
                <a:cs typeface="Calibri" pitchFamily="34" charset="-120"/>
              </a:rPr>
              <a:t>I can explain how a digital system's functions and capabilities solve a real problem for its users.</a:t>
            </a:r>
            <a:endParaRPr lang="en-US" sz="1900" dirty="0"/>
          </a:p>
        </p:txBody>
      </p:sp>
      <p:sp>
        <p:nvSpPr>
          <p:cNvPr id="18" name="Shape 16"/>
          <p:cNvSpPr/>
          <p:nvPr/>
        </p:nvSpPr>
        <p:spPr>
          <a:xfrm>
            <a:off x="548640" y="5349240"/>
            <a:ext cx="11064240" cy="1143000"/>
          </a:xfrm>
          <a:prstGeom prst="roundRect">
            <a:avLst>
              <a:gd name="adj" fmla="val 6400"/>
            </a:avLst>
          </a:prstGeom>
          <a:solidFill>
            <a:srgbClr val="FFFFFF"/>
          </a:solidFill>
          <a:ln/>
          <a:effectLst>
            <a:outerShdw sx="100000" sy="100000" kx="0" ky="0" algn="bl" rotWithShape="0" blurRad="76200" dist="25400" dir="2700000">
              <a:srgbClr val="000000">
                <a:alpha val="10000"/>
              </a:srgbClr>
            </a:outerShdw>
          </a:effectLst>
        </p:spPr>
      </p:sp>
      <p:sp>
        <p:nvSpPr>
          <p:cNvPr id="19" name="Shape 17"/>
          <p:cNvSpPr/>
          <p:nvPr/>
        </p:nvSpPr>
        <p:spPr>
          <a:xfrm>
            <a:off x="868680" y="5550408"/>
            <a:ext cx="1874520" cy="457200"/>
          </a:xfrm>
          <a:prstGeom prst="roundRect">
            <a:avLst>
              <a:gd name="adj" fmla="val 14000"/>
            </a:avLst>
          </a:prstGeom>
          <a:solidFill>
            <a:srgbClr val="2B3A8C"/>
          </a:solidFill>
          <a:ln/>
        </p:spPr>
      </p:sp>
      <p:sp>
        <p:nvSpPr>
          <p:cNvPr id="20" name="Text 18"/>
          <p:cNvSpPr/>
          <p:nvPr/>
        </p:nvSpPr>
        <p:spPr>
          <a:xfrm>
            <a:off x="868680" y="5550408"/>
            <a:ext cx="1874520" cy="45720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ourier New" pitchFamily="34" charset="0"/>
                <a:ea typeface="Courier New" pitchFamily="34" charset="-122"/>
                <a:cs typeface="Courier New" pitchFamily="34" charset="-120"/>
              </a:rPr>
              <a:t>EXTENDING</a:t>
            </a:r>
            <a:endParaRPr lang="en-US" sz="1400" dirty="0"/>
          </a:p>
        </p:txBody>
      </p:sp>
      <p:sp>
        <p:nvSpPr>
          <p:cNvPr id="21" name="Text 19"/>
          <p:cNvSpPr/>
          <p:nvPr/>
        </p:nvSpPr>
        <p:spPr>
          <a:xfrm>
            <a:off x="2971800" y="5458968"/>
            <a:ext cx="8412480" cy="914400"/>
          </a:xfrm>
          <a:prstGeom prst="rect">
            <a:avLst/>
          </a:prstGeom>
          <a:noFill/>
          <a:ln/>
        </p:spPr>
        <p:txBody>
          <a:bodyPr wrap="square" lIns="0" tIns="0" rIns="0" bIns="0" rtlCol="0" anchor="ctr"/>
          <a:lstStyle/>
          <a:p>
            <a:pPr indent="0" marL="0">
              <a:buNone/>
            </a:pPr>
            <a:r>
              <a:rPr lang="en-US" sz="1900" dirty="0">
                <a:solidFill>
                  <a:srgbClr val="12100E"/>
                </a:solidFill>
                <a:latin typeface="Calibri" pitchFamily="34" charset="0"/>
                <a:ea typeface="Calibri" pitchFamily="34" charset="-122"/>
                <a:cs typeface="Calibri" pitchFamily="34" charset="-120"/>
              </a:rPr>
              <a:t>I can connect a digital system example to my group's topic area and suggest a more specific direction.</a:t>
            </a:r>
            <a:endParaRPr lang="en-US" sz="1900" dirty="0"/>
          </a:p>
        </p:txBody>
      </p:sp>
      <p:sp>
        <p:nvSpPr>
          <p:cNvPr id="22" name="Text 20"/>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2B3A8C"/>
                </a:solidFill>
                <a:latin typeface="Courier New" pitchFamily="34" charset="0"/>
                <a:ea typeface="Courier New" pitchFamily="34" charset="-122"/>
                <a:cs typeface="Courier New" pitchFamily="34" charset="-120"/>
              </a:rPr>
              <a:t>LEARNING OBJECTIVE</a:t>
            </a:r>
            <a:endParaRPr lang="en-US" sz="1300" dirty="0"/>
          </a:p>
        </p:txBody>
      </p:sp>
      <p:sp>
        <p:nvSpPr>
          <p:cNvPr id="23" name="Text 21"/>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24" name="Text 22"/>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6B6762"/>
                </a:solidFill>
                <a:latin typeface="Courier New" pitchFamily="34" charset="0"/>
                <a:ea typeface="Courier New" pitchFamily="34" charset="-122"/>
                <a:cs typeface="Courier New" pitchFamily="34" charset="-120"/>
              </a:rPr>
              <a:t>EXPLICIT EXPLANATION</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What Counts as a “Digital System”?</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6" name="Text 4"/>
          <p:cNvSpPr/>
          <p:nvPr/>
        </p:nvSpPr>
        <p:spPr>
          <a:xfrm>
            <a:off x="548640" y="1463040"/>
            <a:ext cx="10789920" cy="594360"/>
          </a:xfrm>
          <a:prstGeom prst="rect">
            <a:avLst/>
          </a:prstGeom>
          <a:noFill/>
          <a:ln/>
        </p:spPr>
        <p:txBody>
          <a:bodyPr wrap="square" lIns="0" tIns="0" rIns="0" bIns="0" rtlCol="0" anchor="ctr"/>
          <a:lstStyle/>
          <a:p>
            <a:pPr indent="0" marL="0">
              <a:buNone/>
            </a:pPr>
            <a:r>
              <a:rPr lang="en-US" sz="2100" dirty="0">
                <a:solidFill>
                  <a:srgbClr val="2C2A28"/>
                </a:solidFill>
                <a:latin typeface="Calibri" pitchFamily="34" charset="0"/>
                <a:ea typeface="Calibri" pitchFamily="34" charset="-122"/>
                <a:cs typeface="Calibri" pitchFamily="34" charset="-120"/>
              </a:rPr>
              <a:t>Hardware, software and data working together to do a job for a user or an organisation.</a:t>
            </a:r>
            <a:endParaRPr lang="en-US" sz="2100" dirty="0"/>
          </a:p>
        </p:txBody>
      </p:sp>
      <p:sp>
        <p:nvSpPr>
          <p:cNvPr id="7" name="Shape 5"/>
          <p:cNvSpPr/>
          <p:nvPr/>
        </p:nvSpPr>
        <p:spPr>
          <a:xfrm>
            <a:off x="548640" y="2286000"/>
            <a:ext cx="5349240" cy="3291840"/>
          </a:xfrm>
          <a:prstGeom prst="roundRect">
            <a:avLst>
              <a:gd name="adj" fmla="val 2778"/>
            </a:avLst>
          </a:prstGeom>
          <a:solidFill>
            <a:srgbClr val="FFFFFF"/>
          </a:solidFill>
          <a:ln/>
          <a:effectLst>
            <a:outerShdw sx="100000" sy="100000" kx="0" ky="0" algn="bl" rotWithShape="0" blurRad="76200" dist="25400" dir="2700000">
              <a:srgbClr val="000000">
                <a:alpha val="10000"/>
              </a:srgbClr>
            </a:outerShdw>
          </a:effectLst>
        </p:spPr>
      </p:sp>
      <p:sp>
        <p:nvSpPr>
          <p:cNvPr id="8" name="Shape 6"/>
          <p:cNvSpPr/>
          <p:nvPr/>
        </p:nvSpPr>
        <p:spPr>
          <a:xfrm>
            <a:off x="868680" y="2560320"/>
            <a:ext cx="594360" cy="594360"/>
          </a:xfrm>
          <a:prstGeom prst="ellipse">
            <a:avLst/>
          </a:prstGeom>
          <a:solidFill>
            <a:srgbClr val="2B3A8C"/>
          </a:solidFill>
          <a:ln/>
        </p:spPr>
      </p:sp>
      <p:pic>
        <p:nvPicPr>
          <p:cNvPr id="9" name="Image 0" descr="preencoded.png">    </p:cNvPr>
          <p:cNvPicPr>
            <a:picLocks noChangeAspect="1"/>
          </p:cNvPicPr>
          <p:nvPr/>
        </p:nvPicPr>
        <p:blipFill>
          <a:blip r:embed="rId1"/>
          <a:stretch>
            <a:fillRect/>
          </a:stretch>
        </p:blipFill>
        <p:spPr>
          <a:xfrm>
            <a:off x="1005840" y="2697480"/>
            <a:ext cx="320040" cy="320040"/>
          </a:xfrm>
          <a:prstGeom prst="rect">
            <a:avLst/>
          </a:prstGeom>
        </p:spPr>
      </p:pic>
      <p:sp>
        <p:nvSpPr>
          <p:cNvPr id="10" name="Text 7"/>
          <p:cNvSpPr/>
          <p:nvPr/>
        </p:nvSpPr>
        <p:spPr>
          <a:xfrm>
            <a:off x="1645920" y="2560320"/>
            <a:ext cx="4023360" cy="594360"/>
          </a:xfrm>
          <a:prstGeom prst="rect">
            <a:avLst/>
          </a:prstGeom>
          <a:noFill/>
          <a:ln/>
        </p:spPr>
        <p:txBody>
          <a:bodyPr wrap="square" lIns="0" tIns="0" rIns="0" bIns="0" rtlCol="0" anchor="ctr"/>
          <a:lstStyle/>
          <a:p>
            <a:pPr indent="0" marL="0">
              <a:buNone/>
            </a:pPr>
            <a:r>
              <a:rPr lang="en-US" sz="1600" b="1" dirty="0">
                <a:solidFill>
                  <a:srgbClr val="2B3A8C"/>
                </a:solidFill>
                <a:latin typeface="Courier New" pitchFamily="34" charset="0"/>
                <a:ea typeface="Courier New" pitchFamily="34" charset="-122"/>
                <a:cs typeface="Courier New" pitchFamily="34" charset="-120"/>
              </a:rPr>
              <a:t>Question 1</a:t>
            </a:r>
            <a:endParaRPr lang="en-US" sz="1600" dirty="0"/>
          </a:p>
        </p:txBody>
      </p:sp>
      <p:sp>
        <p:nvSpPr>
          <p:cNvPr id="11" name="Text 8"/>
          <p:cNvSpPr/>
          <p:nvPr/>
        </p:nvSpPr>
        <p:spPr>
          <a:xfrm>
            <a:off x="868680" y="3246120"/>
            <a:ext cx="4754880" cy="640080"/>
          </a:xfrm>
          <a:prstGeom prst="rect">
            <a:avLst/>
          </a:prstGeom>
          <a:noFill/>
          <a:ln/>
        </p:spPr>
        <p:txBody>
          <a:bodyPr wrap="square" lIns="0" tIns="0" rIns="0" bIns="0" rtlCol="0" anchor="ctr"/>
          <a:lstStyle/>
          <a:p>
            <a:pPr indent="0" marL="0">
              <a:buNone/>
            </a:pPr>
            <a:r>
              <a:rPr lang="en-US" sz="2100" b="1" dirty="0">
                <a:solidFill>
                  <a:srgbClr val="12100E"/>
                </a:solidFill>
                <a:latin typeface="Cambria" pitchFamily="34" charset="0"/>
                <a:ea typeface="Cambria" pitchFamily="34" charset="-122"/>
                <a:cs typeface="Cambria" pitchFamily="34" charset="-120"/>
              </a:rPr>
              <a:t>What function does it perform?</a:t>
            </a:r>
            <a:endParaRPr lang="en-US" sz="2100" dirty="0"/>
          </a:p>
        </p:txBody>
      </p:sp>
      <p:sp>
        <p:nvSpPr>
          <p:cNvPr id="12" name="Text 9"/>
          <p:cNvSpPr/>
          <p:nvPr/>
        </p:nvSpPr>
        <p:spPr>
          <a:xfrm>
            <a:off x="868680" y="3931920"/>
            <a:ext cx="4754880" cy="146304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What is the system actually doing — what task is it carrying out?</a:t>
            </a:r>
            <a:endParaRPr lang="en-US" sz="1900" dirty="0"/>
          </a:p>
        </p:txBody>
      </p:sp>
      <p:sp>
        <p:nvSpPr>
          <p:cNvPr id="13" name="Shape 10"/>
          <p:cNvSpPr/>
          <p:nvPr/>
        </p:nvSpPr>
        <p:spPr>
          <a:xfrm>
            <a:off x="6172200" y="2286000"/>
            <a:ext cx="5349240" cy="3291840"/>
          </a:xfrm>
          <a:prstGeom prst="roundRect">
            <a:avLst>
              <a:gd name="adj" fmla="val 2778"/>
            </a:avLst>
          </a:prstGeom>
          <a:solidFill>
            <a:srgbClr val="FFFFFF"/>
          </a:solidFill>
          <a:ln/>
          <a:effectLst>
            <a:outerShdw sx="100000" sy="100000" kx="0" ky="0" algn="bl" rotWithShape="0" blurRad="76200" dist="25400" dir="2700000">
              <a:srgbClr val="000000">
                <a:alpha val="10000"/>
              </a:srgbClr>
            </a:outerShdw>
          </a:effectLst>
        </p:spPr>
      </p:sp>
      <p:sp>
        <p:nvSpPr>
          <p:cNvPr id="14" name="Shape 11"/>
          <p:cNvSpPr/>
          <p:nvPr/>
        </p:nvSpPr>
        <p:spPr>
          <a:xfrm>
            <a:off x="6492240" y="2560320"/>
            <a:ext cx="594360" cy="594360"/>
          </a:xfrm>
          <a:prstGeom prst="ellipse">
            <a:avLst/>
          </a:prstGeom>
          <a:solidFill>
            <a:srgbClr val="1B5E47"/>
          </a:solidFill>
          <a:ln/>
        </p:spPr>
      </p:sp>
      <p:pic>
        <p:nvPicPr>
          <p:cNvPr id="15" name="Image 1" descr="preencoded.png">    </p:cNvPr>
          <p:cNvPicPr>
            <a:picLocks noChangeAspect="1"/>
          </p:cNvPicPr>
          <p:nvPr/>
        </p:nvPicPr>
        <p:blipFill>
          <a:blip r:embed="rId2"/>
          <a:stretch>
            <a:fillRect/>
          </a:stretch>
        </p:blipFill>
        <p:spPr>
          <a:xfrm>
            <a:off x="6629400" y="2697480"/>
            <a:ext cx="320040" cy="320040"/>
          </a:xfrm>
          <a:prstGeom prst="rect">
            <a:avLst/>
          </a:prstGeom>
        </p:spPr>
      </p:pic>
      <p:sp>
        <p:nvSpPr>
          <p:cNvPr id="16" name="Text 12"/>
          <p:cNvSpPr/>
          <p:nvPr/>
        </p:nvSpPr>
        <p:spPr>
          <a:xfrm>
            <a:off x="7269480" y="2560320"/>
            <a:ext cx="4023360" cy="594360"/>
          </a:xfrm>
          <a:prstGeom prst="rect">
            <a:avLst/>
          </a:prstGeom>
          <a:noFill/>
          <a:ln/>
        </p:spPr>
        <p:txBody>
          <a:bodyPr wrap="square" lIns="0" tIns="0" rIns="0" bIns="0" rtlCol="0" anchor="ctr"/>
          <a:lstStyle/>
          <a:p>
            <a:pPr indent="0" marL="0">
              <a:buNone/>
            </a:pPr>
            <a:r>
              <a:rPr lang="en-US" sz="1600" b="1" dirty="0">
                <a:solidFill>
                  <a:srgbClr val="1B5E47"/>
                </a:solidFill>
                <a:latin typeface="Courier New" pitchFamily="34" charset="0"/>
                <a:ea typeface="Courier New" pitchFamily="34" charset="-122"/>
                <a:cs typeface="Courier New" pitchFamily="34" charset="-120"/>
              </a:rPr>
              <a:t>Question 2</a:t>
            </a:r>
            <a:endParaRPr lang="en-US" sz="1600" dirty="0"/>
          </a:p>
        </p:txBody>
      </p:sp>
      <p:sp>
        <p:nvSpPr>
          <p:cNvPr id="17" name="Text 13"/>
          <p:cNvSpPr/>
          <p:nvPr/>
        </p:nvSpPr>
        <p:spPr>
          <a:xfrm>
            <a:off x="6492240" y="3246120"/>
            <a:ext cx="4754880" cy="640080"/>
          </a:xfrm>
          <a:prstGeom prst="rect">
            <a:avLst/>
          </a:prstGeom>
          <a:noFill/>
          <a:ln/>
        </p:spPr>
        <p:txBody>
          <a:bodyPr wrap="square" lIns="0" tIns="0" rIns="0" bIns="0" rtlCol="0" anchor="ctr"/>
          <a:lstStyle/>
          <a:p>
            <a:pPr indent="0" marL="0">
              <a:buNone/>
            </a:pPr>
            <a:r>
              <a:rPr lang="en-US" sz="2100" b="1" dirty="0">
                <a:solidFill>
                  <a:srgbClr val="12100E"/>
                </a:solidFill>
                <a:latin typeface="Cambria" pitchFamily="34" charset="0"/>
                <a:ea typeface="Cambria" pitchFamily="34" charset="-122"/>
                <a:cs typeface="Cambria" pitchFamily="34" charset="-120"/>
              </a:rPr>
              <a:t>What capability does that give the user?</a:t>
            </a:r>
            <a:endParaRPr lang="en-US" sz="2100" dirty="0"/>
          </a:p>
        </p:txBody>
      </p:sp>
      <p:sp>
        <p:nvSpPr>
          <p:cNvPr id="18" name="Text 14"/>
          <p:cNvSpPr/>
          <p:nvPr/>
        </p:nvSpPr>
        <p:spPr>
          <a:xfrm>
            <a:off x="6492240" y="3931920"/>
            <a:ext cx="4754880" cy="146304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What can a person or organisation now do that they couldn't do before?</a:t>
            </a:r>
            <a:endParaRPr lang="en-US" sz="1900" dirty="0"/>
          </a:p>
        </p:txBody>
      </p:sp>
      <p:sp>
        <p:nvSpPr>
          <p:cNvPr id="19" name="Text 15"/>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6B6762"/>
                </a:solidFill>
                <a:latin typeface="Courier New" pitchFamily="34" charset="0"/>
                <a:ea typeface="Courier New" pitchFamily="34" charset="-122"/>
                <a:cs typeface="Courier New" pitchFamily="34" charset="-120"/>
              </a:rPr>
              <a:t>EXPLICIT EXPLANATION</a:t>
            </a:r>
            <a:endParaRPr lang="en-US" sz="1300" dirty="0"/>
          </a:p>
        </p:txBody>
      </p:sp>
      <p:sp>
        <p:nvSpPr>
          <p:cNvPr id="20" name="Text 16"/>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21" name="Text 17"/>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2B3A8C"/>
                </a:solidFill>
                <a:latin typeface="Courier New" pitchFamily="34" charset="0"/>
                <a:ea typeface="Courier New" pitchFamily="34" charset="-122"/>
                <a:cs typeface="Courier New" pitchFamily="34" charset="-120"/>
              </a:rPr>
              <a:t>SECTOR 1 OF 5 — DEFINITION</a:t>
            </a:r>
            <a:endParaRPr lang="en-US" sz="1400" dirty="0"/>
          </a:p>
        </p:txBody>
      </p:sp>
      <p:sp>
        <p:nvSpPr>
          <p:cNvPr id="3" name="Shape 1"/>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4" name="Text 2"/>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5" name="Shape 3"/>
          <p:cNvSpPr/>
          <p:nvPr/>
        </p:nvSpPr>
        <p:spPr>
          <a:xfrm>
            <a:off x="548640" y="914400"/>
            <a:ext cx="1371600" cy="1371600"/>
          </a:xfrm>
          <a:prstGeom prst="ellipse">
            <a:avLst/>
          </a:prstGeom>
          <a:solidFill>
            <a:srgbClr val="2B3A8C"/>
          </a:solidFill>
          <a:ln/>
        </p:spPr>
      </p:sp>
      <p:pic>
        <p:nvPicPr>
          <p:cNvPr id="6" name="Image 0" descr="preencoded.png">    </p:cNvPr>
          <p:cNvPicPr>
            <a:picLocks noChangeAspect="1"/>
          </p:cNvPicPr>
          <p:nvPr/>
        </p:nvPicPr>
        <p:blipFill>
          <a:blip r:embed="rId1"/>
          <a:stretch>
            <a:fillRect/>
          </a:stretch>
        </p:blipFill>
        <p:spPr>
          <a:xfrm>
            <a:off x="914400" y="1280160"/>
            <a:ext cx="640080" cy="640080"/>
          </a:xfrm>
          <a:prstGeom prst="rect">
            <a:avLst/>
          </a:prstGeom>
        </p:spPr>
      </p:pic>
      <p:sp>
        <p:nvSpPr>
          <p:cNvPr id="7" name="Text 4"/>
          <p:cNvSpPr/>
          <p:nvPr/>
        </p:nvSpPr>
        <p:spPr>
          <a:xfrm>
            <a:off x="2148840" y="960120"/>
            <a:ext cx="9326880" cy="914400"/>
          </a:xfrm>
          <a:prstGeom prst="rect">
            <a:avLst/>
          </a:prstGeom>
          <a:noFill/>
          <a:ln/>
        </p:spPr>
        <p:txBody>
          <a:bodyPr wrap="square" lIns="0" tIns="0" rIns="0" bIns="0" rtlCol="0" anchor="ctr"/>
          <a:lstStyle/>
          <a:p>
            <a:pPr indent="0" marL="0">
              <a:buNone/>
            </a:pPr>
            <a:r>
              <a:rPr lang="en-US" sz="3800" b="1" dirty="0">
                <a:solidFill>
                  <a:srgbClr val="12100E"/>
                </a:solidFill>
                <a:latin typeface="Cambria" pitchFamily="34" charset="0"/>
                <a:ea typeface="Cambria" pitchFamily="34" charset="-122"/>
                <a:cs typeface="Cambria" pitchFamily="34" charset="-120"/>
              </a:rPr>
              <a:t>Assistive Technologies</a:t>
            </a:r>
            <a:endParaRPr lang="en-US" sz="3800" dirty="0"/>
          </a:p>
        </p:txBody>
      </p:sp>
      <p:sp>
        <p:nvSpPr>
          <p:cNvPr id="8" name="Shape 5"/>
          <p:cNvSpPr/>
          <p:nvPr/>
        </p:nvSpPr>
        <p:spPr>
          <a:xfrm>
            <a:off x="548640" y="2606040"/>
            <a:ext cx="11064240" cy="1005840"/>
          </a:xfrm>
          <a:prstGeom prst="roundRect">
            <a:avLst>
              <a:gd name="adj" fmla="val 9091"/>
            </a:avLst>
          </a:prstGeom>
          <a:solidFill>
            <a:srgbClr val="FFFFFF"/>
          </a:solidFill>
          <a:ln/>
          <a:effectLst>
            <a:outerShdw sx="100000" sy="100000" kx="0" ky="0" algn="bl" rotWithShape="0" blurRad="76200" dist="25400" dir="2700000">
              <a:srgbClr val="000000">
                <a:alpha val="10000"/>
              </a:srgbClr>
            </a:outerShdw>
          </a:effectLst>
        </p:spPr>
      </p:sp>
      <p:sp>
        <p:nvSpPr>
          <p:cNvPr id="9" name="Text 6"/>
          <p:cNvSpPr/>
          <p:nvPr/>
        </p:nvSpPr>
        <p:spPr>
          <a:xfrm>
            <a:off x="868680" y="2606040"/>
            <a:ext cx="10424160" cy="1005840"/>
          </a:xfrm>
          <a:prstGeom prst="rect">
            <a:avLst/>
          </a:prstGeom>
          <a:noFill/>
          <a:ln/>
        </p:spPr>
        <p:txBody>
          <a:bodyPr wrap="square" lIns="0" tIns="0" rIns="0" bIns="0" rtlCol="0" anchor="ctr"/>
          <a:lstStyle/>
          <a:p>
            <a:pPr indent="0" marL="0">
              <a:buNone/>
            </a:pPr>
            <a:r>
              <a:rPr lang="en-US" sz="2100" dirty="0">
                <a:solidFill>
                  <a:srgbClr val="2C2A28"/>
                </a:solidFill>
                <a:latin typeface="Calibri" pitchFamily="34" charset="0"/>
                <a:ea typeface="Calibri" pitchFamily="34" charset="-122"/>
                <a:cs typeface="Calibri" pitchFamily="34" charset="-120"/>
              </a:rPr>
              <a:t>Digital systems designed to remove a barrier that would otherwise stop someone doing something independently.</a:t>
            </a:r>
            <a:endParaRPr lang="en-US" sz="2100" dirty="0"/>
          </a:p>
        </p:txBody>
      </p:sp>
      <p:sp>
        <p:nvSpPr>
          <p:cNvPr id="10" name="Text 7"/>
          <p:cNvSpPr/>
          <p:nvPr/>
        </p:nvSpPr>
        <p:spPr>
          <a:xfrm>
            <a:off x="548640" y="3886200"/>
            <a:ext cx="7315200" cy="365760"/>
          </a:xfrm>
          <a:prstGeom prst="rect">
            <a:avLst/>
          </a:prstGeom>
          <a:noFill/>
          <a:ln/>
        </p:spPr>
        <p:txBody>
          <a:bodyPr wrap="square" lIns="0" tIns="0" rIns="0" bIns="0" rtlCol="0" anchor="ctr"/>
          <a:lstStyle/>
          <a:p>
            <a:pPr indent="0" marL="0">
              <a:buNone/>
            </a:pPr>
            <a:r>
              <a:rPr lang="en-US" sz="1500" b="1" spc="150" kern="0" dirty="0">
                <a:solidFill>
                  <a:srgbClr val="2B3A8C"/>
                </a:solidFill>
                <a:latin typeface="Courier New" pitchFamily="34" charset="0"/>
                <a:ea typeface="Courier New" pitchFamily="34" charset="-122"/>
                <a:cs typeface="Courier New" pitchFamily="34" charset="-120"/>
              </a:rPr>
              <a:t>WHAT CAPABILITY DOES IT GIVE?</a:t>
            </a:r>
            <a:endParaRPr lang="en-US" sz="1500" dirty="0"/>
          </a:p>
        </p:txBody>
      </p:sp>
      <p:sp>
        <p:nvSpPr>
          <p:cNvPr id="11" name="Shape 8"/>
          <p:cNvSpPr/>
          <p:nvPr/>
        </p:nvSpPr>
        <p:spPr>
          <a:xfrm>
            <a:off x="548640" y="4297680"/>
            <a:ext cx="11064240" cy="1417320"/>
          </a:xfrm>
          <a:prstGeom prst="roundRect">
            <a:avLst>
              <a:gd name="adj" fmla="val 6452"/>
            </a:avLst>
          </a:prstGeom>
          <a:solidFill>
            <a:srgbClr val="EDE8DF"/>
          </a:solidFill>
          <a:ln/>
        </p:spPr>
      </p:sp>
      <p:sp>
        <p:nvSpPr>
          <p:cNvPr id="12" name="Text 9"/>
          <p:cNvSpPr/>
          <p:nvPr/>
        </p:nvSpPr>
        <p:spPr>
          <a:xfrm>
            <a:off x="868680" y="4297680"/>
            <a:ext cx="10424160" cy="1417320"/>
          </a:xfrm>
          <a:prstGeom prst="rect">
            <a:avLst/>
          </a:prstGeom>
          <a:noFill/>
          <a:ln/>
        </p:spPr>
        <p:txBody>
          <a:bodyPr wrap="square" lIns="0" tIns="0" rIns="0" bIns="0" rtlCol="0" anchor="ctr"/>
          <a:lstStyle/>
          <a:p>
            <a:pPr indent="0" marL="0">
              <a:buNone/>
            </a:pPr>
            <a:r>
              <a:rPr lang="en-US" sz="2000" dirty="0">
                <a:solidFill>
                  <a:srgbClr val="12100E"/>
                </a:solidFill>
                <a:latin typeface="Calibri" pitchFamily="34" charset="0"/>
                <a:ea typeface="Calibri" pitchFamily="34" charset="-122"/>
                <a:cs typeface="Calibri" pitchFamily="34" charset="-120"/>
              </a:rPr>
              <a:t>Gives people independence and access to everyday tasks — communication, information, and movement — that a disability would otherwise block.</a:t>
            </a:r>
            <a:endParaRPr lang="en-US" sz="2000" dirty="0"/>
          </a:p>
        </p:txBody>
      </p:sp>
      <p:sp>
        <p:nvSpPr>
          <p:cNvPr id="13" name="Text 10"/>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2B3A8C"/>
                </a:solidFill>
                <a:latin typeface="Courier New" pitchFamily="34" charset="0"/>
                <a:ea typeface="Courier New" pitchFamily="34" charset="-122"/>
                <a:cs typeface="Courier New" pitchFamily="34" charset="-120"/>
              </a:rPr>
              <a:t>SECTOR 1/5</a:t>
            </a:r>
            <a:endParaRPr lang="en-US" sz="1300" dirty="0"/>
          </a:p>
        </p:txBody>
      </p:sp>
      <p:sp>
        <p:nvSpPr>
          <p:cNvPr id="14" name="Text 11"/>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15" name="Text 12"/>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2B3A8C"/>
                </a:solidFill>
                <a:latin typeface="Courier New" pitchFamily="34" charset="0"/>
                <a:ea typeface="Courier New" pitchFamily="34" charset="-122"/>
                <a:cs typeface="Courier New" pitchFamily="34" charset="-120"/>
              </a:rPr>
              <a:t>SECTOR 1 OF 5 — EXAMPLES</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Assistive Technologies: Real Examples</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6" name="Shape 4"/>
          <p:cNvSpPr/>
          <p:nvPr/>
        </p:nvSpPr>
        <p:spPr>
          <a:xfrm>
            <a:off x="7955280" y="411480"/>
            <a:ext cx="1691640" cy="384048"/>
          </a:xfrm>
          <a:prstGeom prst="roundRect">
            <a:avLst>
              <a:gd name="adj" fmla="val 19048"/>
            </a:avLst>
          </a:prstGeom>
          <a:solidFill>
            <a:srgbClr val="B8620A"/>
          </a:solidFill>
          <a:ln/>
        </p:spPr>
      </p:sp>
      <p:sp>
        <p:nvSpPr>
          <p:cNvPr id="7" name="Text 5"/>
          <p:cNvSpPr/>
          <p:nvPr/>
        </p:nvSpPr>
        <p:spPr>
          <a:xfrm>
            <a:off x="7955280" y="411480"/>
            <a:ext cx="1691640"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ourier New" pitchFamily="34" charset="0"/>
                <a:ea typeface="Courier New" pitchFamily="34" charset="-122"/>
                <a:cs typeface="Courier New" pitchFamily="34" charset="-120"/>
              </a:rPr>
              <a:t>COPY THIS</a:t>
            </a:r>
            <a:endParaRPr lang="en-US" sz="1300" dirty="0"/>
          </a:p>
        </p:txBody>
      </p:sp>
      <p:sp>
        <p:nvSpPr>
          <p:cNvPr id="8" name="Shape 6"/>
          <p:cNvSpPr/>
          <p:nvPr/>
        </p:nvSpPr>
        <p:spPr>
          <a:xfrm>
            <a:off x="548640" y="150876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9" name="Shape 7"/>
          <p:cNvSpPr/>
          <p:nvPr/>
        </p:nvSpPr>
        <p:spPr>
          <a:xfrm>
            <a:off x="777240" y="1769364"/>
            <a:ext cx="347472" cy="347472"/>
          </a:xfrm>
          <a:prstGeom prst="ellipse">
            <a:avLst/>
          </a:prstGeom>
          <a:solidFill>
            <a:srgbClr val="2B3A8C"/>
          </a:solidFill>
          <a:ln/>
        </p:spPr>
      </p:sp>
      <p:sp>
        <p:nvSpPr>
          <p:cNvPr id="10" name="Text 8"/>
          <p:cNvSpPr/>
          <p:nvPr/>
        </p:nvSpPr>
        <p:spPr>
          <a:xfrm>
            <a:off x="1325880" y="150876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Screen readers</a:t>
            </a:r>
            <a:endParaRPr lang="en-US" sz="2000" dirty="0"/>
          </a:p>
        </p:txBody>
      </p:sp>
      <p:sp>
        <p:nvSpPr>
          <p:cNvPr id="11" name="Text 9"/>
          <p:cNvSpPr/>
          <p:nvPr/>
        </p:nvSpPr>
        <p:spPr>
          <a:xfrm>
            <a:off x="4480560" y="150876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Converts on-screen text to speech for people who are blind or have low vision</a:t>
            </a:r>
            <a:endParaRPr lang="en-US" sz="1900" dirty="0"/>
          </a:p>
        </p:txBody>
      </p:sp>
      <p:sp>
        <p:nvSpPr>
          <p:cNvPr id="12" name="Shape 10"/>
          <p:cNvSpPr/>
          <p:nvPr/>
        </p:nvSpPr>
        <p:spPr>
          <a:xfrm>
            <a:off x="548640" y="251460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13" name="Shape 11"/>
          <p:cNvSpPr/>
          <p:nvPr/>
        </p:nvSpPr>
        <p:spPr>
          <a:xfrm>
            <a:off x="777240" y="2775204"/>
            <a:ext cx="347472" cy="347472"/>
          </a:xfrm>
          <a:prstGeom prst="ellipse">
            <a:avLst/>
          </a:prstGeom>
          <a:solidFill>
            <a:srgbClr val="2B3A8C"/>
          </a:solidFill>
          <a:ln/>
        </p:spPr>
      </p:sp>
      <p:sp>
        <p:nvSpPr>
          <p:cNvPr id="14" name="Text 12"/>
          <p:cNvSpPr/>
          <p:nvPr/>
        </p:nvSpPr>
        <p:spPr>
          <a:xfrm>
            <a:off x="1325880" y="251460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Hearing aids with streaming</a:t>
            </a:r>
            <a:endParaRPr lang="en-US" sz="2000" dirty="0"/>
          </a:p>
        </p:txBody>
      </p:sp>
      <p:sp>
        <p:nvSpPr>
          <p:cNvPr id="15" name="Text 13"/>
          <p:cNvSpPr/>
          <p:nvPr/>
        </p:nvSpPr>
        <p:spPr>
          <a:xfrm>
            <a:off x="4480560" y="251460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Bluetooth-enabled aids stream phone audio directly, cutting background noise</a:t>
            </a:r>
            <a:endParaRPr lang="en-US" sz="1900" dirty="0"/>
          </a:p>
        </p:txBody>
      </p:sp>
      <p:sp>
        <p:nvSpPr>
          <p:cNvPr id="16" name="Shape 14"/>
          <p:cNvSpPr/>
          <p:nvPr/>
        </p:nvSpPr>
        <p:spPr>
          <a:xfrm>
            <a:off x="548640" y="352044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17" name="Shape 15"/>
          <p:cNvSpPr/>
          <p:nvPr/>
        </p:nvSpPr>
        <p:spPr>
          <a:xfrm>
            <a:off x="777240" y="3781044"/>
            <a:ext cx="347472" cy="347472"/>
          </a:xfrm>
          <a:prstGeom prst="ellipse">
            <a:avLst/>
          </a:prstGeom>
          <a:solidFill>
            <a:srgbClr val="2B3A8C"/>
          </a:solidFill>
          <a:ln/>
        </p:spPr>
      </p:sp>
      <p:sp>
        <p:nvSpPr>
          <p:cNvPr id="18" name="Text 16"/>
          <p:cNvSpPr/>
          <p:nvPr/>
        </p:nvSpPr>
        <p:spPr>
          <a:xfrm>
            <a:off x="1325880" y="352044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Eye-gaze control</a:t>
            </a:r>
            <a:endParaRPr lang="en-US" sz="2000" dirty="0"/>
          </a:p>
        </p:txBody>
      </p:sp>
      <p:sp>
        <p:nvSpPr>
          <p:cNvPr id="19" name="Text 17"/>
          <p:cNvSpPr/>
          <p:nvPr/>
        </p:nvSpPr>
        <p:spPr>
          <a:xfrm>
            <a:off x="4480560" y="352044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Tracks eye movement to operate a computer for users with limited mobility</a:t>
            </a:r>
            <a:endParaRPr lang="en-US" sz="1900" dirty="0"/>
          </a:p>
        </p:txBody>
      </p:sp>
      <p:sp>
        <p:nvSpPr>
          <p:cNvPr id="20" name="Shape 18"/>
          <p:cNvSpPr/>
          <p:nvPr/>
        </p:nvSpPr>
        <p:spPr>
          <a:xfrm>
            <a:off x="548640" y="452628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21" name="Shape 19"/>
          <p:cNvSpPr/>
          <p:nvPr/>
        </p:nvSpPr>
        <p:spPr>
          <a:xfrm>
            <a:off x="777240" y="4786884"/>
            <a:ext cx="347472" cy="347472"/>
          </a:xfrm>
          <a:prstGeom prst="ellipse">
            <a:avLst/>
          </a:prstGeom>
          <a:solidFill>
            <a:srgbClr val="2B3A8C"/>
          </a:solidFill>
          <a:ln/>
        </p:spPr>
      </p:sp>
      <p:sp>
        <p:nvSpPr>
          <p:cNvPr id="22" name="Text 20"/>
          <p:cNvSpPr/>
          <p:nvPr/>
        </p:nvSpPr>
        <p:spPr>
          <a:xfrm>
            <a:off x="1325880" y="452628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Sensor-feedback prosthetics</a:t>
            </a:r>
            <a:endParaRPr lang="en-US" sz="2000" dirty="0"/>
          </a:p>
        </p:txBody>
      </p:sp>
      <p:sp>
        <p:nvSpPr>
          <p:cNvPr id="23" name="Text 21"/>
          <p:cNvSpPr/>
          <p:nvPr/>
        </p:nvSpPr>
        <p:spPr>
          <a:xfrm>
            <a:off x="4480560" y="452628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Limb sensors send signals back to the user, restoring a sense of grip or touch</a:t>
            </a:r>
            <a:endParaRPr lang="en-US" sz="1900" dirty="0"/>
          </a:p>
        </p:txBody>
      </p:sp>
      <p:sp>
        <p:nvSpPr>
          <p:cNvPr id="24" name="Text 22"/>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2B3A8C"/>
                </a:solidFill>
                <a:latin typeface="Courier New" pitchFamily="34" charset="0"/>
                <a:ea typeface="Courier New" pitchFamily="34" charset="-122"/>
                <a:cs typeface="Courier New" pitchFamily="34" charset="-120"/>
              </a:rPr>
              <a:t>SECTOR 1/5</a:t>
            </a:r>
            <a:endParaRPr lang="en-US" sz="1300" dirty="0"/>
          </a:p>
        </p:txBody>
      </p:sp>
      <p:sp>
        <p:nvSpPr>
          <p:cNvPr id="25" name="Text 23"/>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26" name="Text 24"/>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1B5E47"/>
                </a:solidFill>
                <a:latin typeface="Courier New" pitchFamily="34" charset="0"/>
                <a:ea typeface="Courier New" pitchFamily="34" charset="-122"/>
                <a:cs typeface="Courier New" pitchFamily="34" charset="-120"/>
              </a:rPr>
              <a:t>SECTOR 2 OF 5 — DEFINITION</a:t>
            </a:r>
            <a:endParaRPr lang="en-US" sz="1400" dirty="0"/>
          </a:p>
        </p:txBody>
      </p:sp>
      <p:sp>
        <p:nvSpPr>
          <p:cNvPr id="3" name="Shape 1"/>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4" name="Text 2"/>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5" name="Shape 3"/>
          <p:cNvSpPr/>
          <p:nvPr/>
        </p:nvSpPr>
        <p:spPr>
          <a:xfrm>
            <a:off x="548640" y="914400"/>
            <a:ext cx="1371600" cy="1371600"/>
          </a:xfrm>
          <a:prstGeom prst="ellipse">
            <a:avLst/>
          </a:prstGeom>
          <a:solidFill>
            <a:srgbClr val="1B5E47"/>
          </a:solidFill>
          <a:ln/>
        </p:spPr>
      </p:sp>
      <p:pic>
        <p:nvPicPr>
          <p:cNvPr id="6" name="Image 0" descr="preencoded.png">    </p:cNvPr>
          <p:cNvPicPr>
            <a:picLocks noChangeAspect="1"/>
          </p:cNvPicPr>
          <p:nvPr/>
        </p:nvPicPr>
        <p:blipFill>
          <a:blip r:embed="rId1"/>
          <a:stretch>
            <a:fillRect/>
          </a:stretch>
        </p:blipFill>
        <p:spPr>
          <a:xfrm>
            <a:off x="914400" y="1280160"/>
            <a:ext cx="640080" cy="640080"/>
          </a:xfrm>
          <a:prstGeom prst="rect">
            <a:avLst/>
          </a:prstGeom>
        </p:spPr>
      </p:pic>
      <p:sp>
        <p:nvSpPr>
          <p:cNvPr id="7" name="Text 4"/>
          <p:cNvSpPr/>
          <p:nvPr/>
        </p:nvSpPr>
        <p:spPr>
          <a:xfrm>
            <a:off x="2148840" y="960120"/>
            <a:ext cx="9326880" cy="914400"/>
          </a:xfrm>
          <a:prstGeom prst="rect">
            <a:avLst/>
          </a:prstGeom>
          <a:noFill/>
          <a:ln/>
        </p:spPr>
        <p:txBody>
          <a:bodyPr wrap="square" lIns="0" tIns="0" rIns="0" bIns="0" rtlCol="0" anchor="ctr"/>
          <a:lstStyle/>
          <a:p>
            <a:pPr indent="0" marL="0">
              <a:buNone/>
            </a:pPr>
            <a:r>
              <a:rPr lang="en-US" sz="3800" b="1" dirty="0">
                <a:solidFill>
                  <a:srgbClr val="12100E"/>
                </a:solidFill>
                <a:latin typeface="Cambria" pitchFamily="34" charset="0"/>
                <a:ea typeface="Cambria" pitchFamily="34" charset="-122"/>
                <a:cs typeface="Cambria" pitchFamily="34" charset="-120"/>
              </a:rPr>
              <a:t>Financial Services</a:t>
            </a:r>
            <a:endParaRPr lang="en-US" sz="3800" dirty="0"/>
          </a:p>
        </p:txBody>
      </p:sp>
      <p:sp>
        <p:nvSpPr>
          <p:cNvPr id="8" name="Shape 5"/>
          <p:cNvSpPr/>
          <p:nvPr/>
        </p:nvSpPr>
        <p:spPr>
          <a:xfrm>
            <a:off x="548640" y="2606040"/>
            <a:ext cx="11064240" cy="1005840"/>
          </a:xfrm>
          <a:prstGeom prst="roundRect">
            <a:avLst>
              <a:gd name="adj" fmla="val 9091"/>
            </a:avLst>
          </a:prstGeom>
          <a:solidFill>
            <a:srgbClr val="FFFFFF"/>
          </a:solidFill>
          <a:ln/>
          <a:effectLst>
            <a:outerShdw sx="100000" sy="100000" kx="0" ky="0" algn="bl" rotWithShape="0" blurRad="76200" dist="25400" dir="2700000">
              <a:srgbClr val="000000">
                <a:alpha val="10000"/>
              </a:srgbClr>
            </a:outerShdw>
          </a:effectLst>
        </p:spPr>
      </p:sp>
      <p:sp>
        <p:nvSpPr>
          <p:cNvPr id="9" name="Text 6"/>
          <p:cNvSpPr/>
          <p:nvPr/>
        </p:nvSpPr>
        <p:spPr>
          <a:xfrm>
            <a:off x="868680" y="2606040"/>
            <a:ext cx="10424160" cy="1005840"/>
          </a:xfrm>
          <a:prstGeom prst="rect">
            <a:avLst/>
          </a:prstGeom>
          <a:noFill/>
          <a:ln/>
        </p:spPr>
        <p:txBody>
          <a:bodyPr wrap="square" lIns="0" tIns="0" rIns="0" bIns="0" rtlCol="0" anchor="ctr"/>
          <a:lstStyle/>
          <a:p>
            <a:pPr indent="0" marL="0">
              <a:buNone/>
            </a:pPr>
            <a:r>
              <a:rPr lang="en-US" sz="2100" dirty="0">
                <a:solidFill>
                  <a:srgbClr val="2C2A28"/>
                </a:solidFill>
                <a:latin typeface="Calibri" pitchFamily="34" charset="0"/>
                <a:ea typeface="Calibri" pitchFamily="34" charset="-122"/>
                <a:cs typeface="Calibri" pitchFamily="34" charset="-120"/>
              </a:rPr>
              <a:t>Digital systems that let individuals and organisations move, manage and protect money without visiting a branch.</a:t>
            </a:r>
            <a:endParaRPr lang="en-US" sz="2100" dirty="0"/>
          </a:p>
        </p:txBody>
      </p:sp>
      <p:sp>
        <p:nvSpPr>
          <p:cNvPr id="10" name="Text 7"/>
          <p:cNvSpPr/>
          <p:nvPr/>
        </p:nvSpPr>
        <p:spPr>
          <a:xfrm>
            <a:off x="548640" y="3886200"/>
            <a:ext cx="7315200" cy="365760"/>
          </a:xfrm>
          <a:prstGeom prst="rect">
            <a:avLst/>
          </a:prstGeom>
          <a:noFill/>
          <a:ln/>
        </p:spPr>
        <p:txBody>
          <a:bodyPr wrap="square" lIns="0" tIns="0" rIns="0" bIns="0" rtlCol="0" anchor="ctr"/>
          <a:lstStyle/>
          <a:p>
            <a:pPr indent="0" marL="0">
              <a:buNone/>
            </a:pPr>
            <a:r>
              <a:rPr lang="en-US" sz="1500" b="1" spc="150" kern="0" dirty="0">
                <a:solidFill>
                  <a:srgbClr val="1B5E47"/>
                </a:solidFill>
                <a:latin typeface="Courier New" pitchFamily="34" charset="0"/>
                <a:ea typeface="Courier New" pitchFamily="34" charset="-122"/>
                <a:cs typeface="Courier New" pitchFamily="34" charset="-120"/>
              </a:rPr>
              <a:t>WHAT CAPABILITY DOES IT GIVE?</a:t>
            </a:r>
            <a:endParaRPr lang="en-US" sz="1500" dirty="0"/>
          </a:p>
        </p:txBody>
      </p:sp>
      <p:sp>
        <p:nvSpPr>
          <p:cNvPr id="11" name="Shape 8"/>
          <p:cNvSpPr/>
          <p:nvPr/>
        </p:nvSpPr>
        <p:spPr>
          <a:xfrm>
            <a:off x="548640" y="4297680"/>
            <a:ext cx="11064240" cy="1417320"/>
          </a:xfrm>
          <a:prstGeom prst="roundRect">
            <a:avLst>
              <a:gd name="adj" fmla="val 6452"/>
            </a:avLst>
          </a:prstGeom>
          <a:solidFill>
            <a:srgbClr val="EDE8DF"/>
          </a:solidFill>
          <a:ln/>
        </p:spPr>
      </p:sp>
      <p:sp>
        <p:nvSpPr>
          <p:cNvPr id="12" name="Text 9"/>
          <p:cNvSpPr/>
          <p:nvPr/>
        </p:nvSpPr>
        <p:spPr>
          <a:xfrm>
            <a:off x="868680" y="4297680"/>
            <a:ext cx="10424160" cy="1417320"/>
          </a:xfrm>
          <a:prstGeom prst="rect">
            <a:avLst/>
          </a:prstGeom>
          <a:noFill/>
          <a:ln/>
        </p:spPr>
        <p:txBody>
          <a:bodyPr wrap="square" lIns="0" tIns="0" rIns="0" bIns="0" rtlCol="0" anchor="ctr"/>
          <a:lstStyle/>
          <a:p>
            <a:pPr indent="0" marL="0">
              <a:buNone/>
            </a:pPr>
            <a:r>
              <a:rPr lang="en-US" sz="2000" dirty="0">
                <a:solidFill>
                  <a:srgbClr val="12100E"/>
                </a:solidFill>
                <a:latin typeface="Calibri" pitchFamily="34" charset="0"/>
                <a:ea typeface="Calibri" pitchFamily="34" charset="-122"/>
                <a:cs typeface="Calibri" pitchFamily="34" charset="-120"/>
              </a:rPr>
              <a:t>Gives users speed (instant transfers), security (real-time fraud detection), and access (banking anywhere, anytime) that paper-based banking never could.</a:t>
            </a:r>
            <a:endParaRPr lang="en-US" sz="2000" dirty="0"/>
          </a:p>
        </p:txBody>
      </p:sp>
      <p:sp>
        <p:nvSpPr>
          <p:cNvPr id="13" name="Text 10"/>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1B5E47"/>
                </a:solidFill>
                <a:latin typeface="Courier New" pitchFamily="34" charset="0"/>
                <a:ea typeface="Courier New" pitchFamily="34" charset="-122"/>
                <a:cs typeface="Courier New" pitchFamily="34" charset="-120"/>
              </a:rPr>
              <a:t>SECTOR 2/5</a:t>
            </a:r>
            <a:endParaRPr lang="en-US" sz="1300" dirty="0"/>
          </a:p>
        </p:txBody>
      </p:sp>
      <p:sp>
        <p:nvSpPr>
          <p:cNvPr id="14" name="Text 11"/>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15" name="Text 12"/>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1B5E47"/>
                </a:solidFill>
                <a:latin typeface="Courier New" pitchFamily="34" charset="0"/>
                <a:ea typeface="Courier New" pitchFamily="34" charset="-122"/>
                <a:cs typeface="Courier New" pitchFamily="34" charset="-120"/>
              </a:rPr>
              <a:t>SECTOR 2 OF 5 — EXAMPLES</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Financial Services: Real Examples</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6" name="Shape 4"/>
          <p:cNvSpPr/>
          <p:nvPr/>
        </p:nvSpPr>
        <p:spPr>
          <a:xfrm>
            <a:off x="7955280" y="411480"/>
            <a:ext cx="1691640" cy="384048"/>
          </a:xfrm>
          <a:prstGeom prst="roundRect">
            <a:avLst>
              <a:gd name="adj" fmla="val 19048"/>
            </a:avLst>
          </a:prstGeom>
          <a:solidFill>
            <a:srgbClr val="B8620A"/>
          </a:solidFill>
          <a:ln/>
        </p:spPr>
      </p:sp>
      <p:sp>
        <p:nvSpPr>
          <p:cNvPr id="7" name="Text 5"/>
          <p:cNvSpPr/>
          <p:nvPr/>
        </p:nvSpPr>
        <p:spPr>
          <a:xfrm>
            <a:off x="7955280" y="411480"/>
            <a:ext cx="1691640"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ourier New" pitchFamily="34" charset="0"/>
                <a:ea typeface="Courier New" pitchFamily="34" charset="-122"/>
                <a:cs typeface="Courier New" pitchFamily="34" charset="-120"/>
              </a:rPr>
              <a:t>COPY THIS</a:t>
            </a:r>
            <a:endParaRPr lang="en-US" sz="1300" dirty="0"/>
          </a:p>
        </p:txBody>
      </p:sp>
      <p:sp>
        <p:nvSpPr>
          <p:cNvPr id="8" name="Shape 6"/>
          <p:cNvSpPr/>
          <p:nvPr/>
        </p:nvSpPr>
        <p:spPr>
          <a:xfrm>
            <a:off x="548640" y="150876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9" name="Shape 7"/>
          <p:cNvSpPr/>
          <p:nvPr/>
        </p:nvSpPr>
        <p:spPr>
          <a:xfrm>
            <a:off x="777240" y="1769364"/>
            <a:ext cx="347472" cy="347472"/>
          </a:xfrm>
          <a:prstGeom prst="ellipse">
            <a:avLst/>
          </a:prstGeom>
          <a:solidFill>
            <a:srgbClr val="1B5E47"/>
          </a:solidFill>
          <a:ln/>
        </p:spPr>
      </p:sp>
      <p:sp>
        <p:nvSpPr>
          <p:cNvPr id="10" name="Text 8"/>
          <p:cNvSpPr/>
          <p:nvPr/>
        </p:nvSpPr>
        <p:spPr>
          <a:xfrm>
            <a:off x="1325880" y="150876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Banking apps</a:t>
            </a:r>
            <a:endParaRPr lang="en-US" sz="2000" dirty="0"/>
          </a:p>
        </p:txBody>
      </p:sp>
      <p:sp>
        <p:nvSpPr>
          <p:cNvPr id="11" name="Text 9"/>
          <p:cNvSpPr/>
          <p:nvPr/>
        </p:nvSpPr>
        <p:spPr>
          <a:xfrm>
            <a:off x="4480560" y="150876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Check balances, pay bills, and transfer money from a phone in seconds</a:t>
            </a:r>
            <a:endParaRPr lang="en-US" sz="1900" dirty="0"/>
          </a:p>
        </p:txBody>
      </p:sp>
      <p:sp>
        <p:nvSpPr>
          <p:cNvPr id="12" name="Shape 10"/>
          <p:cNvSpPr/>
          <p:nvPr/>
        </p:nvSpPr>
        <p:spPr>
          <a:xfrm>
            <a:off x="548640" y="251460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13" name="Shape 11"/>
          <p:cNvSpPr/>
          <p:nvPr/>
        </p:nvSpPr>
        <p:spPr>
          <a:xfrm>
            <a:off x="777240" y="2775204"/>
            <a:ext cx="347472" cy="347472"/>
          </a:xfrm>
          <a:prstGeom prst="ellipse">
            <a:avLst/>
          </a:prstGeom>
          <a:solidFill>
            <a:srgbClr val="1B5E47"/>
          </a:solidFill>
          <a:ln/>
        </p:spPr>
      </p:sp>
      <p:sp>
        <p:nvSpPr>
          <p:cNvPr id="14" name="Text 12"/>
          <p:cNvSpPr/>
          <p:nvPr/>
        </p:nvSpPr>
        <p:spPr>
          <a:xfrm>
            <a:off x="1325880" y="251460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Contactless / tap-to-pay</a:t>
            </a:r>
            <a:endParaRPr lang="en-US" sz="2000" dirty="0"/>
          </a:p>
        </p:txBody>
      </p:sp>
      <p:sp>
        <p:nvSpPr>
          <p:cNvPr id="15" name="Text 13"/>
          <p:cNvSpPr/>
          <p:nvPr/>
        </p:nvSpPr>
        <p:spPr>
          <a:xfrm>
            <a:off x="4480560" y="251460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A single tap authorises a payment using encrypted card or device data</a:t>
            </a:r>
            <a:endParaRPr lang="en-US" sz="1900" dirty="0"/>
          </a:p>
        </p:txBody>
      </p:sp>
      <p:sp>
        <p:nvSpPr>
          <p:cNvPr id="16" name="Shape 14"/>
          <p:cNvSpPr/>
          <p:nvPr/>
        </p:nvSpPr>
        <p:spPr>
          <a:xfrm>
            <a:off x="548640" y="352044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17" name="Shape 15"/>
          <p:cNvSpPr/>
          <p:nvPr/>
        </p:nvSpPr>
        <p:spPr>
          <a:xfrm>
            <a:off x="777240" y="3781044"/>
            <a:ext cx="347472" cy="347472"/>
          </a:xfrm>
          <a:prstGeom prst="ellipse">
            <a:avLst/>
          </a:prstGeom>
          <a:solidFill>
            <a:srgbClr val="1B5E47"/>
          </a:solidFill>
          <a:ln/>
        </p:spPr>
      </p:sp>
      <p:sp>
        <p:nvSpPr>
          <p:cNvPr id="18" name="Text 16"/>
          <p:cNvSpPr/>
          <p:nvPr/>
        </p:nvSpPr>
        <p:spPr>
          <a:xfrm>
            <a:off x="1325880" y="352044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Fraud detection</a:t>
            </a:r>
            <a:endParaRPr lang="en-US" sz="2000" dirty="0"/>
          </a:p>
        </p:txBody>
      </p:sp>
      <p:sp>
        <p:nvSpPr>
          <p:cNvPr id="19" name="Text 17"/>
          <p:cNvSpPr/>
          <p:nvPr/>
        </p:nvSpPr>
        <p:spPr>
          <a:xfrm>
            <a:off x="4480560" y="352044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Flags unusual spending patterns automatically, often before the user notices</a:t>
            </a:r>
            <a:endParaRPr lang="en-US" sz="1900" dirty="0"/>
          </a:p>
        </p:txBody>
      </p:sp>
      <p:sp>
        <p:nvSpPr>
          <p:cNvPr id="20" name="Shape 18"/>
          <p:cNvSpPr/>
          <p:nvPr/>
        </p:nvSpPr>
        <p:spPr>
          <a:xfrm>
            <a:off x="548640" y="452628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21" name="Shape 19"/>
          <p:cNvSpPr/>
          <p:nvPr/>
        </p:nvSpPr>
        <p:spPr>
          <a:xfrm>
            <a:off x="777240" y="4786884"/>
            <a:ext cx="347472" cy="347472"/>
          </a:xfrm>
          <a:prstGeom prst="ellipse">
            <a:avLst/>
          </a:prstGeom>
          <a:solidFill>
            <a:srgbClr val="1B5E47"/>
          </a:solidFill>
          <a:ln/>
        </p:spPr>
      </p:sp>
      <p:sp>
        <p:nvSpPr>
          <p:cNvPr id="22" name="Text 20"/>
          <p:cNvSpPr/>
          <p:nvPr/>
        </p:nvSpPr>
        <p:spPr>
          <a:xfrm>
            <a:off x="1325880" y="452628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Robo-advice</a:t>
            </a:r>
            <a:endParaRPr lang="en-US" sz="2000" dirty="0"/>
          </a:p>
        </p:txBody>
      </p:sp>
      <p:sp>
        <p:nvSpPr>
          <p:cNvPr id="23" name="Text 21"/>
          <p:cNvSpPr/>
          <p:nvPr/>
        </p:nvSpPr>
        <p:spPr>
          <a:xfrm>
            <a:off x="4480560" y="452628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Software builds and manages an investment portfolio based on a user's goals</a:t>
            </a:r>
            <a:endParaRPr lang="en-US" sz="1900" dirty="0"/>
          </a:p>
        </p:txBody>
      </p:sp>
      <p:sp>
        <p:nvSpPr>
          <p:cNvPr id="24" name="Text 22"/>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1B5E47"/>
                </a:solidFill>
                <a:latin typeface="Courier New" pitchFamily="34" charset="0"/>
                <a:ea typeface="Courier New" pitchFamily="34" charset="-122"/>
                <a:cs typeface="Courier New" pitchFamily="34" charset="-120"/>
              </a:rPr>
              <a:t>SECTOR 2/5</a:t>
            </a:r>
            <a:endParaRPr lang="en-US" sz="1300" dirty="0"/>
          </a:p>
        </p:txBody>
      </p:sp>
      <p:sp>
        <p:nvSpPr>
          <p:cNvPr id="25" name="Text 23"/>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26" name="Text 24"/>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0B6E73"/>
                </a:solidFill>
                <a:latin typeface="Courier New" pitchFamily="34" charset="0"/>
                <a:ea typeface="Courier New" pitchFamily="34" charset="-122"/>
                <a:cs typeface="Courier New" pitchFamily="34" charset="-120"/>
              </a:rPr>
              <a:t>SECTOR 3 OF 5 — DEFINITION</a:t>
            </a:r>
            <a:endParaRPr lang="en-US" sz="1400" dirty="0"/>
          </a:p>
        </p:txBody>
      </p:sp>
      <p:sp>
        <p:nvSpPr>
          <p:cNvPr id="3" name="Shape 1"/>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4" name="Text 2"/>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5" name="Shape 3"/>
          <p:cNvSpPr/>
          <p:nvPr/>
        </p:nvSpPr>
        <p:spPr>
          <a:xfrm>
            <a:off x="548640" y="914400"/>
            <a:ext cx="1371600" cy="1371600"/>
          </a:xfrm>
          <a:prstGeom prst="ellipse">
            <a:avLst/>
          </a:prstGeom>
          <a:solidFill>
            <a:srgbClr val="0B6E73"/>
          </a:solidFill>
          <a:ln/>
        </p:spPr>
      </p:sp>
      <p:pic>
        <p:nvPicPr>
          <p:cNvPr id="6" name="Image 0" descr="preencoded.png">    </p:cNvPr>
          <p:cNvPicPr>
            <a:picLocks noChangeAspect="1"/>
          </p:cNvPicPr>
          <p:nvPr/>
        </p:nvPicPr>
        <p:blipFill>
          <a:blip r:embed="rId1"/>
          <a:stretch>
            <a:fillRect/>
          </a:stretch>
        </p:blipFill>
        <p:spPr>
          <a:xfrm>
            <a:off x="914400" y="1280160"/>
            <a:ext cx="640080" cy="640080"/>
          </a:xfrm>
          <a:prstGeom prst="rect">
            <a:avLst/>
          </a:prstGeom>
        </p:spPr>
      </p:pic>
      <p:sp>
        <p:nvSpPr>
          <p:cNvPr id="7" name="Text 4"/>
          <p:cNvSpPr/>
          <p:nvPr/>
        </p:nvSpPr>
        <p:spPr>
          <a:xfrm>
            <a:off x="2148840" y="960120"/>
            <a:ext cx="9326880" cy="914400"/>
          </a:xfrm>
          <a:prstGeom prst="rect">
            <a:avLst/>
          </a:prstGeom>
          <a:noFill/>
          <a:ln/>
        </p:spPr>
        <p:txBody>
          <a:bodyPr wrap="square" lIns="0" tIns="0" rIns="0" bIns="0" rtlCol="0" anchor="ctr"/>
          <a:lstStyle/>
          <a:p>
            <a:pPr indent="0" marL="0">
              <a:buNone/>
            </a:pPr>
            <a:r>
              <a:rPr lang="en-US" sz="3800" b="1" dirty="0">
                <a:solidFill>
                  <a:srgbClr val="12100E"/>
                </a:solidFill>
                <a:latin typeface="Cambria" pitchFamily="34" charset="0"/>
                <a:ea typeface="Cambria" pitchFamily="34" charset="-122"/>
                <a:cs typeface="Cambria" pitchFamily="34" charset="-120"/>
              </a:rPr>
              <a:t>GPS &amp; Location Systems</a:t>
            </a:r>
            <a:endParaRPr lang="en-US" sz="3800" dirty="0"/>
          </a:p>
        </p:txBody>
      </p:sp>
      <p:sp>
        <p:nvSpPr>
          <p:cNvPr id="8" name="Shape 5"/>
          <p:cNvSpPr/>
          <p:nvPr/>
        </p:nvSpPr>
        <p:spPr>
          <a:xfrm>
            <a:off x="548640" y="2606040"/>
            <a:ext cx="11064240" cy="1005840"/>
          </a:xfrm>
          <a:prstGeom prst="roundRect">
            <a:avLst>
              <a:gd name="adj" fmla="val 9091"/>
            </a:avLst>
          </a:prstGeom>
          <a:solidFill>
            <a:srgbClr val="FFFFFF"/>
          </a:solidFill>
          <a:ln/>
          <a:effectLst>
            <a:outerShdw sx="100000" sy="100000" kx="0" ky="0" algn="bl" rotWithShape="0" blurRad="76200" dist="25400" dir="2700000">
              <a:srgbClr val="000000">
                <a:alpha val="10000"/>
              </a:srgbClr>
            </a:outerShdw>
          </a:effectLst>
        </p:spPr>
      </p:sp>
      <p:sp>
        <p:nvSpPr>
          <p:cNvPr id="9" name="Text 6"/>
          <p:cNvSpPr/>
          <p:nvPr/>
        </p:nvSpPr>
        <p:spPr>
          <a:xfrm>
            <a:off x="868680" y="2606040"/>
            <a:ext cx="10424160" cy="1005840"/>
          </a:xfrm>
          <a:prstGeom prst="rect">
            <a:avLst/>
          </a:prstGeom>
          <a:noFill/>
          <a:ln/>
        </p:spPr>
        <p:txBody>
          <a:bodyPr wrap="square" lIns="0" tIns="0" rIns="0" bIns="0" rtlCol="0" anchor="ctr"/>
          <a:lstStyle/>
          <a:p>
            <a:pPr indent="0" marL="0">
              <a:buNone/>
            </a:pPr>
            <a:r>
              <a:rPr lang="en-US" sz="2100" dirty="0">
                <a:solidFill>
                  <a:srgbClr val="2C2A28"/>
                </a:solidFill>
                <a:latin typeface="Calibri" pitchFamily="34" charset="0"/>
                <a:ea typeface="Calibri" pitchFamily="34" charset="-122"/>
                <a:cs typeface="Calibri" pitchFamily="34" charset="-120"/>
              </a:rPr>
              <a:t>Digital systems that work out where something is in real time, using signals from satellites or networks.</a:t>
            </a:r>
            <a:endParaRPr lang="en-US" sz="2100" dirty="0"/>
          </a:p>
        </p:txBody>
      </p:sp>
      <p:sp>
        <p:nvSpPr>
          <p:cNvPr id="10" name="Text 7"/>
          <p:cNvSpPr/>
          <p:nvPr/>
        </p:nvSpPr>
        <p:spPr>
          <a:xfrm>
            <a:off x="548640" y="3886200"/>
            <a:ext cx="7315200" cy="365760"/>
          </a:xfrm>
          <a:prstGeom prst="rect">
            <a:avLst/>
          </a:prstGeom>
          <a:noFill/>
          <a:ln/>
        </p:spPr>
        <p:txBody>
          <a:bodyPr wrap="square" lIns="0" tIns="0" rIns="0" bIns="0" rtlCol="0" anchor="ctr"/>
          <a:lstStyle/>
          <a:p>
            <a:pPr indent="0" marL="0">
              <a:buNone/>
            </a:pPr>
            <a:r>
              <a:rPr lang="en-US" sz="1500" b="1" spc="150" kern="0" dirty="0">
                <a:solidFill>
                  <a:srgbClr val="0B6E73"/>
                </a:solidFill>
                <a:latin typeface="Courier New" pitchFamily="34" charset="0"/>
                <a:ea typeface="Courier New" pitchFamily="34" charset="-122"/>
                <a:cs typeface="Courier New" pitchFamily="34" charset="-120"/>
              </a:rPr>
              <a:t>WHAT CAPABILITY DOES IT GIVE?</a:t>
            </a:r>
            <a:endParaRPr lang="en-US" sz="1500" dirty="0"/>
          </a:p>
        </p:txBody>
      </p:sp>
      <p:sp>
        <p:nvSpPr>
          <p:cNvPr id="11" name="Shape 8"/>
          <p:cNvSpPr/>
          <p:nvPr/>
        </p:nvSpPr>
        <p:spPr>
          <a:xfrm>
            <a:off x="548640" y="4297680"/>
            <a:ext cx="11064240" cy="1417320"/>
          </a:xfrm>
          <a:prstGeom prst="roundRect">
            <a:avLst>
              <a:gd name="adj" fmla="val 6452"/>
            </a:avLst>
          </a:prstGeom>
          <a:solidFill>
            <a:srgbClr val="EDE8DF"/>
          </a:solidFill>
          <a:ln/>
        </p:spPr>
      </p:sp>
      <p:sp>
        <p:nvSpPr>
          <p:cNvPr id="12" name="Text 9"/>
          <p:cNvSpPr/>
          <p:nvPr/>
        </p:nvSpPr>
        <p:spPr>
          <a:xfrm>
            <a:off x="868680" y="4297680"/>
            <a:ext cx="10424160" cy="1417320"/>
          </a:xfrm>
          <a:prstGeom prst="rect">
            <a:avLst/>
          </a:prstGeom>
          <a:noFill/>
          <a:ln/>
        </p:spPr>
        <p:txBody>
          <a:bodyPr wrap="square" lIns="0" tIns="0" rIns="0" bIns="0" rtlCol="0" anchor="ctr"/>
          <a:lstStyle/>
          <a:p>
            <a:pPr indent="0" marL="0">
              <a:buNone/>
            </a:pPr>
            <a:r>
              <a:rPr lang="en-US" sz="2000" dirty="0">
                <a:solidFill>
                  <a:srgbClr val="12100E"/>
                </a:solidFill>
                <a:latin typeface="Calibri" pitchFamily="34" charset="0"/>
                <a:ea typeface="Calibri" pitchFamily="34" charset="-122"/>
                <a:cs typeface="Calibri" pitchFamily="34" charset="-120"/>
              </a:rPr>
              <a:t>Gives organisations and individuals real-time positioning — enabling navigation, logistics planning, and the ability to find or track something exactly when it matters.</a:t>
            </a:r>
            <a:endParaRPr lang="en-US" sz="2000" dirty="0"/>
          </a:p>
        </p:txBody>
      </p:sp>
      <p:sp>
        <p:nvSpPr>
          <p:cNvPr id="13" name="Text 10"/>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0B6E73"/>
                </a:solidFill>
                <a:latin typeface="Courier New" pitchFamily="34" charset="0"/>
                <a:ea typeface="Courier New" pitchFamily="34" charset="-122"/>
                <a:cs typeface="Courier New" pitchFamily="34" charset="-120"/>
              </a:rPr>
              <a:t>SECTOR 3/5</a:t>
            </a:r>
            <a:endParaRPr lang="en-US" sz="1300" dirty="0"/>
          </a:p>
        </p:txBody>
      </p:sp>
      <p:sp>
        <p:nvSpPr>
          <p:cNvPr id="14" name="Text 11"/>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15" name="Text 12"/>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0B6E73"/>
                </a:solidFill>
                <a:latin typeface="Courier New" pitchFamily="34" charset="0"/>
                <a:ea typeface="Courier New" pitchFamily="34" charset="-122"/>
                <a:cs typeface="Courier New" pitchFamily="34" charset="-120"/>
              </a:rPr>
              <a:t>SECTOR 3 OF 5 — EXAMPLES</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GPS &amp; Location Systems: Real Examples</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6" name="Shape 4"/>
          <p:cNvSpPr/>
          <p:nvPr/>
        </p:nvSpPr>
        <p:spPr>
          <a:xfrm>
            <a:off x="7955280" y="411480"/>
            <a:ext cx="1691640" cy="384048"/>
          </a:xfrm>
          <a:prstGeom prst="roundRect">
            <a:avLst>
              <a:gd name="adj" fmla="val 19048"/>
            </a:avLst>
          </a:prstGeom>
          <a:solidFill>
            <a:srgbClr val="B8620A"/>
          </a:solidFill>
          <a:ln/>
        </p:spPr>
      </p:sp>
      <p:sp>
        <p:nvSpPr>
          <p:cNvPr id="7" name="Text 5"/>
          <p:cNvSpPr/>
          <p:nvPr/>
        </p:nvSpPr>
        <p:spPr>
          <a:xfrm>
            <a:off x="7955280" y="411480"/>
            <a:ext cx="1691640"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ourier New" pitchFamily="34" charset="0"/>
                <a:ea typeface="Courier New" pitchFamily="34" charset="-122"/>
                <a:cs typeface="Courier New" pitchFamily="34" charset="-120"/>
              </a:rPr>
              <a:t>COPY THIS</a:t>
            </a:r>
            <a:endParaRPr lang="en-US" sz="1300" dirty="0"/>
          </a:p>
        </p:txBody>
      </p:sp>
      <p:sp>
        <p:nvSpPr>
          <p:cNvPr id="8" name="Shape 6"/>
          <p:cNvSpPr/>
          <p:nvPr/>
        </p:nvSpPr>
        <p:spPr>
          <a:xfrm>
            <a:off x="548640" y="150876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9" name="Shape 7"/>
          <p:cNvSpPr/>
          <p:nvPr/>
        </p:nvSpPr>
        <p:spPr>
          <a:xfrm>
            <a:off x="777240" y="1769364"/>
            <a:ext cx="347472" cy="347472"/>
          </a:xfrm>
          <a:prstGeom prst="ellipse">
            <a:avLst/>
          </a:prstGeom>
          <a:solidFill>
            <a:srgbClr val="0B6E73"/>
          </a:solidFill>
          <a:ln/>
        </p:spPr>
      </p:sp>
      <p:sp>
        <p:nvSpPr>
          <p:cNvPr id="10" name="Text 8"/>
          <p:cNvSpPr/>
          <p:nvPr/>
        </p:nvSpPr>
        <p:spPr>
          <a:xfrm>
            <a:off x="1325880" y="150876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Turn-by-turn navigation</a:t>
            </a:r>
            <a:endParaRPr lang="en-US" sz="2000" dirty="0"/>
          </a:p>
        </p:txBody>
      </p:sp>
      <p:sp>
        <p:nvSpPr>
          <p:cNvPr id="11" name="Text 9"/>
          <p:cNvSpPr/>
          <p:nvPr/>
        </p:nvSpPr>
        <p:spPr>
          <a:xfrm>
            <a:off x="4480560" y="150876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Calculates and updates a route in real time as conditions change</a:t>
            </a:r>
            <a:endParaRPr lang="en-US" sz="1900" dirty="0"/>
          </a:p>
        </p:txBody>
      </p:sp>
      <p:sp>
        <p:nvSpPr>
          <p:cNvPr id="12" name="Shape 10"/>
          <p:cNvSpPr/>
          <p:nvPr/>
        </p:nvSpPr>
        <p:spPr>
          <a:xfrm>
            <a:off x="548640" y="251460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13" name="Shape 11"/>
          <p:cNvSpPr/>
          <p:nvPr/>
        </p:nvSpPr>
        <p:spPr>
          <a:xfrm>
            <a:off x="777240" y="2775204"/>
            <a:ext cx="347472" cy="347472"/>
          </a:xfrm>
          <a:prstGeom prst="ellipse">
            <a:avLst/>
          </a:prstGeom>
          <a:solidFill>
            <a:srgbClr val="0B6E73"/>
          </a:solidFill>
          <a:ln/>
        </p:spPr>
      </p:sp>
      <p:sp>
        <p:nvSpPr>
          <p:cNvPr id="14" name="Text 12"/>
          <p:cNvSpPr/>
          <p:nvPr/>
        </p:nvSpPr>
        <p:spPr>
          <a:xfrm>
            <a:off x="1325880" y="251460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Fleet tracking</a:t>
            </a:r>
            <a:endParaRPr lang="en-US" sz="2000" dirty="0"/>
          </a:p>
        </p:txBody>
      </p:sp>
      <p:sp>
        <p:nvSpPr>
          <p:cNvPr id="15" name="Text 13"/>
          <p:cNvSpPr/>
          <p:nvPr/>
        </p:nvSpPr>
        <p:spPr>
          <a:xfrm>
            <a:off x="4480560" y="251460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Lets a delivery company see every vehicle's location at once</a:t>
            </a:r>
            <a:endParaRPr lang="en-US" sz="1900" dirty="0"/>
          </a:p>
        </p:txBody>
      </p:sp>
      <p:sp>
        <p:nvSpPr>
          <p:cNvPr id="16" name="Shape 14"/>
          <p:cNvSpPr/>
          <p:nvPr/>
        </p:nvSpPr>
        <p:spPr>
          <a:xfrm>
            <a:off x="548640" y="352044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17" name="Shape 15"/>
          <p:cNvSpPr/>
          <p:nvPr/>
        </p:nvSpPr>
        <p:spPr>
          <a:xfrm>
            <a:off x="777240" y="3781044"/>
            <a:ext cx="347472" cy="347472"/>
          </a:xfrm>
          <a:prstGeom prst="ellipse">
            <a:avLst/>
          </a:prstGeom>
          <a:solidFill>
            <a:srgbClr val="0B6E73"/>
          </a:solidFill>
          <a:ln/>
        </p:spPr>
      </p:sp>
      <p:sp>
        <p:nvSpPr>
          <p:cNvPr id="18" name="Text 16"/>
          <p:cNvSpPr/>
          <p:nvPr/>
        </p:nvSpPr>
        <p:spPr>
          <a:xfrm>
            <a:off x="1325880" y="352044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Search and rescue</a:t>
            </a:r>
            <a:endParaRPr lang="en-US" sz="2000" dirty="0"/>
          </a:p>
        </p:txBody>
      </p:sp>
      <p:sp>
        <p:nvSpPr>
          <p:cNvPr id="19" name="Text 17"/>
          <p:cNvSpPr/>
          <p:nvPr/>
        </p:nvSpPr>
        <p:spPr>
          <a:xfrm>
            <a:off x="4480560" y="352044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Locates a missing hiker's phone or beacon signal to direct responders</a:t>
            </a:r>
            <a:endParaRPr lang="en-US" sz="1900" dirty="0"/>
          </a:p>
        </p:txBody>
      </p:sp>
      <p:sp>
        <p:nvSpPr>
          <p:cNvPr id="20" name="Shape 18"/>
          <p:cNvSpPr/>
          <p:nvPr/>
        </p:nvSpPr>
        <p:spPr>
          <a:xfrm>
            <a:off x="548640" y="452628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21" name="Shape 19"/>
          <p:cNvSpPr/>
          <p:nvPr/>
        </p:nvSpPr>
        <p:spPr>
          <a:xfrm>
            <a:off x="777240" y="4786884"/>
            <a:ext cx="347472" cy="347472"/>
          </a:xfrm>
          <a:prstGeom prst="ellipse">
            <a:avLst/>
          </a:prstGeom>
          <a:solidFill>
            <a:srgbClr val="0B6E73"/>
          </a:solidFill>
          <a:ln/>
        </p:spPr>
      </p:sp>
      <p:sp>
        <p:nvSpPr>
          <p:cNvPr id="22" name="Text 20"/>
          <p:cNvSpPr/>
          <p:nvPr/>
        </p:nvSpPr>
        <p:spPr>
          <a:xfrm>
            <a:off x="1325880" y="452628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Geofencing</a:t>
            </a:r>
            <a:endParaRPr lang="en-US" sz="2000" dirty="0"/>
          </a:p>
        </p:txBody>
      </p:sp>
      <p:sp>
        <p:nvSpPr>
          <p:cNvPr id="23" name="Text 21"/>
          <p:cNvSpPr/>
          <p:nvPr/>
        </p:nvSpPr>
        <p:spPr>
          <a:xfrm>
            <a:off x="4480560" y="452628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Triggers an action automatically when a device enters or leaves a set area</a:t>
            </a:r>
            <a:endParaRPr lang="en-US" sz="1900" dirty="0"/>
          </a:p>
        </p:txBody>
      </p:sp>
      <p:sp>
        <p:nvSpPr>
          <p:cNvPr id="24" name="Text 22"/>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0B6E73"/>
                </a:solidFill>
                <a:latin typeface="Courier New" pitchFamily="34" charset="0"/>
                <a:ea typeface="Courier New" pitchFamily="34" charset="-122"/>
                <a:cs typeface="Courier New" pitchFamily="34" charset="-120"/>
              </a:rPr>
              <a:t>SECTOR 3/5</a:t>
            </a:r>
            <a:endParaRPr lang="en-US" sz="1300" dirty="0"/>
          </a:p>
        </p:txBody>
      </p:sp>
      <p:sp>
        <p:nvSpPr>
          <p:cNvPr id="25" name="Text 23"/>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26" name="Text 24"/>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B8620A"/>
                </a:solidFill>
                <a:latin typeface="Courier New" pitchFamily="34" charset="0"/>
                <a:ea typeface="Courier New" pitchFamily="34" charset="-122"/>
                <a:cs typeface="Courier New" pitchFamily="34" charset="-120"/>
              </a:rPr>
              <a:t>SECTOR 4 OF 5 — DEFINITION</a:t>
            </a:r>
            <a:endParaRPr lang="en-US" sz="1400" dirty="0"/>
          </a:p>
        </p:txBody>
      </p:sp>
      <p:sp>
        <p:nvSpPr>
          <p:cNvPr id="3" name="Shape 1"/>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4" name="Text 2"/>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5" name="Shape 3"/>
          <p:cNvSpPr/>
          <p:nvPr/>
        </p:nvSpPr>
        <p:spPr>
          <a:xfrm>
            <a:off x="548640" y="914400"/>
            <a:ext cx="1371600" cy="1371600"/>
          </a:xfrm>
          <a:prstGeom prst="ellipse">
            <a:avLst/>
          </a:prstGeom>
          <a:solidFill>
            <a:srgbClr val="B8620A"/>
          </a:solidFill>
          <a:ln/>
        </p:spPr>
      </p:sp>
      <p:pic>
        <p:nvPicPr>
          <p:cNvPr id="6" name="Image 0" descr="preencoded.png">    </p:cNvPr>
          <p:cNvPicPr>
            <a:picLocks noChangeAspect="1"/>
          </p:cNvPicPr>
          <p:nvPr/>
        </p:nvPicPr>
        <p:blipFill>
          <a:blip r:embed="rId1"/>
          <a:stretch>
            <a:fillRect/>
          </a:stretch>
        </p:blipFill>
        <p:spPr>
          <a:xfrm>
            <a:off x="914400" y="1280160"/>
            <a:ext cx="640080" cy="640080"/>
          </a:xfrm>
          <a:prstGeom prst="rect">
            <a:avLst/>
          </a:prstGeom>
        </p:spPr>
      </p:pic>
      <p:sp>
        <p:nvSpPr>
          <p:cNvPr id="7" name="Text 4"/>
          <p:cNvSpPr/>
          <p:nvPr/>
        </p:nvSpPr>
        <p:spPr>
          <a:xfrm>
            <a:off x="2148840" y="960120"/>
            <a:ext cx="9326880" cy="914400"/>
          </a:xfrm>
          <a:prstGeom prst="rect">
            <a:avLst/>
          </a:prstGeom>
          <a:noFill/>
          <a:ln/>
        </p:spPr>
        <p:txBody>
          <a:bodyPr wrap="square" lIns="0" tIns="0" rIns="0" bIns="0" rtlCol="0" anchor="ctr"/>
          <a:lstStyle/>
          <a:p>
            <a:pPr indent="0" marL="0">
              <a:buNone/>
            </a:pPr>
            <a:r>
              <a:rPr lang="en-US" sz="3800" b="1" dirty="0">
                <a:solidFill>
                  <a:srgbClr val="12100E"/>
                </a:solidFill>
                <a:latin typeface="Cambria" pitchFamily="34" charset="0"/>
                <a:ea typeface="Cambria" pitchFamily="34" charset="-122"/>
                <a:cs typeface="Cambria" pitchFamily="34" charset="-120"/>
              </a:rPr>
              <a:t>Robotics</a:t>
            </a:r>
            <a:endParaRPr lang="en-US" sz="3800" dirty="0"/>
          </a:p>
        </p:txBody>
      </p:sp>
      <p:sp>
        <p:nvSpPr>
          <p:cNvPr id="8" name="Shape 5"/>
          <p:cNvSpPr/>
          <p:nvPr/>
        </p:nvSpPr>
        <p:spPr>
          <a:xfrm>
            <a:off x="548640" y="2606040"/>
            <a:ext cx="11064240" cy="1005840"/>
          </a:xfrm>
          <a:prstGeom prst="roundRect">
            <a:avLst>
              <a:gd name="adj" fmla="val 9091"/>
            </a:avLst>
          </a:prstGeom>
          <a:solidFill>
            <a:srgbClr val="FFFFFF"/>
          </a:solidFill>
          <a:ln/>
          <a:effectLst>
            <a:outerShdw sx="100000" sy="100000" kx="0" ky="0" algn="bl" rotWithShape="0" blurRad="76200" dist="25400" dir="2700000">
              <a:srgbClr val="000000">
                <a:alpha val="10000"/>
              </a:srgbClr>
            </a:outerShdw>
          </a:effectLst>
        </p:spPr>
      </p:sp>
      <p:sp>
        <p:nvSpPr>
          <p:cNvPr id="9" name="Text 6"/>
          <p:cNvSpPr/>
          <p:nvPr/>
        </p:nvSpPr>
        <p:spPr>
          <a:xfrm>
            <a:off x="868680" y="2606040"/>
            <a:ext cx="10424160" cy="1005840"/>
          </a:xfrm>
          <a:prstGeom prst="rect">
            <a:avLst/>
          </a:prstGeom>
          <a:noFill/>
          <a:ln/>
        </p:spPr>
        <p:txBody>
          <a:bodyPr wrap="square" lIns="0" tIns="0" rIns="0" bIns="0" rtlCol="0" anchor="ctr"/>
          <a:lstStyle/>
          <a:p>
            <a:pPr indent="0" marL="0">
              <a:buNone/>
            </a:pPr>
            <a:r>
              <a:rPr lang="en-US" sz="2100" dirty="0">
                <a:solidFill>
                  <a:srgbClr val="2C2A28"/>
                </a:solidFill>
                <a:latin typeface="Calibri" pitchFamily="34" charset="0"/>
                <a:ea typeface="Calibri" pitchFamily="34" charset="-122"/>
                <a:cs typeface="Calibri" pitchFamily="34" charset="-120"/>
              </a:rPr>
              <a:t>Digital systems combined with physical machinery that sense, decide, and act in the real world.</a:t>
            </a:r>
            <a:endParaRPr lang="en-US" sz="2100" dirty="0"/>
          </a:p>
        </p:txBody>
      </p:sp>
      <p:sp>
        <p:nvSpPr>
          <p:cNvPr id="10" name="Text 7"/>
          <p:cNvSpPr/>
          <p:nvPr/>
        </p:nvSpPr>
        <p:spPr>
          <a:xfrm>
            <a:off x="548640" y="3886200"/>
            <a:ext cx="7315200" cy="365760"/>
          </a:xfrm>
          <a:prstGeom prst="rect">
            <a:avLst/>
          </a:prstGeom>
          <a:noFill/>
          <a:ln/>
        </p:spPr>
        <p:txBody>
          <a:bodyPr wrap="square" lIns="0" tIns="0" rIns="0" bIns="0" rtlCol="0" anchor="ctr"/>
          <a:lstStyle/>
          <a:p>
            <a:pPr indent="0" marL="0">
              <a:buNone/>
            </a:pPr>
            <a:r>
              <a:rPr lang="en-US" sz="1500" b="1" spc="150" kern="0" dirty="0">
                <a:solidFill>
                  <a:srgbClr val="B8620A"/>
                </a:solidFill>
                <a:latin typeface="Courier New" pitchFamily="34" charset="0"/>
                <a:ea typeface="Courier New" pitchFamily="34" charset="-122"/>
                <a:cs typeface="Courier New" pitchFamily="34" charset="-120"/>
              </a:rPr>
              <a:t>WHAT CAPABILITY DOES IT GIVE?</a:t>
            </a:r>
            <a:endParaRPr lang="en-US" sz="1500" dirty="0"/>
          </a:p>
        </p:txBody>
      </p:sp>
      <p:sp>
        <p:nvSpPr>
          <p:cNvPr id="11" name="Shape 8"/>
          <p:cNvSpPr/>
          <p:nvPr/>
        </p:nvSpPr>
        <p:spPr>
          <a:xfrm>
            <a:off x="548640" y="4297680"/>
            <a:ext cx="11064240" cy="1417320"/>
          </a:xfrm>
          <a:prstGeom prst="roundRect">
            <a:avLst>
              <a:gd name="adj" fmla="val 6452"/>
            </a:avLst>
          </a:prstGeom>
          <a:solidFill>
            <a:srgbClr val="EDE8DF"/>
          </a:solidFill>
          <a:ln/>
        </p:spPr>
      </p:sp>
      <p:sp>
        <p:nvSpPr>
          <p:cNvPr id="12" name="Text 9"/>
          <p:cNvSpPr/>
          <p:nvPr/>
        </p:nvSpPr>
        <p:spPr>
          <a:xfrm>
            <a:off x="868680" y="4297680"/>
            <a:ext cx="10424160" cy="1417320"/>
          </a:xfrm>
          <a:prstGeom prst="rect">
            <a:avLst/>
          </a:prstGeom>
          <a:noFill/>
          <a:ln/>
        </p:spPr>
        <p:txBody>
          <a:bodyPr wrap="square" lIns="0" tIns="0" rIns="0" bIns="0" rtlCol="0" anchor="ctr"/>
          <a:lstStyle/>
          <a:p>
            <a:pPr indent="0" marL="0">
              <a:buNone/>
            </a:pPr>
            <a:r>
              <a:rPr lang="en-US" sz="2000" dirty="0">
                <a:solidFill>
                  <a:srgbClr val="12100E"/>
                </a:solidFill>
                <a:latin typeface="Calibri" pitchFamily="34" charset="0"/>
                <a:ea typeface="Calibri" pitchFamily="34" charset="-122"/>
                <a:cs typeface="Calibri" pitchFamily="34" charset="-120"/>
              </a:rPr>
              <a:t>Gives organisations precision and scale beyond human physical limits — repeating a delicate or heavy task exactly, for hours, without fatigue.</a:t>
            </a:r>
            <a:endParaRPr lang="en-US" sz="2000" dirty="0"/>
          </a:p>
        </p:txBody>
      </p:sp>
      <p:sp>
        <p:nvSpPr>
          <p:cNvPr id="13" name="Text 10"/>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B8620A"/>
                </a:solidFill>
                <a:latin typeface="Courier New" pitchFamily="34" charset="0"/>
                <a:ea typeface="Courier New" pitchFamily="34" charset="-122"/>
                <a:cs typeface="Courier New" pitchFamily="34" charset="-120"/>
              </a:rPr>
              <a:t>SECTOR 4/5</a:t>
            </a:r>
            <a:endParaRPr lang="en-US" sz="1300" dirty="0"/>
          </a:p>
        </p:txBody>
      </p:sp>
      <p:sp>
        <p:nvSpPr>
          <p:cNvPr id="14" name="Text 11"/>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15" name="Text 12"/>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B8620A"/>
                </a:solidFill>
                <a:latin typeface="Courier New" pitchFamily="34" charset="0"/>
                <a:ea typeface="Courier New" pitchFamily="34" charset="-122"/>
                <a:cs typeface="Courier New" pitchFamily="34" charset="-120"/>
              </a:rPr>
              <a:t>SECTOR 4 OF 5 — EXAMPLES</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Robotics: Real Examples</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6" name="Shape 4"/>
          <p:cNvSpPr/>
          <p:nvPr/>
        </p:nvSpPr>
        <p:spPr>
          <a:xfrm>
            <a:off x="7955280" y="411480"/>
            <a:ext cx="1691640" cy="384048"/>
          </a:xfrm>
          <a:prstGeom prst="roundRect">
            <a:avLst>
              <a:gd name="adj" fmla="val 19048"/>
            </a:avLst>
          </a:prstGeom>
          <a:solidFill>
            <a:srgbClr val="B8620A"/>
          </a:solidFill>
          <a:ln/>
        </p:spPr>
      </p:sp>
      <p:sp>
        <p:nvSpPr>
          <p:cNvPr id="7" name="Text 5"/>
          <p:cNvSpPr/>
          <p:nvPr/>
        </p:nvSpPr>
        <p:spPr>
          <a:xfrm>
            <a:off x="7955280" y="411480"/>
            <a:ext cx="1691640"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ourier New" pitchFamily="34" charset="0"/>
                <a:ea typeface="Courier New" pitchFamily="34" charset="-122"/>
                <a:cs typeface="Courier New" pitchFamily="34" charset="-120"/>
              </a:rPr>
              <a:t>COPY THIS</a:t>
            </a:r>
            <a:endParaRPr lang="en-US" sz="1300" dirty="0"/>
          </a:p>
        </p:txBody>
      </p:sp>
      <p:sp>
        <p:nvSpPr>
          <p:cNvPr id="8" name="Shape 6"/>
          <p:cNvSpPr/>
          <p:nvPr/>
        </p:nvSpPr>
        <p:spPr>
          <a:xfrm>
            <a:off x="548640" y="150876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9" name="Shape 7"/>
          <p:cNvSpPr/>
          <p:nvPr/>
        </p:nvSpPr>
        <p:spPr>
          <a:xfrm>
            <a:off x="777240" y="1769364"/>
            <a:ext cx="347472" cy="347472"/>
          </a:xfrm>
          <a:prstGeom prst="ellipse">
            <a:avLst/>
          </a:prstGeom>
          <a:solidFill>
            <a:srgbClr val="B8620A"/>
          </a:solidFill>
          <a:ln/>
        </p:spPr>
      </p:sp>
      <p:sp>
        <p:nvSpPr>
          <p:cNvPr id="10" name="Text 8"/>
          <p:cNvSpPr/>
          <p:nvPr/>
        </p:nvSpPr>
        <p:spPr>
          <a:xfrm>
            <a:off x="1325880" y="150876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Warehouse picking robots</a:t>
            </a:r>
            <a:endParaRPr lang="en-US" sz="2000" dirty="0"/>
          </a:p>
        </p:txBody>
      </p:sp>
      <p:sp>
        <p:nvSpPr>
          <p:cNvPr id="11" name="Text 9"/>
          <p:cNvSpPr/>
          <p:nvPr/>
        </p:nvSpPr>
        <p:spPr>
          <a:xfrm>
            <a:off x="4480560" y="150876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Locate and retrieve items from shelves to speed up order fulfilment</a:t>
            </a:r>
            <a:endParaRPr lang="en-US" sz="1900" dirty="0"/>
          </a:p>
        </p:txBody>
      </p:sp>
      <p:sp>
        <p:nvSpPr>
          <p:cNvPr id="12" name="Shape 10"/>
          <p:cNvSpPr/>
          <p:nvPr/>
        </p:nvSpPr>
        <p:spPr>
          <a:xfrm>
            <a:off x="548640" y="251460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13" name="Shape 11"/>
          <p:cNvSpPr/>
          <p:nvPr/>
        </p:nvSpPr>
        <p:spPr>
          <a:xfrm>
            <a:off x="777240" y="2775204"/>
            <a:ext cx="347472" cy="347472"/>
          </a:xfrm>
          <a:prstGeom prst="ellipse">
            <a:avLst/>
          </a:prstGeom>
          <a:solidFill>
            <a:srgbClr val="B8620A"/>
          </a:solidFill>
          <a:ln/>
        </p:spPr>
      </p:sp>
      <p:sp>
        <p:nvSpPr>
          <p:cNvPr id="14" name="Text 12"/>
          <p:cNvSpPr/>
          <p:nvPr/>
        </p:nvSpPr>
        <p:spPr>
          <a:xfrm>
            <a:off x="1325880" y="251460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Surgical robots</a:t>
            </a:r>
            <a:endParaRPr lang="en-US" sz="2000" dirty="0"/>
          </a:p>
        </p:txBody>
      </p:sp>
      <p:sp>
        <p:nvSpPr>
          <p:cNvPr id="15" name="Text 13"/>
          <p:cNvSpPr/>
          <p:nvPr/>
        </p:nvSpPr>
        <p:spPr>
          <a:xfrm>
            <a:off x="4480560" y="251460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Translate a surgeon's hand movements into smaller, steadier instrument motion</a:t>
            </a:r>
            <a:endParaRPr lang="en-US" sz="1900" dirty="0"/>
          </a:p>
        </p:txBody>
      </p:sp>
      <p:sp>
        <p:nvSpPr>
          <p:cNvPr id="16" name="Shape 14"/>
          <p:cNvSpPr/>
          <p:nvPr/>
        </p:nvSpPr>
        <p:spPr>
          <a:xfrm>
            <a:off x="548640" y="352044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17" name="Shape 15"/>
          <p:cNvSpPr/>
          <p:nvPr/>
        </p:nvSpPr>
        <p:spPr>
          <a:xfrm>
            <a:off x="777240" y="3781044"/>
            <a:ext cx="347472" cy="347472"/>
          </a:xfrm>
          <a:prstGeom prst="ellipse">
            <a:avLst/>
          </a:prstGeom>
          <a:solidFill>
            <a:srgbClr val="B8620A"/>
          </a:solidFill>
          <a:ln/>
        </p:spPr>
      </p:sp>
      <p:sp>
        <p:nvSpPr>
          <p:cNvPr id="18" name="Text 16"/>
          <p:cNvSpPr/>
          <p:nvPr/>
        </p:nvSpPr>
        <p:spPr>
          <a:xfrm>
            <a:off x="1325880" y="352044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Agricultural robots / drones</a:t>
            </a:r>
            <a:endParaRPr lang="en-US" sz="2000" dirty="0"/>
          </a:p>
        </p:txBody>
      </p:sp>
      <p:sp>
        <p:nvSpPr>
          <p:cNvPr id="19" name="Text 17"/>
          <p:cNvSpPr/>
          <p:nvPr/>
        </p:nvSpPr>
        <p:spPr>
          <a:xfrm>
            <a:off x="4480560" y="352044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Monitor crop health or apply treatment across large fields automatically</a:t>
            </a:r>
            <a:endParaRPr lang="en-US" sz="1900" dirty="0"/>
          </a:p>
        </p:txBody>
      </p:sp>
      <p:sp>
        <p:nvSpPr>
          <p:cNvPr id="20" name="Text 18"/>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B8620A"/>
                </a:solidFill>
                <a:latin typeface="Courier New" pitchFamily="34" charset="0"/>
                <a:ea typeface="Courier New" pitchFamily="34" charset="-122"/>
                <a:cs typeface="Courier New" pitchFamily="34" charset="-120"/>
              </a:rPr>
              <a:t>SECTOR 4/5</a:t>
            </a:r>
            <a:endParaRPr lang="en-US" sz="1300" dirty="0"/>
          </a:p>
        </p:txBody>
      </p:sp>
      <p:sp>
        <p:nvSpPr>
          <p:cNvPr id="21" name="Text 19"/>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22" name="Text 20"/>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8C1F28"/>
                </a:solidFill>
                <a:latin typeface="Courier New" pitchFamily="34" charset="0"/>
                <a:ea typeface="Courier New" pitchFamily="34" charset="-122"/>
                <a:cs typeface="Courier New" pitchFamily="34" charset="-120"/>
              </a:rPr>
              <a:t>SECTOR 5 OF 5 — DEFINITION</a:t>
            </a:r>
            <a:endParaRPr lang="en-US" sz="1400" dirty="0"/>
          </a:p>
        </p:txBody>
      </p:sp>
      <p:sp>
        <p:nvSpPr>
          <p:cNvPr id="3" name="Shape 1"/>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4" name="Text 2"/>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5" name="Shape 3"/>
          <p:cNvSpPr/>
          <p:nvPr/>
        </p:nvSpPr>
        <p:spPr>
          <a:xfrm>
            <a:off x="548640" y="914400"/>
            <a:ext cx="1371600" cy="1371600"/>
          </a:xfrm>
          <a:prstGeom prst="ellipse">
            <a:avLst/>
          </a:prstGeom>
          <a:solidFill>
            <a:srgbClr val="8C1F28"/>
          </a:solidFill>
          <a:ln/>
        </p:spPr>
      </p:sp>
      <p:pic>
        <p:nvPicPr>
          <p:cNvPr id="6" name="Image 0" descr="preencoded.png">    </p:cNvPr>
          <p:cNvPicPr>
            <a:picLocks noChangeAspect="1"/>
          </p:cNvPicPr>
          <p:nvPr/>
        </p:nvPicPr>
        <p:blipFill>
          <a:blip r:embed="rId1"/>
          <a:stretch>
            <a:fillRect/>
          </a:stretch>
        </p:blipFill>
        <p:spPr>
          <a:xfrm>
            <a:off x="914400" y="1280160"/>
            <a:ext cx="640080" cy="640080"/>
          </a:xfrm>
          <a:prstGeom prst="rect">
            <a:avLst/>
          </a:prstGeom>
        </p:spPr>
      </p:pic>
      <p:sp>
        <p:nvSpPr>
          <p:cNvPr id="7" name="Text 4"/>
          <p:cNvSpPr/>
          <p:nvPr/>
        </p:nvSpPr>
        <p:spPr>
          <a:xfrm>
            <a:off x="2148840" y="960120"/>
            <a:ext cx="9326880" cy="914400"/>
          </a:xfrm>
          <a:prstGeom prst="rect">
            <a:avLst/>
          </a:prstGeom>
          <a:noFill/>
          <a:ln/>
        </p:spPr>
        <p:txBody>
          <a:bodyPr wrap="square" lIns="0" tIns="0" rIns="0" bIns="0" rtlCol="0" anchor="ctr"/>
          <a:lstStyle/>
          <a:p>
            <a:pPr indent="0" marL="0">
              <a:buNone/>
            </a:pPr>
            <a:r>
              <a:rPr lang="en-US" sz="3800" b="1" dirty="0">
                <a:solidFill>
                  <a:srgbClr val="12100E"/>
                </a:solidFill>
                <a:latin typeface="Cambria" pitchFamily="34" charset="0"/>
                <a:ea typeface="Cambria" pitchFamily="34" charset="-122"/>
                <a:cs typeface="Cambria" pitchFamily="34" charset="-120"/>
              </a:rPr>
              <a:t>Traffic Management</a:t>
            </a:r>
            <a:endParaRPr lang="en-US" sz="3800" dirty="0"/>
          </a:p>
        </p:txBody>
      </p:sp>
      <p:sp>
        <p:nvSpPr>
          <p:cNvPr id="8" name="Shape 5"/>
          <p:cNvSpPr/>
          <p:nvPr/>
        </p:nvSpPr>
        <p:spPr>
          <a:xfrm>
            <a:off x="548640" y="2606040"/>
            <a:ext cx="11064240" cy="1005840"/>
          </a:xfrm>
          <a:prstGeom prst="roundRect">
            <a:avLst>
              <a:gd name="adj" fmla="val 9091"/>
            </a:avLst>
          </a:prstGeom>
          <a:solidFill>
            <a:srgbClr val="FFFFFF"/>
          </a:solidFill>
          <a:ln/>
          <a:effectLst>
            <a:outerShdw sx="100000" sy="100000" kx="0" ky="0" algn="bl" rotWithShape="0" blurRad="76200" dist="25400" dir="2700000">
              <a:srgbClr val="000000">
                <a:alpha val="10000"/>
              </a:srgbClr>
            </a:outerShdw>
          </a:effectLst>
        </p:spPr>
      </p:sp>
      <p:sp>
        <p:nvSpPr>
          <p:cNvPr id="9" name="Text 6"/>
          <p:cNvSpPr/>
          <p:nvPr/>
        </p:nvSpPr>
        <p:spPr>
          <a:xfrm>
            <a:off x="868680" y="2606040"/>
            <a:ext cx="10424160" cy="1005840"/>
          </a:xfrm>
          <a:prstGeom prst="rect">
            <a:avLst/>
          </a:prstGeom>
          <a:noFill/>
          <a:ln/>
        </p:spPr>
        <p:txBody>
          <a:bodyPr wrap="square" lIns="0" tIns="0" rIns="0" bIns="0" rtlCol="0" anchor="ctr"/>
          <a:lstStyle/>
          <a:p>
            <a:pPr indent="0" marL="0">
              <a:buNone/>
            </a:pPr>
            <a:r>
              <a:rPr lang="en-US" sz="2100" dirty="0">
                <a:solidFill>
                  <a:srgbClr val="2C2A28"/>
                </a:solidFill>
                <a:latin typeface="Calibri" pitchFamily="34" charset="0"/>
                <a:ea typeface="Calibri" pitchFamily="34" charset="-122"/>
                <a:cs typeface="Calibri" pitchFamily="34" charset="-120"/>
              </a:rPr>
              <a:t>Digital systems that monitor and control the flow of vehicles across a road network, often city-wide.</a:t>
            </a:r>
            <a:endParaRPr lang="en-US" sz="2100" dirty="0"/>
          </a:p>
        </p:txBody>
      </p:sp>
      <p:sp>
        <p:nvSpPr>
          <p:cNvPr id="10" name="Text 7"/>
          <p:cNvSpPr/>
          <p:nvPr/>
        </p:nvSpPr>
        <p:spPr>
          <a:xfrm>
            <a:off x="548640" y="3886200"/>
            <a:ext cx="7315200" cy="365760"/>
          </a:xfrm>
          <a:prstGeom prst="rect">
            <a:avLst/>
          </a:prstGeom>
          <a:noFill/>
          <a:ln/>
        </p:spPr>
        <p:txBody>
          <a:bodyPr wrap="square" lIns="0" tIns="0" rIns="0" bIns="0" rtlCol="0" anchor="ctr"/>
          <a:lstStyle/>
          <a:p>
            <a:pPr indent="0" marL="0">
              <a:buNone/>
            </a:pPr>
            <a:r>
              <a:rPr lang="en-US" sz="1500" b="1" spc="150" kern="0" dirty="0">
                <a:solidFill>
                  <a:srgbClr val="8C1F28"/>
                </a:solidFill>
                <a:latin typeface="Courier New" pitchFamily="34" charset="0"/>
                <a:ea typeface="Courier New" pitchFamily="34" charset="-122"/>
                <a:cs typeface="Courier New" pitchFamily="34" charset="-120"/>
              </a:rPr>
              <a:t>WHAT CAPABILITY DOES IT GIVE?</a:t>
            </a:r>
            <a:endParaRPr lang="en-US" sz="1500" dirty="0"/>
          </a:p>
        </p:txBody>
      </p:sp>
      <p:sp>
        <p:nvSpPr>
          <p:cNvPr id="11" name="Shape 8"/>
          <p:cNvSpPr/>
          <p:nvPr/>
        </p:nvSpPr>
        <p:spPr>
          <a:xfrm>
            <a:off x="548640" y="4297680"/>
            <a:ext cx="11064240" cy="1417320"/>
          </a:xfrm>
          <a:prstGeom prst="roundRect">
            <a:avLst>
              <a:gd name="adj" fmla="val 6452"/>
            </a:avLst>
          </a:prstGeom>
          <a:solidFill>
            <a:srgbClr val="EDE8DF"/>
          </a:solidFill>
          <a:ln/>
        </p:spPr>
      </p:sp>
      <p:sp>
        <p:nvSpPr>
          <p:cNvPr id="12" name="Text 9"/>
          <p:cNvSpPr/>
          <p:nvPr/>
        </p:nvSpPr>
        <p:spPr>
          <a:xfrm>
            <a:off x="868680" y="4297680"/>
            <a:ext cx="10424160" cy="1417320"/>
          </a:xfrm>
          <a:prstGeom prst="rect">
            <a:avLst/>
          </a:prstGeom>
          <a:noFill/>
          <a:ln/>
        </p:spPr>
        <p:txBody>
          <a:bodyPr wrap="square" lIns="0" tIns="0" rIns="0" bIns="0" rtlCol="0" anchor="ctr"/>
          <a:lstStyle/>
          <a:p>
            <a:pPr indent="0" marL="0">
              <a:buNone/>
            </a:pPr>
            <a:r>
              <a:rPr lang="en-US" sz="2000" dirty="0">
                <a:solidFill>
                  <a:srgbClr val="12100E"/>
                </a:solidFill>
                <a:latin typeface="Calibri" pitchFamily="34" charset="0"/>
                <a:ea typeface="Calibri" pitchFamily="34" charset="-122"/>
                <a:cs typeface="Calibri" pitchFamily="34" charset="-120"/>
              </a:rPr>
              <a:t>Gives a city the ability to optimise traffic flow and safety at a scale no human traffic controller could manage in real time.</a:t>
            </a:r>
            <a:endParaRPr lang="en-US" sz="2000" dirty="0"/>
          </a:p>
        </p:txBody>
      </p:sp>
      <p:sp>
        <p:nvSpPr>
          <p:cNvPr id="13" name="Text 10"/>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8C1F28"/>
                </a:solidFill>
                <a:latin typeface="Courier New" pitchFamily="34" charset="0"/>
                <a:ea typeface="Courier New" pitchFamily="34" charset="-122"/>
                <a:cs typeface="Courier New" pitchFamily="34" charset="-120"/>
              </a:rPr>
              <a:t>SECTOR 5/5</a:t>
            </a:r>
            <a:endParaRPr lang="en-US" sz="1300" dirty="0"/>
          </a:p>
        </p:txBody>
      </p:sp>
      <p:sp>
        <p:nvSpPr>
          <p:cNvPr id="14" name="Text 11"/>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15" name="Text 12"/>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8C1F28"/>
                </a:solidFill>
                <a:latin typeface="Courier New" pitchFamily="34" charset="0"/>
                <a:ea typeface="Courier New" pitchFamily="34" charset="-122"/>
                <a:cs typeface="Courier New" pitchFamily="34" charset="-120"/>
              </a:rPr>
              <a:t>SECTOR 5 OF 5 — EXAMPLES</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Traffic Management: Real Examples</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6" name="Shape 4"/>
          <p:cNvSpPr/>
          <p:nvPr/>
        </p:nvSpPr>
        <p:spPr>
          <a:xfrm>
            <a:off x="7955280" y="411480"/>
            <a:ext cx="1691640" cy="384048"/>
          </a:xfrm>
          <a:prstGeom prst="roundRect">
            <a:avLst>
              <a:gd name="adj" fmla="val 19048"/>
            </a:avLst>
          </a:prstGeom>
          <a:solidFill>
            <a:srgbClr val="B8620A"/>
          </a:solidFill>
          <a:ln/>
        </p:spPr>
      </p:sp>
      <p:sp>
        <p:nvSpPr>
          <p:cNvPr id="7" name="Text 5"/>
          <p:cNvSpPr/>
          <p:nvPr/>
        </p:nvSpPr>
        <p:spPr>
          <a:xfrm>
            <a:off x="7955280" y="411480"/>
            <a:ext cx="1691640"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ourier New" pitchFamily="34" charset="0"/>
                <a:ea typeface="Courier New" pitchFamily="34" charset="-122"/>
                <a:cs typeface="Courier New" pitchFamily="34" charset="-120"/>
              </a:rPr>
              <a:t>COPY THIS</a:t>
            </a:r>
            <a:endParaRPr lang="en-US" sz="1300" dirty="0"/>
          </a:p>
        </p:txBody>
      </p:sp>
      <p:sp>
        <p:nvSpPr>
          <p:cNvPr id="8" name="Shape 6"/>
          <p:cNvSpPr/>
          <p:nvPr/>
        </p:nvSpPr>
        <p:spPr>
          <a:xfrm>
            <a:off x="548640" y="150876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9" name="Shape 7"/>
          <p:cNvSpPr/>
          <p:nvPr/>
        </p:nvSpPr>
        <p:spPr>
          <a:xfrm>
            <a:off x="777240" y="1769364"/>
            <a:ext cx="347472" cy="347472"/>
          </a:xfrm>
          <a:prstGeom prst="ellipse">
            <a:avLst/>
          </a:prstGeom>
          <a:solidFill>
            <a:srgbClr val="8C1F28"/>
          </a:solidFill>
          <a:ln/>
        </p:spPr>
      </p:sp>
      <p:sp>
        <p:nvSpPr>
          <p:cNvPr id="10" name="Text 8"/>
          <p:cNvSpPr/>
          <p:nvPr/>
        </p:nvSpPr>
        <p:spPr>
          <a:xfrm>
            <a:off x="1325880" y="150876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Adaptive traffic signals</a:t>
            </a:r>
            <a:endParaRPr lang="en-US" sz="2000" dirty="0"/>
          </a:p>
        </p:txBody>
      </p:sp>
      <p:sp>
        <p:nvSpPr>
          <p:cNvPr id="11" name="Text 9"/>
          <p:cNvSpPr/>
          <p:nvPr/>
        </p:nvSpPr>
        <p:spPr>
          <a:xfrm>
            <a:off x="4480560" y="150876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Adjust light timing automatically based on real-time traffic volume</a:t>
            </a:r>
            <a:endParaRPr lang="en-US" sz="1900" dirty="0"/>
          </a:p>
        </p:txBody>
      </p:sp>
      <p:sp>
        <p:nvSpPr>
          <p:cNvPr id="12" name="Shape 10"/>
          <p:cNvSpPr/>
          <p:nvPr/>
        </p:nvSpPr>
        <p:spPr>
          <a:xfrm>
            <a:off x="548640" y="251460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13" name="Shape 11"/>
          <p:cNvSpPr/>
          <p:nvPr/>
        </p:nvSpPr>
        <p:spPr>
          <a:xfrm>
            <a:off x="777240" y="2775204"/>
            <a:ext cx="347472" cy="347472"/>
          </a:xfrm>
          <a:prstGeom prst="ellipse">
            <a:avLst/>
          </a:prstGeom>
          <a:solidFill>
            <a:srgbClr val="8C1F28"/>
          </a:solidFill>
          <a:ln/>
        </p:spPr>
      </p:sp>
      <p:sp>
        <p:nvSpPr>
          <p:cNvPr id="14" name="Text 12"/>
          <p:cNvSpPr/>
          <p:nvPr/>
        </p:nvSpPr>
        <p:spPr>
          <a:xfrm>
            <a:off x="1325880" y="251460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Congestion sensors</a:t>
            </a:r>
            <a:endParaRPr lang="en-US" sz="2000" dirty="0"/>
          </a:p>
        </p:txBody>
      </p:sp>
      <p:sp>
        <p:nvSpPr>
          <p:cNvPr id="15" name="Text 13"/>
          <p:cNvSpPr/>
          <p:nvPr/>
        </p:nvSpPr>
        <p:spPr>
          <a:xfrm>
            <a:off x="4480560" y="251460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Detect slow-moving traffic and feed data into navigation apps</a:t>
            </a:r>
            <a:endParaRPr lang="en-US" sz="1900" dirty="0"/>
          </a:p>
        </p:txBody>
      </p:sp>
      <p:sp>
        <p:nvSpPr>
          <p:cNvPr id="16" name="Shape 14"/>
          <p:cNvSpPr/>
          <p:nvPr/>
        </p:nvSpPr>
        <p:spPr>
          <a:xfrm>
            <a:off x="548640" y="3520440"/>
            <a:ext cx="11064240" cy="868680"/>
          </a:xfrm>
          <a:prstGeom prst="roundRect">
            <a:avLst>
              <a:gd name="adj" fmla="val 8421"/>
            </a:avLst>
          </a:prstGeom>
          <a:solidFill>
            <a:srgbClr val="FFFFFF"/>
          </a:solidFill>
          <a:ln/>
          <a:effectLst>
            <a:outerShdw sx="100000" sy="100000" kx="0" ky="0" algn="bl" rotWithShape="0" blurRad="63500" dist="25400" dir="2700000">
              <a:srgbClr val="000000">
                <a:alpha val="8000"/>
              </a:srgbClr>
            </a:outerShdw>
          </a:effectLst>
        </p:spPr>
      </p:sp>
      <p:sp>
        <p:nvSpPr>
          <p:cNvPr id="17" name="Shape 15"/>
          <p:cNvSpPr/>
          <p:nvPr/>
        </p:nvSpPr>
        <p:spPr>
          <a:xfrm>
            <a:off x="777240" y="3781044"/>
            <a:ext cx="347472" cy="347472"/>
          </a:xfrm>
          <a:prstGeom prst="ellipse">
            <a:avLst/>
          </a:prstGeom>
          <a:solidFill>
            <a:srgbClr val="8C1F28"/>
          </a:solidFill>
          <a:ln/>
        </p:spPr>
      </p:sp>
      <p:sp>
        <p:nvSpPr>
          <p:cNvPr id="18" name="Text 16"/>
          <p:cNvSpPr/>
          <p:nvPr/>
        </p:nvSpPr>
        <p:spPr>
          <a:xfrm>
            <a:off x="1325880" y="3520440"/>
            <a:ext cx="3017520" cy="868680"/>
          </a:xfrm>
          <a:prstGeom prst="rect">
            <a:avLst/>
          </a:prstGeom>
          <a:noFill/>
          <a:ln/>
        </p:spPr>
        <p:txBody>
          <a:bodyPr wrap="square" lIns="0" tIns="0" rIns="0" bIns="0" rtlCol="0" anchor="ctr"/>
          <a:lstStyle/>
          <a:p>
            <a:pPr indent="0" marL="0">
              <a:buNone/>
            </a:pPr>
            <a:r>
              <a:rPr lang="en-US" sz="2000" b="1" dirty="0">
                <a:solidFill>
                  <a:srgbClr val="12100E"/>
                </a:solidFill>
                <a:latin typeface="Cambria" pitchFamily="34" charset="0"/>
                <a:ea typeface="Cambria" pitchFamily="34" charset="-122"/>
                <a:cs typeface="Cambria" pitchFamily="34" charset="-120"/>
              </a:rPr>
              <a:t>Incident detection cameras</a:t>
            </a:r>
            <a:endParaRPr lang="en-US" sz="2000" dirty="0"/>
          </a:p>
        </p:txBody>
      </p:sp>
      <p:sp>
        <p:nvSpPr>
          <p:cNvPr id="19" name="Text 17"/>
          <p:cNvSpPr/>
          <p:nvPr/>
        </p:nvSpPr>
        <p:spPr>
          <a:xfrm>
            <a:off x="4480560" y="3520440"/>
            <a:ext cx="6995160" cy="868680"/>
          </a:xfrm>
          <a:prstGeom prst="rect">
            <a:avLst/>
          </a:prstGeom>
          <a:noFill/>
          <a:ln/>
        </p:spPr>
        <p:txBody>
          <a:bodyPr wrap="square" lIns="0" tIns="0" rIns="0" bIns="0" rtlCol="0" anchor="ctr"/>
          <a:lstStyle/>
          <a:p>
            <a:pPr indent="0" marL="0">
              <a:buNone/>
            </a:pPr>
            <a:r>
              <a:rPr lang="en-US" sz="1900" dirty="0">
                <a:solidFill>
                  <a:srgbClr val="2C2A28"/>
                </a:solidFill>
                <a:latin typeface="Calibri" pitchFamily="34" charset="0"/>
                <a:ea typeface="Calibri" pitchFamily="34" charset="-122"/>
                <a:cs typeface="Calibri" pitchFamily="34" charset="-120"/>
              </a:rPr>
              <a:t>Spot a stopped vehicle or crash and alert responders automatically</a:t>
            </a:r>
            <a:endParaRPr lang="en-US" sz="1900" dirty="0"/>
          </a:p>
        </p:txBody>
      </p:sp>
      <p:sp>
        <p:nvSpPr>
          <p:cNvPr id="20" name="Text 18"/>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8C1F28"/>
                </a:solidFill>
                <a:latin typeface="Courier New" pitchFamily="34" charset="0"/>
                <a:ea typeface="Courier New" pitchFamily="34" charset="-122"/>
                <a:cs typeface="Courier New" pitchFamily="34" charset="-120"/>
              </a:rPr>
              <a:t>SECTOR 5/5</a:t>
            </a:r>
            <a:endParaRPr lang="en-US" sz="1300" dirty="0"/>
          </a:p>
        </p:txBody>
      </p:sp>
      <p:sp>
        <p:nvSpPr>
          <p:cNvPr id="21" name="Text 19"/>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22" name="Text 20"/>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00E"/>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EDE8DF"/>
                </a:solidFill>
                <a:latin typeface="Courier New" pitchFamily="34" charset="0"/>
                <a:ea typeface="Courier New" pitchFamily="34" charset="-122"/>
                <a:cs typeface="Courier New" pitchFamily="34" charset="-120"/>
              </a:rPr>
              <a:t>RESPONSIVE TEACHING — THINK · PAIR · SHARE</a:t>
            </a:r>
            <a:endParaRPr lang="en-US" sz="1400" dirty="0"/>
          </a:p>
        </p:txBody>
      </p:sp>
      <p:sp>
        <p:nvSpPr>
          <p:cNvPr id="3" name="Shape 1"/>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4" name="Text 2"/>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5" name="Shape 3"/>
          <p:cNvSpPr/>
          <p:nvPr/>
        </p:nvSpPr>
        <p:spPr>
          <a:xfrm>
            <a:off x="5394960" y="1371600"/>
            <a:ext cx="1371600" cy="1371600"/>
          </a:xfrm>
          <a:prstGeom prst="ellipse">
            <a:avLst/>
          </a:prstGeom>
          <a:solidFill>
            <a:srgbClr val="B8620A"/>
          </a:solidFill>
          <a:ln/>
        </p:spPr>
      </p:sp>
      <p:pic>
        <p:nvPicPr>
          <p:cNvPr id="6" name="Image 0" descr="preencoded.png">    </p:cNvPr>
          <p:cNvPicPr>
            <a:picLocks noChangeAspect="1"/>
          </p:cNvPicPr>
          <p:nvPr/>
        </p:nvPicPr>
        <p:blipFill>
          <a:blip r:embed="rId1"/>
          <a:stretch>
            <a:fillRect/>
          </a:stretch>
        </p:blipFill>
        <p:spPr>
          <a:xfrm>
            <a:off x="5715000" y="1691640"/>
            <a:ext cx="731520" cy="731520"/>
          </a:xfrm>
          <a:prstGeom prst="rect">
            <a:avLst/>
          </a:prstGeom>
        </p:spPr>
      </p:pic>
      <p:sp>
        <p:nvSpPr>
          <p:cNvPr id="7" name="Text 4"/>
          <p:cNvSpPr/>
          <p:nvPr/>
        </p:nvSpPr>
        <p:spPr>
          <a:xfrm>
            <a:off x="914400" y="3108960"/>
            <a:ext cx="10332720" cy="14630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Which of these five systems would be hardest to live without — and why?</a:t>
            </a:r>
            <a:endParaRPr lang="en-US" sz="3000" dirty="0"/>
          </a:p>
        </p:txBody>
      </p:sp>
      <p:sp>
        <p:nvSpPr>
          <p:cNvPr id="8" name="Text 5"/>
          <p:cNvSpPr/>
          <p:nvPr/>
        </p:nvSpPr>
        <p:spPr>
          <a:xfrm>
            <a:off x="914400" y="4754880"/>
            <a:ext cx="10332720" cy="502920"/>
          </a:xfrm>
          <a:prstGeom prst="rect">
            <a:avLst/>
          </a:prstGeom>
          <a:noFill/>
          <a:ln/>
        </p:spPr>
        <p:txBody>
          <a:bodyPr wrap="square" lIns="0" tIns="0" rIns="0" bIns="0" rtlCol="0" anchor="ctr"/>
          <a:lstStyle/>
          <a:p>
            <a:pPr algn="ctr" indent="0" marL="0">
              <a:buNone/>
            </a:pPr>
            <a:r>
              <a:rPr lang="en-US" sz="1800" dirty="0">
                <a:solidFill>
                  <a:srgbClr val="EDE8DF"/>
                </a:solidFill>
                <a:latin typeface="Courier New" pitchFamily="34" charset="0"/>
                <a:ea typeface="Courier New" pitchFamily="34" charset="-122"/>
                <a:cs typeface="Courier New" pitchFamily="34" charset="-120"/>
              </a:rPr>
              <a:t>Think on your own for 30 seconds  →  Pair and compare  →  Share with the class</a:t>
            </a:r>
            <a:endParaRPr lang="en-US" sz="1800" dirty="0"/>
          </a:p>
        </p:txBody>
      </p:sp>
      <p:sp>
        <p:nvSpPr>
          <p:cNvPr id="9" name="Text 6"/>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EDE8DF"/>
                </a:solidFill>
                <a:latin typeface="Courier New" pitchFamily="34" charset="0"/>
                <a:ea typeface="Courier New" pitchFamily="34" charset="-122"/>
                <a:cs typeface="Courier New" pitchFamily="34" charset="-120"/>
              </a:rPr>
              <a:t>THINK · PAIR · SHARE</a:t>
            </a:r>
            <a:endParaRPr lang="en-US" sz="1300" dirty="0"/>
          </a:p>
        </p:txBody>
      </p:sp>
      <p:sp>
        <p:nvSpPr>
          <p:cNvPr id="10" name="Text 7"/>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11" name="Text 8"/>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5E47"/>
        </a:solidFill>
      </p:bgPr>
    </p:bg>
    <p:spTree>
      <p:nvGrpSpPr>
        <p:cNvPr id="1" name=""/>
        <p:cNvGrpSpPr/>
        <p:nvPr/>
      </p:nvGrpSpPr>
      <p:grpSpPr>
        <a:xfrm>
          <a:off x="0" y="0"/>
          <a:ext cx="0" cy="0"/>
          <a:chOff x="0" y="0"/>
          <a:chExt cx="0" cy="0"/>
        </a:xfrm>
      </p:grpSpPr>
      <p:sp>
        <p:nvSpPr>
          <p:cNvPr id="2" name="Shape 0"/>
          <p:cNvSpPr/>
          <p:nvPr/>
        </p:nvSpPr>
        <p:spPr>
          <a:xfrm>
            <a:off x="5166360" y="1097280"/>
            <a:ext cx="1828800" cy="1828800"/>
          </a:xfrm>
          <a:prstGeom prst="ellipse">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5577840" y="1508760"/>
            <a:ext cx="1005840" cy="1005840"/>
          </a:xfrm>
          <a:prstGeom prst="rect">
            <a:avLst/>
          </a:prstGeom>
        </p:spPr>
      </p:pic>
      <p:sp>
        <p:nvSpPr>
          <p:cNvPr id="4" name="Text 1"/>
          <p:cNvSpPr/>
          <p:nvPr/>
        </p:nvSpPr>
        <p:spPr>
          <a:xfrm>
            <a:off x="914400" y="3291840"/>
            <a:ext cx="1033272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Brain Break</a:t>
            </a:r>
            <a:endParaRPr lang="en-US" sz="4400" dirty="0"/>
          </a:p>
        </p:txBody>
      </p:sp>
      <p:sp>
        <p:nvSpPr>
          <p:cNvPr id="5" name="Text 2"/>
          <p:cNvSpPr/>
          <p:nvPr/>
        </p:nvSpPr>
        <p:spPr>
          <a:xfrm>
            <a:off x="914400" y="4343400"/>
            <a:ext cx="10332720" cy="548640"/>
          </a:xfrm>
          <a:prstGeom prst="rect">
            <a:avLst/>
          </a:prstGeom>
          <a:noFill/>
          <a:ln/>
        </p:spPr>
        <p:txBody>
          <a:bodyPr wrap="square" lIns="0" tIns="0" rIns="0" bIns="0"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Stand up. Stretch. 60 seconds.</a:t>
            </a:r>
            <a:endParaRPr lang="en-US" sz="2200" dirty="0"/>
          </a:p>
        </p:txBody>
      </p:sp>
      <p:sp>
        <p:nvSpPr>
          <p:cNvPr id="6" name="Text 3"/>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1B5E47"/>
                </a:solidFill>
                <a:latin typeface="Courier New" pitchFamily="34" charset="0"/>
                <a:ea typeface="Courier New" pitchFamily="34" charset="-122"/>
                <a:cs typeface="Courier New" pitchFamily="34" charset="-120"/>
              </a:rPr>
              <a:t>APPLICATION OF LEARNING</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Your Turn: Build the Table</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1B5E47"/>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1B5E47"/>
                </a:solidFill>
                <a:latin typeface="Courier New" pitchFamily="34" charset="0"/>
                <a:ea typeface="Courier New" pitchFamily="34" charset="-122"/>
                <a:cs typeface="Courier New" pitchFamily="34" charset="-120"/>
              </a:rPr>
              <a:t>DEVICES: ON</a:t>
            </a:r>
            <a:endParaRPr lang="en-US" sz="1200" dirty="0"/>
          </a:p>
        </p:txBody>
      </p:sp>
      <p:sp>
        <p:nvSpPr>
          <p:cNvPr id="6" name="Shape 4"/>
          <p:cNvSpPr/>
          <p:nvPr/>
        </p:nvSpPr>
        <p:spPr>
          <a:xfrm>
            <a:off x="548640" y="1417320"/>
            <a:ext cx="11064240" cy="685800"/>
          </a:xfrm>
          <a:prstGeom prst="roundRect">
            <a:avLst>
              <a:gd name="adj" fmla="val 10667"/>
            </a:avLst>
          </a:prstGeom>
          <a:solidFill>
            <a:srgbClr val="1B5E47"/>
          </a:solidFill>
          <a:ln/>
        </p:spPr>
      </p:sp>
      <p:pic>
        <p:nvPicPr>
          <p:cNvPr id="7" name="Image 0" descr="preencoded.png">    </p:cNvPr>
          <p:cNvPicPr>
            <a:picLocks noChangeAspect="1"/>
          </p:cNvPicPr>
          <p:nvPr/>
        </p:nvPicPr>
        <p:blipFill>
          <a:blip r:embed="rId1"/>
          <a:stretch>
            <a:fillRect/>
          </a:stretch>
        </p:blipFill>
        <p:spPr>
          <a:xfrm>
            <a:off x="777240" y="1572768"/>
            <a:ext cx="365760" cy="365760"/>
          </a:xfrm>
          <a:prstGeom prst="rect">
            <a:avLst/>
          </a:prstGeom>
        </p:spPr>
      </p:pic>
      <p:sp>
        <p:nvSpPr>
          <p:cNvPr id="8" name="Text 5"/>
          <p:cNvSpPr/>
          <p:nvPr/>
        </p:nvSpPr>
        <p:spPr>
          <a:xfrm>
            <a:off x="1325880" y="1417320"/>
            <a:ext cx="10058400" cy="685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Open your workbook — Section 1</a:t>
            </a:r>
            <a:endParaRPr lang="en-US" sz="2200" dirty="0"/>
          </a:p>
        </p:txBody>
      </p:sp>
      <p:sp>
        <p:nvSpPr>
          <p:cNvPr id="9" name="Shape 6"/>
          <p:cNvSpPr/>
          <p:nvPr/>
        </p:nvSpPr>
        <p:spPr>
          <a:xfrm>
            <a:off x="548640" y="2331720"/>
            <a:ext cx="11064240" cy="1097280"/>
          </a:xfrm>
          <a:prstGeom prst="roundRect">
            <a:avLst>
              <a:gd name="adj" fmla="val 6667"/>
            </a:avLst>
          </a:prstGeom>
          <a:solidFill>
            <a:srgbClr val="FFFFFF"/>
          </a:solidFill>
          <a:ln/>
          <a:effectLst>
            <a:outerShdw sx="100000" sy="100000" kx="0" ky="0" algn="bl" rotWithShape="0" blurRad="76200" dist="25400" dir="2700000">
              <a:srgbClr val="000000">
                <a:alpha val="10000"/>
              </a:srgbClr>
            </a:outerShdw>
          </a:effectLst>
        </p:spPr>
      </p:sp>
      <p:sp>
        <p:nvSpPr>
          <p:cNvPr id="10" name="Shape 7"/>
          <p:cNvSpPr/>
          <p:nvPr/>
        </p:nvSpPr>
        <p:spPr>
          <a:xfrm>
            <a:off x="868680" y="2532888"/>
            <a:ext cx="1874520" cy="457200"/>
          </a:xfrm>
          <a:prstGeom prst="roundRect">
            <a:avLst>
              <a:gd name="adj" fmla="val 14000"/>
            </a:avLst>
          </a:prstGeom>
          <a:solidFill>
            <a:srgbClr val="1B5E47"/>
          </a:solidFill>
          <a:ln/>
        </p:spPr>
      </p:sp>
      <p:sp>
        <p:nvSpPr>
          <p:cNvPr id="11" name="Text 8"/>
          <p:cNvSpPr/>
          <p:nvPr/>
        </p:nvSpPr>
        <p:spPr>
          <a:xfrm>
            <a:off x="868680" y="2532888"/>
            <a:ext cx="1874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FOUNDATION</a:t>
            </a:r>
            <a:endParaRPr lang="en-US" sz="1400" dirty="0"/>
          </a:p>
        </p:txBody>
      </p:sp>
      <p:sp>
        <p:nvSpPr>
          <p:cNvPr id="12" name="Text 9"/>
          <p:cNvSpPr/>
          <p:nvPr/>
        </p:nvSpPr>
        <p:spPr>
          <a:xfrm>
            <a:off x="2971800" y="2423160"/>
            <a:ext cx="8412480" cy="914400"/>
          </a:xfrm>
          <a:prstGeom prst="rect">
            <a:avLst/>
          </a:prstGeom>
          <a:noFill/>
          <a:ln/>
        </p:spPr>
        <p:txBody>
          <a:bodyPr wrap="square" lIns="0" tIns="0" rIns="0" bIns="0" rtlCol="0" anchor="ctr"/>
          <a:lstStyle/>
          <a:p>
            <a:pPr indent="0" marL="0">
              <a:buNone/>
            </a:pPr>
            <a:r>
              <a:rPr lang="en-US" sz="1900" dirty="0">
                <a:solidFill>
                  <a:srgbClr val="12100E"/>
                </a:solidFill>
                <a:latin typeface="Calibri" pitchFamily="34" charset="0"/>
                <a:ea typeface="Calibri" pitchFamily="34" charset="-122"/>
                <a:cs typeface="Calibri" pitchFamily="34" charset="-120"/>
              </a:rPr>
              <a:t>Pick TWO sectors. Fill in: system name, who uses it, what problem it solves.</a:t>
            </a:r>
            <a:endParaRPr lang="en-US" sz="1900" dirty="0"/>
          </a:p>
        </p:txBody>
      </p:sp>
      <p:sp>
        <p:nvSpPr>
          <p:cNvPr id="13" name="Shape 10"/>
          <p:cNvSpPr/>
          <p:nvPr/>
        </p:nvSpPr>
        <p:spPr>
          <a:xfrm>
            <a:off x="548640" y="3611880"/>
            <a:ext cx="11064240" cy="1097280"/>
          </a:xfrm>
          <a:prstGeom prst="roundRect">
            <a:avLst>
              <a:gd name="adj" fmla="val 6667"/>
            </a:avLst>
          </a:prstGeom>
          <a:solidFill>
            <a:srgbClr val="FFFFFF"/>
          </a:solidFill>
          <a:ln/>
          <a:effectLst>
            <a:outerShdw sx="100000" sy="100000" kx="0" ky="0" algn="bl" rotWithShape="0" blurRad="76200" dist="25400" dir="2700000">
              <a:srgbClr val="000000">
                <a:alpha val="10000"/>
              </a:srgbClr>
            </a:outerShdw>
          </a:effectLst>
        </p:spPr>
      </p:sp>
      <p:sp>
        <p:nvSpPr>
          <p:cNvPr id="14" name="Shape 11"/>
          <p:cNvSpPr/>
          <p:nvPr/>
        </p:nvSpPr>
        <p:spPr>
          <a:xfrm>
            <a:off x="868680" y="3813048"/>
            <a:ext cx="1874520" cy="457200"/>
          </a:xfrm>
          <a:prstGeom prst="roundRect">
            <a:avLst>
              <a:gd name="adj" fmla="val 14000"/>
            </a:avLst>
          </a:prstGeom>
          <a:solidFill>
            <a:srgbClr val="B8620A"/>
          </a:solidFill>
          <a:ln/>
        </p:spPr>
      </p:sp>
      <p:sp>
        <p:nvSpPr>
          <p:cNvPr id="15" name="Text 12"/>
          <p:cNvSpPr/>
          <p:nvPr/>
        </p:nvSpPr>
        <p:spPr>
          <a:xfrm>
            <a:off x="868680" y="3813048"/>
            <a:ext cx="1874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DEVELOPING</a:t>
            </a:r>
            <a:endParaRPr lang="en-US" sz="1400" dirty="0"/>
          </a:p>
        </p:txBody>
      </p:sp>
      <p:sp>
        <p:nvSpPr>
          <p:cNvPr id="16" name="Text 13"/>
          <p:cNvSpPr/>
          <p:nvPr/>
        </p:nvSpPr>
        <p:spPr>
          <a:xfrm>
            <a:off x="2971800" y="3703320"/>
            <a:ext cx="8412480" cy="914400"/>
          </a:xfrm>
          <a:prstGeom prst="rect">
            <a:avLst/>
          </a:prstGeom>
          <a:noFill/>
          <a:ln/>
        </p:spPr>
        <p:txBody>
          <a:bodyPr wrap="square" lIns="0" tIns="0" rIns="0" bIns="0" rtlCol="0" anchor="ctr"/>
          <a:lstStyle/>
          <a:p>
            <a:pPr indent="0" marL="0">
              <a:buNone/>
            </a:pPr>
            <a:r>
              <a:rPr lang="en-US" sz="1900" dirty="0">
                <a:solidFill>
                  <a:srgbClr val="12100E"/>
                </a:solidFill>
                <a:latin typeface="Calibri" pitchFamily="34" charset="0"/>
                <a:ea typeface="Calibri" pitchFamily="34" charset="-122"/>
                <a:cs typeface="Calibri" pitchFamily="34" charset="-120"/>
              </a:rPr>
              <a:t>Add the 'one capability' column for both sectors — what can the user now do?</a:t>
            </a:r>
            <a:endParaRPr lang="en-US" sz="1900" dirty="0"/>
          </a:p>
        </p:txBody>
      </p:sp>
      <p:sp>
        <p:nvSpPr>
          <p:cNvPr id="17" name="Shape 14"/>
          <p:cNvSpPr/>
          <p:nvPr/>
        </p:nvSpPr>
        <p:spPr>
          <a:xfrm>
            <a:off x="548640" y="4892040"/>
            <a:ext cx="11064240" cy="1097280"/>
          </a:xfrm>
          <a:prstGeom prst="roundRect">
            <a:avLst>
              <a:gd name="adj" fmla="val 6667"/>
            </a:avLst>
          </a:prstGeom>
          <a:solidFill>
            <a:srgbClr val="FFFFFF"/>
          </a:solidFill>
          <a:ln/>
          <a:effectLst>
            <a:outerShdw sx="100000" sy="100000" kx="0" ky="0" algn="bl" rotWithShape="0" blurRad="76200" dist="25400" dir="2700000">
              <a:srgbClr val="000000">
                <a:alpha val="10000"/>
              </a:srgbClr>
            </a:outerShdw>
          </a:effectLst>
        </p:spPr>
      </p:sp>
      <p:sp>
        <p:nvSpPr>
          <p:cNvPr id="18" name="Shape 15"/>
          <p:cNvSpPr/>
          <p:nvPr/>
        </p:nvSpPr>
        <p:spPr>
          <a:xfrm>
            <a:off x="868680" y="5093208"/>
            <a:ext cx="1874520" cy="457200"/>
          </a:xfrm>
          <a:prstGeom prst="roundRect">
            <a:avLst>
              <a:gd name="adj" fmla="val 14000"/>
            </a:avLst>
          </a:prstGeom>
          <a:solidFill>
            <a:srgbClr val="2B3A8C"/>
          </a:solidFill>
          <a:ln/>
        </p:spPr>
      </p:sp>
      <p:sp>
        <p:nvSpPr>
          <p:cNvPr id="19" name="Text 16"/>
          <p:cNvSpPr/>
          <p:nvPr/>
        </p:nvSpPr>
        <p:spPr>
          <a:xfrm>
            <a:off x="868680" y="5093208"/>
            <a:ext cx="1874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EXTENDING</a:t>
            </a:r>
            <a:endParaRPr lang="en-US" sz="1400" dirty="0"/>
          </a:p>
        </p:txBody>
      </p:sp>
      <p:sp>
        <p:nvSpPr>
          <p:cNvPr id="20" name="Text 17"/>
          <p:cNvSpPr/>
          <p:nvPr/>
        </p:nvSpPr>
        <p:spPr>
          <a:xfrm>
            <a:off x="2971800" y="4983480"/>
            <a:ext cx="8412480" cy="914400"/>
          </a:xfrm>
          <a:prstGeom prst="rect">
            <a:avLst/>
          </a:prstGeom>
          <a:noFill/>
          <a:ln/>
        </p:spPr>
        <p:txBody>
          <a:bodyPr wrap="square" lIns="0" tIns="0" rIns="0" bIns="0" rtlCol="0" anchor="ctr"/>
          <a:lstStyle/>
          <a:p>
            <a:pPr indent="0" marL="0">
              <a:buNone/>
            </a:pPr>
            <a:r>
              <a:rPr lang="en-US" sz="1900" dirty="0">
                <a:solidFill>
                  <a:srgbClr val="12100E"/>
                </a:solidFill>
                <a:latin typeface="Calibri" pitchFamily="34" charset="0"/>
                <a:ea typeface="Calibri" pitchFamily="34" charset="-122"/>
                <a:cs typeface="Calibri" pitchFamily="34" charset="-120"/>
              </a:rPr>
              <a:t>Write a bridge paragraph: link one sector to your own group's emerging topic.</a:t>
            </a:r>
            <a:endParaRPr lang="en-US" sz="1900" dirty="0"/>
          </a:p>
        </p:txBody>
      </p:sp>
      <p:sp>
        <p:nvSpPr>
          <p:cNvPr id="21" name="Text 18"/>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1B5E47"/>
                </a:solidFill>
                <a:latin typeface="Courier New" pitchFamily="34" charset="0"/>
                <a:ea typeface="Courier New" pitchFamily="34" charset="-122"/>
                <a:cs typeface="Courier New" pitchFamily="34" charset="-120"/>
              </a:rPr>
              <a:t>APPLICATION OF LEARNING</a:t>
            </a:r>
            <a:endParaRPr lang="en-US" sz="1300" dirty="0"/>
          </a:p>
        </p:txBody>
      </p:sp>
      <p:sp>
        <p:nvSpPr>
          <p:cNvPr id="22" name="Text 19"/>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23" name="Text 20"/>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B8620A"/>
                </a:solidFill>
                <a:latin typeface="Courier New" pitchFamily="34" charset="0"/>
                <a:ea typeface="Courier New" pitchFamily="34" charset="-122"/>
                <a:cs typeface="Courier New" pitchFamily="34" charset="-120"/>
              </a:rPr>
              <a:t>RESPONSIVE TEACHING — QUICKFIRE RECAP</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Sector → Capability</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6" name="Text 4"/>
          <p:cNvSpPr/>
          <p:nvPr/>
        </p:nvSpPr>
        <p:spPr>
          <a:xfrm>
            <a:off x="548640" y="1325880"/>
            <a:ext cx="10515600" cy="457200"/>
          </a:xfrm>
          <a:prstGeom prst="rect">
            <a:avLst/>
          </a:prstGeom>
          <a:noFill/>
          <a:ln/>
        </p:spPr>
        <p:txBody>
          <a:bodyPr wrap="square" lIns="0" tIns="0" rIns="0" bIns="0" rtlCol="0" anchor="ctr"/>
          <a:lstStyle/>
          <a:p>
            <a:pPr indent="0" marL="0">
              <a:buNone/>
            </a:pPr>
            <a:r>
              <a:rPr lang="en-US" sz="1900" i="1" dirty="0">
                <a:solidFill>
                  <a:srgbClr val="6B6762"/>
                </a:solidFill>
                <a:latin typeface="Calibri" pitchFamily="34" charset="0"/>
                <a:ea typeface="Calibri" pitchFamily="34" charset="-122"/>
                <a:cs typeface="Calibri" pitchFamily="34" charset="-120"/>
              </a:rPr>
              <a:t>Verbal quickfire — no marks, just a quick check we've got the five sectors straight.</a:t>
            </a:r>
            <a:endParaRPr lang="en-US" sz="1900" dirty="0"/>
          </a:p>
        </p:txBody>
      </p:sp>
      <p:sp>
        <p:nvSpPr>
          <p:cNvPr id="7" name="Shape 5"/>
          <p:cNvSpPr/>
          <p:nvPr/>
        </p:nvSpPr>
        <p:spPr>
          <a:xfrm>
            <a:off x="548640" y="1874520"/>
            <a:ext cx="5029200" cy="713232"/>
          </a:xfrm>
          <a:prstGeom prst="roundRect">
            <a:avLst>
              <a:gd name="adj" fmla="val 8974"/>
            </a:avLst>
          </a:prstGeom>
          <a:solidFill>
            <a:srgbClr val="2B3A8C"/>
          </a:solidFill>
          <a:ln/>
        </p:spPr>
      </p:sp>
      <p:sp>
        <p:nvSpPr>
          <p:cNvPr id="8" name="Text 6"/>
          <p:cNvSpPr/>
          <p:nvPr/>
        </p:nvSpPr>
        <p:spPr>
          <a:xfrm>
            <a:off x="548640" y="1874520"/>
            <a:ext cx="5029200" cy="71323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Assistive tech</a:t>
            </a:r>
            <a:endParaRPr lang="en-US" sz="1900" dirty="0"/>
          </a:p>
        </p:txBody>
      </p:sp>
      <p:pic>
        <p:nvPicPr>
          <p:cNvPr id="9" name="Image 0" descr="preencoded.png">    </p:cNvPr>
          <p:cNvPicPr>
            <a:picLocks noChangeAspect="1"/>
          </p:cNvPicPr>
          <p:nvPr/>
        </p:nvPicPr>
        <p:blipFill>
          <a:blip r:embed="rId1"/>
          <a:stretch>
            <a:fillRect/>
          </a:stretch>
        </p:blipFill>
        <p:spPr>
          <a:xfrm>
            <a:off x="5760720" y="2048256"/>
            <a:ext cx="365760" cy="365760"/>
          </a:xfrm>
          <a:prstGeom prst="rect">
            <a:avLst/>
          </a:prstGeom>
        </p:spPr>
      </p:pic>
      <p:sp>
        <p:nvSpPr>
          <p:cNvPr id="10" name="Shape 7"/>
          <p:cNvSpPr/>
          <p:nvPr/>
        </p:nvSpPr>
        <p:spPr>
          <a:xfrm>
            <a:off x="6355080" y="1874520"/>
            <a:ext cx="5257800" cy="713232"/>
          </a:xfrm>
          <a:prstGeom prst="roundRect">
            <a:avLst>
              <a:gd name="adj" fmla="val 8974"/>
            </a:avLst>
          </a:prstGeom>
          <a:solidFill>
            <a:srgbClr val="FFFFFF"/>
          </a:solidFill>
          <a:ln w="12700">
            <a:solidFill>
              <a:srgbClr val="D8D3CA"/>
            </a:solidFill>
            <a:prstDash val="solid"/>
          </a:ln>
        </p:spPr>
      </p:sp>
      <p:sp>
        <p:nvSpPr>
          <p:cNvPr id="11" name="Text 8"/>
          <p:cNvSpPr/>
          <p:nvPr/>
        </p:nvSpPr>
        <p:spPr>
          <a:xfrm>
            <a:off x="6355080" y="1874520"/>
            <a:ext cx="5257800" cy="713232"/>
          </a:xfrm>
          <a:prstGeom prst="rect">
            <a:avLst/>
          </a:prstGeom>
          <a:noFill/>
          <a:ln/>
        </p:spPr>
        <p:txBody>
          <a:bodyPr wrap="square" lIns="0" tIns="0" rIns="0" bIns="0" rtlCol="0" anchor="ctr"/>
          <a:lstStyle/>
          <a:p>
            <a:pPr algn="ctr" indent="0" marL="0">
              <a:buNone/>
            </a:pPr>
            <a:r>
              <a:rPr lang="en-US" sz="1700" i="1" dirty="0">
                <a:solidFill>
                  <a:srgbClr val="6B6762"/>
                </a:solidFill>
                <a:latin typeface="Calibri" pitchFamily="34" charset="0"/>
                <a:ea typeface="Calibri" pitchFamily="34" charset="-122"/>
                <a:cs typeface="Calibri" pitchFamily="34" charset="-120"/>
              </a:rPr>
              <a:t>? (say it before you check your workbook)</a:t>
            </a:r>
            <a:endParaRPr lang="en-US" sz="1700" dirty="0"/>
          </a:p>
        </p:txBody>
      </p:sp>
      <p:sp>
        <p:nvSpPr>
          <p:cNvPr id="12" name="Shape 9"/>
          <p:cNvSpPr/>
          <p:nvPr/>
        </p:nvSpPr>
        <p:spPr>
          <a:xfrm>
            <a:off x="548640" y="2743200"/>
            <a:ext cx="5029200" cy="713232"/>
          </a:xfrm>
          <a:prstGeom prst="roundRect">
            <a:avLst>
              <a:gd name="adj" fmla="val 8974"/>
            </a:avLst>
          </a:prstGeom>
          <a:solidFill>
            <a:srgbClr val="1B5E47"/>
          </a:solidFill>
          <a:ln/>
        </p:spPr>
      </p:sp>
      <p:sp>
        <p:nvSpPr>
          <p:cNvPr id="13" name="Text 10"/>
          <p:cNvSpPr/>
          <p:nvPr/>
        </p:nvSpPr>
        <p:spPr>
          <a:xfrm>
            <a:off x="548640" y="2743200"/>
            <a:ext cx="5029200" cy="71323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Financial services</a:t>
            </a:r>
            <a:endParaRPr lang="en-US" sz="1900" dirty="0"/>
          </a:p>
        </p:txBody>
      </p:sp>
      <p:pic>
        <p:nvPicPr>
          <p:cNvPr id="14" name="Image 1" descr="preencoded.png">    </p:cNvPr>
          <p:cNvPicPr>
            <a:picLocks noChangeAspect="1"/>
          </p:cNvPicPr>
          <p:nvPr/>
        </p:nvPicPr>
        <p:blipFill>
          <a:blip r:embed="rId2"/>
          <a:stretch>
            <a:fillRect/>
          </a:stretch>
        </p:blipFill>
        <p:spPr>
          <a:xfrm>
            <a:off x="5760720" y="2916936"/>
            <a:ext cx="365760" cy="365760"/>
          </a:xfrm>
          <a:prstGeom prst="rect">
            <a:avLst/>
          </a:prstGeom>
        </p:spPr>
      </p:pic>
      <p:sp>
        <p:nvSpPr>
          <p:cNvPr id="15" name="Shape 11"/>
          <p:cNvSpPr/>
          <p:nvPr/>
        </p:nvSpPr>
        <p:spPr>
          <a:xfrm>
            <a:off x="6355080" y="2743200"/>
            <a:ext cx="5257800" cy="713232"/>
          </a:xfrm>
          <a:prstGeom prst="roundRect">
            <a:avLst>
              <a:gd name="adj" fmla="val 8974"/>
            </a:avLst>
          </a:prstGeom>
          <a:solidFill>
            <a:srgbClr val="FFFFFF"/>
          </a:solidFill>
          <a:ln w="12700">
            <a:solidFill>
              <a:srgbClr val="D8D3CA"/>
            </a:solidFill>
            <a:prstDash val="solid"/>
          </a:ln>
        </p:spPr>
      </p:sp>
      <p:sp>
        <p:nvSpPr>
          <p:cNvPr id="16" name="Text 12"/>
          <p:cNvSpPr/>
          <p:nvPr/>
        </p:nvSpPr>
        <p:spPr>
          <a:xfrm>
            <a:off x="6355080" y="2743200"/>
            <a:ext cx="5257800" cy="713232"/>
          </a:xfrm>
          <a:prstGeom prst="rect">
            <a:avLst/>
          </a:prstGeom>
          <a:noFill/>
          <a:ln/>
        </p:spPr>
        <p:txBody>
          <a:bodyPr wrap="square" lIns="0" tIns="0" rIns="0" bIns="0" rtlCol="0" anchor="ctr"/>
          <a:lstStyle/>
          <a:p>
            <a:pPr algn="ctr" indent="0" marL="0">
              <a:buNone/>
            </a:pPr>
            <a:r>
              <a:rPr lang="en-US" sz="1700" i="1" dirty="0">
                <a:solidFill>
                  <a:srgbClr val="6B6762"/>
                </a:solidFill>
                <a:latin typeface="Calibri" pitchFamily="34" charset="0"/>
                <a:ea typeface="Calibri" pitchFamily="34" charset="-122"/>
                <a:cs typeface="Calibri" pitchFamily="34" charset="-120"/>
              </a:rPr>
              <a:t>? (say it before you check your workbook)</a:t>
            </a:r>
            <a:endParaRPr lang="en-US" sz="1700" dirty="0"/>
          </a:p>
        </p:txBody>
      </p:sp>
      <p:sp>
        <p:nvSpPr>
          <p:cNvPr id="17" name="Shape 13"/>
          <p:cNvSpPr/>
          <p:nvPr/>
        </p:nvSpPr>
        <p:spPr>
          <a:xfrm>
            <a:off x="548640" y="3611880"/>
            <a:ext cx="5029200" cy="713232"/>
          </a:xfrm>
          <a:prstGeom prst="roundRect">
            <a:avLst>
              <a:gd name="adj" fmla="val 8974"/>
            </a:avLst>
          </a:prstGeom>
          <a:solidFill>
            <a:srgbClr val="0B6E73"/>
          </a:solidFill>
          <a:ln/>
        </p:spPr>
      </p:sp>
      <p:sp>
        <p:nvSpPr>
          <p:cNvPr id="18" name="Text 14"/>
          <p:cNvSpPr/>
          <p:nvPr/>
        </p:nvSpPr>
        <p:spPr>
          <a:xfrm>
            <a:off x="548640" y="3611880"/>
            <a:ext cx="5029200" cy="71323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GPS / location</a:t>
            </a:r>
            <a:endParaRPr lang="en-US" sz="1900" dirty="0"/>
          </a:p>
        </p:txBody>
      </p:sp>
      <p:pic>
        <p:nvPicPr>
          <p:cNvPr id="19" name="Image 2" descr="preencoded.png">    </p:cNvPr>
          <p:cNvPicPr>
            <a:picLocks noChangeAspect="1"/>
          </p:cNvPicPr>
          <p:nvPr/>
        </p:nvPicPr>
        <p:blipFill>
          <a:blip r:embed="rId3"/>
          <a:stretch>
            <a:fillRect/>
          </a:stretch>
        </p:blipFill>
        <p:spPr>
          <a:xfrm>
            <a:off x="5760720" y="3785616"/>
            <a:ext cx="365760" cy="365760"/>
          </a:xfrm>
          <a:prstGeom prst="rect">
            <a:avLst/>
          </a:prstGeom>
        </p:spPr>
      </p:pic>
      <p:sp>
        <p:nvSpPr>
          <p:cNvPr id="20" name="Shape 15"/>
          <p:cNvSpPr/>
          <p:nvPr/>
        </p:nvSpPr>
        <p:spPr>
          <a:xfrm>
            <a:off x="6355080" y="3611880"/>
            <a:ext cx="5257800" cy="713232"/>
          </a:xfrm>
          <a:prstGeom prst="roundRect">
            <a:avLst>
              <a:gd name="adj" fmla="val 8974"/>
            </a:avLst>
          </a:prstGeom>
          <a:solidFill>
            <a:srgbClr val="FFFFFF"/>
          </a:solidFill>
          <a:ln w="12700">
            <a:solidFill>
              <a:srgbClr val="D8D3CA"/>
            </a:solidFill>
            <a:prstDash val="solid"/>
          </a:ln>
        </p:spPr>
      </p:sp>
      <p:sp>
        <p:nvSpPr>
          <p:cNvPr id="21" name="Text 16"/>
          <p:cNvSpPr/>
          <p:nvPr/>
        </p:nvSpPr>
        <p:spPr>
          <a:xfrm>
            <a:off x="6355080" y="3611880"/>
            <a:ext cx="5257800" cy="713232"/>
          </a:xfrm>
          <a:prstGeom prst="rect">
            <a:avLst/>
          </a:prstGeom>
          <a:noFill/>
          <a:ln/>
        </p:spPr>
        <p:txBody>
          <a:bodyPr wrap="square" lIns="0" tIns="0" rIns="0" bIns="0" rtlCol="0" anchor="ctr"/>
          <a:lstStyle/>
          <a:p>
            <a:pPr algn="ctr" indent="0" marL="0">
              <a:buNone/>
            </a:pPr>
            <a:r>
              <a:rPr lang="en-US" sz="1700" i="1" dirty="0">
                <a:solidFill>
                  <a:srgbClr val="6B6762"/>
                </a:solidFill>
                <a:latin typeface="Calibri" pitchFamily="34" charset="0"/>
                <a:ea typeface="Calibri" pitchFamily="34" charset="-122"/>
                <a:cs typeface="Calibri" pitchFamily="34" charset="-120"/>
              </a:rPr>
              <a:t>? (say it before you check your workbook)</a:t>
            </a:r>
            <a:endParaRPr lang="en-US" sz="1700" dirty="0"/>
          </a:p>
        </p:txBody>
      </p:sp>
      <p:sp>
        <p:nvSpPr>
          <p:cNvPr id="22" name="Shape 17"/>
          <p:cNvSpPr/>
          <p:nvPr/>
        </p:nvSpPr>
        <p:spPr>
          <a:xfrm>
            <a:off x="548640" y="4480560"/>
            <a:ext cx="5029200" cy="713232"/>
          </a:xfrm>
          <a:prstGeom prst="roundRect">
            <a:avLst>
              <a:gd name="adj" fmla="val 8974"/>
            </a:avLst>
          </a:prstGeom>
          <a:solidFill>
            <a:srgbClr val="B8620A"/>
          </a:solidFill>
          <a:ln/>
        </p:spPr>
      </p:sp>
      <p:sp>
        <p:nvSpPr>
          <p:cNvPr id="23" name="Text 18"/>
          <p:cNvSpPr/>
          <p:nvPr/>
        </p:nvSpPr>
        <p:spPr>
          <a:xfrm>
            <a:off x="548640" y="4480560"/>
            <a:ext cx="5029200" cy="71323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Robotics</a:t>
            </a:r>
            <a:endParaRPr lang="en-US" sz="1900" dirty="0"/>
          </a:p>
        </p:txBody>
      </p:sp>
      <p:pic>
        <p:nvPicPr>
          <p:cNvPr id="24" name="Image 3" descr="preencoded.png">    </p:cNvPr>
          <p:cNvPicPr>
            <a:picLocks noChangeAspect="1"/>
          </p:cNvPicPr>
          <p:nvPr/>
        </p:nvPicPr>
        <p:blipFill>
          <a:blip r:embed="rId4"/>
          <a:stretch>
            <a:fillRect/>
          </a:stretch>
        </p:blipFill>
        <p:spPr>
          <a:xfrm>
            <a:off x="5760720" y="4654296"/>
            <a:ext cx="365760" cy="365760"/>
          </a:xfrm>
          <a:prstGeom prst="rect">
            <a:avLst/>
          </a:prstGeom>
        </p:spPr>
      </p:pic>
      <p:sp>
        <p:nvSpPr>
          <p:cNvPr id="25" name="Shape 19"/>
          <p:cNvSpPr/>
          <p:nvPr/>
        </p:nvSpPr>
        <p:spPr>
          <a:xfrm>
            <a:off x="6355080" y="4480560"/>
            <a:ext cx="5257800" cy="713232"/>
          </a:xfrm>
          <a:prstGeom prst="roundRect">
            <a:avLst>
              <a:gd name="adj" fmla="val 8974"/>
            </a:avLst>
          </a:prstGeom>
          <a:solidFill>
            <a:srgbClr val="FFFFFF"/>
          </a:solidFill>
          <a:ln w="12700">
            <a:solidFill>
              <a:srgbClr val="D8D3CA"/>
            </a:solidFill>
            <a:prstDash val="solid"/>
          </a:ln>
        </p:spPr>
      </p:sp>
      <p:sp>
        <p:nvSpPr>
          <p:cNvPr id="26" name="Text 20"/>
          <p:cNvSpPr/>
          <p:nvPr/>
        </p:nvSpPr>
        <p:spPr>
          <a:xfrm>
            <a:off x="6355080" y="4480560"/>
            <a:ext cx="5257800" cy="713232"/>
          </a:xfrm>
          <a:prstGeom prst="rect">
            <a:avLst/>
          </a:prstGeom>
          <a:noFill/>
          <a:ln/>
        </p:spPr>
        <p:txBody>
          <a:bodyPr wrap="square" lIns="0" tIns="0" rIns="0" bIns="0" rtlCol="0" anchor="ctr"/>
          <a:lstStyle/>
          <a:p>
            <a:pPr algn="ctr" indent="0" marL="0">
              <a:buNone/>
            </a:pPr>
            <a:r>
              <a:rPr lang="en-US" sz="1700" i="1" dirty="0">
                <a:solidFill>
                  <a:srgbClr val="6B6762"/>
                </a:solidFill>
                <a:latin typeface="Calibri" pitchFamily="34" charset="0"/>
                <a:ea typeface="Calibri" pitchFamily="34" charset="-122"/>
                <a:cs typeface="Calibri" pitchFamily="34" charset="-120"/>
              </a:rPr>
              <a:t>? (say it before you check your workbook)</a:t>
            </a:r>
            <a:endParaRPr lang="en-US" sz="1700" dirty="0"/>
          </a:p>
        </p:txBody>
      </p:sp>
      <p:sp>
        <p:nvSpPr>
          <p:cNvPr id="27" name="Shape 21"/>
          <p:cNvSpPr/>
          <p:nvPr/>
        </p:nvSpPr>
        <p:spPr>
          <a:xfrm>
            <a:off x="548640" y="5349240"/>
            <a:ext cx="5029200" cy="713232"/>
          </a:xfrm>
          <a:prstGeom prst="roundRect">
            <a:avLst>
              <a:gd name="adj" fmla="val 8974"/>
            </a:avLst>
          </a:prstGeom>
          <a:solidFill>
            <a:srgbClr val="8C1F28"/>
          </a:solidFill>
          <a:ln/>
        </p:spPr>
      </p:sp>
      <p:sp>
        <p:nvSpPr>
          <p:cNvPr id="28" name="Text 22"/>
          <p:cNvSpPr/>
          <p:nvPr/>
        </p:nvSpPr>
        <p:spPr>
          <a:xfrm>
            <a:off x="548640" y="5349240"/>
            <a:ext cx="5029200" cy="71323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Traffic management</a:t>
            </a:r>
            <a:endParaRPr lang="en-US" sz="1900" dirty="0"/>
          </a:p>
        </p:txBody>
      </p:sp>
      <p:pic>
        <p:nvPicPr>
          <p:cNvPr id="29" name="Image 4" descr="preencoded.png">    </p:cNvPr>
          <p:cNvPicPr>
            <a:picLocks noChangeAspect="1"/>
          </p:cNvPicPr>
          <p:nvPr/>
        </p:nvPicPr>
        <p:blipFill>
          <a:blip r:embed="rId5"/>
          <a:stretch>
            <a:fillRect/>
          </a:stretch>
        </p:blipFill>
        <p:spPr>
          <a:xfrm>
            <a:off x="5760720" y="5522976"/>
            <a:ext cx="365760" cy="365760"/>
          </a:xfrm>
          <a:prstGeom prst="rect">
            <a:avLst/>
          </a:prstGeom>
        </p:spPr>
      </p:pic>
      <p:sp>
        <p:nvSpPr>
          <p:cNvPr id="30" name="Shape 23"/>
          <p:cNvSpPr/>
          <p:nvPr/>
        </p:nvSpPr>
        <p:spPr>
          <a:xfrm>
            <a:off x="6355080" y="5349240"/>
            <a:ext cx="5257800" cy="713232"/>
          </a:xfrm>
          <a:prstGeom prst="roundRect">
            <a:avLst>
              <a:gd name="adj" fmla="val 8974"/>
            </a:avLst>
          </a:prstGeom>
          <a:solidFill>
            <a:srgbClr val="FFFFFF"/>
          </a:solidFill>
          <a:ln w="12700">
            <a:solidFill>
              <a:srgbClr val="D8D3CA"/>
            </a:solidFill>
            <a:prstDash val="solid"/>
          </a:ln>
        </p:spPr>
      </p:sp>
      <p:sp>
        <p:nvSpPr>
          <p:cNvPr id="31" name="Text 24"/>
          <p:cNvSpPr/>
          <p:nvPr/>
        </p:nvSpPr>
        <p:spPr>
          <a:xfrm>
            <a:off x="6355080" y="5349240"/>
            <a:ext cx="5257800" cy="713232"/>
          </a:xfrm>
          <a:prstGeom prst="rect">
            <a:avLst/>
          </a:prstGeom>
          <a:noFill/>
          <a:ln/>
        </p:spPr>
        <p:txBody>
          <a:bodyPr wrap="square" lIns="0" tIns="0" rIns="0" bIns="0" rtlCol="0" anchor="ctr"/>
          <a:lstStyle/>
          <a:p>
            <a:pPr algn="ctr" indent="0" marL="0">
              <a:buNone/>
            </a:pPr>
            <a:r>
              <a:rPr lang="en-US" sz="1700" i="1" dirty="0">
                <a:solidFill>
                  <a:srgbClr val="6B6762"/>
                </a:solidFill>
                <a:latin typeface="Calibri" pitchFamily="34" charset="0"/>
                <a:ea typeface="Calibri" pitchFamily="34" charset="-122"/>
                <a:cs typeface="Calibri" pitchFamily="34" charset="-120"/>
              </a:rPr>
              <a:t>? (say it before you check your workbook)</a:t>
            </a:r>
            <a:endParaRPr lang="en-US" sz="1700" dirty="0"/>
          </a:p>
        </p:txBody>
      </p:sp>
      <p:sp>
        <p:nvSpPr>
          <p:cNvPr id="32" name="Text 25"/>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B8620A"/>
                </a:solidFill>
                <a:latin typeface="Courier New" pitchFamily="34" charset="0"/>
                <a:ea typeface="Courier New" pitchFamily="34" charset="-122"/>
                <a:cs typeface="Courier New" pitchFamily="34" charset="-120"/>
              </a:rPr>
              <a:t>QUICKFIRE RECAP</a:t>
            </a:r>
            <a:endParaRPr lang="en-US" sz="1300" dirty="0"/>
          </a:p>
        </p:txBody>
      </p:sp>
      <p:sp>
        <p:nvSpPr>
          <p:cNvPr id="33" name="Text 26"/>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34" name="Text 27"/>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C2A28"/>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FFD9A0"/>
                </a:solidFill>
                <a:latin typeface="Courier New" pitchFamily="34" charset="0"/>
                <a:ea typeface="Courier New" pitchFamily="34" charset="-122"/>
                <a:cs typeface="Courier New" pitchFamily="34" charset="-120"/>
              </a:rPr>
              <a:t>ASSESSMENT CHECK-IN</a:t>
            </a:r>
            <a:endParaRPr lang="en-US" sz="1400" dirty="0"/>
          </a:p>
        </p:txBody>
      </p:sp>
      <p:sp>
        <p:nvSpPr>
          <p:cNvPr id="3" name="Shape 1"/>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4" name="Text 2"/>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pic>
        <p:nvPicPr>
          <p:cNvPr id="5" name="Image 0" descr="preencoded.png">    </p:cNvPr>
          <p:cNvPicPr>
            <a:picLocks noChangeAspect="1"/>
          </p:cNvPicPr>
          <p:nvPr/>
        </p:nvPicPr>
        <p:blipFill>
          <a:blip r:embed="rId1"/>
          <a:stretch>
            <a:fillRect/>
          </a:stretch>
        </p:blipFill>
        <p:spPr>
          <a:xfrm>
            <a:off x="548640" y="1188720"/>
            <a:ext cx="777240" cy="777240"/>
          </a:xfrm>
          <a:prstGeom prst="rect">
            <a:avLst/>
          </a:prstGeom>
        </p:spPr>
      </p:pic>
      <p:sp>
        <p:nvSpPr>
          <p:cNvPr id="6" name="Text 3"/>
          <p:cNvSpPr/>
          <p:nvPr/>
        </p:nvSpPr>
        <p:spPr>
          <a:xfrm>
            <a:off x="1508760" y="1234440"/>
            <a:ext cx="914400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Outcome 1 — Group Milestone 1</a:t>
            </a:r>
            <a:endParaRPr lang="en-US" sz="2800" dirty="0"/>
          </a:p>
        </p:txBody>
      </p:sp>
      <p:sp>
        <p:nvSpPr>
          <p:cNvPr id="7" name="Shape 4"/>
          <p:cNvSpPr/>
          <p:nvPr/>
        </p:nvSpPr>
        <p:spPr>
          <a:xfrm>
            <a:off x="548640" y="2240280"/>
            <a:ext cx="11064240" cy="914400"/>
          </a:xfrm>
          <a:prstGeom prst="roundRect">
            <a:avLst>
              <a:gd name="adj" fmla="val 10000"/>
            </a:avLst>
          </a:prstGeom>
          <a:solidFill>
            <a:srgbClr val="B8620A"/>
          </a:solidFill>
          <a:ln/>
        </p:spPr>
      </p:sp>
      <p:sp>
        <p:nvSpPr>
          <p:cNvPr id="8" name="Text 5"/>
          <p:cNvSpPr/>
          <p:nvPr/>
        </p:nvSpPr>
        <p:spPr>
          <a:xfrm>
            <a:off x="868680" y="2240280"/>
            <a:ext cx="10424160" cy="9144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Due: Week 4, D4.2 — Problem statement + project plan (Gantt chart)</a:t>
            </a:r>
            <a:endParaRPr lang="en-US" sz="2200" dirty="0"/>
          </a:p>
        </p:txBody>
      </p:sp>
      <p:sp>
        <p:nvSpPr>
          <p:cNvPr id="9" name="Text 6"/>
          <p:cNvSpPr/>
          <p:nvPr/>
        </p:nvSpPr>
        <p:spPr>
          <a:xfrm>
            <a:off x="548640" y="3520440"/>
            <a:ext cx="11064240" cy="594360"/>
          </a:xfrm>
          <a:prstGeom prst="rect">
            <a:avLst/>
          </a:prstGeom>
          <a:noFill/>
          <a:ln/>
        </p:spPr>
        <p:txBody>
          <a:bodyPr wrap="square" lIns="0" tIns="0" rIns="0" bIns="0" rtlCol="0" anchor="ctr"/>
          <a:lstStyle/>
          <a:p>
            <a:pPr indent="0" marL="0">
              <a:buNone/>
            </a:pPr>
            <a:r>
              <a:rPr lang="en-US" sz="2100" dirty="0">
                <a:solidFill>
                  <a:srgbClr val="FFFFFF"/>
                </a:solidFill>
                <a:latin typeface="Calibri" pitchFamily="34" charset="0"/>
                <a:ea typeface="Calibri" pitchFamily="34" charset="-122"/>
                <a:cs typeface="Calibri" pitchFamily="34" charset="-120"/>
              </a:rPr>
              <a:t>Today is Week 1. You are still WIDENING your view, not locking in your topic.</a:t>
            </a:r>
            <a:endParaRPr lang="en-US" sz="2100" dirty="0"/>
          </a:p>
        </p:txBody>
      </p:sp>
      <p:sp>
        <p:nvSpPr>
          <p:cNvPr id="10" name="Text 7"/>
          <p:cNvSpPr/>
          <p:nvPr/>
        </p:nvSpPr>
        <p:spPr>
          <a:xfrm>
            <a:off x="548640" y="4251960"/>
            <a:ext cx="11064240" cy="1005840"/>
          </a:xfrm>
          <a:prstGeom prst="rect">
            <a:avLst/>
          </a:prstGeom>
          <a:noFill/>
          <a:ln/>
        </p:spPr>
        <p:txBody>
          <a:bodyPr wrap="square" lIns="0" tIns="0" rIns="0" bIns="0" rtlCol="0" anchor="ctr"/>
          <a:lstStyle/>
          <a:p>
            <a:pPr indent="0" marL="0">
              <a:buNone/>
            </a:pPr>
            <a:r>
              <a:rPr lang="en-US" sz="2000" i="1" dirty="0">
                <a:solidFill>
                  <a:srgbClr val="EDE8DF"/>
                </a:solidFill>
                <a:latin typeface="Calibri" pitchFamily="34" charset="0"/>
                <a:ea typeface="Calibri" pitchFamily="34" charset="-122"/>
                <a:cs typeface="Calibri" pitchFamily="34" charset="-120"/>
              </a:rPr>
              <a:t>Use today's sector examples as fuel — they should make your group's eventual topic sharper, not pressure you to decide right now.</a:t>
            </a:r>
            <a:endParaRPr lang="en-US" sz="2000" dirty="0"/>
          </a:p>
        </p:txBody>
      </p:sp>
      <p:sp>
        <p:nvSpPr>
          <p:cNvPr id="11" name="Text 8"/>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FFD9A0"/>
                </a:solidFill>
                <a:latin typeface="Courier New" pitchFamily="34" charset="0"/>
                <a:ea typeface="Courier New" pitchFamily="34" charset="-122"/>
                <a:cs typeface="Courier New" pitchFamily="34" charset="-120"/>
              </a:rPr>
              <a:t>ASSESSMENT CHECK-IN</a:t>
            </a:r>
            <a:endParaRPr lang="en-US" sz="1300" dirty="0"/>
          </a:p>
        </p:txBody>
      </p:sp>
      <p:sp>
        <p:nvSpPr>
          <p:cNvPr id="12" name="Text 9"/>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13" name="Text 10"/>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2B3A8C"/>
                </a:solidFill>
                <a:latin typeface="Courier New" pitchFamily="34" charset="0"/>
                <a:ea typeface="Courier New" pitchFamily="34" charset="-122"/>
                <a:cs typeface="Courier New" pitchFamily="34" charset="-120"/>
              </a:rPr>
              <a:t>NEXT STEPS</a:t>
            </a:r>
            <a:endParaRPr lang="en-US" sz="1400" dirty="0"/>
          </a:p>
        </p:txBody>
      </p:sp>
      <p:sp>
        <p:nvSpPr>
          <p:cNvPr id="3" name="Text 1"/>
          <p:cNvSpPr/>
          <p:nvPr/>
        </p:nvSpPr>
        <p:spPr>
          <a:xfrm>
            <a:off x="548640" y="502920"/>
            <a:ext cx="8686800" cy="868680"/>
          </a:xfrm>
          <a:prstGeom prst="rect">
            <a:avLst/>
          </a:prstGeom>
          <a:noFill/>
          <a:ln/>
        </p:spPr>
        <p:txBody>
          <a:bodyPr wrap="square" lIns="0" tIns="0" rIns="0" bIns="0" rtlCol="0" anchor="t"/>
          <a:lstStyle/>
          <a:p>
            <a:pPr algn="l" indent="0" marL="0">
              <a:buNone/>
            </a:pPr>
            <a:r>
              <a:rPr lang="en-US" sz="3400" b="1" dirty="0">
                <a:solidFill>
                  <a:srgbClr val="12100E"/>
                </a:solidFill>
                <a:latin typeface="Cambria" pitchFamily="34" charset="0"/>
                <a:ea typeface="Cambria" pitchFamily="34" charset="-122"/>
                <a:cs typeface="Cambria" pitchFamily="34" charset="-120"/>
              </a:rPr>
              <a:t>Where We're Headed Next</a:t>
            </a:r>
            <a:endParaRPr lang="en-US" sz="3400" dirty="0"/>
          </a:p>
        </p:txBody>
      </p:sp>
      <p:sp>
        <p:nvSpPr>
          <p:cNvPr id="4" name="Shape 2"/>
          <p:cNvSpPr/>
          <p:nvPr/>
        </p:nvSpPr>
        <p:spPr>
          <a:xfrm>
            <a:off x="10012680" y="256032"/>
            <a:ext cx="1874520" cy="384048"/>
          </a:xfrm>
          <a:prstGeom prst="roundRect">
            <a:avLst>
              <a:gd name="adj" fmla="val 19048"/>
            </a:avLst>
          </a:prstGeom>
          <a:solidFill>
            <a:srgbClr val="FFFFFF"/>
          </a:solidFill>
          <a:ln w="15875">
            <a:solidFill>
              <a:srgbClr val="8C1F28"/>
            </a:solidFill>
            <a:prstDash val="solid"/>
          </a:ln>
        </p:spPr>
      </p:sp>
      <p:sp>
        <p:nvSpPr>
          <p:cNvPr id="5" name="Text 3"/>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8C1F28"/>
                </a:solidFill>
                <a:latin typeface="Courier New" pitchFamily="34" charset="0"/>
                <a:ea typeface="Courier New" pitchFamily="34" charset="-122"/>
                <a:cs typeface="Courier New" pitchFamily="34" charset="-120"/>
              </a:rPr>
              <a:t>DEVICES: OFF</a:t>
            </a:r>
            <a:endParaRPr lang="en-US" sz="1200" dirty="0"/>
          </a:p>
        </p:txBody>
      </p:sp>
      <p:sp>
        <p:nvSpPr>
          <p:cNvPr id="6" name="Shape 4"/>
          <p:cNvSpPr/>
          <p:nvPr/>
        </p:nvSpPr>
        <p:spPr>
          <a:xfrm>
            <a:off x="548640" y="1417320"/>
            <a:ext cx="11064240" cy="1371600"/>
          </a:xfrm>
          <a:prstGeom prst="roundRect">
            <a:avLst>
              <a:gd name="adj" fmla="val 6667"/>
            </a:avLst>
          </a:prstGeom>
          <a:solidFill>
            <a:srgbClr val="FFFFFF"/>
          </a:solidFill>
          <a:ln/>
          <a:effectLst>
            <a:outerShdw sx="100000" sy="100000" kx="0" ky="0" algn="bl" rotWithShape="0" blurRad="76200" dist="25400" dir="2700000">
              <a:srgbClr val="000000">
                <a:alpha val="10000"/>
              </a:srgbClr>
            </a:outerShdw>
          </a:effectLst>
        </p:spPr>
      </p:sp>
      <p:sp>
        <p:nvSpPr>
          <p:cNvPr id="7" name="Text 5"/>
          <p:cNvSpPr/>
          <p:nvPr/>
        </p:nvSpPr>
        <p:spPr>
          <a:xfrm>
            <a:off x="868680" y="1554480"/>
            <a:ext cx="10424160" cy="411480"/>
          </a:xfrm>
          <a:prstGeom prst="rect">
            <a:avLst/>
          </a:prstGeom>
          <a:noFill/>
          <a:ln/>
        </p:spPr>
        <p:txBody>
          <a:bodyPr wrap="square" lIns="0" tIns="0" rIns="0" bIns="0" rtlCol="0" anchor="ctr"/>
          <a:lstStyle/>
          <a:p>
            <a:pPr indent="0" marL="0">
              <a:buNone/>
            </a:pPr>
            <a:r>
              <a:rPr lang="en-US" sz="1500" b="1" spc="150" kern="0" dirty="0">
                <a:solidFill>
                  <a:srgbClr val="2B3A8C"/>
                </a:solidFill>
                <a:latin typeface="Courier New" pitchFamily="34" charset="0"/>
                <a:ea typeface="Courier New" pitchFamily="34" charset="-122"/>
                <a:cs typeface="Courier New" pitchFamily="34" charset="-120"/>
              </a:rPr>
              <a:t>NEXT LESSON — D2.1</a:t>
            </a:r>
            <a:endParaRPr lang="en-US" sz="1500" dirty="0"/>
          </a:p>
        </p:txBody>
      </p:sp>
      <p:sp>
        <p:nvSpPr>
          <p:cNvPr id="8" name="Text 6"/>
          <p:cNvSpPr/>
          <p:nvPr/>
        </p:nvSpPr>
        <p:spPr>
          <a:xfrm>
            <a:off x="868680" y="1965960"/>
            <a:ext cx="10424160" cy="731520"/>
          </a:xfrm>
          <a:prstGeom prst="rect">
            <a:avLst/>
          </a:prstGeom>
          <a:noFill/>
          <a:ln/>
        </p:spPr>
        <p:txBody>
          <a:bodyPr wrap="square" lIns="0" tIns="0" rIns="0" bIns="0" rtlCol="0" anchor="ctr"/>
          <a:lstStyle/>
          <a:p>
            <a:pPr indent="0" marL="0">
              <a:buNone/>
            </a:pPr>
            <a:r>
              <a:rPr lang="en-US" sz="2100" dirty="0">
                <a:solidFill>
                  <a:srgbClr val="12100E"/>
                </a:solidFill>
                <a:latin typeface="Calibri" pitchFamily="34" charset="0"/>
                <a:ea typeface="Calibri" pitchFamily="34" charset="-122"/>
                <a:cs typeface="Calibri" pitchFamily="34" charset="-120"/>
              </a:rPr>
              <a:t>Impact of Emerging Technologies — automation, cyberbullying, productivity, and economic effects.</a:t>
            </a:r>
            <a:endParaRPr lang="en-US" sz="2100" dirty="0"/>
          </a:p>
        </p:txBody>
      </p:sp>
      <p:sp>
        <p:nvSpPr>
          <p:cNvPr id="9" name="Shape 7"/>
          <p:cNvSpPr/>
          <p:nvPr/>
        </p:nvSpPr>
        <p:spPr>
          <a:xfrm>
            <a:off x="548640" y="3017520"/>
            <a:ext cx="11064240" cy="1371600"/>
          </a:xfrm>
          <a:prstGeom prst="roundRect">
            <a:avLst>
              <a:gd name="adj" fmla="val 6667"/>
            </a:avLst>
          </a:prstGeom>
          <a:solidFill>
            <a:srgbClr val="EDE8DF"/>
          </a:solidFill>
          <a:ln/>
        </p:spPr>
      </p:sp>
      <p:sp>
        <p:nvSpPr>
          <p:cNvPr id="10" name="Text 8"/>
          <p:cNvSpPr/>
          <p:nvPr/>
        </p:nvSpPr>
        <p:spPr>
          <a:xfrm>
            <a:off x="868680" y="3154680"/>
            <a:ext cx="10424160" cy="411480"/>
          </a:xfrm>
          <a:prstGeom prst="rect">
            <a:avLst/>
          </a:prstGeom>
          <a:noFill/>
          <a:ln/>
        </p:spPr>
        <p:txBody>
          <a:bodyPr wrap="square" lIns="0" tIns="0" rIns="0" bIns="0" rtlCol="0" anchor="ctr"/>
          <a:lstStyle/>
          <a:p>
            <a:pPr indent="0" marL="0">
              <a:buNone/>
            </a:pPr>
            <a:r>
              <a:rPr lang="en-US" sz="1500" b="1" spc="150" kern="0" dirty="0">
                <a:solidFill>
                  <a:srgbClr val="B8620A"/>
                </a:solidFill>
                <a:latin typeface="Courier New" pitchFamily="34" charset="0"/>
                <a:ea typeface="Courier New" pitchFamily="34" charset="-122"/>
                <a:cs typeface="Courier New" pitchFamily="34" charset="-120"/>
              </a:rPr>
              <a:t>HOMEWORK</a:t>
            </a:r>
            <a:endParaRPr lang="en-US" sz="1500" dirty="0"/>
          </a:p>
        </p:txBody>
      </p:sp>
      <p:sp>
        <p:nvSpPr>
          <p:cNvPr id="11" name="Text 9"/>
          <p:cNvSpPr/>
          <p:nvPr/>
        </p:nvSpPr>
        <p:spPr>
          <a:xfrm>
            <a:off x="868680" y="3566160"/>
            <a:ext cx="10424160" cy="777240"/>
          </a:xfrm>
          <a:prstGeom prst="rect">
            <a:avLst/>
          </a:prstGeom>
          <a:noFill/>
          <a:ln/>
        </p:spPr>
        <p:txBody>
          <a:bodyPr wrap="square" lIns="0" tIns="0" rIns="0" bIns="0" rtlCol="0" anchor="ctr"/>
          <a:lstStyle/>
          <a:p>
            <a:pPr indent="0" marL="0">
              <a:buNone/>
            </a:pPr>
            <a:r>
              <a:rPr lang="en-US" sz="2000" dirty="0">
                <a:solidFill>
                  <a:srgbClr val="12100E"/>
                </a:solidFill>
                <a:latin typeface="Calibri" pitchFamily="34" charset="0"/>
                <a:ea typeface="Calibri" pitchFamily="34" charset="-122"/>
                <a:cs typeface="Calibri" pitchFamily="34" charset="-120"/>
              </a:rPr>
              <a:t>Bring one more real-world digital system example — any sector — related to your group's tentative topic. Be ready to share it at the start of next lesson.</a:t>
            </a:r>
            <a:endParaRPr lang="en-US" sz="2000" dirty="0"/>
          </a:p>
        </p:txBody>
      </p:sp>
      <p:sp>
        <p:nvSpPr>
          <p:cNvPr id="12" name="Text 10"/>
          <p:cNvSpPr/>
          <p:nvPr/>
        </p:nvSpPr>
        <p:spPr>
          <a:xfrm>
            <a:off x="548640" y="4617720"/>
            <a:ext cx="11064240" cy="502920"/>
          </a:xfrm>
          <a:prstGeom prst="rect">
            <a:avLst/>
          </a:prstGeom>
          <a:noFill/>
          <a:ln/>
        </p:spPr>
        <p:txBody>
          <a:bodyPr wrap="square" lIns="0" tIns="0" rIns="0" bIns="0" rtlCol="0" anchor="ctr"/>
          <a:lstStyle/>
          <a:p>
            <a:pPr indent="0" marL="0">
              <a:buNone/>
            </a:pPr>
            <a:r>
              <a:rPr lang="en-US" sz="1800" i="1" dirty="0">
                <a:solidFill>
                  <a:srgbClr val="6B6762"/>
                </a:solidFill>
                <a:latin typeface="Calibri" pitchFamily="34" charset="0"/>
                <a:ea typeface="Calibri" pitchFamily="34" charset="-122"/>
                <a:cs typeface="Calibri" pitchFamily="34" charset="-120"/>
              </a:rPr>
              <a:t>Need help? Ask your group, ask Mr Smith, or check the lesson website for today's notes.</a:t>
            </a:r>
            <a:endParaRPr lang="en-US" sz="1800" dirty="0"/>
          </a:p>
        </p:txBody>
      </p:sp>
      <p:sp>
        <p:nvSpPr>
          <p:cNvPr id="13" name="Text 11"/>
          <p:cNvSpPr/>
          <p:nvPr/>
        </p:nvSpPr>
        <p:spPr>
          <a:xfrm>
            <a:off x="457200" y="6355080"/>
            <a:ext cx="3657600" cy="320040"/>
          </a:xfrm>
          <a:prstGeom prst="rect">
            <a:avLst/>
          </a:prstGeom>
          <a:noFill/>
          <a:ln/>
        </p:spPr>
        <p:txBody>
          <a:bodyPr wrap="square" lIns="0" tIns="0" rIns="0" bIns="0" rtlCol="0" anchor="ctr"/>
          <a:lstStyle/>
          <a:p>
            <a:pPr algn="l" indent="0" marL="0">
              <a:buNone/>
            </a:pPr>
            <a:r>
              <a:rPr lang="en-US" sz="1300" b="1" spc="100" kern="0" dirty="0">
                <a:solidFill>
                  <a:srgbClr val="2B3A8C"/>
                </a:solidFill>
                <a:latin typeface="Courier New" pitchFamily="34" charset="0"/>
                <a:ea typeface="Courier New" pitchFamily="34" charset="-122"/>
                <a:cs typeface="Courier New" pitchFamily="34" charset="-120"/>
              </a:rPr>
              <a:t>NEXT STEPS</a:t>
            </a:r>
            <a:endParaRPr lang="en-US" sz="1300" dirty="0"/>
          </a:p>
        </p:txBody>
      </p:sp>
      <p:sp>
        <p:nvSpPr>
          <p:cNvPr id="14" name="Text 12"/>
          <p:cNvSpPr/>
          <p:nvPr/>
        </p:nvSpPr>
        <p:spPr>
          <a:xfrm>
            <a:off x="6675120" y="6355080"/>
            <a:ext cx="4434840" cy="320040"/>
          </a:xfrm>
          <a:prstGeom prst="rect">
            <a:avLst/>
          </a:prstGeom>
          <a:noFill/>
          <a:ln/>
        </p:spPr>
        <p:txBody>
          <a:bodyPr wrap="square" lIns="0" tIns="0" rIns="0" bIns="0" rtlCol="0" anchor="ctr"/>
          <a:lstStyle/>
          <a:p>
            <a:pPr algn="r" indent="0" marL="0">
              <a:buNone/>
            </a:pPr>
            <a:r>
              <a:rPr lang="en-US" sz="1200" dirty="0">
                <a:solidFill>
                  <a:srgbClr val="6B6762"/>
                </a:solidFill>
                <a:latin typeface="Calibri" pitchFamily="34" charset="0"/>
                <a:ea typeface="Calibri" pitchFamily="34" charset="-122"/>
                <a:cs typeface="Calibri" pitchFamily="34" charset="-120"/>
              </a:rPr>
              <a:t>VCE Applied Computing · Unit 2 · AoS1 · Lesson 2</a:t>
            </a:r>
            <a:endParaRPr lang="en-US" sz="1200" dirty="0"/>
          </a:p>
        </p:txBody>
      </p:sp>
      <p:sp>
        <p:nvSpPr>
          <p:cNvPr id="15" name="Text 13"/>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8C1F28"/>
        </a:solidFill>
      </p:bgPr>
    </p:bg>
    <p:spTree>
      <p:nvGrpSpPr>
        <p:cNvPr id="1" name=""/>
        <p:cNvGrpSpPr/>
        <p:nvPr/>
      </p:nvGrpSpPr>
      <p:grpSpPr>
        <a:xfrm>
          <a:off x="0" y="0"/>
          <a:ext cx="0" cy="0"/>
          <a:chOff x="0" y="0"/>
          <a:chExt cx="0" cy="0"/>
        </a:xfrm>
      </p:grpSpPr>
      <p:sp>
        <p:nvSpPr>
          <p:cNvPr id="2" name="Text 0"/>
          <p:cNvSpPr/>
          <p:nvPr/>
        </p:nvSpPr>
        <p:spPr>
          <a:xfrm>
            <a:off x="548640" y="256032"/>
            <a:ext cx="7315200" cy="292608"/>
          </a:xfrm>
          <a:prstGeom prst="rect">
            <a:avLst/>
          </a:prstGeom>
          <a:noFill/>
          <a:ln/>
        </p:spPr>
        <p:txBody>
          <a:bodyPr wrap="square" lIns="0" tIns="0" rIns="0" bIns="0" rtlCol="0" anchor="ctr"/>
          <a:lstStyle/>
          <a:p>
            <a:pPr indent="0" marL="0">
              <a:buNone/>
            </a:pPr>
            <a:r>
              <a:rPr lang="en-US" sz="1400" b="1" spc="200" kern="0" dirty="0">
                <a:solidFill>
                  <a:srgbClr val="FFD9D9"/>
                </a:solidFill>
                <a:latin typeface="Courier New" pitchFamily="34" charset="0"/>
                <a:ea typeface="Courier New" pitchFamily="34" charset="-122"/>
                <a:cs typeface="Courier New" pitchFamily="34" charset="-120"/>
              </a:rPr>
              <a:t>EXIT TICKET</a:t>
            </a:r>
            <a:endParaRPr lang="en-US" sz="1400" dirty="0"/>
          </a:p>
        </p:txBody>
      </p:sp>
      <p:sp>
        <p:nvSpPr>
          <p:cNvPr id="3" name="Shape 1"/>
          <p:cNvSpPr/>
          <p:nvPr/>
        </p:nvSpPr>
        <p:spPr>
          <a:xfrm>
            <a:off x="10012680" y="256032"/>
            <a:ext cx="1874520" cy="384048"/>
          </a:xfrm>
          <a:prstGeom prst="roundRect">
            <a:avLst>
              <a:gd name="adj" fmla="val 19048"/>
            </a:avLst>
          </a:prstGeom>
          <a:solidFill>
            <a:srgbClr val="FFFFFF"/>
          </a:solidFill>
          <a:ln w="15875">
            <a:solidFill>
              <a:srgbClr val="1B5E47"/>
            </a:solidFill>
            <a:prstDash val="solid"/>
          </a:ln>
        </p:spPr>
      </p:sp>
      <p:sp>
        <p:nvSpPr>
          <p:cNvPr id="4" name="Text 2"/>
          <p:cNvSpPr/>
          <p:nvPr/>
        </p:nvSpPr>
        <p:spPr>
          <a:xfrm>
            <a:off x="10012680" y="256032"/>
            <a:ext cx="1874520" cy="384048"/>
          </a:xfrm>
          <a:prstGeom prst="rect">
            <a:avLst/>
          </a:prstGeom>
          <a:noFill/>
          <a:ln/>
        </p:spPr>
        <p:txBody>
          <a:bodyPr wrap="square" lIns="0" tIns="0" rIns="0" bIns="0" rtlCol="0" anchor="ctr"/>
          <a:lstStyle/>
          <a:p>
            <a:pPr algn="ctr" indent="0" marL="0">
              <a:buNone/>
            </a:pPr>
            <a:r>
              <a:rPr lang="en-US" sz="1200" b="1" spc="100" kern="0" dirty="0">
                <a:solidFill>
                  <a:srgbClr val="1B5E47"/>
                </a:solidFill>
                <a:latin typeface="Courier New" pitchFamily="34" charset="0"/>
                <a:ea typeface="Courier New" pitchFamily="34" charset="-122"/>
                <a:cs typeface="Courier New" pitchFamily="34" charset="-120"/>
              </a:rPr>
              <a:t>DEVICES: ON</a:t>
            </a:r>
            <a:endParaRPr lang="en-US" sz="1200" dirty="0"/>
          </a:p>
        </p:txBody>
      </p:sp>
      <p:pic>
        <p:nvPicPr>
          <p:cNvPr id="5" name="Image 0" descr="preencoded.png">    </p:cNvPr>
          <p:cNvPicPr>
            <a:picLocks noChangeAspect="1"/>
          </p:cNvPicPr>
          <p:nvPr/>
        </p:nvPicPr>
        <p:blipFill>
          <a:blip r:embed="rId1"/>
          <a:stretch>
            <a:fillRect/>
          </a:stretch>
        </p:blipFill>
        <p:spPr>
          <a:xfrm>
            <a:off x="548640" y="1188720"/>
            <a:ext cx="685800" cy="685800"/>
          </a:xfrm>
          <a:prstGeom prst="rect">
            <a:avLst/>
          </a:prstGeom>
        </p:spPr>
      </p:pic>
      <p:sp>
        <p:nvSpPr>
          <p:cNvPr id="6" name="Text 3"/>
          <p:cNvSpPr/>
          <p:nvPr/>
        </p:nvSpPr>
        <p:spPr>
          <a:xfrm>
            <a:off x="1417320" y="1234440"/>
            <a:ext cx="91440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Before you go...</a:t>
            </a:r>
            <a:endParaRPr lang="en-US" sz="3000" dirty="0"/>
          </a:p>
        </p:txBody>
      </p:sp>
      <p:sp>
        <p:nvSpPr>
          <p:cNvPr id="7" name="Shape 4"/>
          <p:cNvSpPr/>
          <p:nvPr/>
        </p:nvSpPr>
        <p:spPr>
          <a:xfrm>
            <a:off x="548640" y="2148840"/>
            <a:ext cx="11064240" cy="1371600"/>
          </a:xfrm>
          <a:prstGeom prst="roundRect">
            <a:avLst>
              <a:gd name="adj" fmla="val 6667"/>
            </a:avLst>
          </a:prstGeom>
          <a:solidFill>
            <a:srgbClr val="FFFFFF"/>
          </a:solidFill>
          <a:ln/>
        </p:spPr>
      </p:sp>
      <p:sp>
        <p:nvSpPr>
          <p:cNvPr id="8" name="Text 5"/>
          <p:cNvSpPr/>
          <p:nvPr/>
        </p:nvSpPr>
        <p:spPr>
          <a:xfrm>
            <a:off x="868680" y="2286000"/>
            <a:ext cx="10424160" cy="365760"/>
          </a:xfrm>
          <a:prstGeom prst="rect">
            <a:avLst/>
          </a:prstGeom>
          <a:noFill/>
          <a:ln/>
        </p:spPr>
        <p:txBody>
          <a:bodyPr wrap="square" lIns="0" tIns="0" rIns="0" bIns="0" rtlCol="0" anchor="ctr"/>
          <a:lstStyle/>
          <a:p>
            <a:pPr indent="0" marL="0">
              <a:buNone/>
            </a:pPr>
            <a:r>
              <a:rPr lang="en-US" sz="1500" b="1" spc="100" kern="0" dirty="0">
                <a:solidFill>
                  <a:srgbClr val="8C1F28"/>
                </a:solidFill>
                <a:latin typeface="Courier New" pitchFamily="34" charset="0"/>
                <a:ea typeface="Courier New" pitchFamily="34" charset="-122"/>
                <a:cs typeface="Courier New" pitchFamily="34" charset="-120"/>
              </a:rPr>
              <a:t>Open your workbook — Exit Ticket</a:t>
            </a:r>
            <a:endParaRPr lang="en-US" sz="1500" dirty="0"/>
          </a:p>
        </p:txBody>
      </p:sp>
      <p:sp>
        <p:nvSpPr>
          <p:cNvPr id="9" name="Text 6"/>
          <p:cNvSpPr/>
          <p:nvPr/>
        </p:nvSpPr>
        <p:spPr>
          <a:xfrm>
            <a:off x="868680" y="2697480"/>
            <a:ext cx="10424160" cy="731520"/>
          </a:xfrm>
          <a:prstGeom prst="rect">
            <a:avLst/>
          </a:prstGeom>
          <a:noFill/>
          <a:ln/>
        </p:spPr>
        <p:txBody>
          <a:bodyPr wrap="square" lIns="0" tIns="0" rIns="0" bIns="0" rtlCol="0" anchor="ctr"/>
          <a:lstStyle/>
          <a:p>
            <a:pPr indent="0" marL="0">
              <a:buNone/>
            </a:pPr>
            <a:r>
              <a:rPr lang="en-US" sz="2100" dirty="0">
                <a:solidFill>
                  <a:srgbClr val="12100E"/>
                </a:solidFill>
                <a:latin typeface="Calibri" pitchFamily="34" charset="0"/>
                <a:ea typeface="Calibri" pitchFamily="34" charset="-122"/>
                <a:cs typeface="Calibri" pitchFamily="34" charset="-120"/>
              </a:rPr>
              <a:t>Name one digital system from today and the capability it gives its users.</a:t>
            </a:r>
            <a:endParaRPr lang="en-US" sz="2100" dirty="0"/>
          </a:p>
        </p:txBody>
      </p:sp>
      <p:sp>
        <p:nvSpPr>
          <p:cNvPr id="10" name="Text 7"/>
          <p:cNvSpPr/>
          <p:nvPr/>
        </p:nvSpPr>
        <p:spPr>
          <a:xfrm>
            <a:off x="548640" y="3749040"/>
            <a:ext cx="1106424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Then self-assess: which success criteria tier did you reach today?</a:t>
            </a:r>
            <a:endParaRPr lang="en-US" sz="2000" dirty="0"/>
          </a:p>
        </p:txBody>
      </p:sp>
      <p:sp>
        <p:nvSpPr>
          <p:cNvPr id="11" name="Shape 8"/>
          <p:cNvSpPr/>
          <p:nvPr/>
        </p:nvSpPr>
        <p:spPr>
          <a:xfrm>
            <a:off x="548640" y="4434840"/>
            <a:ext cx="3566160" cy="685800"/>
          </a:xfrm>
          <a:prstGeom prst="roundRect">
            <a:avLst>
              <a:gd name="adj" fmla="val 10667"/>
            </a:avLst>
          </a:prstGeom>
          <a:solidFill>
            <a:srgbClr val="1B5E47"/>
          </a:solidFill>
          <a:ln/>
        </p:spPr>
      </p:sp>
      <p:sp>
        <p:nvSpPr>
          <p:cNvPr id="12" name="Text 9"/>
          <p:cNvSpPr/>
          <p:nvPr/>
        </p:nvSpPr>
        <p:spPr>
          <a:xfrm>
            <a:off x="548640" y="4434840"/>
            <a:ext cx="3566160" cy="685800"/>
          </a:xfrm>
          <a:prstGeom prst="rect">
            <a:avLst/>
          </a:prstGeom>
          <a:noFill/>
          <a:ln/>
        </p:spPr>
        <p:txBody>
          <a:bodyPr wrap="square" lIns="0" tIns="0" rIns="0" bIns="0" rtlCol="0" anchor="ctr"/>
          <a:lstStyle/>
          <a:p>
            <a:pPr algn="ctr" indent="0" marL="0">
              <a:buNone/>
            </a:pPr>
            <a:r>
              <a:rPr lang="en-US" sz="1600" b="1" spc="100" kern="0" dirty="0">
                <a:solidFill>
                  <a:srgbClr val="FFFFFF"/>
                </a:solidFill>
                <a:latin typeface="Courier New" pitchFamily="34" charset="0"/>
                <a:ea typeface="Courier New" pitchFamily="34" charset="-122"/>
                <a:cs typeface="Courier New" pitchFamily="34" charset="-120"/>
              </a:rPr>
              <a:t>FOUNDATION</a:t>
            </a:r>
            <a:endParaRPr lang="en-US" sz="1600" dirty="0"/>
          </a:p>
        </p:txBody>
      </p:sp>
      <p:sp>
        <p:nvSpPr>
          <p:cNvPr id="13" name="Shape 10"/>
          <p:cNvSpPr/>
          <p:nvPr/>
        </p:nvSpPr>
        <p:spPr>
          <a:xfrm>
            <a:off x="4297680" y="4434840"/>
            <a:ext cx="3566160" cy="685800"/>
          </a:xfrm>
          <a:prstGeom prst="roundRect">
            <a:avLst>
              <a:gd name="adj" fmla="val 10667"/>
            </a:avLst>
          </a:prstGeom>
          <a:solidFill>
            <a:srgbClr val="B8620A"/>
          </a:solidFill>
          <a:ln/>
        </p:spPr>
      </p:sp>
      <p:sp>
        <p:nvSpPr>
          <p:cNvPr id="14" name="Text 11"/>
          <p:cNvSpPr/>
          <p:nvPr/>
        </p:nvSpPr>
        <p:spPr>
          <a:xfrm>
            <a:off x="4297680" y="4434840"/>
            <a:ext cx="3566160" cy="685800"/>
          </a:xfrm>
          <a:prstGeom prst="rect">
            <a:avLst/>
          </a:prstGeom>
          <a:noFill/>
          <a:ln/>
        </p:spPr>
        <p:txBody>
          <a:bodyPr wrap="square" lIns="0" tIns="0" rIns="0" bIns="0" rtlCol="0" anchor="ctr"/>
          <a:lstStyle/>
          <a:p>
            <a:pPr algn="ctr" indent="0" marL="0">
              <a:buNone/>
            </a:pPr>
            <a:r>
              <a:rPr lang="en-US" sz="1600" b="1" spc="100" kern="0" dirty="0">
                <a:solidFill>
                  <a:srgbClr val="FFFFFF"/>
                </a:solidFill>
                <a:latin typeface="Courier New" pitchFamily="34" charset="0"/>
                <a:ea typeface="Courier New" pitchFamily="34" charset="-122"/>
                <a:cs typeface="Courier New" pitchFamily="34" charset="-120"/>
              </a:rPr>
              <a:t>DEVELOPING</a:t>
            </a:r>
            <a:endParaRPr lang="en-US" sz="1600" dirty="0"/>
          </a:p>
        </p:txBody>
      </p:sp>
      <p:sp>
        <p:nvSpPr>
          <p:cNvPr id="15" name="Shape 12"/>
          <p:cNvSpPr/>
          <p:nvPr/>
        </p:nvSpPr>
        <p:spPr>
          <a:xfrm>
            <a:off x="8046720" y="4434840"/>
            <a:ext cx="3566160" cy="685800"/>
          </a:xfrm>
          <a:prstGeom prst="roundRect">
            <a:avLst>
              <a:gd name="adj" fmla="val 10667"/>
            </a:avLst>
          </a:prstGeom>
          <a:solidFill>
            <a:srgbClr val="2B3A8C"/>
          </a:solidFill>
          <a:ln/>
        </p:spPr>
      </p:sp>
      <p:sp>
        <p:nvSpPr>
          <p:cNvPr id="16" name="Text 13"/>
          <p:cNvSpPr/>
          <p:nvPr/>
        </p:nvSpPr>
        <p:spPr>
          <a:xfrm>
            <a:off x="8046720" y="4434840"/>
            <a:ext cx="3566160" cy="685800"/>
          </a:xfrm>
          <a:prstGeom prst="rect">
            <a:avLst/>
          </a:prstGeom>
          <a:noFill/>
          <a:ln/>
        </p:spPr>
        <p:txBody>
          <a:bodyPr wrap="square" lIns="0" tIns="0" rIns="0" bIns="0" rtlCol="0" anchor="ctr"/>
          <a:lstStyle/>
          <a:p>
            <a:pPr algn="ctr" indent="0" marL="0">
              <a:buNone/>
            </a:pPr>
            <a:r>
              <a:rPr lang="en-US" sz="1600" b="1" spc="100" kern="0" dirty="0">
                <a:solidFill>
                  <a:srgbClr val="FFFFFF"/>
                </a:solidFill>
                <a:latin typeface="Courier New" pitchFamily="34" charset="0"/>
                <a:ea typeface="Courier New" pitchFamily="34" charset="-122"/>
                <a:cs typeface="Courier New" pitchFamily="34" charset="-120"/>
              </a:rPr>
              <a:t>EXTENDING</a:t>
            </a:r>
            <a:endParaRPr lang="en-US" sz="1600" dirty="0"/>
          </a:p>
        </p:txBody>
      </p:sp>
      <p:sp>
        <p:nvSpPr>
          <p:cNvPr id="17" name="Text 14"/>
          <p:cNvSpPr/>
          <p:nvPr/>
        </p:nvSpPr>
        <p:spPr>
          <a:xfrm>
            <a:off x="11292840" y="6355080"/>
            <a:ext cx="411480" cy="320040"/>
          </a:xfrm>
          <a:prstGeom prst="rect">
            <a:avLst/>
          </a:prstGeom>
          <a:noFill/>
          <a:ln/>
        </p:spPr>
        <p:txBody>
          <a:bodyPr wrap="square" lIns="0" tIns="0" rIns="0" bIns="0" rtlCol="0" anchor="ctr"/>
          <a:lstStyle/>
          <a:p>
            <a:pPr algn="r" indent="0" marL="0">
              <a:buNone/>
            </a:pPr>
            <a:r>
              <a:rPr lang="en-US" sz="1200" dirty="0">
                <a:solidFill>
                  <a:srgbClr val="6B6762"/>
                </a:solidFill>
                <a:latin typeface="Courier New" pitchFamily="34" charset="0"/>
                <a:ea typeface="Courier New" pitchFamily="34" charset="-122"/>
                <a:cs typeface="Courier New" pitchFamily="34" charset="-120"/>
              </a:rPr>
              <a:t>23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D1.2 Digital Systems in Context</dc:title>
  <dc:subject>PptxGenJS Presentation</dc:subject>
  <dc:creator>Mr Smith</dc:creator>
  <cp:lastModifiedBy>Mr Smith</cp:lastModifiedBy>
  <cp:revision>1</cp:revision>
  <dcterms:created xsi:type="dcterms:W3CDTF">2026-06-17T22:07:51Z</dcterms:created>
  <dcterms:modified xsi:type="dcterms:W3CDTF">2026-06-17T22:07:51Z</dcterms:modified>
</cp:coreProperties>
</file>