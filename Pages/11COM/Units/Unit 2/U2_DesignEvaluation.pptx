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38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period: this is a decision-making lesson, not a build lesson. Two working designs already exist for the same solution — students act as the design team choosing which one goes forward. Stress that "which one do you like" is not an acceptable answer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criteria get invented at the end to make the solution look good. Nelson is explicit — criteria are determined during the design phase. Ask: why would writing them last be a problem? (You would write criteria your solution already passes.)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"does not" points are testing activities, done before evaluation begins. By evaluation, functionality is no longer in question. Quick check for understanding: "the login button crashes" — testing or evaluation? (Testing.) "Teachers still take too long to add a lesson after six weeks" — evaluation.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both open on the projector, or send the links. Keep the description neutral — do not signal a preference. Point out that neither is missing a feature; the difference is entirely in how the user gets to it, which is exactly what evaluation criteria have to capture.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criterion students write today must sit under one of these two headings — if it fits neither, it is not an evaluation criterion. Watch for students writing "it looks nicer": push them to attractiveness or clarity, and then to how it would be measured.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deliberately written as statements that could be true or false of a design, not as questions. Ask students to spot what is missing from each one — none of them yet says how it will be measured or what counts as a pass. That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across the six columns left to right. The pattern to reinforce: criterion says what, time frame says when, data and method say where the evidence comes from, assessment says what you do with it, judgement says what counts as success. Students copy this table structure into their folio.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our six criteria can be measured objectively (steps taken, time on task, contrast ratios, keyboard reachability) and which realistically need a survey (attractiveness, confidence). Note that even a survey can produce a number — "average rating 8 or better" — which makes the judgement column workable.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check pairs are collecting evidence rather than debating preference. The named task gives every pair the same measurement, which makes the class results comparable. Pairs who finish early: write a seventh criterion of their own and say which heading it falls under.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in live on the board as pairs report. The point of voting per criterion is that the winner may split — a design can be more efficient and less accessible. If it splits, the class has to decide which criteria matter most for this user, and say why. That argument is the learning.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full sentence aloud using the class results before students write. The final clause matters: choosing a preferred design does not mean the other design had nothing to offer — the loser's strengths usually become improvements to the winner.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folio work as homework if the vote runs long. Flag the link forward: the weaknesses identified today are not wasted — they become the requirements list, which is itself assessed. Remind students the criteria they wrote today would, in a real project, have been written before the designs existed.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1051560"/>
            <a:ext cx="7680960" cy="274320"/>
          </a:xfrm>
          <a:prstGeom prst="rect">
            <a:avLst/>
          </a:prstGeom>
          <a:noFill/>
          <a:ln/>
        </p:spPr>
        <p:txBody>
          <a:bodyPr wrap="square" lIns="0" tIns="0" rIns="0" bIns="0" rtlCol="0" anchor="ctr"/>
          <a:lstStyle/>
          <a:p>
            <a:pPr marL="0" indent="0">
              <a:buNone/>
            </a:pPr>
            <a:r>
              <a:rPr lang="en-US" sz="1300" b="1" kern="0" spc="200" dirty="0">
                <a:solidFill>
                  <a:srgbClr val="4361EE"/>
                </a:solidFill>
                <a:latin typeface="Calibri" pitchFamily="34" charset="0"/>
                <a:ea typeface="Calibri" pitchFamily="34" charset="-122"/>
                <a:cs typeface="Calibri" pitchFamily="34" charset="-120"/>
              </a:rPr>
              <a:t>VCE APPLIED COMPUTING · UNIT 2</a:t>
            </a:r>
            <a:endParaRPr lang="en-US" sz="1300" dirty="0"/>
          </a:p>
        </p:txBody>
      </p:sp>
      <p:sp>
        <p:nvSpPr>
          <p:cNvPr id="3" name="Text 1"/>
          <p:cNvSpPr/>
          <p:nvPr/>
        </p:nvSpPr>
        <p:spPr>
          <a:xfrm>
            <a:off x="731520" y="1417320"/>
            <a:ext cx="7680960" cy="777240"/>
          </a:xfrm>
          <a:prstGeom prst="rect">
            <a:avLst/>
          </a:prstGeom>
          <a:noFill/>
          <a:ln/>
        </p:spPr>
        <p:txBody>
          <a:bodyPr wrap="square" lIns="0" tIns="0" rIns="0" bIns="0" rtlCol="0" anchor="ctr"/>
          <a:lstStyle/>
          <a:p>
            <a:pPr marL="0" indent="0">
              <a:buNone/>
            </a:pPr>
            <a:r>
              <a:rPr lang="en-US" sz="4000" b="1" dirty="0">
                <a:solidFill>
                  <a:srgbClr val="0D1117"/>
                </a:solidFill>
                <a:latin typeface="Cambria" pitchFamily="34" charset="0"/>
                <a:ea typeface="Cambria" pitchFamily="34" charset="-122"/>
                <a:cs typeface="Cambria" pitchFamily="34" charset="-120"/>
              </a:rPr>
              <a:t>Choosing a preferred design</a:t>
            </a:r>
            <a:endParaRPr lang="en-US" sz="4000" dirty="0"/>
          </a:p>
        </p:txBody>
      </p:sp>
      <p:sp>
        <p:nvSpPr>
          <p:cNvPr id="4" name="Text 2"/>
          <p:cNvSpPr/>
          <p:nvPr/>
        </p:nvSpPr>
        <p:spPr>
          <a:xfrm>
            <a:off x="731520" y="2240280"/>
            <a:ext cx="7680960" cy="457200"/>
          </a:xfrm>
          <a:prstGeom prst="rect">
            <a:avLst/>
          </a:prstGeom>
          <a:noFill/>
          <a:ln/>
        </p:spPr>
        <p:txBody>
          <a:bodyPr wrap="square" lIns="0" tIns="0" rIns="0" bIns="0" rtlCol="0" anchor="ctr"/>
          <a:lstStyle/>
          <a:p>
            <a:pPr marL="0" indent="0">
              <a:buNone/>
            </a:pPr>
            <a:r>
              <a:rPr lang="en-US" sz="1900" dirty="0">
                <a:solidFill>
                  <a:srgbClr val="5B6472"/>
                </a:solidFill>
                <a:latin typeface="Calibri" pitchFamily="34" charset="0"/>
                <a:ea typeface="Calibri" pitchFamily="34" charset="-122"/>
                <a:cs typeface="Calibri" pitchFamily="34" charset="-120"/>
              </a:rPr>
              <a:t>Evaluating two dashboard designs against efficiency and effectiveness criteria</a:t>
            </a:r>
            <a:endParaRPr lang="en-US" sz="1900" dirty="0"/>
          </a:p>
        </p:txBody>
      </p:sp>
      <p:sp>
        <p:nvSpPr>
          <p:cNvPr id="5" name="Shape 3"/>
          <p:cNvSpPr/>
          <p:nvPr/>
        </p:nvSpPr>
        <p:spPr>
          <a:xfrm>
            <a:off x="731520" y="2971800"/>
            <a:ext cx="7680960" cy="960120"/>
          </a:xfrm>
          <a:prstGeom prst="roundRect">
            <a:avLst>
              <a:gd name="adj" fmla="val 7619"/>
            </a:avLst>
          </a:prstGeom>
          <a:solidFill>
            <a:srgbClr val="F4F6FB"/>
          </a:solidFill>
          <a:ln w="12700">
            <a:solidFill>
              <a:srgbClr val="D8DDE6"/>
            </a:solidFill>
            <a:prstDash val="solid"/>
          </a:ln>
        </p:spPr>
        <p:txBody>
          <a:bodyPr/>
          <a:lstStyle/>
          <a:p>
            <a:endParaRPr lang="en-AU"/>
          </a:p>
        </p:txBody>
      </p:sp>
      <p:sp>
        <p:nvSpPr>
          <p:cNvPr id="6" name="Text 4"/>
          <p:cNvSpPr/>
          <p:nvPr/>
        </p:nvSpPr>
        <p:spPr>
          <a:xfrm>
            <a:off x="960120" y="3108960"/>
            <a:ext cx="7223760" cy="685800"/>
          </a:xfrm>
          <a:prstGeom prst="rect">
            <a:avLst/>
          </a:prstGeom>
          <a:noFill/>
          <a:ln/>
        </p:spPr>
        <p:txBody>
          <a:bodyPr wrap="square" lIns="0" tIns="0" rIns="0" bIns="0" rtlCol="0" anchor="ctr"/>
          <a:lstStyle/>
          <a:p>
            <a:pPr marL="0" indent="0">
              <a:buNone/>
            </a:pPr>
            <a:r>
              <a:rPr lang="en-US" sz="1800" b="1" dirty="0">
                <a:solidFill>
                  <a:srgbClr val="0D1117"/>
                </a:solidFill>
                <a:latin typeface="Calibri" pitchFamily="34" charset="0"/>
                <a:ea typeface="Calibri" pitchFamily="34" charset="-122"/>
                <a:cs typeface="Calibri" pitchFamily="34" charset="-120"/>
              </a:rPr>
              <a:t>Today you decide. </a:t>
            </a:r>
            <a:r>
              <a:rPr lang="en-US" sz="1800" dirty="0">
                <a:solidFill>
                  <a:srgbClr val="0D1117"/>
                </a:solidFill>
                <a:latin typeface="Calibri" pitchFamily="34" charset="0"/>
                <a:ea typeface="Calibri" pitchFamily="34" charset="-122"/>
                <a:cs typeface="Calibri" pitchFamily="34" charset="-120"/>
              </a:rPr>
              <a:t>By the end of the period the class will have chosen one design as the preferred solution — and be able to justify that choice using criteria, not taste.</a:t>
            </a:r>
            <a:endParaRPr lang="en-US" sz="1800" dirty="0"/>
          </a:p>
        </p:txBody>
      </p:sp>
      <p:sp>
        <p:nvSpPr>
          <p:cNvPr id="7" name="Text 5"/>
          <p:cNvSpPr/>
          <p:nvPr/>
        </p:nvSpPr>
        <p:spPr>
          <a:xfrm>
            <a:off x="731520" y="4160520"/>
            <a:ext cx="3657600" cy="27432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2026-08-07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Where this sits in the methodology</a:t>
            </a:r>
            <a:endParaRPr lang="en-US" sz="2800" dirty="0"/>
          </a:p>
        </p:txBody>
      </p:sp>
      <p:sp>
        <p:nvSpPr>
          <p:cNvPr id="5" name="Text 3"/>
          <p:cNvSpPr/>
          <p:nvPr/>
        </p:nvSpPr>
        <p:spPr>
          <a:xfrm>
            <a:off x="457200" y="1280160"/>
            <a:ext cx="1920240" cy="548640"/>
          </a:xfrm>
          <a:prstGeom prst="roundRect">
            <a:avLst>
              <a:gd name="adj" fmla="val 13333"/>
            </a:avLst>
          </a:prstGeom>
          <a:solidFill>
            <a:srgbClr val="FFFFFF"/>
          </a:solidFill>
          <a:ln>
            <a:solidFill>
              <a:srgbClr val="D8DDE6"/>
            </a:solidFill>
          </a:ln>
        </p:spPr>
        <p:txBody>
          <a:bodyPr wrap="square" lIns="0" tIns="0" rIns="0" bIns="0" rtlCol="0" anchor="ctr"/>
          <a:lstStyle/>
          <a:p>
            <a:pPr marL="0" indent="0" algn="ctr">
              <a:buNone/>
            </a:pPr>
            <a:r>
              <a:rPr lang="en-US" sz="1800" b="1" dirty="0">
                <a:solidFill>
                  <a:srgbClr val="5B6472"/>
                </a:solidFill>
                <a:latin typeface="Calibri" pitchFamily="34" charset="0"/>
                <a:ea typeface="Calibri" pitchFamily="34" charset="-122"/>
                <a:cs typeface="Calibri" pitchFamily="34" charset="-120"/>
              </a:rPr>
              <a:t>Analysis</a:t>
            </a:r>
            <a:endParaRPr lang="en-US" sz="1800" dirty="0"/>
          </a:p>
        </p:txBody>
      </p:sp>
      <p:sp>
        <p:nvSpPr>
          <p:cNvPr id="6" name="Text 4"/>
          <p:cNvSpPr/>
          <p:nvPr/>
        </p:nvSpPr>
        <p:spPr>
          <a:xfrm>
            <a:off x="457200" y="1874520"/>
            <a:ext cx="1920240" cy="640080"/>
          </a:xfrm>
          <a:prstGeom prst="rect">
            <a:avLst/>
          </a:prstGeom>
          <a:noFill/>
          <a:ln/>
        </p:spPr>
        <p:txBody>
          <a:bodyPr wrap="square" lIns="0" tIns="0" rIns="0" bIns="0" rtlCol="0" anchor="t"/>
          <a:lstStyle/>
          <a:p>
            <a:pPr marL="0" indent="0" algn="ctr">
              <a:buNone/>
            </a:pPr>
            <a:r>
              <a:rPr lang="en-US" sz="1300" dirty="0">
                <a:solidFill>
                  <a:srgbClr val="5B6472"/>
                </a:solidFill>
                <a:latin typeface="Calibri" pitchFamily="34" charset="0"/>
                <a:ea typeface="Calibri" pitchFamily="34" charset="-122"/>
                <a:cs typeface="Calibri" pitchFamily="34" charset="-120"/>
              </a:rPr>
              <a:t>Needs, requirements, constraints</a:t>
            </a:r>
            <a:endParaRPr lang="en-US" sz="1300" dirty="0"/>
          </a:p>
        </p:txBody>
      </p:sp>
      <p:sp>
        <p:nvSpPr>
          <p:cNvPr id="7" name="Text 5"/>
          <p:cNvSpPr/>
          <p:nvPr/>
        </p:nvSpPr>
        <p:spPr>
          <a:xfrm>
            <a:off x="2578608" y="1280160"/>
            <a:ext cx="1920240" cy="548640"/>
          </a:xfrm>
          <a:prstGeom prst="roundRect">
            <a:avLst>
              <a:gd name="adj" fmla="val 13333"/>
            </a:avLst>
          </a:prstGeom>
          <a:solidFill>
            <a:srgbClr val="4361EE"/>
          </a:solidFill>
          <a:ln>
            <a:solidFill>
              <a:srgbClr val="4361EE"/>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Design</a:t>
            </a:r>
            <a:endParaRPr lang="en-US" sz="1800" dirty="0"/>
          </a:p>
        </p:txBody>
      </p:sp>
      <p:sp>
        <p:nvSpPr>
          <p:cNvPr id="8" name="Text 6"/>
          <p:cNvSpPr/>
          <p:nvPr/>
        </p:nvSpPr>
        <p:spPr>
          <a:xfrm>
            <a:off x="2578608" y="1874520"/>
            <a:ext cx="1920240" cy="640080"/>
          </a:xfrm>
          <a:prstGeom prst="rect">
            <a:avLst/>
          </a:prstGeom>
          <a:noFill/>
          <a:ln/>
        </p:spPr>
        <p:txBody>
          <a:bodyPr wrap="square" lIns="0" tIns="0" rIns="0" bIns="0" rtlCol="0" anchor="t"/>
          <a:lstStyle/>
          <a:p>
            <a:pPr marL="0" indent="0" algn="ctr">
              <a:buNone/>
            </a:pPr>
            <a:r>
              <a:rPr lang="en-US" sz="1300" dirty="0">
                <a:solidFill>
                  <a:srgbClr val="0D1117"/>
                </a:solidFill>
                <a:latin typeface="Calibri" pitchFamily="34" charset="0"/>
                <a:ea typeface="Calibri" pitchFamily="34" charset="-122"/>
                <a:cs typeface="Calibri" pitchFamily="34" charset="-120"/>
              </a:rPr>
              <a:t>Designs + evaluation criteria written here</a:t>
            </a:r>
            <a:endParaRPr lang="en-US" sz="1300" dirty="0"/>
          </a:p>
        </p:txBody>
      </p:sp>
      <p:sp>
        <p:nvSpPr>
          <p:cNvPr id="9" name="Text 7"/>
          <p:cNvSpPr/>
          <p:nvPr/>
        </p:nvSpPr>
        <p:spPr>
          <a:xfrm>
            <a:off x="4700016" y="1280160"/>
            <a:ext cx="1920240" cy="548640"/>
          </a:xfrm>
          <a:prstGeom prst="roundRect">
            <a:avLst>
              <a:gd name="adj" fmla="val 13333"/>
            </a:avLst>
          </a:prstGeom>
          <a:solidFill>
            <a:srgbClr val="FFFFFF"/>
          </a:solidFill>
          <a:ln>
            <a:solidFill>
              <a:srgbClr val="D8DDE6"/>
            </a:solidFill>
          </a:ln>
        </p:spPr>
        <p:txBody>
          <a:bodyPr wrap="square" lIns="0" tIns="0" rIns="0" bIns="0" rtlCol="0" anchor="ctr"/>
          <a:lstStyle/>
          <a:p>
            <a:pPr marL="0" indent="0" algn="ctr">
              <a:buNone/>
            </a:pPr>
            <a:r>
              <a:rPr lang="en-US" sz="1800" b="1" dirty="0">
                <a:solidFill>
                  <a:srgbClr val="5B6472"/>
                </a:solidFill>
                <a:latin typeface="Calibri" pitchFamily="34" charset="0"/>
                <a:ea typeface="Calibri" pitchFamily="34" charset="-122"/>
                <a:cs typeface="Calibri" pitchFamily="34" charset="-120"/>
              </a:rPr>
              <a:t>Development</a:t>
            </a:r>
            <a:endParaRPr lang="en-US" sz="1800" dirty="0"/>
          </a:p>
        </p:txBody>
      </p:sp>
      <p:sp>
        <p:nvSpPr>
          <p:cNvPr id="10" name="Text 8"/>
          <p:cNvSpPr/>
          <p:nvPr/>
        </p:nvSpPr>
        <p:spPr>
          <a:xfrm>
            <a:off x="4700016" y="1874520"/>
            <a:ext cx="1920240" cy="640080"/>
          </a:xfrm>
          <a:prstGeom prst="rect">
            <a:avLst/>
          </a:prstGeom>
          <a:noFill/>
          <a:ln/>
        </p:spPr>
        <p:txBody>
          <a:bodyPr wrap="square" lIns="0" tIns="0" rIns="0" bIns="0" rtlCol="0" anchor="t"/>
          <a:lstStyle/>
          <a:p>
            <a:pPr marL="0" indent="0" algn="ctr">
              <a:buNone/>
            </a:pPr>
            <a:r>
              <a:rPr lang="en-US" sz="1300" dirty="0">
                <a:solidFill>
                  <a:srgbClr val="5B6472"/>
                </a:solidFill>
                <a:latin typeface="Calibri" pitchFamily="34" charset="0"/>
                <a:ea typeface="Calibri" pitchFamily="34" charset="-122"/>
                <a:cs typeface="Calibri" pitchFamily="34" charset="-120"/>
              </a:rPr>
              <a:t>Built and tested</a:t>
            </a:r>
            <a:endParaRPr lang="en-US" sz="1300" dirty="0"/>
          </a:p>
        </p:txBody>
      </p:sp>
      <p:sp>
        <p:nvSpPr>
          <p:cNvPr id="11" name="Text 9"/>
          <p:cNvSpPr/>
          <p:nvPr/>
        </p:nvSpPr>
        <p:spPr>
          <a:xfrm>
            <a:off x="6821424" y="1280160"/>
            <a:ext cx="1920240" cy="548640"/>
          </a:xfrm>
          <a:prstGeom prst="roundRect">
            <a:avLst>
              <a:gd name="adj" fmla="val 13333"/>
            </a:avLst>
          </a:prstGeom>
          <a:solidFill>
            <a:srgbClr val="4361EE"/>
          </a:solidFill>
          <a:ln>
            <a:solidFill>
              <a:srgbClr val="4361EE"/>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Evaluation</a:t>
            </a:r>
            <a:endParaRPr lang="en-US" sz="1800" dirty="0"/>
          </a:p>
        </p:txBody>
      </p:sp>
      <p:sp>
        <p:nvSpPr>
          <p:cNvPr id="12" name="Text 10"/>
          <p:cNvSpPr/>
          <p:nvPr/>
        </p:nvSpPr>
        <p:spPr>
          <a:xfrm>
            <a:off x="6821424" y="1874520"/>
            <a:ext cx="1920240" cy="640080"/>
          </a:xfrm>
          <a:prstGeom prst="rect">
            <a:avLst/>
          </a:prstGeom>
          <a:noFill/>
          <a:ln/>
        </p:spPr>
        <p:txBody>
          <a:bodyPr wrap="square" lIns="0" tIns="0" rIns="0" bIns="0" rtlCol="0" anchor="t"/>
          <a:lstStyle/>
          <a:p>
            <a:pPr marL="0" indent="0" algn="ctr">
              <a:buNone/>
            </a:pPr>
            <a:r>
              <a:rPr lang="en-US" sz="1300" dirty="0">
                <a:solidFill>
                  <a:srgbClr val="0D1117"/>
                </a:solidFill>
                <a:latin typeface="Calibri" pitchFamily="34" charset="0"/>
                <a:ea typeface="Calibri" pitchFamily="34" charset="-122"/>
                <a:cs typeface="Calibri" pitchFamily="34" charset="-120"/>
              </a:rPr>
              <a:t>Criteria applied here</a:t>
            </a:r>
            <a:endParaRPr lang="en-US" sz="1300" dirty="0"/>
          </a:p>
        </p:txBody>
      </p:sp>
      <p:sp>
        <p:nvSpPr>
          <p:cNvPr id="13" name="Shape 11"/>
          <p:cNvSpPr/>
          <p:nvPr/>
        </p:nvSpPr>
        <p:spPr>
          <a:xfrm>
            <a:off x="457200" y="2697480"/>
            <a:ext cx="8229600" cy="1234440"/>
          </a:xfrm>
          <a:prstGeom prst="roundRect">
            <a:avLst>
              <a:gd name="adj" fmla="val 5926"/>
            </a:avLst>
          </a:prstGeom>
          <a:solidFill>
            <a:srgbClr val="FFFFFF"/>
          </a:solidFill>
          <a:ln w="12700">
            <a:solidFill>
              <a:srgbClr val="4361EE"/>
            </a:solidFill>
            <a:prstDash val="solid"/>
          </a:ln>
        </p:spPr>
        <p:txBody>
          <a:bodyPr/>
          <a:lstStyle/>
          <a:p>
            <a:endParaRPr lang="en-AU"/>
          </a:p>
        </p:txBody>
      </p:sp>
      <p:sp>
        <p:nvSpPr>
          <p:cNvPr id="14" name="Text 12"/>
          <p:cNvSpPr/>
          <p:nvPr/>
        </p:nvSpPr>
        <p:spPr>
          <a:xfrm>
            <a:off x="685800" y="2788920"/>
            <a:ext cx="7772400" cy="1051560"/>
          </a:xfrm>
          <a:prstGeom prst="rect">
            <a:avLst/>
          </a:prstGeom>
          <a:noFill/>
          <a:ln/>
        </p:spPr>
        <p:txBody>
          <a:bodyPr wrap="square" lIns="0" tIns="0" rIns="0" bIns="0" rtlCol="0" anchor="ctr"/>
          <a:lstStyle/>
          <a:p>
            <a:pPr marL="0" indent="0">
              <a:buNone/>
            </a:pPr>
            <a:r>
              <a:rPr lang="en-US" sz="1700" b="1" dirty="0">
                <a:solidFill>
                  <a:srgbClr val="0D1117"/>
                </a:solidFill>
                <a:latin typeface="Calibri" pitchFamily="34" charset="0"/>
                <a:ea typeface="Calibri" pitchFamily="34" charset="-122"/>
                <a:cs typeface="Calibri" pitchFamily="34" charset="-120"/>
              </a:rPr>
              <a:t>Evaluation criteria are written during Design — before anything is built — and applied during Evaluation.
</a:t>
            </a:r>
            <a:r>
              <a:rPr lang="en-US" sz="1700" dirty="0">
                <a:solidFill>
                  <a:srgbClr val="0D1117"/>
                </a:solidFill>
                <a:latin typeface="Calibri" pitchFamily="34" charset="0"/>
                <a:ea typeface="Calibri" pitchFamily="34" charset="-122"/>
                <a:cs typeface="Calibri" pitchFamily="34" charset="-120"/>
              </a:rPr>
              <a:t>They are based on the qualities the solution is expected to have. That is why we can write them now for designs that are not finished.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Evaluation is not testing</a:t>
            </a:r>
            <a:endParaRPr lang="en-US" sz="2800" dirty="0"/>
          </a:p>
        </p:txBody>
      </p:sp>
      <p:sp>
        <p:nvSpPr>
          <p:cNvPr id="5" name="Shape 3"/>
          <p:cNvSpPr/>
          <p:nvPr/>
        </p:nvSpPr>
        <p:spPr>
          <a:xfrm>
            <a:off x="457200" y="1234440"/>
            <a:ext cx="3977640" cy="2926080"/>
          </a:xfrm>
          <a:prstGeom prst="roundRect">
            <a:avLst>
              <a:gd name="adj" fmla="val 2500"/>
            </a:avLst>
          </a:prstGeom>
          <a:solidFill>
            <a:srgbClr val="FFFFFF"/>
          </a:solidFill>
          <a:ln w="12700">
            <a:solidFill>
              <a:srgbClr val="D8DDE6"/>
            </a:solidFill>
            <a:prstDash val="solid"/>
          </a:ln>
        </p:spPr>
        <p:txBody>
          <a:bodyPr/>
          <a:lstStyle/>
          <a:p>
            <a:endParaRPr lang="en-AU"/>
          </a:p>
        </p:txBody>
      </p:sp>
      <p:sp>
        <p:nvSpPr>
          <p:cNvPr id="6" name="Text 4"/>
          <p:cNvSpPr/>
          <p:nvPr/>
        </p:nvSpPr>
        <p:spPr>
          <a:xfrm>
            <a:off x="685800" y="1371600"/>
            <a:ext cx="3566160" cy="320040"/>
          </a:xfrm>
          <a:prstGeom prst="rect">
            <a:avLst/>
          </a:prstGeom>
          <a:noFill/>
          <a:ln/>
        </p:spPr>
        <p:txBody>
          <a:bodyPr wrap="square" lIns="0" tIns="0" rIns="0" bIns="0" rtlCol="0" anchor="ctr"/>
          <a:lstStyle/>
          <a:p>
            <a:pPr marL="0" indent="0">
              <a:buNone/>
            </a:pPr>
            <a:r>
              <a:rPr lang="en-US" sz="1800" b="1" dirty="0">
                <a:solidFill>
                  <a:srgbClr val="EF4444"/>
                </a:solidFill>
                <a:latin typeface="Calibri" pitchFamily="34" charset="0"/>
                <a:ea typeface="Calibri" pitchFamily="34" charset="-122"/>
                <a:cs typeface="Calibri" pitchFamily="34" charset="-120"/>
              </a:rPr>
              <a:t>Evaluation does NOT…</a:t>
            </a:r>
            <a:endParaRPr lang="en-US" sz="1800" dirty="0"/>
          </a:p>
        </p:txBody>
      </p:sp>
      <p:sp>
        <p:nvSpPr>
          <p:cNvPr id="7" name="Text 5"/>
          <p:cNvSpPr/>
          <p:nvPr/>
        </p:nvSpPr>
        <p:spPr>
          <a:xfrm>
            <a:off x="685800" y="17373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check the solution works properly</a:t>
            </a:r>
            <a:endParaRPr lang="en-US" sz="1700" dirty="0"/>
          </a:p>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enter test data to check output is accurate</a:t>
            </a:r>
            <a:endParaRPr lang="en-US" sz="1700" dirty="0"/>
          </a:p>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time a process with a stopwatch</a:t>
            </a:r>
            <a:endParaRPr lang="en-US" sz="1700" dirty="0"/>
          </a:p>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run instant checks, like pulling the power plug</a:t>
            </a:r>
            <a:endParaRPr lang="en-US" sz="1700" dirty="0"/>
          </a:p>
        </p:txBody>
      </p:sp>
      <p:sp>
        <p:nvSpPr>
          <p:cNvPr id="8" name="Shape 6"/>
          <p:cNvSpPr/>
          <p:nvPr/>
        </p:nvSpPr>
        <p:spPr>
          <a:xfrm>
            <a:off x="4709160" y="1234440"/>
            <a:ext cx="3977640" cy="2926080"/>
          </a:xfrm>
          <a:prstGeom prst="roundRect">
            <a:avLst>
              <a:gd name="adj" fmla="val 2500"/>
            </a:avLst>
          </a:prstGeom>
          <a:solidFill>
            <a:srgbClr val="F4F6FB"/>
          </a:solidFill>
          <a:ln w="12700">
            <a:solidFill>
              <a:srgbClr val="4361EE"/>
            </a:solidFill>
            <a:prstDash val="solid"/>
          </a:ln>
        </p:spPr>
        <p:txBody>
          <a:bodyPr/>
          <a:lstStyle/>
          <a:p>
            <a:endParaRPr lang="en-AU"/>
          </a:p>
        </p:txBody>
      </p:sp>
      <p:sp>
        <p:nvSpPr>
          <p:cNvPr id="9" name="Text 7"/>
          <p:cNvSpPr/>
          <p:nvPr/>
        </p:nvSpPr>
        <p:spPr>
          <a:xfrm>
            <a:off x="4937760" y="1371600"/>
            <a:ext cx="3566160" cy="320040"/>
          </a:xfrm>
          <a:prstGeom prst="rect">
            <a:avLst/>
          </a:prstGeom>
          <a:noFill/>
          <a:ln/>
        </p:spPr>
        <p:txBody>
          <a:bodyPr wrap="square" lIns="0" tIns="0" rIns="0" bIns="0" rtlCol="0" anchor="ctr"/>
          <a:lstStyle/>
          <a:p>
            <a:pPr marL="0" indent="0">
              <a:buNone/>
            </a:pPr>
            <a:r>
              <a:rPr lang="en-US" sz="1800" b="1" dirty="0">
                <a:solidFill>
                  <a:srgbClr val="4361EE"/>
                </a:solidFill>
                <a:latin typeface="Calibri" pitchFamily="34" charset="0"/>
                <a:ea typeface="Calibri" pitchFamily="34" charset="-122"/>
                <a:cs typeface="Calibri" pitchFamily="34" charset="-120"/>
              </a:rPr>
              <a:t>Evaluation DOES…</a:t>
            </a:r>
            <a:endParaRPr lang="en-US" sz="1800" dirty="0"/>
          </a:p>
        </p:txBody>
      </p:sp>
      <p:sp>
        <p:nvSpPr>
          <p:cNvPr id="10" name="Text 8"/>
          <p:cNvSpPr/>
          <p:nvPr/>
        </p:nvSpPr>
        <p:spPr>
          <a:xfrm>
            <a:off x="4937760" y="17373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look at performance over time</a:t>
            </a:r>
            <a:endParaRPr lang="en-US" sz="1700" dirty="0"/>
          </a:p>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measure the solution against the criteria set in Design</a:t>
            </a:r>
            <a:endParaRPr lang="en-US" sz="1700" dirty="0"/>
          </a:p>
          <a:p>
            <a:pPr marL="342900" indent="-342900">
              <a:spcAft>
                <a:spcPts val="800"/>
              </a:spcAft>
              <a:buSzPct val="100000"/>
              <a:buChar char="•"/>
            </a:pPr>
            <a:r>
              <a:rPr lang="en-US" sz="1700" dirty="0">
                <a:solidFill>
                  <a:srgbClr val="0D1117"/>
                </a:solidFill>
                <a:latin typeface="Calibri" pitchFamily="34" charset="0"/>
                <a:ea typeface="Calibri" pitchFamily="34" charset="-122"/>
                <a:cs typeface="Calibri" pitchFamily="34" charset="-120"/>
              </a:rPr>
              <a:t>ask whether the user’s needs are actually being met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457200"/>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The two candidate designs</a:t>
            </a:r>
            <a:endParaRPr lang="en-US" sz="2800" dirty="0"/>
          </a:p>
        </p:txBody>
      </p:sp>
      <p:sp>
        <p:nvSpPr>
          <p:cNvPr id="5" name="Text 3"/>
          <p:cNvSpPr/>
          <p:nvPr/>
        </p:nvSpPr>
        <p:spPr>
          <a:xfrm>
            <a:off x="2148840" y="713232"/>
            <a:ext cx="6537960" cy="274320"/>
          </a:xfrm>
          <a:prstGeom prst="rect">
            <a:avLst/>
          </a:prstGeom>
          <a:noFill/>
          <a:ln/>
        </p:spPr>
        <p:txBody>
          <a:bodyPr wrap="square" lIns="0" tIns="0" rIns="0" bIns="0" rtlCol="0" anchor="ctr"/>
          <a:lstStyle/>
          <a:p>
            <a:pPr marL="0" indent="0">
              <a:buNone/>
            </a:pPr>
            <a:r>
              <a:rPr lang="en-US" sz="1400" dirty="0">
                <a:solidFill>
                  <a:srgbClr val="5B6472"/>
                </a:solidFill>
                <a:latin typeface="Calibri" pitchFamily="34" charset="0"/>
                <a:ea typeface="Calibri" pitchFamily="34" charset="-122"/>
                <a:cs typeface="Calibri" pitchFamily="34" charset="-120"/>
              </a:rPr>
              <a:t>Same solution, same data, same functions — two different ways to interact with it</a:t>
            </a:r>
            <a:endParaRPr lang="en-US" sz="1400" dirty="0"/>
          </a:p>
        </p:txBody>
      </p:sp>
      <p:sp>
        <p:nvSpPr>
          <p:cNvPr id="6" name="Shape 4"/>
          <p:cNvSpPr/>
          <p:nvPr/>
        </p:nvSpPr>
        <p:spPr>
          <a:xfrm>
            <a:off x="457200" y="1234440"/>
            <a:ext cx="3977640" cy="3154680"/>
          </a:xfrm>
          <a:prstGeom prst="roundRect">
            <a:avLst>
              <a:gd name="adj" fmla="val 2319"/>
            </a:avLst>
          </a:prstGeom>
          <a:solidFill>
            <a:srgbClr val="FFFFFF"/>
          </a:solidFill>
          <a:ln w="12700">
            <a:solidFill>
              <a:srgbClr val="4361EE"/>
            </a:solidFill>
            <a:prstDash val="solid"/>
          </a:ln>
        </p:spPr>
        <p:txBody>
          <a:bodyPr/>
          <a:lstStyle/>
          <a:p>
            <a:endParaRPr lang="en-AU"/>
          </a:p>
        </p:txBody>
      </p:sp>
      <p:sp>
        <p:nvSpPr>
          <p:cNvPr id="7" name="Text 5"/>
          <p:cNvSpPr/>
          <p:nvPr/>
        </p:nvSpPr>
        <p:spPr>
          <a:xfrm>
            <a:off x="685800" y="1371600"/>
            <a:ext cx="3566160" cy="365760"/>
          </a:xfrm>
          <a:prstGeom prst="rect">
            <a:avLst/>
          </a:prstGeom>
          <a:noFill/>
          <a:ln/>
        </p:spPr>
        <p:txBody>
          <a:bodyPr wrap="square" lIns="0" tIns="0" rIns="0" bIns="0" rtlCol="0" anchor="ctr"/>
          <a:lstStyle/>
          <a:p>
            <a:pPr marL="0" indent="0">
              <a:buNone/>
            </a:pPr>
            <a:r>
              <a:rPr lang="en-US" sz="2200" b="1" dirty="0">
                <a:solidFill>
                  <a:srgbClr val="4361EE"/>
                </a:solidFill>
                <a:latin typeface="Cambria" pitchFamily="34" charset="0"/>
                <a:ea typeface="Cambria" pitchFamily="34" charset="-122"/>
                <a:cs typeface="Cambria" pitchFamily="34" charset="-120"/>
              </a:rPr>
              <a:t>Design A</a:t>
            </a:r>
            <a:endParaRPr lang="en-US" sz="2200" dirty="0"/>
          </a:p>
        </p:txBody>
      </p:sp>
      <p:sp>
        <p:nvSpPr>
          <p:cNvPr id="8" name="Text 6"/>
          <p:cNvSpPr/>
          <p:nvPr/>
        </p:nvSpPr>
        <p:spPr>
          <a:xfrm>
            <a:off x="685800" y="1828800"/>
            <a:ext cx="3566160" cy="2423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One long scrolling page</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Content nested in expanding accordions</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Every action opens a dialog box over the page</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Edit and archive buttons on every row</a:t>
            </a:r>
            <a:endParaRPr lang="en-US" sz="1600" dirty="0"/>
          </a:p>
        </p:txBody>
      </p:sp>
      <p:sp>
        <p:nvSpPr>
          <p:cNvPr id="9" name="Shape 7"/>
          <p:cNvSpPr/>
          <p:nvPr/>
        </p:nvSpPr>
        <p:spPr>
          <a:xfrm>
            <a:off x="4709160" y="1234440"/>
            <a:ext cx="3977640" cy="3154680"/>
          </a:xfrm>
          <a:prstGeom prst="roundRect">
            <a:avLst>
              <a:gd name="adj" fmla="val 2319"/>
            </a:avLst>
          </a:prstGeom>
          <a:solidFill>
            <a:srgbClr val="FFFFFF"/>
          </a:solidFill>
          <a:ln w="12700">
            <a:solidFill>
              <a:srgbClr val="8B5CF6"/>
            </a:solidFill>
            <a:prstDash val="solid"/>
          </a:ln>
        </p:spPr>
        <p:txBody>
          <a:bodyPr/>
          <a:lstStyle/>
          <a:p>
            <a:endParaRPr lang="en-AU"/>
          </a:p>
        </p:txBody>
      </p:sp>
      <p:sp>
        <p:nvSpPr>
          <p:cNvPr id="10" name="Text 8"/>
          <p:cNvSpPr/>
          <p:nvPr/>
        </p:nvSpPr>
        <p:spPr>
          <a:xfrm>
            <a:off x="4937760" y="1371600"/>
            <a:ext cx="3566160" cy="365760"/>
          </a:xfrm>
          <a:prstGeom prst="rect">
            <a:avLst/>
          </a:prstGeom>
          <a:noFill/>
          <a:ln/>
        </p:spPr>
        <p:txBody>
          <a:bodyPr wrap="square" lIns="0" tIns="0" rIns="0" bIns="0" rtlCol="0" anchor="ctr"/>
          <a:lstStyle/>
          <a:p>
            <a:pPr marL="0" indent="0">
              <a:buNone/>
            </a:pPr>
            <a:r>
              <a:rPr lang="en-US" sz="2200" b="1" dirty="0">
                <a:solidFill>
                  <a:srgbClr val="8B5CF6"/>
                </a:solidFill>
                <a:latin typeface="Cambria" pitchFamily="34" charset="0"/>
                <a:ea typeface="Cambria" pitchFamily="34" charset="-122"/>
                <a:cs typeface="Cambria" pitchFamily="34" charset="-120"/>
              </a:rPr>
              <a:t>Design B</a:t>
            </a:r>
            <a:endParaRPr lang="en-US" sz="2200" dirty="0"/>
          </a:p>
        </p:txBody>
      </p:sp>
      <p:sp>
        <p:nvSpPr>
          <p:cNvPr id="11" name="Text 9"/>
          <p:cNvSpPr/>
          <p:nvPr/>
        </p:nvSpPr>
        <p:spPr>
          <a:xfrm>
            <a:off x="4937760" y="1828800"/>
            <a:ext cx="3566160" cy="2423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Fixed columns: subjects, then units, then lessons</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Editing happens in a panel that never covers the list</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Actions found by typing in a command box</a:t>
            </a:r>
            <a:endParaRPr lang="en-US" sz="1600" dirty="0"/>
          </a:p>
          <a:p>
            <a:pPr marL="342900" indent="-342900">
              <a:spcAft>
                <a:spcPts val="800"/>
              </a:spcAft>
              <a:buSzPct val="100000"/>
              <a:buChar char="•"/>
            </a:pPr>
            <a:r>
              <a:rPr lang="en-US" sz="1600" dirty="0">
                <a:solidFill>
                  <a:srgbClr val="0D1117"/>
                </a:solidFill>
                <a:latin typeface="Calibri" pitchFamily="34" charset="0"/>
                <a:ea typeface="Calibri" pitchFamily="34" charset="-122"/>
                <a:cs typeface="Calibri" pitchFamily="34" charset="-120"/>
              </a:rPr>
              <a:t>Students see one “next task” instead of everything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Criteria fall under two headings</a:t>
            </a:r>
            <a:endParaRPr lang="en-US" sz="2800" dirty="0"/>
          </a:p>
        </p:txBody>
      </p:sp>
      <p:sp>
        <p:nvSpPr>
          <p:cNvPr id="5" name="Shape 3"/>
          <p:cNvSpPr/>
          <p:nvPr/>
        </p:nvSpPr>
        <p:spPr>
          <a:xfrm>
            <a:off x="457200" y="1188720"/>
            <a:ext cx="3977640" cy="3017520"/>
          </a:xfrm>
          <a:prstGeom prst="roundRect">
            <a:avLst>
              <a:gd name="adj" fmla="val 2424"/>
            </a:avLst>
          </a:prstGeom>
          <a:solidFill>
            <a:srgbClr val="F4F6FB"/>
          </a:solidFill>
          <a:ln w="12700">
            <a:solidFill>
              <a:srgbClr val="D8DDE6"/>
            </a:solidFill>
            <a:prstDash val="solid"/>
          </a:ln>
        </p:spPr>
        <p:txBody>
          <a:bodyPr/>
          <a:lstStyle/>
          <a:p>
            <a:endParaRPr lang="en-AU"/>
          </a:p>
        </p:txBody>
      </p:sp>
      <p:sp>
        <p:nvSpPr>
          <p:cNvPr id="6" name="Text 4"/>
          <p:cNvSpPr/>
          <p:nvPr/>
        </p:nvSpPr>
        <p:spPr>
          <a:xfrm>
            <a:off x="685800" y="1325880"/>
            <a:ext cx="3566160" cy="365760"/>
          </a:xfrm>
          <a:prstGeom prst="rect">
            <a:avLst/>
          </a:prstGeom>
          <a:noFill/>
          <a:ln/>
        </p:spPr>
        <p:txBody>
          <a:bodyPr wrap="square" lIns="0" tIns="0" rIns="0" bIns="0" rtlCol="0" anchor="ctr"/>
          <a:lstStyle/>
          <a:p>
            <a:pPr marL="0" indent="0">
              <a:buNone/>
            </a:pPr>
            <a:r>
              <a:rPr lang="en-US" sz="2200" b="1" dirty="0">
                <a:solidFill>
                  <a:srgbClr val="0D1117"/>
                </a:solidFill>
                <a:latin typeface="Cambria" pitchFamily="34" charset="0"/>
                <a:ea typeface="Cambria" pitchFamily="34" charset="-122"/>
                <a:cs typeface="Cambria" pitchFamily="34" charset="-120"/>
              </a:rPr>
              <a:t>Efficiency</a:t>
            </a:r>
            <a:endParaRPr lang="en-US" sz="2200" dirty="0"/>
          </a:p>
        </p:txBody>
      </p:sp>
      <p:sp>
        <p:nvSpPr>
          <p:cNvPr id="7" name="Text 5"/>
          <p:cNvSpPr/>
          <p:nvPr/>
        </p:nvSpPr>
        <p:spPr>
          <a:xfrm>
            <a:off x="685800" y="1737360"/>
            <a:ext cx="3566160" cy="548640"/>
          </a:xfrm>
          <a:prstGeom prst="rect">
            <a:avLst/>
          </a:prstGeom>
          <a:noFill/>
          <a:ln/>
        </p:spPr>
        <p:txBody>
          <a:bodyPr wrap="square" lIns="0" tIns="0" rIns="0" bIns="0" rtlCol="0" anchor="ctr"/>
          <a:lstStyle/>
          <a:p>
            <a:pPr marL="0" indent="0">
              <a:buNone/>
            </a:pPr>
            <a:r>
              <a:rPr lang="en-US" sz="1600" dirty="0">
                <a:solidFill>
                  <a:srgbClr val="5B6472"/>
                </a:solidFill>
                <a:latin typeface="Calibri" pitchFamily="34" charset="0"/>
                <a:ea typeface="Calibri" pitchFamily="34" charset="-122"/>
                <a:cs typeface="Calibri" pitchFamily="34" charset="-120"/>
              </a:rPr>
              <a:t>How much time, cost and effort are needed to get the result.</a:t>
            </a:r>
            <a:endParaRPr lang="en-US" sz="1600" dirty="0"/>
          </a:p>
        </p:txBody>
      </p:sp>
      <p:sp>
        <p:nvSpPr>
          <p:cNvPr id="8" name="Text 6"/>
          <p:cNvSpPr/>
          <p:nvPr/>
        </p:nvSpPr>
        <p:spPr>
          <a:xfrm>
            <a:off x="685800" y="2331720"/>
            <a:ext cx="3566160" cy="1737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Speed and productivity</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Cost of running it</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Labour — how much work it takes</a:t>
            </a:r>
            <a:endParaRPr lang="en-US" sz="1800" dirty="0"/>
          </a:p>
        </p:txBody>
      </p:sp>
      <p:sp>
        <p:nvSpPr>
          <p:cNvPr id="9" name="Shape 7"/>
          <p:cNvSpPr/>
          <p:nvPr/>
        </p:nvSpPr>
        <p:spPr>
          <a:xfrm>
            <a:off x="4709160" y="1188720"/>
            <a:ext cx="3977640" cy="3017520"/>
          </a:xfrm>
          <a:prstGeom prst="roundRect">
            <a:avLst>
              <a:gd name="adj" fmla="val 2424"/>
            </a:avLst>
          </a:prstGeom>
          <a:solidFill>
            <a:srgbClr val="F4F6FB"/>
          </a:solidFill>
          <a:ln w="12700">
            <a:solidFill>
              <a:srgbClr val="D8DDE6"/>
            </a:solidFill>
            <a:prstDash val="solid"/>
          </a:ln>
        </p:spPr>
        <p:txBody>
          <a:bodyPr/>
          <a:lstStyle/>
          <a:p>
            <a:endParaRPr lang="en-AU"/>
          </a:p>
        </p:txBody>
      </p:sp>
      <p:sp>
        <p:nvSpPr>
          <p:cNvPr id="10" name="Text 8"/>
          <p:cNvSpPr/>
          <p:nvPr/>
        </p:nvSpPr>
        <p:spPr>
          <a:xfrm>
            <a:off x="4937760" y="1325880"/>
            <a:ext cx="3566160" cy="365760"/>
          </a:xfrm>
          <a:prstGeom prst="rect">
            <a:avLst/>
          </a:prstGeom>
          <a:noFill/>
          <a:ln/>
        </p:spPr>
        <p:txBody>
          <a:bodyPr wrap="square" lIns="0" tIns="0" rIns="0" bIns="0" rtlCol="0" anchor="ctr"/>
          <a:lstStyle/>
          <a:p>
            <a:pPr marL="0" indent="0">
              <a:buNone/>
            </a:pPr>
            <a:r>
              <a:rPr lang="en-US" sz="2200" b="1" dirty="0">
                <a:solidFill>
                  <a:srgbClr val="0D1117"/>
                </a:solidFill>
                <a:latin typeface="Cambria" pitchFamily="34" charset="0"/>
                <a:ea typeface="Cambria" pitchFamily="34" charset="-122"/>
                <a:cs typeface="Cambria" pitchFamily="34" charset="-120"/>
              </a:rPr>
              <a:t>Effectiveness</a:t>
            </a:r>
            <a:endParaRPr lang="en-US" sz="2200" dirty="0"/>
          </a:p>
        </p:txBody>
      </p:sp>
      <p:sp>
        <p:nvSpPr>
          <p:cNvPr id="11" name="Text 9"/>
          <p:cNvSpPr/>
          <p:nvPr/>
        </p:nvSpPr>
        <p:spPr>
          <a:xfrm>
            <a:off x="4937760" y="1737360"/>
            <a:ext cx="3566160" cy="548640"/>
          </a:xfrm>
          <a:prstGeom prst="rect">
            <a:avLst/>
          </a:prstGeom>
          <a:noFill/>
          <a:ln/>
        </p:spPr>
        <p:txBody>
          <a:bodyPr wrap="square" lIns="0" tIns="0" rIns="0" bIns="0" rtlCol="0" anchor="ctr"/>
          <a:lstStyle/>
          <a:p>
            <a:pPr marL="0" indent="0">
              <a:buNone/>
            </a:pPr>
            <a:r>
              <a:rPr lang="en-US" sz="1600" dirty="0">
                <a:solidFill>
                  <a:srgbClr val="5B6472"/>
                </a:solidFill>
                <a:latin typeface="Calibri" pitchFamily="34" charset="0"/>
                <a:ea typeface="Calibri" pitchFamily="34" charset="-122"/>
                <a:cs typeface="Calibri" pitchFamily="34" charset="-120"/>
              </a:rPr>
              <a:t>How well the solution meets the needs of its users.</a:t>
            </a:r>
            <a:endParaRPr lang="en-US" sz="1600" dirty="0"/>
          </a:p>
        </p:txBody>
      </p:sp>
      <p:sp>
        <p:nvSpPr>
          <p:cNvPr id="12" name="Text 10"/>
          <p:cNvSpPr/>
          <p:nvPr/>
        </p:nvSpPr>
        <p:spPr>
          <a:xfrm>
            <a:off x="4937760" y="2331720"/>
            <a:ext cx="3566160" cy="1737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Usability, clarity, readability</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Accessibility, accuracy, completeness</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Attractiveness, relevance, timeliness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457200"/>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The criteria we will use</a:t>
            </a:r>
            <a:endParaRPr lang="en-US" sz="2800" dirty="0"/>
          </a:p>
        </p:txBody>
      </p:sp>
      <p:sp>
        <p:nvSpPr>
          <p:cNvPr id="5" name="Text 3"/>
          <p:cNvSpPr/>
          <p:nvPr/>
        </p:nvSpPr>
        <p:spPr>
          <a:xfrm>
            <a:off x="2148840" y="713232"/>
            <a:ext cx="6537960" cy="274320"/>
          </a:xfrm>
          <a:prstGeom prst="rect">
            <a:avLst/>
          </a:prstGeom>
          <a:noFill/>
          <a:ln/>
        </p:spPr>
        <p:txBody>
          <a:bodyPr wrap="square" lIns="0" tIns="0" rIns="0" bIns="0" rtlCol="0" anchor="ctr"/>
          <a:lstStyle/>
          <a:p>
            <a:pPr marL="0" indent="0">
              <a:buNone/>
            </a:pPr>
            <a:r>
              <a:rPr lang="en-US" sz="1400" dirty="0">
                <a:solidFill>
                  <a:srgbClr val="5B6472"/>
                </a:solidFill>
                <a:latin typeface="Calibri" pitchFamily="34" charset="0"/>
                <a:ea typeface="Calibri" pitchFamily="34" charset="-122"/>
                <a:cs typeface="Calibri" pitchFamily="34" charset="-120"/>
              </a:rPr>
              <a:t>Three under each heading — written as measurable statements</a:t>
            </a:r>
            <a:endParaRPr lang="en-US" sz="1400" dirty="0"/>
          </a:p>
        </p:txBody>
      </p:sp>
      <p:sp>
        <p:nvSpPr>
          <p:cNvPr id="6" name="Text 4"/>
          <p:cNvSpPr/>
          <p:nvPr/>
        </p:nvSpPr>
        <p:spPr>
          <a:xfrm>
            <a:off x="457200" y="1234440"/>
            <a:ext cx="1417320" cy="384048"/>
          </a:xfrm>
          <a:prstGeom prst="roundRect">
            <a:avLst>
              <a:gd name="adj" fmla="val 19048"/>
            </a:avLst>
          </a:prstGeom>
          <a:solidFill>
            <a:srgbClr val="4361EE"/>
          </a:solidFill>
          <a:ln>
            <a:solidFill>
              <a:srgbClr val="4361EE"/>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EFFICIENCY</a:t>
            </a:r>
            <a:endParaRPr lang="en-US" sz="1100" dirty="0"/>
          </a:p>
        </p:txBody>
      </p:sp>
      <p:sp>
        <p:nvSpPr>
          <p:cNvPr id="7" name="Text 5"/>
          <p:cNvSpPr/>
          <p:nvPr/>
        </p:nvSpPr>
        <p:spPr>
          <a:xfrm>
            <a:off x="2011680" y="123444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A teacher can add a lesson and attach its slides without losing sight of the lesson list</a:t>
            </a:r>
            <a:endParaRPr lang="en-US" sz="1600" dirty="0"/>
          </a:p>
        </p:txBody>
      </p:sp>
      <p:sp>
        <p:nvSpPr>
          <p:cNvPr id="8" name="Text 6"/>
          <p:cNvSpPr/>
          <p:nvPr/>
        </p:nvSpPr>
        <p:spPr>
          <a:xfrm>
            <a:off x="457200" y="1737360"/>
            <a:ext cx="1417320" cy="384048"/>
          </a:xfrm>
          <a:prstGeom prst="roundRect">
            <a:avLst>
              <a:gd name="adj" fmla="val 19048"/>
            </a:avLst>
          </a:prstGeom>
          <a:solidFill>
            <a:srgbClr val="4361EE"/>
          </a:solidFill>
          <a:ln>
            <a:solidFill>
              <a:srgbClr val="4361EE"/>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EFFICIENCY</a:t>
            </a:r>
            <a:endParaRPr lang="en-US" sz="1100" dirty="0"/>
          </a:p>
        </p:txBody>
      </p:sp>
      <p:sp>
        <p:nvSpPr>
          <p:cNvPr id="9" name="Text 7"/>
          <p:cNvSpPr/>
          <p:nvPr/>
        </p:nvSpPr>
        <p:spPr>
          <a:xfrm>
            <a:off x="2011680" y="173736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Reaching one student’s progress for one lesson takes fewer steps</a:t>
            </a:r>
            <a:endParaRPr lang="en-US" sz="1600" dirty="0"/>
          </a:p>
        </p:txBody>
      </p:sp>
      <p:sp>
        <p:nvSpPr>
          <p:cNvPr id="10" name="Text 8"/>
          <p:cNvSpPr/>
          <p:nvPr/>
        </p:nvSpPr>
        <p:spPr>
          <a:xfrm>
            <a:off x="457200" y="2240280"/>
            <a:ext cx="1417320" cy="384048"/>
          </a:xfrm>
          <a:prstGeom prst="roundRect">
            <a:avLst>
              <a:gd name="adj" fmla="val 19048"/>
            </a:avLst>
          </a:prstGeom>
          <a:solidFill>
            <a:srgbClr val="4361EE"/>
          </a:solidFill>
          <a:ln>
            <a:solidFill>
              <a:srgbClr val="4361EE"/>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EFFICIENCY</a:t>
            </a:r>
            <a:endParaRPr lang="en-US" sz="1100" dirty="0"/>
          </a:p>
        </p:txBody>
      </p:sp>
      <p:sp>
        <p:nvSpPr>
          <p:cNvPr id="11" name="Text 9"/>
          <p:cNvSpPr/>
          <p:nvPr/>
        </p:nvSpPr>
        <p:spPr>
          <a:xfrm>
            <a:off x="2011680" y="224028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Less teacher time is spent re-finding their place after an action</a:t>
            </a:r>
            <a:endParaRPr lang="en-US" sz="1600" dirty="0"/>
          </a:p>
        </p:txBody>
      </p:sp>
      <p:sp>
        <p:nvSpPr>
          <p:cNvPr id="12" name="Text 10"/>
          <p:cNvSpPr/>
          <p:nvPr/>
        </p:nvSpPr>
        <p:spPr>
          <a:xfrm>
            <a:off x="457200" y="2743200"/>
            <a:ext cx="1417320" cy="384048"/>
          </a:xfrm>
          <a:prstGeom prst="roundRect">
            <a:avLst>
              <a:gd name="adj" fmla="val 19048"/>
            </a:avLst>
          </a:prstGeom>
          <a:solidFill>
            <a:srgbClr val="8B5CF6"/>
          </a:solidFill>
          <a:ln>
            <a:solidFill>
              <a:srgbClr val="8B5CF6"/>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EFFECTIVENESS</a:t>
            </a:r>
            <a:endParaRPr lang="en-US" sz="1100" dirty="0"/>
          </a:p>
        </p:txBody>
      </p:sp>
      <p:sp>
        <p:nvSpPr>
          <p:cNvPr id="13" name="Text 11"/>
          <p:cNvSpPr/>
          <p:nvPr/>
        </p:nvSpPr>
        <p:spPr>
          <a:xfrm>
            <a:off x="2011680" y="274320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Usability: a teacher new to the portal completes core tasks unaided</a:t>
            </a:r>
            <a:endParaRPr lang="en-US" sz="1600" dirty="0"/>
          </a:p>
        </p:txBody>
      </p:sp>
      <p:sp>
        <p:nvSpPr>
          <p:cNvPr id="14" name="Text 12"/>
          <p:cNvSpPr/>
          <p:nvPr/>
        </p:nvSpPr>
        <p:spPr>
          <a:xfrm>
            <a:off x="457200" y="3246120"/>
            <a:ext cx="1417320" cy="384048"/>
          </a:xfrm>
          <a:prstGeom prst="roundRect">
            <a:avLst>
              <a:gd name="adj" fmla="val 19048"/>
            </a:avLst>
          </a:prstGeom>
          <a:solidFill>
            <a:srgbClr val="8B5CF6"/>
          </a:solidFill>
          <a:ln>
            <a:solidFill>
              <a:srgbClr val="8B5CF6"/>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EFFECTIVENESS</a:t>
            </a:r>
            <a:endParaRPr lang="en-US" sz="1100" dirty="0"/>
          </a:p>
        </p:txBody>
      </p:sp>
      <p:sp>
        <p:nvSpPr>
          <p:cNvPr id="15" name="Text 13"/>
          <p:cNvSpPr/>
          <p:nvPr/>
        </p:nvSpPr>
        <p:spPr>
          <a:xfrm>
            <a:off x="2011680" y="324612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Clarity: a student can identify what to do next within five seconds</a:t>
            </a:r>
            <a:endParaRPr lang="en-US" sz="1600" dirty="0"/>
          </a:p>
        </p:txBody>
      </p:sp>
      <p:sp>
        <p:nvSpPr>
          <p:cNvPr id="16" name="Text 14"/>
          <p:cNvSpPr/>
          <p:nvPr/>
        </p:nvSpPr>
        <p:spPr>
          <a:xfrm>
            <a:off x="457200" y="3749040"/>
            <a:ext cx="1417320" cy="384048"/>
          </a:xfrm>
          <a:prstGeom prst="roundRect">
            <a:avLst>
              <a:gd name="adj" fmla="val 19048"/>
            </a:avLst>
          </a:prstGeom>
          <a:solidFill>
            <a:srgbClr val="8B5CF6"/>
          </a:solidFill>
          <a:ln>
            <a:solidFill>
              <a:srgbClr val="8B5CF6"/>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EFFECTIVENESS</a:t>
            </a:r>
            <a:endParaRPr lang="en-US" sz="1100" dirty="0"/>
          </a:p>
        </p:txBody>
      </p:sp>
      <p:sp>
        <p:nvSpPr>
          <p:cNvPr id="17" name="Text 15"/>
          <p:cNvSpPr/>
          <p:nvPr/>
        </p:nvSpPr>
        <p:spPr>
          <a:xfrm>
            <a:off x="2011680" y="3749040"/>
            <a:ext cx="6675120" cy="384048"/>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Accessibility: all text is readable from the back of the room and reachable by keyboard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One criterion, fully written out</a:t>
            </a:r>
            <a:endParaRPr lang="en-US" sz="2800" dirty="0"/>
          </a:p>
        </p:txBody>
      </p:sp>
      <p:sp>
        <p:nvSpPr>
          <p:cNvPr id="5" name="Text 3"/>
          <p:cNvSpPr/>
          <p:nvPr/>
        </p:nvSpPr>
        <p:spPr>
          <a:xfrm>
            <a:off x="457200" y="1234440"/>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p>
        </p:txBody>
      </p:sp>
      <p:sp>
        <p:nvSpPr>
          <p:cNvPr id="6" name="Text 4"/>
          <p:cNvSpPr/>
          <p:nvPr/>
        </p:nvSpPr>
        <p:spPr>
          <a:xfrm>
            <a:off x="2560320" y="1234440"/>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A teacher can add a lesson and attach slides without losing the list</a:t>
            </a:r>
            <a:endParaRPr lang="en-US" sz="1600" dirty="0"/>
          </a:p>
        </p:txBody>
      </p:sp>
      <p:sp>
        <p:nvSpPr>
          <p:cNvPr id="7" name="Text 5"/>
          <p:cNvSpPr/>
          <p:nvPr/>
        </p:nvSpPr>
        <p:spPr>
          <a:xfrm>
            <a:off x="457200" y="1636776"/>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Time frame</a:t>
            </a:r>
            <a:endParaRPr lang="en-US" sz="1400" dirty="0"/>
          </a:p>
        </p:txBody>
      </p:sp>
      <p:sp>
        <p:nvSpPr>
          <p:cNvPr id="8" name="Text 6"/>
          <p:cNvSpPr/>
          <p:nvPr/>
        </p:nvSpPr>
        <p:spPr>
          <a:xfrm>
            <a:off x="2560320" y="1636776"/>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Over the first four weeks of Term 3</a:t>
            </a:r>
            <a:endParaRPr lang="en-US" sz="1600" dirty="0"/>
          </a:p>
        </p:txBody>
      </p:sp>
      <p:sp>
        <p:nvSpPr>
          <p:cNvPr id="9" name="Text 7"/>
          <p:cNvSpPr/>
          <p:nvPr/>
        </p:nvSpPr>
        <p:spPr>
          <a:xfrm>
            <a:off x="457200" y="2039112"/>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required</a:t>
            </a:r>
            <a:endParaRPr lang="en-US" sz="1400" dirty="0"/>
          </a:p>
        </p:txBody>
      </p:sp>
      <p:sp>
        <p:nvSpPr>
          <p:cNvPr id="10" name="Text 8"/>
          <p:cNvSpPr/>
          <p:nvPr/>
        </p:nvSpPr>
        <p:spPr>
          <a:xfrm>
            <a:off x="2560320" y="2039112"/>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Task completion times; count of abandoned attempts</a:t>
            </a:r>
            <a:endParaRPr lang="en-US" sz="1600" dirty="0"/>
          </a:p>
        </p:txBody>
      </p:sp>
      <p:sp>
        <p:nvSpPr>
          <p:cNvPr id="11" name="Text 9"/>
          <p:cNvSpPr/>
          <p:nvPr/>
        </p:nvSpPr>
        <p:spPr>
          <a:xfrm>
            <a:off x="457200" y="2441448"/>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Collection method</a:t>
            </a:r>
            <a:endParaRPr lang="en-US" sz="1400" dirty="0"/>
          </a:p>
        </p:txBody>
      </p:sp>
      <p:sp>
        <p:nvSpPr>
          <p:cNvPr id="12" name="Text 10"/>
          <p:cNvSpPr/>
          <p:nvPr/>
        </p:nvSpPr>
        <p:spPr>
          <a:xfrm>
            <a:off x="2560320" y="2441448"/>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Screen-recorded task walkthrough; system logs</a:t>
            </a:r>
            <a:endParaRPr lang="en-US" sz="1600" dirty="0"/>
          </a:p>
        </p:txBody>
      </p:sp>
      <p:sp>
        <p:nvSpPr>
          <p:cNvPr id="13" name="Text 11"/>
          <p:cNvSpPr/>
          <p:nvPr/>
        </p:nvSpPr>
        <p:spPr>
          <a:xfrm>
            <a:off x="457200" y="2843784"/>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Assessment</a:t>
            </a:r>
            <a:endParaRPr lang="en-US" sz="1400" dirty="0"/>
          </a:p>
        </p:txBody>
      </p:sp>
      <p:sp>
        <p:nvSpPr>
          <p:cNvPr id="14" name="Text 12"/>
          <p:cNvSpPr/>
          <p:nvPr/>
        </p:nvSpPr>
        <p:spPr>
          <a:xfrm>
            <a:off x="2560320" y="2843784"/>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Compare the median completion time, Design A against Design B</a:t>
            </a:r>
            <a:endParaRPr lang="en-US" sz="1600" dirty="0"/>
          </a:p>
        </p:txBody>
      </p:sp>
      <p:sp>
        <p:nvSpPr>
          <p:cNvPr id="15" name="Text 13"/>
          <p:cNvSpPr/>
          <p:nvPr/>
        </p:nvSpPr>
        <p:spPr>
          <a:xfrm>
            <a:off x="457200" y="3246120"/>
            <a:ext cx="1965960" cy="384048"/>
          </a:xfrm>
          <a:prstGeom prst="rect">
            <a:avLst/>
          </a:prstGeom>
          <a:solidFill>
            <a:srgbClr val="4361EE"/>
          </a:solidFill>
          <a:ln w="12700">
            <a:solidFill>
              <a:srgbClr val="FFFFFF"/>
            </a:solidFill>
          </a:ln>
        </p:spPr>
        <p:txBody>
          <a:bodyPr wrap="square" lIns="1778" tIns="1778" rIns="1778" bIns="1778"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Judgement</a:t>
            </a:r>
            <a:endParaRPr lang="en-US" sz="1400" dirty="0"/>
          </a:p>
        </p:txBody>
      </p:sp>
      <p:sp>
        <p:nvSpPr>
          <p:cNvPr id="16" name="Text 14"/>
          <p:cNvSpPr/>
          <p:nvPr/>
        </p:nvSpPr>
        <p:spPr>
          <a:xfrm>
            <a:off x="2560320" y="3246120"/>
            <a:ext cx="6126480" cy="384048"/>
          </a:xfrm>
          <a:prstGeom prst="rect">
            <a:avLst/>
          </a:prstGeom>
          <a:solidFill>
            <a:srgbClr val="F4F6FB"/>
          </a:solidFill>
          <a:ln w="12700">
            <a:solidFill>
              <a:srgbClr val="FFFFFF"/>
            </a:solidFill>
          </a:ln>
        </p:spPr>
        <p:txBody>
          <a:bodyPr wrap="square" lIns="1016" tIns="1016" rIns="1016" bIns="1016" rtlCol="0" anchor="ctr"/>
          <a:lstStyle/>
          <a:p>
            <a:pPr marL="0" indent="0">
              <a:buNone/>
            </a:pPr>
            <a:r>
              <a:rPr lang="en-US" sz="1600" dirty="0">
                <a:solidFill>
                  <a:srgbClr val="0D1117"/>
                </a:solidFill>
                <a:latin typeface="Calibri" pitchFamily="34" charset="0"/>
                <a:ea typeface="Calibri" pitchFamily="34" charset="-122"/>
                <a:cs typeface="Calibri" pitchFamily="34" charset="-120"/>
              </a:rPr>
              <a:t>Met if the median time is lower and no attempt is abandoned</a:t>
            </a:r>
            <a:endParaRPr lang="en-US" sz="1600" dirty="0"/>
          </a:p>
        </p:txBody>
      </p:sp>
      <p:sp>
        <p:nvSpPr>
          <p:cNvPr id="17" name="Text 15"/>
          <p:cNvSpPr/>
          <p:nvPr/>
        </p:nvSpPr>
        <p:spPr>
          <a:xfrm>
            <a:off x="2560320" y="3675888"/>
            <a:ext cx="6126480" cy="256032"/>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In your folio these six become the six columns of one table row.</a:t>
            </a:r>
            <a:endParaRPr lang="en-US" sz="1200" dirty="0"/>
          </a:p>
        </p:txBody>
      </p:sp>
      <p:sp>
        <p:nvSpPr>
          <p:cNvPr id="18" name="Shape 16"/>
          <p:cNvSpPr/>
          <p:nvPr/>
        </p:nvSpPr>
        <p:spPr>
          <a:xfrm>
            <a:off x="457200" y="4023360"/>
            <a:ext cx="8229600" cy="685800"/>
          </a:xfrm>
          <a:prstGeom prst="roundRect">
            <a:avLst>
              <a:gd name="adj" fmla="val 10667"/>
            </a:avLst>
          </a:prstGeom>
          <a:solidFill>
            <a:srgbClr val="FFFFFF"/>
          </a:solidFill>
          <a:ln w="12700">
            <a:solidFill>
              <a:srgbClr val="F59E0B"/>
            </a:solidFill>
            <a:prstDash val="solid"/>
          </a:ln>
        </p:spPr>
        <p:txBody>
          <a:bodyPr/>
          <a:lstStyle/>
          <a:p>
            <a:endParaRPr lang="en-AU"/>
          </a:p>
        </p:txBody>
      </p:sp>
      <p:sp>
        <p:nvSpPr>
          <p:cNvPr id="19" name="Text 17"/>
          <p:cNvSpPr/>
          <p:nvPr/>
        </p:nvSpPr>
        <p:spPr>
          <a:xfrm>
            <a:off x="685800" y="4096512"/>
            <a:ext cx="7772400" cy="548640"/>
          </a:xfrm>
          <a:prstGeom prst="rect">
            <a:avLst/>
          </a:prstGeom>
          <a:noFill/>
          <a:ln/>
        </p:spPr>
        <p:txBody>
          <a:bodyPr wrap="square" lIns="0" tIns="0" rIns="0" bIns="0" rtlCol="0" anchor="ctr"/>
          <a:lstStyle/>
          <a:p>
            <a:pPr marL="0" indent="0">
              <a:buNone/>
            </a:pPr>
            <a:r>
              <a:rPr lang="en-US" sz="1500" b="1" dirty="0">
                <a:solidFill>
                  <a:srgbClr val="0D1117"/>
                </a:solidFill>
                <a:latin typeface="Calibri" pitchFamily="34" charset="0"/>
                <a:ea typeface="Calibri" pitchFamily="34" charset="-122"/>
                <a:cs typeface="Calibri" pitchFamily="34" charset="-120"/>
              </a:rPr>
              <a:t>The judgement column is the one students skip. </a:t>
            </a:r>
            <a:r>
              <a:rPr lang="en-US" sz="1500" dirty="0">
                <a:solidFill>
                  <a:srgbClr val="0D1117"/>
                </a:solidFill>
                <a:latin typeface="Calibri" pitchFamily="34" charset="0"/>
                <a:ea typeface="Calibri" pitchFamily="34" charset="-122"/>
                <a:cs typeface="Calibri" pitchFamily="34" charset="-120"/>
              </a:rPr>
              <a:t>Without it, there is no line between met and not met — and the criterion cannot decide anything.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How the evidence is collected</a:t>
            </a:r>
            <a:endParaRPr lang="en-US" sz="2800" dirty="0"/>
          </a:p>
        </p:txBody>
      </p:sp>
      <p:sp>
        <p:nvSpPr>
          <p:cNvPr id="5" name="Shape 3"/>
          <p:cNvSpPr/>
          <p:nvPr/>
        </p:nvSpPr>
        <p:spPr>
          <a:xfrm>
            <a:off x="457200" y="1234440"/>
            <a:ext cx="3977640" cy="2926080"/>
          </a:xfrm>
          <a:prstGeom prst="roundRect">
            <a:avLst>
              <a:gd name="adj" fmla="val 2500"/>
            </a:avLst>
          </a:prstGeom>
          <a:solidFill>
            <a:srgbClr val="F4F6FB"/>
          </a:solidFill>
          <a:ln w="12700">
            <a:solidFill>
              <a:srgbClr val="10B981"/>
            </a:solidFill>
            <a:prstDash val="solid"/>
          </a:ln>
        </p:spPr>
        <p:txBody>
          <a:bodyPr/>
          <a:lstStyle/>
          <a:p>
            <a:endParaRPr lang="en-AU"/>
          </a:p>
        </p:txBody>
      </p:sp>
      <p:sp>
        <p:nvSpPr>
          <p:cNvPr id="6" name="Text 4"/>
          <p:cNvSpPr/>
          <p:nvPr/>
        </p:nvSpPr>
        <p:spPr>
          <a:xfrm>
            <a:off x="685800" y="1371600"/>
            <a:ext cx="3566160" cy="365760"/>
          </a:xfrm>
          <a:prstGeom prst="rect">
            <a:avLst/>
          </a:prstGeom>
          <a:noFill/>
          <a:ln/>
        </p:spPr>
        <p:txBody>
          <a:bodyPr wrap="square" lIns="0" tIns="0" rIns="0" bIns="0" rtlCol="0" anchor="ctr"/>
          <a:lstStyle/>
          <a:p>
            <a:pPr marL="0" indent="0">
              <a:buNone/>
            </a:pPr>
            <a:r>
              <a:rPr lang="en-US" sz="1800" b="1" dirty="0">
                <a:solidFill>
                  <a:srgbClr val="10B981"/>
                </a:solidFill>
                <a:latin typeface="Calibri" pitchFamily="34" charset="0"/>
                <a:ea typeface="Calibri" pitchFamily="34" charset="-122"/>
                <a:cs typeface="Calibri" pitchFamily="34" charset="-120"/>
              </a:rPr>
              <a:t>Objective — use this first</a:t>
            </a:r>
            <a:endParaRPr lang="en-US" sz="1800" dirty="0"/>
          </a:p>
        </p:txBody>
      </p:sp>
      <p:sp>
        <p:nvSpPr>
          <p:cNvPr id="7" name="Text 5"/>
          <p:cNvSpPr/>
          <p:nvPr/>
        </p:nvSpPr>
        <p:spPr>
          <a:xfrm>
            <a:off x="685800" y="1828800"/>
            <a:ext cx="356616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Fact-based and measurable</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Counts, times, logs, error records</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Hard to argue with</a:t>
            </a:r>
            <a:endParaRPr lang="en-US" sz="1800" dirty="0"/>
          </a:p>
        </p:txBody>
      </p:sp>
      <p:sp>
        <p:nvSpPr>
          <p:cNvPr id="8" name="Shape 6"/>
          <p:cNvSpPr/>
          <p:nvPr/>
        </p:nvSpPr>
        <p:spPr>
          <a:xfrm>
            <a:off x="4709160" y="1234440"/>
            <a:ext cx="3977640" cy="2926080"/>
          </a:xfrm>
          <a:prstGeom prst="roundRect">
            <a:avLst>
              <a:gd name="adj" fmla="val 2500"/>
            </a:avLst>
          </a:prstGeom>
          <a:solidFill>
            <a:srgbClr val="FFFFFF"/>
          </a:solidFill>
          <a:ln w="12700">
            <a:solidFill>
              <a:srgbClr val="D8DDE6"/>
            </a:solidFill>
            <a:prstDash val="solid"/>
          </a:ln>
        </p:spPr>
        <p:txBody>
          <a:bodyPr/>
          <a:lstStyle/>
          <a:p>
            <a:endParaRPr lang="en-AU"/>
          </a:p>
        </p:txBody>
      </p:sp>
      <p:sp>
        <p:nvSpPr>
          <p:cNvPr id="9" name="Text 7"/>
          <p:cNvSpPr/>
          <p:nvPr/>
        </p:nvSpPr>
        <p:spPr>
          <a:xfrm>
            <a:off x="4937760" y="1371600"/>
            <a:ext cx="3566160" cy="365760"/>
          </a:xfrm>
          <a:prstGeom prst="rect">
            <a:avLst/>
          </a:prstGeom>
          <a:noFill/>
          <a:ln/>
        </p:spPr>
        <p:txBody>
          <a:bodyPr wrap="square" lIns="0" tIns="0" rIns="0" bIns="0" rtlCol="0" anchor="ctr"/>
          <a:lstStyle/>
          <a:p>
            <a:pPr marL="0" indent="0">
              <a:buNone/>
            </a:pPr>
            <a:r>
              <a:rPr lang="en-US" sz="1800" b="1" dirty="0">
                <a:solidFill>
                  <a:srgbClr val="5B6472"/>
                </a:solidFill>
                <a:latin typeface="Calibri" pitchFamily="34" charset="0"/>
                <a:ea typeface="Calibri" pitchFamily="34" charset="-122"/>
                <a:cs typeface="Calibri" pitchFamily="34" charset="-120"/>
              </a:rPr>
              <a:t>Subjective — only when you must</a:t>
            </a:r>
            <a:endParaRPr lang="en-US" sz="1800" dirty="0"/>
          </a:p>
        </p:txBody>
      </p:sp>
      <p:sp>
        <p:nvSpPr>
          <p:cNvPr id="10" name="Text 8"/>
          <p:cNvSpPr/>
          <p:nvPr/>
        </p:nvSpPr>
        <p:spPr>
          <a:xfrm>
            <a:off x="4937760" y="1828800"/>
            <a:ext cx="356616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Opinions, emotions, personal judgement</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Surveys, interviews, questionnaires</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Use only where measuring is not possible or practical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APPLYING</a:t>
            </a:r>
            <a:endParaRPr lang="en-US" sz="1200" dirty="0"/>
          </a:p>
        </p:txBody>
      </p:sp>
      <p:sp>
        <p:nvSpPr>
          <p:cNvPr id="3" name="Text 1"/>
          <p:cNvSpPr/>
          <p:nvPr/>
        </p:nvSpPr>
        <p:spPr>
          <a:xfrm>
            <a:off x="457200" y="658368"/>
            <a:ext cx="1508760" cy="292608"/>
          </a:xfrm>
          <a:prstGeom prst="roundRect">
            <a:avLst>
              <a:gd name="adj" fmla="val 37500"/>
            </a:avLst>
          </a:prstGeom>
          <a:solidFill>
            <a:srgbClr val="10B981"/>
          </a:solidFill>
          <a:ln>
            <a:solidFill>
              <a:srgbClr val="10B981"/>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DEVICES ON</a:t>
            </a:r>
            <a:endParaRPr lang="en-US" sz="1200" dirty="0"/>
          </a:p>
        </p:txBody>
      </p:sp>
      <p:sp>
        <p:nvSpPr>
          <p:cNvPr id="4" name="Text 2"/>
          <p:cNvSpPr/>
          <p:nvPr/>
        </p:nvSpPr>
        <p:spPr>
          <a:xfrm>
            <a:off x="2148840" y="256032"/>
            <a:ext cx="6537960" cy="457200"/>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Score both designs</a:t>
            </a:r>
            <a:endParaRPr lang="en-US" sz="2800" dirty="0"/>
          </a:p>
        </p:txBody>
      </p:sp>
      <p:sp>
        <p:nvSpPr>
          <p:cNvPr id="5" name="Text 3"/>
          <p:cNvSpPr/>
          <p:nvPr/>
        </p:nvSpPr>
        <p:spPr>
          <a:xfrm>
            <a:off x="2148840" y="713232"/>
            <a:ext cx="6537960" cy="274320"/>
          </a:xfrm>
          <a:prstGeom prst="rect">
            <a:avLst/>
          </a:prstGeom>
          <a:noFill/>
          <a:ln/>
        </p:spPr>
        <p:txBody>
          <a:bodyPr wrap="square" lIns="0" tIns="0" rIns="0" bIns="0" rtlCol="0" anchor="ctr"/>
          <a:lstStyle/>
          <a:p>
            <a:pPr marL="0" indent="0">
              <a:buNone/>
            </a:pPr>
            <a:r>
              <a:rPr lang="en-US" sz="1400" dirty="0">
                <a:solidFill>
                  <a:srgbClr val="5B6472"/>
                </a:solidFill>
                <a:latin typeface="Calibri" pitchFamily="34" charset="0"/>
                <a:ea typeface="Calibri" pitchFamily="34" charset="-122"/>
                <a:cs typeface="Calibri" pitchFamily="34" charset="-120"/>
              </a:rPr>
              <a:t>In pairs · 20 minutes</a:t>
            </a:r>
            <a:endParaRPr lang="en-US" sz="1400" dirty="0"/>
          </a:p>
        </p:txBody>
      </p:sp>
      <p:sp>
        <p:nvSpPr>
          <p:cNvPr id="6" name="Text 4"/>
          <p:cNvSpPr/>
          <p:nvPr/>
        </p:nvSpPr>
        <p:spPr>
          <a:xfrm>
            <a:off x="548640" y="1280160"/>
            <a:ext cx="8046720" cy="23774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Open Design A and Design B side by side.</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For each of the six criteria, complete one full row of the table.</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Do the task yourself before you judge it — count the steps, time it.</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Record the evidence you used, not just your verdict.</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Mark each criterion as met by A, met by B, or met by both.</a:t>
            </a:r>
            <a:endParaRPr lang="en-US" sz="2000" dirty="0"/>
          </a:p>
        </p:txBody>
      </p:sp>
      <p:sp>
        <p:nvSpPr>
          <p:cNvPr id="7" name="Shape 5"/>
          <p:cNvSpPr/>
          <p:nvPr/>
        </p:nvSpPr>
        <p:spPr>
          <a:xfrm>
            <a:off x="548640" y="3703320"/>
            <a:ext cx="8046720" cy="685800"/>
          </a:xfrm>
          <a:prstGeom prst="roundRect">
            <a:avLst>
              <a:gd name="adj" fmla="val 10667"/>
            </a:avLst>
          </a:prstGeom>
          <a:solidFill>
            <a:srgbClr val="F4F6FB"/>
          </a:solidFill>
          <a:ln w="12700">
            <a:solidFill>
              <a:srgbClr val="D8DDE6"/>
            </a:solidFill>
            <a:prstDash val="solid"/>
          </a:ln>
        </p:spPr>
        <p:txBody>
          <a:bodyPr/>
          <a:lstStyle/>
          <a:p>
            <a:endParaRPr lang="en-AU"/>
          </a:p>
        </p:txBody>
      </p:sp>
      <p:sp>
        <p:nvSpPr>
          <p:cNvPr id="8" name="Text 6"/>
          <p:cNvSpPr/>
          <p:nvPr/>
        </p:nvSpPr>
        <p:spPr>
          <a:xfrm>
            <a:off x="777240" y="3794760"/>
            <a:ext cx="7589520" cy="502920"/>
          </a:xfrm>
          <a:prstGeom prst="rect">
            <a:avLst/>
          </a:prstGeom>
          <a:noFill/>
          <a:ln/>
        </p:spPr>
        <p:txBody>
          <a:bodyPr wrap="square" lIns="0" tIns="0" rIns="0" bIns="0" rtlCol="0" anchor="ctr"/>
          <a:lstStyle/>
          <a:p>
            <a:pPr marL="0" indent="0">
              <a:buNone/>
            </a:pPr>
            <a:r>
              <a:rPr lang="en-US" sz="1600" dirty="0">
                <a:solidFill>
                  <a:srgbClr val="0D1117"/>
                </a:solidFill>
                <a:latin typeface="Calibri" pitchFamily="34" charset="0"/>
                <a:ea typeface="Calibri" pitchFamily="34" charset="-122"/>
                <a:cs typeface="Calibri" pitchFamily="34" charset="-120"/>
              </a:rPr>
              <a:t>Task to time on both designs: add a new lesson called “Firewalls”, attach a slide file, then check one student’s progress on 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REFLECTING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457200"/>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The decision</a:t>
            </a:r>
            <a:endParaRPr lang="en-US" sz="2800" dirty="0"/>
          </a:p>
        </p:txBody>
      </p:sp>
      <p:sp>
        <p:nvSpPr>
          <p:cNvPr id="5" name="Text 3"/>
          <p:cNvSpPr/>
          <p:nvPr/>
        </p:nvSpPr>
        <p:spPr>
          <a:xfrm>
            <a:off x="2148840" y="713232"/>
            <a:ext cx="6537960" cy="274320"/>
          </a:xfrm>
          <a:prstGeom prst="rect">
            <a:avLst/>
          </a:prstGeom>
          <a:noFill/>
          <a:ln/>
        </p:spPr>
        <p:txBody>
          <a:bodyPr wrap="square" lIns="0" tIns="0" rIns="0" bIns="0" rtlCol="0" anchor="ctr"/>
          <a:lstStyle/>
          <a:p>
            <a:pPr marL="0" indent="0">
              <a:buNone/>
            </a:pPr>
            <a:r>
              <a:rPr lang="en-US" sz="1400" dirty="0">
                <a:solidFill>
                  <a:srgbClr val="5B6472"/>
                </a:solidFill>
                <a:latin typeface="Calibri" pitchFamily="34" charset="0"/>
                <a:ea typeface="Calibri" pitchFamily="34" charset="-122"/>
                <a:cs typeface="Calibri" pitchFamily="34" charset="-120"/>
              </a:rPr>
              <a:t>Vote criterion by criterion — not on the design as a whole</a:t>
            </a:r>
            <a:endParaRPr lang="en-US" sz="1400" dirty="0"/>
          </a:p>
        </p:txBody>
      </p:sp>
      <p:sp>
        <p:nvSpPr>
          <p:cNvPr id="6" name="Text 4"/>
          <p:cNvSpPr/>
          <p:nvPr/>
        </p:nvSpPr>
        <p:spPr>
          <a:xfrm>
            <a:off x="274320" y="1325880"/>
            <a:ext cx="4754880" cy="411480"/>
          </a:xfrm>
          <a:prstGeom prst="rect">
            <a:avLst/>
          </a:prstGeom>
          <a:solidFill>
            <a:srgbClr val="4361EE"/>
          </a:solidFill>
          <a:ln w="12700">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p>
        </p:txBody>
      </p:sp>
      <p:sp>
        <p:nvSpPr>
          <p:cNvPr id="7" name="Text 5"/>
          <p:cNvSpPr/>
          <p:nvPr/>
        </p:nvSpPr>
        <p:spPr>
          <a:xfrm>
            <a:off x="5029200" y="1325880"/>
            <a:ext cx="1920240" cy="411480"/>
          </a:xfrm>
          <a:prstGeom prst="rect">
            <a:avLst/>
          </a:prstGeom>
          <a:solidFill>
            <a:srgbClr val="4361EE"/>
          </a:solidFill>
          <a:ln w="12700">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Design A</a:t>
            </a:r>
            <a:endParaRPr lang="en-US" sz="1400" dirty="0"/>
          </a:p>
        </p:txBody>
      </p:sp>
      <p:sp>
        <p:nvSpPr>
          <p:cNvPr id="8" name="Text 6"/>
          <p:cNvSpPr/>
          <p:nvPr/>
        </p:nvSpPr>
        <p:spPr>
          <a:xfrm>
            <a:off x="6949440" y="1325880"/>
            <a:ext cx="1920240" cy="411480"/>
          </a:xfrm>
          <a:prstGeom prst="rect">
            <a:avLst/>
          </a:prstGeom>
          <a:solidFill>
            <a:srgbClr val="4361EE"/>
          </a:solidFill>
          <a:ln w="12700">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Design B</a:t>
            </a:r>
            <a:endParaRPr lang="en-US" sz="1400" dirty="0"/>
          </a:p>
        </p:txBody>
      </p:sp>
      <p:sp>
        <p:nvSpPr>
          <p:cNvPr id="9" name="Text 7"/>
          <p:cNvSpPr/>
          <p:nvPr/>
        </p:nvSpPr>
        <p:spPr>
          <a:xfrm>
            <a:off x="274320" y="1737360"/>
            <a:ext cx="4754880" cy="384048"/>
          </a:xfrm>
          <a:prstGeom prst="rect">
            <a:avLst/>
          </a:prstGeom>
          <a:solidFill>
            <a:srgbClr val="F4F6FB"/>
          </a:solidFill>
          <a:ln w="12700">
            <a:solidFill>
              <a:srgbClr val="FFFFFF"/>
            </a:solidFill>
          </a:ln>
        </p:spPr>
        <p:txBody>
          <a:bodyPr wrap="square" lIns="762" tIns="762" rIns="762" bIns="762" rtlCol="0" anchor="ctr"/>
          <a:lstStyle/>
          <a:p>
            <a:pPr marL="0" indent="0">
              <a:buNone/>
            </a:pPr>
            <a:r>
              <a:rPr lang="en-US" sz="1300" dirty="0">
                <a:solidFill>
                  <a:srgbClr val="0D1117"/>
                </a:solidFill>
                <a:latin typeface="Calibri" pitchFamily="34" charset="0"/>
                <a:ea typeface="Calibri" pitchFamily="34" charset="-122"/>
                <a:cs typeface="Calibri" pitchFamily="34" charset="-120"/>
              </a:rPr>
              <a:t>Add a lesson without losing the list</a:t>
            </a:r>
            <a:endParaRPr lang="en-US" sz="1300" dirty="0"/>
          </a:p>
        </p:txBody>
      </p:sp>
      <p:sp>
        <p:nvSpPr>
          <p:cNvPr id="10" name="Text 8"/>
          <p:cNvSpPr/>
          <p:nvPr/>
        </p:nvSpPr>
        <p:spPr>
          <a:xfrm>
            <a:off x="5029200" y="1737360"/>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1" name="Text 9"/>
          <p:cNvSpPr/>
          <p:nvPr/>
        </p:nvSpPr>
        <p:spPr>
          <a:xfrm>
            <a:off x="6949440" y="1737360"/>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2" name="Text 10"/>
          <p:cNvSpPr/>
          <p:nvPr/>
        </p:nvSpPr>
        <p:spPr>
          <a:xfrm>
            <a:off x="274320" y="2121408"/>
            <a:ext cx="4754880" cy="384048"/>
          </a:xfrm>
          <a:prstGeom prst="rect">
            <a:avLst/>
          </a:prstGeom>
          <a:solidFill>
            <a:srgbClr val="F4F6FB"/>
          </a:solidFill>
          <a:ln w="12700">
            <a:solidFill>
              <a:srgbClr val="FFFFFF"/>
            </a:solidFill>
          </a:ln>
        </p:spPr>
        <p:txBody>
          <a:bodyPr wrap="square" lIns="762" tIns="762" rIns="762" bIns="762" rtlCol="0" anchor="ctr"/>
          <a:lstStyle/>
          <a:p>
            <a:pPr marL="0" indent="0">
              <a:buNone/>
            </a:pPr>
            <a:r>
              <a:rPr lang="en-US" sz="1300" dirty="0">
                <a:solidFill>
                  <a:srgbClr val="0D1117"/>
                </a:solidFill>
                <a:latin typeface="Calibri" pitchFamily="34" charset="0"/>
                <a:ea typeface="Calibri" pitchFamily="34" charset="-122"/>
                <a:cs typeface="Calibri" pitchFamily="34" charset="-120"/>
              </a:rPr>
              <a:t>Steps to reach student progress</a:t>
            </a:r>
            <a:endParaRPr lang="en-US" sz="1300" dirty="0"/>
          </a:p>
        </p:txBody>
      </p:sp>
      <p:sp>
        <p:nvSpPr>
          <p:cNvPr id="13" name="Text 11"/>
          <p:cNvSpPr/>
          <p:nvPr/>
        </p:nvSpPr>
        <p:spPr>
          <a:xfrm>
            <a:off x="5029200" y="2121408"/>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4" name="Text 12"/>
          <p:cNvSpPr/>
          <p:nvPr/>
        </p:nvSpPr>
        <p:spPr>
          <a:xfrm>
            <a:off x="6949440" y="2121408"/>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5" name="Text 13"/>
          <p:cNvSpPr/>
          <p:nvPr/>
        </p:nvSpPr>
        <p:spPr>
          <a:xfrm>
            <a:off x="274320" y="2505456"/>
            <a:ext cx="4754880" cy="384048"/>
          </a:xfrm>
          <a:prstGeom prst="rect">
            <a:avLst/>
          </a:prstGeom>
          <a:solidFill>
            <a:srgbClr val="F4F6FB"/>
          </a:solidFill>
          <a:ln w="12700">
            <a:solidFill>
              <a:srgbClr val="FFFFFF"/>
            </a:solidFill>
          </a:ln>
        </p:spPr>
        <p:txBody>
          <a:bodyPr wrap="square" lIns="762" tIns="762" rIns="762" bIns="762" rtlCol="0" anchor="ctr"/>
          <a:lstStyle/>
          <a:p>
            <a:r>
              <a:rPr lang="en-US" sz="1300" dirty="0">
                <a:solidFill>
                  <a:srgbClr val="0D1117"/>
                </a:solidFill>
                <a:latin typeface="Calibri" pitchFamily="34" charset="0"/>
                <a:ea typeface="Calibri" pitchFamily="34" charset="-122"/>
                <a:cs typeface="Calibri" pitchFamily="34" charset="-120"/>
              </a:rPr>
              <a:t>Usability for a new student</a:t>
            </a:r>
            <a:endParaRPr lang="en-US" sz="1300" dirty="0"/>
          </a:p>
        </p:txBody>
      </p:sp>
      <p:sp>
        <p:nvSpPr>
          <p:cNvPr id="16" name="Text 14"/>
          <p:cNvSpPr/>
          <p:nvPr/>
        </p:nvSpPr>
        <p:spPr>
          <a:xfrm>
            <a:off x="5029200" y="2505456"/>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7" name="Text 15"/>
          <p:cNvSpPr/>
          <p:nvPr/>
        </p:nvSpPr>
        <p:spPr>
          <a:xfrm>
            <a:off x="6949440" y="2505456"/>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18" name="Text 16"/>
          <p:cNvSpPr/>
          <p:nvPr/>
        </p:nvSpPr>
        <p:spPr>
          <a:xfrm>
            <a:off x="274320" y="2889504"/>
            <a:ext cx="4754880" cy="384048"/>
          </a:xfrm>
          <a:prstGeom prst="rect">
            <a:avLst/>
          </a:prstGeom>
          <a:solidFill>
            <a:srgbClr val="F4F6FB"/>
          </a:solidFill>
          <a:ln w="12700">
            <a:solidFill>
              <a:srgbClr val="FFFFFF"/>
            </a:solidFill>
          </a:ln>
        </p:spPr>
        <p:txBody>
          <a:bodyPr wrap="square" lIns="762" tIns="762" rIns="762" bIns="762" rtlCol="0" anchor="ctr"/>
          <a:lstStyle/>
          <a:p>
            <a:pPr marL="0" indent="0">
              <a:buNone/>
            </a:pPr>
            <a:r>
              <a:rPr lang="en-US" sz="1300" dirty="0">
                <a:solidFill>
                  <a:srgbClr val="0D1117"/>
                </a:solidFill>
                <a:latin typeface="Calibri" pitchFamily="34" charset="0"/>
                <a:ea typeface="Calibri" pitchFamily="34" charset="-122"/>
                <a:cs typeface="Calibri" pitchFamily="34" charset="-120"/>
              </a:rPr>
              <a:t>Usability for a new teacher</a:t>
            </a:r>
            <a:endParaRPr lang="en-US" sz="1300" dirty="0"/>
          </a:p>
        </p:txBody>
      </p:sp>
      <p:sp>
        <p:nvSpPr>
          <p:cNvPr id="19" name="Text 17"/>
          <p:cNvSpPr/>
          <p:nvPr/>
        </p:nvSpPr>
        <p:spPr>
          <a:xfrm>
            <a:off x="5029200" y="2889504"/>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20" name="Text 18"/>
          <p:cNvSpPr/>
          <p:nvPr/>
        </p:nvSpPr>
        <p:spPr>
          <a:xfrm>
            <a:off x="6949440" y="2889504"/>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21" name="Text 19"/>
          <p:cNvSpPr/>
          <p:nvPr/>
        </p:nvSpPr>
        <p:spPr>
          <a:xfrm>
            <a:off x="274320" y="3273552"/>
            <a:ext cx="4754880" cy="384048"/>
          </a:xfrm>
          <a:prstGeom prst="rect">
            <a:avLst/>
          </a:prstGeom>
          <a:solidFill>
            <a:srgbClr val="F4F6FB"/>
          </a:solidFill>
          <a:ln w="12700">
            <a:solidFill>
              <a:srgbClr val="FFFFFF"/>
            </a:solidFill>
          </a:ln>
        </p:spPr>
        <p:txBody>
          <a:bodyPr wrap="square" lIns="762" tIns="762" rIns="762" bIns="762" rtlCol="0" anchor="ctr"/>
          <a:lstStyle/>
          <a:p>
            <a:pPr marL="0" indent="0">
              <a:buNone/>
            </a:pPr>
            <a:r>
              <a:rPr lang="en-US" sz="1300" dirty="0">
                <a:solidFill>
                  <a:srgbClr val="0D1117"/>
                </a:solidFill>
                <a:latin typeface="Calibri" pitchFamily="34" charset="0"/>
                <a:ea typeface="Calibri" pitchFamily="34" charset="-122"/>
                <a:cs typeface="Calibri" pitchFamily="34" charset="-120"/>
              </a:rPr>
              <a:t>Find what they are looking for</a:t>
            </a:r>
            <a:endParaRPr lang="en-US" sz="1300" dirty="0"/>
          </a:p>
        </p:txBody>
      </p:sp>
      <p:sp>
        <p:nvSpPr>
          <p:cNvPr id="22" name="Text 20"/>
          <p:cNvSpPr/>
          <p:nvPr/>
        </p:nvSpPr>
        <p:spPr>
          <a:xfrm>
            <a:off x="5029200" y="3273552"/>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23" name="Text 21"/>
          <p:cNvSpPr/>
          <p:nvPr/>
        </p:nvSpPr>
        <p:spPr>
          <a:xfrm>
            <a:off x="6949440" y="3273552"/>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24" name="Text 22"/>
          <p:cNvSpPr/>
          <p:nvPr/>
        </p:nvSpPr>
        <p:spPr>
          <a:xfrm>
            <a:off x="274320" y="3657600"/>
            <a:ext cx="4754880" cy="384048"/>
          </a:xfrm>
          <a:prstGeom prst="rect">
            <a:avLst/>
          </a:prstGeom>
          <a:solidFill>
            <a:srgbClr val="F4F6FB"/>
          </a:solidFill>
          <a:ln w="12700">
            <a:solidFill>
              <a:srgbClr val="FFFFFF"/>
            </a:solidFill>
          </a:ln>
        </p:spPr>
        <p:txBody>
          <a:bodyPr wrap="square" lIns="762" tIns="762" rIns="762" bIns="762" rtlCol="0" anchor="ctr"/>
          <a:lstStyle/>
          <a:p>
            <a:pPr marL="0" indent="0">
              <a:buNone/>
            </a:pPr>
            <a:r>
              <a:rPr lang="en-US" sz="1300" dirty="0">
                <a:solidFill>
                  <a:srgbClr val="0D1117"/>
                </a:solidFill>
                <a:latin typeface="Calibri" pitchFamily="34" charset="0"/>
                <a:ea typeface="Calibri" pitchFamily="34" charset="-122"/>
                <a:cs typeface="Calibri" pitchFamily="34" charset="-120"/>
              </a:rPr>
              <a:t>Accessibility</a:t>
            </a:r>
            <a:endParaRPr lang="en-US" sz="1300" dirty="0"/>
          </a:p>
        </p:txBody>
      </p:sp>
      <p:sp>
        <p:nvSpPr>
          <p:cNvPr id="25" name="Text 23"/>
          <p:cNvSpPr/>
          <p:nvPr/>
        </p:nvSpPr>
        <p:spPr>
          <a:xfrm>
            <a:off x="5029200" y="3657600"/>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
        <p:nvSpPr>
          <p:cNvPr id="26" name="Text 24"/>
          <p:cNvSpPr/>
          <p:nvPr/>
        </p:nvSpPr>
        <p:spPr>
          <a:xfrm>
            <a:off x="6949440" y="3657600"/>
            <a:ext cx="1920240" cy="384048"/>
          </a:xfrm>
          <a:prstGeom prst="rect">
            <a:avLst/>
          </a:prstGeom>
          <a:solidFill>
            <a:srgbClr val="FFFFFF"/>
          </a:solidFill>
          <a:ln w="12700">
            <a:solidFill>
              <a:srgbClr val="D8DDE6"/>
            </a:solidFill>
          </a:ln>
        </p:spPr>
        <p:txBody>
          <a:bodyPr wrap="square" rtlCol="0" anchor="ctr"/>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REFLECTING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Justify the choice</a:t>
            </a:r>
            <a:endParaRPr lang="en-US" sz="2800" dirty="0"/>
          </a:p>
        </p:txBody>
      </p:sp>
      <p:sp>
        <p:nvSpPr>
          <p:cNvPr id="5" name="Shape 3"/>
          <p:cNvSpPr/>
          <p:nvPr/>
        </p:nvSpPr>
        <p:spPr>
          <a:xfrm>
            <a:off x="457200" y="1234440"/>
            <a:ext cx="8229600" cy="1371600"/>
          </a:xfrm>
          <a:prstGeom prst="roundRect">
            <a:avLst>
              <a:gd name="adj" fmla="val 5333"/>
            </a:avLst>
          </a:prstGeom>
          <a:solidFill>
            <a:srgbClr val="F4F6FB"/>
          </a:solidFill>
          <a:ln w="12700">
            <a:solidFill>
              <a:srgbClr val="4361EE"/>
            </a:solidFill>
            <a:prstDash val="solid"/>
          </a:ln>
        </p:spPr>
        <p:txBody>
          <a:bodyPr/>
          <a:lstStyle/>
          <a:p>
            <a:endParaRPr lang="en-AU"/>
          </a:p>
        </p:txBody>
      </p:sp>
      <p:sp>
        <p:nvSpPr>
          <p:cNvPr id="6" name="Text 4"/>
          <p:cNvSpPr/>
          <p:nvPr/>
        </p:nvSpPr>
        <p:spPr>
          <a:xfrm>
            <a:off x="731520" y="1371600"/>
            <a:ext cx="7680960" cy="1097280"/>
          </a:xfrm>
          <a:prstGeom prst="rect">
            <a:avLst/>
          </a:prstGeom>
          <a:noFill/>
          <a:ln/>
        </p:spPr>
        <p:txBody>
          <a:bodyPr wrap="square" lIns="0" tIns="0" rIns="0" bIns="0" rtlCol="0" anchor="ctr"/>
          <a:lstStyle/>
          <a:p>
            <a:pPr marL="0" indent="0">
              <a:buNone/>
            </a:pPr>
            <a:r>
              <a:rPr lang="en-US" sz="2000" i="1" dirty="0">
                <a:solidFill>
                  <a:srgbClr val="0D1117"/>
                </a:solidFill>
                <a:latin typeface="Cambria" pitchFamily="34" charset="0"/>
                <a:ea typeface="Cambria" pitchFamily="34" charset="-122"/>
                <a:cs typeface="Cambria" pitchFamily="34" charset="-120"/>
              </a:rPr>
              <a:t>“Design ___ is the preferred solution because it better meets the criterion ___, measured by ___, which showed ___. Its weakness against ___ can be addressed by ___.”</a:t>
            </a:r>
            <a:endParaRPr lang="en-US" sz="2000" dirty="0"/>
          </a:p>
        </p:txBody>
      </p:sp>
      <p:sp>
        <p:nvSpPr>
          <p:cNvPr id="7" name="Text 5"/>
          <p:cNvSpPr/>
          <p:nvPr/>
        </p:nvSpPr>
        <p:spPr>
          <a:xfrm>
            <a:off x="457200" y="2788920"/>
            <a:ext cx="8229600" cy="320040"/>
          </a:xfrm>
          <a:prstGeom prst="rect">
            <a:avLst/>
          </a:prstGeom>
          <a:noFill/>
          <a:ln/>
        </p:spPr>
        <p:txBody>
          <a:bodyPr wrap="square" lIns="0" tIns="0" rIns="0" bIns="0" rtlCol="0" anchor="ctr"/>
          <a:lstStyle/>
          <a:p>
            <a:pPr marL="0" indent="0">
              <a:buNone/>
            </a:pPr>
            <a:r>
              <a:rPr lang="en-US" sz="1700" b="1" dirty="0">
                <a:solidFill>
                  <a:srgbClr val="EF4444"/>
                </a:solidFill>
                <a:latin typeface="Calibri" pitchFamily="34" charset="0"/>
                <a:ea typeface="Calibri" pitchFamily="34" charset="-122"/>
                <a:cs typeface="Calibri" pitchFamily="34" charset="-120"/>
              </a:rPr>
              <a:t>Not acceptable today</a:t>
            </a:r>
            <a:endParaRPr lang="en-US" sz="1700" dirty="0"/>
          </a:p>
        </p:txBody>
      </p:sp>
      <p:sp>
        <p:nvSpPr>
          <p:cNvPr id="8" name="Text 6"/>
          <p:cNvSpPr/>
          <p:nvPr/>
        </p:nvSpPr>
        <p:spPr>
          <a:xfrm>
            <a:off x="457200" y="315468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“It looks better.” — attractiveness with no measure attached</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“It’s easier.” — easier at what, for whom, measured how?</a:t>
            </a:r>
            <a:endParaRPr lang="en-US" sz="1800" dirty="0"/>
          </a:p>
          <a:p>
            <a:pPr marL="342900" indent="-342900">
              <a:spcAft>
                <a:spcPts val="800"/>
              </a:spcAft>
              <a:buSzPct val="100000"/>
              <a:buChar char="•"/>
            </a:pPr>
            <a:r>
              <a:rPr lang="en-US" sz="1800" dirty="0">
                <a:solidFill>
                  <a:srgbClr val="0D1117"/>
                </a:solidFill>
                <a:latin typeface="Calibri" pitchFamily="34" charset="0"/>
                <a:ea typeface="Calibri" pitchFamily="34" charset="-122"/>
                <a:cs typeface="Calibri" pitchFamily="34" charset="-120"/>
              </a:rPr>
              <a:t>“Everyone chose B.” — a vote is not evidence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508760" cy="292608"/>
          </a:xfrm>
          <a:prstGeom prst="roundRect">
            <a:avLst>
              <a:gd name="adj" fmla="val 37500"/>
            </a:avLst>
          </a:prstGeom>
          <a:solidFill>
            <a:srgbClr val="4361EE"/>
          </a:solidFill>
          <a:ln>
            <a:solidFill>
              <a:srgbClr val="4361E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REFLECTING</a:t>
            </a:r>
            <a:endParaRPr lang="en-US" sz="1200" dirty="0"/>
          </a:p>
        </p:txBody>
      </p:sp>
      <p:sp>
        <p:nvSpPr>
          <p:cNvPr id="3" name="Text 1"/>
          <p:cNvSpPr/>
          <p:nvPr/>
        </p:nvSpPr>
        <p:spPr>
          <a:xfrm>
            <a:off x="457200" y="658368"/>
            <a:ext cx="1508760" cy="292608"/>
          </a:xfrm>
          <a:prstGeom prst="roundRect">
            <a:avLst>
              <a:gd name="adj" fmla="val 37500"/>
            </a:avLst>
          </a:prstGeom>
          <a:solidFill>
            <a:srgbClr val="FFFFFF"/>
          </a:solidFill>
          <a:ln>
            <a:solidFill>
              <a:srgbClr val="D8DDE6"/>
            </a:solidFill>
          </a:ln>
        </p:spPr>
        <p:txBody>
          <a:bodyPr wrap="square" lIns="0" tIns="0" rIns="0" bIns="0"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DEVICES AWAY</a:t>
            </a:r>
            <a:endParaRPr lang="en-US" sz="1200" dirty="0"/>
          </a:p>
        </p:txBody>
      </p:sp>
      <p:sp>
        <p:nvSpPr>
          <p:cNvPr id="4" name="Text 2"/>
          <p:cNvSpPr/>
          <p:nvPr/>
        </p:nvSpPr>
        <p:spPr>
          <a:xfrm>
            <a:off x="2148840" y="256032"/>
            <a:ext cx="6537960" cy="713232"/>
          </a:xfrm>
          <a:prstGeom prst="rect">
            <a:avLst/>
          </a:prstGeom>
          <a:noFill/>
          <a:ln/>
        </p:spPr>
        <p:txBody>
          <a:bodyPr wrap="square" lIns="0" tIns="0" rIns="0" bIns="0" rtlCol="0" anchor="ctr"/>
          <a:lstStyle/>
          <a:p>
            <a:pPr marL="0" indent="0">
              <a:buNone/>
            </a:pPr>
            <a:r>
              <a:rPr lang="en-US" sz="2800" b="1" dirty="0">
                <a:solidFill>
                  <a:srgbClr val="0D1117"/>
                </a:solidFill>
                <a:latin typeface="Cambria" pitchFamily="34" charset="0"/>
                <a:ea typeface="Cambria" pitchFamily="34" charset="-122"/>
                <a:cs typeface="Cambria" pitchFamily="34" charset="-120"/>
              </a:rPr>
              <a:t>Into your folio</a:t>
            </a:r>
            <a:endParaRPr lang="en-US" sz="2800" dirty="0"/>
          </a:p>
        </p:txBody>
      </p:sp>
      <p:sp>
        <p:nvSpPr>
          <p:cNvPr id="5" name="Text 3"/>
          <p:cNvSpPr/>
          <p:nvPr/>
        </p:nvSpPr>
        <p:spPr>
          <a:xfrm>
            <a:off x="548640" y="1280160"/>
            <a:ext cx="8046720" cy="20116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Your six criteria, written with all six columns completed</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The evidence you collected for each — times, step counts, screenshots</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Your recommendation, with the justification sentence</a:t>
            </a:r>
            <a:endParaRPr lang="en-US" sz="2000" dirty="0"/>
          </a:p>
          <a:p>
            <a:pPr marL="342900" indent="-342900">
              <a:spcAft>
                <a:spcPts val="800"/>
              </a:spcAft>
              <a:buSzPct val="100000"/>
              <a:buChar char="•"/>
            </a:pPr>
            <a:r>
              <a:rPr lang="en-US" sz="2000" dirty="0">
                <a:solidFill>
                  <a:srgbClr val="0D1117"/>
                </a:solidFill>
                <a:latin typeface="Calibri" pitchFamily="34" charset="0"/>
                <a:ea typeface="Calibri" pitchFamily="34" charset="-122"/>
                <a:cs typeface="Calibri" pitchFamily="34" charset="-120"/>
              </a:rPr>
              <a:t>Two weaknesses of the preferred design, written as requirements to fix</a:t>
            </a:r>
            <a:endParaRPr lang="en-US" sz="2000" dirty="0"/>
          </a:p>
        </p:txBody>
      </p:sp>
      <p:sp>
        <p:nvSpPr>
          <p:cNvPr id="6" name="Shape 4"/>
          <p:cNvSpPr/>
          <p:nvPr/>
        </p:nvSpPr>
        <p:spPr>
          <a:xfrm>
            <a:off x="548640" y="3291840"/>
            <a:ext cx="8046720" cy="960120"/>
          </a:xfrm>
          <a:prstGeom prst="roundRect">
            <a:avLst>
              <a:gd name="adj" fmla="val 7619"/>
            </a:avLst>
          </a:prstGeom>
          <a:solidFill>
            <a:srgbClr val="FFFFFF"/>
          </a:solidFill>
          <a:ln w="12700">
            <a:solidFill>
              <a:srgbClr val="F59E0B"/>
            </a:solidFill>
            <a:prstDash val="solid"/>
          </a:ln>
        </p:spPr>
        <p:txBody>
          <a:bodyPr/>
          <a:lstStyle/>
          <a:p>
            <a:endParaRPr lang="en-AU"/>
          </a:p>
        </p:txBody>
      </p:sp>
      <p:sp>
        <p:nvSpPr>
          <p:cNvPr id="7" name="Text 5"/>
          <p:cNvSpPr/>
          <p:nvPr/>
        </p:nvSpPr>
        <p:spPr>
          <a:xfrm>
            <a:off x="777240" y="3383280"/>
            <a:ext cx="7589520" cy="777240"/>
          </a:xfrm>
          <a:prstGeom prst="rect">
            <a:avLst/>
          </a:prstGeom>
          <a:noFill/>
          <a:ln/>
        </p:spPr>
        <p:txBody>
          <a:bodyPr wrap="square" lIns="0" tIns="0" rIns="0" bIns="0" rtlCol="0" anchor="ctr"/>
          <a:lstStyle/>
          <a:p>
            <a:pPr marL="0" indent="0">
              <a:buNone/>
            </a:pPr>
            <a:r>
              <a:rPr lang="en-US" sz="1700" b="1" dirty="0">
                <a:solidFill>
                  <a:srgbClr val="0D1117"/>
                </a:solidFill>
                <a:latin typeface="Calibri" pitchFamily="34" charset="0"/>
                <a:ea typeface="Calibri" pitchFamily="34" charset="-122"/>
                <a:cs typeface="Calibri" pitchFamily="34" charset="-120"/>
              </a:rPr>
              <a:t>Next lesson: </a:t>
            </a:r>
            <a:r>
              <a:rPr lang="en-US" sz="1700" dirty="0">
                <a:solidFill>
                  <a:srgbClr val="0D1117"/>
                </a:solidFill>
                <a:latin typeface="Calibri" pitchFamily="34" charset="0"/>
                <a:ea typeface="Calibri" pitchFamily="34" charset="-122"/>
                <a:cs typeface="Calibri" pitchFamily="34" charset="-120"/>
              </a:rPr>
              <a:t>we turn the weaknesses you found into functional and non-functional requirements — usability, reliability, portability, robustness and maintainability — for the preferred design.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1600</Words>
  <Application>Microsoft Office PowerPoint</Application>
  <PresentationFormat>On-screen Show (16:9)</PresentationFormat>
  <Paragraphs>163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a preferred design</dc:title>
  <dc:subject>PptxGenJS Presentation</dc:subject>
  <dc:creator>EduPortal</dc:creator>
  <cp:lastModifiedBy>James Smith 5</cp:lastModifiedBy>
  <cp:revision>2</cp:revision>
  <dcterms:created xsi:type="dcterms:W3CDTF">2026-08-06T22:47:43Z</dcterms:created>
  <dcterms:modified xsi:type="dcterms:W3CDTF">2026-08-07T00:16:15Z</dcterms:modified>
</cp:coreProperties>
</file>