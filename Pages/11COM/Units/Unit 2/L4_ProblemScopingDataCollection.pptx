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60" y="-1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1157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Double lesson — splits cleanly in two halves.
FIRST HALF (devices OFF): Slides 2–9 — explicit teaching on problem scoping and data collection design. Students take paper notes.
SECOND HALF (from Slide 11 — Laptop Gate): Students open the digital workbook and work through Sections 2–5.
Timing rough guide: ~35 min explicit, 5 min brain break, 45 min workbook application. Adjust responsively.
Remind students to have their D2.1 paper notes (problem statement draft) with them — they'll need it in Section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warm-up — NO hints on this slide by design.
Give students 60–90 seconds of think time, then cold-call 2–3 groups.
Key observations to draw out (don't offer these — wait for students):
  - The question is binary (yes/no) and tells you nothing useful
  - 'Apps' is too broad — everyone uses apps
  - The question assumes a user who already has the app; no target user defined
  - No connection to the actual problem being solved
Segue: 'Before you can collect data about your user, you need to know exactly WHO your user is and WHAT you're investigating. That's what scoping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criterion aloud or ask a student to read it.
Ask: 'Which tier is your personal goal for today?' (quick thumb vote — don't press for public answers).
Remind students: criteria map to workbook sections — Foundation in S1–2, Developing in S2–3, Extending in S3–4.
Timing: 2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NOTES phase. Students should be writing into the formula on their handout (or paper).
Ask: 'What makes the BECAUSE clause strong?' Key answer: it describes the mechanism of the problem — the specific circumstance that makes a generic goal difficult.
Cold-call one group: 'Read your D2.1 statement. Does it have a specific because clause?'
They don't rewrite it here — that happens in Section 1 of the workbook on paper.
Timing: 5–6 min.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intentionality. Students often write vague user groups ('teenagers', 'students') because they want a broad solution.
Cold-call challenge: 'If your target user is 'Year 11 students', what does someone in Year 9 do? Is that a problem?'
Key point: excluding a group isn't discriminatory — it's a design decision. You're scoping, not judging.
Quick pair share: 'Tell your partner one group your solution is NOT for, and why.' (1 min)
Timing: 5 min.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slide — connects problem scoping to data collection rationale.
Don't linger; the point is the transition of thinking.
You might say: 'Scoping told us WHO. Data collection tells us WHAT they think, do, or need. But you have to design the data collection to get the right answers — that's what the next slides are about.'
Timing: 1–2 min.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only — this was covered in D2.1. Don't re-teach; just orient.
Ask: 'When would you use secondary research first?' (To understand context before you design a survey — frame questions around known data.)
Today's focus: designing instruments for PRIMARY data. Secondary can supplement later.
Timing: 3 min.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be taking notes from this table — it's reference material for choosing their method in Section 2.
Cold-call: 'If your target user is really hard to access in person, which method would you lean toward and why?'
Point out: most groups will choose surveys because of convenience, but interviews often yield better data. That's worth exploring.
Note: 'observation' is valid too but harder to design formally at this stage. If a group chooses it, challenge them to operationalise it (what exactly do they observe?).
Timing: 5 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explicit teaching slide before the brain break.
Spend most time on 'Leading Questions' — this is where students' instruments consistently fail.
Live example: write a leading question on the board ('Don't you think our app is useful?') and cold-call: 'What's wrong here? How would you fix it?'
Students should note the three concepts on paper — they'll apply them immediately in Section 3.
After this slide, move to brain break — do not rush to open laptops yet.
Timing: 6 min.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 2 — Two Truths and a Tech Lie.
THE LIE IS STATEMENT 3.
Truth: Research consistently shows that shorter surveys get higher response rates. Completion drops off sharply beyond 5–7 minutes.
Statement 1 (TRUTH): Google's culture of A/B testing is well-documented; they run continuous experiments across search, Maps, Gmail and more.
Statement 2 (TRUTH): SurveyMonkey was founded in 1999 by Ryan Finley. It was acquired by Symphony Technology Group in 2019 and rebranded as Momentive in 2021 before reverting.
Give groups 90 seconds to discuss. Then cold-call: 'Which one do you think is the lie, and why?'
After reveal: tie Statement 3 back to instrument design — keeping surveys SHORT is part of good design. Students should remember this when they draft their own in Section 3.
Timing: 4–5 min.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 GATE — students may now open devices.
Circulate quickly to check students have their D2.1 paper problem statement with them to transfer.
Move to the task card slide immediately — this is a transition, not a teaching moment.
Timing: 1 min.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visible on the board while students work.
Rough timing: S2 = 8 min, S3 = 15 min, S4 = 8 min, exit ticket = 5 min. Total ~36 min.
Section 3 is the main deliverable — most groups will spend more time here. That's fine.
Circulate: look especially for leading questions in instruments. Ask: 'Does your question assume the user agrees with you?'
If groups finish S3 early, push them straight to S4. Don't let them coast.
Section 5 exit ticket happens on paper at the end — devices OFF for that.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time allows during the workbook phase — around the 30-min mark.
Ask one group to volunteer their best question. Read it to the class.
Run the three votes quickly (hands up or thumbs). Then discuss discrepancies in the vote — that's where learning happens.
If time is short, skip to Discussion Prompt 3 only — it's the highest-leverage question.
This slide is intentionally optional: use your read of the room. If groups are still deep in S3, let them keep working.
Timing: 5 min (if used).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paper only, devices OFF.
Give students 5 minutes. Circulate and observe quality without correcting.
Q12 tests retention of their own refined problem statement — if they can't recall it, that's feedback on the quality of their refinement.
Q13 tests that the method choice is justified, not just named.
Q14 is the extending metacognitive move — evaluating their own instrument.
Collect exit tickets OR have groups attach them to their paper notes for next lesson.
After: brief hands-up — 'Who feels confident about their instrument? Who has a question they want to discuss next lesson?'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close — 2 min.
Point to the progress tracker and confirm where they are.
Stress Milestone 1 deadline. Ask: 'Does your group have a complete, refined problem statement? Yes/no — thumbs up.'
If any group does not have one, flag for support next lesson.
Remind students that their paper notes and exit ticket go with them — not left on desks.
End of lesson.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00E"/>
        </a:solidFill>
        <a:effectLst/>
      </p:bgPr>
    </p:bg>
    <p:spTree>
      <p:nvGrpSpPr>
        <p:cNvPr id="1" name=""/>
        <p:cNvGrpSpPr/>
        <p:nvPr/>
      </p:nvGrpSpPr>
      <p:grpSpPr>
        <a:xfrm>
          <a:off x="0" y="0"/>
          <a:ext cx="0" cy="0"/>
          <a:chOff x="0" y="0"/>
          <a:chExt cx="0" cy="0"/>
        </a:xfrm>
      </p:grpSpPr>
      <p:sp>
        <p:nvSpPr>
          <p:cNvPr id="2" name="Text 0"/>
          <p:cNvSpPr/>
          <p:nvPr/>
        </p:nvSpPr>
        <p:spPr>
          <a:xfrm>
            <a:off x="457200" y="475488"/>
            <a:ext cx="11247120" cy="256032"/>
          </a:xfrm>
          <a:prstGeom prst="rect">
            <a:avLst/>
          </a:prstGeom>
          <a:noFill/>
          <a:ln/>
        </p:spPr>
        <p:txBody>
          <a:bodyPr wrap="square" lIns="0" tIns="0" rIns="0" bIns="0" rtlCol="0" anchor="ctr"/>
          <a:lstStyle/>
          <a:p>
            <a:pPr marL="0" indent="0" algn="l">
              <a:buNone/>
            </a:pPr>
            <a:r>
              <a:rPr lang="en-US" sz="900" kern="0" spc="100" dirty="0">
                <a:solidFill>
                  <a:srgbClr val="6B6762"/>
                </a:solidFill>
                <a:latin typeface="Courier New" pitchFamily="34" charset="0"/>
                <a:ea typeface="Courier New" pitchFamily="34" charset="-122"/>
                <a:cs typeface="Courier New" pitchFamily="34" charset="-120"/>
              </a:rPr>
              <a:t>D2.2 PROBLEM SCOPING  ·  D3.1 DATA COLLECTION DESIGN</a:t>
            </a:r>
            <a:endParaRPr lang="en-US" sz="900" dirty="0"/>
          </a:p>
        </p:txBody>
      </p:sp>
      <p:sp>
        <p:nvSpPr>
          <p:cNvPr id="3" name="Text 1"/>
          <p:cNvSpPr/>
          <p:nvPr/>
        </p:nvSpPr>
        <p:spPr>
          <a:xfrm>
            <a:off x="457200" y="777240"/>
            <a:ext cx="11247120" cy="274320"/>
          </a:xfrm>
          <a:prstGeom prst="rect">
            <a:avLst/>
          </a:prstGeom>
          <a:noFill/>
          <a:ln/>
        </p:spPr>
        <p:txBody>
          <a:bodyPr wrap="square" lIns="0" tIns="0" rIns="0" bIns="0" rtlCol="0" anchor="ctr"/>
          <a:lstStyle/>
          <a:p>
            <a:pPr marL="0" indent="0" algn="l">
              <a:buNone/>
            </a:pPr>
            <a:r>
              <a:rPr lang="en-US" sz="950" dirty="0">
                <a:solidFill>
                  <a:srgbClr val="B8620A"/>
                </a:solidFill>
                <a:latin typeface="Courier New" pitchFamily="34" charset="0"/>
                <a:ea typeface="Courier New" pitchFamily="34" charset="-122"/>
                <a:cs typeface="Courier New" pitchFamily="34" charset="-120"/>
              </a:rPr>
              <a:t>Year 11 Applied Computing — Unit 2</a:t>
            </a:r>
            <a:endParaRPr lang="en-US" sz="950" dirty="0"/>
          </a:p>
        </p:txBody>
      </p:sp>
      <p:sp>
        <p:nvSpPr>
          <p:cNvPr id="4" name="Text 2"/>
          <p:cNvSpPr/>
          <p:nvPr/>
        </p:nvSpPr>
        <p:spPr>
          <a:xfrm>
            <a:off x="457200" y="1097280"/>
            <a:ext cx="7498080" cy="2194560"/>
          </a:xfrm>
          <a:prstGeom prst="rect">
            <a:avLst/>
          </a:prstGeom>
          <a:noFill/>
          <a:ln/>
        </p:spPr>
        <p:txBody>
          <a:bodyPr wrap="square" lIns="0" tIns="0" rIns="0" bIns="0" rtlCol="0" anchor="t"/>
          <a:lstStyle/>
          <a:p>
            <a:pPr marL="0" indent="0" algn="l">
              <a:buNone/>
            </a:pPr>
            <a:r>
              <a:rPr lang="en-US" sz="5600" dirty="0">
                <a:solidFill>
                  <a:srgbClr val="FFFFFF"/>
                </a:solidFill>
                <a:latin typeface="Bookman Old Style" pitchFamily="34" charset="0"/>
                <a:ea typeface="Bookman Old Style" pitchFamily="34" charset="-122"/>
                <a:cs typeface="Bookman Old Style" pitchFamily="34" charset="-120"/>
              </a:rPr>
              <a:t>Problem Scoping</a:t>
            </a:r>
            <a:endParaRPr lang="en-US" sz="5600" dirty="0"/>
          </a:p>
          <a:p>
            <a:pPr marL="0" indent="0" algn="l">
              <a:buNone/>
            </a:pPr>
            <a:r>
              <a:rPr lang="en-US" sz="5600" dirty="0">
                <a:solidFill>
                  <a:srgbClr val="FFFFFF"/>
                </a:solidFill>
                <a:latin typeface="Bookman Old Style" pitchFamily="34" charset="0"/>
                <a:ea typeface="Bookman Old Style" pitchFamily="34" charset="-122"/>
                <a:cs typeface="Bookman Old Style" pitchFamily="34" charset="-120"/>
              </a:rPr>
              <a:t>&amp; Data Collection</a:t>
            </a:r>
            <a:endParaRPr lang="en-US" sz="5600" dirty="0"/>
          </a:p>
        </p:txBody>
      </p:sp>
      <p:sp>
        <p:nvSpPr>
          <p:cNvPr id="5" name="Shape 3"/>
          <p:cNvSpPr/>
          <p:nvPr/>
        </p:nvSpPr>
        <p:spPr>
          <a:xfrm>
            <a:off x="457200" y="3401568"/>
            <a:ext cx="2011680" cy="420624"/>
          </a:xfrm>
          <a:prstGeom prst="roundRect">
            <a:avLst>
              <a:gd name="adj" fmla="val 17391"/>
            </a:avLst>
          </a:prstGeom>
          <a:solidFill>
            <a:srgbClr val="B8620A"/>
          </a:solidFill>
          <a:ln w="12700">
            <a:solidFill>
              <a:srgbClr val="B8620A"/>
            </a:solidFill>
            <a:prstDash val="solid"/>
          </a:ln>
        </p:spPr>
        <p:txBody>
          <a:bodyPr/>
          <a:lstStyle/>
          <a:p>
            <a:endParaRPr lang="en-AU"/>
          </a:p>
        </p:txBody>
      </p:sp>
      <p:sp>
        <p:nvSpPr>
          <p:cNvPr id="6" name="Text 4"/>
          <p:cNvSpPr/>
          <p:nvPr/>
        </p:nvSpPr>
        <p:spPr>
          <a:xfrm>
            <a:off x="457200" y="3401568"/>
            <a:ext cx="201168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LESSON 4</a:t>
            </a:r>
            <a:endParaRPr lang="en-US" sz="1100" dirty="0"/>
          </a:p>
        </p:txBody>
      </p:sp>
      <p:sp>
        <p:nvSpPr>
          <p:cNvPr id="7" name="Shape 5"/>
          <p:cNvSpPr/>
          <p:nvPr/>
        </p:nvSpPr>
        <p:spPr>
          <a:xfrm>
            <a:off x="8961120" y="0"/>
            <a:ext cx="3200400" cy="6858000"/>
          </a:xfrm>
          <a:prstGeom prst="rect">
            <a:avLst/>
          </a:prstGeom>
          <a:solidFill>
            <a:srgbClr val="2C2A28"/>
          </a:solidFill>
          <a:ln w="12700">
            <a:solidFill>
              <a:srgbClr val="2C2A28"/>
            </a:solidFill>
            <a:prstDash val="solid"/>
          </a:ln>
        </p:spPr>
        <p:txBody>
          <a:bodyPr/>
          <a:lstStyle/>
          <a:p>
            <a:endParaRPr lang="en-AU"/>
          </a:p>
        </p:txBody>
      </p:sp>
      <p:pic>
        <p:nvPicPr>
          <p:cNvPr id="8" name="Image 0" descr="preencoded.png"/>
          <p:cNvPicPr>
            <a:picLocks noChangeAspect="1"/>
          </p:cNvPicPr>
          <p:nvPr/>
        </p:nvPicPr>
        <p:blipFill>
          <a:blip r:embed="rId3"/>
          <a:stretch>
            <a:fillRect/>
          </a:stretch>
        </p:blipFill>
        <p:spPr>
          <a:xfrm>
            <a:off x="9418320" y="548640"/>
            <a:ext cx="502920" cy="502920"/>
          </a:xfrm>
          <a:prstGeom prst="rect">
            <a:avLst/>
          </a:prstGeom>
        </p:spPr>
      </p:pic>
      <p:pic>
        <p:nvPicPr>
          <p:cNvPr id="9" name="Image 1" descr="preencoded.png"/>
          <p:cNvPicPr>
            <a:picLocks noChangeAspect="1"/>
          </p:cNvPicPr>
          <p:nvPr/>
        </p:nvPicPr>
        <p:blipFill>
          <a:blip r:embed="rId4"/>
          <a:stretch>
            <a:fillRect/>
          </a:stretch>
        </p:blipFill>
        <p:spPr>
          <a:xfrm>
            <a:off x="10515600" y="1280160"/>
            <a:ext cx="502920" cy="502920"/>
          </a:xfrm>
          <a:prstGeom prst="rect">
            <a:avLst/>
          </a:prstGeom>
        </p:spPr>
      </p:pic>
      <p:pic>
        <p:nvPicPr>
          <p:cNvPr id="10" name="Image 2" descr="preencoded.png"/>
          <p:cNvPicPr>
            <a:picLocks noChangeAspect="1"/>
          </p:cNvPicPr>
          <p:nvPr/>
        </p:nvPicPr>
        <p:blipFill>
          <a:blip r:embed="rId5"/>
          <a:stretch>
            <a:fillRect/>
          </a:stretch>
        </p:blipFill>
        <p:spPr>
          <a:xfrm>
            <a:off x="9326880" y="2194560"/>
            <a:ext cx="502920" cy="502920"/>
          </a:xfrm>
          <a:prstGeom prst="rect">
            <a:avLst/>
          </a:prstGeom>
        </p:spPr>
      </p:pic>
      <p:pic>
        <p:nvPicPr>
          <p:cNvPr id="11" name="Image 3" descr="preencoded.png"/>
          <p:cNvPicPr>
            <a:picLocks noChangeAspect="1"/>
          </p:cNvPicPr>
          <p:nvPr/>
        </p:nvPicPr>
        <p:blipFill>
          <a:blip r:embed="rId6"/>
          <a:stretch>
            <a:fillRect/>
          </a:stretch>
        </p:blipFill>
        <p:spPr>
          <a:xfrm>
            <a:off x="10698480" y="3017520"/>
            <a:ext cx="502920" cy="502920"/>
          </a:xfrm>
          <a:prstGeom prst="rect">
            <a:avLst/>
          </a:prstGeom>
        </p:spPr>
      </p:pic>
      <p:pic>
        <p:nvPicPr>
          <p:cNvPr id="12" name="Image 4" descr="preencoded.png"/>
          <p:cNvPicPr>
            <a:picLocks noChangeAspect="1"/>
          </p:cNvPicPr>
          <p:nvPr/>
        </p:nvPicPr>
        <p:blipFill>
          <a:blip r:embed="rId7"/>
          <a:stretch>
            <a:fillRect/>
          </a:stretch>
        </p:blipFill>
        <p:spPr>
          <a:xfrm>
            <a:off x="9509760" y="4023360"/>
            <a:ext cx="502920" cy="502920"/>
          </a:xfrm>
          <a:prstGeom prst="rect">
            <a:avLst/>
          </a:prstGeom>
        </p:spPr>
      </p:pic>
      <p:pic>
        <p:nvPicPr>
          <p:cNvPr id="13" name="Image 5" descr="preencoded.png"/>
          <p:cNvPicPr>
            <a:picLocks noChangeAspect="1"/>
          </p:cNvPicPr>
          <p:nvPr/>
        </p:nvPicPr>
        <p:blipFill>
          <a:blip r:embed="rId8"/>
          <a:stretch>
            <a:fillRect/>
          </a:stretch>
        </p:blipFill>
        <p:spPr>
          <a:xfrm>
            <a:off x="10607040" y="4937760"/>
            <a:ext cx="502920" cy="502920"/>
          </a:xfrm>
          <a:prstGeom prst="rect">
            <a:avLst/>
          </a:prstGeom>
        </p:spPr>
      </p:pic>
      <p:sp>
        <p:nvSpPr>
          <p:cNvPr id="14" name="Text 6"/>
          <p:cNvSpPr/>
          <p:nvPr/>
        </p:nvSpPr>
        <p:spPr>
          <a:xfrm>
            <a:off x="457200" y="6355080"/>
            <a:ext cx="6400800" cy="201168"/>
          </a:xfrm>
          <a:prstGeom prst="rect">
            <a:avLst/>
          </a:prstGeom>
          <a:noFill/>
          <a:ln/>
        </p:spPr>
        <p:txBody>
          <a:bodyPr wrap="square" lIns="0" tIns="0" rIns="0" bIns="0" rtlCol="0" anchor="ctr"/>
          <a:lstStyle/>
          <a:p>
            <a:pPr marL="0" indent="0" algn="l">
              <a:buNone/>
            </a:pPr>
            <a:r>
              <a:rPr lang="en-US" sz="750" dirty="0">
                <a:solidFill>
                  <a:srgbClr val="6B6762"/>
                </a:solidFill>
                <a:latin typeface="Courier New" pitchFamily="34" charset="0"/>
                <a:ea typeface="Courier New" pitchFamily="34" charset="-122"/>
                <a:cs typeface="Courier New" pitchFamily="34" charset="-120"/>
              </a:rPr>
              <a:t>y11-ac-u2-l4-problem-scoping-data-collection</a:t>
            </a:r>
            <a:endParaRPr lang="en-US" sz="750" dirty="0"/>
          </a:p>
        </p:txBody>
      </p:sp>
      <p:sp>
        <p:nvSpPr>
          <p:cNvPr id="15" name="Text 7"/>
          <p:cNvSpPr/>
          <p:nvPr/>
        </p:nvSpPr>
        <p:spPr>
          <a:xfrm>
            <a:off x="457200" y="6547104"/>
            <a:ext cx="6400800" cy="201168"/>
          </a:xfrm>
          <a:prstGeom prst="rect">
            <a:avLst/>
          </a:prstGeom>
          <a:noFill/>
          <a:ln/>
        </p:spPr>
        <p:txBody>
          <a:bodyPr wrap="square" lIns="0" tIns="0" rIns="0" bIns="0" rtlCol="0" anchor="ctr"/>
          <a:lstStyle/>
          <a:p>
            <a:pPr marL="0" indent="0" algn="l">
              <a:buNone/>
            </a:pPr>
            <a:r>
              <a:rPr lang="en-US" sz="750" dirty="0">
                <a:solidFill>
                  <a:srgbClr val="6B6762"/>
                </a:solidFill>
                <a:latin typeface="Courier New" pitchFamily="34" charset="0"/>
                <a:ea typeface="Courier New" pitchFamily="34" charset="-122"/>
                <a:cs typeface="Courier New" pitchFamily="34" charset="-120"/>
              </a:rPr>
              <a:t>Mr Smith</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Shape 2"/>
          <p:cNvSpPr/>
          <p:nvPr/>
        </p:nvSpPr>
        <p:spPr>
          <a:xfrm>
            <a:off x="9966960" y="164592"/>
            <a:ext cx="1920240" cy="347472"/>
          </a:xfrm>
          <a:prstGeom prst="rect">
            <a:avLst/>
          </a:prstGeom>
          <a:solidFill>
            <a:srgbClr val="2C2A28"/>
          </a:solidFill>
          <a:ln w="12700">
            <a:solidFill>
              <a:srgbClr val="2C2A28"/>
            </a:solidFill>
            <a:prstDash val="solid"/>
          </a:ln>
        </p:spPr>
        <p:txBody>
          <a:bodyPr/>
          <a:lstStyle/>
          <a:p>
            <a:endParaRPr lang="en-AU"/>
          </a:p>
        </p:txBody>
      </p:sp>
      <p:sp>
        <p:nvSpPr>
          <p:cNvPr id="5" name="Text 3"/>
          <p:cNvSpPr/>
          <p:nvPr/>
        </p:nvSpPr>
        <p:spPr>
          <a:xfrm>
            <a:off x="9966960" y="164592"/>
            <a:ext cx="192024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WARM-UP</a:t>
            </a:r>
            <a:endParaRPr lang="en-US" sz="850" dirty="0"/>
          </a:p>
        </p:txBody>
      </p:sp>
      <p:sp>
        <p:nvSpPr>
          <p:cNvPr id="6" name="Text 4"/>
          <p:cNvSpPr/>
          <p:nvPr/>
        </p:nvSpPr>
        <p:spPr>
          <a:xfrm>
            <a:off x="365760" y="164592"/>
            <a:ext cx="3657600" cy="274320"/>
          </a:xfrm>
          <a:prstGeom prst="rect">
            <a:avLst/>
          </a:prstGeom>
          <a:noFill/>
          <a:ln/>
        </p:spPr>
        <p:txBody>
          <a:bodyPr wrap="square" lIns="0" tIns="0" rIns="0" bIns="0" rtlCol="0" anchor="ctr"/>
          <a:lstStyle/>
          <a:p>
            <a:pPr marL="0" indent="0" algn="l">
              <a:buNone/>
            </a:pPr>
            <a:r>
              <a:rPr lang="en-US" sz="900" kern="0" spc="100" dirty="0">
                <a:solidFill>
                  <a:srgbClr val="6B6762"/>
                </a:solidFill>
                <a:latin typeface="Courier New" pitchFamily="34" charset="0"/>
                <a:ea typeface="Courier New" pitchFamily="34" charset="-122"/>
                <a:cs typeface="Courier New" pitchFamily="34" charset="-120"/>
              </a:rPr>
              <a:t>WARM-UP</a:t>
            </a:r>
            <a:endParaRPr lang="en-US" sz="900" dirty="0"/>
          </a:p>
        </p:txBody>
      </p:sp>
      <p:sp>
        <p:nvSpPr>
          <p:cNvPr id="7" name="Text 5"/>
          <p:cNvSpPr/>
          <p:nvPr/>
        </p:nvSpPr>
        <p:spPr>
          <a:xfrm>
            <a:off x="365760" y="475488"/>
            <a:ext cx="8229600" cy="457200"/>
          </a:xfrm>
          <a:prstGeom prst="rect">
            <a:avLst/>
          </a:prstGeom>
          <a:noFill/>
          <a:ln/>
        </p:spPr>
        <p:txBody>
          <a:bodyPr wrap="square" lIns="0" tIns="0" rIns="0" bIns="0" rtlCol="0" anchor="ctr"/>
          <a:lstStyle/>
          <a:p>
            <a:pPr marL="0" indent="0" algn="l">
              <a:buNone/>
            </a:pPr>
            <a:r>
              <a:rPr lang="en-US" sz="2600" dirty="0">
                <a:solidFill>
                  <a:srgbClr val="12100E"/>
                </a:solidFill>
                <a:latin typeface="Bookman Old Style" pitchFamily="34" charset="0"/>
                <a:ea typeface="Bookman Old Style" pitchFamily="34" charset="-122"/>
                <a:cs typeface="Bookman Old Style" pitchFamily="34" charset="-120"/>
              </a:rPr>
              <a:t>What's wrong with this picture?</a:t>
            </a:r>
            <a:endParaRPr lang="en-US" sz="2600" dirty="0"/>
          </a:p>
        </p:txBody>
      </p:sp>
      <p:sp>
        <p:nvSpPr>
          <p:cNvPr id="8" name="Shape 6"/>
          <p:cNvSpPr/>
          <p:nvPr/>
        </p:nvSpPr>
        <p:spPr>
          <a:xfrm>
            <a:off x="365760" y="1005840"/>
            <a:ext cx="7772400" cy="1828800"/>
          </a:xfrm>
          <a:prstGeom prst="roundRect">
            <a:avLst>
              <a:gd name="adj" fmla="val 6000"/>
            </a:avLst>
          </a:prstGeom>
          <a:solidFill>
            <a:srgbClr val="FFFFFF"/>
          </a:solidFill>
          <a:ln w="12700">
            <a:solidFill>
              <a:srgbClr val="D8D3CA"/>
            </a:solidFill>
            <a:prstDash val="solid"/>
          </a:ln>
          <a:effectLst>
            <a:outerShdw blurRad="76200" dist="25400" dir="2700000" algn="bl" rotWithShape="0">
              <a:srgbClr val="000000">
                <a:alpha val="10000"/>
              </a:srgbClr>
            </a:outerShdw>
          </a:effectLst>
        </p:spPr>
        <p:txBody>
          <a:bodyPr/>
          <a:lstStyle/>
          <a:p>
            <a:endParaRPr lang="en-AU"/>
          </a:p>
        </p:txBody>
      </p:sp>
      <p:sp>
        <p:nvSpPr>
          <p:cNvPr id="9" name="Text 7"/>
          <p:cNvSpPr/>
          <p:nvPr/>
        </p:nvSpPr>
        <p:spPr>
          <a:xfrm>
            <a:off x="640080" y="1078992"/>
            <a:ext cx="7315200" cy="1691640"/>
          </a:xfrm>
          <a:prstGeom prst="rect">
            <a:avLst/>
          </a:prstGeom>
          <a:noFill/>
          <a:ln/>
        </p:spPr>
        <p:txBody>
          <a:bodyPr wrap="square" lIns="0" tIns="0" rIns="0" bIns="0" rtlCol="0" anchor="ctr"/>
          <a:lstStyle/>
          <a:p>
            <a:pPr marL="0" indent="0" algn="l">
              <a:buNone/>
            </a:pPr>
            <a:r>
              <a:rPr lang="en-US" sz="1600" dirty="0">
                <a:solidFill>
                  <a:srgbClr val="6B6762"/>
                </a:solidFill>
                <a:latin typeface="Bookman Old Style" pitchFamily="34" charset="0"/>
                <a:ea typeface="Bookman Old Style" pitchFamily="34" charset="-122"/>
                <a:cs typeface="Bookman Old Style" pitchFamily="34" charset="-120"/>
              </a:rPr>
              <a:t>A team built a survey about their app.</a:t>
            </a:r>
            <a:endParaRPr lang="en-US" sz="1600" dirty="0"/>
          </a:p>
          <a:p>
            <a:pPr marL="0" indent="0" algn="l">
              <a:buNone/>
            </a:pPr>
            <a:r>
              <a:rPr lang="en-US" sz="1600" dirty="0">
                <a:solidFill>
                  <a:srgbClr val="6B6762"/>
                </a:solidFill>
                <a:latin typeface="Bookman Old Style" pitchFamily="34" charset="0"/>
                <a:ea typeface="Bookman Old Style" pitchFamily="34" charset="-122"/>
                <a:cs typeface="Bookman Old Style" pitchFamily="34" charset="-120"/>
              </a:rPr>
              <a:t>Their only question was:</a:t>
            </a:r>
            <a:endParaRPr lang="en-US" sz="1600" dirty="0"/>
          </a:p>
          <a:p>
            <a:pPr marL="0" indent="0" algn="l">
              <a:buNone/>
            </a:pPr>
            <a:r>
              <a:rPr lang="en-US" sz="1600" dirty="0">
                <a:solidFill>
                  <a:srgbClr val="000000"/>
                </a:solidFill>
                <a:latin typeface="Bookman Old Style" pitchFamily="34" charset="0"/>
                <a:ea typeface="Bookman Old Style" pitchFamily="34" charset="-122"/>
                <a:cs typeface="Bookman Old Style" pitchFamily="34" charset="-120"/>
              </a:rPr>
              <a:t>
</a:t>
            </a:r>
            <a:endParaRPr lang="en-US" sz="1600" dirty="0"/>
          </a:p>
          <a:p>
            <a:pPr marL="0" indent="0" algn="l">
              <a:buNone/>
            </a:pPr>
            <a:r>
              <a:rPr lang="en-US" sz="2800" b="1" i="1" dirty="0">
                <a:solidFill>
                  <a:srgbClr val="12100E"/>
                </a:solidFill>
                <a:latin typeface="Bookman Old Style" pitchFamily="34" charset="0"/>
                <a:ea typeface="Bookman Old Style" pitchFamily="34" charset="-122"/>
                <a:cs typeface="Bookman Old Style" pitchFamily="34" charset="-120"/>
              </a:rPr>
              <a:t>"Do you like apps?"</a:t>
            </a:r>
            <a:endParaRPr lang="en-US" sz="1600" dirty="0"/>
          </a:p>
        </p:txBody>
      </p:sp>
      <p:sp>
        <p:nvSpPr>
          <p:cNvPr id="10" name="Shape 8"/>
          <p:cNvSpPr/>
          <p:nvPr/>
        </p:nvSpPr>
        <p:spPr>
          <a:xfrm>
            <a:off x="365760" y="2971800"/>
            <a:ext cx="3749040" cy="1051560"/>
          </a:xfrm>
          <a:prstGeom prst="roundRect">
            <a:avLst>
              <a:gd name="adj" fmla="val 8696"/>
            </a:avLst>
          </a:prstGeom>
          <a:solidFill>
            <a:srgbClr val="FDF3E7"/>
          </a:solidFill>
          <a:ln w="19050">
            <a:solidFill>
              <a:srgbClr val="B8620A"/>
            </a:solidFill>
            <a:prstDash val="solid"/>
          </a:ln>
        </p:spPr>
        <p:txBody>
          <a:bodyPr/>
          <a:lstStyle/>
          <a:p>
            <a:endParaRPr lang="en-AU"/>
          </a:p>
        </p:txBody>
      </p:sp>
      <p:sp>
        <p:nvSpPr>
          <p:cNvPr id="11" name="Text 9"/>
          <p:cNvSpPr/>
          <p:nvPr/>
        </p:nvSpPr>
        <p:spPr>
          <a:xfrm>
            <a:off x="502920" y="2999232"/>
            <a:ext cx="3474720" cy="1005840"/>
          </a:xfrm>
          <a:prstGeom prst="rect">
            <a:avLst/>
          </a:prstGeom>
          <a:noFill/>
          <a:ln/>
        </p:spPr>
        <p:txBody>
          <a:bodyPr wrap="square" lIns="0" tIns="0" rIns="0" bIns="0" rtlCol="0" anchor="ctr"/>
          <a:lstStyle/>
          <a:p>
            <a:pPr marL="0" indent="0" algn="ctr">
              <a:buNone/>
            </a:pPr>
            <a:r>
              <a:rPr lang="en-US" sz="1350" dirty="0">
                <a:solidFill>
                  <a:srgbClr val="B8620A"/>
                </a:solidFill>
                <a:latin typeface="Calibri" pitchFamily="34" charset="0"/>
                <a:ea typeface="Calibri" pitchFamily="34" charset="-122"/>
                <a:cs typeface="Calibri" pitchFamily="34" charset="-120"/>
              </a:rPr>
              <a:t>What does this question actually tell you?</a:t>
            </a:r>
            <a:endParaRPr lang="en-US" sz="1350" dirty="0"/>
          </a:p>
        </p:txBody>
      </p:sp>
      <p:sp>
        <p:nvSpPr>
          <p:cNvPr id="12" name="Shape 10"/>
          <p:cNvSpPr/>
          <p:nvPr/>
        </p:nvSpPr>
        <p:spPr>
          <a:xfrm>
            <a:off x="4251960" y="2971800"/>
            <a:ext cx="3749040" cy="1051560"/>
          </a:xfrm>
          <a:prstGeom prst="roundRect">
            <a:avLst>
              <a:gd name="adj" fmla="val 8696"/>
            </a:avLst>
          </a:prstGeom>
          <a:solidFill>
            <a:srgbClr val="FDF3E7"/>
          </a:solidFill>
          <a:ln w="19050">
            <a:solidFill>
              <a:srgbClr val="B8620A"/>
            </a:solidFill>
            <a:prstDash val="solid"/>
          </a:ln>
        </p:spPr>
        <p:txBody>
          <a:bodyPr/>
          <a:lstStyle/>
          <a:p>
            <a:endParaRPr lang="en-AU"/>
          </a:p>
        </p:txBody>
      </p:sp>
      <p:sp>
        <p:nvSpPr>
          <p:cNvPr id="13" name="Text 11"/>
          <p:cNvSpPr/>
          <p:nvPr/>
        </p:nvSpPr>
        <p:spPr>
          <a:xfrm>
            <a:off x="4389120" y="2999232"/>
            <a:ext cx="3474720" cy="1005840"/>
          </a:xfrm>
          <a:prstGeom prst="rect">
            <a:avLst/>
          </a:prstGeom>
          <a:noFill/>
          <a:ln/>
        </p:spPr>
        <p:txBody>
          <a:bodyPr wrap="square" lIns="0" tIns="0" rIns="0" bIns="0" rtlCol="0" anchor="ctr"/>
          <a:lstStyle/>
          <a:p>
            <a:pPr marL="0" indent="0" algn="ctr">
              <a:buNone/>
            </a:pPr>
            <a:r>
              <a:rPr lang="en-US" sz="1350" dirty="0">
                <a:solidFill>
                  <a:srgbClr val="B8620A"/>
                </a:solidFill>
                <a:latin typeface="Calibri" pitchFamily="34" charset="0"/>
                <a:ea typeface="Calibri" pitchFamily="34" charset="-122"/>
                <a:cs typeface="Calibri" pitchFamily="34" charset="-120"/>
              </a:rPr>
              <a:t>Who is it aimed at? Is that a user group?</a:t>
            </a:r>
            <a:endParaRPr lang="en-US" sz="1350" dirty="0"/>
          </a:p>
        </p:txBody>
      </p:sp>
      <p:sp>
        <p:nvSpPr>
          <p:cNvPr id="14" name="Shape 12"/>
          <p:cNvSpPr/>
          <p:nvPr/>
        </p:nvSpPr>
        <p:spPr>
          <a:xfrm>
            <a:off x="8138160" y="2971800"/>
            <a:ext cx="3749040" cy="1051560"/>
          </a:xfrm>
          <a:prstGeom prst="roundRect">
            <a:avLst>
              <a:gd name="adj" fmla="val 8696"/>
            </a:avLst>
          </a:prstGeom>
          <a:solidFill>
            <a:srgbClr val="FDF3E7"/>
          </a:solidFill>
          <a:ln w="19050">
            <a:solidFill>
              <a:srgbClr val="B8620A"/>
            </a:solidFill>
            <a:prstDash val="solid"/>
          </a:ln>
        </p:spPr>
        <p:txBody>
          <a:bodyPr/>
          <a:lstStyle/>
          <a:p>
            <a:endParaRPr lang="en-AU"/>
          </a:p>
        </p:txBody>
      </p:sp>
      <p:sp>
        <p:nvSpPr>
          <p:cNvPr id="15" name="Text 13"/>
          <p:cNvSpPr/>
          <p:nvPr/>
        </p:nvSpPr>
        <p:spPr>
          <a:xfrm>
            <a:off x="8275320" y="2999232"/>
            <a:ext cx="3474720" cy="1005840"/>
          </a:xfrm>
          <a:prstGeom prst="rect">
            <a:avLst/>
          </a:prstGeom>
          <a:noFill/>
          <a:ln/>
        </p:spPr>
        <p:txBody>
          <a:bodyPr wrap="square" lIns="0" tIns="0" rIns="0" bIns="0" rtlCol="0" anchor="ctr"/>
          <a:lstStyle/>
          <a:p>
            <a:pPr marL="0" indent="0" algn="ctr">
              <a:buNone/>
            </a:pPr>
            <a:r>
              <a:rPr lang="en-US" sz="1350" dirty="0">
                <a:solidFill>
                  <a:srgbClr val="B8620A"/>
                </a:solidFill>
                <a:latin typeface="Calibri" pitchFamily="34" charset="0"/>
                <a:ea typeface="Calibri" pitchFamily="34" charset="-122"/>
                <a:cs typeface="Calibri" pitchFamily="34" charset="-120"/>
              </a:rPr>
              <a:t>What would useful survey data look like?</a:t>
            </a:r>
            <a:endParaRPr lang="en-US" sz="1350" dirty="0"/>
          </a:p>
        </p:txBody>
      </p:sp>
      <p:sp>
        <p:nvSpPr>
          <p:cNvPr id="16" name="Text 14"/>
          <p:cNvSpPr/>
          <p:nvPr/>
        </p:nvSpPr>
        <p:spPr>
          <a:xfrm>
            <a:off x="365760" y="4206240"/>
            <a:ext cx="8229600" cy="32004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Devices OFF — think first, then share with your group (2 min)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00E"/>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Text 2"/>
          <p:cNvSpPr/>
          <p:nvPr/>
        </p:nvSpPr>
        <p:spPr>
          <a:xfrm>
            <a:off x="457200" y="256032"/>
            <a:ext cx="7315200" cy="256032"/>
          </a:xfrm>
          <a:prstGeom prst="rect">
            <a:avLst/>
          </a:prstGeom>
          <a:noFill/>
          <a:ln/>
        </p:spPr>
        <p:txBody>
          <a:bodyPr wrap="square" lIns="0" tIns="0" rIns="0" bIns="0" rtlCol="0" anchor="ctr"/>
          <a:lstStyle/>
          <a:p>
            <a:pPr marL="0" indent="0" algn="l">
              <a:buNone/>
            </a:pPr>
            <a:r>
              <a:rPr lang="en-US" sz="900" kern="0" spc="100" dirty="0">
                <a:solidFill>
                  <a:srgbClr val="6B6762"/>
                </a:solidFill>
                <a:latin typeface="Courier New" pitchFamily="34" charset="0"/>
                <a:ea typeface="Courier New" pitchFamily="34" charset="-122"/>
                <a:cs typeface="Courier New" pitchFamily="34" charset="-120"/>
              </a:rPr>
              <a:t>LEARNING OBJECTIVE</a:t>
            </a:r>
            <a:endParaRPr lang="en-US" sz="900" dirty="0"/>
          </a:p>
        </p:txBody>
      </p:sp>
      <p:sp>
        <p:nvSpPr>
          <p:cNvPr id="5" name="Text 3"/>
          <p:cNvSpPr/>
          <p:nvPr/>
        </p:nvSpPr>
        <p:spPr>
          <a:xfrm>
            <a:off x="457200" y="548640"/>
            <a:ext cx="8686800" cy="1188720"/>
          </a:xfrm>
          <a:prstGeom prst="rect">
            <a:avLst/>
          </a:prstGeom>
          <a:noFill/>
          <a:ln/>
        </p:spPr>
        <p:txBody>
          <a:bodyPr wrap="square" lIns="0" tIns="0" rIns="0" bIns="0" rtlCol="0" anchor="ctr"/>
          <a:lstStyle/>
          <a:p>
            <a:pPr marL="0" indent="0" algn="l">
              <a:buNone/>
            </a:pPr>
            <a:r>
              <a:rPr lang="en-US" sz="2400" dirty="0">
                <a:solidFill>
                  <a:srgbClr val="FFFFFF"/>
                </a:solidFill>
                <a:latin typeface="Bookman Old Style" pitchFamily="34" charset="0"/>
                <a:ea typeface="Bookman Old Style" pitchFamily="34" charset="-122"/>
                <a:cs typeface="Bookman Old Style" pitchFamily="34" charset="-120"/>
              </a:rPr>
              <a:t>To be able to scope a problem clearly and design a</a:t>
            </a:r>
            <a:endParaRPr lang="en-US" sz="2400" dirty="0"/>
          </a:p>
          <a:p>
            <a:pPr marL="0" indent="0" algn="l">
              <a:buNone/>
            </a:pPr>
            <a:r>
              <a:rPr lang="en-US" sz="2400" dirty="0">
                <a:solidFill>
                  <a:srgbClr val="FFFFFF"/>
                </a:solidFill>
                <a:latin typeface="Bookman Old Style" pitchFamily="34" charset="0"/>
                <a:ea typeface="Bookman Old Style" pitchFamily="34" charset="-122"/>
                <a:cs typeface="Bookman Old Style" pitchFamily="34" charset="-120"/>
              </a:rPr>
              <a:t>data collection instrument that investigates the identified user need.</a:t>
            </a:r>
            <a:endParaRPr lang="en-US" sz="2400" dirty="0"/>
          </a:p>
        </p:txBody>
      </p:sp>
      <p:sp>
        <p:nvSpPr>
          <p:cNvPr id="6" name="Shape 4"/>
          <p:cNvSpPr/>
          <p:nvPr/>
        </p:nvSpPr>
        <p:spPr>
          <a:xfrm>
            <a:off x="457200" y="1874520"/>
            <a:ext cx="11247120" cy="1170432"/>
          </a:xfrm>
          <a:prstGeom prst="roundRect">
            <a:avLst>
              <a:gd name="adj" fmla="val 7813"/>
            </a:avLst>
          </a:prstGeom>
          <a:solidFill>
            <a:srgbClr val="2C2A28"/>
          </a:solidFill>
          <a:ln w="12700">
            <a:solidFill>
              <a:srgbClr val="2C2A28"/>
            </a:solidFill>
            <a:prstDash val="solid"/>
          </a:ln>
          <a:effectLst>
            <a:outerShdw blurRad="76200" dist="25400" dir="2700000" algn="bl" rotWithShape="0">
              <a:srgbClr val="000000">
                <a:alpha val="10000"/>
              </a:srgbClr>
            </a:outerShdw>
          </a:effectLst>
        </p:spPr>
        <p:txBody>
          <a:bodyPr/>
          <a:lstStyle/>
          <a:p>
            <a:endParaRPr lang="en-AU"/>
          </a:p>
        </p:txBody>
      </p:sp>
      <p:sp>
        <p:nvSpPr>
          <p:cNvPr id="7" name="Shape 5"/>
          <p:cNvSpPr/>
          <p:nvPr/>
        </p:nvSpPr>
        <p:spPr>
          <a:xfrm>
            <a:off x="594360" y="1984248"/>
            <a:ext cx="1645920" cy="329184"/>
          </a:xfrm>
          <a:prstGeom prst="roundRect">
            <a:avLst>
              <a:gd name="adj" fmla="val 19444"/>
            </a:avLst>
          </a:prstGeom>
          <a:solidFill>
            <a:srgbClr val="1B5E47"/>
          </a:solidFill>
          <a:ln w="12700">
            <a:solidFill>
              <a:srgbClr val="1B5E47"/>
            </a:solidFill>
            <a:prstDash val="solid"/>
          </a:ln>
        </p:spPr>
        <p:txBody>
          <a:bodyPr/>
          <a:lstStyle/>
          <a:p>
            <a:endParaRPr lang="en-AU"/>
          </a:p>
        </p:txBody>
      </p:sp>
      <p:sp>
        <p:nvSpPr>
          <p:cNvPr id="8" name="Text 6"/>
          <p:cNvSpPr/>
          <p:nvPr/>
        </p:nvSpPr>
        <p:spPr>
          <a:xfrm>
            <a:off x="594360" y="1984248"/>
            <a:ext cx="164592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Foundation</a:t>
            </a:r>
            <a:endParaRPr lang="en-US" sz="1000" dirty="0"/>
          </a:p>
        </p:txBody>
      </p:sp>
      <p:sp>
        <p:nvSpPr>
          <p:cNvPr id="9" name="Text 7"/>
          <p:cNvSpPr/>
          <p:nvPr/>
        </p:nvSpPr>
        <p:spPr>
          <a:xfrm>
            <a:off x="2377440" y="1938528"/>
            <a:ext cx="9052560" cy="100584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 can refine my group's problem statement and identify a specific target user group.</a:t>
            </a:r>
            <a:endParaRPr lang="en-US" sz="1400" dirty="0"/>
          </a:p>
        </p:txBody>
      </p:sp>
      <p:sp>
        <p:nvSpPr>
          <p:cNvPr id="10" name="Shape 8"/>
          <p:cNvSpPr/>
          <p:nvPr/>
        </p:nvSpPr>
        <p:spPr>
          <a:xfrm>
            <a:off x="457200" y="3200400"/>
            <a:ext cx="11247120" cy="1170432"/>
          </a:xfrm>
          <a:prstGeom prst="roundRect">
            <a:avLst>
              <a:gd name="adj" fmla="val 7813"/>
            </a:avLst>
          </a:prstGeom>
          <a:solidFill>
            <a:srgbClr val="2C2A28"/>
          </a:solidFill>
          <a:ln w="12700">
            <a:solidFill>
              <a:srgbClr val="2C2A28"/>
            </a:solidFill>
            <a:prstDash val="solid"/>
          </a:ln>
          <a:effectLst>
            <a:outerShdw blurRad="76200" dist="25400" dir="2700000" algn="bl" rotWithShape="0">
              <a:srgbClr val="000000">
                <a:alpha val="10000"/>
              </a:srgbClr>
            </a:outerShdw>
          </a:effectLst>
        </p:spPr>
        <p:txBody>
          <a:bodyPr/>
          <a:lstStyle/>
          <a:p>
            <a:endParaRPr lang="en-AU"/>
          </a:p>
        </p:txBody>
      </p:sp>
      <p:sp>
        <p:nvSpPr>
          <p:cNvPr id="11" name="Shape 9"/>
          <p:cNvSpPr/>
          <p:nvPr/>
        </p:nvSpPr>
        <p:spPr>
          <a:xfrm>
            <a:off x="594360" y="3310128"/>
            <a:ext cx="1645920" cy="329184"/>
          </a:xfrm>
          <a:prstGeom prst="roundRect">
            <a:avLst>
              <a:gd name="adj" fmla="val 19444"/>
            </a:avLst>
          </a:prstGeom>
          <a:solidFill>
            <a:srgbClr val="B8620A"/>
          </a:solidFill>
          <a:ln w="12700">
            <a:solidFill>
              <a:srgbClr val="B8620A"/>
            </a:solidFill>
            <a:prstDash val="solid"/>
          </a:ln>
        </p:spPr>
        <p:txBody>
          <a:bodyPr/>
          <a:lstStyle/>
          <a:p>
            <a:endParaRPr lang="en-AU"/>
          </a:p>
        </p:txBody>
      </p:sp>
      <p:sp>
        <p:nvSpPr>
          <p:cNvPr id="12" name="Text 10"/>
          <p:cNvSpPr/>
          <p:nvPr/>
        </p:nvSpPr>
        <p:spPr>
          <a:xfrm>
            <a:off x="594360" y="3310128"/>
            <a:ext cx="164592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Developing</a:t>
            </a:r>
            <a:endParaRPr lang="en-US" sz="1000" dirty="0"/>
          </a:p>
        </p:txBody>
      </p:sp>
      <p:sp>
        <p:nvSpPr>
          <p:cNvPr id="13" name="Text 11"/>
          <p:cNvSpPr/>
          <p:nvPr/>
        </p:nvSpPr>
        <p:spPr>
          <a:xfrm>
            <a:off x="2377440" y="3264408"/>
            <a:ext cx="9052560" cy="100584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 can choose an appropriate data collection method and draft a set of questions targeting the identified user need.</a:t>
            </a:r>
            <a:endParaRPr lang="en-US" sz="1400" dirty="0"/>
          </a:p>
        </p:txBody>
      </p:sp>
      <p:sp>
        <p:nvSpPr>
          <p:cNvPr id="14" name="Shape 12"/>
          <p:cNvSpPr/>
          <p:nvPr/>
        </p:nvSpPr>
        <p:spPr>
          <a:xfrm>
            <a:off x="457200" y="4526280"/>
            <a:ext cx="11247120" cy="1170432"/>
          </a:xfrm>
          <a:prstGeom prst="roundRect">
            <a:avLst>
              <a:gd name="adj" fmla="val 7813"/>
            </a:avLst>
          </a:prstGeom>
          <a:solidFill>
            <a:srgbClr val="2C2A28"/>
          </a:solidFill>
          <a:ln w="12700">
            <a:solidFill>
              <a:srgbClr val="2C2A28"/>
            </a:solidFill>
            <a:prstDash val="solid"/>
          </a:ln>
          <a:effectLst>
            <a:outerShdw blurRad="76200" dist="25400" dir="2700000" algn="bl" rotWithShape="0">
              <a:srgbClr val="000000">
                <a:alpha val="10000"/>
              </a:srgbClr>
            </a:outerShdw>
          </a:effectLst>
        </p:spPr>
        <p:txBody>
          <a:bodyPr/>
          <a:lstStyle/>
          <a:p>
            <a:endParaRPr lang="en-AU"/>
          </a:p>
        </p:txBody>
      </p:sp>
      <p:sp>
        <p:nvSpPr>
          <p:cNvPr id="15" name="Shape 13"/>
          <p:cNvSpPr/>
          <p:nvPr/>
        </p:nvSpPr>
        <p:spPr>
          <a:xfrm>
            <a:off x="594360" y="4636008"/>
            <a:ext cx="1645920" cy="329184"/>
          </a:xfrm>
          <a:prstGeom prst="roundRect">
            <a:avLst>
              <a:gd name="adj" fmla="val 19444"/>
            </a:avLst>
          </a:prstGeom>
          <a:solidFill>
            <a:srgbClr val="2B3A8C"/>
          </a:solidFill>
          <a:ln w="12700">
            <a:solidFill>
              <a:srgbClr val="2B3A8C"/>
            </a:solidFill>
            <a:prstDash val="solid"/>
          </a:ln>
        </p:spPr>
        <p:txBody>
          <a:bodyPr/>
          <a:lstStyle/>
          <a:p>
            <a:endParaRPr lang="en-AU"/>
          </a:p>
        </p:txBody>
      </p:sp>
      <p:sp>
        <p:nvSpPr>
          <p:cNvPr id="16" name="Text 14"/>
          <p:cNvSpPr/>
          <p:nvPr/>
        </p:nvSpPr>
        <p:spPr>
          <a:xfrm>
            <a:off x="594360" y="4636008"/>
            <a:ext cx="164592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Extending</a:t>
            </a:r>
            <a:endParaRPr lang="en-US" sz="1000" dirty="0"/>
          </a:p>
        </p:txBody>
      </p:sp>
      <p:sp>
        <p:nvSpPr>
          <p:cNvPr id="17" name="Text 15"/>
          <p:cNvSpPr/>
          <p:nvPr/>
        </p:nvSpPr>
        <p:spPr>
          <a:xfrm>
            <a:off x="2377440" y="4590288"/>
            <a:ext cx="9052560" cy="100584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 can evaluate my data collection instrument for potential bias or limitation and explain how I would address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Shape 2"/>
          <p:cNvSpPr/>
          <p:nvPr/>
        </p:nvSpPr>
        <p:spPr>
          <a:xfrm>
            <a:off x="9966960" y="164592"/>
            <a:ext cx="1920240" cy="347472"/>
          </a:xfrm>
          <a:prstGeom prst="rect">
            <a:avLst/>
          </a:prstGeom>
          <a:solidFill>
            <a:srgbClr val="2C2A28"/>
          </a:solidFill>
          <a:ln w="12700">
            <a:solidFill>
              <a:srgbClr val="2C2A28"/>
            </a:solidFill>
            <a:prstDash val="solid"/>
          </a:ln>
        </p:spPr>
        <p:txBody>
          <a:bodyPr/>
          <a:lstStyle/>
          <a:p>
            <a:endParaRPr lang="en-AU"/>
          </a:p>
        </p:txBody>
      </p:sp>
      <p:sp>
        <p:nvSpPr>
          <p:cNvPr id="5" name="Text 3"/>
          <p:cNvSpPr/>
          <p:nvPr/>
        </p:nvSpPr>
        <p:spPr>
          <a:xfrm>
            <a:off x="9966960" y="164592"/>
            <a:ext cx="192024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EXPLICIT</a:t>
            </a:r>
            <a:endParaRPr lang="en-US" sz="850" dirty="0"/>
          </a:p>
        </p:txBody>
      </p:sp>
      <p:sp>
        <p:nvSpPr>
          <p:cNvPr id="6" name="Shape 4"/>
          <p:cNvSpPr/>
          <p:nvPr/>
        </p:nvSpPr>
        <p:spPr>
          <a:xfrm>
            <a:off x="274320" y="173736"/>
            <a:ext cx="365760" cy="365760"/>
          </a:xfrm>
          <a:prstGeom prst="ellipse">
            <a:avLst/>
          </a:prstGeom>
          <a:solidFill>
            <a:srgbClr val="2C2A28"/>
          </a:solidFill>
          <a:ln/>
        </p:spPr>
        <p:txBody>
          <a:bodyPr/>
          <a:lstStyle/>
          <a:p>
            <a:endParaRPr lang="en-AU"/>
          </a:p>
        </p:txBody>
      </p:sp>
      <p:sp>
        <p:nvSpPr>
          <p:cNvPr id="7" name="Text 5"/>
          <p:cNvSpPr/>
          <p:nvPr/>
        </p:nvSpPr>
        <p:spPr>
          <a:xfrm>
            <a:off x="274320" y="17373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749808" y="201168"/>
            <a:ext cx="3200400" cy="292608"/>
          </a:xfrm>
          <a:prstGeom prst="rect">
            <a:avLst/>
          </a:prstGeom>
          <a:noFill/>
          <a:ln/>
        </p:spPr>
        <p:txBody>
          <a:bodyPr wrap="square" lIns="0" tIns="0" rIns="0" bIns="0" rtlCol="0" anchor="ctr"/>
          <a:lstStyle/>
          <a:p>
            <a:pPr marL="0" indent="0" algn="l">
              <a:buNone/>
            </a:pPr>
            <a:r>
              <a:rPr lang="en-US" sz="800" dirty="0">
                <a:solidFill>
                  <a:srgbClr val="6B6762"/>
                </a:solidFill>
                <a:latin typeface="Courier New" pitchFamily="34" charset="0"/>
                <a:ea typeface="Courier New" pitchFamily="34" charset="-122"/>
                <a:cs typeface="Courier New" pitchFamily="34" charset="-120"/>
              </a:rPr>
              <a:t>D2.2 · PROBLEM SCOPING</a:t>
            </a:r>
            <a:endParaRPr lang="en-US" sz="800" dirty="0"/>
          </a:p>
        </p:txBody>
      </p:sp>
      <p:sp>
        <p:nvSpPr>
          <p:cNvPr id="9" name="Text 7"/>
          <p:cNvSpPr/>
          <p:nvPr/>
        </p:nvSpPr>
        <p:spPr>
          <a:xfrm>
            <a:off x="749808" y="457200"/>
            <a:ext cx="8229600" cy="329184"/>
          </a:xfrm>
          <a:prstGeom prst="rect">
            <a:avLst/>
          </a:prstGeom>
          <a:noFill/>
          <a:ln/>
        </p:spPr>
        <p:txBody>
          <a:bodyPr wrap="square" lIns="0" tIns="0" rIns="0" bIns="0" rtlCol="0" anchor="ctr"/>
          <a:lstStyle/>
          <a:p>
            <a:pPr marL="0" indent="0" algn="l">
              <a:buNone/>
            </a:pPr>
            <a:r>
              <a:rPr lang="en-US" sz="1800" dirty="0">
                <a:solidFill>
                  <a:srgbClr val="12100E"/>
                </a:solidFill>
                <a:latin typeface="Bookman Old Style" pitchFamily="34" charset="0"/>
                <a:ea typeface="Bookman Old Style" pitchFamily="34" charset="-122"/>
                <a:cs typeface="Bookman Old Style" pitchFamily="34" charset="-120"/>
              </a:rPr>
              <a:t>Refining the Problem Statement</a:t>
            </a:r>
            <a:endParaRPr lang="en-US" sz="1800" dirty="0"/>
          </a:p>
        </p:txBody>
      </p:sp>
      <p:sp>
        <p:nvSpPr>
          <p:cNvPr id="10" name="Shape 8"/>
          <p:cNvSpPr/>
          <p:nvPr/>
        </p:nvSpPr>
        <p:spPr>
          <a:xfrm>
            <a:off x="365760" y="960120"/>
            <a:ext cx="11430000" cy="685800"/>
          </a:xfrm>
          <a:prstGeom prst="roundRect">
            <a:avLst>
              <a:gd name="adj" fmla="val 13333"/>
            </a:avLst>
          </a:prstGeom>
          <a:solidFill>
            <a:srgbClr val="12100E"/>
          </a:solidFill>
          <a:ln w="12700">
            <a:solidFill>
              <a:srgbClr val="12100E"/>
            </a:solidFill>
            <a:prstDash val="solid"/>
          </a:ln>
        </p:spPr>
        <p:txBody>
          <a:bodyPr/>
          <a:lstStyle/>
          <a:p>
            <a:endParaRPr lang="en-AU"/>
          </a:p>
        </p:txBody>
      </p:sp>
      <p:sp>
        <p:nvSpPr>
          <p:cNvPr id="11" name="Text 9"/>
          <p:cNvSpPr/>
          <p:nvPr/>
        </p:nvSpPr>
        <p:spPr>
          <a:xfrm>
            <a:off x="502920" y="960120"/>
            <a:ext cx="11155680" cy="685800"/>
          </a:xfrm>
          <a:prstGeom prst="rect">
            <a:avLst/>
          </a:prstGeom>
          <a:noFill/>
          <a:ln/>
        </p:spPr>
        <p:txBody>
          <a:bodyPr wrap="square" lIns="0" tIns="0" rIns="0" bIns="0" rtlCol="0" anchor="ctr"/>
          <a:lstStyle/>
          <a:p>
            <a:pPr marL="0" indent="0" algn="ctr">
              <a:buNone/>
            </a:pPr>
            <a:r>
              <a:rPr lang="en-US" sz="1300" dirty="0">
                <a:solidFill>
                  <a:srgbClr val="B8620A"/>
                </a:solidFill>
                <a:latin typeface="Courier New" pitchFamily="34" charset="0"/>
                <a:ea typeface="Courier New" pitchFamily="34" charset="-122"/>
                <a:cs typeface="Courier New" pitchFamily="34" charset="-120"/>
              </a:rPr>
              <a:t>[USER GROUP]  need a way to  [ACCOMPLISH GOAL]  because  [SPECIFIC INSIGHT]</a:t>
            </a:r>
            <a:endParaRPr lang="en-US" sz="1300" dirty="0"/>
          </a:p>
        </p:txBody>
      </p:sp>
      <p:sp>
        <p:nvSpPr>
          <p:cNvPr id="12" name="Shape 10"/>
          <p:cNvSpPr/>
          <p:nvPr/>
        </p:nvSpPr>
        <p:spPr>
          <a:xfrm>
            <a:off x="365760" y="1783080"/>
            <a:ext cx="5486400" cy="3977640"/>
          </a:xfrm>
          <a:prstGeom prst="roundRect">
            <a:avLst>
              <a:gd name="adj" fmla="val 2759"/>
            </a:avLst>
          </a:prstGeom>
          <a:solidFill>
            <a:srgbClr val="F9ECED"/>
          </a:solidFill>
          <a:ln w="19050">
            <a:solidFill>
              <a:srgbClr val="8C1F28"/>
            </a:solidFill>
            <a:prstDash val="solid"/>
          </a:ln>
          <a:effectLst>
            <a:outerShdw blurRad="76200" dist="25400" dir="2700000" algn="bl" rotWithShape="0">
              <a:srgbClr val="000000">
                <a:alpha val="10000"/>
              </a:srgbClr>
            </a:outerShdw>
          </a:effectLst>
        </p:spPr>
        <p:txBody>
          <a:bodyPr/>
          <a:lstStyle/>
          <a:p>
            <a:endParaRPr lang="en-AU"/>
          </a:p>
        </p:txBody>
      </p:sp>
      <p:sp>
        <p:nvSpPr>
          <p:cNvPr id="13" name="Shape 11"/>
          <p:cNvSpPr/>
          <p:nvPr/>
        </p:nvSpPr>
        <p:spPr>
          <a:xfrm>
            <a:off x="475488" y="1901952"/>
            <a:ext cx="5266944" cy="402336"/>
          </a:xfrm>
          <a:prstGeom prst="roundRect">
            <a:avLst>
              <a:gd name="adj" fmla="val 15909"/>
            </a:avLst>
          </a:prstGeom>
          <a:solidFill>
            <a:srgbClr val="8C1F28"/>
          </a:solidFill>
          <a:ln w="12700">
            <a:solidFill>
              <a:srgbClr val="8C1F28"/>
            </a:solidFill>
            <a:prstDash val="solid"/>
          </a:ln>
        </p:spPr>
        <p:txBody>
          <a:bodyPr/>
          <a:lstStyle/>
          <a:p>
            <a:endParaRPr lang="en-AU"/>
          </a:p>
        </p:txBody>
      </p:sp>
      <p:sp>
        <p:nvSpPr>
          <p:cNvPr id="14" name="Text 12"/>
          <p:cNvSpPr/>
          <p:nvPr/>
        </p:nvSpPr>
        <p:spPr>
          <a:xfrm>
            <a:off x="475488" y="1901952"/>
            <a:ext cx="5266944"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VAGUE D2.1 Draft</a:t>
            </a:r>
            <a:endParaRPr lang="en-US" sz="1100" dirty="0"/>
          </a:p>
        </p:txBody>
      </p:sp>
      <p:sp>
        <p:nvSpPr>
          <p:cNvPr id="15" name="Text 13"/>
          <p:cNvSpPr/>
          <p:nvPr/>
        </p:nvSpPr>
        <p:spPr>
          <a:xfrm>
            <a:off x="548640" y="2377440"/>
            <a:ext cx="5120640" cy="3291840"/>
          </a:xfrm>
          <a:prstGeom prst="rect">
            <a:avLst/>
          </a:prstGeom>
          <a:noFill/>
          <a:ln/>
        </p:spPr>
        <p:txBody>
          <a:bodyPr wrap="square" lIns="0" tIns="0" rIns="0" bIns="0" rtlCol="0" anchor="t"/>
          <a:lstStyle/>
          <a:p>
            <a:pPr marL="0" indent="0" algn="l">
              <a:buNone/>
            </a:pPr>
            <a:r>
              <a:rPr lang="en-US" sz="1250" dirty="0">
                <a:solidFill>
                  <a:srgbClr val="12100E"/>
                </a:solidFill>
                <a:latin typeface="Calibri" pitchFamily="34" charset="0"/>
                <a:ea typeface="Calibri" pitchFamily="34" charset="-122"/>
                <a:cs typeface="Calibri" pitchFamily="34" charset="-120"/>
              </a:rPr>
              <a:t>"Young people struggle with organisation."</a:t>
            </a:r>
            <a:endParaRPr lang="en-US" sz="1250" dirty="0"/>
          </a:p>
          <a:p>
            <a:pPr marL="0" indent="0" algn="l">
              <a:buNone/>
            </a:pP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Problems:  Who are 'young people'?</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What does 'struggle' mean here?</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No insight into WHY — no 'because' clause.</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Could apply to thousands of different solutions.</a:t>
            </a:r>
            <a:endParaRPr lang="en-US" sz="1250" dirty="0"/>
          </a:p>
        </p:txBody>
      </p:sp>
      <p:sp>
        <p:nvSpPr>
          <p:cNvPr id="16" name="Shape 14"/>
          <p:cNvSpPr/>
          <p:nvPr/>
        </p:nvSpPr>
        <p:spPr>
          <a:xfrm>
            <a:off x="6126480" y="1783080"/>
            <a:ext cx="5486400" cy="3977640"/>
          </a:xfrm>
          <a:prstGeom prst="roundRect">
            <a:avLst>
              <a:gd name="adj" fmla="val 2759"/>
            </a:avLst>
          </a:prstGeom>
          <a:solidFill>
            <a:srgbClr val="E8F2EE"/>
          </a:solidFill>
          <a:ln w="19050">
            <a:solidFill>
              <a:srgbClr val="1B5E47"/>
            </a:solidFill>
            <a:prstDash val="solid"/>
          </a:ln>
          <a:effectLst>
            <a:outerShdw blurRad="76200" dist="25400" dir="2700000" algn="bl" rotWithShape="0">
              <a:srgbClr val="000000">
                <a:alpha val="10000"/>
              </a:srgbClr>
            </a:outerShdw>
          </a:effectLst>
        </p:spPr>
        <p:txBody>
          <a:bodyPr/>
          <a:lstStyle/>
          <a:p>
            <a:endParaRPr lang="en-AU"/>
          </a:p>
        </p:txBody>
      </p:sp>
      <p:sp>
        <p:nvSpPr>
          <p:cNvPr id="17" name="Shape 15"/>
          <p:cNvSpPr/>
          <p:nvPr/>
        </p:nvSpPr>
        <p:spPr>
          <a:xfrm>
            <a:off x="6236208" y="1901952"/>
            <a:ext cx="5266944" cy="402336"/>
          </a:xfrm>
          <a:prstGeom prst="roundRect">
            <a:avLst>
              <a:gd name="adj" fmla="val 15909"/>
            </a:avLst>
          </a:prstGeom>
          <a:solidFill>
            <a:srgbClr val="1B5E47"/>
          </a:solidFill>
          <a:ln w="12700">
            <a:solidFill>
              <a:srgbClr val="1B5E47"/>
            </a:solidFill>
            <a:prstDash val="solid"/>
          </a:ln>
        </p:spPr>
        <p:txBody>
          <a:bodyPr/>
          <a:lstStyle/>
          <a:p>
            <a:endParaRPr lang="en-AU"/>
          </a:p>
        </p:txBody>
      </p:sp>
      <p:sp>
        <p:nvSpPr>
          <p:cNvPr id="18" name="Text 16"/>
          <p:cNvSpPr/>
          <p:nvPr/>
        </p:nvSpPr>
        <p:spPr>
          <a:xfrm>
            <a:off x="6236208" y="1901952"/>
            <a:ext cx="5266944"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Sharper Refined Statement</a:t>
            </a:r>
            <a:endParaRPr lang="en-US" sz="1100" dirty="0"/>
          </a:p>
        </p:txBody>
      </p:sp>
      <p:sp>
        <p:nvSpPr>
          <p:cNvPr id="19" name="Text 17"/>
          <p:cNvSpPr/>
          <p:nvPr/>
        </p:nvSpPr>
        <p:spPr>
          <a:xfrm>
            <a:off x="6309360" y="2377440"/>
            <a:ext cx="5120640" cy="3291840"/>
          </a:xfrm>
          <a:prstGeom prst="rect">
            <a:avLst/>
          </a:prstGeom>
          <a:noFill/>
          <a:ln/>
        </p:spPr>
        <p:txBody>
          <a:bodyPr wrap="square" lIns="0" tIns="0" rIns="0" bIns="0" rtlCol="0" anchor="t"/>
          <a:lstStyle/>
          <a:p>
            <a:pPr marL="0" indent="0" algn="l">
              <a:buNone/>
            </a:pPr>
            <a:r>
              <a:rPr lang="en-US" sz="1300" dirty="0">
                <a:solidFill>
                  <a:srgbClr val="12100E"/>
                </a:solidFill>
                <a:latin typeface="Bookman Old Style" pitchFamily="34" charset="0"/>
                <a:ea typeface="Bookman Old Style" pitchFamily="34" charset="-122"/>
                <a:cs typeface="Bookman Old Style" pitchFamily="34" charset="-120"/>
              </a:rPr>
              <a:t>"Year 11 students who hold part-time jobs need a</a:t>
            </a:r>
            <a:endParaRPr lang="en-US" sz="1300" dirty="0"/>
          </a:p>
          <a:p>
            <a:pPr marL="0" indent="0" algn="l">
              <a:buNone/>
            </a:pPr>
            <a:r>
              <a:rPr lang="en-US" sz="1300" dirty="0">
                <a:solidFill>
                  <a:srgbClr val="12100E"/>
                </a:solidFill>
                <a:latin typeface="Bookman Old Style" pitchFamily="34" charset="0"/>
                <a:ea typeface="Bookman Old Style" pitchFamily="34" charset="-122"/>
                <a:cs typeface="Bookman Old Style" pitchFamily="34" charset="-120"/>
              </a:rPr>
              <a:t>way to plan study blocks around variable work</a:t>
            </a:r>
            <a:endParaRPr lang="en-US" sz="1300" dirty="0"/>
          </a:p>
          <a:p>
            <a:pPr marL="0" indent="0" algn="l">
              <a:buNone/>
            </a:pPr>
            <a:r>
              <a:rPr lang="en-US" sz="1300" dirty="0">
                <a:solidFill>
                  <a:srgbClr val="12100E"/>
                </a:solidFill>
                <a:latin typeface="Bookman Old Style" pitchFamily="34" charset="0"/>
                <a:ea typeface="Bookman Old Style" pitchFamily="34" charset="-122"/>
                <a:cs typeface="Bookman Old Style" pitchFamily="34" charset="-120"/>
              </a:rPr>
              <a:t>rosters because they can't predict their schedule</a:t>
            </a:r>
            <a:endParaRPr lang="en-US" sz="1300" dirty="0"/>
          </a:p>
          <a:p>
            <a:pPr marL="0" indent="0" algn="l">
              <a:buNone/>
            </a:pPr>
            <a:r>
              <a:rPr lang="en-US" sz="1300" dirty="0">
                <a:solidFill>
                  <a:srgbClr val="12100E"/>
                </a:solidFill>
                <a:latin typeface="Bookman Old Style" pitchFamily="34" charset="0"/>
                <a:ea typeface="Bookman Old Style" pitchFamily="34" charset="-122"/>
                <a:cs typeface="Bookman Old Style" pitchFamily="34" charset="-120"/>
              </a:rPr>
              <a:t>more than 3 days ahead."</a:t>
            </a:r>
            <a:endParaRPr lang="en-US" sz="1300" dirty="0"/>
          </a:p>
          <a:p>
            <a:pPr marL="0" indent="0" algn="l">
              <a:buNone/>
            </a:pPr>
            <a:endParaRPr lang="en-US" sz="1300" dirty="0"/>
          </a:p>
          <a:p>
            <a:pPr marL="0" indent="0" algn="l">
              <a:buNone/>
            </a:pPr>
            <a:r>
              <a:rPr lang="en-US" sz="1300" dirty="0">
                <a:solidFill>
                  <a:srgbClr val="12100E"/>
                </a:solidFill>
                <a:latin typeface="Bookman Old Style" pitchFamily="34" charset="0"/>
                <a:ea typeface="Bookman Old Style" pitchFamily="34" charset="-122"/>
                <a:cs typeface="Bookman Old Style" pitchFamily="34" charset="-120"/>
              </a:rPr>
              <a:t>Specific user · Concrete goal · Real causal insight.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Shape 2"/>
          <p:cNvSpPr/>
          <p:nvPr/>
        </p:nvSpPr>
        <p:spPr>
          <a:xfrm>
            <a:off x="9966960" y="164592"/>
            <a:ext cx="1920240" cy="347472"/>
          </a:xfrm>
          <a:prstGeom prst="rect">
            <a:avLst/>
          </a:prstGeom>
          <a:solidFill>
            <a:srgbClr val="2C2A28"/>
          </a:solidFill>
          <a:ln w="12700">
            <a:solidFill>
              <a:srgbClr val="2C2A28"/>
            </a:solidFill>
            <a:prstDash val="solid"/>
          </a:ln>
        </p:spPr>
        <p:txBody>
          <a:bodyPr/>
          <a:lstStyle/>
          <a:p>
            <a:endParaRPr lang="en-AU"/>
          </a:p>
        </p:txBody>
      </p:sp>
      <p:sp>
        <p:nvSpPr>
          <p:cNvPr id="5" name="Text 3"/>
          <p:cNvSpPr/>
          <p:nvPr/>
        </p:nvSpPr>
        <p:spPr>
          <a:xfrm>
            <a:off x="9966960" y="164592"/>
            <a:ext cx="192024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EXPLICIT</a:t>
            </a:r>
            <a:endParaRPr lang="en-US" sz="850" dirty="0"/>
          </a:p>
        </p:txBody>
      </p:sp>
      <p:sp>
        <p:nvSpPr>
          <p:cNvPr id="6" name="Text 4"/>
          <p:cNvSpPr/>
          <p:nvPr/>
        </p:nvSpPr>
        <p:spPr>
          <a:xfrm>
            <a:off x="749808" y="201168"/>
            <a:ext cx="5486400" cy="256032"/>
          </a:xfrm>
          <a:prstGeom prst="rect">
            <a:avLst/>
          </a:prstGeom>
          <a:noFill/>
          <a:ln/>
        </p:spPr>
        <p:txBody>
          <a:bodyPr wrap="square" lIns="0" tIns="0" rIns="0" bIns="0" rtlCol="0" anchor="ctr"/>
          <a:lstStyle/>
          <a:p>
            <a:pPr marL="0" indent="0">
              <a:buNone/>
            </a:pPr>
            <a:r>
              <a:rPr lang="en-US" sz="800" dirty="0">
                <a:solidFill>
                  <a:srgbClr val="6B6762"/>
                </a:solidFill>
                <a:latin typeface="Courier New" pitchFamily="34" charset="0"/>
                <a:ea typeface="Courier New" pitchFamily="34" charset="-122"/>
                <a:cs typeface="Courier New" pitchFamily="34" charset="-120"/>
              </a:rPr>
              <a:t>D2.2 · PROBLEM SCOPING</a:t>
            </a:r>
            <a:endParaRPr lang="en-US" sz="800" dirty="0"/>
          </a:p>
        </p:txBody>
      </p:sp>
      <p:sp>
        <p:nvSpPr>
          <p:cNvPr id="7" name="Text 5"/>
          <p:cNvSpPr/>
          <p:nvPr/>
        </p:nvSpPr>
        <p:spPr>
          <a:xfrm>
            <a:off x="365760" y="475488"/>
            <a:ext cx="9144000" cy="457200"/>
          </a:xfrm>
          <a:prstGeom prst="rect">
            <a:avLst/>
          </a:prstGeom>
          <a:noFill/>
          <a:ln/>
        </p:spPr>
        <p:txBody>
          <a:bodyPr wrap="square" lIns="0" tIns="0" rIns="0" bIns="0" rtlCol="0" anchor="ctr"/>
          <a:lstStyle/>
          <a:p>
            <a:pPr marL="0" indent="0" algn="l">
              <a:buNone/>
            </a:pPr>
            <a:r>
              <a:rPr lang="en-US" sz="2200" dirty="0">
                <a:solidFill>
                  <a:srgbClr val="12100E"/>
                </a:solidFill>
                <a:latin typeface="Bookman Old Style" pitchFamily="34" charset="0"/>
                <a:ea typeface="Bookman Old Style" pitchFamily="34" charset="-122"/>
                <a:cs typeface="Bookman Old Style" pitchFamily="34" charset="-120"/>
              </a:rPr>
              <a:t>Defining Your User — Who's IN and Who's OUT</a:t>
            </a:r>
            <a:endParaRPr lang="en-US" sz="2200" dirty="0"/>
          </a:p>
        </p:txBody>
      </p:sp>
      <p:sp>
        <p:nvSpPr>
          <p:cNvPr id="8" name="Shape 6"/>
          <p:cNvSpPr/>
          <p:nvPr/>
        </p:nvSpPr>
        <p:spPr>
          <a:xfrm>
            <a:off x="365760" y="1024128"/>
            <a:ext cx="11430000" cy="475488"/>
          </a:xfrm>
          <a:prstGeom prst="roundRect">
            <a:avLst>
              <a:gd name="adj" fmla="val 15385"/>
            </a:avLst>
          </a:prstGeom>
          <a:solidFill>
            <a:srgbClr val="2C2A28"/>
          </a:solidFill>
          <a:ln w="12700">
            <a:solidFill>
              <a:srgbClr val="2C2A28"/>
            </a:solidFill>
            <a:prstDash val="solid"/>
          </a:ln>
        </p:spPr>
        <p:txBody>
          <a:bodyPr/>
          <a:lstStyle/>
          <a:p>
            <a:endParaRPr lang="en-AU"/>
          </a:p>
        </p:txBody>
      </p:sp>
      <p:sp>
        <p:nvSpPr>
          <p:cNvPr id="9" name="Text 7"/>
          <p:cNvSpPr/>
          <p:nvPr/>
        </p:nvSpPr>
        <p:spPr>
          <a:xfrm>
            <a:off x="502920" y="1024128"/>
            <a:ext cx="11155680" cy="475488"/>
          </a:xfrm>
          <a:prstGeom prst="rect">
            <a:avLst/>
          </a:prstGeom>
          <a:noFill/>
          <a:ln/>
        </p:spPr>
        <p:txBody>
          <a:bodyPr wrap="square" lIns="0" tIns="0" rIns="0" bIns="0" rtlCol="0" anchor="ctr"/>
          <a:lstStyle/>
          <a:p>
            <a:pPr marL="0" indent="0" algn="ctr">
              <a:buNone/>
            </a:pPr>
            <a:r>
              <a:rPr lang="en-US" sz="1350" i="1" dirty="0">
                <a:solidFill>
                  <a:srgbClr val="FFFFFF"/>
                </a:solidFill>
                <a:latin typeface="Calibri" pitchFamily="34" charset="0"/>
                <a:ea typeface="Calibri" pitchFamily="34" charset="-122"/>
                <a:cs typeface="Calibri" pitchFamily="34" charset="-120"/>
              </a:rPr>
              <a:t>Designing for everyone = designing for no one.  Inclusion and exclusion are deliberate choices, not accidents.</a:t>
            </a:r>
            <a:endParaRPr lang="en-US" sz="1350" dirty="0"/>
          </a:p>
        </p:txBody>
      </p:sp>
      <p:sp>
        <p:nvSpPr>
          <p:cNvPr id="10" name="Shape 8"/>
          <p:cNvSpPr/>
          <p:nvPr/>
        </p:nvSpPr>
        <p:spPr>
          <a:xfrm>
            <a:off x="365760" y="1645920"/>
            <a:ext cx="5486400" cy="4206240"/>
          </a:xfrm>
          <a:prstGeom prst="roundRect">
            <a:avLst>
              <a:gd name="adj" fmla="val 2609"/>
            </a:avLst>
          </a:prstGeom>
          <a:solidFill>
            <a:srgbClr val="E8F2EE"/>
          </a:solidFill>
          <a:ln w="19050">
            <a:solidFill>
              <a:srgbClr val="1B5E47"/>
            </a:solidFill>
            <a:prstDash val="solid"/>
          </a:ln>
          <a:effectLst>
            <a:outerShdw blurRad="76200" dist="25400" dir="2700000" algn="bl" rotWithShape="0">
              <a:srgbClr val="000000">
                <a:alpha val="10000"/>
              </a:srgbClr>
            </a:outerShdw>
          </a:effectLst>
        </p:spPr>
        <p:txBody>
          <a:bodyPr/>
          <a:lstStyle/>
          <a:p>
            <a:endParaRPr lang="en-AU"/>
          </a:p>
        </p:txBody>
      </p:sp>
      <p:sp>
        <p:nvSpPr>
          <p:cNvPr id="11" name="Text 9"/>
          <p:cNvSpPr/>
          <p:nvPr/>
        </p:nvSpPr>
        <p:spPr>
          <a:xfrm>
            <a:off x="502920" y="1737360"/>
            <a:ext cx="5212080" cy="457200"/>
          </a:xfrm>
          <a:prstGeom prst="rect">
            <a:avLst/>
          </a:prstGeom>
          <a:noFill/>
          <a:ln/>
        </p:spPr>
        <p:txBody>
          <a:bodyPr wrap="square" lIns="0" tIns="0" rIns="0" bIns="0" rtlCol="0" anchor="ctr"/>
          <a:lstStyle/>
          <a:p>
            <a:pPr marL="0" indent="0">
              <a:buNone/>
            </a:pPr>
            <a:r>
              <a:rPr lang="en-US" sz="1300" b="1" dirty="0">
                <a:solidFill>
                  <a:srgbClr val="1B5E47"/>
                </a:solidFill>
                <a:latin typeface="Calibri" pitchFamily="34" charset="0"/>
                <a:ea typeface="Calibri" pitchFamily="34" charset="-122"/>
                <a:cs typeface="Calibri" pitchFamily="34" charset="-120"/>
              </a:rPr>
              <a:t>✅  Who IS your target user?</a:t>
            </a:r>
            <a:endParaRPr lang="en-US" sz="1300" dirty="0"/>
          </a:p>
        </p:txBody>
      </p:sp>
      <p:sp>
        <p:nvSpPr>
          <p:cNvPr id="12" name="Text 10"/>
          <p:cNvSpPr/>
          <p:nvPr/>
        </p:nvSpPr>
        <p:spPr>
          <a:xfrm>
            <a:off x="502920" y="2286000"/>
            <a:ext cx="5212080" cy="3474720"/>
          </a:xfrm>
          <a:prstGeom prst="rect">
            <a:avLst/>
          </a:prstGeom>
          <a:noFill/>
          <a:ln/>
        </p:spPr>
        <p:txBody>
          <a:bodyPr wrap="square" lIns="0" tIns="0" rIns="0" bIns="0" rtlCol="0" anchor="t"/>
          <a:lstStyle/>
          <a:p>
            <a:pPr marL="0" indent="0" algn="l">
              <a:buNone/>
            </a:pPr>
            <a:r>
              <a:rPr lang="en-US" sz="1250" dirty="0">
                <a:solidFill>
                  <a:srgbClr val="12100E"/>
                </a:solidFill>
                <a:latin typeface="Calibri" pitchFamily="34" charset="0"/>
                <a:ea typeface="Calibri" pitchFamily="34" charset="-122"/>
                <a:cs typeface="Calibri" pitchFamily="34" charset="-120"/>
              </a:rPr>
              <a:t>Age range and year level</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Specific context — where/when they use it</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Relevant circumstance (part-time job, commuter, carer)</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Digital literacy / access level if relevant</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The more specific, the more useful your data.</a:t>
            </a:r>
            <a:endParaRPr lang="en-US" sz="1250" dirty="0"/>
          </a:p>
        </p:txBody>
      </p:sp>
      <p:sp>
        <p:nvSpPr>
          <p:cNvPr id="13" name="Shape 11"/>
          <p:cNvSpPr/>
          <p:nvPr/>
        </p:nvSpPr>
        <p:spPr>
          <a:xfrm>
            <a:off x="530352" y="2368296"/>
            <a:ext cx="82296" cy="82296"/>
          </a:xfrm>
          <a:prstGeom prst="ellipse">
            <a:avLst/>
          </a:prstGeom>
          <a:solidFill>
            <a:srgbClr val="1B5E47"/>
          </a:solidFill>
          <a:ln w="12700">
            <a:solidFill>
              <a:srgbClr val="1B5E47"/>
            </a:solidFill>
            <a:prstDash val="solid"/>
          </a:ln>
        </p:spPr>
        <p:txBody>
          <a:bodyPr/>
          <a:lstStyle/>
          <a:p>
            <a:endParaRPr lang="en-AU"/>
          </a:p>
        </p:txBody>
      </p:sp>
      <p:sp>
        <p:nvSpPr>
          <p:cNvPr id="15" name="Shape 13"/>
          <p:cNvSpPr/>
          <p:nvPr/>
        </p:nvSpPr>
        <p:spPr>
          <a:xfrm>
            <a:off x="530352" y="2935224"/>
            <a:ext cx="82296" cy="82296"/>
          </a:xfrm>
          <a:prstGeom prst="ellipse">
            <a:avLst/>
          </a:prstGeom>
          <a:solidFill>
            <a:srgbClr val="1B5E47"/>
          </a:solidFill>
          <a:ln w="12700">
            <a:solidFill>
              <a:srgbClr val="1B5E47"/>
            </a:solidFill>
            <a:prstDash val="solid"/>
          </a:ln>
        </p:spPr>
        <p:txBody>
          <a:bodyPr/>
          <a:lstStyle/>
          <a:p>
            <a:endParaRPr lang="en-AU"/>
          </a:p>
        </p:txBody>
      </p:sp>
      <p:sp>
        <p:nvSpPr>
          <p:cNvPr id="17" name="Shape 15"/>
          <p:cNvSpPr/>
          <p:nvPr/>
        </p:nvSpPr>
        <p:spPr>
          <a:xfrm>
            <a:off x="530352" y="3502152"/>
            <a:ext cx="82296" cy="82296"/>
          </a:xfrm>
          <a:prstGeom prst="ellipse">
            <a:avLst/>
          </a:prstGeom>
          <a:solidFill>
            <a:srgbClr val="1B5E47"/>
          </a:solidFill>
          <a:ln w="12700">
            <a:solidFill>
              <a:srgbClr val="1B5E47"/>
            </a:solidFill>
            <a:prstDash val="solid"/>
          </a:ln>
        </p:spPr>
        <p:txBody>
          <a:bodyPr/>
          <a:lstStyle/>
          <a:p>
            <a:endParaRPr lang="en-AU"/>
          </a:p>
        </p:txBody>
      </p:sp>
      <p:sp>
        <p:nvSpPr>
          <p:cNvPr id="18" name="Text 16"/>
          <p:cNvSpPr/>
          <p:nvPr/>
        </p:nvSpPr>
        <p:spPr>
          <a:xfrm>
            <a:off x="658368" y="3438144"/>
            <a:ext cx="4937760" cy="530352"/>
          </a:xfrm>
          <a:prstGeom prst="rect">
            <a:avLst/>
          </a:prstGeom>
          <a:noFill/>
          <a:ln/>
        </p:spPr>
        <p:txBody>
          <a:bodyPr wrap="square" lIns="0" tIns="0" rIns="0" bIns="0" rtlCol="0" anchor="ctr"/>
          <a:lstStyle/>
          <a:p>
            <a:pPr marL="0" indent="0">
              <a:buNone/>
            </a:pPr>
            <a:r>
              <a:rPr lang="en-US" sz="1250" dirty="0">
                <a:solidFill>
                  <a:srgbClr val="12100E"/>
                </a:solidFill>
                <a:latin typeface="Calibri" pitchFamily="34" charset="0"/>
                <a:ea typeface="Calibri" pitchFamily="34" charset="-122"/>
                <a:cs typeface="Calibri" pitchFamily="34" charset="-120"/>
              </a:rPr>
              <a:t>Relevant circumstance (part-time job, commuter, carer)</a:t>
            </a:r>
            <a:endParaRPr lang="en-US" sz="1250" dirty="0"/>
          </a:p>
        </p:txBody>
      </p:sp>
      <p:sp>
        <p:nvSpPr>
          <p:cNvPr id="19" name="Shape 17"/>
          <p:cNvSpPr/>
          <p:nvPr/>
        </p:nvSpPr>
        <p:spPr>
          <a:xfrm>
            <a:off x="530352" y="4069080"/>
            <a:ext cx="82296" cy="82296"/>
          </a:xfrm>
          <a:prstGeom prst="ellipse">
            <a:avLst/>
          </a:prstGeom>
          <a:solidFill>
            <a:srgbClr val="1B5E47"/>
          </a:solidFill>
          <a:ln w="12700">
            <a:solidFill>
              <a:srgbClr val="1B5E47"/>
            </a:solidFill>
            <a:prstDash val="solid"/>
          </a:ln>
        </p:spPr>
        <p:txBody>
          <a:bodyPr/>
          <a:lstStyle/>
          <a:p>
            <a:endParaRPr lang="en-AU"/>
          </a:p>
        </p:txBody>
      </p:sp>
      <p:sp>
        <p:nvSpPr>
          <p:cNvPr id="20" name="Text 18"/>
          <p:cNvSpPr/>
          <p:nvPr/>
        </p:nvSpPr>
        <p:spPr>
          <a:xfrm>
            <a:off x="658368" y="4005072"/>
            <a:ext cx="4937760" cy="530352"/>
          </a:xfrm>
          <a:prstGeom prst="rect">
            <a:avLst/>
          </a:prstGeom>
          <a:noFill/>
          <a:ln/>
        </p:spPr>
        <p:txBody>
          <a:bodyPr wrap="square" lIns="0" tIns="0" rIns="0" bIns="0" rtlCol="0" anchor="ctr"/>
          <a:lstStyle/>
          <a:p>
            <a:pPr marL="0" indent="0">
              <a:buNone/>
            </a:pPr>
            <a:r>
              <a:rPr lang="en-US" sz="1250" dirty="0">
                <a:solidFill>
                  <a:srgbClr val="12100E"/>
                </a:solidFill>
                <a:latin typeface="Calibri" pitchFamily="34" charset="0"/>
                <a:ea typeface="Calibri" pitchFamily="34" charset="-122"/>
                <a:cs typeface="Calibri" pitchFamily="34" charset="-120"/>
              </a:rPr>
              <a:t>Digital literacy / access level if relevant</a:t>
            </a:r>
            <a:endParaRPr lang="en-US" sz="1250" dirty="0"/>
          </a:p>
        </p:txBody>
      </p:sp>
      <p:sp>
        <p:nvSpPr>
          <p:cNvPr id="21" name="Shape 19"/>
          <p:cNvSpPr/>
          <p:nvPr/>
        </p:nvSpPr>
        <p:spPr>
          <a:xfrm>
            <a:off x="530352" y="4636008"/>
            <a:ext cx="82296" cy="82296"/>
          </a:xfrm>
          <a:prstGeom prst="ellipse">
            <a:avLst/>
          </a:prstGeom>
          <a:solidFill>
            <a:srgbClr val="1B5E47"/>
          </a:solidFill>
          <a:ln w="12700">
            <a:solidFill>
              <a:srgbClr val="1B5E47"/>
            </a:solidFill>
            <a:prstDash val="solid"/>
          </a:ln>
        </p:spPr>
        <p:txBody>
          <a:bodyPr/>
          <a:lstStyle/>
          <a:p>
            <a:endParaRPr lang="en-AU"/>
          </a:p>
        </p:txBody>
      </p:sp>
      <p:sp>
        <p:nvSpPr>
          <p:cNvPr id="22" name="Text 20"/>
          <p:cNvSpPr/>
          <p:nvPr/>
        </p:nvSpPr>
        <p:spPr>
          <a:xfrm>
            <a:off x="658368" y="4572000"/>
            <a:ext cx="4937760" cy="530352"/>
          </a:xfrm>
          <a:prstGeom prst="rect">
            <a:avLst/>
          </a:prstGeom>
          <a:noFill/>
          <a:ln/>
        </p:spPr>
        <p:txBody>
          <a:bodyPr wrap="square" lIns="0" tIns="0" rIns="0" bIns="0" rtlCol="0" anchor="ctr"/>
          <a:lstStyle/>
          <a:p>
            <a:pPr marL="0" indent="0">
              <a:buNone/>
            </a:pPr>
            <a:r>
              <a:rPr lang="en-US" sz="1250" dirty="0">
                <a:solidFill>
                  <a:srgbClr val="12100E"/>
                </a:solidFill>
                <a:latin typeface="Calibri" pitchFamily="34" charset="0"/>
                <a:ea typeface="Calibri" pitchFamily="34" charset="-122"/>
                <a:cs typeface="Calibri" pitchFamily="34" charset="-120"/>
              </a:rPr>
              <a:t>The more specific, the more useful your data.</a:t>
            </a:r>
            <a:endParaRPr lang="en-US" sz="1250" dirty="0"/>
          </a:p>
        </p:txBody>
      </p:sp>
      <p:sp>
        <p:nvSpPr>
          <p:cNvPr id="23" name="Shape 21"/>
          <p:cNvSpPr/>
          <p:nvPr/>
        </p:nvSpPr>
        <p:spPr>
          <a:xfrm>
            <a:off x="6126480" y="1645920"/>
            <a:ext cx="5486400" cy="4206240"/>
          </a:xfrm>
          <a:prstGeom prst="roundRect">
            <a:avLst>
              <a:gd name="adj" fmla="val 2609"/>
            </a:avLst>
          </a:prstGeom>
          <a:solidFill>
            <a:srgbClr val="FDF3E7"/>
          </a:solidFill>
          <a:ln w="19050">
            <a:solidFill>
              <a:srgbClr val="B8620A"/>
            </a:solidFill>
            <a:prstDash val="solid"/>
          </a:ln>
          <a:effectLst>
            <a:outerShdw blurRad="76200" dist="25400" dir="2700000" algn="bl" rotWithShape="0">
              <a:srgbClr val="000000">
                <a:alpha val="10000"/>
              </a:srgbClr>
            </a:outerShdw>
          </a:effectLst>
        </p:spPr>
        <p:txBody>
          <a:bodyPr/>
          <a:lstStyle/>
          <a:p>
            <a:endParaRPr lang="en-AU"/>
          </a:p>
        </p:txBody>
      </p:sp>
      <p:sp>
        <p:nvSpPr>
          <p:cNvPr id="24" name="Text 22"/>
          <p:cNvSpPr/>
          <p:nvPr/>
        </p:nvSpPr>
        <p:spPr>
          <a:xfrm>
            <a:off x="6263640" y="1737360"/>
            <a:ext cx="5212080" cy="457200"/>
          </a:xfrm>
          <a:prstGeom prst="rect">
            <a:avLst/>
          </a:prstGeom>
          <a:noFill/>
          <a:ln/>
        </p:spPr>
        <p:txBody>
          <a:bodyPr wrap="square" lIns="0" tIns="0" rIns="0" bIns="0" rtlCol="0" anchor="ctr"/>
          <a:lstStyle/>
          <a:p>
            <a:pPr marL="0" indent="0">
              <a:buNone/>
            </a:pPr>
            <a:r>
              <a:rPr lang="en-US" sz="1300" b="1" dirty="0">
                <a:solidFill>
                  <a:srgbClr val="B8620A"/>
                </a:solidFill>
                <a:latin typeface="Calibri" pitchFamily="34" charset="0"/>
                <a:ea typeface="Calibri" pitchFamily="34" charset="-122"/>
                <a:cs typeface="Calibri" pitchFamily="34" charset="-120"/>
              </a:rPr>
              <a:t>⛔  Who is NOT your target user?</a:t>
            </a:r>
            <a:endParaRPr lang="en-US" sz="1300" dirty="0"/>
          </a:p>
        </p:txBody>
      </p:sp>
      <p:sp>
        <p:nvSpPr>
          <p:cNvPr id="25" name="Text 23"/>
          <p:cNvSpPr/>
          <p:nvPr/>
        </p:nvSpPr>
        <p:spPr>
          <a:xfrm>
            <a:off x="6263640" y="2286000"/>
            <a:ext cx="5212080" cy="3474720"/>
          </a:xfrm>
          <a:prstGeom prst="rect">
            <a:avLst/>
          </a:prstGeom>
          <a:noFill/>
          <a:ln/>
        </p:spPr>
        <p:txBody>
          <a:bodyPr wrap="square" lIns="0" tIns="0" rIns="0" bIns="0" rtlCol="0" anchor="t"/>
          <a:lstStyle/>
          <a:p>
            <a:pPr marL="0" indent="0" algn="l">
              <a:buNone/>
            </a:pPr>
            <a:r>
              <a:rPr lang="en-US" sz="1250" dirty="0">
                <a:solidFill>
                  <a:srgbClr val="12100E"/>
                </a:solidFill>
                <a:latin typeface="Calibri" pitchFamily="34" charset="0"/>
                <a:ea typeface="Calibri" pitchFamily="34" charset="-122"/>
                <a:cs typeface="Calibri" pitchFamily="34" charset="-120"/>
              </a:rPr>
              <a:t>Groups your solution isn't designed for</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Why drawing this line is intentional</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Example: 'Not primary school students — complexity assumes Year 10+ literacy'</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Example: 'Not teachers — solution is student-facing only'</a:t>
            </a:r>
            <a:endParaRPr lang="en-US" sz="1250" dirty="0"/>
          </a:p>
          <a:p>
            <a:pPr marL="0" indent="0" algn="l">
              <a:buNone/>
            </a:pPr>
            <a:r>
              <a:rPr lang="en-US" sz="1250" dirty="0">
                <a:solidFill>
                  <a:srgbClr val="12100E"/>
                </a:solidFill>
                <a:latin typeface="Calibri" pitchFamily="34" charset="0"/>
                <a:ea typeface="Calibri" pitchFamily="34" charset="-122"/>
                <a:cs typeface="Calibri" pitchFamily="34" charset="-120"/>
              </a:rPr>
              <a:t>Scope decisions affect every design choice ahead.</a:t>
            </a:r>
            <a:endParaRPr lang="en-US" sz="1250" dirty="0"/>
          </a:p>
        </p:txBody>
      </p:sp>
      <p:sp>
        <p:nvSpPr>
          <p:cNvPr id="26" name="Shape 24"/>
          <p:cNvSpPr/>
          <p:nvPr/>
        </p:nvSpPr>
        <p:spPr>
          <a:xfrm>
            <a:off x="6291072" y="2368296"/>
            <a:ext cx="82296" cy="82296"/>
          </a:xfrm>
          <a:prstGeom prst="ellipse">
            <a:avLst/>
          </a:prstGeom>
          <a:solidFill>
            <a:srgbClr val="B8620A"/>
          </a:solidFill>
          <a:ln w="12700">
            <a:solidFill>
              <a:srgbClr val="B8620A"/>
            </a:solidFill>
            <a:prstDash val="solid"/>
          </a:ln>
        </p:spPr>
        <p:txBody>
          <a:bodyPr/>
          <a:lstStyle/>
          <a:p>
            <a:endParaRPr lang="en-AU"/>
          </a:p>
        </p:txBody>
      </p:sp>
      <p:sp>
        <p:nvSpPr>
          <p:cNvPr id="27" name="Text 25"/>
          <p:cNvSpPr/>
          <p:nvPr/>
        </p:nvSpPr>
        <p:spPr>
          <a:xfrm>
            <a:off x="6419088" y="2304288"/>
            <a:ext cx="4937760" cy="530352"/>
          </a:xfrm>
          <a:prstGeom prst="rect">
            <a:avLst/>
          </a:prstGeom>
          <a:noFill/>
          <a:ln/>
        </p:spPr>
        <p:txBody>
          <a:bodyPr wrap="square" lIns="0" tIns="0" rIns="0" bIns="0" rtlCol="0" anchor="ctr"/>
          <a:lstStyle/>
          <a:p>
            <a:pPr marL="0" indent="0">
              <a:buNone/>
            </a:pPr>
            <a:r>
              <a:rPr lang="en-US" sz="1250" dirty="0">
                <a:solidFill>
                  <a:srgbClr val="12100E"/>
                </a:solidFill>
                <a:latin typeface="Calibri" pitchFamily="34" charset="0"/>
                <a:ea typeface="Calibri" pitchFamily="34" charset="-122"/>
                <a:cs typeface="Calibri" pitchFamily="34" charset="-120"/>
              </a:rPr>
              <a:t>Groups your solution isn't designed for</a:t>
            </a:r>
            <a:endParaRPr lang="en-US" sz="1250" dirty="0"/>
          </a:p>
        </p:txBody>
      </p:sp>
      <p:sp>
        <p:nvSpPr>
          <p:cNvPr id="28" name="Shape 26"/>
          <p:cNvSpPr/>
          <p:nvPr/>
        </p:nvSpPr>
        <p:spPr>
          <a:xfrm>
            <a:off x="6291072" y="2935224"/>
            <a:ext cx="82296" cy="82296"/>
          </a:xfrm>
          <a:prstGeom prst="ellipse">
            <a:avLst/>
          </a:prstGeom>
          <a:solidFill>
            <a:srgbClr val="B8620A"/>
          </a:solidFill>
          <a:ln w="12700">
            <a:solidFill>
              <a:srgbClr val="B8620A"/>
            </a:solidFill>
            <a:prstDash val="solid"/>
          </a:ln>
        </p:spPr>
        <p:txBody>
          <a:bodyPr/>
          <a:lstStyle/>
          <a:p>
            <a:endParaRPr lang="en-AU"/>
          </a:p>
        </p:txBody>
      </p:sp>
      <p:sp>
        <p:nvSpPr>
          <p:cNvPr id="29" name="Text 27"/>
          <p:cNvSpPr/>
          <p:nvPr/>
        </p:nvSpPr>
        <p:spPr>
          <a:xfrm>
            <a:off x="6419088" y="2871216"/>
            <a:ext cx="4937760" cy="530352"/>
          </a:xfrm>
          <a:prstGeom prst="rect">
            <a:avLst/>
          </a:prstGeom>
          <a:noFill/>
          <a:ln/>
        </p:spPr>
        <p:txBody>
          <a:bodyPr wrap="square" lIns="0" tIns="0" rIns="0" bIns="0" rtlCol="0" anchor="ctr"/>
          <a:lstStyle/>
          <a:p>
            <a:pPr marL="0" indent="0">
              <a:buNone/>
            </a:pPr>
            <a:r>
              <a:rPr lang="en-US" sz="1250" dirty="0">
                <a:solidFill>
                  <a:srgbClr val="12100E"/>
                </a:solidFill>
                <a:latin typeface="Calibri" pitchFamily="34" charset="0"/>
                <a:ea typeface="Calibri" pitchFamily="34" charset="-122"/>
                <a:cs typeface="Calibri" pitchFamily="34" charset="-120"/>
              </a:rPr>
              <a:t>Why drawing this line is intentional</a:t>
            </a:r>
            <a:endParaRPr lang="en-US" sz="1250" dirty="0"/>
          </a:p>
        </p:txBody>
      </p:sp>
      <p:sp>
        <p:nvSpPr>
          <p:cNvPr id="30" name="Shape 28"/>
          <p:cNvSpPr/>
          <p:nvPr/>
        </p:nvSpPr>
        <p:spPr>
          <a:xfrm>
            <a:off x="6291072" y="3502152"/>
            <a:ext cx="82296" cy="82296"/>
          </a:xfrm>
          <a:prstGeom prst="ellipse">
            <a:avLst/>
          </a:prstGeom>
          <a:solidFill>
            <a:srgbClr val="B8620A"/>
          </a:solidFill>
          <a:ln w="12700">
            <a:solidFill>
              <a:srgbClr val="B8620A"/>
            </a:solidFill>
            <a:prstDash val="solid"/>
          </a:ln>
        </p:spPr>
        <p:txBody>
          <a:bodyPr/>
          <a:lstStyle/>
          <a:p>
            <a:endParaRPr lang="en-AU"/>
          </a:p>
        </p:txBody>
      </p:sp>
      <p:sp>
        <p:nvSpPr>
          <p:cNvPr id="31" name="Text 29"/>
          <p:cNvSpPr/>
          <p:nvPr/>
        </p:nvSpPr>
        <p:spPr>
          <a:xfrm>
            <a:off x="6419088" y="3438144"/>
            <a:ext cx="4937760" cy="530352"/>
          </a:xfrm>
          <a:prstGeom prst="rect">
            <a:avLst/>
          </a:prstGeom>
          <a:noFill/>
          <a:ln/>
        </p:spPr>
        <p:txBody>
          <a:bodyPr wrap="square" lIns="0" tIns="0" rIns="0" bIns="0" rtlCol="0" anchor="ctr"/>
          <a:lstStyle/>
          <a:p>
            <a:pPr marL="0" indent="0">
              <a:buNone/>
            </a:pPr>
            <a:r>
              <a:rPr lang="en-US" sz="1250" dirty="0">
                <a:solidFill>
                  <a:srgbClr val="12100E"/>
                </a:solidFill>
                <a:latin typeface="Calibri" pitchFamily="34" charset="0"/>
                <a:ea typeface="Calibri" pitchFamily="34" charset="-122"/>
                <a:cs typeface="Calibri" pitchFamily="34" charset="-120"/>
              </a:rPr>
              <a:t>Example: 'Not primary school students — complexity assumes Year 10+ literacy'</a:t>
            </a:r>
            <a:endParaRPr lang="en-US" sz="1250" dirty="0"/>
          </a:p>
        </p:txBody>
      </p:sp>
      <p:sp>
        <p:nvSpPr>
          <p:cNvPr id="32" name="Shape 30"/>
          <p:cNvSpPr/>
          <p:nvPr/>
        </p:nvSpPr>
        <p:spPr>
          <a:xfrm>
            <a:off x="6291072" y="4069080"/>
            <a:ext cx="82296" cy="82296"/>
          </a:xfrm>
          <a:prstGeom prst="ellipse">
            <a:avLst/>
          </a:prstGeom>
          <a:solidFill>
            <a:srgbClr val="B8620A"/>
          </a:solidFill>
          <a:ln w="12700">
            <a:solidFill>
              <a:srgbClr val="B8620A"/>
            </a:solidFill>
            <a:prstDash val="solid"/>
          </a:ln>
        </p:spPr>
        <p:txBody>
          <a:bodyPr/>
          <a:lstStyle/>
          <a:p>
            <a:endParaRPr lang="en-AU"/>
          </a:p>
        </p:txBody>
      </p:sp>
      <p:sp>
        <p:nvSpPr>
          <p:cNvPr id="33" name="Text 31"/>
          <p:cNvSpPr/>
          <p:nvPr/>
        </p:nvSpPr>
        <p:spPr>
          <a:xfrm>
            <a:off x="6419088" y="4005072"/>
            <a:ext cx="4937760" cy="530352"/>
          </a:xfrm>
          <a:prstGeom prst="rect">
            <a:avLst/>
          </a:prstGeom>
          <a:noFill/>
          <a:ln/>
        </p:spPr>
        <p:txBody>
          <a:bodyPr wrap="square" lIns="0" tIns="0" rIns="0" bIns="0" rtlCol="0" anchor="ctr"/>
          <a:lstStyle/>
          <a:p>
            <a:pPr marL="0" indent="0">
              <a:buNone/>
            </a:pPr>
            <a:r>
              <a:rPr lang="en-US" sz="1250" dirty="0">
                <a:solidFill>
                  <a:srgbClr val="12100E"/>
                </a:solidFill>
                <a:latin typeface="Calibri" pitchFamily="34" charset="0"/>
                <a:ea typeface="Calibri" pitchFamily="34" charset="-122"/>
                <a:cs typeface="Calibri" pitchFamily="34" charset="-120"/>
              </a:rPr>
              <a:t>Example: 'Not teachers — solution is student-facing only'</a:t>
            </a:r>
            <a:endParaRPr lang="en-US" sz="1250" dirty="0"/>
          </a:p>
        </p:txBody>
      </p:sp>
      <p:sp>
        <p:nvSpPr>
          <p:cNvPr id="34" name="Shape 32"/>
          <p:cNvSpPr/>
          <p:nvPr/>
        </p:nvSpPr>
        <p:spPr>
          <a:xfrm>
            <a:off x="6291072" y="4636008"/>
            <a:ext cx="82296" cy="82296"/>
          </a:xfrm>
          <a:prstGeom prst="ellipse">
            <a:avLst/>
          </a:prstGeom>
          <a:solidFill>
            <a:srgbClr val="B8620A"/>
          </a:solidFill>
          <a:ln w="12700">
            <a:solidFill>
              <a:srgbClr val="B8620A"/>
            </a:solidFill>
            <a:prstDash val="solid"/>
          </a:ln>
        </p:spPr>
        <p:txBody>
          <a:bodyPr/>
          <a:lstStyle/>
          <a:p>
            <a:endParaRPr lang="en-AU"/>
          </a:p>
        </p:txBody>
      </p:sp>
      <p:sp>
        <p:nvSpPr>
          <p:cNvPr id="35" name="Text 33"/>
          <p:cNvSpPr/>
          <p:nvPr/>
        </p:nvSpPr>
        <p:spPr>
          <a:xfrm>
            <a:off x="6419088" y="4572000"/>
            <a:ext cx="4937760" cy="530352"/>
          </a:xfrm>
          <a:prstGeom prst="rect">
            <a:avLst/>
          </a:prstGeom>
          <a:noFill/>
          <a:ln/>
        </p:spPr>
        <p:txBody>
          <a:bodyPr wrap="square" lIns="0" tIns="0" rIns="0" bIns="0" rtlCol="0" anchor="ctr"/>
          <a:lstStyle/>
          <a:p>
            <a:pPr marL="0" indent="0">
              <a:buNone/>
            </a:pPr>
            <a:r>
              <a:rPr lang="en-US" sz="1250" dirty="0">
                <a:solidFill>
                  <a:srgbClr val="12100E"/>
                </a:solidFill>
                <a:latin typeface="Calibri" pitchFamily="34" charset="0"/>
                <a:ea typeface="Calibri" pitchFamily="34" charset="-122"/>
                <a:cs typeface="Calibri" pitchFamily="34" charset="-120"/>
              </a:rPr>
              <a:t>Scope decisions affect every design choice ahead.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C2A28"/>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pic>
        <p:nvPicPr>
          <p:cNvPr id="4" name="Image 0" descr="preencoded.png"/>
          <p:cNvPicPr>
            <a:picLocks noChangeAspect="1"/>
          </p:cNvPicPr>
          <p:nvPr/>
        </p:nvPicPr>
        <p:blipFill>
          <a:blip r:embed="rId3"/>
          <a:stretch>
            <a:fillRect/>
          </a:stretch>
        </p:blipFill>
        <p:spPr>
          <a:xfrm>
            <a:off x="457200" y="1280160"/>
            <a:ext cx="914400" cy="914400"/>
          </a:xfrm>
          <a:prstGeom prst="rect">
            <a:avLst/>
          </a:prstGeom>
        </p:spPr>
      </p:pic>
      <p:sp>
        <p:nvSpPr>
          <p:cNvPr id="5" name="Text 2"/>
          <p:cNvSpPr/>
          <p:nvPr/>
        </p:nvSpPr>
        <p:spPr>
          <a:xfrm>
            <a:off x="1645920" y="1097280"/>
            <a:ext cx="9144000" cy="640080"/>
          </a:xfrm>
          <a:prstGeom prst="rect">
            <a:avLst/>
          </a:prstGeom>
          <a:noFill/>
          <a:ln/>
        </p:spPr>
        <p:txBody>
          <a:bodyPr wrap="square" lIns="0" tIns="0" rIns="0" bIns="0" rtlCol="0" anchor="ctr"/>
          <a:lstStyle/>
          <a:p>
            <a:pPr marL="0" indent="0" algn="l">
              <a:buNone/>
            </a:pPr>
            <a:r>
              <a:rPr lang="en-US" sz="3200" dirty="0">
                <a:solidFill>
                  <a:srgbClr val="FFFFFF"/>
                </a:solidFill>
                <a:latin typeface="Bookman Old Style" pitchFamily="34" charset="0"/>
                <a:ea typeface="Bookman Old Style" pitchFamily="34" charset="-122"/>
                <a:cs typeface="Bookman Old Style" pitchFamily="34" charset="-120"/>
              </a:rPr>
              <a:t>Now you know who the user is.</a:t>
            </a:r>
            <a:endParaRPr lang="en-US" sz="3200" dirty="0"/>
          </a:p>
        </p:txBody>
      </p:sp>
      <p:sp>
        <p:nvSpPr>
          <p:cNvPr id="6" name="Text 3"/>
          <p:cNvSpPr/>
          <p:nvPr/>
        </p:nvSpPr>
        <p:spPr>
          <a:xfrm>
            <a:off x="1645920" y="1828800"/>
            <a:ext cx="9144000" cy="457200"/>
          </a:xfrm>
          <a:prstGeom prst="rect">
            <a:avLst/>
          </a:prstGeom>
          <a:noFill/>
          <a:ln/>
        </p:spPr>
        <p:txBody>
          <a:bodyPr wrap="square" lIns="0" tIns="0" rIns="0" bIns="0" rtlCol="0" anchor="ctr"/>
          <a:lstStyle/>
          <a:p>
            <a:pPr marL="0" indent="0" algn="l">
              <a:buNone/>
            </a:pPr>
            <a:r>
              <a:rPr lang="en-US" sz="1800" dirty="0">
                <a:solidFill>
                  <a:srgbClr val="6B6762"/>
                </a:solidFill>
                <a:latin typeface="Calibri" pitchFamily="34" charset="0"/>
                <a:ea typeface="Calibri" pitchFamily="34" charset="-122"/>
                <a:cs typeface="Calibri" pitchFamily="34" charset="-120"/>
              </a:rPr>
              <a:t>The next question is:</a:t>
            </a:r>
            <a:endParaRPr lang="en-US" sz="1800" dirty="0"/>
          </a:p>
        </p:txBody>
      </p:sp>
      <p:sp>
        <p:nvSpPr>
          <p:cNvPr id="7" name="Text 4"/>
          <p:cNvSpPr/>
          <p:nvPr/>
        </p:nvSpPr>
        <p:spPr>
          <a:xfrm>
            <a:off x="1645920" y="2359152"/>
            <a:ext cx="9601200" cy="914400"/>
          </a:xfrm>
          <a:prstGeom prst="rect">
            <a:avLst/>
          </a:prstGeom>
          <a:noFill/>
          <a:ln/>
        </p:spPr>
        <p:txBody>
          <a:bodyPr wrap="square" lIns="0" tIns="0" rIns="0" bIns="0" rtlCol="0" anchor="ctr"/>
          <a:lstStyle/>
          <a:p>
            <a:pPr marL="0" indent="0" algn="l">
              <a:buNone/>
            </a:pPr>
            <a:r>
              <a:rPr lang="en-US" sz="3800" dirty="0">
                <a:solidFill>
                  <a:srgbClr val="B8620A"/>
                </a:solidFill>
                <a:latin typeface="Bookman Old Style" pitchFamily="34" charset="0"/>
                <a:ea typeface="Bookman Old Style" pitchFamily="34" charset="-122"/>
                <a:cs typeface="Bookman Old Style" pitchFamily="34" charset="-120"/>
              </a:rPr>
              <a:t>What do you still NOT know about them?</a:t>
            </a:r>
            <a:endParaRPr lang="en-US" sz="3800" dirty="0"/>
          </a:p>
        </p:txBody>
      </p:sp>
      <p:sp>
        <p:nvSpPr>
          <p:cNvPr id="8" name="Shape 5"/>
          <p:cNvSpPr/>
          <p:nvPr/>
        </p:nvSpPr>
        <p:spPr>
          <a:xfrm>
            <a:off x="1645920" y="3520440"/>
            <a:ext cx="3017520" cy="1188720"/>
          </a:xfrm>
          <a:prstGeom prst="roundRect">
            <a:avLst>
              <a:gd name="adj" fmla="val 7692"/>
            </a:avLst>
          </a:prstGeom>
          <a:solidFill>
            <a:srgbClr val="12100E"/>
          </a:solidFill>
          <a:ln w="12700">
            <a:solidFill>
              <a:srgbClr val="D8D3CA"/>
            </a:solidFill>
            <a:prstDash val="solid"/>
          </a:ln>
          <a:effectLst>
            <a:outerShdw blurRad="76200" dist="25400" dir="2700000" algn="bl" rotWithShape="0">
              <a:srgbClr val="000000">
                <a:alpha val="10000"/>
              </a:srgbClr>
            </a:outerShdw>
          </a:effectLst>
        </p:spPr>
        <p:txBody>
          <a:bodyPr/>
          <a:lstStyle/>
          <a:p>
            <a:endParaRPr lang="en-AU"/>
          </a:p>
        </p:txBody>
      </p:sp>
      <p:sp>
        <p:nvSpPr>
          <p:cNvPr id="9" name="Text 6"/>
          <p:cNvSpPr/>
          <p:nvPr/>
        </p:nvSpPr>
        <p:spPr>
          <a:xfrm>
            <a:off x="1783080" y="3566160"/>
            <a:ext cx="2743200" cy="1097280"/>
          </a:xfrm>
          <a:prstGeom prst="rect">
            <a:avLst/>
          </a:prstGeom>
          <a:noFill/>
          <a:ln/>
        </p:spPr>
        <p:txBody>
          <a:bodyPr wrap="square" lIns="0" tIns="0" rIns="0" bIns="0" rtlCol="0" anchor="ctr"/>
          <a:lstStyle/>
          <a:p>
            <a:pPr marL="0" indent="0" algn="ctr">
              <a:buNone/>
            </a:pPr>
            <a:r>
              <a:rPr lang="en-US" sz="1350" i="1" dirty="0">
                <a:solidFill>
                  <a:srgbClr val="FFFFFF"/>
                </a:solidFill>
                <a:latin typeface="Calibri" pitchFamily="34" charset="0"/>
                <a:ea typeface="Calibri" pitchFamily="34" charset="-122"/>
                <a:cs typeface="Calibri" pitchFamily="34" charset="-120"/>
              </a:rPr>
              <a:t>What frustrates them?</a:t>
            </a:r>
            <a:endParaRPr lang="en-US" sz="1350" dirty="0"/>
          </a:p>
        </p:txBody>
      </p:sp>
      <p:sp>
        <p:nvSpPr>
          <p:cNvPr id="10" name="Shape 7"/>
          <p:cNvSpPr/>
          <p:nvPr/>
        </p:nvSpPr>
        <p:spPr>
          <a:xfrm>
            <a:off x="5029200" y="3520440"/>
            <a:ext cx="3017520" cy="1188720"/>
          </a:xfrm>
          <a:prstGeom prst="roundRect">
            <a:avLst>
              <a:gd name="adj" fmla="val 7692"/>
            </a:avLst>
          </a:prstGeom>
          <a:solidFill>
            <a:srgbClr val="12100E"/>
          </a:solidFill>
          <a:ln w="12700">
            <a:solidFill>
              <a:srgbClr val="D8D3CA"/>
            </a:solidFill>
            <a:prstDash val="solid"/>
          </a:ln>
          <a:effectLst>
            <a:outerShdw blurRad="76200" dist="25400" dir="2700000" algn="bl" rotWithShape="0">
              <a:srgbClr val="000000">
                <a:alpha val="10000"/>
              </a:srgbClr>
            </a:outerShdw>
          </a:effectLst>
        </p:spPr>
        <p:txBody>
          <a:bodyPr/>
          <a:lstStyle/>
          <a:p>
            <a:endParaRPr lang="en-AU"/>
          </a:p>
        </p:txBody>
      </p:sp>
      <p:sp>
        <p:nvSpPr>
          <p:cNvPr id="11" name="Text 8"/>
          <p:cNvSpPr/>
          <p:nvPr/>
        </p:nvSpPr>
        <p:spPr>
          <a:xfrm>
            <a:off x="5166360" y="3566160"/>
            <a:ext cx="2743200" cy="1097280"/>
          </a:xfrm>
          <a:prstGeom prst="rect">
            <a:avLst/>
          </a:prstGeom>
          <a:noFill/>
          <a:ln/>
        </p:spPr>
        <p:txBody>
          <a:bodyPr wrap="square" lIns="0" tIns="0" rIns="0" bIns="0" rtlCol="0" anchor="ctr"/>
          <a:lstStyle/>
          <a:p>
            <a:pPr marL="0" indent="0" algn="ctr">
              <a:buNone/>
            </a:pPr>
            <a:r>
              <a:rPr lang="en-US" sz="1350" i="1" dirty="0">
                <a:solidFill>
                  <a:srgbClr val="FFFFFF"/>
                </a:solidFill>
                <a:latin typeface="Calibri" pitchFamily="34" charset="0"/>
                <a:ea typeface="Calibri" pitchFamily="34" charset="-122"/>
                <a:cs typeface="Calibri" pitchFamily="34" charset="-120"/>
              </a:rPr>
              <a:t>How do they currently cope?</a:t>
            </a:r>
            <a:endParaRPr lang="en-US" sz="1350" dirty="0"/>
          </a:p>
        </p:txBody>
      </p:sp>
      <p:sp>
        <p:nvSpPr>
          <p:cNvPr id="12" name="Shape 9"/>
          <p:cNvSpPr/>
          <p:nvPr/>
        </p:nvSpPr>
        <p:spPr>
          <a:xfrm>
            <a:off x="8412480" y="3520440"/>
            <a:ext cx="3017520" cy="1188720"/>
          </a:xfrm>
          <a:prstGeom prst="roundRect">
            <a:avLst>
              <a:gd name="adj" fmla="val 7692"/>
            </a:avLst>
          </a:prstGeom>
          <a:solidFill>
            <a:srgbClr val="12100E"/>
          </a:solidFill>
          <a:ln w="12700">
            <a:solidFill>
              <a:srgbClr val="D8D3CA"/>
            </a:solidFill>
            <a:prstDash val="solid"/>
          </a:ln>
          <a:effectLst>
            <a:outerShdw blurRad="76200" dist="25400" dir="2700000" algn="bl" rotWithShape="0">
              <a:srgbClr val="000000">
                <a:alpha val="10000"/>
              </a:srgbClr>
            </a:outerShdw>
          </a:effectLst>
        </p:spPr>
        <p:txBody>
          <a:bodyPr/>
          <a:lstStyle/>
          <a:p>
            <a:endParaRPr lang="en-AU"/>
          </a:p>
        </p:txBody>
      </p:sp>
      <p:sp>
        <p:nvSpPr>
          <p:cNvPr id="13" name="Text 10"/>
          <p:cNvSpPr/>
          <p:nvPr/>
        </p:nvSpPr>
        <p:spPr>
          <a:xfrm>
            <a:off x="8549640" y="3566160"/>
            <a:ext cx="2743200" cy="1097280"/>
          </a:xfrm>
          <a:prstGeom prst="rect">
            <a:avLst/>
          </a:prstGeom>
          <a:noFill/>
          <a:ln/>
        </p:spPr>
        <p:txBody>
          <a:bodyPr wrap="square" lIns="0" tIns="0" rIns="0" bIns="0" rtlCol="0" anchor="ctr"/>
          <a:lstStyle/>
          <a:p>
            <a:pPr marL="0" indent="0" algn="ctr">
              <a:buNone/>
            </a:pPr>
            <a:r>
              <a:rPr lang="en-US" sz="1350" i="1" dirty="0">
                <a:solidFill>
                  <a:srgbClr val="FFFFFF"/>
                </a:solidFill>
                <a:latin typeface="Calibri" pitchFamily="34" charset="0"/>
                <a:ea typeface="Calibri" pitchFamily="34" charset="-122"/>
                <a:cs typeface="Calibri" pitchFamily="34" charset="-120"/>
              </a:rPr>
              <a:t>What would 'better' look like?</a:t>
            </a:r>
            <a:endParaRPr lang="en-US" sz="1350" dirty="0"/>
          </a:p>
        </p:txBody>
      </p:sp>
      <p:sp>
        <p:nvSpPr>
          <p:cNvPr id="14" name="Text 11"/>
          <p:cNvSpPr/>
          <p:nvPr/>
        </p:nvSpPr>
        <p:spPr>
          <a:xfrm>
            <a:off x="457200" y="4919472"/>
            <a:ext cx="10972800" cy="320040"/>
          </a:xfrm>
          <a:prstGeom prst="rect">
            <a:avLst/>
          </a:prstGeom>
          <a:noFill/>
          <a:ln/>
        </p:spPr>
        <p:txBody>
          <a:bodyPr wrap="square" lIns="0" tIns="0" rIns="0" bIns="0" rtlCol="0" anchor="ctr"/>
          <a:lstStyle/>
          <a:p>
            <a:pPr marL="0" indent="0" algn="ctr">
              <a:buNone/>
            </a:pPr>
            <a:r>
              <a:rPr lang="en-US" sz="1000" dirty="0">
                <a:solidFill>
                  <a:srgbClr val="6B6762"/>
                </a:solidFill>
                <a:latin typeface="Courier New" pitchFamily="34" charset="0"/>
                <a:ea typeface="Courier New" pitchFamily="34" charset="-122"/>
                <a:cs typeface="Courier New" pitchFamily="34" charset="-120"/>
              </a:rPr>
              <a:t>These are the gaps that data collection will fill.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Shape 2"/>
          <p:cNvSpPr/>
          <p:nvPr/>
        </p:nvSpPr>
        <p:spPr>
          <a:xfrm>
            <a:off x="9966960" y="164592"/>
            <a:ext cx="1920240" cy="347472"/>
          </a:xfrm>
          <a:prstGeom prst="rect">
            <a:avLst/>
          </a:prstGeom>
          <a:solidFill>
            <a:srgbClr val="2C2A28"/>
          </a:solidFill>
          <a:ln w="12700">
            <a:solidFill>
              <a:srgbClr val="2C2A28"/>
            </a:solidFill>
            <a:prstDash val="solid"/>
          </a:ln>
        </p:spPr>
        <p:txBody>
          <a:bodyPr/>
          <a:lstStyle/>
          <a:p>
            <a:endParaRPr lang="en-AU"/>
          </a:p>
        </p:txBody>
      </p:sp>
      <p:sp>
        <p:nvSpPr>
          <p:cNvPr id="5" name="Text 3"/>
          <p:cNvSpPr/>
          <p:nvPr/>
        </p:nvSpPr>
        <p:spPr>
          <a:xfrm>
            <a:off x="9966960" y="164592"/>
            <a:ext cx="192024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EXPLICIT</a:t>
            </a:r>
            <a:endParaRPr lang="en-US" sz="850" dirty="0"/>
          </a:p>
        </p:txBody>
      </p:sp>
      <p:sp>
        <p:nvSpPr>
          <p:cNvPr id="6" name="Text 4"/>
          <p:cNvSpPr/>
          <p:nvPr/>
        </p:nvSpPr>
        <p:spPr>
          <a:xfrm>
            <a:off x="365760" y="182880"/>
            <a:ext cx="7315200" cy="256032"/>
          </a:xfrm>
          <a:prstGeom prst="rect">
            <a:avLst/>
          </a:prstGeom>
          <a:noFill/>
          <a:ln/>
        </p:spPr>
        <p:txBody>
          <a:bodyPr wrap="square" lIns="0" tIns="0" rIns="0" bIns="0" rtlCol="0" anchor="ctr"/>
          <a:lstStyle/>
          <a:p>
            <a:pPr marL="0" indent="0" algn="l">
              <a:buNone/>
            </a:pPr>
            <a:r>
              <a:rPr lang="en-US" sz="800" kern="0" spc="100" dirty="0">
                <a:solidFill>
                  <a:srgbClr val="6B6762"/>
                </a:solidFill>
                <a:latin typeface="Courier New" pitchFamily="34" charset="0"/>
                <a:ea typeface="Courier New" pitchFamily="34" charset="-122"/>
                <a:cs typeface="Courier New" pitchFamily="34" charset="-120"/>
              </a:rPr>
              <a:t>D3.1 · DATA COLLECTION DESIGN</a:t>
            </a:r>
            <a:endParaRPr lang="en-US" sz="800" dirty="0"/>
          </a:p>
        </p:txBody>
      </p:sp>
      <p:sp>
        <p:nvSpPr>
          <p:cNvPr id="7" name="Text 5"/>
          <p:cNvSpPr/>
          <p:nvPr/>
        </p:nvSpPr>
        <p:spPr>
          <a:xfrm>
            <a:off x="365760" y="457200"/>
            <a:ext cx="8229600" cy="457200"/>
          </a:xfrm>
          <a:prstGeom prst="rect">
            <a:avLst/>
          </a:prstGeom>
          <a:noFill/>
          <a:ln/>
        </p:spPr>
        <p:txBody>
          <a:bodyPr wrap="square" lIns="0" tIns="0" rIns="0" bIns="0" rtlCol="0" anchor="ctr"/>
          <a:lstStyle/>
          <a:p>
            <a:pPr marL="0" indent="0" algn="l">
              <a:buNone/>
            </a:pPr>
            <a:r>
              <a:rPr lang="en-US" sz="2400" dirty="0">
                <a:solidFill>
                  <a:srgbClr val="12100E"/>
                </a:solidFill>
                <a:latin typeface="Bookman Old Style" pitchFamily="34" charset="0"/>
                <a:ea typeface="Bookman Old Style" pitchFamily="34" charset="-122"/>
                <a:cs typeface="Bookman Old Style" pitchFamily="34" charset="-120"/>
              </a:rPr>
              <a:t>Primary vs Secondary Research</a:t>
            </a:r>
            <a:endParaRPr lang="en-US" sz="2400" dirty="0"/>
          </a:p>
        </p:txBody>
      </p:sp>
      <p:sp>
        <p:nvSpPr>
          <p:cNvPr id="8" name="Shape 6"/>
          <p:cNvSpPr/>
          <p:nvPr/>
        </p:nvSpPr>
        <p:spPr>
          <a:xfrm>
            <a:off x="365760" y="1051560"/>
            <a:ext cx="5394960" cy="2194560"/>
          </a:xfrm>
          <a:prstGeom prst="roundRect">
            <a:avLst>
              <a:gd name="adj" fmla="val 4167"/>
            </a:avLst>
          </a:prstGeom>
          <a:solidFill>
            <a:srgbClr val="EDE8DF"/>
          </a:solidFill>
          <a:ln w="12700">
            <a:solidFill>
              <a:srgbClr val="D8D3CA"/>
            </a:solidFill>
            <a:prstDash val="solid"/>
          </a:ln>
        </p:spPr>
        <p:txBody>
          <a:bodyPr/>
          <a:lstStyle/>
          <a:p>
            <a:endParaRPr lang="en-AU"/>
          </a:p>
        </p:txBody>
      </p:sp>
      <p:sp>
        <p:nvSpPr>
          <p:cNvPr id="9" name="Text 7"/>
          <p:cNvSpPr/>
          <p:nvPr/>
        </p:nvSpPr>
        <p:spPr>
          <a:xfrm>
            <a:off x="548640" y="1508760"/>
            <a:ext cx="5029200" cy="365760"/>
          </a:xfrm>
          <a:prstGeom prst="rect">
            <a:avLst/>
          </a:prstGeom>
          <a:noFill/>
          <a:ln/>
        </p:spPr>
        <p:txBody>
          <a:bodyPr wrap="square" lIns="0" tIns="0" rIns="0" bIns="0" rtlCol="0" anchor="ctr"/>
          <a:lstStyle/>
          <a:p>
            <a:pPr marL="0" indent="0">
              <a:buNone/>
            </a:pPr>
            <a:r>
              <a:rPr lang="en-US" sz="1500" b="1" dirty="0">
                <a:solidFill>
                  <a:srgbClr val="12100E"/>
                </a:solidFill>
                <a:latin typeface="Calibri" pitchFamily="34" charset="0"/>
                <a:ea typeface="Calibri" pitchFamily="34" charset="-122"/>
                <a:cs typeface="Calibri" pitchFamily="34" charset="-120"/>
              </a:rPr>
              <a:t>Secondary Research</a:t>
            </a:r>
            <a:endParaRPr lang="en-US" sz="1500" dirty="0"/>
          </a:p>
        </p:txBody>
      </p:sp>
      <p:sp>
        <p:nvSpPr>
          <p:cNvPr id="10" name="Text 8"/>
          <p:cNvSpPr/>
          <p:nvPr/>
        </p:nvSpPr>
        <p:spPr>
          <a:xfrm>
            <a:off x="548640" y="1883664"/>
            <a:ext cx="5029200" cy="292608"/>
          </a:xfrm>
          <a:prstGeom prst="rect">
            <a:avLst/>
          </a:prstGeom>
          <a:noFill/>
          <a:ln/>
        </p:spPr>
        <p:txBody>
          <a:bodyPr wrap="square" lIns="0" tIns="0" rIns="0" bIns="0" rtlCol="0" anchor="ctr"/>
          <a:lstStyle/>
          <a:p>
            <a:pPr marL="0" indent="0">
              <a:buNone/>
            </a:pPr>
            <a:r>
              <a:rPr lang="en-US" sz="1250" i="1" dirty="0">
                <a:solidFill>
                  <a:srgbClr val="6B6762"/>
                </a:solidFill>
                <a:latin typeface="Calibri" pitchFamily="34" charset="0"/>
                <a:ea typeface="Calibri" pitchFamily="34" charset="-122"/>
                <a:cs typeface="Calibri" pitchFamily="34" charset="-120"/>
              </a:rPr>
              <a:t>Data that already exists</a:t>
            </a:r>
            <a:endParaRPr lang="en-US" sz="1250" dirty="0"/>
          </a:p>
        </p:txBody>
      </p:sp>
      <p:sp>
        <p:nvSpPr>
          <p:cNvPr id="11" name="Text 9"/>
          <p:cNvSpPr/>
          <p:nvPr/>
        </p:nvSpPr>
        <p:spPr>
          <a:xfrm>
            <a:off x="548640" y="2212848"/>
            <a:ext cx="5029200" cy="822960"/>
          </a:xfrm>
          <a:prstGeom prst="rect">
            <a:avLst/>
          </a:prstGeom>
          <a:noFill/>
          <a:ln/>
        </p:spPr>
        <p:txBody>
          <a:bodyPr wrap="square" lIns="0" tIns="0" rIns="0" bIns="0" rtlCol="0" anchor="ctr"/>
          <a:lstStyle/>
          <a:p>
            <a:pPr marL="0" indent="0">
              <a:buNone/>
            </a:pPr>
            <a:r>
              <a:rPr lang="en-US" sz="1150" dirty="0">
                <a:solidFill>
                  <a:srgbClr val="2C2A28"/>
                </a:solidFill>
                <a:latin typeface="Courier New" pitchFamily="34" charset="0"/>
                <a:ea typeface="Courier New" pitchFamily="34" charset="-122"/>
                <a:cs typeface="Courier New" pitchFamily="34" charset="-120"/>
              </a:rPr>
              <a:t>Reports · Statistics · Reviews · Literature</a:t>
            </a:r>
            <a:endParaRPr lang="en-US" sz="1150" dirty="0"/>
          </a:p>
        </p:txBody>
      </p:sp>
      <p:sp>
        <p:nvSpPr>
          <p:cNvPr id="12" name="Shape 10"/>
          <p:cNvSpPr/>
          <p:nvPr/>
        </p:nvSpPr>
        <p:spPr>
          <a:xfrm>
            <a:off x="6126480" y="1051560"/>
            <a:ext cx="5394960" cy="2194560"/>
          </a:xfrm>
          <a:prstGeom prst="roundRect">
            <a:avLst>
              <a:gd name="adj" fmla="val 4167"/>
            </a:avLst>
          </a:prstGeom>
          <a:solidFill>
            <a:srgbClr val="E8F2EE"/>
          </a:solidFill>
          <a:ln w="25400">
            <a:solidFill>
              <a:srgbClr val="1B5E47"/>
            </a:solidFill>
            <a:prstDash val="solid"/>
          </a:ln>
        </p:spPr>
        <p:txBody>
          <a:bodyPr/>
          <a:lstStyle/>
          <a:p>
            <a:endParaRPr lang="en-AU"/>
          </a:p>
        </p:txBody>
      </p:sp>
      <p:sp>
        <p:nvSpPr>
          <p:cNvPr id="13" name="Shape 11"/>
          <p:cNvSpPr/>
          <p:nvPr/>
        </p:nvSpPr>
        <p:spPr>
          <a:xfrm>
            <a:off x="6217920" y="1143000"/>
            <a:ext cx="1234440" cy="329184"/>
          </a:xfrm>
          <a:prstGeom prst="roundRect">
            <a:avLst>
              <a:gd name="adj" fmla="val 16667"/>
            </a:avLst>
          </a:prstGeom>
          <a:solidFill>
            <a:srgbClr val="1B5E47"/>
          </a:solidFill>
          <a:ln w="12700">
            <a:solidFill>
              <a:srgbClr val="1B5E47"/>
            </a:solidFill>
            <a:prstDash val="solid"/>
          </a:ln>
        </p:spPr>
        <p:txBody>
          <a:bodyPr/>
          <a:lstStyle/>
          <a:p>
            <a:endParaRPr lang="en-AU"/>
          </a:p>
        </p:txBody>
      </p:sp>
      <p:sp>
        <p:nvSpPr>
          <p:cNvPr id="14" name="Text 12"/>
          <p:cNvSpPr/>
          <p:nvPr/>
        </p:nvSpPr>
        <p:spPr>
          <a:xfrm>
            <a:off x="6217920" y="1143000"/>
            <a:ext cx="123444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ourier New" pitchFamily="34" charset="0"/>
                <a:ea typeface="Courier New" pitchFamily="34" charset="-122"/>
                <a:cs typeface="Courier New" pitchFamily="34" charset="-120"/>
              </a:rPr>
              <a:t>TODAY</a:t>
            </a:r>
            <a:endParaRPr lang="en-US" sz="900" dirty="0"/>
          </a:p>
        </p:txBody>
      </p:sp>
      <p:sp>
        <p:nvSpPr>
          <p:cNvPr id="15" name="Text 13"/>
          <p:cNvSpPr/>
          <p:nvPr/>
        </p:nvSpPr>
        <p:spPr>
          <a:xfrm>
            <a:off x="6309360" y="1508760"/>
            <a:ext cx="5029200" cy="365760"/>
          </a:xfrm>
          <a:prstGeom prst="rect">
            <a:avLst/>
          </a:prstGeom>
          <a:noFill/>
          <a:ln/>
        </p:spPr>
        <p:txBody>
          <a:bodyPr wrap="square" lIns="0" tIns="0" rIns="0" bIns="0" rtlCol="0" anchor="ctr"/>
          <a:lstStyle/>
          <a:p>
            <a:pPr marL="0" indent="0">
              <a:buNone/>
            </a:pPr>
            <a:r>
              <a:rPr lang="en-US" sz="1500" b="1" dirty="0">
                <a:solidFill>
                  <a:srgbClr val="12100E"/>
                </a:solidFill>
                <a:latin typeface="Calibri" pitchFamily="34" charset="0"/>
                <a:ea typeface="Calibri" pitchFamily="34" charset="-122"/>
                <a:cs typeface="Calibri" pitchFamily="34" charset="-120"/>
              </a:rPr>
              <a:t>Primary Research</a:t>
            </a:r>
            <a:endParaRPr lang="en-US" sz="1500" dirty="0"/>
          </a:p>
        </p:txBody>
      </p:sp>
      <p:sp>
        <p:nvSpPr>
          <p:cNvPr id="16" name="Text 14"/>
          <p:cNvSpPr/>
          <p:nvPr/>
        </p:nvSpPr>
        <p:spPr>
          <a:xfrm>
            <a:off x="6309360" y="1883664"/>
            <a:ext cx="5029200" cy="292608"/>
          </a:xfrm>
          <a:prstGeom prst="rect">
            <a:avLst/>
          </a:prstGeom>
          <a:noFill/>
          <a:ln/>
        </p:spPr>
        <p:txBody>
          <a:bodyPr wrap="square" lIns="0" tIns="0" rIns="0" bIns="0" rtlCol="0" anchor="ctr"/>
          <a:lstStyle/>
          <a:p>
            <a:pPr marL="0" indent="0">
              <a:buNone/>
            </a:pPr>
            <a:r>
              <a:rPr lang="en-US" sz="1250" i="1" dirty="0">
                <a:solidFill>
                  <a:srgbClr val="1B5E47"/>
                </a:solidFill>
                <a:latin typeface="Calibri" pitchFamily="34" charset="0"/>
                <a:ea typeface="Calibri" pitchFamily="34" charset="-122"/>
                <a:cs typeface="Calibri" pitchFamily="34" charset="-120"/>
              </a:rPr>
              <a:t>Data YOU collect directly</a:t>
            </a:r>
            <a:endParaRPr lang="en-US" sz="1250" dirty="0"/>
          </a:p>
        </p:txBody>
      </p:sp>
      <p:sp>
        <p:nvSpPr>
          <p:cNvPr id="17" name="Text 15"/>
          <p:cNvSpPr/>
          <p:nvPr/>
        </p:nvSpPr>
        <p:spPr>
          <a:xfrm>
            <a:off x="6309360" y="2212848"/>
            <a:ext cx="5029200" cy="822960"/>
          </a:xfrm>
          <a:prstGeom prst="rect">
            <a:avLst/>
          </a:prstGeom>
          <a:noFill/>
          <a:ln/>
        </p:spPr>
        <p:txBody>
          <a:bodyPr wrap="square" lIns="0" tIns="0" rIns="0" bIns="0" rtlCol="0" anchor="ctr"/>
          <a:lstStyle/>
          <a:p>
            <a:pPr marL="0" indent="0">
              <a:buNone/>
            </a:pPr>
            <a:r>
              <a:rPr lang="en-US" sz="1150" dirty="0">
                <a:solidFill>
                  <a:srgbClr val="2C2A28"/>
                </a:solidFill>
                <a:latin typeface="Courier New" pitchFamily="34" charset="0"/>
                <a:ea typeface="Courier New" pitchFamily="34" charset="-122"/>
                <a:cs typeface="Courier New" pitchFamily="34" charset="-120"/>
              </a:rPr>
              <a:t>Interviews · Surveys · Observations</a:t>
            </a:r>
            <a:endParaRPr lang="en-US" sz="1150" dirty="0"/>
          </a:p>
        </p:txBody>
      </p:sp>
      <p:sp>
        <p:nvSpPr>
          <p:cNvPr id="18" name="Shape 16"/>
          <p:cNvSpPr/>
          <p:nvPr/>
        </p:nvSpPr>
        <p:spPr>
          <a:xfrm>
            <a:off x="365760" y="3383280"/>
            <a:ext cx="11430000" cy="2331720"/>
          </a:xfrm>
          <a:prstGeom prst="roundRect">
            <a:avLst>
              <a:gd name="adj" fmla="val 3922"/>
            </a:avLst>
          </a:prstGeom>
          <a:solidFill>
            <a:srgbClr val="ECEEF8"/>
          </a:solidFill>
          <a:ln w="19050">
            <a:solidFill>
              <a:srgbClr val="2B3A8C"/>
            </a:solidFill>
            <a:prstDash val="solid"/>
          </a:ln>
        </p:spPr>
        <p:txBody>
          <a:bodyPr/>
          <a:lstStyle/>
          <a:p>
            <a:endParaRPr lang="en-AU"/>
          </a:p>
        </p:txBody>
      </p:sp>
      <p:sp>
        <p:nvSpPr>
          <p:cNvPr id="19" name="Text 17"/>
          <p:cNvSpPr/>
          <p:nvPr/>
        </p:nvSpPr>
        <p:spPr>
          <a:xfrm>
            <a:off x="548640" y="3493008"/>
            <a:ext cx="7315200" cy="384048"/>
          </a:xfrm>
          <a:prstGeom prst="rect">
            <a:avLst/>
          </a:prstGeom>
          <a:noFill/>
          <a:ln/>
        </p:spPr>
        <p:txBody>
          <a:bodyPr wrap="square" lIns="0" tIns="0" rIns="0" bIns="0" rtlCol="0" anchor="ctr"/>
          <a:lstStyle/>
          <a:p>
            <a:pPr marL="0" indent="0">
              <a:buNone/>
            </a:pPr>
            <a:r>
              <a:rPr lang="en-US" sz="1500" b="1" dirty="0">
                <a:solidFill>
                  <a:srgbClr val="2B3A8C"/>
                </a:solidFill>
                <a:latin typeface="Calibri" pitchFamily="34" charset="0"/>
                <a:ea typeface="Calibri" pitchFamily="34" charset="-122"/>
                <a:cs typeface="Calibri" pitchFamily="34" charset="-120"/>
              </a:rPr>
              <a:t>Today: Primary Research Methods</a:t>
            </a:r>
            <a:endParaRPr lang="en-US" sz="1500" dirty="0"/>
          </a:p>
        </p:txBody>
      </p:sp>
      <p:sp>
        <p:nvSpPr>
          <p:cNvPr id="20" name="Text 18"/>
          <p:cNvSpPr/>
          <p:nvPr/>
        </p:nvSpPr>
        <p:spPr>
          <a:xfrm>
            <a:off x="548640" y="3931920"/>
            <a:ext cx="10972800" cy="1645920"/>
          </a:xfrm>
          <a:prstGeom prst="rect">
            <a:avLst/>
          </a:prstGeom>
          <a:noFill/>
          <a:ln/>
        </p:spPr>
        <p:txBody>
          <a:bodyPr wrap="square" lIns="0" tIns="0" rIns="0" bIns="0" rtlCol="0" anchor="t"/>
          <a:lstStyle/>
          <a:p>
            <a:pPr marL="0" indent="0">
              <a:buNone/>
            </a:pPr>
            <a:r>
              <a:rPr lang="en-US" sz="1350" b="1" dirty="0">
                <a:solidFill>
                  <a:srgbClr val="2C2A28"/>
                </a:solidFill>
                <a:latin typeface="Calibri" pitchFamily="34" charset="0"/>
                <a:ea typeface="Calibri" pitchFamily="34" charset="-122"/>
                <a:cs typeface="Calibri" pitchFamily="34" charset="-120"/>
              </a:rPr>
              <a:t>Interviews  </a:t>
            </a:r>
            <a:r>
              <a:rPr lang="en-US" sz="1350" dirty="0">
                <a:solidFill>
                  <a:srgbClr val="2C2A28"/>
                </a:solidFill>
                <a:latin typeface="Calibri" pitchFamily="34" charset="0"/>
                <a:ea typeface="Calibri" pitchFamily="34" charset="-122"/>
                <a:cs typeface="Calibri" pitchFamily="34" charset="-120"/>
              </a:rPr>
              <a:t>→ rich, qualitative, one-to-one or small group
</a:t>
            </a:r>
            <a:r>
              <a:rPr lang="en-US" sz="1350" b="1" dirty="0">
                <a:solidFill>
                  <a:srgbClr val="2C2A28"/>
                </a:solidFill>
                <a:latin typeface="Calibri" pitchFamily="34" charset="0"/>
                <a:ea typeface="Calibri" pitchFamily="34" charset="-122"/>
                <a:cs typeface="Calibri" pitchFamily="34" charset="-120"/>
              </a:rPr>
              <a:t>Surveys  </a:t>
            </a:r>
            <a:r>
              <a:rPr lang="en-US" sz="1350" dirty="0">
                <a:solidFill>
                  <a:srgbClr val="2C2A28"/>
                </a:solidFill>
                <a:latin typeface="Calibri" pitchFamily="34" charset="0"/>
                <a:ea typeface="Calibri" pitchFamily="34" charset="-122"/>
                <a:cs typeface="Calibri" pitchFamily="34" charset="-120"/>
              </a:rPr>
              <a:t>→ scalable, quantitative and qualitative, asynchronous
</a:t>
            </a:r>
            <a:r>
              <a:rPr lang="en-US" sz="1350" b="1" dirty="0">
                <a:solidFill>
                  <a:srgbClr val="2C2A28"/>
                </a:solidFill>
                <a:latin typeface="Calibri" pitchFamily="34" charset="0"/>
                <a:ea typeface="Calibri" pitchFamily="34" charset="-122"/>
                <a:cs typeface="Calibri" pitchFamily="34" charset="-120"/>
              </a:rPr>
              <a:t>Observations  </a:t>
            </a:r>
            <a:r>
              <a:rPr lang="en-US" sz="1350" dirty="0">
                <a:solidFill>
                  <a:srgbClr val="2C2A28"/>
                </a:solidFill>
                <a:latin typeface="Calibri" pitchFamily="34" charset="0"/>
                <a:ea typeface="Calibri" pitchFamily="34" charset="-122"/>
                <a:cs typeface="Calibri" pitchFamily="34" charset="-120"/>
              </a:rPr>
              <a:t>→ behavioural, captures what users do (not just what they say)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Shape 2"/>
          <p:cNvSpPr/>
          <p:nvPr/>
        </p:nvSpPr>
        <p:spPr>
          <a:xfrm>
            <a:off x="9966960" y="164592"/>
            <a:ext cx="1920240" cy="347472"/>
          </a:xfrm>
          <a:prstGeom prst="rect">
            <a:avLst/>
          </a:prstGeom>
          <a:solidFill>
            <a:srgbClr val="2C2A28"/>
          </a:solidFill>
          <a:ln w="12700">
            <a:solidFill>
              <a:srgbClr val="2C2A28"/>
            </a:solidFill>
            <a:prstDash val="solid"/>
          </a:ln>
        </p:spPr>
        <p:txBody>
          <a:bodyPr/>
          <a:lstStyle/>
          <a:p>
            <a:endParaRPr lang="en-AU"/>
          </a:p>
        </p:txBody>
      </p:sp>
      <p:sp>
        <p:nvSpPr>
          <p:cNvPr id="5" name="Text 3"/>
          <p:cNvSpPr/>
          <p:nvPr/>
        </p:nvSpPr>
        <p:spPr>
          <a:xfrm>
            <a:off x="9966960" y="164592"/>
            <a:ext cx="192024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EXPLICIT</a:t>
            </a:r>
            <a:endParaRPr lang="en-US" sz="850" dirty="0"/>
          </a:p>
        </p:txBody>
      </p:sp>
      <p:sp>
        <p:nvSpPr>
          <p:cNvPr id="6" name="Text 4"/>
          <p:cNvSpPr/>
          <p:nvPr/>
        </p:nvSpPr>
        <p:spPr>
          <a:xfrm>
            <a:off x="365760" y="182880"/>
            <a:ext cx="7315200" cy="256032"/>
          </a:xfrm>
          <a:prstGeom prst="rect">
            <a:avLst/>
          </a:prstGeom>
          <a:noFill/>
          <a:ln/>
        </p:spPr>
        <p:txBody>
          <a:bodyPr wrap="square" lIns="0" tIns="0" rIns="0" bIns="0" rtlCol="0" anchor="ctr"/>
          <a:lstStyle/>
          <a:p>
            <a:pPr marL="0" indent="0" algn="l">
              <a:buNone/>
            </a:pPr>
            <a:r>
              <a:rPr lang="en-US" sz="800" kern="0" spc="100" dirty="0">
                <a:solidFill>
                  <a:srgbClr val="6B6762"/>
                </a:solidFill>
                <a:latin typeface="Courier New" pitchFamily="34" charset="0"/>
                <a:ea typeface="Courier New" pitchFamily="34" charset="-122"/>
                <a:cs typeface="Courier New" pitchFamily="34" charset="-120"/>
              </a:rPr>
              <a:t>D3.1 · DATA COLLECTION DESIGN</a:t>
            </a:r>
            <a:endParaRPr lang="en-US" sz="800" dirty="0"/>
          </a:p>
        </p:txBody>
      </p:sp>
      <p:sp>
        <p:nvSpPr>
          <p:cNvPr id="7" name="Text 5"/>
          <p:cNvSpPr/>
          <p:nvPr/>
        </p:nvSpPr>
        <p:spPr>
          <a:xfrm>
            <a:off x="365760" y="457200"/>
            <a:ext cx="9144000" cy="457200"/>
          </a:xfrm>
          <a:prstGeom prst="rect">
            <a:avLst/>
          </a:prstGeom>
          <a:noFill/>
          <a:ln/>
        </p:spPr>
        <p:txBody>
          <a:bodyPr wrap="square" lIns="0" tIns="0" rIns="0" bIns="0" rtlCol="0" anchor="ctr"/>
          <a:lstStyle/>
          <a:p>
            <a:pPr marL="0" indent="0" algn="l">
              <a:buNone/>
            </a:pPr>
            <a:r>
              <a:rPr lang="en-US" sz="2200" dirty="0">
                <a:solidFill>
                  <a:srgbClr val="12100E"/>
                </a:solidFill>
                <a:latin typeface="Bookman Old Style" pitchFamily="34" charset="0"/>
                <a:ea typeface="Bookman Old Style" pitchFamily="34" charset="-122"/>
                <a:cs typeface="Bookman Old Style" pitchFamily="34" charset="-120"/>
              </a:rPr>
              <a:t>Interviews vs Surveys — When to Use Which</a:t>
            </a:r>
            <a:endParaRPr lang="en-US" sz="2200" dirty="0"/>
          </a:p>
        </p:txBody>
      </p:sp>
      <p:sp>
        <p:nvSpPr>
          <p:cNvPr id="8" name="Shape 6"/>
          <p:cNvSpPr/>
          <p:nvPr/>
        </p:nvSpPr>
        <p:spPr>
          <a:xfrm>
            <a:off x="365760" y="1005840"/>
            <a:ext cx="2194560" cy="402336"/>
          </a:xfrm>
          <a:prstGeom prst="rect">
            <a:avLst/>
          </a:prstGeom>
          <a:solidFill>
            <a:srgbClr val="EDE8DF"/>
          </a:solidFill>
          <a:ln w="6350">
            <a:solidFill>
              <a:srgbClr val="D8D3CA"/>
            </a:solidFill>
            <a:prstDash val="solid"/>
          </a:ln>
        </p:spPr>
        <p:txBody>
          <a:bodyPr/>
          <a:lstStyle/>
          <a:p>
            <a:endParaRPr lang="en-AU"/>
          </a:p>
        </p:txBody>
      </p:sp>
      <p:sp>
        <p:nvSpPr>
          <p:cNvPr id="9" name="Text 7"/>
          <p:cNvSpPr/>
          <p:nvPr/>
        </p:nvSpPr>
        <p:spPr>
          <a:xfrm>
            <a:off x="438912" y="1005840"/>
            <a:ext cx="2048256" cy="402336"/>
          </a:xfrm>
          <a:prstGeom prst="rect">
            <a:avLst/>
          </a:prstGeom>
          <a:noFill/>
          <a:ln/>
        </p:spPr>
        <p:txBody>
          <a:bodyPr wrap="square" lIns="0" tIns="0" rIns="0" bIns="0" rtlCol="0" anchor="ctr"/>
          <a:lstStyle/>
          <a:p>
            <a:pPr marL="0" indent="0" algn="ctr">
              <a:buNone/>
            </a:pPr>
            <a:endParaRPr lang="en-US" sz="1300" dirty="0"/>
          </a:p>
        </p:txBody>
      </p:sp>
      <p:sp>
        <p:nvSpPr>
          <p:cNvPr id="10" name="Shape 8"/>
          <p:cNvSpPr/>
          <p:nvPr/>
        </p:nvSpPr>
        <p:spPr>
          <a:xfrm>
            <a:off x="2560320" y="1005840"/>
            <a:ext cx="4389120" cy="402336"/>
          </a:xfrm>
          <a:prstGeom prst="rect">
            <a:avLst/>
          </a:prstGeom>
          <a:solidFill>
            <a:srgbClr val="1B5E47"/>
          </a:solidFill>
          <a:ln w="6350">
            <a:solidFill>
              <a:srgbClr val="D8D3CA"/>
            </a:solidFill>
            <a:prstDash val="solid"/>
          </a:ln>
        </p:spPr>
        <p:txBody>
          <a:bodyPr/>
          <a:lstStyle/>
          <a:p>
            <a:endParaRPr lang="en-AU"/>
          </a:p>
        </p:txBody>
      </p:sp>
      <p:sp>
        <p:nvSpPr>
          <p:cNvPr id="11" name="Text 9"/>
          <p:cNvSpPr/>
          <p:nvPr/>
        </p:nvSpPr>
        <p:spPr>
          <a:xfrm>
            <a:off x="2633472" y="1005840"/>
            <a:ext cx="424281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Interviews</a:t>
            </a:r>
            <a:endParaRPr lang="en-US" sz="1300" dirty="0"/>
          </a:p>
        </p:txBody>
      </p:sp>
      <p:sp>
        <p:nvSpPr>
          <p:cNvPr id="12" name="Shape 10"/>
          <p:cNvSpPr/>
          <p:nvPr/>
        </p:nvSpPr>
        <p:spPr>
          <a:xfrm>
            <a:off x="6949440" y="1005840"/>
            <a:ext cx="4389120" cy="402336"/>
          </a:xfrm>
          <a:prstGeom prst="rect">
            <a:avLst/>
          </a:prstGeom>
          <a:solidFill>
            <a:srgbClr val="2B3A8C"/>
          </a:solidFill>
          <a:ln w="6350">
            <a:solidFill>
              <a:srgbClr val="D8D3CA"/>
            </a:solidFill>
            <a:prstDash val="solid"/>
          </a:ln>
        </p:spPr>
        <p:txBody>
          <a:bodyPr/>
          <a:lstStyle/>
          <a:p>
            <a:endParaRPr lang="en-AU"/>
          </a:p>
        </p:txBody>
      </p:sp>
      <p:sp>
        <p:nvSpPr>
          <p:cNvPr id="13" name="Text 11"/>
          <p:cNvSpPr/>
          <p:nvPr/>
        </p:nvSpPr>
        <p:spPr>
          <a:xfrm>
            <a:off x="7022592" y="1005840"/>
            <a:ext cx="424281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Surveys</a:t>
            </a:r>
            <a:endParaRPr lang="en-US" sz="1300" dirty="0"/>
          </a:p>
        </p:txBody>
      </p:sp>
      <p:sp>
        <p:nvSpPr>
          <p:cNvPr id="14" name="Shape 12"/>
          <p:cNvSpPr/>
          <p:nvPr/>
        </p:nvSpPr>
        <p:spPr>
          <a:xfrm>
            <a:off x="365760" y="1408176"/>
            <a:ext cx="2194560" cy="859536"/>
          </a:xfrm>
          <a:prstGeom prst="rect">
            <a:avLst/>
          </a:prstGeom>
          <a:solidFill>
            <a:srgbClr val="FFFFFF"/>
          </a:solidFill>
          <a:ln w="6350">
            <a:solidFill>
              <a:srgbClr val="D8D3CA"/>
            </a:solidFill>
            <a:prstDash val="solid"/>
          </a:ln>
        </p:spPr>
        <p:txBody>
          <a:bodyPr/>
          <a:lstStyle/>
          <a:p>
            <a:endParaRPr lang="en-AU"/>
          </a:p>
        </p:txBody>
      </p:sp>
      <p:sp>
        <p:nvSpPr>
          <p:cNvPr id="15" name="Text 13"/>
          <p:cNvSpPr/>
          <p:nvPr/>
        </p:nvSpPr>
        <p:spPr>
          <a:xfrm>
            <a:off x="438912" y="1444752"/>
            <a:ext cx="2048256" cy="786384"/>
          </a:xfrm>
          <a:prstGeom prst="rect">
            <a:avLst/>
          </a:prstGeom>
          <a:noFill/>
          <a:ln/>
        </p:spPr>
        <p:txBody>
          <a:bodyPr wrap="square" lIns="0" tIns="0" rIns="0" bIns="0" rtlCol="0" anchor="ctr"/>
          <a:lstStyle/>
          <a:p>
            <a:pPr marL="0" indent="0" algn="ctr">
              <a:buNone/>
            </a:pPr>
            <a:r>
              <a:rPr lang="en-US" sz="1150" b="1" dirty="0">
                <a:solidFill>
                  <a:srgbClr val="6B6762"/>
                </a:solidFill>
                <a:latin typeface="Calibri" pitchFamily="34" charset="0"/>
                <a:ea typeface="Calibri" pitchFamily="34" charset="-122"/>
                <a:cs typeface="Calibri" pitchFamily="34" charset="-120"/>
              </a:rPr>
              <a:t>Best when…</a:t>
            </a:r>
            <a:endParaRPr lang="en-US" sz="1150" dirty="0"/>
          </a:p>
        </p:txBody>
      </p:sp>
      <p:sp>
        <p:nvSpPr>
          <p:cNvPr id="16" name="Shape 14"/>
          <p:cNvSpPr/>
          <p:nvPr/>
        </p:nvSpPr>
        <p:spPr>
          <a:xfrm>
            <a:off x="2560320" y="1408176"/>
            <a:ext cx="4389120" cy="859536"/>
          </a:xfrm>
          <a:prstGeom prst="rect">
            <a:avLst/>
          </a:prstGeom>
          <a:solidFill>
            <a:srgbClr val="FFFFFF"/>
          </a:solidFill>
          <a:ln w="6350">
            <a:solidFill>
              <a:srgbClr val="D8D3CA"/>
            </a:solidFill>
            <a:prstDash val="solid"/>
          </a:ln>
        </p:spPr>
        <p:txBody>
          <a:bodyPr/>
          <a:lstStyle/>
          <a:p>
            <a:endParaRPr lang="en-AU"/>
          </a:p>
        </p:txBody>
      </p:sp>
      <p:sp>
        <p:nvSpPr>
          <p:cNvPr id="17" name="Text 15"/>
          <p:cNvSpPr/>
          <p:nvPr/>
        </p:nvSpPr>
        <p:spPr>
          <a:xfrm>
            <a:off x="2633472" y="1444752"/>
            <a:ext cx="4242816" cy="786384"/>
          </a:xfrm>
          <a:prstGeom prst="rect">
            <a:avLst/>
          </a:prstGeom>
          <a:noFill/>
          <a:ln/>
        </p:spPr>
        <p:txBody>
          <a:bodyPr wrap="square" lIns="0" tIns="0" rIns="0" bIns="0" rtlCol="0" anchor="ctr"/>
          <a:lstStyle/>
          <a:p>
            <a:pPr marL="0" indent="0" algn="l">
              <a:buNone/>
            </a:pPr>
            <a:r>
              <a:rPr lang="en-US" sz="1100" dirty="0">
                <a:solidFill>
                  <a:srgbClr val="12100E"/>
                </a:solidFill>
                <a:latin typeface="Calibri" pitchFamily="34" charset="0"/>
                <a:ea typeface="Calibri" pitchFamily="34" charset="-122"/>
                <a:cs typeface="Calibri" pitchFamily="34" charset="-120"/>
              </a:rPr>
              <a:t>You need depth; you want to follow up; your user group is small</a:t>
            </a:r>
            <a:endParaRPr lang="en-US" sz="1100" dirty="0"/>
          </a:p>
        </p:txBody>
      </p:sp>
      <p:sp>
        <p:nvSpPr>
          <p:cNvPr id="18" name="Shape 16"/>
          <p:cNvSpPr/>
          <p:nvPr/>
        </p:nvSpPr>
        <p:spPr>
          <a:xfrm>
            <a:off x="6949440" y="1408176"/>
            <a:ext cx="4389120" cy="859536"/>
          </a:xfrm>
          <a:prstGeom prst="rect">
            <a:avLst/>
          </a:prstGeom>
          <a:solidFill>
            <a:srgbClr val="FFFFFF"/>
          </a:solidFill>
          <a:ln w="6350">
            <a:solidFill>
              <a:srgbClr val="D8D3CA"/>
            </a:solidFill>
            <a:prstDash val="solid"/>
          </a:ln>
        </p:spPr>
        <p:txBody>
          <a:bodyPr/>
          <a:lstStyle/>
          <a:p>
            <a:endParaRPr lang="en-AU"/>
          </a:p>
        </p:txBody>
      </p:sp>
      <p:sp>
        <p:nvSpPr>
          <p:cNvPr id="19" name="Text 17"/>
          <p:cNvSpPr/>
          <p:nvPr/>
        </p:nvSpPr>
        <p:spPr>
          <a:xfrm>
            <a:off x="7022592" y="1444752"/>
            <a:ext cx="4242816" cy="786384"/>
          </a:xfrm>
          <a:prstGeom prst="rect">
            <a:avLst/>
          </a:prstGeom>
          <a:noFill/>
          <a:ln/>
        </p:spPr>
        <p:txBody>
          <a:bodyPr wrap="square" lIns="0" tIns="0" rIns="0" bIns="0" rtlCol="0" anchor="ctr"/>
          <a:lstStyle/>
          <a:p>
            <a:pPr marL="0" indent="0" algn="l">
              <a:buNone/>
            </a:pPr>
            <a:r>
              <a:rPr lang="en-US" sz="1100" dirty="0">
                <a:solidFill>
                  <a:srgbClr val="12100E"/>
                </a:solidFill>
                <a:latin typeface="Calibri" pitchFamily="34" charset="0"/>
                <a:ea typeface="Calibri" pitchFamily="34" charset="-122"/>
                <a:cs typeface="Calibri" pitchFamily="34" charset="-120"/>
              </a:rPr>
              <a:t>You need breadth; responses are honest without social pressure; scale matters</a:t>
            </a:r>
            <a:endParaRPr lang="en-US" sz="1100" dirty="0"/>
          </a:p>
        </p:txBody>
      </p:sp>
      <p:sp>
        <p:nvSpPr>
          <p:cNvPr id="20" name="Shape 18"/>
          <p:cNvSpPr/>
          <p:nvPr/>
        </p:nvSpPr>
        <p:spPr>
          <a:xfrm>
            <a:off x="365760" y="2267712"/>
            <a:ext cx="2194560" cy="859536"/>
          </a:xfrm>
          <a:prstGeom prst="rect">
            <a:avLst/>
          </a:prstGeom>
          <a:solidFill>
            <a:srgbClr val="EDE8DF"/>
          </a:solidFill>
          <a:ln w="6350">
            <a:solidFill>
              <a:srgbClr val="D8D3CA"/>
            </a:solidFill>
            <a:prstDash val="solid"/>
          </a:ln>
        </p:spPr>
        <p:txBody>
          <a:bodyPr/>
          <a:lstStyle/>
          <a:p>
            <a:endParaRPr lang="en-AU"/>
          </a:p>
        </p:txBody>
      </p:sp>
      <p:sp>
        <p:nvSpPr>
          <p:cNvPr id="21" name="Text 19"/>
          <p:cNvSpPr/>
          <p:nvPr/>
        </p:nvSpPr>
        <p:spPr>
          <a:xfrm>
            <a:off x="438912" y="2304288"/>
            <a:ext cx="2048256" cy="786384"/>
          </a:xfrm>
          <a:prstGeom prst="rect">
            <a:avLst/>
          </a:prstGeom>
          <a:noFill/>
          <a:ln/>
        </p:spPr>
        <p:txBody>
          <a:bodyPr wrap="square" lIns="0" tIns="0" rIns="0" bIns="0" rtlCol="0" anchor="ctr"/>
          <a:lstStyle/>
          <a:p>
            <a:pPr marL="0" indent="0" algn="ctr">
              <a:buNone/>
            </a:pPr>
            <a:r>
              <a:rPr lang="en-US" sz="1150" b="1" dirty="0">
                <a:solidFill>
                  <a:srgbClr val="6B6762"/>
                </a:solidFill>
                <a:latin typeface="Calibri" pitchFamily="34" charset="0"/>
                <a:ea typeface="Calibri" pitchFamily="34" charset="-122"/>
                <a:cs typeface="Calibri" pitchFamily="34" charset="-120"/>
              </a:rPr>
              <a:t>Type of data</a:t>
            </a:r>
            <a:endParaRPr lang="en-US" sz="1150" dirty="0"/>
          </a:p>
        </p:txBody>
      </p:sp>
      <p:sp>
        <p:nvSpPr>
          <p:cNvPr id="22" name="Shape 20"/>
          <p:cNvSpPr/>
          <p:nvPr/>
        </p:nvSpPr>
        <p:spPr>
          <a:xfrm>
            <a:off x="2560320" y="2267712"/>
            <a:ext cx="4389120" cy="859536"/>
          </a:xfrm>
          <a:prstGeom prst="rect">
            <a:avLst/>
          </a:prstGeom>
          <a:solidFill>
            <a:srgbClr val="EDE8DF"/>
          </a:solidFill>
          <a:ln w="6350">
            <a:solidFill>
              <a:srgbClr val="D8D3CA"/>
            </a:solidFill>
            <a:prstDash val="solid"/>
          </a:ln>
        </p:spPr>
        <p:txBody>
          <a:bodyPr/>
          <a:lstStyle/>
          <a:p>
            <a:endParaRPr lang="en-AU"/>
          </a:p>
        </p:txBody>
      </p:sp>
      <p:sp>
        <p:nvSpPr>
          <p:cNvPr id="23" name="Text 21"/>
          <p:cNvSpPr/>
          <p:nvPr/>
        </p:nvSpPr>
        <p:spPr>
          <a:xfrm>
            <a:off x="2633472" y="2304288"/>
            <a:ext cx="4242816" cy="786384"/>
          </a:xfrm>
          <a:prstGeom prst="rect">
            <a:avLst/>
          </a:prstGeom>
          <a:noFill/>
          <a:ln/>
        </p:spPr>
        <p:txBody>
          <a:bodyPr wrap="square" lIns="0" tIns="0" rIns="0" bIns="0" rtlCol="0" anchor="ctr"/>
          <a:lstStyle/>
          <a:p>
            <a:pPr marL="0" indent="0" algn="l">
              <a:buNone/>
            </a:pPr>
            <a:r>
              <a:rPr lang="en-US" sz="1100" dirty="0">
                <a:solidFill>
                  <a:srgbClr val="12100E"/>
                </a:solidFill>
                <a:latin typeface="Calibri" pitchFamily="34" charset="0"/>
                <a:ea typeface="Calibri" pitchFamily="34" charset="-122"/>
                <a:cs typeface="Calibri" pitchFamily="34" charset="-120"/>
              </a:rPr>
              <a:t>Rich, detailed, qualitative — stories and explanations</a:t>
            </a:r>
            <a:endParaRPr lang="en-US" sz="1100" dirty="0"/>
          </a:p>
        </p:txBody>
      </p:sp>
      <p:sp>
        <p:nvSpPr>
          <p:cNvPr id="24" name="Shape 22"/>
          <p:cNvSpPr/>
          <p:nvPr/>
        </p:nvSpPr>
        <p:spPr>
          <a:xfrm>
            <a:off x="6949440" y="2267712"/>
            <a:ext cx="4389120" cy="859536"/>
          </a:xfrm>
          <a:prstGeom prst="rect">
            <a:avLst/>
          </a:prstGeom>
          <a:solidFill>
            <a:srgbClr val="EDE8DF"/>
          </a:solidFill>
          <a:ln w="6350">
            <a:solidFill>
              <a:srgbClr val="D8D3CA"/>
            </a:solidFill>
            <a:prstDash val="solid"/>
          </a:ln>
        </p:spPr>
        <p:txBody>
          <a:bodyPr/>
          <a:lstStyle/>
          <a:p>
            <a:endParaRPr lang="en-AU"/>
          </a:p>
        </p:txBody>
      </p:sp>
      <p:sp>
        <p:nvSpPr>
          <p:cNvPr id="25" name="Text 23"/>
          <p:cNvSpPr/>
          <p:nvPr/>
        </p:nvSpPr>
        <p:spPr>
          <a:xfrm>
            <a:off x="7022592" y="2304288"/>
            <a:ext cx="4242816" cy="786384"/>
          </a:xfrm>
          <a:prstGeom prst="rect">
            <a:avLst/>
          </a:prstGeom>
          <a:noFill/>
          <a:ln/>
        </p:spPr>
        <p:txBody>
          <a:bodyPr wrap="square" lIns="0" tIns="0" rIns="0" bIns="0" rtlCol="0" anchor="ctr"/>
          <a:lstStyle/>
          <a:p>
            <a:pPr marL="0" indent="0" algn="l">
              <a:buNone/>
            </a:pPr>
            <a:r>
              <a:rPr lang="en-US" sz="1100" dirty="0">
                <a:solidFill>
                  <a:srgbClr val="12100E"/>
                </a:solidFill>
                <a:latin typeface="Calibri" pitchFamily="34" charset="0"/>
                <a:ea typeface="Calibri" pitchFamily="34" charset="-122"/>
                <a:cs typeface="Calibri" pitchFamily="34" charset="-120"/>
              </a:rPr>
              <a:t>Scalable, mix of quantitative (numbers) and qualitative (open text)</a:t>
            </a:r>
            <a:endParaRPr lang="en-US" sz="1100" dirty="0"/>
          </a:p>
        </p:txBody>
      </p:sp>
      <p:sp>
        <p:nvSpPr>
          <p:cNvPr id="26" name="Shape 24"/>
          <p:cNvSpPr/>
          <p:nvPr/>
        </p:nvSpPr>
        <p:spPr>
          <a:xfrm>
            <a:off x="365760" y="3127248"/>
            <a:ext cx="2194560" cy="859536"/>
          </a:xfrm>
          <a:prstGeom prst="rect">
            <a:avLst/>
          </a:prstGeom>
          <a:solidFill>
            <a:srgbClr val="FFFFFF"/>
          </a:solidFill>
          <a:ln w="6350">
            <a:solidFill>
              <a:srgbClr val="D8D3CA"/>
            </a:solidFill>
            <a:prstDash val="solid"/>
          </a:ln>
        </p:spPr>
        <p:txBody>
          <a:bodyPr/>
          <a:lstStyle/>
          <a:p>
            <a:endParaRPr lang="en-AU"/>
          </a:p>
        </p:txBody>
      </p:sp>
      <p:sp>
        <p:nvSpPr>
          <p:cNvPr id="27" name="Text 25"/>
          <p:cNvSpPr/>
          <p:nvPr/>
        </p:nvSpPr>
        <p:spPr>
          <a:xfrm>
            <a:off x="438912" y="3163824"/>
            <a:ext cx="2048256" cy="786384"/>
          </a:xfrm>
          <a:prstGeom prst="rect">
            <a:avLst/>
          </a:prstGeom>
          <a:noFill/>
          <a:ln/>
        </p:spPr>
        <p:txBody>
          <a:bodyPr wrap="square" lIns="0" tIns="0" rIns="0" bIns="0" rtlCol="0" anchor="ctr"/>
          <a:lstStyle/>
          <a:p>
            <a:pPr marL="0" indent="0" algn="ctr">
              <a:buNone/>
            </a:pPr>
            <a:r>
              <a:rPr lang="en-US" sz="1150" b="1" dirty="0">
                <a:solidFill>
                  <a:srgbClr val="6B6762"/>
                </a:solidFill>
                <a:latin typeface="Calibri" pitchFamily="34" charset="0"/>
                <a:ea typeface="Calibri" pitchFamily="34" charset="-122"/>
                <a:cs typeface="Calibri" pitchFamily="34" charset="-120"/>
              </a:rPr>
              <a:t>Access needed</a:t>
            </a:r>
            <a:endParaRPr lang="en-US" sz="1150" dirty="0"/>
          </a:p>
        </p:txBody>
      </p:sp>
      <p:sp>
        <p:nvSpPr>
          <p:cNvPr id="28" name="Shape 26"/>
          <p:cNvSpPr/>
          <p:nvPr/>
        </p:nvSpPr>
        <p:spPr>
          <a:xfrm>
            <a:off x="2560320" y="3127248"/>
            <a:ext cx="4389120" cy="859536"/>
          </a:xfrm>
          <a:prstGeom prst="rect">
            <a:avLst/>
          </a:prstGeom>
          <a:solidFill>
            <a:srgbClr val="FFFFFF"/>
          </a:solidFill>
          <a:ln w="6350">
            <a:solidFill>
              <a:srgbClr val="D8D3CA"/>
            </a:solidFill>
            <a:prstDash val="solid"/>
          </a:ln>
        </p:spPr>
        <p:txBody>
          <a:bodyPr/>
          <a:lstStyle/>
          <a:p>
            <a:endParaRPr lang="en-AU"/>
          </a:p>
        </p:txBody>
      </p:sp>
      <p:sp>
        <p:nvSpPr>
          <p:cNvPr id="29" name="Text 27"/>
          <p:cNvSpPr/>
          <p:nvPr/>
        </p:nvSpPr>
        <p:spPr>
          <a:xfrm>
            <a:off x="2633472" y="3163824"/>
            <a:ext cx="4242816" cy="786384"/>
          </a:xfrm>
          <a:prstGeom prst="rect">
            <a:avLst/>
          </a:prstGeom>
          <a:noFill/>
          <a:ln/>
        </p:spPr>
        <p:txBody>
          <a:bodyPr wrap="square" lIns="0" tIns="0" rIns="0" bIns="0" rtlCol="0" anchor="ctr"/>
          <a:lstStyle/>
          <a:p>
            <a:pPr marL="0" indent="0" algn="l">
              <a:buNone/>
            </a:pPr>
            <a:r>
              <a:rPr lang="en-US" sz="1100" dirty="0">
                <a:solidFill>
                  <a:srgbClr val="12100E"/>
                </a:solidFill>
                <a:latin typeface="Calibri" pitchFamily="34" charset="0"/>
                <a:ea typeface="Calibri" pitchFamily="34" charset="-122"/>
                <a:cs typeface="Calibri" pitchFamily="34" charset="-120"/>
              </a:rPr>
              <a:t>Time with individual users — can be remote (video call)</a:t>
            </a:r>
            <a:endParaRPr lang="en-US" sz="1100" dirty="0"/>
          </a:p>
        </p:txBody>
      </p:sp>
      <p:sp>
        <p:nvSpPr>
          <p:cNvPr id="30" name="Shape 28"/>
          <p:cNvSpPr/>
          <p:nvPr/>
        </p:nvSpPr>
        <p:spPr>
          <a:xfrm>
            <a:off x="6949440" y="3127248"/>
            <a:ext cx="4389120" cy="859536"/>
          </a:xfrm>
          <a:prstGeom prst="rect">
            <a:avLst/>
          </a:prstGeom>
          <a:solidFill>
            <a:srgbClr val="FFFFFF"/>
          </a:solidFill>
          <a:ln w="6350">
            <a:solidFill>
              <a:srgbClr val="D8D3CA"/>
            </a:solidFill>
            <a:prstDash val="solid"/>
          </a:ln>
        </p:spPr>
        <p:txBody>
          <a:bodyPr/>
          <a:lstStyle/>
          <a:p>
            <a:endParaRPr lang="en-AU"/>
          </a:p>
        </p:txBody>
      </p:sp>
      <p:sp>
        <p:nvSpPr>
          <p:cNvPr id="31" name="Text 29"/>
          <p:cNvSpPr/>
          <p:nvPr/>
        </p:nvSpPr>
        <p:spPr>
          <a:xfrm>
            <a:off x="7022592" y="3163824"/>
            <a:ext cx="4242816" cy="786384"/>
          </a:xfrm>
          <a:prstGeom prst="rect">
            <a:avLst/>
          </a:prstGeom>
          <a:noFill/>
          <a:ln/>
        </p:spPr>
        <p:txBody>
          <a:bodyPr wrap="square" lIns="0" tIns="0" rIns="0" bIns="0" rtlCol="0" anchor="ctr"/>
          <a:lstStyle/>
          <a:p>
            <a:pPr marL="0" indent="0" algn="l">
              <a:buNone/>
            </a:pPr>
            <a:r>
              <a:rPr lang="en-US" sz="1100" dirty="0">
                <a:solidFill>
                  <a:srgbClr val="12100E"/>
                </a:solidFill>
                <a:latin typeface="Calibri" pitchFamily="34" charset="0"/>
                <a:ea typeface="Calibri" pitchFamily="34" charset="-122"/>
                <a:cs typeface="Calibri" pitchFamily="34" charset="-120"/>
              </a:rPr>
              <a:t>Only needs a link or printed form — asynchronous</a:t>
            </a:r>
            <a:endParaRPr lang="en-US" sz="1100" dirty="0"/>
          </a:p>
        </p:txBody>
      </p:sp>
      <p:sp>
        <p:nvSpPr>
          <p:cNvPr id="32" name="Shape 30"/>
          <p:cNvSpPr/>
          <p:nvPr/>
        </p:nvSpPr>
        <p:spPr>
          <a:xfrm>
            <a:off x="365760" y="3986784"/>
            <a:ext cx="2194560" cy="859536"/>
          </a:xfrm>
          <a:prstGeom prst="rect">
            <a:avLst/>
          </a:prstGeom>
          <a:solidFill>
            <a:srgbClr val="EDE8DF"/>
          </a:solidFill>
          <a:ln w="6350">
            <a:solidFill>
              <a:srgbClr val="D8D3CA"/>
            </a:solidFill>
            <a:prstDash val="solid"/>
          </a:ln>
        </p:spPr>
        <p:txBody>
          <a:bodyPr/>
          <a:lstStyle/>
          <a:p>
            <a:endParaRPr lang="en-AU"/>
          </a:p>
        </p:txBody>
      </p:sp>
      <p:sp>
        <p:nvSpPr>
          <p:cNvPr id="33" name="Text 31"/>
          <p:cNvSpPr/>
          <p:nvPr/>
        </p:nvSpPr>
        <p:spPr>
          <a:xfrm>
            <a:off x="438912" y="4023360"/>
            <a:ext cx="2048256" cy="786384"/>
          </a:xfrm>
          <a:prstGeom prst="rect">
            <a:avLst/>
          </a:prstGeom>
          <a:noFill/>
          <a:ln/>
        </p:spPr>
        <p:txBody>
          <a:bodyPr wrap="square" lIns="0" tIns="0" rIns="0" bIns="0" rtlCol="0" anchor="ctr"/>
          <a:lstStyle/>
          <a:p>
            <a:pPr marL="0" indent="0" algn="ctr">
              <a:buNone/>
            </a:pPr>
            <a:r>
              <a:rPr lang="en-US" sz="1150" b="1" dirty="0">
                <a:solidFill>
                  <a:srgbClr val="6B6762"/>
                </a:solidFill>
                <a:latin typeface="Calibri" pitchFamily="34" charset="0"/>
                <a:ea typeface="Calibri" pitchFamily="34" charset="-122"/>
                <a:cs typeface="Calibri" pitchFamily="34" charset="-120"/>
              </a:rPr>
              <a:t>Main limitation</a:t>
            </a:r>
            <a:endParaRPr lang="en-US" sz="1150" dirty="0"/>
          </a:p>
        </p:txBody>
      </p:sp>
      <p:sp>
        <p:nvSpPr>
          <p:cNvPr id="34" name="Shape 32"/>
          <p:cNvSpPr/>
          <p:nvPr/>
        </p:nvSpPr>
        <p:spPr>
          <a:xfrm>
            <a:off x="2560320" y="3986784"/>
            <a:ext cx="4389120" cy="859536"/>
          </a:xfrm>
          <a:prstGeom prst="rect">
            <a:avLst/>
          </a:prstGeom>
          <a:solidFill>
            <a:srgbClr val="EDE8DF"/>
          </a:solidFill>
          <a:ln w="6350">
            <a:solidFill>
              <a:srgbClr val="D8D3CA"/>
            </a:solidFill>
            <a:prstDash val="solid"/>
          </a:ln>
        </p:spPr>
        <p:txBody>
          <a:bodyPr/>
          <a:lstStyle/>
          <a:p>
            <a:endParaRPr lang="en-AU"/>
          </a:p>
        </p:txBody>
      </p:sp>
      <p:sp>
        <p:nvSpPr>
          <p:cNvPr id="35" name="Text 33"/>
          <p:cNvSpPr/>
          <p:nvPr/>
        </p:nvSpPr>
        <p:spPr>
          <a:xfrm>
            <a:off x="2633472" y="4023360"/>
            <a:ext cx="4242816" cy="786384"/>
          </a:xfrm>
          <a:prstGeom prst="rect">
            <a:avLst/>
          </a:prstGeom>
          <a:noFill/>
          <a:ln/>
        </p:spPr>
        <p:txBody>
          <a:bodyPr wrap="square" lIns="0" tIns="0" rIns="0" bIns="0" rtlCol="0" anchor="ctr"/>
          <a:lstStyle/>
          <a:p>
            <a:pPr marL="0" indent="0" algn="l">
              <a:buNone/>
            </a:pPr>
            <a:r>
              <a:rPr lang="en-US" sz="1100" dirty="0">
                <a:solidFill>
                  <a:srgbClr val="12100E"/>
                </a:solidFill>
                <a:latin typeface="Calibri" pitchFamily="34" charset="0"/>
                <a:ea typeface="Calibri" pitchFamily="34" charset="-122"/>
                <a:cs typeface="Calibri" pitchFamily="34" charset="-120"/>
              </a:rPr>
              <a:t>Takes longer per participant; interviewer bias is a risk</a:t>
            </a:r>
            <a:endParaRPr lang="en-US" sz="1100" dirty="0"/>
          </a:p>
        </p:txBody>
      </p:sp>
      <p:sp>
        <p:nvSpPr>
          <p:cNvPr id="36" name="Shape 34"/>
          <p:cNvSpPr/>
          <p:nvPr/>
        </p:nvSpPr>
        <p:spPr>
          <a:xfrm>
            <a:off x="6949440" y="3986784"/>
            <a:ext cx="4389120" cy="859536"/>
          </a:xfrm>
          <a:prstGeom prst="rect">
            <a:avLst/>
          </a:prstGeom>
          <a:solidFill>
            <a:srgbClr val="EDE8DF"/>
          </a:solidFill>
          <a:ln w="6350">
            <a:solidFill>
              <a:srgbClr val="D8D3CA"/>
            </a:solidFill>
            <a:prstDash val="solid"/>
          </a:ln>
        </p:spPr>
        <p:txBody>
          <a:bodyPr/>
          <a:lstStyle/>
          <a:p>
            <a:endParaRPr lang="en-AU"/>
          </a:p>
        </p:txBody>
      </p:sp>
      <p:sp>
        <p:nvSpPr>
          <p:cNvPr id="37" name="Text 35"/>
          <p:cNvSpPr/>
          <p:nvPr/>
        </p:nvSpPr>
        <p:spPr>
          <a:xfrm>
            <a:off x="7022592" y="4023360"/>
            <a:ext cx="4242816" cy="786384"/>
          </a:xfrm>
          <a:prstGeom prst="rect">
            <a:avLst/>
          </a:prstGeom>
          <a:noFill/>
          <a:ln/>
        </p:spPr>
        <p:txBody>
          <a:bodyPr wrap="square" lIns="0" tIns="0" rIns="0" bIns="0" rtlCol="0" anchor="ctr"/>
          <a:lstStyle/>
          <a:p>
            <a:pPr marL="0" indent="0" algn="l">
              <a:buNone/>
            </a:pPr>
            <a:r>
              <a:rPr lang="en-US" sz="1100" dirty="0">
                <a:solidFill>
                  <a:srgbClr val="12100E"/>
                </a:solidFill>
                <a:latin typeface="Calibri" pitchFamily="34" charset="0"/>
                <a:ea typeface="Calibri" pitchFamily="34" charset="-122"/>
                <a:cs typeface="Calibri" pitchFamily="34" charset="-120"/>
              </a:rPr>
              <a:t>Low response rate if too long; no follow-up on interesting answers</a:t>
            </a:r>
            <a:endParaRPr lang="en-US" sz="1100" dirty="0"/>
          </a:p>
        </p:txBody>
      </p:sp>
      <p:sp>
        <p:nvSpPr>
          <p:cNvPr id="38" name="Shape 36"/>
          <p:cNvSpPr/>
          <p:nvPr/>
        </p:nvSpPr>
        <p:spPr>
          <a:xfrm>
            <a:off x="365760" y="4846320"/>
            <a:ext cx="2194560" cy="859536"/>
          </a:xfrm>
          <a:prstGeom prst="rect">
            <a:avLst/>
          </a:prstGeom>
          <a:solidFill>
            <a:srgbClr val="FFFFFF"/>
          </a:solidFill>
          <a:ln w="6350">
            <a:solidFill>
              <a:srgbClr val="D8D3CA"/>
            </a:solidFill>
            <a:prstDash val="solid"/>
          </a:ln>
        </p:spPr>
        <p:txBody>
          <a:bodyPr/>
          <a:lstStyle/>
          <a:p>
            <a:endParaRPr lang="en-AU"/>
          </a:p>
        </p:txBody>
      </p:sp>
      <p:sp>
        <p:nvSpPr>
          <p:cNvPr id="39" name="Text 37"/>
          <p:cNvSpPr/>
          <p:nvPr/>
        </p:nvSpPr>
        <p:spPr>
          <a:xfrm>
            <a:off x="438912" y="4882896"/>
            <a:ext cx="2048256" cy="786384"/>
          </a:xfrm>
          <a:prstGeom prst="rect">
            <a:avLst/>
          </a:prstGeom>
          <a:noFill/>
          <a:ln/>
        </p:spPr>
        <p:txBody>
          <a:bodyPr wrap="square" lIns="0" tIns="0" rIns="0" bIns="0" rtlCol="0" anchor="ctr"/>
          <a:lstStyle/>
          <a:p>
            <a:pPr marL="0" indent="0" algn="ctr">
              <a:buNone/>
            </a:pPr>
            <a:r>
              <a:rPr lang="en-US" sz="1150" b="1" dirty="0">
                <a:solidFill>
                  <a:srgbClr val="6B6762"/>
                </a:solidFill>
                <a:latin typeface="Calibri" pitchFamily="34" charset="0"/>
                <a:ea typeface="Calibri" pitchFamily="34" charset="-122"/>
                <a:cs typeface="Calibri" pitchFamily="34" charset="-120"/>
              </a:rPr>
              <a:t>Risk to watch</a:t>
            </a:r>
            <a:endParaRPr lang="en-US" sz="1150" dirty="0"/>
          </a:p>
        </p:txBody>
      </p:sp>
      <p:sp>
        <p:nvSpPr>
          <p:cNvPr id="40" name="Shape 38"/>
          <p:cNvSpPr/>
          <p:nvPr/>
        </p:nvSpPr>
        <p:spPr>
          <a:xfrm>
            <a:off x="2560320" y="4846320"/>
            <a:ext cx="4389120" cy="859536"/>
          </a:xfrm>
          <a:prstGeom prst="rect">
            <a:avLst/>
          </a:prstGeom>
          <a:solidFill>
            <a:srgbClr val="FFFFFF"/>
          </a:solidFill>
          <a:ln w="6350">
            <a:solidFill>
              <a:srgbClr val="D8D3CA"/>
            </a:solidFill>
            <a:prstDash val="solid"/>
          </a:ln>
        </p:spPr>
        <p:txBody>
          <a:bodyPr/>
          <a:lstStyle/>
          <a:p>
            <a:endParaRPr lang="en-AU"/>
          </a:p>
        </p:txBody>
      </p:sp>
      <p:sp>
        <p:nvSpPr>
          <p:cNvPr id="41" name="Text 39"/>
          <p:cNvSpPr/>
          <p:nvPr/>
        </p:nvSpPr>
        <p:spPr>
          <a:xfrm>
            <a:off x="2633472" y="4882896"/>
            <a:ext cx="4242816" cy="786384"/>
          </a:xfrm>
          <a:prstGeom prst="rect">
            <a:avLst/>
          </a:prstGeom>
          <a:noFill/>
          <a:ln/>
        </p:spPr>
        <p:txBody>
          <a:bodyPr wrap="square" lIns="0" tIns="0" rIns="0" bIns="0" rtlCol="0" anchor="ctr"/>
          <a:lstStyle/>
          <a:p>
            <a:pPr marL="0" indent="0" algn="l">
              <a:buNone/>
            </a:pPr>
            <a:r>
              <a:rPr lang="en-US" sz="1100" dirty="0">
                <a:solidFill>
                  <a:srgbClr val="12100E"/>
                </a:solidFill>
                <a:latin typeface="Calibri" pitchFamily="34" charset="0"/>
                <a:ea typeface="Calibri" pitchFamily="34" charset="-122"/>
                <a:cs typeface="Calibri" pitchFamily="34" charset="-120"/>
              </a:rPr>
              <a:t>You might lead the conversation without realising it</a:t>
            </a:r>
            <a:endParaRPr lang="en-US" sz="1100" dirty="0"/>
          </a:p>
        </p:txBody>
      </p:sp>
      <p:sp>
        <p:nvSpPr>
          <p:cNvPr id="42" name="Shape 40"/>
          <p:cNvSpPr/>
          <p:nvPr/>
        </p:nvSpPr>
        <p:spPr>
          <a:xfrm>
            <a:off x="6949440" y="4846320"/>
            <a:ext cx="4389120" cy="859536"/>
          </a:xfrm>
          <a:prstGeom prst="rect">
            <a:avLst/>
          </a:prstGeom>
          <a:solidFill>
            <a:srgbClr val="FFFFFF"/>
          </a:solidFill>
          <a:ln w="6350">
            <a:solidFill>
              <a:srgbClr val="D8D3CA"/>
            </a:solidFill>
            <a:prstDash val="solid"/>
          </a:ln>
        </p:spPr>
        <p:txBody>
          <a:bodyPr/>
          <a:lstStyle/>
          <a:p>
            <a:endParaRPr lang="en-AU"/>
          </a:p>
        </p:txBody>
      </p:sp>
      <p:sp>
        <p:nvSpPr>
          <p:cNvPr id="43" name="Text 41"/>
          <p:cNvSpPr/>
          <p:nvPr/>
        </p:nvSpPr>
        <p:spPr>
          <a:xfrm>
            <a:off x="7022592" y="4882896"/>
            <a:ext cx="4242816" cy="786384"/>
          </a:xfrm>
          <a:prstGeom prst="rect">
            <a:avLst/>
          </a:prstGeom>
          <a:noFill/>
          <a:ln/>
        </p:spPr>
        <p:txBody>
          <a:bodyPr wrap="square" lIns="0" tIns="0" rIns="0" bIns="0" rtlCol="0" anchor="ctr"/>
          <a:lstStyle/>
          <a:p>
            <a:pPr marL="0" indent="0" algn="l">
              <a:buNone/>
            </a:pPr>
            <a:r>
              <a:rPr lang="en-US" sz="1100" dirty="0">
                <a:solidFill>
                  <a:srgbClr val="12100E"/>
                </a:solidFill>
                <a:latin typeface="Calibri" pitchFamily="34" charset="0"/>
                <a:ea typeface="Calibri" pitchFamily="34" charset="-122"/>
                <a:cs typeface="Calibri" pitchFamily="34" charset="-120"/>
              </a:rPr>
              <a:t>Leading or ambiguous questions skew every single response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Shape 2"/>
          <p:cNvSpPr/>
          <p:nvPr/>
        </p:nvSpPr>
        <p:spPr>
          <a:xfrm>
            <a:off x="9966960" y="164592"/>
            <a:ext cx="1920240" cy="347472"/>
          </a:xfrm>
          <a:prstGeom prst="rect">
            <a:avLst/>
          </a:prstGeom>
          <a:solidFill>
            <a:srgbClr val="2C2A28"/>
          </a:solidFill>
          <a:ln w="12700">
            <a:solidFill>
              <a:srgbClr val="2C2A28"/>
            </a:solidFill>
            <a:prstDash val="solid"/>
          </a:ln>
        </p:spPr>
        <p:txBody>
          <a:bodyPr/>
          <a:lstStyle/>
          <a:p>
            <a:endParaRPr lang="en-AU"/>
          </a:p>
        </p:txBody>
      </p:sp>
      <p:sp>
        <p:nvSpPr>
          <p:cNvPr id="5" name="Text 3"/>
          <p:cNvSpPr/>
          <p:nvPr/>
        </p:nvSpPr>
        <p:spPr>
          <a:xfrm>
            <a:off x="9966960" y="164592"/>
            <a:ext cx="192024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EXPLICIT</a:t>
            </a:r>
            <a:endParaRPr lang="en-US" sz="850" dirty="0"/>
          </a:p>
        </p:txBody>
      </p:sp>
      <p:sp>
        <p:nvSpPr>
          <p:cNvPr id="6" name="Text 4"/>
          <p:cNvSpPr/>
          <p:nvPr/>
        </p:nvSpPr>
        <p:spPr>
          <a:xfrm>
            <a:off x="365760" y="182880"/>
            <a:ext cx="7315200" cy="256032"/>
          </a:xfrm>
          <a:prstGeom prst="rect">
            <a:avLst/>
          </a:prstGeom>
          <a:noFill/>
          <a:ln/>
        </p:spPr>
        <p:txBody>
          <a:bodyPr wrap="square" lIns="0" tIns="0" rIns="0" bIns="0" rtlCol="0" anchor="ctr"/>
          <a:lstStyle/>
          <a:p>
            <a:pPr marL="0" indent="0" algn="l">
              <a:buNone/>
            </a:pPr>
            <a:r>
              <a:rPr lang="en-US" sz="800" kern="0" spc="100" dirty="0">
                <a:solidFill>
                  <a:srgbClr val="6B6762"/>
                </a:solidFill>
                <a:latin typeface="Courier New" pitchFamily="34" charset="0"/>
                <a:ea typeface="Courier New" pitchFamily="34" charset="-122"/>
                <a:cs typeface="Courier New" pitchFamily="34" charset="-120"/>
              </a:rPr>
              <a:t>D3.1 · DATA COLLECTION DESIGN</a:t>
            </a:r>
            <a:endParaRPr lang="en-US" sz="800" dirty="0"/>
          </a:p>
        </p:txBody>
      </p:sp>
      <p:sp>
        <p:nvSpPr>
          <p:cNvPr id="7" name="Text 5"/>
          <p:cNvSpPr/>
          <p:nvPr/>
        </p:nvSpPr>
        <p:spPr>
          <a:xfrm>
            <a:off x="365760" y="457200"/>
            <a:ext cx="8229600" cy="457200"/>
          </a:xfrm>
          <a:prstGeom prst="rect">
            <a:avLst/>
          </a:prstGeom>
          <a:noFill/>
          <a:ln/>
        </p:spPr>
        <p:txBody>
          <a:bodyPr wrap="square" lIns="0" tIns="0" rIns="0" bIns="0" rtlCol="0" anchor="ctr"/>
          <a:lstStyle/>
          <a:p>
            <a:pPr marL="0" indent="0" algn="l">
              <a:buNone/>
            </a:pPr>
            <a:r>
              <a:rPr lang="en-US" sz="2400" dirty="0">
                <a:solidFill>
                  <a:srgbClr val="12100E"/>
                </a:solidFill>
                <a:latin typeface="Bookman Old Style" pitchFamily="34" charset="0"/>
                <a:ea typeface="Bookman Old Style" pitchFamily="34" charset="-122"/>
                <a:cs typeface="Bookman Old Style" pitchFamily="34" charset="-120"/>
              </a:rPr>
              <a:t>Designing Good Questions</a:t>
            </a:r>
            <a:endParaRPr lang="en-US" sz="2400" dirty="0"/>
          </a:p>
        </p:txBody>
      </p:sp>
      <p:sp>
        <p:nvSpPr>
          <p:cNvPr id="8" name="Shape 6"/>
          <p:cNvSpPr/>
          <p:nvPr/>
        </p:nvSpPr>
        <p:spPr>
          <a:xfrm>
            <a:off x="365760" y="1051560"/>
            <a:ext cx="3703320" cy="4572000"/>
          </a:xfrm>
          <a:prstGeom prst="roundRect">
            <a:avLst>
              <a:gd name="adj" fmla="val 2469"/>
            </a:avLst>
          </a:prstGeom>
          <a:solidFill>
            <a:srgbClr val="E8F2EE"/>
          </a:solidFill>
          <a:ln w="19050">
            <a:solidFill>
              <a:srgbClr val="1B5E47"/>
            </a:solidFill>
            <a:prstDash val="solid"/>
          </a:ln>
          <a:effectLst>
            <a:outerShdw blurRad="76200" dist="25400" dir="2700000" algn="bl" rotWithShape="0">
              <a:srgbClr val="000000">
                <a:alpha val="10000"/>
              </a:srgbClr>
            </a:outerShdw>
          </a:effectLst>
        </p:spPr>
        <p:txBody>
          <a:bodyPr/>
          <a:lstStyle/>
          <a:p>
            <a:endParaRPr lang="en-AU"/>
          </a:p>
        </p:txBody>
      </p:sp>
      <p:sp>
        <p:nvSpPr>
          <p:cNvPr id="9" name="Shape 7"/>
          <p:cNvSpPr/>
          <p:nvPr/>
        </p:nvSpPr>
        <p:spPr>
          <a:xfrm>
            <a:off x="457200" y="1143000"/>
            <a:ext cx="3520440" cy="402336"/>
          </a:xfrm>
          <a:prstGeom prst="roundRect">
            <a:avLst>
              <a:gd name="adj" fmla="val 15909"/>
            </a:avLst>
          </a:prstGeom>
          <a:solidFill>
            <a:srgbClr val="1B5E47"/>
          </a:solidFill>
          <a:ln w="12700">
            <a:solidFill>
              <a:srgbClr val="1B5E47"/>
            </a:solidFill>
            <a:prstDash val="solid"/>
          </a:ln>
        </p:spPr>
        <p:txBody>
          <a:bodyPr/>
          <a:lstStyle/>
          <a:p>
            <a:endParaRPr lang="en-AU"/>
          </a:p>
        </p:txBody>
      </p:sp>
      <p:sp>
        <p:nvSpPr>
          <p:cNvPr id="10" name="Text 8"/>
          <p:cNvSpPr/>
          <p:nvPr/>
        </p:nvSpPr>
        <p:spPr>
          <a:xfrm>
            <a:off x="457200" y="1143000"/>
            <a:ext cx="352044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Open vs Closed Questions</a:t>
            </a:r>
            <a:endParaRPr lang="en-US" sz="1100" dirty="0"/>
          </a:p>
        </p:txBody>
      </p:sp>
      <p:sp>
        <p:nvSpPr>
          <p:cNvPr id="11" name="Text 9"/>
          <p:cNvSpPr/>
          <p:nvPr/>
        </p:nvSpPr>
        <p:spPr>
          <a:xfrm>
            <a:off x="502920" y="1664208"/>
            <a:ext cx="3429000" cy="310896"/>
          </a:xfrm>
          <a:prstGeom prst="rect">
            <a:avLst/>
          </a:prstGeom>
          <a:noFill/>
          <a:ln/>
        </p:spPr>
        <p:txBody>
          <a:bodyPr wrap="square" lIns="0" tIns="0" rIns="0" bIns="0" rtlCol="0" anchor="ctr"/>
          <a:lstStyle/>
          <a:p>
            <a:pPr marL="0" indent="0">
              <a:buNone/>
            </a:pPr>
            <a:r>
              <a:rPr lang="en-US" sz="950" b="1" dirty="0">
                <a:solidFill>
                  <a:srgbClr val="1B5E47"/>
                </a:solidFill>
                <a:latin typeface="Courier New" pitchFamily="34" charset="0"/>
                <a:ea typeface="Courier New" pitchFamily="34" charset="-122"/>
                <a:cs typeface="Courier New" pitchFamily="34" charset="-120"/>
              </a:rPr>
              <a:t>Closed</a:t>
            </a:r>
            <a:endParaRPr lang="en-US" sz="950" dirty="0"/>
          </a:p>
        </p:txBody>
      </p:sp>
      <p:sp>
        <p:nvSpPr>
          <p:cNvPr id="12" name="Text 10"/>
          <p:cNvSpPr/>
          <p:nvPr/>
        </p:nvSpPr>
        <p:spPr>
          <a:xfrm>
            <a:off x="502920" y="1975104"/>
            <a:ext cx="3429000" cy="868680"/>
          </a:xfrm>
          <a:prstGeom prst="rect">
            <a:avLst/>
          </a:prstGeom>
          <a:noFill/>
          <a:ln/>
        </p:spPr>
        <p:txBody>
          <a:bodyPr wrap="square" lIns="0" tIns="0" rIns="0" bIns="0" rtlCol="0" anchor="ctr"/>
          <a:lstStyle/>
          <a:p>
            <a:pPr marL="0" indent="0">
              <a:buNone/>
            </a:pPr>
            <a:r>
              <a:rPr lang="en-US" sz="1100" dirty="0">
                <a:solidFill>
                  <a:srgbClr val="12100E"/>
                </a:solidFill>
                <a:latin typeface="Calibri" pitchFamily="34" charset="0"/>
                <a:ea typeface="Calibri" pitchFamily="34" charset="-122"/>
                <a:cs typeface="Calibri" pitchFamily="34" charset="-120"/>
              </a:rPr>
              <a:t>Fixed options (yes/no, rating scale, multiple choice) · Easy to analyse · Misses nuance</a:t>
            </a:r>
            <a:endParaRPr lang="en-US" sz="1100" dirty="0"/>
          </a:p>
        </p:txBody>
      </p:sp>
      <p:sp>
        <p:nvSpPr>
          <p:cNvPr id="13" name="Text 11"/>
          <p:cNvSpPr/>
          <p:nvPr/>
        </p:nvSpPr>
        <p:spPr>
          <a:xfrm>
            <a:off x="502920" y="2898648"/>
            <a:ext cx="3429000" cy="310896"/>
          </a:xfrm>
          <a:prstGeom prst="rect">
            <a:avLst/>
          </a:prstGeom>
          <a:noFill/>
          <a:ln/>
        </p:spPr>
        <p:txBody>
          <a:bodyPr wrap="square" lIns="0" tIns="0" rIns="0" bIns="0" rtlCol="0" anchor="ctr"/>
          <a:lstStyle/>
          <a:p>
            <a:pPr marL="0" indent="0">
              <a:buNone/>
            </a:pPr>
            <a:r>
              <a:rPr lang="en-US" sz="950" b="1" dirty="0">
                <a:solidFill>
                  <a:srgbClr val="1B5E47"/>
                </a:solidFill>
                <a:latin typeface="Courier New" pitchFamily="34" charset="0"/>
                <a:ea typeface="Courier New" pitchFamily="34" charset="-122"/>
                <a:cs typeface="Courier New" pitchFamily="34" charset="-120"/>
              </a:rPr>
              <a:t>Open</a:t>
            </a:r>
            <a:endParaRPr lang="en-US" sz="950" dirty="0"/>
          </a:p>
        </p:txBody>
      </p:sp>
      <p:sp>
        <p:nvSpPr>
          <p:cNvPr id="14" name="Text 12"/>
          <p:cNvSpPr/>
          <p:nvPr/>
        </p:nvSpPr>
        <p:spPr>
          <a:xfrm>
            <a:off x="502920" y="3209544"/>
            <a:ext cx="3429000" cy="868680"/>
          </a:xfrm>
          <a:prstGeom prst="rect">
            <a:avLst/>
          </a:prstGeom>
          <a:noFill/>
          <a:ln/>
        </p:spPr>
        <p:txBody>
          <a:bodyPr wrap="square" lIns="0" tIns="0" rIns="0" bIns="0" rtlCol="0" anchor="ctr"/>
          <a:lstStyle/>
          <a:p>
            <a:pPr marL="0" indent="0">
              <a:buNone/>
            </a:pPr>
            <a:r>
              <a:rPr lang="en-US" sz="1100" dirty="0">
                <a:solidFill>
                  <a:srgbClr val="12100E"/>
                </a:solidFill>
                <a:latin typeface="Calibri" pitchFamily="34" charset="0"/>
                <a:ea typeface="Calibri" pitchFamily="34" charset="-122"/>
                <a:cs typeface="Calibri" pitchFamily="34" charset="-120"/>
              </a:rPr>
              <a:t>Free-text response · Rich qualitative data · Harder to summarise across many respondents</a:t>
            </a:r>
            <a:endParaRPr lang="en-US" sz="1100" dirty="0"/>
          </a:p>
        </p:txBody>
      </p:sp>
      <p:sp>
        <p:nvSpPr>
          <p:cNvPr id="15" name="Text 13"/>
          <p:cNvSpPr/>
          <p:nvPr/>
        </p:nvSpPr>
        <p:spPr>
          <a:xfrm>
            <a:off x="502920" y="4133088"/>
            <a:ext cx="3429000" cy="310896"/>
          </a:xfrm>
          <a:prstGeom prst="rect">
            <a:avLst/>
          </a:prstGeom>
          <a:noFill/>
          <a:ln/>
        </p:spPr>
        <p:txBody>
          <a:bodyPr wrap="square" lIns="0" tIns="0" rIns="0" bIns="0" rtlCol="0" anchor="ctr"/>
          <a:lstStyle/>
          <a:p>
            <a:pPr marL="0" indent="0">
              <a:buNone/>
            </a:pPr>
            <a:r>
              <a:rPr lang="en-US" sz="950" b="1" dirty="0">
                <a:solidFill>
                  <a:srgbClr val="1B5E47"/>
                </a:solidFill>
                <a:latin typeface="Courier New" pitchFamily="34" charset="0"/>
                <a:ea typeface="Courier New" pitchFamily="34" charset="-122"/>
                <a:cs typeface="Courier New" pitchFamily="34" charset="-120"/>
              </a:rPr>
              <a:t>Rule of thumb</a:t>
            </a:r>
            <a:endParaRPr lang="en-US" sz="950" dirty="0"/>
          </a:p>
        </p:txBody>
      </p:sp>
      <p:sp>
        <p:nvSpPr>
          <p:cNvPr id="16" name="Text 14"/>
          <p:cNvSpPr/>
          <p:nvPr/>
        </p:nvSpPr>
        <p:spPr>
          <a:xfrm>
            <a:off x="502920" y="4443984"/>
            <a:ext cx="3429000" cy="868680"/>
          </a:xfrm>
          <a:prstGeom prst="rect">
            <a:avLst/>
          </a:prstGeom>
          <a:noFill/>
          <a:ln/>
        </p:spPr>
        <p:txBody>
          <a:bodyPr wrap="square" lIns="0" tIns="0" rIns="0" bIns="0" rtlCol="0" anchor="ctr"/>
          <a:lstStyle/>
          <a:p>
            <a:pPr marL="0" indent="0">
              <a:buNone/>
            </a:pPr>
            <a:r>
              <a:rPr lang="en-US" sz="1100" dirty="0">
                <a:solidFill>
                  <a:srgbClr val="12100E"/>
                </a:solidFill>
                <a:latin typeface="Calibri" pitchFamily="34" charset="0"/>
                <a:ea typeface="Calibri" pitchFamily="34" charset="-122"/>
                <a:cs typeface="Calibri" pitchFamily="34" charset="-120"/>
              </a:rPr>
              <a:t>You need both. Closed for patterns; open to understand why.</a:t>
            </a:r>
            <a:endParaRPr lang="en-US" sz="1100" dirty="0"/>
          </a:p>
        </p:txBody>
      </p:sp>
      <p:sp>
        <p:nvSpPr>
          <p:cNvPr id="17" name="Shape 15"/>
          <p:cNvSpPr/>
          <p:nvPr/>
        </p:nvSpPr>
        <p:spPr>
          <a:xfrm>
            <a:off x="4261104" y="1051560"/>
            <a:ext cx="3703320" cy="4572000"/>
          </a:xfrm>
          <a:prstGeom prst="roundRect">
            <a:avLst>
              <a:gd name="adj" fmla="val 2469"/>
            </a:avLst>
          </a:prstGeom>
          <a:solidFill>
            <a:srgbClr val="F9ECED"/>
          </a:solidFill>
          <a:ln w="19050">
            <a:solidFill>
              <a:srgbClr val="8C1F28"/>
            </a:solidFill>
            <a:prstDash val="solid"/>
          </a:ln>
          <a:effectLst>
            <a:outerShdw blurRad="76200" dist="25400" dir="2700000" algn="bl" rotWithShape="0">
              <a:srgbClr val="000000">
                <a:alpha val="10000"/>
              </a:srgbClr>
            </a:outerShdw>
          </a:effectLst>
        </p:spPr>
        <p:txBody>
          <a:bodyPr/>
          <a:lstStyle/>
          <a:p>
            <a:endParaRPr lang="en-AU"/>
          </a:p>
        </p:txBody>
      </p:sp>
      <p:sp>
        <p:nvSpPr>
          <p:cNvPr id="18" name="Shape 16"/>
          <p:cNvSpPr/>
          <p:nvPr/>
        </p:nvSpPr>
        <p:spPr>
          <a:xfrm>
            <a:off x="4352544" y="1143000"/>
            <a:ext cx="3520440" cy="402336"/>
          </a:xfrm>
          <a:prstGeom prst="roundRect">
            <a:avLst>
              <a:gd name="adj" fmla="val 15909"/>
            </a:avLst>
          </a:prstGeom>
          <a:solidFill>
            <a:srgbClr val="8C1F28"/>
          </a:solidFill>
          <a:ln w="12700">
            <a:solidFill>
              <a:srgbClr val="8C1F28"/>
            </a:solidFill>
            <a:prstDash val="solid"/>
          </a:ln>
        </p:spPr>
        <p:txBody>
          <a:bodyPr/>
          <a:lstStyle/>
          <a:p>
            <a:endParaRPr lang="en-AU"/>
          </a:p>
        </p:txBody>
      </p:sp>
      <p:sp>
        <p:nvSpPr>
          <p:cNvPr id="19" name="Text 17"/>
          <p:cNvSpPr/>
          <p:nvPr/>
        </p:nvSpPr>
        <p:spPr>
          <a:xfrm>
            <a:off x="4352544" y="1143000"/>
            <a:ext cx="352044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Leading Questions — Avoid</a:t>
            </a:r>
            <a:endParaRPr lang="en-US" sz="1100" dirty="0"/>
          </a:p>
        </p:txBody>
      </p:sp>
      <p:sp>
        <p:nvSpPr>
          <p:cNvPr id="20" name="Text 18"/>
          <p:cNvSpPr/>
          <p:nvPr/>
        </p:nvSpPr>
        <p:spPr>
          <a:xfrm>
            <a:off x="4398264" y="1664208"/>
            <a:ext cx="3429000" cy="310896"/>
          </a:xfrm>
          <a:prstGeom prst="rect">
            <a:avLst/>
          </a:prstGeom>
          <a:noFill/>
          <a:ln/>
        </p:spPr>
        <p:txBody>
          <a:bodyPr wrap="square" lIns="0" tIns="0" rIns="0" bIns="0" rtlCol="0" anchor="ctr"/>
          <a:lstStyle/>
          <a:p>
            <a:pPr marL="0" indent="0">
              <a:buNone/>
            </a:pPr>
            <a:r>
              <a:rPr lang="en-US" sz="950" b="1" dirty="0">
                <a:solidFill>
                  <a:srgbClr val="8C1F28"/>
                </a:solidFill>
                <a:latin typeface="Courier New" pitchFamily="34" charset="0"/>
                <a:ea typeface="Courier New" pitchFamily="34" charset="-122"/>
                <a:cs typeface="Courier New" pitchFamily="34" charset="-120"/>
              </a:rPr>
              <a:t>❌ Leading</a:t>
            </a:r>
            <a:endParaRPr lang="en-US" sz="950" dirty="0"/>
          </a:p>
        </p:txBody>
      </p:sp>
      <p:sp>
        <p:nvSpPr>
          <p:cNvPr id="21" name="Text 19"/>
          <p:cNvSpPr/>
          <p:nvPr/>
        </p:nvSpPr>
        <p:spPr>
          <a:xfrm>
            <a:off x="4398264" y="1975104"/>
            <a:ext cx="3429000" cy="868680"/>
          </a:xfrm>
          <a:prstGeom prst="rect">
            <a:avLst/>
          </a:prstGeom>
          <a:noFill/>
          <a:ln/>
        </p:spPr>
        <p:txBody>
          <a:bodyPr wrap="square" lIns="0" tIns="0" rIns="0" bIns="0" rtlCol="0" anchor="ctr"/>
          <a:lstStyle/>
          <a:p>
            <a:pPr marL="0" indent="0">
              <a:buNone/>
            </a:pPr>
            <a:r>
              <a:rPr lang="en-US" sz="1100" dirty="0">
                <a:solidFill>
                  <a:srgbClr val="12100E"/>
                </a:solidFill>
                <a:latin typeface="Calibri" pitchFamily="34" charset="0"/>
                <a:ea typeface="Calibri" pitchFamily="34" charset="-122"/>
                <a:cs typeface="Calibri" pitchFamily="34" charset="-120"/>
              </a:rPr>
              <a:t>"Don't you find it frustrating when apps are slow?"</a:t>
            </a:r>
            <a:endParaRPr lang="en-US" sz="1100" dirty="0"/>
          </a:p>
        </p:txBody>
      </p:sp>
      <p:sp>
        <p:nvSpPr>
          <p:cNvPr id="22" name="Text 20"/>
          <p:cNvSpPr/>
          <p:nvPr/>
        </p:nvSpPr>
        <p:spPr>
          <a:xfrm>
            <a:off x="4398264" y="2898648"/>
            <a:ext cx="3429000" cy="310896"/>
          </a:xfrm>
          <a:prstGeom prst="rect">
            <a:avLst/>
          </a:prstGeom>
          <a:noFill/>
          <a:ln/>
        </p:spPr>
        <p:txBody>
          <a:bodyPr wrap="square" lIns="0" tIns="0" rIns="0" bIns="0" rtlCol="0" anchor="ctr"/>
          <a:lstStyle/>
          <a:p>
            <a:pPr marL="0" indent="0">
              <a:buNone/>
            </a:pPr>
            <a:r>
              <a:rPr lang="en-US" sz="950" b="1" dirty="0">
                <a:solidFill>
                  <a:srgbClr val="8C1F28"/>
                </a:solidFill>
                <a:latin typeface="Courier New" pitchFamily="34" charset="0"/>
                <a:ea typeface="Courier New" pitchFamily="34" charset="-122"/>
                <a:cs typeface="Courier New" pitchFamily="34" charset="-120"/>
              </a:rPr>
              <a:t>✅ Neutral</a:t>
            </a:r>
            <a:endParaRPr lang="en-US" sz="950" dirty="0"/>
          </a:p>
        </p:txBody>
      </p:sp>
      <p:sp>
        <p:nvSpPr>
          <p:cNvPr id="23" name="Text 21"/>
          <p:cNvSpPr/>
          <p:nvPr/>
        </p:nvSpPr>
        <p:spPr>
          <a:xfrm>
            <a:off x="4398264" y="3209544"/>
            <a:ext cx="3429000" cy="868680"/>
          </a:xfrm>
          <a:prstGeom prst="rect">
            <a:avLst/>
          </a:prstGeom>
          <a:noFill/>
          <a:ln/>
        </p:spPr>
        <p:txBody>
          <a:bodyPr wrap="square" lIns="0" tIns="0" rIns="0" bIns="0" rtlCol="0" anchor="ctr"/>
          <a:lstStyle/>
          <a:p>
            <a:pPr marL="0" indent="0">
              <a:buNone/>
            </a:pPr>
            <a:r>
              <a:rPr lang="en-US" sz="1100" dirty="0">
                <a:solidFill>
                  <a:srgbClr val="12100E"/>
                </a:solidFill>
                <a:latin typeface="Calibri" pitchFamily="34" charset="0"/>
                <a:ea typeface="Calibri" pitchFamily="34" charset="-122"/>
                <a:cs typeface="Calibri" pitchFamily="34" charset="-120"/>
              </a:rPr>
              <a:t>"Describe your experience when an app is slow to respond."</a:t>
            </a:r>
            <a:endParaRPr lang="en-US" sz="1100" dirty="0"/>
          </a:p>
        </p:txBody>
      </p:sp>
      <p:sp>
        <p:nvSpPr>
          <p:cNvPr id="24" name="Text 22"/>
          <p:cNvSpPr/>
          <p:nvPr/>
        </p:nvSpPr>
        <p:spPr>
          <a:xfrm>
            <a:off x="4398264" y="4133088"/>
            <a:ext cx="3429000" cy="310896"/>
          </a:xfrm>
          <a:prstGeom prst="rect">
            <a:avLst/>
          </a:prstGeom>
          <a:noFill/>
          <a:ln/>
        </p:spPr>
        <p:txBody>
          <a:bodyPr wrap="square" lIns="0" tIns="0" rIns="0" bIns="0" rtlCol="0" anchor="ctr"/>
          <a:lstStyle/>
          <a:p>
            <a:pPr marL="0" indent="0">
              <a:buNone/>
            </a:pPr>
            <a:r>
              <a:rPr lang="en-US" sz="950" b="1" dirty="0">
                <a:solidFill>
                  <a:srgbClr val="8C1F28"/>
                </a:solidFill>
                <a:latin typeface="Courier New" pitchFamily="34" charset="0"/>
                <a:ea typeface="Courier New" pitchFamily="34" charset="-122"/>
                <a:cs typeface="Courier New" pitchFamily="34" charset="-120"/>
              </a:rPr>
              <a:t>Why it matters</a:t>
            </a:r>
            <a:endParaRPr lang="en-US" sz="950" dirty="0"/>
          </a:p>
        </p:txBody>
      </p:sp>
      <p:sp>
        <p:nvSpPr>
          <p:cNvPr id="25" name="Text 23"/>
          <p:cNvSpPr/>
          <p:nvPr/>
        </p:nvSpPr>
        <p:spPr>
          <a:xfrm>
            <a:off x="4398264" y="4443984"/>
            <a:ext cx="3429000" cy="868680"/>
          </a:xfrm>
          <a:prstGeom prst="rect">
            <a:avLst/>
          </a:prstGeom>
          <a:noFill/>
          <a:ln/>
        </p:spPr>
        <p:txBody>
          <a:bodyPr wrap="square" lIns="0" tIns="0" rIns="0" bIns="0" rtlCol="0" anchor="ctr"/>
          <a:lstStyle/>
          <a:p>
            <a:pPr marL="0" indent="0">
              <a:buNone/>
            </a:pPr>
            <a:r>
              <a:rPr lang="en-US" sz="1100" dirty="0">
                <a:solidFill>
                  <a:srgbClr val="12100E"/>
                </a:solidFill>
                <a:latin typeface="Calibri" pitchFamily="34" charset="0"/>
                <a:ea typeface="Calibri" pitchFamily="34" charset="-122"/>
                <a:cs typeface="Calibri" pitchFamily="34" charset="-120"/>
              </a:rPr>
              <a:t>A leading question embeds the answer. You're measuring your assumption, not the user's experience.</a:t>
            </a:r>
            <a:endParaRPr lang="en-US" sz="1100" dirty="0"/>
          </a:p>
        </p:txBody>
      </p:sp>
      <p:sp>
        <p:nvSpPr>
          <p:cNvPr id="26" name="Shape 24"/>
          <p:cNvSpPr/>
          <p:nvPr/>
        </p:nvSpPr>
        <p:spPr>
          <a:xfrm>
            <a:off x="8156448" y="1051560"/>
            <a:ext cx="3703320" cy="4572000"/>
          </a:xfrm>
          <a:prstGeom prst="roundRect">
            <a:avLst>
              <a:gd name="adj" fmla="val 2469"/>
            </a:avLst>
          </a:prstGeom>
          <a:solidFill>
            <a:srgbClr val="ECEEF8"/>
          </a:solidFill>
          <a:ln w="19050">
            <a:solidFill>
              <a:srgbClr val="2B3A8C"/>
            </a:solidFill>
            <a:prstDash val="solid"/>
          </a:ln>
          <a:effectLst>
            <a:outerShdw blurRad="76200" dist="25400" dir="2700000" algn="bl" rotWithShape="0">
              <a:srgbClr val="000000">
                <a:alpha val="10000"/>
              </a:srgbClr>
            </a:outerShdw>
          </a:effectLst>
        </p:spPr>
        <p:txBody>
          <a:bodyPr/>
          <a:lstStyle/>
          <a:p>
            <a:endParaRPr lang="en-AU"/>
          </a:p>
        </p:txBody>
      </p:sp>
      <p:sp>
        <p:nvSpPr>
          <p:cNvPr id="27" name="Shape 25"/>
          <p:cNvSpPr/>
          <p:nvPr/>
        </p:nvSpPr>
        <p:spPr>
          <a:xfrm>
            <a:off x="8247888" y="1143000"/>
            <a:ext cx="3520440" cy="402336"/>
          </a:xfrm>
          <a:prstGeom prst="roundRect">
            <a:avLst>
              <a:gd name="adj" fmla="val 15909"/>
            </a:avLst>
          </a:prstGeom>
          <a:solidFill>
            <a:srgbClr val="2B3A8C"/>
          </a:solidFill>
          <a:ln w="12700">
            <a:solidFill>
              <a:srgbClr val="2B3A8C"/>
            </a:solidFill>
            <a:prstDash val="solid"/>
          </a:ln>
        </p:spPr>
        <p:txBody>
          <a:bodyPr/>
          <a:lstStyle/>
          <a:p>
            <a:endParaRPr lang="en-AU"/>
          </a:p>
        </p:txBody>
      </p:sp>
      <p:sp>
        <p:nvSpPr>
          <p:cNvPr id="28" name="Text 26"/>
          <p:cNvSpPr/>
          <p:nvPr/>
        </p:nvSpPr>
        <p:spPr>
          <a:xfrm>
            <a:off x="8247888" y="1143000"/>
            <a:ext cx="352044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Asking About the Real Problem</a:t>
            </a:r>
            <a:endParaRPr lang="en-US" sz="1100" dirty="0"/>
          </a:p>
        </p:txBody>
      </p:sp>
      <p:sp>
        <p:nvSpPr>
          <p:cNvPr id="29" name="Text 27"/>
          <p:cNvSpPr/>
          <p:nvPr/>
        </p:nvSpPr>
        <p:spPr>
          <a:xfrm>
            <a:off x="8293608" y="1664208"/>
            <a:ext cx="3429000" cy="310896"/>
          </a:xfrm>
          <a:prstGeom prst="rect">
            <a:avLst/>
          </a:prstGeom>
          <a:noFill/>
          <a:ln/>
        </p:spPr>
        <p:txBody>
          <a:bodyPr wrap="square" lIns="0" tIns="0" rIns="0" bIns="0" rtlCol="0" anchor="ctr"/>
          <a:lstStyle/>
          <a:p>
            <a:pPr marL="0" indent="0">
              <a:buNone/>
            </a:pPr>
            <a:r>
              <a:rPr lang="en-US" sz="950" b="1" dirty="0">
                <a:solidFill>
                  <a:srgbClr val="2B3A8C"/>
                </a:solidFill>
                <a:latin typeface="Courier New" pitchFamily="34" charset="0"/>
                <a:ea typeface="Courier New" pitchFamily="34" charset="-122"/>
                <a:cs typeface="Courier New" pitchFamily="34" charset="-120"/>
              </a:rPr>
              <a:t>❌ Vague</a:t>
            </a:r>
            <a:endParaRPr lang="en-US" sz="950" dirty="0"/>
          </a:p>
        </p:txBody>
      </p:sp>
      <p:sp>
        <p:nvSpPr>
          <p:cNvPr id="30" name="Text 28"/>
          <p:cNvSpPr/>
          <p:nvPr/>
        </p:nvSpPr>
        <p:spPr>
          <a:xfrm>
            <a:off x="8293608" y="1975104"/>
            <a:ext cx="3429000" cy="868680"/>
          </a:xfrm>
          <a:prstGeom prst="rect">
            <a:avLst/>
          </a:prstGeom>
          <a:noFill/>
          <a:ln/>
        </p:spPr>
        <p:txBody>
          <a:bodyPr wrap="square" lIns="0" tIns="0" rIns="0" bIns="0" rtlCol="0" anchor="ctr"/>
          <a:lstStyle/>
          <a:p>
            <a:pPr marL="0" indent="0">
              <a:buNone/>
            </a:pPr>
            <a:r>
              <a:rPr lang="en-US" sz="1100" dirty="0">
                <a:solidFill>
                  <a:srgbClr val="12100E"/>
                </a:solidFill>
                <a:latin typeface="Calibri" pitchFamily="34" charset="0"/>
                <a:ea typeface="Calibri" pitchFamily="34" charset="-122"/>
                <a:cs typeface="Calibri" pitchFamily="34" charset="-120"/>
              </a:rPr>
              <a:t>"What problems do you have with organisation?"</a:t>
            </a:r>
            <a:endParaRPr lang="en-US" sz="1100" dirty="0"/>
          </a:p>
        </p:txBody>
      </p:sp>
      <p:sp>
        <p:nvSpPr>
          <p:cNvPr id="31" name="Text 29"/>
          <p:cNvSpPr/>
          <p:nvPr/>
        </p:nvSpPr>
        <p:spPr>
          <a:xfrm>
            <a:off x="8293608" y="2898648"/>
            <a:ext cx="3429000" cy="310896"/>
          </a:xfrm>
          <a:prstGeom prst="rect">
            <a:avLst/>
          </a:prstGeom>
          <a:noFill/>
          <a:ln/>
        </p:spPr>
        <p:txBody>
          <a:bodyPr wrap="square" lIns="0" tIns="0" rIns="0" bIns="0" rtlCol="0" anchor="ctr"/>
          <a:lstStyle/>
          <a:p>
            <a:pPr marL="0" indent="0">
              <a:buNone/>
            </a:pPr>
            <a:r>
              <a:rPr lang="en-US" sz="950" b="1" dirty="0">
                <a:solidFill>
                  <a:srgbClr val="2B3A8C"/>
                </a:solidFill>
                <a:latin typeface="Courier New" pitchFamily="34" charset="0"/>
                <a:ea typeface="Courier New" pitchFamily="34" charset="-122"/>
                <a:cs typeface="Courier New" pitchFamily="34" charset="-120"/>
              </a:rPr>
              <a:t>✅ Targeted</a:t>
            </a:r>
            <a:endParaRPr lang="en-US" sz="950" dirty="0"/>
          </a:p>
        </p:txBody>
      </p:sp>
      <p:sp>
        <p:nvSpPr>
          <p:cNvPr id="32" name="Text 30"/>
          <p:cNvSpPr/>
          <p:nvPr/>
        </p:nvSpPr>
        <p:spPr>
          <a:xfrm>
            <a:off x="8293608" y="3209544"/>
            <a:ext cx="3429000" cy="868680"/>
          </a:xfrm>
          <a:prstGeom prst="rect">
            <a:avLst/>
          </a:prstGeom>
          <a:noFill/>
          <a:ln/>
        </p:spPr>
        <p:txBody>
          <a:bodyPr wrap="square" lIns="0" tIns="0" rIns="0" bIns="0" rtlCol="0" anchor="ctr"/>
          <a:lstStyle/>
          <a:p>
            <a:pPr marL="0" indent="0">
              <a:buNone/>
            </a:pPr>
            <a:r>
              <a:rPr lang="en-US" sz="1100" dirty="0">
                <a:solidFill>
                  <a:srgbClr val="12100E"/>
                </a:solidFill>
                <a:latin typeface="Calibri" pitchFamily="34" charset="0"/>
                <a:ea typeface="Calibri" pitchFamily="34" charset="-122"/>
                <a:cs typeface="Calibri" pitchFamily="34" charset="-120"/>
              </a:rPr>
              <a:t>"Walk me through how you track your deadlines in a typical week."</a:t>
            </a:r>
            <a:endParaRPr lang="en-US" sz="1100" dirty="0"/>
          </a:p>
        </p:txBody>
      </p:sp>
      <p:sp>
        <p:nvSpPr>
          <p:cNvPr id="33" name="Text 31"/>
          <p:cNvSpPr/>
          <p:nvPr/>
        </p:nvSpPr>
        <p:spPr>
          <a:xfrm>
            <a:off x="8293608" y="4133088"/>
            <a:ext cx="3429000" cy="310896"/>
          </a:xfrm>
          <a:prstGeom prst="rect">
            <a:avLst/>
          </a:prstGeom>
          <a:noFill/>
          <a:ln/>
        </p:spPr>
        <p:txBody>
          <a:bodyPr wrap="square" lIns="0" tIns="0" rIns="0" bIns="0" rtlCol="0" anchor="ctr"/>
          <a:lstStyle/>
          <a:p>
            <a:pPr marL="0" indent="0">
              <a:buNone/>
            </a:pPr>
            <a:r>
              <a:rPr lang="en-US" sz="950" b="1" dirty="0">
                <a:solidFill>
                  <a:srgbClr val="2B3A8C"/>
                </a:solidFill>
                <a:latin typeface="Courier New" pitchFamily="34" charset="0"/>
                <a:ea typeface="Courier New" pitchFamily="34" charset="-122"/>
                <a:cs typeface="Courier New" pitchFamily="34" charset="-120"/>
              </a:rPr>
              <a:t>Why it matters</a:t>
            </a:r>
            <a:endParaRPr lang="en-US" sz="950" dirty="0"/>
          </a:p>
        </p:txBody>
      </p:sp>
      <p:sp>
        <p:nvSpPr>
          <p:cNvPr id="34" name="Text 32"/>
          <p:cNvSpPr/>
          <p:nvPr/>
        </p:nvSpPr>
        <p:spPr>
          <a:xfrm>
            <a:off x="8293608" y="4443984"/>
            <a:ext cx="3429000" cy="868680"/>
          </a:xfrm>
          <a:prstGeom prst="rect">
            <a:avLst/>
          </a:prstGeom>
          <a:noFill/>
          <a:ln/>
        </p:spPr>
        <p:txBody>
          <a:bodyPr wrap="square" lIns="0" tIns="0" rIns="0" bIns="0" rtlCol="0" anchor="ctr"/>
          <a:lstStyle/>
          <a:p>
            <a:pPr marL="0" indent="0">
              <a:buNone/>
            </a:pPr>
            <a:r>
              <a:rPr lang="en-US" sz="1100" dirty="0">
                <a:solidFill>
                  <a:srgbClr val="12100E"/>
                </a:solidFill>
                <a:latin typeface="Calibri" pitchFamily="34" charset="0"/>
                <a:ea typeface="Calibri" pitchFamily="34" charset="-122"/>
                <a:cs typeface="Calibri" pitchFamily="34" charset="-120"/>
              </a:rPr>
              <a:t>Specific, behaviour-anchored questions get specific, useful answers.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00E"/>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Text 2"/>
          <p:cNvSpPr/>
          <p:nvPr/>
        </p:nvSpPr>
        <p:spPr>
          <a:xfrm>
            <a:off x="457200" y="182880"/>
            <a:ext cx="4572000" cy="274320"/>
          </a:xfrm>
          <a:prstGeom prst="rect">
            <a:avLst/>
          </a:prstGeom>
          <a:noFill/>
          <a:ln/>
        </p:spPr>
        <p:txBody>
          <a:bodyPr wrap="square" lIns="0" tIns="0" rIns="0" bIns="0" rtlCol="0" anchor="ctr"/>
          <a:lstStyle/>
          <a:p>
            <a:pPr marL="0" indent="0" algn="l">
              <a:buNone/>
            </a:pPr>
            <a:r>
              <a:rPr lang="en-US" sz="900" kern="0" spc="100" dirty="0">
                <a:solidFill>
                  <a:srgbClr val="6B6762"/>
                </a:solidFill>
                <a:latin typeface="Courier New" pitchFamily="34" charset="0"/>
                <a:ea typeface="Courier New" pitchFamily="34" charset="-122"/>
                <a:cs typeface="Courier New" pitchFamily="34" charset="-120"/>
              </a:rPr>
              <a:t>BRAIN BREAK</a:t>
            </a:r>
            <a:endParaRPr lang="en-US" sz="900" dirty="0"/>
          </a:p>
        </p:txBody>
      </p:sp>
      <p:sp>
        <p:nvSpPr>
          <p:cNvPr id="5" name="Text 3"/>
          <p:cNvSpPr/>
          <p:nvPr/>
        </p:nvSpPr>
        <p:spPr>
          <a:xfrm>
            <a:off x="457200" y="502920"/>
            <a:ext cx="8229600" cy="640080"/>
          </a:xfrm>
          <a:prstGeom prst="rect">
            <a:avLst/>
          </a:prstGeom>
          <a:noFill/>
          <a:ln/>
        </p:spPr>
        <p:txBody>
          <a:bodyPr wrap="square" lIns="0" tIns="0" rIns="0" bIns="0" rtlCol="0" anchor="ctr"/>
          <a:lstStyle/>
          <a:p>
            <a:pPr marL="0" indent="0" algn="l">
              <a:buNone/>
            </a:pPr>
            <a:r>
              <a:rPr lang="en-US" sz="3000" dirty="0">
                <a:solidFill>
                  <a:srgbClr val="FFFFFF"/>
                </a:solidFill>
                <a:latin typeface="Bookman Old Style" pitchFamily="34" charset="0"/>
                <a:ea typeface="Bookman Old Style" pitchFamily="34" charset="-122"/>
                <a:cs typeface="Bookman Old Style" pitchFamily="34" charset="-120"/>
              </a:rPr>
              <a:t>Two Truths and a Tech Lie</a:t>
            </a:r>
            <a:endParaRPr lang="en-US" sz="3000" dirty="0"/>
          </a:p>
        </p:txBody>
      </p:sp>
      <p:sp>
        <p:nvSpPr>
          <p:cNvPr id="6" name="Text 4"/>
          <p:cNvSpPr/>
          <p:nvPr/>
        </p:nvSpPr>
        <p:spPr>
          <a:xfrm>
            <a:off x="457200" y="1170432"/>
            <a:ext cx="9144000" cy="329184"/>
          </a:xfrm>
          <a:prstGeom prst="rect">
            <a:avLst/>
          </a:prstGeom>
          <a:noFill/>
          <a:ln/>
        </p:spPr>
        <p:txBody>
          <a:bodyPr wrap="square" lIns="0" tIns="0" rIns="0" bIns="0" rtlCol="0" anchor="ctr"/>
          <a:lstStyle/>
          <a:p>
            <a:pPr marL="0" indent="0">
              <a:buNone/>
            </a:pPr>
            <a:r>
              <a:rPr lang="en-US" sz="1300" i="1" dirty="0">
                <a:solidFill>
                  <a:srgbClr val="6B6762"/>
                </a:solidFill>
                <a:latin typeface="Calibri" pitchFamily="34" charset="0"/>
                <a:ea typeface="Calibri" pitchFamily="34" charset="-122"/>
                <a:cs typeface="Calibri" pitchFamily="34" charset="-120"/>
              </a:rPr>
              <a:t>Which one is the LIE?  Discuss with your group — no phones.</a:t>
            </a:r>
            <a:endParaRPr lang="en-US" sz="1300" dirty="0"/>
          </a:p>
        </p:txBody>
      </p:sp>
      <p:sp>
        <p:nvSpPr>
          <p:cNvPr id="7" name="Shape 5"/>
          <p:cNvSpPr/>
          <p:nvPr/>
        </p:nvSpPr>
        <p:spPr>
          <a:xfrm>
            <a:off x="457200" y="1691640"/>
            <a:ext cx="11247120" cy="1325880"/>
          </a:xfrm>
          <a:prstGeom prst="roundRect">
            <a:avLst>
              <a:gd name="adj" fmla="val 6897"/>
            </a:avLst>
          </a:prstGeom>
          <a:solidFill>
            <a:srgbClr val="2C2A28"/>
          </a:solidFill>
          <a:ln w="12700">
            <a:solidFill>
              <a:srgbClr val="2C2A28"/>
            </a:solidFill>
            <a:prstDash val="solid"/>
          </a:ln>
          <a:effectLst>
            <a:outerShdw blurRad="76200" dist="25400" dir="2700000" algn="bl" rotWithShape="0">
              <a:srgbClr val="000000">
                <a:alpha val="10000"/>
              </a:srgbClr>
            </a:outerShdw>
          </a:effectLst>
        </p:spPr>
        <p:txBody>
          <a:bodyPr/>
          <a:lstStyle/>
          <a:p>
            <a:endParaRPr lang="en-AU"/>
          </a:p>
        </p:txBody>
      </p:sp>
      <p:sp>
        <p:nvSpPr>
          <p:cNvPr id="8" name="Shape 6"/>
          <p:cNvSpPr/>
          <p:nvPr/>
        </p:nvSpPr>
        <p:spPr>
          <a:xfrm>
            <a:off x="594360" y="2121408"/>
            <a:ext cx="475488" cy="475488"/>
          </a:xfrm>
          <a:prstGeom prst="ellipse">
            <a:avLst/>
          </a:prstGeom>
          <a:solidFill>
            <a:srgbClr val="B8620A"/>
          </a:solidFill>
          <a:ln w="12700">
            <a:solidFill>
              <a:srgbClr val="B8620A"/>
            </a:solidFill>
            <a:prstDash val="solid"/>
          </a:ln>
        </p:spPr>
        <p:txBody>
          <a:bodyPr/>
          <a:lstStyle/>
          <a:p>
            <a:endParaRPr lang="en-AU"/>
          </a:p>
        </p:txBody>
      </p:sp>
      <p:sp>
        <p:nvSpPr>
          <p:cNvPr id="9" name="Text 7"/>
          <p:cNvSpPr/>
          <p:nvPr/>
        </p:nvSpPr>
        <p:spPr>
          <a:xfrm>
            <a:off x="594360" y="2121408"/>
            <a:ext cx="475488" cy="475488"/>
          </a:xfrm>
          <a:prstGeom prst="rect">
            <a:avLst/>
          </a:prstGeom>
          <a:noFill/>
          <a:ln/>
        </p:spPr>
        <p:txBody>
          <a:bodyPr wrap="square" lIns="0" tIns="0" rIns="0" bIns="0" rtlCol="0" anchor="ctr"/>
          <a:lstStyle/>
          <a:p>
            <a:pPr marL="0" indent="0" algn="ctr">
              <a:buNone/>
            </a:pPr>
            <a:r>
              <a:rPr lang="en-US" sz="1600" b="1" dirty="0">
                <a:solidFill>
                  <a:srgbClr val="12100E"/>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07008" y="1828800"/>
            <a:ext cx="9144000" cy="1051560"/>
          </a:xfrm>
          <a:prstGeom prst="rect">
            <a:avLst/>
          </a:prstGeom>
          <a:noFill/>
          <a:ln/>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Google ran over 10,000 A/B tests in a single year to optimise its search results.</a:t>
            </a:r>
            <a:endParaRPr lang="en-US" sz="1400" dirty="0"/>
          </a:p>
        </p:txBody>
      </p:sp>
      <p:sp>
        <p:nvSpPr>
          <p:cNvPr id="11" name="Shape 9"/>
          <p:cNvSpPr/>
          <p:nvPr/>
        </p:nvSpPr>
        <p:spPr>
          <a:xfrm>
            <a:off x="10424160" y="2093976"/>
            <a:ext cx="1097280" cy="493776"/>
          </a:xfrm>
          <a:prstGeom prst="roundRect">
            <a:avLst>
              <a:gd name="adj" fmla="val 12963"/>
            </a:avLst>
          </a:prstGeom>
          <a:solidFill>
            <a:srgbClr val="1B5E47"/>
          </a:solidFill>
          <a:ln w="12700">
            <a:solidFill>
              <a:srgbClr val="1B5E47"/>
            </a:solidFill>
            <a:prstDash val="solid"/>
          </a:ln>
        </p:spPr>
        <p:txBody>
          <a:bodyPr/>
          <a:lstStyle/>
          <a:p>
            <a:endParaRPr lang="en-AU"/>
          </a:p>
        </p:txBody>
      </p:sp>
      <p:sp>
        <p:nvSpPr>
          <p:cNvPr id="12" name="Text 10"/>
          <p:cNvSpPr/>
          <p:nvPr/>
        </p:nvSpPr>
        <p:spPr>
          <a:xfrm>
            <a:off x="10424160" y="2093976"/>
            <a:ext cx="109728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457200" y="3154680"/>
            <a:ext cx="11247120" cy="1325880"/>
          </a:xfrm>
          <a:prstGeom prst="roundRect">
            <a:avLst>
              <a:gd name="adj" fmla="val 6897"/>
            </a:avLst>
          </a:prstGeom>
          <a:solidFill>
            <a:srgbClr val="2C2A28"/>
          </a:solidFill>
          <a:ln w="12700">
            <a:solidFill>
              <a:srgbClr val="2C2A28"/>
            </a:solidFill>
            <a:prstDash val="solid"/>
          </a:ln>
          <a:effectLst>
            <a:outerShdw blurRad="76200" dist="25400" dir="2700000" algn="bl" rotWithShape="0">
              <a:srgbClr val="000000">
                <a:alpha val="10000"/>
              </a:srgbClr>
            </a:outerShdw>
          </a:effectLst>
        </p:spPr>
        <p:txBody>
          <a:bodyPr/>
          <a:lstStyle/>
          <a:p>
            <a:endParaRPr lang="en-AU"/>
          </a:p>
        </p:txBody>
      </p:sp>
      <p:sp>
        <p:nvSpPr>
          <p:cNvPr id="14" name="Shape 12"/>
          <p:cNvSpPr/>
          <p:nvPr/>
        </p:nvSpPr>
        <p:spPr>
          <a:xfrm>
            <a:off x="594360" y="3584448"/>
            <a:ext cx="475488" cy="475488"/>
          </a:xfrm>
          <a:prstGeom prst="ellipse">
            <a:avLst/>
          </a:prstGeom>
          <a:solidFill>
            <a:srgbClr val="B8620A"/>
          </a:solidFill>
          <a:ln w="12700">
            <a:solidFill>
              <a:srgbClr val="B8620A"/>
            </a:solidFill>
            <a:prstDash val="solid"/>
          </a:ln>
        </p:spPr>
        <p:txBody>
          <a:bodyPr/>
          <a:lstStyle/>
          <a:p>
            <a:endParaRPr lang="en-AU"/>
          </a:p>
        </p:txBody>
      </p:sp>
      <p:sp>
        <p:nvSpPr>
          <p:cNvPr id="15" name="Text 13"/>
          <p:cNvSpPr/>
          <p:nvPr/>
        </p:nvSpPr>
        <p:spPr>
          <a:xfrm>
            <a:off x="594360" y="3584448"/>
            <a:ext cx="475488" cy="475488"/>
          </a:xfrm>
          <a:prstGeom prst="rect">
            <a:avLst/>
          </a:prstGeom>
          <a:noFill/>
          <a:ln/>
        </p:spPr>
        <p:txBody>
          <a:bodyPr wrap="square" lIns="0" tIns="0" rIns="0" bIns="0" rtlCol="0" anchor="ctr"/>
          <a:lstStyle/>
          <a:p>
            <a:pPr marL="0" indent="0" algn="ctr">
              <a:buNone/>
            </a:pPr>
            <a:r>
              <a:rPr lang="en-US" sz="1600" b="1" dirty="0">
                <a:solidFill>
                  <a:srgbClr val="12100E"/>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1207008" y="3291840"/>
            <a:ext cx="9144000" cy="1051560"/>
          </a:xfrm>
          <a:prstGeom prst="rect">
            <a:avLst/>
          </a:prstGeom>
          <a:noFill/>
          <a:ln/>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SurveyMonkey was founded in 1999 and is now one of the world's most widely used online survey platforms.</a:t>
            </a:r>
            <a:endParaRPr lang="en-US" sz="1400" dirty="0"/>
          </a:p>
        </p:txBody>
      </p:sp>
      <p:sp>
        <p:nvSpPr>
          <p:cNvPr id="17" name="Shape 15"/>
          <p:cNvSpPr/>
          <p:nvPr/>
        </p:nvSpPr>
        <p:spPr>
          <a:xfrm>
            <a:off x="10424160" y="3557016"/>
            <a:ext cx="1097280" cy="493776"/>
          </a:xfrm>
          <a:prstGeom prst="roundRect">
            <a:avLst>
              <a:gd name="adj" fmla="val 12963"/>
            </a:avLst>
          </a:prstGeom>
          <a:solidFill>
            <a:srgbClr val="1B5E47"/>
          </a:solidFill>
          <a:ln w="12700">
            <a:solidFill>
              <a:srgbClr val="1B5E47"/>
            </a:solidFill>
            <a:prstDash val="solid"/>
          </a:ln>
        </p:spPr>
        <p:txBody>
          <a:bodyPr/>
          <a:lstStyle/>
          <a:p>
            <a:endParaRPr lang="en-AU"/>
          </a:p>
        </p:txBody>
      </p:sp>
      <p:sp>
        <p:nvSpPr>
          <p:cNvPr id="18" name="Text 16"/>
          <p:cNvSpPr/>
          <p:nvPr/>
        </p:nvSpPr>
        <p:spPr>
          <a:xfrm>
            <a:off x="10424160" y="3557016"/>
            <a:ext cx="109728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19" name="Shape 17"/>
          <p:cNvSpPr/>
          <p:nvPr/>
        </p:nvSpPr>
        <p:spPr>
          <a:xfrm>
            <a:off x="457200" y="4617720"/>
            <a:ext cx="11247120" cy="1325880"/>
          </a:xfrm>
          <a:prstGeom prst="roundRect">
            <a:avLst>
              <a:gd name="adj" fmla="val 6897"/>
            </a:avLst>
          </a:prstGeom>
          <a:solidFill>
            <a:srgbClr val="2C2A28"/>
          </a:solidFill>
          <a:ln w="12700">
            <a:solidFill>
              <a:srgbClr val="2C2A28"/>
            </a:solidFill>
            <a:prstDash val="solid"/>
          </a:ln>
          <a:effectLst>
            <a:outerShdw blurRad="76200" dist="25400" dir="2700000" algn="bl" rotWithShape="0">
              <a:srgbClr val="000000">
                <a:alpha val="10000"/>
              </a:srgbClr>
            </a:outerShdw>
          </a:effectLst>
        </p:spPr>
        <p:txBody>
          <a:bodyPr/>
          <a:lstStyle/>
          <a:p>
            <a:endParaRPr lang="en-AU"/>
          </a:p>
        </p:txBody>
      </p:sp>
      <p:sp>
        <p:nvSpPr>
          <p:cNvPr id="20" name="Shape 18"/>
          <p:cNvSpPr/>
          <p:nvPr/>
        </p:nvSpPr>
        <p:spPr>
          <a:xfrm>
            <a:off x="594360" y="5047488"/>
            <a:ext cx="475488" cy="475488"/>
          </a:xfrm>
          <a:prstGeom prst="ellipse">
            <a:avLst/>
          </a:prstGeom>
          <a:solidFill>
            <a:srgbClr val="B8620A"/>
          </a:solidFill>
          <a:ln w="12700">
            <a:solidFill>
              <a:srgbClr val="B8620A"/>
            </a:solidFill>
            <a:prstDash val="solid"/>
          </a:ln>
        </p:spPr>
        <p:txBody>
          <a:bodyPr/>
          <a:lstStyle/>
          <a:p>
            <a:endParaRPr lang="en-AU"/>
          </a:p>
        </p:txBody>
      </p:sp>
      <p:sp>
        <p:nvSpPr>
          <p:cNvPr id="21" name="Text 19"/>
          <p:cNvSpPr/>
          <p:nvPr/>
        </p:nvSpPr>
        <p:spPr>
          <a:xfrm>
            <a:off x="594360" y="5047488"/>
            <a:ext cx="475488" cy="475488"/>
          </a:xfrm>
          <a:prstGeom prst="rect">
            <a:avLst/>
          </a:prstGeom>
          <a:noFill/>
          <a:ln/>
        </p:spPr>
        <p:txBody>
          <a:bodyPr wrap="square" lIns="0" tIns="0" rIns="0" bIns="0" rtlCol="0" anchor="ctr"/>
          <a:lstStyle/>
          <a:p>
            <a:pPr marL="0" indent="0" algn="ctr">
              <a:buNone/>
            </a:pPr>
            <a:r>
              <a:rPr lang="en-US" sz="1600" b="1" dirty="0">
                <a:solidFill>
                  <a:srgbClr val="12100E"/>
                </a:solidFill>
                <a:latin typeface="Calibri" pitchFamily="34" charset="0"/>
                <a:ea typeface="Calibri" pitchFamily="34" charset="-122"/>
                <a:cs typeface="Calibri" pitchFamily="34" charset="-120"/>
              </a:rPr>
              <a:t>3</a:t>
            </a:r>
            <a:endParaRPr lang="en-US" sz="1600" dirty="0"/>
          </a:p>
        </p:txBody>
      </p:sp>
      <p:sp>
        <p:nvSpPr>
          <p:cNvPr id="22" name="Text 20"/>
          <p:cNvSpPr/>
          <p:nvPr/>
        </p:nvSpPr>
        <p:spPr>
          <a:xfrm>
            <a:off x="1207008" y="4754880"/>
            <a:ext cx="9144000" cy="1051560"/>
          </a:xfrm>
          <a:prstGeom prst="rect">
            <a:avLst/>
          </a:prstGeom>
          <a:noFill/>
          <a:ln/>
        </p:spPr>
        <p:txBody>
          <a:bodyPr wrap="square" lIns="0" tIns="0" rIns="0" bIns="0" rtlCol="0" anchor="ctr"/>
          <a:lstStyle/>
          <a:p>
            <a:pPr marL="0" indent="0" algn="l">
              <a:buNone/>
            </a:pPr>
            <a:r>
              <a:rPr lang="en-US" sz="1400" dirty="0">
                <a:solidFill>
                  <a:srgbClr val="FFFFFF"/>
                </a:solidFill>
                <a:latin typeface="Calibri" pitchFamily="34" charset="0"/>
                <a:ea typeface="Calibri" pitchFamily="34" charset="-122"/>
                <a:cs typeface="Calibri" pitchFamily="34" charset="-120"/>
              </a:rPr>
              <a:t>Research consistently shows that longer surveys (20+ questions) receive higher response rates because users feel more invested.</a:t>
            </a:r>
            <a:endParaRPr lang="en-US" sz="1400" dirty="0"/>
          </a:p>
        </p:txBody>
      </p:sp>
      <p:sp>
        <p:nvSpPr>
          <p:cNvPr id="23" name="Shape 21"/>
          <p:cNvSpPr/>
          <p:nvPr/>
        </p:nvSpPr>
        <p:spPr>
          <a:xfrm>
            <a:off x="10424160" y="5020056"/>
            <a:ext cx="1097280" cy="493776"/>
          </a:xfrm>
          <a:prstGeom prst="roundRect">
            <a:avLst>
              <a:gd name="adj" fmla="val 12963"/>
            </a:avLst>
          </a:prstGeom>
          <a:solidFill>
            <a:srgbClr val="8C1F28"/>
          </a:solidFill>
          <a:ln w="12700">
            <a:solidFill>
              <a:srgbClr val="8C1F28"/>
            </a:solidFill>
            <a:prstDash val="solid"/>
          </a:ln>
        </p:spPr>
        <p:txBody>
          <a:bodyPr/>
          <a:lstStyle/>
          <a:p>
            <a:endParaRPr lang="en-AU"/>
          </a:p>
        </p:txBody>
      </p:sp>
      <p:sp>
        <p:nvSpPr>
          <p:cNvPr id="24" name="Text 22"/>
          <p:cNvSpPr/>
          <p:nvPr/>
        </p:nvSpPr>
        <p:spPr>
          <a:xfrm>
            <a:off x="10424160" y="5020056"/>
            <a:ext cx="109728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5E47"/>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pic>
        <p:nvPicPr>
          <p:cNvPr id="4" name="Image 0" descr="preencoded.png"/>
          <p:cNvPicPr>
            <a:picLocks noChangeAspect="1"/>
          </p:cNvPicPr>
          <p:nvPr/>
        </p:nvPicPr>
        <p:blipFill>
          <a:blip r:embed="rId3"/>
          <a:stretch>
            <a:fillRect/>
          </a:stretch>
        </p:blipFill>
        <p:spPr>
          <a:xfrm>
            <a:off x="5303520" y="594360"/>
            <a:ext cx="1554480" cy="1554480"/>
          </a:xfrm>
          <a:prstGeom prst="rect">
            <a:avLst/>
          </a:prstGeom>
        </p:spPr>
      </p:pic>
      <p:sp>
        <p:nvSpPr>
          <p:cNvPr id="5" name="Text 2"/>
          <p:cNvSpPr/>
          <p:nvPr/>
        </p:nvSpPr>
        <p:spPr>
          <a:xfrm>
            <a:off x="457200" y="2194560"/>
            <a:ext cx="11247120" cy="914400"/>
          </a:xfrm>
          <a:prstGeom prst="rect">
            <a:avLst/>
          </a:prstGeom>
          <a:noFill/>
          <a:ln/>
        </p:spPr>
        <p:txBody>
          <a:bodyPr wrap="square" lIns="0" tIns="0" rIns="0" bIns="0" rtlCol="0" anchor="ctr"/>
          <a:lstStyle/>
          <a:p>
            <a:pPr marL="0" indent="0" algn="ctr">
              <a:buNone/>
            </a:pPr>
            <a:r>
              <a:rPr lang="en-US" sz="4800" dirty="0">
                <a:solidFill>
                  <a:srgbClr val="FFFFFF"/>
                </a:solidFill>
                <a:latin typeface="Bookman Old Style" pitchFamily="34" charset="0"/>
                <a:ea typeface="Bookman Old Style" pitchFamily="34" charset="-122"/>
                <a:cs typeface="Bookman Old Style" pitchFamily="34" charset="-120"/>
              </a:rPr>
              <a:t>Laptop Gate</a:t>
            </a:r>
            <a:endParaRPr lang="en-US" sz="4800" dirty="0"/>
          </a:p>
        </p:txBody>
      </p:sp>
      <p:sp>
        <p:nvSpPr>
          <p:cNvPr id="6" name="Text 3"/>
          <p:cNvSpPr/>
          <p:nvPr/>
        </p:nvSpPr>
        <p:spPr>
          <a:xfrm>
            <a:off x="457200" y="3246120"/>
            <a:ext cx="11247120" cy="502920"/>
          </a:xfrm>
          <a:prstGeom prst="rect">
            <a:avLst/>
          </a:prstGeom>
          <a:noFill/>
          <a:ln/>
        </p:spPr>
        <p:txBody>
          <a:bodyPr wrap="square" lIns="0" tIns="0" rIns="0" bIns="0" rtlCol="0" anchor="ctr"/>
          <a:lstStyle/>
          <a:p>
            <a:pPr marL="0" indent="0" algn="ctr">
              <a:buNone/>
            </a:pPr>
            <a:r>
              <a:rPr lang="en-US" sz="1800" b="1" dirty="0">
                <a:solidFill>
                  <a:srgbClr val="E8F2EE"/>
                </a:solidFill>
                <a:latin typeface="Courier New" pitchFamily="34" charset="0"/>
                <a:ea typeface="Courier New" pitchFamily="34" charset="-122"/>
                <a:cs typeface="Courier New" pitchFamily="34" charset="-120"/>
              </a:rPr>
              <a:t>Open your workbook → Section 2</a:t>
            </a:r>
            <a:endParaRPr lang="en-US" sz="1800" dirty="0"/>
          </a:p>
        </p:txBody>
      </p:sp>
      <p:sp>
        <p:nvSpPr>
          <p:cNvPr id="7" name="Shape 4"/>
          <p:cNvSpPr/>
          <p:nvPr/>
        </p:nvSpPr>
        <p:spPr>
          <a:xfrm>
            <a:off x="914400" y="3886200"/>
            <a:ext cx="10332720" cy="566928"/>
          </a:xfrm>
          <a:prstGeom prst="roundRect">
            <a:avLst>
              <a:gd name="adj" fmla="val 12903"/>
            </a:avLst>
          </a:prstGeom>
          <a:solidFill>
            <a:srgbClr val="1B5E47"/>
          </a:solidFill>
          <a:ln w="12700">
            <a:solidFill>
              <a:srgbClr val="1B5E47"/>
            </a:solidFill>
            <a:prstDash val="solid"/>
          </a:ln>
        </p:spPr>
        <p:txBody>
          <a:bodyPr/>
          <a:lstStyle/>
          <a:p>
            <a:endParaRPr lang="en-AU"/>
          </a:p>
        </p:txBody>
      </p:sp>
      <p:sp>
        <p:nvSpPr>
          <p:cNvPr id="8" name="Text 5"/>
          <p:cNvSpPr/>
          <p:nvPr/>
        </p:nvSpPr>
        <p:spPr>
          <a:xfrm>
            <a:off x="1051560" y="3913632"/>
            <a:ext cx="10058400" cy="502920"/>
          </a:xfrm>
          <a:prstGeom prst="rect">
            <a:avLst/>
          </a:prstGeom>
          <a:noFill/>
          <a:ln/>
        </p:spPr>
        <p:txBody>
          <a:bodyPr wrap="square" lIns="0" tIns="0" rIns="0" bIns="0" rtlCol="0" anchor="ctr"/>
          <a:lstStyle/>
          <a:p>
            <a:pPr marL="0" indent="0" algn="l">
              <a:buNone/>
            </a:pPr>
            <a:r>
              <a:rPr lang="en-US" sz="1250" dirty="0">
                <a:solidFill>
                  <a:srgbClr val="FFFFFF"/>
                </a:solidFill>
                <a:latin typeface="Calibri" pitchFamily="34" charset="0"/>
                <a:ea typeface="Calibri" pitchFamily="34" charset="-122"/>
                <a:cs typeface="Calibri" pitchFamily="34" charset="-120"/>
              </a:rPr>
              <a:t>1.  Section 1 (problem statement) is already done on paper — transfer it at the top of the workbook.</a:t>
            </a:r>
            <a:endParaRPr lang="en-US" sz="1250" dirty="0"/>
          </a:p>
        </p:txBody>
      </p:sp>
      <p:sp>
        <p:nvSpPr>
          <p:cNvPr id="9" name="Shape 6"/>
          <p:cNvSpPr/>
          <p:nvPr/>
        </p:nvSpPr>
        <p:spPr>
          <a:xfrm>
            <a:off x="914400" y="4572000"/>
            <a:ext cx="10332720" cy="566928"/>
          </a:xfrm>
          <a:prstGeom prst="roundRect">
            <a:avLst>
              <a:gd name="adj" fmla="val 12903"/>
            </a:avLst>
          </a:prstGeom>
          <a:solidFill>
            <a:srgbClr val="1B5E47"/>
          </a:solidFill>
          <a:ln w="12700">
            <a:solidFill>
              <a:srgbClr val="1B5E47"/>
            </a:solidFill>
            <a:prstDash val="solid"/>
          </a:ln>
        </p:spPr>
        <p:txBody>
          <a:bodyPr/>
          <a:lstStyle/>
          <a:p>
            <a:endParaRPr lang="en-AU"/>
          </a:p>
        </p:txBody>
      </p:sp>
      <p:sp>
        <p:nvSpPr>
          <p:cNvPr id="10" name="Text 7"/>
          <p:cNvSpPr/>
          <p:nvPr/>
        </p:nvSpPr>
        <p:spPr>
          <a:xfrm>
            <a:off x="1051560" y="4599432"/>
            <a:ext cx="10058400" cy="502920"/>
          </a:xfrm>
          <a:prstGeom prst="rect">
            <a:avLst/>
          </a:prstGeom>
          <a:noFill/>
          <a:ln/>
        </p:spPr>
        <p:txBody>
          <a:bodyPr wrap="square" lIns="0" tIns="0" rIns="0" bIns="0" rtlCol="0" anchor="ctr"/>
          <a:lstStyle/>
          <a:p>
            <a:pPr marL="0" indent="0" algn="l">
              <a:buNone/>
            </a:pPr>
            <a:r>
              <a:rPr lang="en-US" sz="1250" dirty="0">
                <a:solidFill>
                  <a:srgbClr val="FFFFFF"/>
                </a:solidFill>
                <a:latin typeface="Calibri" pitchFamily="34" charset="0"/>
                <a:ea typeface="Calibri" pitchFamily="34" charset="-122"/>
                <a:cs typeface="Calibri" pitchFamily="34" charset="-120"/>
              </a:rPr>
              <a:t>2.  Sections 2, 3 and 4 are your main tasks — see the task card on the next slide.</a:t>
            </a:r>
            <a:endParaRPr lang="en-US" sz="1250" dirty="0"/>
          </a:p>
        </p:txBody>
      </p:sp>
      <p:sp>
        <p:nvSpPr>
          <p:cNvPr id="11" name="Shape 8"/>
          <p:cNvSpPr/>
          <p:nvPr/>
        </p:nvSpPr>
        <p:spPr>
          <a:xfrm>
            <a:off x="914400" y="5257800"/>
            <a:ext cx="10332720" cy="566928"/>
          </a:xfrm>
          <a:prstGeom prst="roundRect">
            <a:avLst>
              <a:gd name="adj" fmla="val 12903"/>
            </a:avLst>
          </a:prstGeom>
          <a:solidFill>
            <a:srgbClr val="1B5E47"/>
          </a:solidFill>
          <a:ln w="12700">
            <a:solidFill>
              <a:srgbClr val="1B5E47"/>
            </a:solidFill>
            <a:prstDash val="solid"/>
          </a:ln>
        </p:spPr>
        <p:txBody>
          <a:bodyPr/>
          <a:lstStyle/>
          <a:p>
            <a:endParaRPr lang="en-AU"/>
          </a:p>
        </p:txBody>
      </p:sp>
      <p:sp>
        <p:nvSpPr>
          <p:cNvPr id="12" name="Text 9"/>
          <p:cNvSpPr/>
          <p:nvPr/>
        </p:nvSpPr>
        <p:spPr>
          <a:xfrm>
            <a:off x="1051560" y="5285232"/>
            <a:ext cx="10058400" cy="502920"/>
          </a:xfrm>
          <a:prstGeom prst="rect">
            <a:avLst/>
          </a:prstGeom>
          <a:noFill/>
          <a:ln/>
        </p:spPr>
        <p:txBody>
          <a:bodyPr wrap="square" lIns="0" tIns="0" rIns="0" bIns="0" rtlCol="0" anchor="ctr"/>
          <a:lstStyle/>
          <a:p>
            <a:pPr marL="0" indent="0" algn="l">
              <a:buNone/>
            </a:pPr>
            <a:r>
              <a:rPr lang="en-US" sz="1250" dirty="0">
                <a:solidFill>
                  <a:srgbClr val="FFFFFF"/>
                </a:solidFill>
                <a:latin typeface="Calibri" pitchFamily="34" charset="0"/>
                <a:ea typeface="Calibri" pitchFamily="34" charset="-122"/>
                <a:cs typeface="Calibri" pitchFamily="34" charset="-120"/>
              </a:rPr>
              <a:t>3.  Section 5 is the exit ticket — complete on paper at the end of the lesson.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Shape 2"/>
          <p:cNvSpPr/>
          <p:nvPr/>
        </p:nvSpPr>
        <p:spPr>
          <a:xfrm>
            <a:off x="9966960" y="164592"/>
            <a:ext cx="1920240" cy="347472"/>
          </a:xfrm>
          <a:prstGeom prst="rect">
            <a:avLst/>
          </a:prstGeom>
          <a:solidFill>
            <a:srgbClr val="1B5E47"/>
          </a:solidFill>
          <a:ln w="12700">
            <a:solidFill>
              <a:srgbClr val="1B5E47"/>
            </a:solidFill>
            <a:prstDash val="solid"/>
          </a:ln>
        </p:spPr>
        <p:txBody>
          <a:bodyPr/>
          <a:lstStyle/>
          <a:p>
            <a:endParaRPr lang="en-AU"/>
          </a:p>
        </p:txBody>
      </p:sp>
      <p:sp>
        <p:nvSpPr>
          <p:cNvPr id="5" name="Text 3"/>
          <p:cNvSpPr/>
          <p:nvPr/>
        </p:nvSpPr>
        <p:spPr>
          <a:xfrm>
            <a:off x="9966960" y="164592"/>
            <a:ext cx="192024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APPLICATION</a:t>
            </a:r>
            <a:endParaRPr lang="en-US" sz="850" dirty="0"/>
          </a:p>
        </p:txBody>
      </p:sp>
      <p:sp>
        <p:nvSpPr>
          <p:cNvPr id="6" name="Text 4"/>
          <p:cNvSpPr/>
          <p:nvPr/>
        </p:nvSpPr>
        <p:spPr>
          <a:xfrm>
            <a:off x="365760" y="182880"/>
            <a:ext cx="6400800" cy="256032"/>
          </a:xfrm>
          <a:prstGeom prst="rect">
            <a:avLst/>
          </a:prstGeom>
          <a:noFill/>
          <a:ln/>
        </p:spPr>
        <p:txBody>
          <a:bodyPr wrap="square" lIns="0" tIns="0" rIns="0" bIns="0" rtlCol="0" anchor="ctr"/>
          <a:lstStyle/>
          <a:p>
            <a:pPr marL="0" indent="0" algn="l">
              <a:buNone/>
            </a:pPr>
            <a:r>
              <a:rPr lang="en-US" sz="900" kern="0" spc="100" dirty="0">
                <a:solidFill>
                  <a:srgbClr val="6B6762"/>
                </a:solidFill>
                <a:latin typeface="Courier New" pitchFamily="34" charset="0"/>
                <a:ea typeface="Courier New" pitchFamily="34" charset="-122"/>
                <a:cs typeface="Courier New" pitchFamily="34" charset="-120"/>
              </a:rPr>
              <a:t>APPLICATION OF LEARNING</a:t>
            </a:r>
            <a:endParaRPr lang="en-US" sz="900" dirty="0"/>
          </a:p>
        </p:txBody>
      </p:sp>
      <p:sp>
        <p:nvSpPr>
          <p:cNvPr id="7" name="Text 5"/>
          <p:cNvSpPr/>
          <p:nvPr/>
        </p:nvSpPr>
        <p:spPr>
          <a:xfrm>
            <a:off x="365760" y="457200"/>
            <a:ext cx="8229600" cy="457200"/>
          </a:xfrm>
          <a:prstGeom prst="rect">
            <a:avLst/>
          </a:prstGeom>
          <a:noFill/>
          <a:ln/>
        </p:spPr>
        <p:txBody>
          <a:bodyPr wrap="square" lIns="0" tIns="0" rIns="0" bIns="0" rtlCol="0" anchor="ctr"/>
          <a:lstStyle/>
          <a:p>
            <a:pPr marL="0" indent="0" algn="l">
              <a:buNone/>
            </a:pPr>
            <a:r>
              <a:rPr lang="en-US" sz="2400" dirty="0">
                <a:solidFill>
                  <a:srgbClr val="12100E"/>
                </a:solidFill>
                <a:latin typeface="Bookman Old Style" pitchFamily="34" charset="0"/>
                <a:ea typeface="Bookman Old Style" pitchFamily="34" charset="-122"/>
                <a:cs typeface="Bookman Old Style" pitchFamily="34" charset="-120"/>
              </a:rPr>
              <a:t>Task Card — Workbook Tasks</a:t>
            </a:r>
            <a:endParaRPr lang="en-US" sz="2400" dirty="0"/>
          </a:p>
        </p:txBody>
      </p:sp>
      <p:sp>
        <p:nvSpPr>
          <p:cNvPr id="8" name="Shape 6"/>
          <p:cNvSpPr/>
          <p:nvPr/>
        </p:nvSpPr>
        <p:spPr>
          <a:xfrm>
            <a:off x="365760" y="1005840"/>
            <a:ext cx="5486400" cy="2423160"/>
          </a:xfrm>
          <a:prstGeom prst="roundRect">
            <a:avLst>
              <a:gd name="adj" fmla="val 3774"/>
            </a:avLst>
          </a:prstGeom>
          <a:solidFill>
            <a:srgbClr val="FFFFFF"/>
          </a:solidFill>
          <a:ln w="22860">
            <a:solidFill>
              <a:srgbClr val="B8620A"/>
            </a:solidFill>
            <a:prstDash val="solid"/>
          </a:ln>
          <a:effectLst>
            <a:outerShdw blurRad="76200" dist="25400" dir="2700000" algn="bl" rotWithShape="0">
              <a:srgbClr val="000000">
                <a:alpha val="10000"/>
              </a:srgbClr>
            </a:outerShdw>
          </a:effectLst>
        </p:spPr>
        <p:txBody>
          <a:bodyPr/>
          <a:lstStyle/>
          <a:p>
            <a:endParaRPr lang="en-AU"/>
          </a:p>
        </p:txBody>
      </p:sp>
      <p:sp>
        <p:nvSpPr>
          <p:cNvPr id="9" name="Shape 7"/>
          <p:cNvSpPr/>
          <p:nvPr/>
        </p:nvSpPr>
        <p:spPr>
          <a:xfrm>
            <a:off x="457200" y="1097280"/>
            <a:ext cx="5303520" cy="402336"/>
          </a:xfrm>
          <a:prstGeom prst="roundRect">
            <a:avLst>
              <a:gd name="adj" fmla="val 15909"/>
            </a:avLst>
          </a:prstGeom>
          <a:solidFill>
            <a:srgbClr val="B8620A"/>
          </a:solidFill>
          <a:ln w="12700">
            <a:solidFill>
              <a:srgbClr val="B8620A"/>
            </a:solidFill>
            <a:prstDash val="solid"/>
          </a:ln>
        </p:spPr>
        <p:txBody>
          <a:bodyPr/>
          <a:lstStyle/>
          <a:p>
            <a:endParaRPr lang="en-AU"/>
          </a:p>
        </p:txBody>
      </p:sp>
      <p:sp>
        <p:nvSpPr>
          <p:cNvPr id="10" name="Text 8"/>
          <p:cNvSpPr/>
          <p:nvPr/>
        </p:nvSpPr>
        <p:spPr>
          <a:xfrm>
            <a:off x="457200" y="1097280"/>
            <a:ext cx="530352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Section 2  ·  8 min  ·  🟡 Developing</a:t>
            </a:r>
            <a:endParaRPr lang="en-US" sz="1050" dirty="0"/>
          </a:p>
        </p:txBody>
      </p:sp>
      <p:sp>
        <p:nvSpPr>
          <p:cNvPr id="11" name="Shape 9"/>
          <p:cNvSpPr/>
          <p:nvPr/>
        </p:nvSpPr>
        <p:spPr>
          <a:xfrm>
            <a:off x="566928" y="1673352"/>
            <a:ext cx="82296" cy="82296"/>
          </a:xfrm>
          <a:prstGeom prst="ellipse">
            <a:avLst/>
          </a:prstGeom>
          <a:solidFill>
            <a:srgbClr val="B8620A"/>
          </a:solidFill>
          <a:ln w="12700">
            <a:solidFill>
              <a:srgbClr val="B8620A"/>
            </a:solidFill>
            <a:prstDash val="solid"/>
          </a:ln>
        </p:spPr>
        <p:txBody>
          <a:bodyPr/>
          <a:lstStyle/>
          <a:p>
            <a:endParaRPr lang="en-AU"/>
          </a:p>
        </p:txBody>
      </p:sp>
      <p:sp>
        <p:nvSpPr>
          <p:cNvPr id="12" name="Text 10"/>
          <p:cNvSpPr/>
          <p:nvPr/>
        </p:nvSpPr>
        <p:spPr>
          <a:xfrm>
            <a:off x="713232" y="1609344"/>
            <a:ext cx="4983480" cy="548640"/>
          </a:xfrm>
          <a:prstGeom prst="rect">
            <a:avLst/>
          </a:prstGeom>
          <a:noFill/>
          <a:ln/>
        </p:spPr>
        <p:txBody>
          <a:bodyPr wrap="square" lIns="0" tIns="0" rIns="0" bIns="0" rtlCol="0" anchor="ctr"/>
          <a:lstStyle/>
          <a:p>
            <a:pPr marL="0" indent="0" algn="l">
              <a:buNone/>
            </a:pPr>
            <a:r>
              <a:rPr lang="en-US" sz="1150" dirty="0">
                <a:solidFill>
                  <a:srgbClr val="12100E"/>
                </a:solidFill>
                <a:latin typeface="Calibri" pitchFamily="34" charset="0"/>
                <a:ea typeface="Calibri" pitchFamily="34" charset="-122"/>
                <a:cs typeface="Calibri" pitchFamily="34" charset="-120"/>
              </a:rPr>
              <a:t>Choose your data collection method (interview, survey, or observation).</a:t>
            </a:r>
            <a:endParaRPr lang="en-US" sz="1150" dirty="0"/>
          </a:p>
        </p:txBody>
      </p:sp>
      <p:sp>
        <p:nvSpPr>
          <p:cNvPr id="13" name="Shape 11"/>
          <p:cNvSpPr/>
          <p:nvPr/>
        </p:nvSpPr>
        <p:spPr>
          <a:xfrm>
            <a:off x="566928" y="2258568"/>
            <a:ext cx="82296" cy="82296"/>
          </a:xfrm>
          <a:prstGeom prst="ellipse">
            <a:avLst/>
          </a:prstGeom>
          <a:solidFill>
            <a:srgbClr val="B8620A"/>
          </a:solidFill>
          <a:ln w="12700">
            <a:solidFill>
              <a:srgbClr val="B8620A"/>
            </a:solidFill>
            <a:prstDash val="solid"/>
          </a:ln>
        </p:spPr>
        <p:txBody>
          <a:bodyPr/>
          <a:lstStyle/>
          <a:p>
            <a:endParaRPr lang="en-AU"/>
          </a:p>
        </p:txBody>
      </p:sp>
      <p:sp>
        <p:nvSpPr>
          <p:cNvPr id="14" name="Text 12"/>
          <p:cNvSpPr/>
          <p:nvPr/>
        </p:nvSpPr>
        <p:spPr>
          <a:xfrm>
            <a:off x="713232" y="2194560"/>
            <a:ext cx="4983480" cy="548640"/>
          </a:xfrm>
          <a:prstGeom prst="rect">
            <a:avLst/>
          </a:prstGeom>
          <a:noFill/>
          <a:ln/>
        </p:spPr>
        <p:txBody>
          <a:bodyPr wrap="square" lIns="0" tIns="0" rIns="0" bIns="0" rtlCol="0" anchor="ctr"/>
          <a:lstStyle/>
          <a:p>
            <a:pPr marL="0" indent="0" algn="l">
              <a:buNone/>
            </a:pPr>
            <a:r>
              <a:rPr lang="en-US" sz="1150" dirty="0">
                <a:solidFill>
                  <a:srgbClr val="12100E"/>
                </a:solidFill>
                <a:latin typeface="Calibri" pitchFamily="34" charset="0"/>
                <a:ea typeface="Calibri" pitchFamily="34" charset="-122"/>
                <a:cs typeface="Calibri" pitchFamily="34" charset="-120"/>
              </a:rPr>
              <a:t>Justify your choice for your specific user group.</a:t>
            </a:r>
            <a:endParaRPr lang="en-US" sz="1150" dirty="0"/>
          </a:p>
        </p:txBody>
      </p:sp>
      <p:sp>
        <p:nvSpPr>
          <p:cNvPr id="15" name="Shape 13"/>
          <p:cNvSpPr/>
          <p:nvPr/>
        </p:nvSpPr>
        <p:spPr>
          <a:xfrm>
            <a:off x="566928" y="2843784"/>
            <a:ext cx="82296" cy="82296"/>
          </a:xfrm>
          <a:prstGeom prst="ellipse">
            <a:avLst/>
          </a:prstGeom>
          <a:solidFill>
            <a:srgbClr val="B8620A"/>
          </a:solidFill>
          <a:ln w="12700">
            <a:solidFill>
              <a:srgbClr val="B8620A"/>
            </a:solidFill>
            <a:prstDash val="solid"/>
          </a:ln>
        </p:spPr>
        <p:txBody>
          <a:bodyPr/>
          <a:lstStyle/>
          <a:p>
            <a:endParaRPr lang="en-AU"/>
          </a:p>
        </p:txBody>
      </p:sp>
      <p:sp>
        <p:nvSpPr>
          <p:cNvPr id="16" name="Text 14"/>
          <p:cNvSpPr/>
          <p:nvPr/>
        </p:nvSpPr>
        <p:spPr>
          <a:xfrm>
            <a:off x="713232" y="2779776"/>
            <a:ext cx="4983480" cy="548640"/>
          </a:xfrm>
          <a:prstGeom prst="rect">
            <a:avLst/>
          </a:prstGeom>
          <a:noFill/>
          <a:ln/>
        </p:spPr>
        <p:txBody>
          <a:bodyPr wrap="square" lIns="0" tIns="0" rIns="0" bIns="0" rtlCol="0" anchor="ctr"/>
          <a:lstStyle/>
          <a:p>
            <a:pPr marL="0" indent="0" algn="l">
              <a:buNone/>
            </a:pPr>
            <a:r>
              <a:rPr lang="en-US" sz="1150" dirty="0">
                <a:solidFill>
                  <a:srgbClr val="12100E"/>
                </a:solidFill>
                <a:latin typeface="Calibri" pitchFamily="34" charset="0"/>
                <a:ea typeface="Calibri" pitchFamily="34" charset="-122"/>
                <a:cs typeface="Calibri" pitchFamily="34" charset="-120"/>
              </a:rPr>
              <a:t>Identify one limitation and how you'll reduce it.</a:t>
            </a:r>
            <a:endParaRPr lang="en-US" sz="1150" dirty="0"/>
          </a:p>
        </p:txBody>
      </p:sp>
      <p:sp>
        <p:nvSpPr>
          <p:cNvPr id="17" name="Shape 15"/>
          <p:cNvSpPr/>
          <p:nvPr/>
        </p:nvSpPr>
        <p:spPr>
          <a:xfrm>
            <a:off x="365760" y="3611880"/>
            <a:ext cx="5486400" cy="2423160"/>
          </a:xfrm>
          <a:prstGeom prst="roundRect">
            <a:avLst>
              <a:gd name="adj" fmla="val 3774"/>
            </a:avLst>
          </a:prstGeom>
          <a:solidFill>
            <a:srgbClr val="FFFFFF"/>
          </a:solidFill>
          <a:ln w="22860">
            <a:solidFill>
              <a:srgbClr val="2B3A8C"/>
            </a:solidFill>
            <a:prstDash val="solid"/>
          </a:ln>
          <a:effectLst>
            <a:outerShdw blurRad="76200" dist="25400" dir="2700000" algn="bl" rotWithShape="0">
              <a:srgbClr val="000000">
                <a:alpha val="10000"/>
              </a:srgbClr>
            </a:outerShdw>
          </a:effectLst>
        </p:spPr>
        <p:txBody>
          <a:bodyPr/>
          <a:lstStyle/>
          <a:p>
            <a:endParaRPr lang="en-AU"/>
          </a:p>
        </p:txBody>
      </p:sp>
      <p:sp>
        <p:nvSpPr>
          <p:cNvPr id="18" name="Shape 16"/>
          <p:cNvSpPr/>
          <p:nvPr/>
        </p:nvSpPr>
        <p:spPr>
          <a:xfrm>
            <a:off x="457200" y="3703320"/>
            <a:ext cx="5303520" cy="402336"/>
          </a:xfrm>
          <a:prstGeom prst="roundRect">
            <a:avLst>
              <a:gd name="adj" fmla="val 15909"/>
            </a:avLst>
          </a:prstGeom>
          <a:solidFill>
            <a:srgbClr val="2B3A8C"/>
          </a:solidFill>
          <a:ln w="12700">
            <a:solidFill>
              <a:srgbClr val="2B3A8C"/>
            </a:solidFill>
            <a:prstDash val="solid"/>
          </a:ln>
        </p:spPr>
        <p:txBody>
          <a:bodyPr/>
          <a:lstStyle/>
          <a:p>
            <a:endParaRPr lang="en-AU"/>
          </a:p>
        </p:txBody>
      </p:sp>
      <p:sp>
        <p:nvSpPr>
          <p:cNvPr id="19" name="Text 17"/>
          <p:cNvSpPr/>
          <p:nvPr/>
        </p:nvSpPr>
        <p:spPr>
          <a:xfrm>
            <a:off x="457200" y="3703320"/>
            <a:ext cx="530352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Section 3  ·  15 min  ·  🟡→🔵 Developing–Extending</a:t>
            </a:r>
            <a:endParaRPr lang="en-US" sz="1050" dirty="0"/>
          </a:p>
        </p:txBody>
      </p:sp>
      <p:sp>
        <p:nvSpPr>
          <p:cNvPr id="20" name="Shape 18"/>
          <p:cNvSpPr/>
          <p:nvPr/>
        </p:nvSpPr>
        <p:spPr>
          <a:xfrm>
            <a:off x="566928" y="4279392"/>
            <a:ext cx="82296" cy="82296"/>
          </a:xfrm>
          <a:prstGeom prst="ellipse">
            <a:avLst/>
          </a:prstGeom>
          <a:solidFill>
            <a:srgbClr val="2B3A8C"/>
          </a:solidFill>
          <a:ln w="12700">
            <a:solidFill>
              <a:srgbClr val="2B3A8C"/>
            </a:solidFill>
            <a:prstDash val="solid"/>
          </a:ln>
        </p:spPr>
        <p:txBody>
          <a:bodyPr/>
          <a:lstStyle/>
          <a:p>
            <a:endParaRPr lang="en-AU"/>
          </a:p>
        </p:txBody>
      </p:sp>
      <p:sp>
        <p:nvSpPr>
          <p:cNvPr id="21" name="Text 19"/>
          <p:cNvSpPr/>
          <p:nvPr/>
        </p:nvSpPr>
        <p:spPr>
          <a:xfrm>
            <a:off x="713232" y="4215384"/>
            <a:ext cx="4983480" cy="548640"/>
          </a:xfrm>
          <a:prstGeom prst="rect">
            <a:avLst/>
          </a:prstGeom>
          <a:noFill/>
          <a:ln/>
        </p:spPr>
        <p:txBody>
          <a:bodyPr wrap="square" lIns="0" tIns="0" rIns="0" bIns="0" rtlCol="0" anchor="ctr"/>
          <a:lstStyle/>
          <a:p>
            <a:pPr marL="0" indent="0" algn="l">
              <a:buNone/>
            </a:pPr>
            <a:r>
              <a:rPr lang="en-US" sz="1150" dirty="0">
                <a:solidFill>
                  <a:srgbClr val="12100E"/>
                </a:solidFill>
                <a:latin typeface="Calibri" pitchFamily="34" charset="0"/>
                <a:ea typeface="Calibri" pitchFamily="34" charset="-122"/>
                <a:cs typeface="Calibri" pitchFamily="34" charset="-120"/>
              </a:rPr>
              <a:t>Write your full data collection instrument (min. 5 survey Q's or 4 interview Q's + 2 follow-ups).</a:t>
            </a:r>
            <a:endParaRPr lang="en-US" sz="1150" dirty="0"/>
          </a:p>
        </p:txBody>
      </p:sp>
      <p:sp>
        <p:nvSpPr>
          <p:cNvPr id="22" name="Shape 20"/>
          <p:cNvSpPr/>
          <p:nvPr/>
        </p:nvSpPr>
        <p:spPr>
          <a:xfrm>
            <a:off x="566928" y="4864608"/>
            <a:ext cx="82296" cy="82296"/>
          </a:xfrm>
          <a:prstGeom prst="ellipse">
            <a:avLst/>
          </a:prstGeom>
          <a:solidFill>
            <a:srgbClr val="2B3A8C"/>
          </a:solidFill>
          <a:ln w="12700">
            <a:solidFill>
              <a:srgbClr val="2B3A8C"/>
            </a:solidFill>
            <a:prstDash val="solid"/>
          </a:ln>
        </p:spPr>
        <p:txBody>
          <a:bodyPr/>
          <a:lstStyle/>
          <a:p>
            <a:endParaRPr lang="en-AU"/>
          </a:p>
        </p:txBody>
      </p:sp>
      <p:sp>
        <p:nvSpPr>
          <p:cNvPr id="23" name="Text 21"/>
          <p:cNvSpPr/>
          <p:nvPr/>
        </p:nvSpPr>
        <p:spPr>
          <a:xfrm>
            <a:off x="713232" y="4800600"/>
            <a:ext cx="4983480" cy="548640"/>
          </a:xfrm>
          <a:prstGeom prst="rect">
            <a:avLst/>
          </a:prstGeom>
          <a:noFill/>
          <a:ln/>
        </p:spPr>
        <p:txBody>
          <a:bodyPr wrap="square" lIns="0" tIns="0" rIns="0" bIns="0" rtlCol="0" anchor="ctr"/>
          <a:lstStyle/>
          <a:p>
            <a:pPr marL="0" indent="0" algn="l">
              <a:buNone/>
            </a:pPr>
            <a:r>
              <a:rPr lang="en-US" sz="1150" dirty="0">
                <a:solidFill>
                  <a:srgbClr val="12100E"/>
                </a:solidFill>
                <a:latin typeface="Calibri" pitchFamily="34" charset="0"/>
                <a:ea typeface="Calibri" pitchFamily="34" charset="-122"/>
                <a:cs typeface="Calibri" pitchFamily="34" charset="-120"/>
              </a:rPr>
              <a:t>Label each question as open or closed.</a:t>
            </a:r>
            <a:endParaRPr lang="en-US" sz="1150" dirty="0"/>
          </a:p>
        </p:txBody>
      </p:sp>
      <p:sp>
        <p:nvSpPr>
          <p:cNvPr id="24" name="Shape 22"/>
          <p:cNvSpPr/>
          <p:nvPr/>
        </p:nvSpPr>
        <p:spPr>
          <a:xfrm>
            <a:off x="566928" y="5449824"/>
            <a:ext cx="82296" cy="82296"/>
          </a:xfrm>
          <a:prstGeom prst="ellipse">
            <a:avLst/>
          </a:prstGeom>
          <a:solidFill>
            <a:srgbClr val="2B3A8C"/>
          </a:solidFill>
          <a:ln w="12700">
            <a:solidFill>
              <a:srgbClr val="2B3A8C"/>
            </a:solidFill>
            <a:prstDash val="solid"/>
          </a:ln>
        </p:spPr>
        <p:txBody>
          <a:bodyPr/>
          <a:lstStyle/>
          <a:p>
            <a:endParaRPr lang="en-AU"/>
          </a:p>
        </p:txBody>
      </p:sp>
      <p:sp>
        <p:nvSpPr>
          <p:cNvPr id="25" name="Text 23"/>
          <p:cNvSpPr/>
          <p:nvPr/>
        </p:nvSpPr>
        <p:spPr>
          <a:xfrm>
            <a:off x="713232" y="5385816"/>
            <a:ext cx="4983480" cy="548640"/>
          </a:xfrm>
          <a:prstGeom prst="rect">
            <a:avLst/>
          </a:prstGeom>
          <a:noFill/>
          <a:ln/>
        </p:spPr>
        <p:txBody>
          <a:bodyPr wrap="square" lIns="0" tIns="0" rIns="0" bIns="0" rtlCol="0" anchor="ctr"/>
          <a:lstStyle/>
          <a:p>
            <a:pPr marL="0" indent="0" algn="l">
              <a:buNone/>
            </a:pPr>
            <a:r>
              <a:rPr lang="en-US" sz="1150" dirty="0">
                <a:solidFill>
                  <a:srgbClr val="12100E"/>
                </a:solidFill>
                <a:latin typeface="Calibri" pitchFamily="34" charset="0"/>
                <a:ea typeface="Calibri" pitchFamily="34" charset="-122"/>
                <a:cs typeface="Calibri" pitchFamily="34" charset="-120"/>
              </a:rPr>
              <a:t>Find one leading/ambiguous question — rewrite it and explain your changes.</a:t>
            </a:r>
            <a:endParaRPr lang="en-US" sz="1150" dirty="0"/>
          </a:p>
        </p:txBody>
      </p:sp>
      <p:sp>
        <p:nvSpPr>
          <p:cNvPr id="26" name="Shape 24"/>
          <p:cNvSpPr/>
          <p:nvPr/>
        </p:nvSpPr>
        <p:spPr>
          <a:xfrm>
            <a:off x="6126480" y="1005840"/>
            <a:ext cx="5486400" cy="2423160"/>
          </a:xfrm>
          <a:prstGeom prst="roundRect">
            <a:avLst>
              <a:gd name="adj" fmla="val 3774"/>
            </a:avLst>
          </a:prstGeom>
          <a:solidFill>
            <a:srgbClr val="FFFFFF"/>
          </a:solidFill>
          <a:ln w="22860">
            <a:solidFill>
              <a:srgbClr val="2B3A8C"/>
            </a:solidFill>
            <a:prstDash val="solid"/>
          </a:ln>
          <a:effectLst>
            <a:outerShdw blurRad="76200" dist="25400" dir="2700000" algn="bl" rotWithShape="0">
              <a:srgbClr val="000000">
                <a:alpha val="10000"/>
              </a:srgbClr>
            </a:outerShdw>
          </a:effectLst>
        </p:spPr>
        <p:txBody>
          <a:bodyPr/>
          <a:lstStyle/>
          <a:p>
            <a:endParaRPr lang="en-AU"/>
          </a:p>
        </p:txBody>
      </p:sp>
      <p:sp>
        <p:nvSpPr>
          <p:cNvPr id="27" name="Shape 25"/>
          <p:cNvSpPr/>
          <p:nvPr/>
        </p:nvSpPr>
        <p:spPr>
          <a:xfrm>
            <a:off x="6217920" y="1097280"/>
            <a:ext cx="5303520" cy="402336"/>
          </a:xfrm>
          <a:prstGeom prst="roundRect">
            <a:avLst>
              <a:gd name="adj" fmla="val 15909"/>
            </a:avLst>
          </a:prstGeom>
          <a:solidFill>
            <a:srgbClr val="2B3A8C"/>
          </a:solidFill>
          <a:ln w="12700">
            <a:solidFill>
              <a:srgbClr val="2B3A8C"/>
            </a:solidFill>
            <a:prstDash val="solid"/>
          </a:ln>
        </p:spPr>
        <p:txBody>
          <a:bodyPr/>
          <a:lstStyle/>
          <a:p>
            <a:endParaRPr lang="en-AU"/>
          </a:p>
        </p:txBody>
      </p:sp>
      <p:sp>
        <p:nvSpPr>
          <p:cNvPr id="28" name="Text 26"/>
          <p:cNvSpPr/>
          <p:nvPr/>
        </p:nvSpPr>
        <p:spPr>
          <a:xfrm>
            <a:off x="6217920" y="1097280"/>
            <a:ext cx="530352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Section 4  ·  8 min  ·  🔵 Extending</a:t>
            </a:r>
            <a:endParaRPr lang="en-US" sz="1050" dirty="0"/>
          </a:p>
        </p:txBody>
      </p:sp>
      <p:sp>
        <p:nvSpPr>
          <p:cNvPr id="29" name="Shape 27"/>
          <p:cNvSpPr/>
          <p:nvPr/>
        </p:nvSpPr>
        <p:spPr>
          <a:xfrm>
            <a:off x="6327648" y="1673352"/>
            <a:ext cx="82296" cy="82296"/>
          </a:xfrm>
          <a:prstGeom prst="ellipse">
            <a:avLst/>
          </a:prstGeom>
          <a:solidFill>
            <a:srgbClr val="2B3A8C"/>
          </a:solidFill>
          <a:ln w="12700">
            <a:solidFill>
              <a:srgbClr val="2B3A8C"/>
            </a:solidFill>
            <a:prstDash val="solid"/>
          </a:ln>
        </p:spPr>
        <p:txBody>
          <a:bodyPr/>
          <a:lstStyle/>
          <a:p>
            <a:endParaRPr lang="en-AU"/>
          </a:p>
        </p:txBody>
      </p:sp>
      <p:sp>
        <p:nvSpPr>
          <p:cNvPr id="30" name="Text 28"/>
          <p:cNvSpPr/>
          <p:nvPr/>
        </p:nvSpPr>
        <p:spPr>
          <a:xfrm>
            <a:off x="6473952" y="1609344"/>
            <a:ext cx="4983480" cy="548640"/>
          </a:xfrm>
          <a:prstGeom prst="rect">
            <a:avLst/>
          </a:prstGeom>
          <a:noFill/>
          <a:ln/>
        </p:spPr>
        <p:txBody>
          <a:bodyPr wrap="square" lIns="0" tIns="0" rIns="0" bIns="0" rtlCol="0" anchor="ctr"/>
          <a:lstStyle/>
          <a:p>
            <a:pPr marL="0" indent="0" algn="l">
              <a:buNone/>
            </a:pPr>
            <a:r>
              <a:rPr lang="en-US" sz="1150" dirty="0">
                <a:solidFill>
                  <a:srgbClr val="12100E"/>
                </a:solidFill>
                <a:latin typeface="Calibri" pitchFamily="34" charset="0"/>
                <a:ea typeface="Calibri" pitchFamily="34" charset="-122"/>
                <a:cs typeface="Calibri" pitchFamily="34" charset="-120"/>
              </a:rPr>
              <a:t>Identify an assumption baked into your instrument.</a:t>
            </a:r>
            <a:endParaRPr lang="en-US" sz="1150" dirty="0"/>
          </a:p>
        </p:txBody>
      </p:sp>
      <p:sp>
        <p:nvSpPr>
          <p:cNvPr id="31" name="Shape 29"/>
          <p:cNvSpPr/>
          <p:nvPr/>
        </p:nvSpPr>
        <p:spPr>
          <a:xfrm>
            <a:off x="6327648" y="2258568"/>
            <a:ext cx="82296" cy="82296"/>
          </a:xfrm>
          <a:prstGeom prst="ellipse">
            <a:avLst/>
          </a:prstGeom>
          <a:solidFill>
            <a:srgbClr val="2B3A8C"/>
          </a:solidFill>
          <a:ln w="12700">
            <a:solidFill>
              <a:srgbClr val="2B3A8C"/>
            </a:solidFill>
            <a:prstDash val="solid"/>
          </a:ln>
        </p:spPr>
        <p:txBody>
          <a:bodyPr/>
          <a:lstStyle/>
          <a:p>
            <a:endParaRPr lang="en-AU"/>
          </a:p>
        </p:txBody>
      </p:sp>
      <p:sp>
        <p:nvSpPr>
          <p:cNvPr id="32" name="Text 30"/>
          <p:cNvSpPr/>
          <p:nvPr/>
        </p:nvSpPr>
        <p:spPr>
          <a:xfrm>
            <a:off x="6473952" y="2194560"/>
            <a:ext cx="4983480" cy="548640"/>
          </a:xfrm>
          <a:prstGeom prst="rect">
            <a:avLst/>
          </a:prstGeom>
          <a:noFill/>
          <a:ln/>
        </p:spPr>
        <p:txBody>
          <a:bodyPr wrap="square" lIns="0" tIns="0" rIns="0" bIns="0" rtlCol="0" anchor="ctr"/>
          <a:lstStyle/>
          <a:p>
            <a:pPr marL="0" indent="0" algn="l">
              <a:buNone/>
            </a:pPr>
            <a:r>
              <a:rPr lang="en-US" sz="1150" dirty="0">
                <a:solidFill>
                  <a:srgbClr val="12100E"/>
                </a:solidFill>
                <a:latin typeface="Calibri" pitchFamily="34" charset="0"/>
                <a:ea typeface="Calibri" pitchFamily="34" charset="-122"/>
                <a:cs typeface="Calibri" pitchFamily="34" charset="-120"/>
              </a:rPr>
              <a:t>If you could only keep one question — which one and why?</a:t>
            </a:r>
            <a:endParaRPr lang="en-US" sz="1150" dirty="0"/>
          </a:p>
        </p:txBody>
      </p:sp>
      <p:sp>
        <p:nvSpPr>
          <p:cNvPr id="33" name="Shape 31"/>
          <p:cNvSpPr/>
          <p:nvPr/>
        </p:nvSpPr>
        <p:spPr>
          <a:xfrm>
            <a:off x="6126480" y="3611880"/>
            <a:ext cx="5486400" cy="2423160"/>
          </a:xfrm>
          <a:prstGeom prst="roundRect">
            <a:avLst>
              <a:gd name="adj" fmla="val 3774"/>
            </a:avLst>
          </a:prstGeom>
          <a:solidFill>
            <a:srgbClr val="FFFFFF"/>
          </a:solidFill>
          <a:ln w="22860">
            <a:solidFill>
              <a:srgbClr val="8C1F28"/>
            </a:solidFill>
            <a:prstDash val="solid"/>
          </a:ln>
          <a:effectLst>
            <a:outerShdw blurRad="76200" dist="25400" dir="2700000" algn="bl" rotWithShape="0">
              <a:srgbClr val="000000">
                <a:alpha val="10000"/>
              </a:srgbClr>
            </a:outerShdw>
          </a:effectLst>
        </p:spPr>
        <p:txBody>
          <a:bodyPr/>
          <a:lstStyle/>
          <a:p>
            <a:endParaRPr lang="en-AU"/>
          </a:p>
        </p:txBody>
      </p:sp>
      <p:sp>
        <p:nvSpPr>
          <p:cNvPr id="34" name="Shape 32"/>
          <p:cNvSpPr/>
          <p:nvPr/>
        </p:nvSpPr>
        <p:spPr>
          <a:xfrm>
            <a:off x="6217920" y="3703320"/>
            <a:ext cx="5303520" cy="402336"/>
          </a:xfrm>
          <a:prstGeom prst="roundRect">
            <a:avLst>
              <a:gd name="adj" fmla="val 15909"/>
            </a:avLst>
          </a:prstGeom>
          <a:solidFill>
            <a:srgbClr val="8C1F28"/>
          </a:solidFill>
          <a:ln w="12700">
            <a:solidFill>
              <a:srgbClr val="8C1F28"/>
            </a:solidFill>
            <a:prstDash val="solid"/>
          </a:ln>
        </p:spPr>
        <p:txBody>
          <a:bodyPr/>
          <a:lstStyle/>
          <a:p>
            <a:endParaRPr lang="en-AU"/>
          </a:p>
        </p:txBody>
      </p:sp>
      <p:sp>
        <p:nvSpPr>
          <p:cNvPr id="35" name="Text 33"/>
          <p:cNvSpPr/>
          <p:nvPr/>
        </p:nvSpPr>
        <p:spPr>
          <a:xfrm>
            <a:off x="6217920" y="3703320"/>
            <a:ext cx="530352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Section 5  ·  5 min (end of lesson)  ·  Exit Ticket</a:t>
            </a:r>
            <a:endParaRPr lang="en-US" sz="1050" dirty="0"/>
          </a:p>
        </p:txBody>
      </p:sp>
      <p:sp>
        <p:nvSpPr>
          <p:cNvPr id="36" name="Shape 34"/>
          <p:cNvSpPr/>
          <p:nvPr/>
        </p:nvSpPr>
        <p:spPr>
          <a:xfrm>
            <a:off x="6327648" y="4279392"/>
            <a:ext cx="82296" cy="82296"/>
          </a:xfrm>
          <a:prstGeom prst="ellipse">
            <a:avLst/>
          </a:prstGeom>
          <a:solidFill>
            <a:srgbClr val="8C1F28"/>
          </a:solidFill>
          <a:ln w="12700">
            <a:solidFill>
              <a:srgbClr val="8C1F28"/>
            </a:solidFill>
            <a:prstDash val="solid"/>
          </a:ln>
        </p:spPr>
        <p:txBody>
          <a:bodyPr/>
          <a:lstStyle/>
          <a:p>
            <a:endParaRPr lang="en-AU"/>
          </a:p>
        </p:txBody>
      </p:sp>
      <p:sp>
        <p:nvSpPr>
          <p:cNvPr id="37" name="Text 35"/>
          <p:cNvSpPr/>
          <p:nvPr/>
        </p:nvSpPr>
        <p:spPr>
          <a:xfrm>
            <a:off x="6473952" y="4215384"/>
            <a:ext cx="4983480" cy="548640"/>
          </a:xfrm>
          <a:prstGeom prst="rect">
            <a:avLst/>
          </a:prstGeom>
          <a:noFill/>
          <a:ln/>
        </p:spPr>
        <p:txBody>
          <a:bodyPr wrap="square" lIns="0" tIns="0" rIns="0" bIns="0" rtlCol="0" anchor="ctr"/>
          <a:lstStyle/>
          <a:p>
            <a:pPr marL="0" indent="0" algn="l">
              <a:buNone/>
            </a:pPr>
            <a:r>
              <a:rPr lang="en-US" sz="1150" dirty="0">
                <a:solidFill>
                  <a:srgbClr val="12100E"/>
                </a:solidFill>
                <a:latin typeface="Calibri" pitchFamily="34" charset="0"/>
                <a:ea typeface="Calibri" pitchFamily="34" charset="-122"/>
                <a:cs typeface="Calibri" pitchFamily="34" charset="-120"/>
              </a:rPr>
              <a:t>Complete on paper — no looking back at your workbook.</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8DF"/>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Shape 2"/>
          <p:cNvSpPr/>
          <p:nvPr/>
        </p:nvSpPr>
        <p:spPr>
          <a:xfrm>
            <a:off x="9966960" y="164592"/>
            <a:ext cx="1920240" cy="347472"/>
          </a:xfrm>
          <a:prstGeom prst="rect">
            <a:avLst/>
          </a:prstGeom>
          <a:solidFill>
            <a:srgbClr val="2B3A8C"/>
          </a:solidFill>
          <a:ln w="12700">
            <a:solidFill>
              <a:srgbClr val="2B3A8C"/>
            </a:solidFill>
            <a:prstDash val="solid"/>
          </a:ln>
        </p:spPr>
        <p:txBody>
          <a:bodyPr/>
          <a:lstStyle/>
          <a:p>
            <a:endParaRPr lang="en-AU"/>
          </a:p>
        </p:txBody>
      </p:sp>
      <p:sp>
        <p:nvSpPr>
          <p:cNvPr id="5" name="Text 3"/>
          <p:cNvSpPr/>
          <p:nvPr/>
        </p:nvSpPr>
        <p:spPr>
          <a:xfrm>
            <a:off x="9966960" y="164592"/>
            <a:ext cx="1920240" cy="347472"/>
          </a:xfrm>
          <a:prstGeom prst="rect">
            <a:avLst/>
          </a:prstGeom>
          <a:noFill/>
          <a:ln/>
        </p:spPr>
        <p:txBody>
          <a:bodyPr wrap="square" lIns="0" tIns="0" rIns="0" bIns="0" rtlCol="0" anchor="ctr"/>
          <a:lstStyle/>
          <a:p>
            <a:pPr marL="0" indent="0" algn="ctr">
              <a:buNone/>
            </a:pPr>
            <a:r>
              <a:rPr lang="en-US" sz="850" b="1" dirty="0">
                <a:solidFill>
                  <a:srgbClr val="FFFFFF"/>
                </a:solidFill>
                <a:latin typeface="Courier New" pitchFamily="34" charset="0"/>
                <a:ea typeface="Courier New" pitchFamily="34" charset="-122"/>
                <a:cs typeface="Courier New" pitchFamily="34" charset="-120"/>
              </a:rPr>
              <a:t>RESPONSIVE</a:t>
            </a:r>
            <a:endParaRPr lang="en-US" sz="850" dirty="0"/>
          </a:p>
        </p:txBody>
      </p:sp>
      <p:sp>
        <p:nvSpPr>
          <p:cNvPr id="6" name="Text 4"/>
          <p:cNvSpPr/>
          <p:nvPr/>
        </p:nvSpPr>
        <p:spPr>
          <a:xfrm>
            <a:off x="365760" y="182880"/>
            <a:ext cx="6400800" cy="256032"/>
          </a:xfrm>
          <a:prstGeom prst="rect">
            <a:avLst/>
          </a:prstGeom>
          <a:noFill/>
          <a:ln/>
        </p:spPr>
        <p:txBody>
          <a:bodyPr wrap="square" lIns="0" tIns="0" rIns="0" bIns="0" rtlCol="0" anchor="ctr"/>
          <a:lstStyle/>
          <a:p>
            <a:pPr marL="0" indent="0" algn="l">
              <a:buNone/>
            </a:pPr>
            <a:r>
              <a:rPr lang="en-US" sz="900" kern="0" spc="100" dirty="0">
                <a:solidFill>
                  <a:srgbClr val="6B6762"/>
                </a:solidFill>
                <a:latin typeface="Courier New" pitchFamily="34" charset="0"/>
                <a:ea typeface="Courier New" pitchFamily="34" charset="-122"/>
                <a:cs typeface="Courier New" pitchFamily="34" charset="-120"/>
              </a:rPr>
              <a:t>RESPONSIVE TEACHING</a:t>
            </a:r>
            <a:endParaRPr lang="en-US" sz="900" dirty="0"/>
          </a:p>
        </p:txBody>
      </p:sp>
      <p:sp>
        <p:nvSpPr>
          <p:cNvPr id="7" name="Text 5"/>
          <p:cNvSpPr/>
          <p:nvPr/>
        </p:nvSpPr>
        <p:spPr>
          <a:xfrm>
            <a:off x="365760" y="457200"/>
            <a:ext cx="9144000" cy="457200"/>
          </a:xfrm>
          <a:prstGeom prst="rect">
            <a:avLst/>
          </a:prstGeom>
          <a:noFill/>
          <a:ln/>
        </p:spPr>
        <p:txBody>
          <a:bodyPr wrap="square" lIns="0" tIns="0" rIns="0" bIns="0" rtlCol="0" anchor="ctr"/>
          <a:lstStyle/>
          <a:p>
            <a:pPr marL="0" indent="0" algn="l">
              <a:buNone/>
            </a:pPr>
            <a:r>
              <a:rPr lang="en-US" sz="2400" dirty="0">
                <a:solidFill>
                  <a:srgbClr val="12100E"/>
                </a:solidFill>
                <a:latin typeface="Bookman Old Style" pitchFamily="34" charset="0"/>
                <a:ea typeface="Bookman Old Style" pitchFamily="34" charset="-122"/>
                <a:cs typeface="Bookman Old Style" pitchFamily="34" charset="-120"/>
              </a:rPr>
              <a:t>Share-Out — Question Quality Check</a:t>
            </a:r>
            <a:endParaRPr lang="en-US" sz="2400" dirty="0"/>
          </a:p>
        </p:txBody>
      </p:sp>
      <p:sp>
        <p:nvSpPr>
          <p:cNvPr id="8" name="Shape 6"/>
          <p:cNvSpPr/>
          <p:nvPr/>
        </p:nvSpPr>
        <p:spPr>
          <a:xfrm>
            <a:off x="365760" y="1005840"/>
            <a:ext cx="11430000" cy="566928"/>
          </a:xfrm>
          <a:prstGeom prst="roundRect">
            <a:avLst>
              <a:gd name="adj" fmla="val 12903"/>
            </a:avLst>
          </a:prstGeom>
          <a:solidFill>
            <a:srgbClr val="12100E"/>
          </a:solidFill>
          <a:ln w="12700">
            <a:solidFill>
              <a:srgbClr val="12100E"/>
            </a:solidFill>
            <a:prstDash val="solid"/>
          </a:ln>
        </p:spPr>
        <p:txBody>
          <a:bodyPr/>
          <a:lstStyle/>
          <a:p>
            <a:endParaRPr lang="en-AU"/>
          </a:p>
        </p:txBody>
      </p:sp>
      <p:sp>
        <p:nvSpPr>
          <p:cNvPr id="9" name="Text 7"/>
          <p:cNvSpPr/>
          <p:nvPr/>
        </p:nvSpPr>
        <p:spPr>
          <a:xfrm>
            <a:off x="502920" y="1005840"/>
            <a:ext cx="11155680"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One group reads their BEST question. Class votes — then class discusses.</a:t>
            </a:r>
            <a:endParaRPr lang="en-US" sz="1500" dirty="0"/>
          </a:p>
        </p:txBody>
      </p:sp>
      <p:sp>
        <p:nvSpPr>
          <p:cNvPr id="10" name="Shape 8"/>
          <p:cNvSpPr/>
          <p:nvPr/>
        </p:nvSpPr>
        <p:spPr>
          <a:xfrm>
            <a:off x="731520" y="1783080"/>
            <a:ext cx="3291840" cy="1417320"/>
          </a:xfrm>
          <a:prstGeom prst="roundRect">
            <a:avLst>
              <a:gd name="adj" fmla="val 7742"/>
            </a:avLst>
          </a:prstGeom>
          <a:solidFill>
            <a:srgbClr val="FFFFFF"/>
          </a:solidFill>
          <a:ln w="25400">
            <a:solidFill>
              <a:srgbClr val="1B5E47"/>
            </a:solidFill>
            <a:prstDash val="solid"/>
          </a:ln>
          <a:effectLst>
            <a:outerShdw blurRad="76200" dist="25400" dir="2700000" algn="bl" rotWithShape="0">
              <a:srgbClr val="000000">
                <a:alpha val="10000"/>
              </a:srgbClr>
            </a:outerShdw>
          </a:effectLst>
        </p:spPr>
        <p:txBody>
          <a:bodyPr/>
          <a:lstStyle/>
          <a:p>
            <a:endParaRPr lang="en-AU"/>
          </a:p>
        </p:txBody>
      </p:sp>
      <p:sp>
        <p:nvSpPr>
          <p:cNvPr id="11" name="Text 9"/>
          <p:cNvSpPr/>
          <p:nvPr/>
        </p:nvSpPr>
        <p:spPr>
          <a:xfrm>
            <a:off x="731520" y="1828800"/>
            <a:ext cx="3291840" cy="320040"/>
          </a:xfrm>
          <a:prstGeom prst="rect">
            <a:avLst/>
          </a:prstGeom>
          <a:noFill/>
          <a:ln/>
        </p:spPr>
        <p:txBody>
          <a:bodyPr wrap="square" lIns="0" tIns="0" rIns="0" bIns="0" rtlCol="0" anchor="ctr"/>
          <a:lstStyle/>
          <a:p>
            <a:pPr marL="0" indent="0" algn="ctr">
              <a:buNone/>
            </a:pPr>
            <a:r>
              <a:rPr lang="en-US" sz="900" dirty="0">
                <a:solidFill>
                  <a:srgbClr val="1B5E47"/>
                </a:solidFill>
                <a:latin typeface="Courier New" pitchFamily="34" charset="0"/>
                <a:ea typeface="Courier New" pitchFamily="34" charset="-122"/>
                <a:cs typeface="Courier New" pitchFamily="34" charset="-120"/>
              </a:rPr>
              <a:t>Class votes ✋</a:t>
            </a:r>
            <a:endParaRPr lang="en-US" sz="900" dirty="0"/>
          </a:p>
        </p:txBody>
      </p:sp>
      <p:sp>
        <p:nvSpPr>
          <p:cNvPr id="12" name="Text 10"/>
          <p:cNvSpPr/>
          <p:nvPr/>
        </p:nvSpPr>
        <p:spPr>
          <a:xfrm>
            <a:off x="731520" y="2148840"/>
            <a:ext cx="3291840" cy="1005840"/>
          </a:xfrm>
          <a:prstGeom prst="rect">
            <a:avLst/>
          </a:prstGeom>
          <a:noFill/>
          <a:ln/>
        </p:spPr>
        <p:txBody>
          <a:bodyPr wrap="square" lIns="0" tIns="0" rIns="0" bIns="0" rtlCol="0" anchor="ctr"/>
          <a:lstStyle/>
          <a:p>
            <a:pPr marL="0" indent="0" algn="ctr">
              <a:buNone/>
            </a:pPr>
            <a:r>
              <a:rPr lang="en-US" sz="1800" dirty="0">
                <a:solidFill>
                  <a:srgbClr val="12100E"/>
                </a:solidFill>
                <a:latin typeface="Bookman Old Style" pitchFamily="34" charset="0"/>
                <a:ea typeface="Bookman Old Style" pitchFamily="34" charset="-122"/>
                <a:cs typeface="Bookman Old Style" pitchFamily="34" charset="-120"/>
              </a:rPr>
              <a:t>Open</a:t>
            </a:r>
            <a:endParaRPr lang="en-US" sz="1800" dirty="0"/>
          </a:p>
          <a:p>
            <a:pPr marL="0" indent="0" algn="ctr">
              <a:buNone/>
            </a:pPr>
            <a:r>
              <a:rPr lang="en-US" sz="1800" dirty="0">
                <a:solidFill>
                  <a:srgbClr val="12100E"/>
                </a:solidFill>
                <a:latin typeface="Bookman Old Style" pitchFamily="34" charset="0"/>
                <a:ea typeface="Bookman Old Style" pitchFamily="34" charset="-122"/>
                <a:cs typeface="Bookman Old Style" pitchFamily="34" charset="-120"/>
              </a:rPr>
              <a:t>or Closed?</a:t>
            </a:r>
            <a:endParaRPr lang="en-US" sz="1800" dirty="0"/>
          </a:p>
        </p:txBody>
      </p:sp>
      <p:sp>
        <p:nvSpPr>
          <p:cNvPr id="13" name="Shape 11"/>
          <p:cNvSpPr/>
          <p:nvPr/>
        </p:nvSpPr>
        <p:spPr>
          <a:xfrm>
            <a:off x="4389120" y="1783080"/>
            <a:ext cx="3291840" cy="1417320"/>
          </a:xfrm>
          <a:prstGeom prst="roundRect">
            <a:avLst>
              <a:gd name="adj" fmla="val 7742"/>
            </a:avLst>
          </a:prstGeom>
          <a:solidFill>
            <a:srgbClr val="FFFFFF"/>
          </a:solidFill>
          <a:ln w="25400">
            <a:solidFill>
              <a:srgbClr val="B8620A"/>
            </a:solidFill>
            <a:prstDash val="solid"/>
          </a:ln>
          <a:effectLst>
            <a:outerShdw blurRad="76200" dist="25400" dir="2700000" algn="bl" rotWithShape="0">
              <a:srgbClr val="000000">
                <a:alpha val="10000"/>
              </a:srgbClr>
            </a:outerShdw>
          </a:effectLst>
        </p:spPr>
        <p:txBody>
          <a:bodyPr/>
          <a:lstStyle/>
          <a:p>
            <a:endParaRPr lang="en-AU"/>
          </a:p>
        </p:txBody>
      </p:sp>
      <p:sp>
        <p:nvSpPr>
          <p:cNvPr id="14" name="Text 12"/>
          <p:cNvSpPr/>
          <p:nvPr/>
        </p:nvSpPr>
        <p:spPr>
          <a:xfrm>
            <a:off x="4389120" y="1828800"/>
            <a:ext cx="3291840" cy="320040"/>
          </a:xfrm>
          <a:prstGeom prst="rect">
            <a:avLst/>
          </a:prstGeom>
          <a:noFill/>
          <a:ln/>
        </p:spPr>
        <p:txBody>
          <a:bodyPr wrap="square" lIns="0" tIns="0" rIns="0" bIns="0" rtlCol="0" anchor="ctr"/>
          <a:lstStyle/>
          <a:p>
            <a:pPr marL="0" indent="0" algn="ctr">
              <a:buNone/>
            </a:pPr>
            <a:r>
              <a:rPr lang="en-US" sz="900" dirty="0">
                <a:solidFill>
                  <a:srgbClr val="B8620A"/>
                </a:solidFill>
                <a:latin typeface="Courier New" pitchFamily="34" charset="0"/>
                <a:ea typeface="Courier New" pitchFamily="34" charset="-122"/>
                <a:cs typeface="Courier New" pitchFamily="34" charset="-120"/>
              </a:rPr>
              <a:t>Class votes ✋</a:t>
            </a:r>
            <a:endParaRPr lang="en-US" sz="900" dirty="0"/>
          </a:p>
        </p:txBody>
      </p:sp>
      <p:sp>
        <p:nvSpPr>
          <p:cNvPr id="15" name="Text 13"/>
          <p:cNvSpPr/>
          <p:nvPr/>
        </p:nvSpPr>
        <p:spPr>
          <a:xfrm>
            <a:off x="4389120" y="2148840"/>
            <a:ext cx="3291840" cy="1005840"/>
          </a:xfrm>
          <a:prstGeom prst="rect">
            <a:avLst/>
          </a:prstGeom>
          <a:noFill/>
          <a:ln/>
        </p:spPr>
        <p:txBody>
          <a:bodyPr wrap="square" lIns="0" tIns="0" rIns="0" bIns="0" rtlCol="0" anchor="ctr"/>
          <a:lstStyle/>
          <a:p>
            <a:pPr marL="0" indent="0" algn="ctr">
              <a:buNone/>
            </a:pPr>
            <a:r>
              <a:rPr lang="en-US" sz="1800" dirty="0">
                <a:solidFill>
                  <a:srgbClr val="12100E"/>
                </a:solidFill>
                <a:latin typeface="Bookman Old Style" pitchFamily="34" charset="0"/>
                <a:ea typeface="Bookman Old Style" pitchFamily="34" charset="-122"/>
                <a:cs typeface="Bookman Old Style" pitchFamily="34" charset="-120"/>
              </a:rPr>
              <a:t>Leading</a:t>
            </a:r>
            <a:endParaRPr lang="en-US" sz="1800" dirty="0"/>
          </a:p>
          <a:p>
            <a:pPr marL="0" indent="0" algn="ctr">
              <a:buNone/>
            </a:pPr>
            <a:r>
              <a:rPr lang="en-US" sz="1800" dirty="0">
                <a:solidFill>
                  <a:srgbClr val="12100E"/>
                </a:solidFill>
                <a:latin typeface="Bookman Old Style" pitchFamily="34" charset="0"/>
                <a:ea typeface="Bookman Old Style" pitchFamily="34" charset="-122"/>
                <a:cs typeface="Bookman Old Style" pitchFamily="34" charset="-120"/>
              </a:rPr>
              <a:t>or Neutral?</a:t>
            </a:r>
            <a:endParaRPr lang="en-US" sz="1800" dirty="0"/>
          </a:p>
        </p:txBody>
      </p:sp>
      <p:sp>
        <p:nvSpPr>
          <p:cNvPr id="16" name="Shape 14"/>
          <p:cNvSpPr/>
          <p:nvPr/>
        </p:nvSpPr>
        <p:spPr>
          <a:xfrm>
            <a:off x="8046720" y="1783080"/>
            <a:ext cx="3291840" cy="1417320"/>
          </a:xfrm>
          <a:prstGeom prst="roundRect">
            <a:avLst>
              <a:gd name="adj" fmla="val 7742"/>
            </a:avLst>
          </a:prstGeom>
          <a:solidFill>
            <a:srgbClr val="FFFFFF"/>
          </a:solidFill>
          <a:ln w="25400">
            <a:solidFill>
              <a:srgbClr val="2B3A8C"/>
            </a:solidFill>
            <a:prstDash val="solid"/>
          </a:ln>
          <a:effectLst>
            <a:outerShdw blurRad="76200" dist="25400" dir="2700000" algn="bl" rotWithShape="0">
              <a:srgbClr val="000000">
                <a:alpha val="10000"/>
              </a:srgbClr>
            </a:outerShdw>
          </a:effectLst>
        </p:spPr>
        <p:txBody>
          <a:bodyPr/>
          <a:lstStyle/>
          <a:p>
            <a:endParaRPr lang="en-AU"/>
          </a:p>
        </p:txBody>
      </p:sp>
      <p:sp>
        <p:nvSpPr>
          <p:cNvPr id="17" name="Text 15"/>
          <p:cNvSpPr/>
          <p:nvPr/>
        </p:nvSpPr>
        <p:spPr>
          <a:xfrm>
            <a:off x="8046720" y="1828800"/>
            <a:ext cx="3291840" cy="320040"/>
          </a:xfrm>
          <a:prstGeom prst="rect">
            <a:avLst/>
          </a:prstGeom>
          <a:noFill/>
          <a:ln/>
        </p:spPr>
        <p:txBody>
          <a:bodyPr wrap="square" lIns="0" tIns="0" rIns="0" bIns="0" rtlCol="0" anchor="ctr"/>
          <a:lstStyle/>
          <a:p>
            <a:pPr marL="0" indent="0" algn="ctr">
              <a:buNone/>
            </a:pPr>
            <a:r>
              <a:rPr lang="en-US" sz="900" dirty="0">
                <a:solidFill>
                  <a:srgbClr val="2B3A8C"/>
                </a:solidFill>
                <a:latin typeface="Courier New" pitchFamily="34" charset="0"/>
                <a:ea typeface="Courier New" pitchFamily="34" charset="-122"/>
                <a:cs typeface="Courier New" pitchFamily="34" charset="-120"/>
              </a:rPr>
              <a:t>Class votes ✋</a:t>
            </a:r>
            <a:endParaRPr lang="en-US" sz="900" dirty="0"/>
          </a:p>
        </p:txBody>
      </p:sp>
      <p:sp>
        <p:nvSpPr>
          <p:cNvPr id="18" name="Text 16"/>
          <p:cNvSpPr/>
          <p:nvPr/>
        </p:nvSpPr>
        <p:spPr>
          <a:xfrm>
            <a:off x="8046720" y="2148840"/>
            <a:ext cx="3291840" cy="1005840"/>
          </a:xfrm>
          <a:prstGeom prst="rect">
            <a:avLst/>
          </a:prstGeom>
          <a:noFill/>
          <a:ln/>
        </p:spPr>
        <p:txBody>
          <a:bodyPr wrap="square" lIns="0" tIns="0" rIns="0" bIns="0" rtlCol="0" anchor="ctr"/>
          <a:lstStyle/>
          <a:p>
            <a:pPr marL="0" indent="0" algn="ctr">
              <a:buNone/>
            </a:pPr>
            <a:r>
              <a:rPr lang="en-US" sz="1800" dirty="0">
                <a:solidFill>
                  <a:srgbClr val="12100E"/>
                </a:solidFill>
                <a:latin typeface="Bookman Old Style" pitchFamily="34" charset="0"/>
                <a:ea typeface="Bookman Old Style" pitchFamily="34" charset="-122"/>
                <a:cs typeface="Bookman Old Style" pitchFamily="34" charset="-120"/>
              </a:rPr>
              <a:t>Targets the user</a:t>
            </a:r>
            <a:endParaRPr lang="en-US" sz="1800" dirty="0"/>
          </a:p>
          <a:p>
            <a:pPr marL="0" indent="0" algn="ctr">
              <a:buNone/>
            </a:pPr>
            <a:r>
              <a:rPr lang="en-US" sz="1800" dirty="0">
                <a:solidFill>
                  <a:srgbClr val="12100E"/>
                </a:solidFill>
                <a:latin typeface="Bookman Old Style" pitchFamily="34" charset="0"/>
                <a:ea typeface="Bookman Old Style" pitchFamily="34" charset="-122"/>
                <a:cs typeface="Bookman Old Style" pitchFamily="34" charset="-120"/>
              </a:rPr>
              <a:t>need? Yes / No</a:t>
            </a:r>
            <a:endParaRPr lang="en-US" sz="1800" dirty="0"/>
          </a:p>
        </p:txBody>
      </p:sp>
      <p:sp>
        <p:nvSpPr>
          <p:cNvPr id="19" name="Text 17"/>
          <p:cNvSpPr/>
          <p:nvPr/>
        </p:nvSpPr>
        <p:spPr>
          <a:xfrm>
            <a:off x="365760" y="3383280"/>
            <a:ext cx="4572000" cy="329184"/>
          </a:xfrm>
          <a:prstGeom prst="rect">
            <a:avLst/>
          </a:prstGeom>
          <a:noFill/>
          <a:ln/>
        </p:spPr>
        <p:txBody>
          <a:bodyPr wrap="square" lIns="0" tIns="0" rIns="0" bIns="0" rtlCol="0" anchor="ctr"/>
          <a:lstStyle/>
          <a:p>
            <a:pPr marL="0" indent="0">
              <a:buNone/>
            </a:pPr>
            <a:r>
              <a:rPr lang="en-US" sz="1300" b="1" dirty="0">
                <a:solidFill>
                  <a:srgbClr val="2B3A8C"/>
                </a:solidFill>
                <a:latin typeface="Calibri" pitchFamily="34" charset="0"/>
                <a:ea typeface="Calibri" pitchFamily="34" charset="-122"/>
                <a:cs typeface="Calibri" pitchFamily="34" charset="-120"/>
              </a:rPr>
              <a:t>Discussion prompts:</a:t>
            </a:r>
            <a:endParaRPr lang="en-US" sz="1300" dirty="0"/>
          </a:p>
        </p:txBody>
      </p:sp>
      <p:sp>
        <p:nvSpPr>
          <p:cNvPr id="20" name="Shape 18"/>
          <p:cNvSpPr/>
          <p:nvPr/>
        </p:nvSpPr>
        <p:spPr>
          <a:xfrm>
            <a:off x="365760" y="3749040"/>
            <a:ext cx="11430000" cy="640080"/>
          </a:xfrm>
          <a:prstGeom prst="roundRect">
            <a:avLst>
              <a:gd name="adj" fmla="val 11429"/>
            </a:avLst>
          </a:prstGeom>
          <a:solidFill>
            <a:srgbClr val="ECEEF8"/>
          </a:solidFill>
          <a:ln w="12700">
            <a:solidFill>
              <a:srgbClr val="2B3A8C"/>
            </a:solidFill>
            <a:prstDash val="solid"/>
          </a:ln>
        </p:spPr>
        <p:txBody>
          <a:bodyPr/>
          <a:lstStyle/>
          <a:p>
            <a:endParaRPr lang="en-AU"/>
          </a:p>
        </p:txBody>
      </p:sp>
      <p:sp>
        <p:nvSpPr>
          <p:cNvPr id="21" name="Text 19"/>
          <p:cNvSpPr/>
          <p:nvPr/>
        </p:nvSpPr>
        <p:spPr>
          <a:xfrm>
            <a:off x="502920" y="3776472"/>
            <a:ext cx="11155680" cy="585216"/>
          </a:xfrm>
          <a:prstGeom prst="rect">
            <a:avLst/>
          </a:prstGeom>
          <a:noFill/>
          <a:ln/>
        </p:spPr>
        <p:txBody>
          <a:bodyPr wrap="square" lIns="0" tIns="0" rIns="0" bIns="0" rtlCol="0" anchor="ctr"/>
          <a:lstStyle/>
          <a:p>
            <a:pPr marL="0" indent="0" algn="l">
              <a:buNone/>
            </a:pPr>
            <a:r>
              <a:rPr lang="en-US" sz="1250" dirty="0">
                <a:solidFill>
                  <a:srgbClr val="2C2A28"/>
                </a:solidFill>
                <a:latin typeface="Calibri" pitchFamily="34" charset="0"/>
                <a:ea typeface="Calibri" pitchFamily="34" charset="-122"/>
                <a:cs typeface="Calibri" pitchFamily="34" charset="-120"/>
              </a:rPr>
              <a:t>1.  What would a student who strongly disagrees answer? Does your question still capture that?</a:t>
            </a:r>
            <a:endParaRPr lang="en-US" sz="1250" dirty="0"/>
          </a:p>
        </p:txBody>
      </p:sp>
      <p:sp>
        <p:nvSpPr>
          <p:cNvPr id="22" name="Shape 20"/>
          <p:cNvSpPr/>
          <p:nvPr/>
        </p:nvSpPr>
        <p:spPr>
          <a:xfrm>
            <a:off x="365760" y="4498848"/>
            <a:ext cx="11430000" cy="640080"/>
          </a:xfrm>
          <a:prstGeom prst="roundRect">
            <a:avLst>
              <a:gd name="adj" fmla="val 11429"/>
            </a:avLst>
          </a:prstGeom>
          <a:solidFill>
            <a:srgbClr val="ECEEF8"/>
          </a:solidFill>
          <a:ln w="12700">
            <a:solidFill>
              <a:srgbClr val="2B3A8C"/>
            </a:solidFill>
            <a:prstDash val="solid"/>
          </a:ln>
        </p:spPr>
        <p:txBody>
          <a:bodyPr/>
          <a:lstStyle/>
          <a:p>
            <a:endParaRPr lang="en-AU"/>
          </a:p>
        </p:txBody>
      </p:sp>
      <p:sp>
        <p:nvSpPr>
          <p:cNvPr id="23" name="Text 21"/>
          <p:cNvSpPr/>
          <p:nvPr/>
        </p:nvSpPr>
        <p:spPr>
          <a:xfrm>
            <a:off x="502920" y="4526280"/>
            <a:ext cx="11155680" cy="585216"/>
          </a:xfrm>
          <a:prstGeom prst="rect">
            <a:avLst/>
          </a:prstGeom>
          <a:noFill/>
          <a:ln/>
        </p:spPr>
        <p:txBody>
          <a:bodyPr wrap="square" lIns="0" tIns="0" rIns="0" bIns="0" rtlCol="0" anchor="ctr"/>
          <a:lstStyle/>
          <a:p>
            <a:pPr marL="0" indent="0" algn="l">
              <a:buNone/>
            </a:pPr>
            <a:r>
              <a:rPr lang="en-US" sz="1250" dirty="0">
                <a:solidFill>
                  <a:srgbClr val="2C2A28"/>
                </a:solidFill>
                <a:latin typeface="Calibri" pitchFamily="34" charset="0"/>
                <a:ea typeface="Calibri" pitchFamily="34" charset="-122"/>
                <a:cs typeface="Calibri" pitchFamily="34" charset="-120"/>
              </a:rPr>
              <a:t>2.  If your user group included someone with low literacy — would they understand every question?</a:t>
            </a:r>
            <a:endParaRPr lang="en-US" sz="1250" dirty="0"/>
          </a:p>
        </p:txBody>
      </p:sp>
      <p:sp>
        <p:nvSpPr>
          <p:cNvPr id="24" name="Shape 22"/>
          <p:cNvSpPr/>
          <p:nvPr/>
        </p:nvSpPr>
        <p:spPr>
          <a:xfrm>
            <a:off x="365760" y="5248656"/>
            <a:ext cx="11430000" cy="640080"/>
          </a:xfrm>
          <a:prstGeom prst="roundRect">
            <a:avLst>
              <a:gd name="adj" fmla="val 11429"/>
            </a:avLst>
          </a:prstGeom>
          <a:solidFill>
            <a:srgbClr val="ECEEF8"/>
          </a:solidFill>
          <a:ln w="12700">
            <a:solidFill>
              <a:srgbClr val="2B3A8C"/>
            </a:solidFill>
            <a:prstDash val="solid"/>
          </a:ln>
        </p:spPr>
        <p:txBody>
          <a:bodyPr/>
          <a:lstStyle/>
          <a:p>
            <a:endParaRPr lang="en-AU"/>
          </a:p>
        </p:txBody>
      </p:sp>
      <p:sp>
        <p:nvSpPr>
          <p:cNvPr id="25" name="Text 23"/>
          <p:cNvSpPr/>
          <p:nvPr/>
        </p:nvSpPr>
        <p:spPr>
          <a:xfrm>
            <a:off x="502920" y="5276088"/>
            <a:ext cx="11155680" cy="585216"/>
          </a:xfrm>
          <a:prstGeom prst="rect">
            <a:avLst/>
          </a:prstGeom>
          <a:noFill/>
          <a:ln/>
        </p:spPr>
        <p:txBody>
          <a:bodyPr wrap="square" lIns="0" tIns="0" rIns="0" bIns="0" rtlCol="0" anchor="ctr"/>
          <a:lstStyle/>
          <a:p>
            <a:pPr marL="0" indent="0" algn="l">
              <a:buNone/>
            </a:pPr>
            <a:r>
              <a:rPr lang="en-US" sz="1250" dirty="0">
                <a:solidFill>
                  <a:srgbClr val="2C2A28"/>
                </a:solidFill>
                <a:latin typeface="Calibri" pitchFamily="34" charset="0"/>
                <a:ea typeface="Calibri" pitchFamily="34" charset="-122"/>
                <a:cs typeface="Calibri" pitchFamily="34" charset="-120"/>
              </a:rPr>
              <a:t>3.  Which of your questions would give you the most useful data if you could only keep one?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C1F28"/>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Text 2"/>
          <p:cNvSpPr/>
          <p:nvPr/>
        </p:nvSpPr>
        <p:spPr>
          <a:xfrm>
            <a:off x="457200" y="201168"/>
            <a:ext cx="4572000" cy="274320"/>
          </a:xfrm>
          <a:prstGeom prst="rect">
            <a:avLst/>
          </a:prstGeom>
          <a:noFill/>
          <a:ln/>
        </p:spPr>
        <p:txBody>
          <a:bodyPr wrap="square" lIns="0" tIns="0" rIns="0" bIns="0" rtlCol="0" anchor="ctr"/>
          <a:lstStyle/>
          <a:p>
            <a:pPr marL="0" indent="0" algn="l">
              <a:buNone/>
            </a:pPr>
            <a:r>
              <a:rPr lang="en-US" sz="900" kern="0" spc="100" dirty="0">
                <a:solidFill>
                  <a:srgbClr val="F9ECED"/>
                </a:solidFill>
                <a:latin typeface="Courier New" pitchFamily="34" charset="0"/>
                <a:ea typeface="Courier New" pitchFamily="34" charset="-122"/>
                <a:cs typeface="Courier New" pitchFamily="34" charset="-120"/>
              </a:rPr>
              <a:t>EXIT TICKET</a:t>
            </a:r>
            <a:endParaRPr lang="en-US" sz="900" dirty="0"/>
          </a:p>
        </p:txBody>
      </p:sp>
      <p:sp>
        <p:nvSpPr>
          <p:cNvPr id="5" name="Text 3"/>
          <p:cNvSpPr/>
          <p:nvPr/>
        </p:nvSpPr>
        <p:spPr>
          <a:xfrm>
            <a:off x="457200" y="502920"/>
            <a:ext cx="9144000" cy="594360"/>
          </a:xfrm>
          <a:prstGeom prst="rect">
            <a:avLst/>
          </a:prstGeom>
          <a:noFill/>
          <a:ln/>
        </p:spPr>
        <p:txBody>
          <a:bodyPr wrap="square" lIns="0" tIns="0" rIns="0" bIns="0" rtlCol="0" anchor="ctr"/>
          <a:lstStyle/>
          <a:p>
            <a:pPr marL="0" indent="0" algn="l">
              <a:buNone/>
            </a:pPr>
            <a:r>
              <a:rPr lang="en-US" sz="3000" dirty="0">
                <a:solidFill>
                  <a:srgbClr val="FFFFFF"/>
                </a:solidFill>
                <a:latin typeface="Bookman Old Style" pitchFamily="34" charset="0"/>
                <a:ea typeface="Bookman Old Style" pitchFamily="34" charset="-122"/>
                <a:cs typeface="Bookman Old Style" pitchFamily="34" charset="-120"/>
              </a:rPr>
              <a:t>Section 5 — On Paper, Devices Off</a:t>
            </a:r>
            <a:endParaRPr lang="en-US" sz="3000" dirty="0"/>
          </a:p>
        </p:txBody>
      </p:sp>
      <p:sp>
        <p:nvSpPr>
          <p:cNvPr id="6" name="Shape 4"/>
          <p:cNvSpPr/>
          <p:nvPr/>
        </p:nvSpPr>
        <p:spPr>
          <a:xfrm>
            <a:off x="457200" y="1261872"/>
            <a:ext cx="11247120" cy="1417320"/>
          </a:xfrm>
          <a:prstGeom prst="roundRect">
            <a:avLst>
              <a:gd name="adj" fmla="val 6452"/>
            </a:avLst>
          </a:prstGeom>
          <a:solidFill>
            <a:srgbClr val="F9ECED"/>
          </a:solidFill>
          <a:ln w="12700">
            <a:solidFill>
              <a:srgbClr val="FFFFFF"/>
            </a:solidFill>
            <a:prstDash val="solid"/>
          </a:ln>
          <a:effectLst>
            <a:outerShdw blurRad="76200" dist="25400" dir="2700000" algn="bl" rotWithShape="0">
              <a:srgbClr val="000000">
                <a:alpha val="10000"/>
              </a:srgbClr>
            </a:outerShdw>
          </a:effectLst>
        </p:spPr>
        <p:txBody>
          <a:bodyPr/>
          <a:lstStyle/>
          <a:p>
            <a:endParaRPr lang="en-AU"/>
          </a:p>
        </p:txBody>
      </p:sp>
      <p:sp>
        <p:nvSpPr>
          <p:cNvPr id="7" name="Shape 5"/>
          <p:cNvSpPr/>
          <p:nvPr/>
        </p:nvSpPr>
        <p:spPr>
          <a:xfrm>
            <a:off x="566928" y="1371600"/>
            <a:ext cx="914400" cy="347472"/>
          </a:xfrm>
          <a:prstGeom prst="roundRect">
            <a:avLst>
              <a:gd name="adj" fmla="val 15789"/>
            </a:avLst>
          </a:prstGeom>
          <a:solidFill>
            <a:srgbClr val="8C1F28"/>
          </a:solidFill>
          <a:ln w="12700">
            <a:solidFill>
              <a:srgbClr val="8C1F28"/>
            </a:solidFill>
            <a:prstDash val="solid"/>
          </a:ln>
        </p:spPr>
        <p:txBody>
          <a:bodyPr/>
          <a:lstStyle/>
          <a:p>
            <a:endParaRPr lang="en-AU"/>
          </a:p>
        </p:txBody>
      </p:sp>
      <p:sp>
        <p:nvSpPr>
          <p:cNvPr id="8" name="Text 6"/>
          <p:cNvSpPr/>
          <p:nvPr/>
        </p:nvSpPr>
        <p:spPr>
          <a:xfrm>
            <a:off x="566928" y="1371600"/>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Q12</a:t>
            </a:r>
            <a:endParaRPr lang="en-US" sz="1000" dirty="0"/>
          </a:p>
        </p:txBody>
      </p:sp>
      <p:sp>
        <p:nvSpPr>
          <p:cNvPr id="9" name="Text 7"/>
          <p:cNvSpPr/>
          <p:nvPr/>
        </p:nvSpPr>
        <p:spPr>
          <a:xfrm>
            <a:off x="1581912" y="1389888"/>
            <a:ext cx="3200400" cy="301752"/>
          </a:xfrm>
          <a:prstGeom prst="rect">
            <a:avLst/>
          </a:prstGeom>
          <a:noFill/>
          <a:ln/>
        </p:spPr>
        <p:txBody>
          <a:bodyPr wrap="square" lIns="0" tIns="0" rIns="0" bIns="0" rtlCol="0" anchor="ctr"/>
          <a:lstStyle/>
          <a:p>
            <a:pPr marL="0" indent="0" algn="l">
              <a:buNone/>
            </a:pPr>
            <a:r>
              <a:rPr lang="en-US" sz="900" dirty="0">
                <a:solidFill>
                  <a:srgbClr val="8C1F28"/>
                </a:solidFill>
                <a:latin typeface="Courier New" pitchFamily="34" charset="0"/>
                <a:ea typeface="Courier New" pitchFamily="34" charset="-122"/>
                <a:cs typeface="Courier New" pitchFamily="34" charset="-120"/>
              </a:rPr>
              <a:t>🟢 Foundation</a:t>
            </a:r>
            <a:endParaRPr lang="en-US" sz="900" dirty="0"/>
          </a:p>
        </p:txBody>
      </p:sp>
      <p:sp>
        <p:nvSpPr>
          <p:cNvPr id="10" name="Text 8"/>
          <p:cNvSpPr/>
          <p:nvPr/>
        </p:nvSpPr>
        <p:spPr>
          <a:xfrm>
            <a:off x="658368" y="1783080"/>
            <a:ext cx="10835640" cy="822960"/>
          </a:xfrm>
          <a:prstGeom prst="rect">
            <a:avLst/>
          </a:prstGeom>
          <a:noFill/>
          <a:ln/>
        </p:spPr>
        <p:txBody>
          <a:bodyPr wrap="square" lIns="0" tIns="0" rIns="0" bIns="0" rtlCol="0" anchor="ctr"/>
          <a:lstStyle/>
          <a:p>
            <a:pPr marL="0" indent="0" algn="l">
              <a:buNone/>
            </a:pPr>
            <a:r>
              <a:rPr lang="en-US" sz="1400" dirty="0">
                <a:solidFill>
                  <a:srgbClr val="12100E"/>
                </a:solidFill>
                <a:latin typeface="Calibri" pitchFamily="34" charset="0"/>
                <a:ea typeface="Calibri" pitchFamily="34" charset="-122"/>
                <a:cs typeface="Calibri" pitchFamily="34" charset="-120"/>
              </a:rPr>
              <a:t>Write your group's refined problem statement from memory. No looking back.</a:t>
            </a:r>
            <a:endParaRPr lang="en-US" sz="1400" dirty="0"/>
          </a:p>
        </p:txBody>
      </p:sp>
      <p:sp>
        <p:nvSpPr>
          <p:cNvPr id="11" name="Shape 9"/>
          <p:cNvSpPr/>
          <p:nvPr/>
        </p:nvSpPr>
        <p:spPr>
          <a:xfrm>
            <a:off x="457200" y="2834640"/>
            <a:ext cx="11247120" cy="1417320"/>
          </a:xfrm>
          <a:prstGeom prst="roundRect">
            <a:avLst>
              <a:gd name="adj" fmla="val 6452"/>
            </a:avLst>
          </a:prstGeom>
          <a:solidFill>
            <a:srgbClr val="F9ECED"/>
          </a:solidFill>
          <a:ln w="12700">
            <a:solidFill>
              <a:srgbClr val="FFFFFF"/>
            </a:solidFill>
            <a:prstDash val="solid"/>
          </a:ln>
          <a:effectLst>
            <a:outerShdw blurRad="76200" dist="25400" dir="2700000" algn="bl" rotWithShape="0">
              <a:srgbClr val="000000">
                <a:alpha val="10000"/>
              </a:srgbClr>
            </a:outerShdw>
          </a:effectLst>
        </p:spPr>
        <p:txBody>
          <a:bodyPr/>
          <a:lstStyle/>
          <a:p>
            <a:endParaRPr lang="en-AU"/>
          </a:p>
        </p:txBody>
      </p:sp>
      <p:sp>
        <p:nvSpPr>
          <p:cNvPr id="12" name="Shape 10"/>
          <p:cNvSpPr/>
          <p:nvPr/>
        </p:nvSpPr>
        <p:spPr>
          <a:xfrm>
            <a:off x="566928" y="2944368"/>
            <a:ext cx="914400" cy="347472"/>
          </a:xfrm>
          <a:prstGeom prst="roundRect">
            <a:avLst>
              <a:gd name="adj" fmla="val 15789"/>
            </a:avLst>
          </a:prstGeom>
          <a:solidFill>
            <a:srgbClr val="8C1F28"/>
          </a:solidFill>
          <a:ln w="12700">
            <a:solidFill>
              <a:srgbClr val="8C1F28"/>
            </a:solidFill>
            <a:prstDash val="solid"/>
          </a:ln>
        </p:spPr>
        <p:txBody>
          <a:bodyPr/>
          <a:lstStyle/>
          <a:p>
            <a:endParaRPr lang="en-AU"/>
          </a:p>
        </p:txBody>
      </p:sp>
      <p:sp>
        <p:nvSpPr>
          <p:cNvPr id="13" name="Text 11"/>
          <p:cNvSpPr/>
          <p:nvPr/>
        </p:nvSpPr>
        <p:spPr>
          <a:xfrm>
            <a:off x="566928" y="2944368"/>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Q13</a:t>
            </a:r>
            <a:endParaRPr lang="en-US" sz="1000" dirty="0"/>
          </a:p>
        </p:txBody>
      </p:sp>
      <p:sp>
        <p:nvSpPr>
          <p:cNvPr id="14" name="Text 12"/>
          <p:cNvSpPr/>
          <p:nvPr/>
        </p:nvSpPr>
        <p:spPr>
          <a:xfrm>
            <a:off x="1581912" y="2962656"/>
            <a:ext cx="3200400" cy="301752"/>
          </a:xfrm>
          <a:prstGeom prst="rect">
            <a:avLst/>
          </a:prstGeom>
          <a:noFill/>
          <a:ln/>
        </p:spPr>
        <p:txBody>
          <a:bodyPr wrap="square" lIns="0" tIns="0" rIns="0" bIns="0" rtlCol="0" anchor="ctr"/>
          <a:lstStyle/>
          <a:p>
            <a:pPr marL="0" indent="0" algn="l">
              <a:buNone/>
            </a:pPr>
            <a:r>
              <a:rPr lang="en-US" sz="900" dirty="0">
                <a:solidFill>
                  <a:srgbClr val="8C1F28"/>
                </a:solidFill>
                <a:latin typeface="Courier New" pitchFamily="34" charset="0"/>
                <a:ea typeface="Courier New" pitchFamily="34" charset="-122"/>
                <a:cs typeface="Courier New" pitchFamily="34" charset="-120"/>
              </a:rPr>
              <a:t>🟡 Developing</a:t>
            </a:r>
            <a:endParaRPr lang="en-US" sz="900" dirty="0"/>
          </a:p>
        </p:txBody>
      </p:sp>
      <p:sp>
        <p:nvSpPr>
          <p:cNvPr id="15" name="Text 13"/>
          <p:cNvSpPr/>
          <p:nvPr/>
        </p:nvSpPr>
        <p:spPr>
          <a:xfrm>
            <a:off x="658368" y="3355848"/>
            <a:ext cx="10835640" cy="822960"/>
          </a:xfrm>
          <a:prstGeom prst="rect">
            <a:avLst/>
          </a:prstGeom>
          <a:noFill/>
          <a:ln/>
        </p:spPr>
        <p:txBody>
          <a:bodyPr wrap="square" lIns="0" tIns="0" rIns="0" bIns="0" rtlCol="0" anchor="ctr"/>
          <a:lstStyle/>
          <a:p>
            <a:pPr marL="0" indent="0" algn="l">
              <a:buNone/>
            </a:pPr>
            <a:r>
              <a:rPr lang="en-US" sz="1400" dirty="0">
                <a:solidFill>
                  <a:srgbClr val="12100E"/>
                </a:solidFill>
                <a:latin typeface="Calibri" pitchFamily="34" charset="0"/>
                <a:ea typeface="Calibri" pitchFamily="34" charset="-122"/>
                <a:cs typeface="Calibri" pitchFamily="34" charset="-120"/>
              </a:rPr>
              <a:t>What data collection method did your group choose, and what is the strongest reason for that choice?</a:t>
            </a:r>
            <a:endParaRPr lang="en-US" sz="1400" dirty="0"/>
          </a:p>
        </p:txBody>
      </p:sp>
      <p:sp>
        <p:nvSpPr>
          <p:cNvPr id="16" name="Shape 14"/>
          <p:cNvSpPr/>
          <p:nvPr/>
        </p:nvSpPr>
        <p:spPr>
          <a:xfrm>
            <a:off x="457200" y="4407408"/>
            <a:ext cx="11247120" cy="1417320"/>
          </a:xfrm>
          <a:prstGeom prst="roundRect">
            <a:avLst>
              <a:gd name="adj" fmla="val 6452"/>
            </a:avLst>
          </a:prstGeom>
          <a:solidFill>
            <a:srgbClr val="F9ECED"/>
          </a:solidFill>
          <a:ln w="12700">
            <a:solidFill>
              <a:srgbClr val="FFFFFF"/>
            </a:solidFill>
            <a:prstDash val="solid"/>
          </a:ln>
          <a:effectLst>
            <a:outerShdw blurRad="76200" dist="25400" dir="2700000" algn="bl" rotWithShape="0">
              <a:srgbClr val="000000">
                <a:alpha val="10000"/>
              </a:srgbClr>
            </a:outerShdw>
          </a:effectLst>
        </p:spPr>
        <p:txBody>
          <a:bodyPr/>
          <a:lstStyle/>
          <a:p>
            <a:endParaRPr lang="en-AU"/>
          </a:p>
        </p:txBody>
      </p:sp>
      <p:sp>
        <p:nvSpPr>
          <p:cNvPr id="17" name="Shape 15"/>
          <p:cNvSpPr/>
          <p:nvPr/>
        </p:nvSpPr>
        <p:spPr>
          <a:xfrm>
            <a:off x="566928" y="4517136"/>
            <a:ext cx="914400" cy="347472"/>
          </a:xfrm>
          <a:prstGeom prst="roundRect">
            <a:avLst>
              <a:gd name="adj" fmla="val 15789"/>
            </a:avLst>
          </a:prstGeom>
          <a:solidFill>
            <a:srgbClr val="8C1F28"/>
          </a:solidFill>
          <a:ln w="12700">
            <a:solidFill>
              <a:srgbClr val="8C1F28"/>
            </a:solidFill>
            <a:prstDash val="solid"/>
          </a:ln>
        </p:spPr>
        <p:txBody>
          <a:bodyPr/>
          <a:lstStyle/>
          <a:p>
            <a:endParaRPr lang="en-AU"/>
          </a:p>
        </p:txBody>
      </p:sp>
      <p:sp>
        <p:nvSpPr>
          <p:cNvPr id="18" name="Text 16"/>
          <p:cNvSpPr/>
          <p:nvPr/>
        </p:nvSpPr>
        <p:spPr>
          <a:xfrm>
            <a:off x="566928" y="4517136"/>
            <a:ext cx="9144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Q14</a:t>
            </a:r>
            <a:endParaRPr lang="en-US" sz="1000" dirty="0"/>
          </a:p>
        </p:txBody>
      </p:sp>
      <p:sp>
        <p:nvSpPr>
          <p:cNvPr id="19" name="Text 17"/>
          <p:cNvSpPr/>
          <p:nvPr/>
        </p:nvSpPr>
        <p:spPr>
          <a:xfrm>
            <a:off x="1581912" y="4535424"/>
            <a:ext cx="3200400" cy="301752"/>
          </a:xfrm>
          <a:prstGeom prst="rect">
            <a:avLst/>
          </a:prstGeom>
          <a:noFill/>
          <a:ln/>
        </p:spPr>
        <p:txBody>
          <a:bodyPr wrap="square" lIns="0" tIns="0" rIns="0" bIns="0" rtlCol="0" anchor="ctr"/>
          <a:lstStyle/>
          <a:p>
            <a:pPr marL="0" indent="0" algn="l">
              <a:buNone/>
            </a:pPr>
            <a:r>
              <a:rPr lang="en-US" sz="900" dirty="0">
                <a:solidFill>
                  <a:srgbClr val="8C1F28"/>
                </a:solidFill>
                <a:latin typeface="Courier New" pitchFamily="34" charset="0"/>
                <a:ea typeface="Courier New" pitchFamily="34" charset="-122"/>
                <a:cs typeface="Courier New" pitchFamily="34" charset="-120"/>
              </a:rPr>
              <a:t>🔵 Extending</a:t>
            </a:r>
            <a:endParaRPr lang="en-US" sz="900" dirty="0"/>
          </a:p>
        </p:txBody>
      </p:sp>
      <p:sp>
        <p:nvSpPr>
          <p:cNvPr id="20" name="Text 18"/>
          <p:cNvSpPr/>
          <p:nvPr/>
        </p:nvSpPr>
        <p:spPr>
          <a:xfrm>
            <a:off x="658368" y="4928616"/>
            <a:ext cx="10835640" cy="822960"/>
          </a:xfrm>
          <a:prstGeom prst="rect">
            <a:avLst/>
          </a:prstGeom>
          <a:noFill/>
          <a:ln/>
        </p:spPr>
        <p:txBody>
          <a:bodyPr wrap="square" lIns="0" tIns="0" rIns="0" bIns="0" rtlCol="0" anchor="ctr"/>
          <a:lstStyle/>
          <a:p>
            <a:pPr marL="0" indent="0" algn="l">
              <a:buNone/>
            </a:pPr>
            <a:r>
              <a:rPr lang="en-US" sz="1400" dirty="0">
                <a:solidFill>
                  <a:srgbClr val="12100E"/>
                </a:solidFill>
                <a:latin typeface="Calibri" pitchFamily="34" charset="0"/>
                <a:ea typeface="Calibri" pitchFamily="34" charset="-122"/>
                <a:cs typeface="Calibri" pitchFamily="34" charset="-120"/>
              </a:rPr>
              <a:t>Name one way your instrument could produce misleading or incomplete data, and what you'd do about it.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00E"/>
        </a:solidFill>
        <a:effectLst/>
      </p:bgPr>
    </p:bg>
    <p:spTree>
      <p:nvGrpSpPr>
        <p:cNvPr id="1" name=""/>
        <p:cNvGrpSpPr/>
        <p:nvPr/>
      </p:nvGrpSpPr>
      <p:grpSpPr>
        <a:xfrm>
          <a:off x="0" y="0"/>
          <a:ext cx="0" cy="0"/>
          <a:chOff x="0" y="0"/>
          <a:chExt cx="0" cy="0"/>
        </a:xfrm>
      </p:grpSpPr>
      <p:sp>
        <p:nvSpPr>
          <p:cNvPr id="2" name="Text 0"/>
          <p:cNvSpPr/>
          <p:nvPr/>
        </p:nvSpPr>
        <p:spPr>
          <a:xfrm>
            <a:off x="274320" y="6601968"/>
            <a:ext cx="7315200" cy="201168"/>
          </a:xfrm>
          <a:prstGeom prst="rect">
            <a:avLst/>
          </a:prstGeom>
          <a:noFill/>
          <a:ln/>
        </p:spPr>
        <p:txBody>
          <a:bodyPr wrap="square" lIns="0" tIns="0" rIns="0" bIns="0" rtlCol="0" anchor="ctr"/>
          <a:lstStyle/>
          <a:p>
            <a:pPr marL="0" indent="0" algn="l">
              <a:buNone/>
            </a:pPr>
            <a:r>
              <a:rPr lang="en-US" sz="700" dirty="0">
                <a:solidFill>
                  <a:srgbClr val="6B6762"/>
                </a:solidFill>
                <a:latin typeface="Courier New" pitchFamily="34" charset="0"/>
                <a:ea typeface="Courier New" pitchFamily="34" charset="-122"/>
                <a:cs typeface="Courier New" pitchFamily="34" charset="-120"/>
              </a:rPr>
              <a:t>y11-ac-u2-l4-problem-scoping-data-collection</a:t>
            </a:r>
            <a:endParaRPr lang="en-US" sz="700" dirty="0"/>
          </a:p>
        </p:txBody>
      </p:sp>
      <p:sp>
        <p:nvSpPr>
          <p:cNvPr id="3" name="Text 1"/>
          <p:cNvSpPr/>
          <p:nvPr/>
        </p:nvSpPr>
        <p:spPr>
          <a:xfrm>
            <a:off x="9418320" y="6601968"/>
            <a:ext cx="2468880" cy="201168"/>
          </a:xfrm>
          <a:prstGeom prst="rect">
            <a:avLst/>
          </a:prstGeom>
          <a:noFill/>
          <a:ln/>
        </p:spPr>
        <p:txBody>
          <a:bodyPr wrap="square" lIns="0" tIns="0" rIns="0" bIns="0" rtlCol="0" anchor="ctr"/>
          <a:lstStyle/>
          <a:p>
            <a:pPr marL="0" indent="0" algn="r">
              <a:buNone/>
            </a:pPr>
            <a:r>
              <a:rPr lang="en-US" sz="700" dirty="0">
                <a:solidFill>
                  <a:srgbClr val="6B6762"/>
                </a:solidFill>
                <a:latin typeface="Courier New" pitchFamily="34" charset="0"/>
                <a:ea typeface="Courier New" pitchFamily="34" charset="-122"/>
                <a:cs typeface="Courier New" pitchFamily="34" charset="-120"/>
              </a:rPr>
              <a:t>Mr Smith</a:t>
            </a:r>
            <a:endParaRPr lang="en-US" sz="700" dirty="0"/>
          </a:p>
        </p:txBody>
      </p:sp>
      <p:sp>
        <p:nvSpPr>
          <p:cNvPr id="4" name="Text 2"/>
          <p:cNvSpPr/>
          <p:nvPr/>
        </p:nvSpPr>
        <p:spPr>
          <a:xfrm>
            <a:off x="457200" y="201168"/>
            <a:ext cx="5486400" cy="256032"/>
          </a:xfrm>
          <a:prstGeom prst="rect">
            <a:avLst/>
          </a:prstGeom>
          <a:noFill/>
          <a:ln/>
        </p:spPr>
        <p:txBody>
          <a:bodyPr wrap="square" lIns="0" tIns="0" rIns="0" bIns="0" rtlCol="0" anchor="ctr"/>
          <a:lstStyle/>
          <a:p>
            <a:pPr marL="0" indent="0" algn="l">
              <a:buNone/>
            </a:pPr>
            <a:r>
              <a:rPr lang="en-US" sz="900" kern="0" spc="100" dirty="0">
                <a:solidFill>
                  <a:srgbClr val="6B6762"/>
                </a:solidFill>
                <a:latin typeface="Courier New" pitchFamily="34" charset="0"/>
                <a:ea typeface="Courier New" pitchFamily="34" charset="-122"/>
                <a:cs typeface="Courier New" pitchFamily="34" charset="-120"/>
              </a:rPr>
              <a:t>PROGRESS TRACKER</a:t>
            </a:r>
            <a:endParaRPr lang="en-US" sz="9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marL="0" indent="0" algn="l">
              <a:buNone/>
            </a:pPr>
            <a:r>
              <a:rPr lang="en-US" sz="2600" dirty="0">
                <a:solidFill>
                  <a:srgbClr val="FFFFFF"/>
                </a:solidFill>
                <a:latin typeface="Bookman Old Style" pitchFamily="34" charset="0"/>
                <a:ea typeface="Bookman Old Style" pitchFamily="34" charset="-122"/>
                <a:cs typeface="Bookman Old Style" pitchFamily="34" charset="-120"/>
              </a:rPr>
              <a:t>Where are we?</a:t>
            </a:r>
            <a:endParaRPr lang="en-US" sz="2600" dirty="0"/>
          </a:p>
        </p:txBody>
      </p:sp>
      <p:sp>
        <p:nvSpPr>
          <p:cNvPr id="6" name="Shape 4"/>
          <p:cNvSpPr/>
          <p:nvPr/>
        </p:nvSpPr>
        <p:spPr>
          <a:xfrm>
            <a:off x="822960" y="1188720"/>
            <a:ext cx="822960" cy="822960"/>
          </a:xfrm>
          <a:prstGeom prst="ellipse">
            <a:avLst/>
          </a:prstGeom>
          <a:solidFill>
            <a:srgbClr val="1B5E47"/>
          </a:solidFill>
          <a:ln w="12700">
            <a:solidFill>
              <a:srgbClr val="1B5E47"/>
            </a:solidFill>
            <a:prstDash val="solid"/>
          </a:ln>
        </p:spPr>
        <p:txBody>
          <a:bodyPr/>
          <a:lstStyle/>
          <a:p>
            <a:endParaRPr lang="en-AU"/>
          </a:p>
        </p:txBody>
      </p:sp>
      <p:sp>
        <p:nvSpPr>
          <p:cNvPr id="7" name="Text 5"/>
          <p:cNvSpPr/>
          <p:nvPr/>
        </p:nvSpPr>
        <p:spPr>
          <a:xfrm>
            <a:off x="822960" y="118872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457200" y="2103120"/>
            <a:ext cx="1554480" cy="365760"/>
          </a:xfrm>
          <a:prstGeom prst="rect">
            <a:avLst/>
          </a:prstGeom>
          <a:noFill/>
          <a:ln/>
        </p:spPr>
        <p:txBody>
          <a:bodyPr wrap="square" lIns="0" tIns="0" rIns="0" bIns="0" rtlCol="0" anchor="ctr"/>
          <a:lstStyle/>
          <a:p>
            <a:pPr marL="0" indent="0" algn="ctr">
              <a:buNone/>
            </a:pPr>
            <a:r>
              <a:rPr lang="en-US" sz="800" dirty="0">
                <a:solidFill>
                  <a:srgbClr val="1B5E47"/>
                </a:solidFill>
                <a:latin typeface="Courier New" pitchFamily="34" charset="0"/>
                <a:ea typeface="Courier New" pitchFamily="34" charset="-122"/>
                <a:cs typeface="Courier New" pitchFamily="34" charset="-120"/>
              </a:rPr>
              <a:t>D1.1</a:t>
            </a:r>
            <a:endParaRPr lang="en-US" sz="800" dirty="0"/>
          </a:p>
        </p:txBody>
      </p:sp>
      <p:sp>
        <p:nvSpPr>
          <p:cNvPr id="9" name="Text 7"/>
          <p:cNvSpPr/>
          <p:nvPr/>
        </p:nvSpPr>
        <p:spPr>
          <a:xfrm>
            <a:off x="365760" y="2468880"/>
            <a:ext cx="1737360" cy="731520"/>
          </a:xfrm>
          <a:prstGeom prst="rect">
            <a:avLst/>
          </a:prstGeom>
          <a:noFill/>
          <a:ln/>
        </p:spPr>
        <p:txBody>
          <a:bodyPr wrap="square" lIns="0" tIns="0" rIns="0" bIns="0" rtlCol="0" anchor="ctr"/>
          <a:lstStyle/>
          <a:p>
            <a:pPr marL="0" indent="0" algn="ctr">
              <a:buNone/>
            </a:pPr>
            <a:r>
              <a:rPr lang="en-US" sz="900" dirty="0">
                <a:solidFill>
                  <a:srgbClr val="6B6762"/>
                </a:solidFill>
                <a:latin typeface="Calibri" pitchFamily="34" charset="0"/>
                <a:ea typeface="Calibri" pitchFamily="34" charset="-122"/>
                <a:cs typeface="Calibri" pitchFamily="34" charset="-120"/>
              </a:rPr>
              <a:t>Curiosity &amp; UN SDGs</a:t>
            </a:r>
            <a:endParaRPr lang="en-US" sz="900" dirty="0"/>
          </a:p>
        </p:txBody>
      </p:sp>
      <p:sp>
        <p:nvSpPr>
          <p:cNvPr id="10" name="Shape 8"/>
          <p:cNvSpPr/>
          <p:nvPr/>
        </p:nvSpPr>
        <p:spPr>
          <a:xfrm>
            <a:off x="1691640" y="1600200"/>
            <a:ext cx="566928" cy="0"/>
          </a:xfrm>
          <a:prstGeom prst="line">
            <a:avLst/>
          </a:prstGeom>
          <a:noFill/>
          <a:ln w="19050">
            <a:solidFill>
              <a:srgbClr val="1B5E47"/>
            </a:solidFill>
            <a:prstDash val="solid"/>
          </a:ln>
        </p:spPr>
        <p:txBody>
          <a:bodyPr/>
          <a:lstStyle/>
          <a:p>
            <a:endParaRPr lang="en-AU"/>
          </a:p>
        </p:txBody>
      </p:sp>
      <p:sp>
        <p:nvSpPr>
          <p:cNvPr id="11" name="Shape 9"/>
          <p:cNvSpPr/>
          <p:nvPr/>
        </p:nvSpPr>
        <p:spPr>
          <a:xfrm>
            <a:off x="2761488" y="1188720"/>
            <a:ext cx="822960" cy="822960"/>
          </a:xfrm>
          <a:prstGeom prst="ellipse">
            <a:avLst/>
          </a:prstGeom>
          <a:solidFill>
            <a:srgbClr val="1B5E47"/>
          </a:solidFill>
          <a:ln w="12700">
            <a:solidFill>
              <a:srgbClr val="1B5E47"/>
            </a:solidFill>
            <a:prstDash val="solid"/>
          </a:ln>
        </p:spPr>
        <p:txBody>
          <a:bodyPr/>
          <a:lstStyle/>
          <a:p>
            <a:endParaRPr lang="en-AU"/>
          </a:p>
        </p:txBody>
      </p:sp>
      <p:sp>
        <p:nvSpPr>
          <p:cNvPr id="12" name="Text 10"/>
          <p:cNvSpPr/>
          <p:nvPr/>
        </p:nvSpPr>
        <p:spPr>
          <a:xfrm>
            <a:off x="2761488" y="118872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2395728" y="2103120"/>
            <a:ext cx="1554480" cy="365760"/>
          </a:xfrm>
          <a:prstGeom prst="rect">
            <a:avLst/>
          </a:prstGeom>
          <a:noFill/>
          <a:ln/>
        </p:spPr>
        <p:txBody>
          <a:bodyPr wrap="square" lIns="0" tIns="0" rIns="0" bIns="0" rtlCol="0" anchor="ctr"/>
          <a:lstStyle/>
          <a:p>
            <a:pPr marL="0" indent="0" algn="ctr">
              <a:buNone/>
            </a:pPr>
            <a:r>
              <a:rPr lang="en-US" sz="800" dirty="0">
                <a:solidFill>
                  <a:srgbClr val="1B5E47"/>
                </a:solidFill>
                <a:latin typeface="Courier New" pitchFamily="34" charset="0"/>
                <a:ea typeface="Courier New" pitchFamily="34" charset="-122"/>
                <a:cs typeface="Courier New" pitchFamily="34" charset="-120"/>
              </a:rPr>
              <a:t>D1.2</a:t>
            </a:r>
            <a:endParaRPr lang="en-US" sz="800" dirty="0"/>
          </a:p>
        </p:txBody>
      </p:sp>
      <p:sp>
        <p:nvSpPr>
          <p:cNvPr id="14" name="Text 12"/>
          <p:cNvSpPr/>
          <p:nvPr/>
        </p:nvSpPr>
        <p:spPr>
          <a:xfrm>
            <a:off x="2304288" y="2468880"/>
            <a:ext cx="1737360" cy="731520"/>
          </a:xfrm>
          <a:prstGeom prst="rect">
            <a:avLst/>
          </a:prstGeom>
          <a:noFill/>
          <a:ln/>
        </p:spPr>
        <p:txBody>
          <a:bodyPr wrap="square" lIns="0" tIns="0" rIns="0" bIns="0" rtlCol="0" anchor="ctr"/>
          <a:lstStyle/>
          <a:p>
            <a:pPr marL="0" indent="0" algn="ctr">
              <a:buNone/>
            </a:pPr>
            <a:r>
              <a:rPr lang="en-US" sz="900" dirty="0">
                <a:solidFill>
                  <a:srgbClr val="6B6762"/>
                </a:solidFill>
                <a:latin typeface="Calibri" pitchFamily="34" charset="0"/>
                <a:ea typeface="Calibri" pitchFamily="34" charset="-122"/>
                <a:cs typeface="Calibri" pitchFamily="34" charset="-120"/>
              </a:rPr>
              <a:t>Digital Systems Context</a:t>
            </a:r>
            <a:endParaRPr lang="en-US" sz="900" dirty="0"/>
          </a:p>
        </p:txBody>
      </p:sp>
      <p:sp>
        <p:nvSpPr>
          <p:cNvPr id="15" name="Shape 13"/>
          <p:cNvSpPr/>
          <p:nvPr/>
        </p:nvSpPr>
        <p:spPr>
          <a:xfrm>
            <a:off x="3630168" y="1600200"/>
            <a:ext cx="566928" cy="0"/>
          </a:xfrm>
          <a:prstGeom prst="line">
            <a:avLst/>
          </a:prstGeom>
          <a:noFill/>
          <a:ln w="19050">
            <a:solidFill>
              <a:srgbClr val="1B5E47"/>
            </a:solidFill>
            <a:prstDash val="solid"/>
          </a:ln>
        </p:spPr>
        <p:txBody>
          <a:bodyPr/>
          <a:lstStyle/>
          <a:p>
            <a:endParaRPr lang="en-AU"/>
          </a:p>
        </p:txBody>
      </p:sp>
      <p:sp>
        <p:nvSpPr>
          <p:cNvPr id="16" name="Shape 14"/>
          <p:cNvSpPr/>
          <p:nvPr/>
        </p:nvSpPr>
        <p:spPr>
          <a:xfrm>
            <a:off x="4700016" y="1188720"/>
            <a:ext cx="822960" cy="822960"/>
          </a:xfrm>
          <a:prstGeom prst="ellipse">
            <a:avLst/>
          </a:prstGeom>
          <a:solidFill>
            <a:srgbClr val="1B5E47"/>
          </a:solidFill>
          <a:ln w="12700">
            <a:solidFill>
              <a:srgbClr val="1B5E47"/>
            </a:solidFill>
            <a:prstDash val="solid"/>
          </a:ln>
        </p:spPr>
        <p:txBody>
          <a:bodyPr/>
          <a:lstStyle/>
          <a:p>
            <a:endParaRPr lang="en-AU"/>
          </a:p>
        </p:txBody>
      </p:sp>
      <p:sp>
        <p:nvSpPr>
          <p:cNvPr id="17" name="Text 15"/>
          <p:cNvSpPr/>
          <p:nvPr/>
        </p:nvSpPr>
        <p:spPr>
          <a:xfrm>
            <a:off x="4700016" y="118872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4334256" y="2103120"/>
            <a:ext cx="1554480" cy="365760"/>
          </a:xfrm>
          <a:prstGeom prst="rect">
            <a:avLst/>
          </a:prstGeom>
          <a:noFill/>
          <a:ln/>
        </p:spPr>
        <p:txBody>
          <a:bodyPr wrap="square" lIns="0" tIns="0" rIns="0" bIns="0" rtlCol="0" anchor="ctr"/>
          <a:lstStyle/>
          <a:p>
            <a:pPr marL="0" indent="0" algn="ctr">
              <a:buNone/>
            </a:pPr>
            <a:r>
              <a:rPr lang="en-US" sz="800" dirty="0">
                <a:solidFill>
                  <a:srgbClr val="1B5E47"/>
                </a:solidFill>
                <a:latin typeface="Courier New" pitchFamily="34" charset="0"/>
                <a:ea typeface="Courier New" pitchFamily="34" charset="-122"/>
                <a:cs typeface="Courier New" pitchFamily="34" charset="-120"/>
              </a:rPr>
              <a:t>D2.1</a:t>
            </a:r>
            <a:endParaRPr lang="en-US" sz="800" dirty="0"/>
          </a:p>
        </p:txBody>
      </p:sp>
      <p:sp>
        <p:nvSpPr>
          <p:cNvPr id="19" name="Text 17"/>
          <p:cNvSpPr/>
          <p:nvPr/>
        </p:nvSpPr>
        <p:spPr>
          <a:xfrm>
            <a:off x="4242816" y="2468880"/>
            <a:ext cx="1737360" cy="731520"/>
          </a:xfrm>
          <a:prstGeom prst="rect">
            <a:avLst/>
          </a:prstGeom>
          <a:noFill/>
          <a:ln/>
        </p:spPr>
        <p:txBody>
          <a:bodyPr wrap="square" lIns="0" tIns="0" rIns="0" bIns="0" rtlCol="0" anchor="ctr"/>
          <a:lstStyle/>
          <a:p>
            <a:pPr marL="0" indent="0" algn="ctr">
              <a:buNone/>
            </a:pPr>
            <a:r>
              <a:rPr lang="en-US" sz="900" dirty="0">
                <a:solidFill>
                  <a:srgbClr val="6B6762"/>
                </a:solidFill>
                <a:latin typeface="Calibri" pitchFamily="34" charset="0"/>
                <a:ea typeface="Calibri" pitchFamily="34" charset="-122"/>
                <a:cs typeface="Calibri" pitchFamily="34" charset="-120"/>
              </a:rPr>
              <a:t>Investigating the Problem Space</a:t>
            </a:r>
            <a:endParaRPr lang="en-US" sz="900" dirty="0"/>
          </a:p>
        </p:txBody>
      </p:sp>
      <p:sp>
        <p:nvSpPr>
          <p:cNvPr id="20" name="Shape 18"/>
          <p:cNvSpPr/>
          <p:nvPr/>
        </p:nvSpPr>
        <p:spPr>
          <a:xfrm>
            <a:off x="5568696" y="1600200"/>
            <a:ext cx="566928" cy="0"/>
          </a:xfrm>
          <a:prstGeom prst="line">
            <a:avLst/>
          </a:prstGeom>
          <a:noFill/>
          <a:ln w="19050">
            <a:solidFill>
              <a:srgbClr val="1B5E47"/>
            </a:solidFill>
            <a:prstDash val="solid"/>
          </a:ln>
        </p:spPr>
        <p:txBody>
          <a:bodyPr/>
          <a:lstStyle/>
          <a:p>
            <a:endParaRPr lang="en-AU"/>
          </a:p>
        </p:txBody>
      </p:sp>
      <p:sp>
        <p:nvSpPr>
          <p:cNvPr id="21" name="Shape 19"/>
          <p:cNvSpPr/>
          <p:nvPr/>
        </p:nvSpPr>
        <p:spPr>
          <a:xfrm>
            <a:off x="6638544" y="1188720"/>
            <a:ext cx="822960" cy="822960"/>
          </a:xfrm>
          <a:prstGeom prst="ellipse">
            <a:avLst/>
          </a:prstGeom>
          <a:solidFill>
            <a:srgbClr val="B8620A"/>
          </a:solidFill>
          <a:ln w="12700">
            <a:solidFill>
              <a:srgbClr val="B8620A"/>
            </a:solidFill>
            <a:prstDash val="solid"/>
          </a:ln>
        </p:spPr>
        <p:txBody>
          <a:bodyPr/>
          <a:lstStyle/>
          <a:p>
            <a:endParaRPr lang="en-AU"/>
          </a:p>
        </p:txBody>
      </p:sp>
      <p:sp>
        <p:nvSpPr>
          <p:cNvPr id="22" name="Text 20"/>
          <p:cNvSpPr/>
          <p:nvPr/>
        </p:nvSpPr>
        <p:spPr>
          <a:xfrm>
            <a:off x="6638544" y="118872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6272784" y="2103120"/>
            <a:ext cx="1554480" cy="365760"/>
          </a:xfrm>
          <a:prstGeom prst="rect">
            <a:avLst/>
          </a:prstGeom>
          <a:noFill/>
          <a:ln/>
        </p:spPr>
        <p:txBody>
          <a:bodyPr wrap="square" lIns="0" tIns="0" rIns="0" bIns="0" rtlCol="0" anchor="ctr"/>
          <a:lstStyle/>
          <a:p>
            <a:pPr marL="0" indent="0" algn="ctr">
              <a:buNone/>
            </a:pPr>
            <a:r>
              <a:rPr lang="en-US" sz="800" dirty="0">
                <a:solidFill>
                  <a:srgbClr val="B8620A"/>
                </a:solidFill>
                <a:latin typeface="Courier New" pitchFamily="34" charset="0"/>
                <a:ea typeface="Courier New" pitchFamily="34" charset="-122"/>
                <a:cs typeface="Courier New" pitchFamily="34" charset="-120"/>
              </a:rPr>
              <a:t>D2.2</a:t>
            </a:r>
            <a:endParaRPr lang="en-US" sz="800" dirty="0"/>
          </a:p>
          <a:p>
            <a:pPr marL="0" indent="0" algn="ctr">
              <a:buNone/>
            </a:pPr>
            <a:r>
              <a:rPr lang="en-US" sz="800" dirty="0">
                <a:solidFill>
                  <a:srgbClr val="B8620A"/>
                </a:solidFill>
                <a:latin typeface="Courier New" pitchFamily="34" charset="0"/>
                <a:ea typeface="Courier New" pitchFamily="34" charset="-122"/>
                <a:cs typeface="Courier New" pitchFamily="34" charset="-120"/>
              </a:rPr>
              <a:t>D3.1</a:t>
            </a:r>
            <a:endParaRPr lang="en-US" sz="800" dirty="0"/>
          </a:p>
        </p:txBody>
      </p:sp>
      <p:sp>
        <p:nvSpPr>
          <p:cNvPr id="24" name="Text 22"/>
          <p:cNvSpPr/>
          <p:nvPr/>
        </p:nvSpPr>
        <p:spPr>
          <a:xfrm>
            <a:off x="6181344" y="2468880"/>
            <a:ext cx="1737360" cy="731520"/>
          </a:xfrm>
          <a:prstGeom prst="rect">
            <a:avLst/>
          </a:prstGeom>
          <a:noFill/>
          <a:ln/>
        </p:spPr>
        <p:txBody>
          <a:bodyPr wrap="square" lIns="0" tIns="0" rIns="0" bIns="0" rtlCol="0" anchor="ctr"/>
          <a:lstStyle/>
          <a:p>
            <a:pPr marL="0" indent="0" algn="ctr">
              <a:buNone/>
            </a:pPr>
            <a:r>
              <a:rPr lang="en-US" sz="900" dirty="0">
                <a:solidFill>
                  <a:srgbClr val="6B6762"/>
                </a:solidFill>
                <a:latin typeface="Calibri" pitchFamily="34" charset="0"/>
                <a:ea typeface="Calibri" pitchFamily="34" charset="-122"/>
                <a:cs typeface="Calibri" pitchFamily="34" charset="-120"/>
              </a:rPr>
              <a:t>Problem Scoping &amp;</a:t>
            </a:r>
            <a:endParaRPr lang="en-US" sz="900" dirty="0"/>
          </a:p>
          <a:p>
            <a:pPr marL="0" indent="0" algn="ctr">
              <a:buNone/>
            </a:pPr>
            <a:r>
              <a:rPr lang="en-US" sz="900" dirty="0">
                <a:solidFill>
                  <a:srgbClr val="6B6762"/>
                </a:solidFill>
                <a:latin typeface="Calibri" pitchFamily="34" charset="0"/>
                <a:ea typeface="Calibri" pitchFamily="34" charset="-122"/>
                <a:cs typeface="Calibri" pitchFamily="34" charset="-120"/>
              </a:rPr>
              <a:t>Data Collection</a:t>
            </a:r>
            <a:endParaRPr lang="en-US" sz="900" dirty="0"/>
          </a:p>
        </p:txBody>
      </p:sp>
      <p:sp>
        <p:nvSpPr>
          <p:cNvPr id="25" name="Shape 23"/>
          <p:cNvSpPr/>
          <p:nvPr/>
        </p:nvSpPr>
        <p:spPr>
          <a:xfrm>
            <a:off x="7507224" y="1600200"/>
            <a:ext cx="566928" cy="0"/>
          </a:xfrm>
          <a:prstGeom prst="line">
            <a:avLst/>
          </a:prstGeom>
          <a:noFill/>
          <a:ln w="19050">
            <a:solidFill>
              <a:srgbClr val="1B5E47"/>
            </a:solidFill>
            <a:prstDash val="solid"/>
          </a:ln>
        </p:spPr>
        <p:txBody>
          <a:bodyPr/>
          <a:lstStyle/>
          <a:p>
            <a:endParaRPr lang="en-AU"/>
          </a:p>
        </p:txBody>
      </p:sp>
      <p:sp>
        <p:nvSpPr>
          <p:cNvPr id="26" name="Shape 24"/>
          <p:cNvSpPr/>
          <p:nvPr/>
        </p:nvSpPr>
        <p:spPr>
          <a:xfrm>
            <a:off x="8577072" y="1188720"/>
            <a:ext cx="822960" cy="822960"/>
          </a:xfrm>
          <a:prstGeom prst="ellipse">
            <a:avLst/>
          </a:prstGeom>
          <a:solidFill>
            <a:srgbClr val="6B6762"/>
          </a:solidFill>
          <a:ln w="12700">
            <a:solidFill>
              <a:srgbClr val="6B6762"/>
            </a:solidFill>
            <a:prstDash val="solid"/>
          </a:ln>
        </p:spPr>
        <p:txBody>
          <a:bodyPr/>
          <a:lstStyle/>
          <a:p>
            <a:endParaRPr lang="en-AU"/>
          </a:p>
        </p:txBody>
      </p:sp>
      <p:sp>
        <p:nvSpPr>
          <p:cNvPr id="27" name="Text 25"/>
          <p:cNvSpPr/>
          <p:nvPr/>
        </p:nvSpPr>
        <p:spPr>
          <a:xfrm>
            <a:off x="8577072" y="118872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8211312" y="2103120"/>
            <a:ext cx="1554480" cy="365760"/>
          </a:xfrm>
          <a:prstGeom prst="rect">
            <a:avLst/>
          </a:prstGeom>
          <a:noFill/>
          <a:ln/>
        </p:spPr>
        <p:txBody>
          <a:bodyPr wrap="square" lIns="0" tIns="0" rIns="0" bIns="0" rtlCol="0" anchor="ctr"/>
          <a:lstStyle/>
          <a:p>
            <a:pPr marL="0" indent="0" algn="ctr">
              <a:buNone/>
            </a:pPr>
            <a:r>
              <a:rPr lang="en-US" sz="800" dirty="0">
                <a:solidFill>
                  <a:srgbClr val="6B6762"/>
                </a:solidFill>
                <a:latin typeface="Courier New" pitchFamily="34" charset="0"/>
                <a:ea typeface="Courier New" pitchFamily="34" charset="-122"/>
                <a:cs typeface="Courier New" pitchFamily="34" charset="-120"/>
              </a:rPr>
              <a:t>D3.2</a:t>
            </a:r>
            <a:endParaRPr lang="en-US" sz="800" dirty="0"/>
          </a:p>
        </p:txBody>
      </p:sp>
      <p:sp>
        <p:nvSpPr>
          <p:cNvPr id="29" name="Text 27"/>
          <p:cNvSpPr/>
          <p:nvPr/>
        </p:nvSpPr>
        <p:spPr>
          <a:xfrm>
            <a:off x="8119872" y="2468880"/>
            <a:ext cx="1737360" cy="731520"/>
          </a:xfrm>
          <a:prstGeom prst="rect">
            <a:avLst/>
          </a:prstGeom>
          <a:noFill/>
          <a:ln/>
        </p:spPr>
        <p:txBody>
          <a:bodyPr wrap="square" lIns="0" tIns="0" rIns="0" bIns="0" rtlCol="0" anchor="ctr"/>
          <a:lstStyle/>
          <a:p>
            <a:pPr marL="0" indent="0" algn="ctr">
              <a:buNone/>
            </a:pPr>
            <a:r>
              <a:rPr lang="en-US" sz="900" dirty="0">
                <a:solidFill>
                  <a:srgbClr val="6B6762"/>
                </a:solidFill>
                <a:latin typeface="Calibri" pitchFamily="34" charset="0"/>
                <a:ea typeface="Calibri" pitchFamily="34" charset="-122"/>
                <a:cs typeface="Calibri" pitchFamily="34" charset="-120"/>
              </a:rPr>
              <a:t>Creative &amp;</a:t>
            </a:r>
            <a:endParaRPr lang="en-US" sz="900" dirty="0"/>
          </a:p>
          <a:p>
            <a:pPr marL="0" indent="0" algn="ctr">
              <a:buNone/>
            </a:pPr>
            <a:r>
              <a:rPr lang="en-US" sz="900" dirty="0">
                <a:solidFill>
                  <a:srgbClr val="6B6762"/>
                </a:solidFill>
                <a:latin typeface="Calibri" pitchFamily="34" charset="0"/>
                <a:ea typeface="Calibri" pitchFamily="34" charset="-122"/>
                <a:cs typeface="Calibri" pitchFamily="34" charset="-120"/>
              </a:rPr>
              <a:t>Innovative Solutions</a:t>
            </a:r>
            <a:endParaRPr lang="en-US" sz="900" dirty="0"/>
          </a:p>
        </p:txBody>
      </p:sp>
      <p:sp>
        <p:nvSpPr>
          <p:cNvPr id="30" name="Shape 28"/>
          <p:cNvSpPr/>
          <p:nvPr/>
        </p:nvSpPr>
        <p:spPr>
          <a:xfrm>
            <a:off x="9445752" y="1600200"/>
            <a:ext cx="566928" cy="0"/>
          </a:xfrm>
          <a:prstGeom prst="line">
            <a:avLst/>
          </a:prstGeom>
          <a:noFill/>
          <a:ln w="19050">
            <a:solidFill>
              <a:srgbClr val="6B6762"/>
            </a:solidFill>
            <a:prstDash val="dash"/>
          </a:ln>
        </p:spPr>
        <p:txBody>
          <a:bodyPr/>
          <a:lstStyle/>
          <a:p>
            <a:endParaRPr lang="en-AU"/>
          </a:p>
        </p:txBody>
      </p:sp>
      <p:sp>
        <p:nvSpPr>
          <p:cNvPr id="31" name="Shape 29"/>
          <p:cNvSpPr/>
          <p:nvPr/>
        </p:nvSpPr>
        <p:spPr>
          <a:xfrm>
            <a:off x="10515600" y="1188720"/>
            <a:ext cx="822960" cy="822960"/>
          </a:xfrm>
          <a:prstGeom prst="ellipse">
            <a:avLst/>
          </a:prstGeom>
          <a:solidFill>
            <a:srgbClr val="6B6762"/>
          </a:solidFill>
          <a:ln w="12700">
            <a:solidFill>
              <a:srgbClr val="6B6762"/>
            </a:solidFill>
            <a:prstDash val="solid"/>
          </a:ln>
        </p:spPr>
        <p:txBody>
          <a:bodyPr/>
          <a:lstStyle/>
          <a:p>
            <a:endParaRPr lang="en-AU"/>
          </a:p>
        </p:txBody>
      </p:sp>
      <p:sp>
        <p:nvSpPr>
          <p:cNvPr id="32" name="Text 30"/>
          <p:cNvSpPr/>
          <p:nvPr/>
        </p:nvSpPr>
        <p:spPr>
          <a:xfrm>
            <a:off x="10515600" y="118872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10149840" y="2103120"/>
            <a:ext cx="1554480" cy="365760"/>
          </a:xfrm>
          <a:prstGeom prst="rect">
            <a:avLst/>
          </a:prstGeom>
          <a:noFill/>
          <a:ln/>
        </p:spPr>
        <p:txBody>
          <a:bodyPr wrap="square" lIns="0" tIns="0" rIns="0" bIns="0" rtlCol="0" anchor="ctr"/>
          <a:lstStyle/>
          <a:p>
            <a:pPr marL="0" indent="0" algn="ctr">
              <a:buNone/>
            </a:pPr>
            <a:r>
              <a:rPr lang="en-US" sz="800" dirty="0">
                <a:solidFill>
                  <a:srgbClr val="6B6762"/>
                </a:solidFill>
                <a:latin typeface="Courier New" pitchFamily="34" charset="0"/>
                <a:ea typeface="Courier New" pitchFamily="34" charset="-122"/>
                <a:cs typeface="Courier New" pitchFamily="34" charset="-120"/>
              </a:rPr>
              <a:t>D4+</a:t>
            </a:r>
            <a:endParaRPr lang="en-US" sz="800" dirty="0"/>
          </a:p>
        </p:txBody>
      </p:sp>
      <p:sp>
        <p:nvSpPr>
          <p:cNvPr id="34" name="Text 32"/>
          <p:cNvSpPr/>
          <p:nvPr/>
        </p:nvSpPr>
        <p:spPr>
          <a:xfrm>
            <a:off x="10058400" y="2468880"/>
            <a:ext cx="1737360" cy="731520"/>
          </a:xfrm>
          <a:prstGeom prst="rect">
            <a:avLst/>
          </a:prstGeom>
          <a:noFill/>
          <a:ln/>
        </p:spPr>
        <p:txBody>
          <a:bodyPr wrap="square" lIns="0" tIns="0" rIns="0" bIns="0" rtlCol="0" anchor="ctr"/>
          <a:lstStyle/>
          <a:p>
            <a:pPr marL="0" indent="0" algn="ctr">
              <a:buNone/>
            </a:pPr>
            <a:r>
              <a:rPr lang="en-US" sz="900" dirty="0">
                <a:solidFill>
                  <a:srgbClr val="6B6762"/>
                </a:solidFill>
                <a:latin typeface="Calibri" pitchFamily="34" charset="0"/>
                <a:ea typeface="Calibri" pitchFamily="34" charset="-122"/>
                <a:cs typeface="Calibri" pitchFamily="34" charset="-120"/>
              </a:rPr>
              <a:t>Design &amp;</a:t>
            </a:r>
            <a:endParaRPr lang="en-US" sz="900" dirty="0"/>
          </a:p>
          <a:p>
            <a:pPr marL="0" indent="0" algn="ctr">
              <a:buNone/>
            </a:pPr>
            <a:r>
              <a:rPr lang="en-US" sz="900" dirty="0">
                <a:solidFill>
                  <a:srgbClr val="6B6762"/>
                </a:solidFill>
                <a:latin typeface="Calibri" pitchFamily="34" charset="0"/>
                <a:ea typeface="Calibri" pitchFamily="34" charset="-122"/>
                <a:cs typeface="Calibri" pitchFamily="34" charset="-120"/>
              </a:rPr>
              <a:t>Prototype</a:t>
            </a:r>
            <a:endParaRPr lang="en-US" sz="900" dirty="0"/>
          </a:p>
        </p:txBody>
      </p:sp>
      <p:sp>
        <p:nvSpPr>
          <p:cNvPr id="35" name="Shape 33"/>
          <p:cNvSpPr/>
          <p:nvPr/>
        </p:nvSpPr>
        <p:spPr>
          <a:xfrm>
            <a:off x="457200" y="3337560"/>
            <a:ext cx="11247120" cy="1371600"/>
          </a:xfrm>
          <a:prstGeom prst="roundRect">
            <a:avLst>
              <a:gd name="adj" fmla="val 6667"/>
            </a:avLst>
          </a:prstGeom>
          <a:solidFill>
            <a:srgbClr val="2C2A28"/>
          </a:solidFill>
          <a:ln w="19050">
            <a:solidFill>
              <a:srgbClr val="B8620A"/>
            </a:solidFill>
            <a:prstDash val="solid"/>
          </a:ln>
        </p:spPr>
        <p:txBody>
          <a:bodyPr/>
          <a:lstStyle/>
          <a:p>
            <a:endParaRPr lang="en-AU"/>
          </a:p>
        </p:txBody>
      </p:sp>
      <p:sp>
        <p:nvSpPr>
          <p:cNvPr id="36" name="Text 34"/>
          <p:cNvSpPr/>
          <p:nvPr/>
        </p:nvSpPr>
        <p:spPr>
          <a:xfrm>
            <a:off x="640080" y="3456432"/>
            <a:ext cx="10789920" cy="411480"/>
          </a:xfrm>
          <a:prstGeom prst="rect">
            <a:avLst/>
          </a:prstGeom>
          <a:noFill/>
          <a:ln/>
        </p:spPr>
        <p:txBody>
          <a:bodyPr wrap="square" lIns="0" tIns="0" rIns="0" bIns="0" rtlCol="0" anchor="ctr"/>
          <a:lstStyle/>
          <a:p>
            <a:pPr marL="0" indent="0">
              <a:buNone/>
            </a:pPr>
            <a:r>
              <a:rPr lang="en-US" sz="1400" b="1" dirty="0">
                <a:solidFill>
                  <a:srgbClr val="B8620A"/>
                </a:solidFill>
                <a:latin typeface="Calibri" pitchFamily="34" charset="0"/>
                <a:ea typeface="Calibri" pitchFamily="34" charset="-122"/>
                <a:cs typeface="Calibri" pitchFamily="34" charset="-120"/>
              </a:rPr>
              <a:t>NEXT: D3.2 — Characteristics of Creative &amp; Innovative Solutions</a:t>
            </a:r>
            <a:endParaRPr lang="en-US" sz="1400" dirty="0"/>
          </a:p>
        </p:txBody>
      </p:sp>
      <p:sp>
        <p:nvSpPr>
          <p:cNvPr id="37" name="Text 35"/>
          <p:cNvSpPr/>
          <p:nvPr/>
        </p:nvSpPr>
        <p:spPr>
          <a:xfrm>
            <a:off x="640080" y="3886200"/>
            <a:ext cx="10789920" cy="777240"/>
          </a:xfrm>
          <a:prstGeom prst="rect">
            <a:avLst/>
          </a:prstGeom>
          <a:noFill/>
          <a:ln/>
        </p:spPr>
        <p:txBody>
          <a:bodyPr wrap="square" lIns="0" tIns="0" rIns="0" bIns="0" rtlCol="0" anchor="ctr"/>
          <a:lstStyle/>
          <a:p>
            <a:pPr marL="0" indent="0">
              <a:buNone/>
            </a:pPr>
            <a:r>
              <a:rPr lang="en-US" sz="1200" dirty="0">
                <a:solidFill>
                  <a:srgbClr val="6B6762"/>
                </a:solidFill>
                <a:latin typeface="Calibri" pitchFamily="34" charset="0"/>
                <a:ea typeface="Calibri" pitchFamily="34" charset="-122"/>
                <a:cs typeface="Calibri" pitchFamily="34" charset="-120"/>
              </a:rPr>
              <a:t>You'll evaluate ideation techniques and apply creative design thinking to the problem you've scoped today.</a:t>
            </a:r>
            <a:endParaRPr lang="en-US" sz="1200" dirty="0"/>
          </a:p>
          <a:p>
            <a:pPr marL="0" indent="0">
              <a:buNone/>
            </a:pPr>
            <a:r>
              <a:rPr lang="en-US" sz="1200" dirty="0">
                <a:solidFill>
                  <a:srgbClr val="6B6762"/>
                </a:solidFill>
                <a:latin typeface="Calibri" pitchFamily="34" charset="0"/>
                <a:ea typeface="Calibri" pitchFamily="34" charset="-122"/>
                <a:cs typeface="Calibri" pitchFamily="34" charset="-120"/>
              </a:rPr>
              <a:t>Make sure your refined problem statement and data collection instrument are saved — you'll build on both.</a:t>
            </a:r>
            <a:endParaRPr lang="en-US" sz="1200" dirty="0"/>
          </a:p>
        </p:txBody>
      </p:sp>
      <p:sp>
        <p:nvSpPr>
          <p:cNvPr id="38" name="Shape 36"/>
          <p:cNvSpPr/>
          <p:nvPr/>
        </p:nvSpPr>
        <p:spPr>
          <a:xfrm>
            <a:off x="457200" y="4846320"/>
            <a:ext cx="11247120" cy="777240"/>
          </a:xfrm>
          <a:prstGeom prst="roundRect">
            <a:avLst>
              <a:gd name="adj" fmla="val 9412"/>
            </a:avLst>
          </a:prstGeom>
          <a:solidFill>
            <a:srgbClr val="8C1F28"/>
          </a:solidFill>
          <a:ln w="12700">
            <a:solidFill>
              <a:srgbClr val="8C1F28"/>
            </a:solidFill>
            <a:prstDash val="solid"/>
          </a:ln>
        </p:spPr>
        <p:txBody>
          <a:bodyPr/>
          <a:lstStyle/>
          <a:p>
            <a:endParaRPr lang="en-AU"/>
          </a:p>
        </p:txBody>
      </p:sp>
      <p:sp>
        <p:nvSpPr>
          <p:cNvPr id="39" name="Text 37"/>
          <p:cNvSpPr/>
          <p:nvPr/>
        </p:nvSpPr>
        <p:spPr>
          <a:xfrm>
            <a:off x="594360" y="4892040"/>
            <a:ext cx="10972800" cy="685800"/>
          </a:xfrm>
          <a:prstGeom prst="rect">
            <a:avLst/>
          </a:prstGeom>
          <a:noFill/>
          <a:ln/>
        </p:spPr>
        <p:txBody>
          <a:bodyPr wrap="square" lIns="0" tIns="0" rIns="0" bIns="0"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  Milestone 1 — Week 4.  Your problem statement and data collection plan are both assessed in Milestone 1.  Make sure your instrument is complete by next lesson.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TotalTime>
  <Words>3071</Words>
  <Application>Microsoft Office PowerPoint</Application>
  <PresentationFormat>Widescreen</PresentationFormat>
  <Paragraphs>280</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Bookman Old Style</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L4 — Problem Scoping &amp; Data Collection</dc:title>
  <dc:subject>PptxGenJS Presentation</dc:subject>
  <dc:creator>Mr Smith</dc:creator>
  <cp:lastModifiedBy>James Smith 5</cp:lastModifiedBy>
  <cp:revision>2</cp:revision>
  <dcterms:created xsi:type="dcterms:W3CDTF">2026-06-24T22:39:53Z</dcterms:created>
  <dcterms:modified xsi:type="dcterms:W3CDTF">2026-06-25T00:57:03Z</dcterms:modified>
</cp:coreProperties>
</file>