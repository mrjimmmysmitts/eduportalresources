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554480"/>
            <a:ext cx="5120640" cy="5120640"/>
          </a:xfrm>
          <a:prstGeom prst="ellipse">
            <a:avLst/>
          </a:prstGeom>
          <a:solidFill>
            <a:srgbClr val="B8620A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37360" y="4297680"/>
            <a:ext cx="3931920" cy="3931920"/>
          </a:xfrm>
          <a:prstGeom prst="ellipse">
            <a:avLst/>
          </a:prstGeom>
          <a:solidFill>
            <a:srgbClr val="2B3A8C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9C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AREA OF STUDY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Curiosity, Ingenuity &amp;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UN SDGs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D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of 45  ·  Outcome 1, Innovative Solutions  ·  Double period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46920" y="4572000"/>
            <a:ext cx="1371600" cy="1371600"/>
          </a:xfrm>
          <a:prstGeom prst="ellipse">
            <a:avLst/>
          </a:prstGeom>
          <a:solidFill>
            <a:srgbClr val="B8620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5228" y="4750308"/>
            <a:ext cx="1014984" cy="101498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5623560"/>
            <a:ext cx="4480560" cy="457200"/>
          </a:xfrm>
          <a:prstGeom prst="roundRect">
            <a:avLst>
              <a:gd name="adj" fmla="val 16000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5623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📵 Devices closed to start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problem was this invented to solve?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before checking — no notes, no internet.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13232" y="2286000"/>
            <a:ext cx="502920" cy="502920"/>
          </a:xfrm>
          <a:prstGeom prst="ellipse">
            <a:avLst/>
          </a:prstGeom>
          <a:solidFill>
            <a:srgbClr val="2B3A8C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13232" y="29718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Velcro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13232" y="40690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guess: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33756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502152" y="2286000"/>
            <a:ext cx="502920" cy="502920"/>
          </a:xfrm>
          <a:prstGeom prst="ellipse">
            <a:avLst/>
          </a:prstGeom>
          <a:solidFill>
            <a:srgbClr val="2B3A8C"/>
          </a:solidFill>
          <a:ln/>
        </p:spPr>
      </p:sp>
      <p:sp>
        <p:nvSpPr>
          <p:cNvPr id="17" name="Text 14"/>
          <p:cNvSpPr/>
          <p:nvPr/>
        </p:nvSpPr>
        <p:spPr>
          <a:xfrm>
            <a:off x="350215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02152" y="29718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microwave oven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3502152" y="40690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guess: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12648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91072" y="2286000"/>
            <a:ext cx="502920" cy="502920"/>
          </a:xfrm>
          <a:prstGeom prst="ellipse">
            <a:avLst/>
          </a:prstGeom>
          <a:solidFill>
            <a:srgbClr val="2B3A8C"/>
          </a:solidFill>
          <a:ln/>
        </p:spPr>
      </p:sp>
      <p:sp>
        <p:nvSpPr>
          <p:cNvPr id="22" name="Text 19"/>
          <p:cNvSpPr/>
          <p:nvPr/>
        </p:nvSpPr>
        <p:spPr>
          <a:xfrm>
            <a:off x="629107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6291072" y="29718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wrap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291072" y="40690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guess: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91540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9079992" y="2286000"/>
            <a:ext cx="502920" cy="502920"/>
          </a:xfrm>
          <a:prstGeom prst="ellipse">
            <a:avLst/>
          </a:prstGeom>
          <a:solidFill>
            <a:srgbClr val="2B3A8C"/>
          </a:solidFill>
          <a:ln/>
        </p:spPr>
      </p:sp>
      <p:sp>
        <p:nvSpPr>
          <p:cNvPr id="27" name="Text 24"/>
          <p:cNvSpPr/>
          <p:nvPr/>
        </p:nvSpPr>
        <p:spPr>
          <a:xfrm>
            <a:off x="9079992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9079992" y="2971800"/>
            <a:ext cx="2276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seatbelt</a:t>
            </a:r>
            <a:endParaRPr lang="en-US" sz="1700" dirty="0"/>
          </a:p>
        </p:txBody>
      </p:sp>
      <p:sp>
        <p:nvSpPr>
          <p:cNvPr id="29" name="Text 26"/>
          <p:cNvSpPr/>
          <p:nvPr/>
        </p:nvSpPr>
        <p:spPr>
          <a:xfrm>
            <a:off x="9079992" y="40690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guess: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real problems behind them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48640" y="1371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144475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Velcro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291840" y="1444752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burr stuck to a dog's fur kept fastening itself — the inventor wanted a fastener that worked the same way, instantly.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359152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432304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microwave oven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291840" y="2432304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 noticed radar equipment melted a chocolate bar in his pocket — he wondered if that effect could cook food faster.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3419856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Bubble wrap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291840" y="3419856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engineers were trying to make textured wallpaper. It failed as wallpaper — but it turned out to protect things in transit perfectly.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334256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40740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seatbelt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3291840" y="4407408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cars had no way to stop a person being thrown forward in a crash — a simple restraint solved a problem killing people.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5394960"/>
            <a:ext cx="11064240" cy="566928"/>
          </a:xfrm>
          <a:prstGeom prst="roundRect">
            <a:avLst>
              <a:gd name="adj" fmla="val 12903"/>
            </a:avLst>
          </a:prstGeom>
          <a:solidFill>
            <a:srgbClr val="1B5E47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53949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technology you use started as someone noticing a problem worth solving.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8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C9C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Learning Objective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11887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 be able to explain what drives innovation, explore this term's topic menu, and start forming a project group.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B8620A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4231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06324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1916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7240" y="3291840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1B5E47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2918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97480" y="3172968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name at least three emerging-technology topic areas from the menu.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48640" y="4178808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1916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7240" y="4407408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B8620A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4074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697480" y="4288536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curiosity and ingenuity connect to innovation, and link a UN SDG to a real technology example.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48640" y="5294376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1B1916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77240" y="5522976"/>
            <a:ext cx="1691640" cy="502920"/>
          </a:xfrm>
          <a:prstGeom prst="roundRect">
            <a:avLst>
              <a:gd name="adj" fmla="val 49091"/>
            </a:avLst>
          </a:prstGeom>
          <a:solidFill>
            <a:srgbClr val="2B3A8C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522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697480" y="5404104"/>
            <a:ext cx="8778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propose a specific problem, need or opportunity within a topic area, and explain why it matters to real users.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counts as innovation here?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drive it — and three different end-forms are all valid.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2194560"/>
            <a:ext cx="777240" cy="77724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281" y="2295601"/>
            <a:ext cx="575158" cy="5751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73736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1737360" y="2651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Noticing a problem, need or gap that most people walk straight past.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6217920" y="1965960"/>
            <a:ext cx="539496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46520" y="2194560"/>
            <a:ext cx="777240" cy="777240"/>
          </a:xfrm>
          <a:prstGeom prst="ellipse">
            <a:avLst/>
          </a:prstGeom>
          <a:solidFill>
            <a:srgbClr val="F7E4C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561" y="2295601"/>
            <a:ext cx="575158" cy="57515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21945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Ingenuity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7406640" y="26517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Inventive, resourceful problem-solving — finding a workable way to address what you noticed.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548640" y="3886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end result can be any of these three: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548640" y="4343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DE8D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31520" y="4480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550" dirty="0"/>
          </a:p>
        </p:txBody>
      </p:sp>
      <p:sp>
        <p:nvSpPr>
          <p:cNvPr id="23" name="Text 18"/>
          <p:cNvSpPr/>
          <p:nvPr/>
        </p:nvSpPr>
        <p:spPr>
          <a:xfrm>
            <a:off x="731520" y="48463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idea could work — doesn't need to be fully built.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343400" y="4343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DE8D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526280" y="4480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4526280" y="48463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working version, rough around the edges.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8138160" y="4343400"/>
            <a:ext cx="3611880" cy="1417320"/>
          </a:xfrm>
          <a:prstGeom prst="roundRect">
            <a:avLst>
              <a:gd name="adj" fmla="val 5806"/>
            </a:avLst>
          </a:prstGeom>
          <a:solidFill>
            <a:srgbClr val="EDE8D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321040" y="448056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8321040" y="484632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more finished, polished solution.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lens for finding real problems: the UN SDGs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global goals, agreed by almost every country, naming the problems most worth solving.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" y="1874520"/>
            <a:ext cx="1755648" cy="1783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106424" y="2057400"/>
            <a:ext cx="640080" cy="64008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634" y="214061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0080" y="28346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Wellbeing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432304" y="1874520"/>
            <a:ext cx="1755648" cy="1783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990088" y="2057400"/>
            <a:ext cx="640080" cy="640080"/>
          </a:xfrm>
          <a:prstGeom prst="ellipse">
            <a:avLst/>
          </a:prstGeom>
          <a:solidFill>
            <a:srgbClr val="F7E4C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3298" y="214061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523744" y="28346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315968" y="1874520"/>
            <a:ext cx="1755648" cy="1783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873752" y="2057400"/>
            <a:ext cx="640080" cy="64008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962" y="2140610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407408" y="28346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199632" y="1874520"/>
            <a:ext cx="1755648" cy="1783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757416" y="2057400"/>
            <a:ext cx="640080" cy="64008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0626" y="2140610"/>
            <a:ext cx="473659" cy="47365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291072" y="28346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083296" y="1874520"/>
            <a:ext cx="1755648" cy="1783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8641080" y="2057400"/>
            <a:ext cx="640080" cy="64008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4290" y="2140610"/>
            <a:ext cx="473659" cy="473659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174736" y="28346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Water &amp; Sanitation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9966960" y="1874520"/>
            <a:ext cx="1755648" cy="1783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10524744" y="2057400"/>
            <a:ext cx="640080" cy="640080"/>
          </a:xfrm>
          <a:prstGeom prst="ellipse">
            <a:avLst/>
          </a:prstGeom>
          <a:solidFill>
            <a:srgbClr val="DCEBE3"/>
          </a:solidFill>
          <a:ln/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954" y="2140610"/>
            <a:ext cx="473659" cy="473659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058400" y="2834640"/>
            <a:ext cx="1572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Sustainable Cities</a:t>
            </a:r>
            <a:endParaRPr lang="en-US" sz="1150" dirty="0"/>
          </a:p>
        </p:txBody>
      </p:sp>
      <p:sp>
        <p:nvSpPr>
          <p:cNvPr id="34" name="Text 25"/>
          <p:cNvSpPr/>
          <p:nvPr/>
        </p:nvSpPr>
        <p:spPr>
          <a:xfrm>
            <a:off x="548640" y="3794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sample of 17 — full list on the reference website)</a:t>
            </a:r>
            <a:endParaRPr lang="en-US" sz="1150" dirty="0"/>
          </a:p>
        </p:txBody>
      </p:sp>
      <p:sp>
        <p:nvSpPr>
          <p:cNvPr id="35" name="Shape 26"/>
          <p:cNvSpPr/>
          <p:nvPr/>
        </p:nvSpPr>
        <p:spPr>
          <a:xfrm>
            <a:off x="548640" y="42519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1B1916"/>
          </a:solidFill>
          <a:ln/>
        </p:spPr>
      </p:sp>
      <p:sp>
        <p:nvSpPr>
          <p:cNvPr id="36" name="Text 27"/>
          <p:cNvSpPr/>
          <p:nvPr/>
        </p:nvSpPr>
        <p:spPr>
          <a:xfrm>
            <a:off x="822960" y="438912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62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822960" y="4663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“Clean Water &amp; Sanitation” could inspire a low-cost sensor that detects unsafe drinking water — a real problem, solvable with a digital system.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makes a solution “innovative”?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preview — we'll go deeper on these in Week 3.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10312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2B3A8C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2788920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genuinely new — not just a copy of an existing solution.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33756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37560" y="210312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2B3A8C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Effectiveness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02152" y="2788920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actually solves the problem it was designed for.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12648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126480" y="210312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2B3A8C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User-centred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291072" y="2788920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what real users need, not just what's easy to build.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915400" y="2103120"/>
            <a:ext cx="2606040" cy="26517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15400" y="2103120"/>
            <a:ext cx="2606040" cy="502920"/>
          </a:xfrm>
          <a:prstGeom prst="roundRect">
            <a:avLst>
              <a:gd name="adj" fmla="val 16364"/>
            </a:avLst>
          </a:prstGeom>
          <a:solidFill>
            <a:srgbClr val="2B3A8C"/>
          </a:solidFill>
          <a:ln/>
        </p:spPr>
      </p:sp>
      <p:sp>
        <p:nvSpPr>
          <p:cNvPr id="24" name="Text 21"/>
          <p:cNvSpPr/>
          <p:nvPr/>
        </p:nvSpPr>
        <p:spPr>
          <a:xfrm>
            <a:off x="8915400" y="21031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Disruptiveness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9079992" y="2788920"/>
            <a:ext cx="227685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how people approach the problem, not just a small improvement.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5943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This term's topic menu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10058400" y="594360"/>
            <a:ext cx="1417320" cy="329184"/>
          </a:xfrm>
          <a:prstGeom prst="roundRect">
            <a:avLst>
              <a:gd name="adj" fmla="val 19444"/>
            </a:avLst>
          </a:prstGeom>
          <a:solidFill>
            <a:srgbClr val="B8620A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0" y="5943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THIS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1280160"/>
            <a:ext cx="1572768" cy="5074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83564" y="1508760"/>
            <a:ext cx="502920" cy="50292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8944" y="157414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0080" y="21488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ML &amp; neural networks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0080" y="3063240"/>
            <a:ext cx="1389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from prompts, predicting trends, image classification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176272" y="1280160"/>
            <a:ext cx="1572768" cy="5074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11196" y="1508760"/>
            <a:ext cx="502920" cy="50292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6576" y="157414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267712" y="21488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tech &amp; IoT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2267712" y="3063240"/>
            <a:ext cx="1389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aids, proximity sensors, smart braille displays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3803904" y="1280160"/>
            <a:ext cx="1572768" cy="5074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338828" y="1508760"/>
            <a:ext cx="502920" cy="50292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4208" y="1574140"/>
            <a:ext cx="372161" cy="37216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895344" y="21488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healthcare devices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895344" y="3063240"/>
            <a:ext cx="1389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detection, automated pill dispensers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431536" y="1280160"/>
            <a:ext cx="1572768" cy="5074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66460" y="1508760"/>
            <a:ext cx="502920" cy="50292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1840" y="1574140"/>
            <a:ext cx="372161" cy="372161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522976" y="21488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Drones, microcontrollers &amp; nanosatellites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522976" y="3063240"/>
            <a:ext cx="1389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collecting and transmitting environmental data</a:t>
            </a:r>
            <a:endParaRPr lang="en-US" sz="950" dirty="0"/>
          </a:p>
        </p:txBody>
      </p:sp>
      <p:sp>
        <p:nvSpPr>
          <p:cNvPr id="31" name="Shape 24"/>
          <p:cNvSpPr/>
          <p:nvPr/>
        </p:nvSpPr>
        <p:spPr>
          <a:xfrm>
            <a:off x="7059168" y="1280160"/>
            <a:ext cx="1572768" cy="5074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7594092" y="1508760"/>
            <a:ext cx="502920" cy="50292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9472" y="1574140"/>
            <a:ext cx="372161" cy="372161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7150608" y="21488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 &amp; multimedia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7150608" y="3063240"/>
            <a:ext cx="1389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games, simulations, fitness or mindfulness programs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8686800" y="1280160"/>
            <a:ext cx="1572768" cy="5074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9221724" y="1508760"/>
            <a:ext cx="502920" cy="50292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7104" y="1574140"/>
            <a:ext cx="372161" cy="372161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8778240" y="21488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reality (AR/VR)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8778240" y="3063240"/>
            <a:ext cx="1389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avatars, virtual relaxation spaces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10314432" y="1280160"/>
            <a:ext cx="1572768" cy="5074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10849356" y="1508760"/>
            <a:ext cx="502920" cy="50292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14736" y="1574140"/>
            <a:ext cx="372161" cy="372161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10405872" y="2148840"/>
            <a:ext cx="13898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10405872" y="3063240"/>
            <a:ext cx="138988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tracking, industry demonstration games</a:t>
            </a:r>
            <a:endParaRPr lang="en-US" sz="950" dirty="0"/>
          </a:p>
        </p:txBody>
      </p:sp>
      <p:sp>
        <p:nvSpPr>
          <p:cNvPr id="46" name="Shape 36"/>
          <p:cNvSpPr/>
          <p:nvPr/>
        </p:nvSpPr>
        <p:spPr>
          <a:xfrm>
            <a:off x="548640" y="5943600"/>
            <a:ext cx="11064240" cy="91"/>
          </a:xfrm>
          <a:prstGeom prst="roundRect">
            <a:avLst/>
          </a:prstGeom>
          <a:solidFill>
            <a:srgbClr val="FFFFFF"/>
          </a:solidFill>
          <a:ln/>
        </p:spPr>
      </p:sp>
      <p:sp>
        <p:nvSpPr>
          <p:cNvPr id="47" name="Text 3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8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737360"/>
            <a:ext cx="1554480" cy="1554480"/>
          </a:xfrm>
          <a:prstGeom prst="ellipse">
            <a:avLst/>
          </a:prstGeom>
          <a:solidFill>
            <a:srgbClr val="0F3D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602" y="1939442"/>
            <a:ext cx="1150315" cy="115031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18288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Don't see your idea on the menu?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2606040" y="25146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E8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other innovative digital solution” is explicitly allowed by the study design.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2606040" y="3200400"/>
            <a:ext cx="8778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group has a genuine idea that doesn't fit neatly into one of the seven areas, bring it to Mr Smith — as long as it's a real problem, need or opportunity solved through a digital system, it's worth discussing.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777240"/>
            <a:ext cx="2377440" cy="411480"/>
          </a:xfrm>
          <a:prstGeom prst="roundRect">
            <a:avLst>
              <a:gd name="adj" fmla="val 17778"/>
            </a:avLst>
          </a:prstGeom>
          <a:solidFill>
            <a:srgbClr val="1B5E47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7772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• PAIR • SHARE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1554480"/>
            <a:ext cx="1280160" cy="128016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061" y="1720901"/>
            <a:ext cx="947318" cy="94731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94560" y="1554480"/>
            <a:ext cx="9418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Which SDG or topic area genuinely interests you, and why?</a:t>
            </a:r>
            <a:endParaRPr lang="en-US" sz="28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11064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22960" y="3840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think  →  2 min pair  →  whole-class share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22960" y="4251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name an actual real-world example, not just the category name.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3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8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3D2D"/>
          </a:solidFill>
          <a:ln w="9525">
            <a:solidFill>
              <a:srgbClr val="5FBF9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920240"/>
            <a:ext cx="1554480" cy="1554480"/>
          </a:xfrm>
          <a:prstGeom prst="ellipse">
            <a:avLst/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304288"/>
            <a:ext cx="786384" cy="7863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606040" y="196596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Devices open — over to you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2606040" y="26974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workbook → Section 1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862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8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3D2D"/>
          </a:solidFill>
          <a:ln w="9525">
            <a:solidFill>
              <a:srgbClr val="5FBF9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166360" y="1554480"/>
            <a:ext cx="1828800" cy="1828800"/>
          </a:xfrm>
          <a:prstGeom prst="ellipse">
            <a:avLst/>
          </a:prstGeom>
          <a:solidFill>
            <a:srgbClr val="9C540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4104" y="1792224"/>
            <a:ext cx="1353312" cy="13533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" y="36576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Brain break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1463040" y="4297680"/>
            <a:ext cx="9235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CE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grab some water, chat with someone outside your usual group — back in 3 minutes.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F3D2D"/>
          </a:solidFill>
          <a:ln w="9525">
            <a:solidFill>
              <a:srgbClr val="5FBF9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Today's task: form your group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548640" y="14173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1783080"/>
            <a:ext cx="548640" cy="548640"/>
          </a:xfrm>
          <a:prstGeom prst="ellipse">
            <a:avLst/>
          </a:prstGeom>
          <a:solidFill>
            <a:srgbClr val="1B5E47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691640" y="15544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a group of 3-4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1691640" y="1984248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with classmates — groups aren't assigned. Even numbers aren't required.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2807208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68680" y="3172968"/>
            <a:ext cx="548640" cy="548640"/>
          </a:xfrm>
          <a:prstGeom prst="ellipse">
            <a:avLst/>
          </a:prstGeom>
          <a:solidFill>
            <a:srgbClr val="B8620A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3172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691640" y="2944368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topic menu together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1691640" y="3374136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seven areas as a group. Which genuinely interests everyone, not just one person?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4197096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8D3CA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868680" y="4562856"/>
            <a:ext cx="548640" cy="548640"/>
          </a:xfrm>
          <a:prstGeom prst="ellipse">
            <a:avLst/>
          </a:prstGeom>
          <a:solidFill>
            <a:srgbClr val="2B3A8C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45628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1691640" y="4334256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to 1-2 shared areas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1691640" y="4764024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C2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need a final decision today — just a direction to investigate before Week 2.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6B67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12100E"/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2100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Where this is heading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day 1 of 45 sessions across this unit.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0312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206654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21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formed, topic direction chosen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3C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097280" y="266090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project plan due (Milestone 1, Week 4)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548640" y="329184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3C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97280" y="325526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 design finalised (Milestone 2, Week 7)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3C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097280" y="384962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substantially complete (Milestone 3, Week 12)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548640" y="4480560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8D3C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97280" y="444398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1 submission — group presentations (Week 17)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8C1F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8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Exit ticket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4DA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your workbook before you leave.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1168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7724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463040" y="20116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two things that drive innovation in this unit.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8640" y="320040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" y="349300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463040" y="320040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in your group, and what topic direction are you leaning toward?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48640" y="438912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46817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463040" y="438912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UN SDG and a real technology example connected to it.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D8D3C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VCE APPLIED COMPUTING  ·  UNIT 2  ·  LESSON 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418320" y="164592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418320" y="1645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835640" y="164592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5C1419"/>
          </a:solidFill>
          <a:ln w="9525">
            <a:solidFill>
              <a:srgbClr val="E8838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36" y="2011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210544" y="164592"/>
            <a:ext cx="5852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48640" y="777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1B1916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2B3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187817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1691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4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lesson — D1.2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783080" y="205740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systems in context — assistive tech, financial services, GPS, robotics, traffic management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1B1916"/>
          </a:solidFill>
          <a:ln w="12700">
            <a:solidFill>
              <a:srgbClr val="3A372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108960"/>
            <a:ext cx="548640" cy="548640"/>
          </a:xfrm>
          <a:prstGeom prst="ellipse">
            <a:avLst/>
          </a:prstGeom>
          <a:solidFill>
            <a:srgbClr val="E6E3F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318028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0175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DE8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next lesson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554480" y="33375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4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group and bring a tentative topic direction — you'll narrow it further next lesson, not finalise it today.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B5E47"/>
          </a:solidFill>
          <a:ln/>
        </p:spPr>
      </p:sp>
      <p:sp>
        <p:nvSpPr>
          <p:cNvPr id="20" name="Text 15"/>
          <p:cNvSpPr/>
          <p:nvPr/>
        </p:nvSpPr>
        <p:spPr>
          <a:xfrm>
            <a:off x="822960" y="40690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Haven't found a group yet? See Mr Smith before you leave — every student will have a group before next lesson.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5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Smith  ·  VCE Applied Computing: Unit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Launch: Curiosity, Ingenuity &amp; the UN SDGs — Lesson 1</dc:title>
  <dc:subject>PptxGenJS Presentation</dc:subject>
  <dc:creator>Mr Smith</dc:creator>
  <cp:lastModifiedBy>Mr Smith</cp:lastModifiedBy>
  <cp:revision>1</cp:revision>
  <dcterms:created xsi:type="dcterms:W3CDTF">2026-06-16T23:22:18Z</dcterms:created>
  <dcterms:modified xsi:type="dcterms:W3CDTF">2026-06-16T23:22:18Z</dcterms:modified>
</cp:coreProperties>
</file>