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Lesson 3. By now groups have formed and chosen a topic area (D1.1) and explored how digital systems are used in those contexts (D1.2). Today is about shifting from exploration to structured investigation — students need to understand the problem space deeply before they can design anything useful. 100-minute double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groups 3 minutes to read and discuss their card (or all three). Then ask 2-3 groups to share. Key takeaway you want students to arrive at: "You can't design a good solution if you don't understand the problem from the user's point of view." No hints — let them find this. Timing: 8-10 minutes warm up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objective aloud and point to each success criterion. Ask students to write the objective and criteria in their paper workbooks. Tell them: "By the end of today you should be able to rate yourself against at least the Developing criterion." These will come back in the exit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teaching point: investigation is purposeful, not casual. Emphasise the difference between "I read a random article" vs "I deliberately looked for evidence of this problem affecting these people." Students copy the two definitions (Primary/Secondary research) into their paper workbooks. Ask: "For your topic, which type of research would you use first?" — think/pair/share, 2 mins. Timing: 12 minutes for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these 4 questions into their paper workbooks — these will guide their research later in the lesson. Quick class example: pick a common tool (e.g. Google Maps or MyFitnessPal) and walk through all 4 questions together. Ask students to contribute the answers. Timing: 10 minutes including example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 4 user profile headings into their paper workbooks. Brief class discussion: ask a student what their group's topic is, and work through "who are they?" together as a class example — keep it quick (2-3 min). The point is that user identification is specific, not generic. Timing: 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formula and both examples. Ask students: "Why is the weak example weak?" — accept 2-3 responses before revealing/confirming. Key answer: it doesn't identify who, doesn't explain what the problem actually is, and gives no evidence or insight. This formula is what groups will draft in the workbook today — they won't perfect it, just first attempt. Timing: 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your own "two truths and a tech lie" — some options:
1. True: The first iPhone had no App Store on launch day. True: The original Google search engine was called "BackRub". Lie: Mark Zuckerberg originally named Facebook "FaceWorld".
OR choose your own relevant statements. This break comes at roughly the 45-50 minute mark. After the break, students open laptops. Timing: 3-4 minutes total including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"Laptop Gate" — devices come out HERE and not before. Students open the digital workbook. Paper notes stay out and are actively referenced. Circulate and check that all students have the workbook open before proceeding. Timing: 2 minutes to settle, then ~40 minutes of application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while students work. Circulate frequently — check that groups are referencing their paper notes, not starting from scratch on screen. Common issue: groups trying to skip to Task 4 (problem statement) without doing the groundwork in Tasks 1-3. Redirect them: the problem statement only works if it's grounded in research. Timing: up to 40 minutes work time. You may choose to give a 5-minute time check halfway.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laptops for this phase — students should be listening and contributing verbally. Don't try to hear from all groups: 3-4 is enough. After each share, use the feedback questions to prompt class response. Avoid affirming one group's problem statement as "correct" — they're all drafts. Key teacher move: if a group's problem statement is too broad, ask "who specifically?" Timing: 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submit the workbook after completing Q1 and Q2 minimum. Q3 is Extending. Give 5-7 minutes for the exit ticket. Remind them: Q2 is from memory — no copying from notes. After submission, quick hands-up: "How many feel confident about what a problem statement needs?" — use to gauge next lesson starting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anchor student expectations for group progress. Any group that has reached the Extending checklist item is in great shape. Groups that have only reached Foundation by the end of today should be directed to catch up in D2.2. Milestone 1 is Week 4 — there is time, but groups should be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lesson: today students moved from "topic inspiration" to "structured investigation." In D2.2 they refine and formalise. Remind groups about the homework: ONE piece of secondary research relevant to their topic — article, statistic, news story. They don't need to write an essay, just find it and note the source. Timing: 5 minutes for next steps and pack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100E"/>
          </a:solidFill>
          <a:ln w="12700">
            <a:solidFill>
              <a:srgbClr val="12100E"/>
            </a:solidFill>
            <a:prstDash val="solid"/>
          </a:ln>
        </p:spPr>
      </p:sp>
      <p:sp>
        <p:nvSpPr>
          <p:cNvPr id="3" name="Shape 1"/>
          <p:cNvSpPr/>
          <p:nvPr/>
        </p:nvSpPr>
        <p:spPr>
          <a:xfrm>
            <a:off x="0" y="5303520"/>
            <a:ext cx="12188952" cy="73152"/>
          </a:xfrm>
          <a:prstGeom prst="rect">
            <a:avLst/>
          </a:prstGeom>
          <a:solidFill>
            <a:srgbClr val="1B5E47"/>
          </a:solidFill>
          <a:ln w="12700">
            <a:solidFill>
              <a:srgbClr val="1B5E47"/>
            </a:solidFill>
            <a:prstDash val="solid"/>
          </a:ln>
        </p:spPr>
      </p:sp>
      <p:sp>
        <p:nvSpPr>
          <p:cNvPr id="4" name="Text 2"/>
          <p:cNvSpPr/>
          <p:nvPr/>
        </p:nvSpPr>
        <p:spPr>
          <a:xfrm>
            <a:off x="731520" y="1005840"/>
            <a:ext cx="10698480" cy="365760"/>
          </a:xfrm>
          <a:prstGeom prst="rect">
            <a:avLst/>
          </a:prstGeom>
          <a:noFill/>
          <a:ln/>
        </p:spPr>
        <p:txBody>
          <a:bodyPr wrap="square" rtlCol="0" anchor="ctr"/>
          <a:lstStyle/>
          <a:p>
            <a:pPr algn="l" indent="0" marL="0">
              <a:buNone/>
            </a:pPr>
            <a:r>
              <a:rPr lang="en-US" sz="1400" dirty="0">
                <a:solidFill>
                  <a:srgbClr val="6B6762"/>
                </a:solidFill>
                <a:latin typeface="Courier New" pitchFamily="34" charset="0"/>
                <a:ea typeface="Courier New" pitchFamily="34" charset="-122"/>
                <a:cs typeface="Courier New" pitchFamily="34" charset="-120"/>
              </a:rPr>
              <a:t>YEAR 11 APPLIED COMPUTING  ·  UNIT 2 · AOS 1</a:t>
            </a:r>
            <a:endParaRPr lang="en-US" sz="1400" dirty="0"/>
          </a:p>
        </p:txBody>
      </p:sp>
      <p:sp>
        <p:nvSpPr>
          <p:cNvPr id="5" name="Text 3"/>
          <p:cNvSpPr/>
          <p:nvPr/>
        </p:nvSpPr>
        <p:spPr>
          <a:xfrm>
            <a:off x="731520" y="1417320"/>
            <a:ext cx="10698480" cy="365760"/>
          </a:xfrm>
          <a:prstGeom prst="rect">
            <a:avLst/>
          </a:prstGeom>
          <a:noFill/>
          <a:ln/>
        </p:spPr>
        <p:txBody>
          <a:bodyPr wrap="square" rtlCol="0" anchor="ctr"/>
          <a:lstStyle/>
          <a:p>
            <a:pPr algn="l" indent="0" marL="0">
              <a:buNone/>
            </a:pPr>
            <a:r>
              <a:rPr lang="en-US" sz="1400" dirty="0">
                <a:solidFill>
                  <a:srgbClr val="B8620A"/>
                </a:solidFill>
                <a:latin typeface="Courier New" pitchFamily="34" charset="0"/>
                <a:ea typeface="Courier New" pitchFamily="34" charset="-122"/>
                <a:cs typeface="Courier New" pitchFamily="34" charset="-120"/>
              </a:rPr>
              <a:t>LESSON 3  ·  D2.1</a:t>
            </a:r>
            <a:endParaRPr lang="en-US" sz="1400" dirty="0"/>
          </a:p>
        </p:txBody>
      </p:sp>
      <p:sp>
        <p:nvSpPr>
          <p:cNvPr id="6" name="Text 4"/>
          <p:cNvSpPr/>
          <p:nvPr/>
        </p:nvSpPr>
        <p:spPr>
          <a:xfrm>
            <a:off x="731520" y="1828800"/>
            <a:ext cx="7315200" cy="2377440"/>
          </a:xfrm>
          <a:prstGeom prst="rect">
            <a:avLst/>
          </a:prstGeom>
          <a:noFill/>
          <a:ln/>
        </p:spPr>
        <p:txBody>
          <a:bodyPr wrap="square" rtlCol="0" anchor="ctr"/>
          <a:lstStyle/>
          <a:p>
            <a:pPr algn="l" indent="0" marL="0">
              <a:buNone/>
            </a:pPr>
            <a:r>
              <a:rPr lang="en-US" sz="5200" b="1" dirty="0">
                <a:solidFill>
                  <a:srgbClr val="FFFFFF"/>
                </a:solidFill>
                <a:latin typeface="Bookman Old Style" pitchFamily="34" charset="0"/>
                <a:ea typeface="Bookman Old Style" pitchFamily="34" charset="-122"/>
                <a:cs typeface="Bookman Old Style" pitchFamily="34" charset="-120"/>
              </a:rPr>
              <a:t>Investigating the</a:t>
            </a:r>
            <a:endParaRPr lang="en-US" sz="5200" dirty="0"/>
          </a:p>
          <a:p>
            <a:pPr algn="l" indent="0" marL="0">
              <a:buNone/>
            </a:pPr>
            <a:r>
              <a:rPr lang="en-US" sz="5200" b="1" dirty="0">
                <a:solidFill>
                  <a:srgbClr val="FFFFFF"/>
                </a:solidFill>
                <a:latin typeface="Bookman Old Style" pitchFamily="34" charset="0"/>
                <a:ea typeface="Bookman Old Style" pitchFamily="34" charset="-122"/>
                <a:cs typeface="Bookman Old Style" pitchFamily="34" charset="-120"/>
              </a:rPr>
              <a:t>Problem Space</a:t>
            </a:r>
            <a:endParaRPr lang="en-US" sz="5200" dirty="0"/>
          </a:p>
        </p:txBody>
      </p:sp>
      <p:sp>
        <p:nvSpPr>
          <p:cNvPr id="7" name="Text 5"/>
          <p:cNvSpPr/>
          <p:nvPr/>
        </p:nvSpPr>
        <p:spPr>
          <a:xfrm>
            <a:off x="731520" y="4297680"/>
            <a:ext cx="9144000" cy="457200"/>
          </a:xfrm>
          <a:prstGeom prst="rect">
            <a:avLst/>
          </a:prstGeom>
          <a:noFill/>
          <a:ln/>
        </p:spPr>
        <p:txBody>
          <a:bodyPr wrap="square" rtlCol="0" anchor="ctr"/>
          <a:lstStyle/>
          <a:p>
            <a:pPr algn="l" indent="0" marL="0">
              <a:buNone/>
            </a:pPr>
            <a:r>
              <a:rPr lang="en-US" sz="1800" dirty="0">
                <a:solidFill>
                  <a:srgbClr val="EDE8DF"/>
                </a:solidFill>
                <a:latin typeface="Calibri" pitchFamily="34" charset="0"/>
                <a:ea typeface="Calibri" pitchFamily="34" charset="-122"/>
                <a:cs typeface="Calibri" pitchFamily="34" charset="-120"/>
              </a:rPr>
              <a:t>Researching your topic · Understanding users · Spotting gaps</a:t>
            </a:r>
            <a:endParaRPr lang="en-US" sz="1800" dirty="0"/>
          </a:p>
        </p:txBody>
      </p:sp>
      <p:pic>
        <p:nvPicPr>
          <p:cNvPr id="8" name="Image 0" descr="preencoded.png">    </p:cNvPr>
          <p:cNvPicPr>
            <a:picLocks noChangeAspect="1"/>
          </p:cNvPicPr>
          <p:nvPr/>
        </p:nvPicPr>
        <p:blipFill>
          <a:blip r:embed="rId1"/>
          <a:stretch>
            <a:fillRect/>
          </a:stretch>
        </p:blipFill>
        <p:spPr>
          <a:xfrm>
            <a:off x="9326880" y="1828800"/>
            <a:ext cx="2286000" cy="2286000"/>
          </a:xfrm>
          <a:prstGeom prst="rect">
            <a:avLst/>
          </a:prstGeom>
        </p:spPr>
      </p:pic>
      <p:sp>
        <p:nvSpPr>
          <p:cNvPr id="9" name="Text 6"/>
          <p:cNvSpPr/>
          <p:nvPr/>
        </p:nvSpPr>
        <p:spPr>
          <a:xfrm>
            <a:off x="731520" y="5577840"/>
            <a:ext cx="10058400" cy="320040"/>
          </a:xfrm>
          <a:prstGeom prst="rect">
            <a:avLst/>
          </a:prstGeom>
          <a:noFill/>
          <a:ln/>
        </p:spPr>
        <p:txBody>
          <a:bodyPr wrap="square" rtlCol="0" anchor="ctr"/>
          <a:lstStyle/>
          <a:p>
            <a:pPr algn="l" indent="0" marL="0">
              <a:buNone/>
            </a:pPr>
            <a:r>
              <a:rPr lang="en-US" sz="1200" dirty="0">
                <a:solidFill>
                  <a:srgbClr val="6B6762"/>
                </a:solidFill>
                <a:latin typeface="Courier New" pitchFamily="34" charset="0"/>
                <a:ea typeface="Courier New" pitchFamily="34" charset="-122"/>
                <a:cs typeface="Courier New" pitchFamily="34" charset="-120"/>
              </a:rPr>
              <a:t>y11-ac-u2-l3-investigating-problem-space  ·  Mr Smith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3EC"/>
          </a:solidFill>
          <a:ln w="12700">
            <a:solidFill>
              <a:srgbClr val="F7F3EC"/>
            </a:solidFill>
            <a:prstDash val="solid"/>
          </a:ln>
        </p:spPr>
      </p:sp>
      <p:sp>
        <p:nvSpPr>
          <p:cNvPr id="3" name="Shape 1"/>
          <p:cNvSpPr/>
          <p:nvPr/>
        </p:nvSpPr>
        <p:spPr>
          <a:xfrm>
            <a:off x="274320" y="109728"/>
            <a:ext cx="1828800" cy="384048"/>
          </a:xfrm>
          <a:prstGeom prst="roundRect">
            <a:avLst>
              <a:gd name="adj" fmla="val 19048"/>
            </a:avLst>
          </a:prstGeom>
          <a:solidFill>
            <a:srgbClr val="B8620A"/>
          </a:solidFill>
          <a:ln w="12700">
            <a:solidFill>
              <a:srgbClr val="B8620A"/>
            </a:solidFill>
            <a:prstDash val="solid"/>
          </a:ln>
        </p:spPr>
      </p:sp>
      <p:sp>
        <p:nvSpPr>
          <p:cNvPr id="4" name="Text 2"/>
          <p:cNvSpPr/>
          <p:nvPr/>
        </p:nvSpPr>
        <p:spPr>
          <a:xfrm>
            <a:off x="274320" y="109728"/>
            <a:ext cx="1828800"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WARM UP</a:t>
            </a:r>
            <a:endParaRPr lang="en-US" sz="1200" dirty="0"/>
          </a:p>
        </p:txBody>
      </p:sp>
      <p:sp>
        <p:nvSpPr>
          <p:cNvPr id="5" name="Shape 3"/>
          <p:cNvSpPr/>
          <p:nvPr/>
        </p:nvSpPr>
        <p:spPr>
          <a:xfrm>
            <a:off x="9875520" y="137160"/>
            <a:ext cx="2011680" cy="411480"/>
          </a:xfrm>
          <a:prstGeom prst="roundRect">
            <a:avLst>
              <a:gd name="adj" fmla="val 22222"/>
            </a:avLst>
          </a:prstGeom>
          <a:solidFill>
            <a:srgbClr val="5C1419"/>
          </a:solidFill>
          <a:ln w="12700">
            <a:solidFill>
              <a:srgbClr val="5C1419"/>
            </a:solidFill>
            <a:prstDash val="solid"/>
          </a:ln>
        </p:spPr>
      </p:sp>
      <p:sp>
        <p:nvSpPr>
          <p:cNvPr id="6" name="Text 4"/>
          <p:cNvSpPr/>
          <p:nvPr/>
        </p:nvSpPr>
        <p:spPr>
          <a:xfrm>
            <a:off x="9875520" y="137160"/>
            <a:ext cx="20116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DEVICES OFF</a:t>
            </a:r>
            <a:endParaRPr lang="en-US" sz="1100" dirty="0"/>
          </a:p>
        </p:txBody>
      </p:sp>
      <p:sp>
        <p:nvSpPr>
          <p:cNvPr id="7" name="Text 5"/>
          <p:cNvSpPr/>
          <p:nvPr/>
        </p:nvSpPr>
        <p:spPr>
          <a:xfrm>
            <a:off x="365760" y="640080"/>
            <a:ext cx="11430000" cy="640080"/>
          </a:xfrm>
          <a:prstGeom prst="rect">
            <a:avLst/>
          </a:prstGeom>
          <a:noFill/>
          <a:ln/>
        </p:spPr>
        <p:txBody>
          <a:bodyPr wrap="square" rtlCol="0" anchor="ctr"/>
          <a:lstStyle/>
          <a:p>
            <a:pPr algn="l" indent="0" marL="0">
              <a:buNone/>
            </a:pPr>
            <a:r>
              <a:rPr lang="en-US" sz="3600" b="1" dirty="0">
                <a:solidFill>
                  <a:srgbClr val="12100E"/>
                </a:solidFill>
                <a:latin typeface="Bookman Old Style" pitchFamily="34" charset="0"/>
                <a:ea typeface="Bookman Old Style" pitchFamily="34" charset="-122"/>
                <a:cs typeface="Bookman Old Style" pitchFamily="34" charset="-120"/>
              </a:rPr>
              <a:t>Think About This…</a:t>
            </a:r>
            <a:endParaRPr lang="en-US" sz="3600" dirty="0"/>
          </a:p>
        </p:txBody>
      </p:sp>
      <p:sp>
        <p:nvSpPr>
          <p:cNvPr id="8" name="Text 6"/>
          <p:cNvSpPr/>
          <p:nvPr/>
        </p:nvSpPr>
        <p:spPr>
          <a:xfrm>
            <a:off x="365760" y="1371600"/>
            <a:ext cx="11430000" cy="822960"/>
          </a:xfrm>
          <a:prstGeom prst="rect">
            <a:avLst/>
          </a:prstGeom>
          <a:noFill/>
          <a:ln/>
        </p:spPr>
        <p:txBody>
          <a:bodyPr wrap="square" rtlCol="0" anchor="ctr"/>
          <a:lstStyle/>
          <a:p>
            <a:pPr algn="l" indent="0" marL="0">
              <a:buNone/>
            </a:pPr>
            <a:r>
              <a:rPr lang="en-US" sz="2600" i="1" dirty="0">
                <a:solidFill>
                  <a:srgbClr val="2C2A28"/>
                </a:solidFill>
                <a:latin typeface="Calibri" pitchFamily="34" charset="0"/>
                <a:ea typeface="Calibri" pitchFamily="34" charset="-122"/>
                <a:cs typeface="Calibri" pitchFamily="34" charset="-120"/>
              </a:rPr>
              <a:t>Before a problem can be solved,</a:t>
            </a:r>
            <a:endParaRPr lang="en-US" sz="2600" dirty="0"/>
          </a:p>
          <a:p>
            <a:pPr algn="l" indent="0" marL="0">
              <a:buNone/>
            </a:pPr>
            <a:r>
              <a:rPr lang="en-US" sz="2600" i="1" dirty="0">
                <a:solidFill>
                  <a:srgbClr val="2C2A28"/>
                </a:solidFill>
                <a:latin typeface="Calibri" pitchFamily="34" charset="0"/>
                <a:ea typeface="Calibri" pitchFamily="34" charset="-122"/>
                <a:cs typeface="Calibri" pitchFamily="34" charset="-120"/>
              </a:rPr>
              <a:t>it has to be understood.</a:t>
            </a:r>
            <a:endParaRPr lang="en-US" sz="2600" dirty="0"/>
          </a:p>
        </p:txBody>
      </p:sp>
      <p:sp>
        <p:nvSpPr>
          <p:cNvPr id="9" name="Shape 7"/>
          <p:cNvSpPr/>
          <p:nvPr/>
        </p:nvSpPr>
        <p:spPr>
          <a:xfrm>
            <a:off x="365760" y="2423160"/>
            <a:ext cx="3749040" cy="3474720"/>
          </a:xfrm>
          <a:prstGeom prst="roundRect">
            <a:avLst>
              <a:gd name="adj" fmla="val 3158"/>
            </a:avLst>
          </a:prstGeom>
          <a:solidFill>
            <a:srgbClr val="FFFFFF"/>
          </a:solidFill>
          <a:ln w="12700">
            <a:solidFill>
              <a:srgbClr val="8C1F28"/>
            </a:solidFill>
            <a:prstDash val="solid"/>
          </a:ln>
        </p:spPr>
      </p:sp>
      <p:sp>
        <p:nvSpPr>
          <p:cNvPr id="10" name="Shape 8"/>
          <p:cNvSpPr/>
          <p:nvPr/>
        </p:nvSpPr>
        <p:spPr>
          <a:xfrm>
            <a:off x="365760" y="2423160"/>
            <a:ext cx="3749040" cy="594360"/>
          </a:xfrm>
          <a:prstGeom prst="rect">
            <a:avLst/>
          </a:prstGeom>
          <a:solidFill>
            <a:srgbClr val="8C1F28"/>
          </a:solidFill>
          <a:ln w="12700">
            <a:solidFill>
              <a:srgbClr val="8C1F28"/>
            </a:solidFill>
            <a:prstDash val="solid"/>
          </a:ln>
        </p:spPr>
      </p:sp>
      <p:sp>
        <p:nvSpPr>
          <p:cNvPr id="11" name="Text 9"/>
          <p:cNvSpPr/>
          <p:nvPr/>
        </p:nvSpPr>
        <p:spPr>
          <a:xfrm>
            <a:off x="502920" y="2423160"/>
            <a:ext cx="3474720" cy="59436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The App Nobody Used</a:t>
            </a:r>
            <a:endParaRPr lang="en-US" sz="1800" dirty="0"/>
          </a:p>
        </p:txBody>
      </p:sp>
      <p:sp>
        <p:nvSpPr>
          <p:cNvPr id="12" name="Text 10"/>
          <p:cNvSpPr/>
          <p:nvPr/>
        </p:nvSpPr>
        <p:spPr>
          <a:xfrm>
            <a:off x="502920" y="3108960"/>
            <a:ext cx="3474720" cy="2560320"/>
          </a:xfrm>
          <a:prstGeom prst="rect">
            <a:avLst/>
          </a:prstGeom>
          <a:noFill/>
          <a:ln/>
        </p:spPr>
        <p:txBody>
          <a:bodyPr wrap="square" rtlCol="0" anchor="t"/>
          <a:lstStyle/>
          <a:p>
            <a:pPr algn="l" indent="0" marL="0">
              <a:buNone/>
            </a:pPr>
            <a:r>
              <a:rPr lang="en-US" sz="1800" dirty="0">
                <a:solidFill>
                  <a:srgbClr val="2C2A28"/>
                </a:solidFill>
                <a:latin typeface="Calibri" pitchFamily="34" charset="0"/>
                <a:ea typeface="Calibri" pitchFamily="34" charset="-122"/>
                <a:cs typeface="Calibri" pitchFamily="34" charset="-120"/>
              </a:rPr>
              <a:t>A team built a health app for elderly users.</a:t>
            </a:r>
            <a:endParaRPr lang="en-US" sz="1800" dirty="0"/>
          </a:p>
          <a:p>
            <a:pPr algn="l" indent="0" marL="0">
              <a:buNone/>
            </a:pPr>
            <a:r>
              <a:rPr lang="en-US" sz="1800" dirty="0">
                <a:solidFill>
                  <a:srgbClr val="2C2A28"/>
                </a:solidFill>
                <a:latin typeface="Calibri" pitchFamily="34" charset="0"/>
                <a:ea typeface="Calibri" pitchFamily="34" charset="-122"/>
                <a:cs typeface="Calibri" pitchFamily="34" charset="-120"/>
              </a:rPr>
              <a:t>They never spoke to a single elderly person</a:t>
            </a:r>
            <a:endParaRPr lang="en-US" sz="1800" dirty="0"/>
          </a:p>
          <a:p>
            <a:pPr algn="l" indent="0" marL="0">
              <a:buNone/>
            </a:pPr>
            <a:r>
              <a:rPr lang="en-US" sz="1800" dirty="0">
                <a:solidFill>
                  <a:srgbClr val="2C2A28"/>
                </a:solidFill>
                <a:latin typeface="Calibri" pitchFamily="34" charset="0"/>
                <a:ea typeface="Calibri" pitchFamily="34" charset="-122"/>
                <a:cs typeface="Calibri" pitchFamily="34" charset="-120"/>
              </a:rPr>
              <a:t>while designing it.</a:t>
            </a:r>
            <a:endParaRPr lang="en-US" sz="1800" dirty="0"/>
          </a:p>
        </p:txBody>
      </p:sp>
      <p:sp>
        <p:nvSpPr>
          <p:cNvPr id="13" name="Shape 11"/>
          <p:cNvSpPr/>
          <p:nvPr/>
        </p:nvSpPr>
        <p:spPr>
          <a:xfrm>
            <a:off x="4297680" y="2423160"/>
            <a:ext cx="3749040" cy="3474720"/>
          </a:xfrm>
          <a:prstGeom prst="roundRect">
            <a:avLst>
              <a:gd name="adj" fmla="val 3158"/>
            </a:avLst>
          </a:prstGeom>
          <a:solidFill>
            <a:srgbClr val="FFFFFF"/>
          </a:solidFill>
          <a:ln w="12700">
            <a:solidFill>
              <a:srgbClr val="B8620A"/>
            </a:solidFill>
            <a:prstDash val="solid"/>
          </a:ln>
        </p:spPr>
      </p:sp>
      <p:sp>
        <p:nvSpPr>
          <p:cNvPr id="14" name="Shape 12"/>
          <p:cNvSpPr/>
          <p:nvPr/>
        </p:nvSpPr>
        <p:spPr>
          <a:xfrm>
            <a:off x="4297680" y="2423160"/>
            <a:ext cx="3749040" cy="594360"/>
          </a:xfrm>
          <a:prstGeom prst="rect">
            <a:avLst/>
          </a:prstGeom>
          <a:solidFill>
            <a:srgbClr val="B8620A"/>
          </a:solidFill>
          <a:ln w="12700">
            <a:solidFill>
              <a:srgbClr val="B8620A"/>
            </a:solidFill>
            <a:prstDash val="solid"/>
          </a:ln>
        </p:spPr>
      </p:sp>
      <p:sp>
        <p:nvSpPr>
          <p:cNvPr id="15" name="Text 13"/>
          <p:cNvSpPr/>
          <p:nvPr/>
        </p:nvSpPr>
        <p:spPr>
          <a:xfrm>
            <a:off x="4434840" y="2423160"/>
            <a:ext cx="3474720" cy="59436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The Robot That Confused Staff</a:t>
            </a:r>
            <a:endParaRPr lang="en-US" sz="1800" dirty="0"/>
          </a:p>
        </p:txBody>
      </p:sp>
      <p:sp>
        <p:nvSpPr>
          <p:cNvPr id="16" name="Text 14"/>
          <p:cNvSpPr/>
          <p:nvPr/>
        </p:nvSpPr>
        <p:spPr>
          <a:xfrm>
            <a:off x="4434840" y="3108960"/>
            <a:ext cx="3474720" cy="2560320"/>
          </a:xfrm>
          <a:prstGeom prst="rect">
            <a:avLst/>
          </a:prstGeom>
          <a:noFill/>
          <a:ln/>
        </p:spPr>
        <p:txBody>
          <a:bodyPr wrap="square" rtlCol="0" anchor="t"/>
          <a:lstStyle/>
          <a:p>
            <a:pPr algn="l" indent="0" marL="0">
              <a:buNone/>
            </a:pPr>
            <a:r>
              <a:rPr lang="en-US" sz="1800" dirty="0">
                <a:solidFill>
                  <a:srgbClr val="2C2A28"/>
                </a:solidFill>
                <a:latin typeface="Calibri" pitchFamily="34" charset="0"/>
                <a:ea typeface="Calibri" pitchFamily="34" charset="-122"/>
                <a:cs typeface="Calibri" pitchFamily="34" charset="-120"/>
              </a:rPr>
              <a:t>A hospital bought a medication delivery robot.</a:t>
            </a:r>
            <a:endParaRPr lang="en-US" sz="1800" dirty="0"/>
          </a:p>
          <a:p>
            <a:pPr algn="l" indent="0" marL="0">
              <a:buNone/>
            </a:pPr>
            <a:r>
              <a:rPr lang="en-US" sz="1800" dirty="0">
                <a:solidFill>
                  <a:srgbClr val="2C2A28"/>
                </a:solidFill>
                <a:latin typeface="Calibri" pitchFamily="34" charset="0"/>
                <a:ea typeface="Calibri" pitchFamily="34" charset="-122"/>
                <a:cs typeface="Calibri" pitchFamily="34" charset="-120"/>
              </a:rPr>
              <a:t>No one asked nurses how they actually</a:t>
            </a:r>
            <a:endParaRPr lang="en-US" sz="1800" dirty="0"/>
          </a:p>
          <a:p>
            <a:pPr algn="l" indent="0" marL="0">
              <a:buNone/>
            </a:pPr>
            <a:r>
              <a:rPr lang="en-US" sz="1800" dirty="0">
                <a:solidFill>
                  <a:srgbClr val="2C2A28"/>
                </a:solidFill>
                <a:latin typeface="Calibri" pitchFamily="34" charset="0"/>
                <a:ea typeface="Calibri" pitchFamily="34" charset="-122"/>
                <a:cs typeface="Calibri" pitchFamily="34" charset="-120"/>
              </a:rPr>
              <a:t>move around the wards.</a:t>
            </a:r>
            <a:endParaRPr lang="en-US" sz="1800" dirty="0"/>
          </a:p>
        </p:txBody>
      </p:sp>
      <p:sp>
        <p:nvSpPr>
          <p:cNvPr id="17" name="Shape 15"/>
          <p:cNvSpPr/>
          <p:nvPr/>
        </p:nvSpPr>
        <p:spPr>
          <a:xfrm>
            <a:off x="8229600" y="2423160"/>
            <a:ext cx="3749040" cy="3474720"/>
          </a:xfrm>
          <a:prstGeom prst="roundRect">
            <a:avLst>
              <a:gd name="adj" fmla="val 3158"/>
            </a:avLst>
          </a:prstGeom>
          <a:solidFill>
            <a:srgbClr val="FFFFFF"/>
          </a:solidFill>
          <a:ln w="12700">
            <a:solidFill>
              <a:srgbClr val="2B3A8C"/>
            </a:solidFill>
            <a:prstDash val="solid"/>
          </a:ln>
        </p:spPr>
      </p:sp>
      <p:sp>
        <p:nvSpPr>
          <p:cNvPr id="18" name="Shape 16"/>
          <p:cNvSpPr/>
          <p:nvPr/>
        </p:nvSpPr>
        <p:spPr>
          <a:xfrm>
            <a:off x="8229600" y="2423160"/>
            <a:ext cx="3749040" cy="594360"/>
          </a:xfrm>
          <a:prstGeom prst="rect">
            <a:avLst/>
          </a:prstGeom>
          <a:solidFill>
            <a:srgbClr val="2B3A8C"/>
          </a:solidFill>
          <a:ln w="12700">
            <a:solidFill>
              <a:srgbClr val="2B3A8C"/>
            </a:solidFill>
            <a:prstDash val="solid"/>
          </a:ln>
        </p:spPr>
      </p:sp>
      <p:sp>
        <p:nvSpPr>
          <p:cNvPr id="19" name="Text 17"/>
          <p:cNvSpPr/>
          <p:nvPr/>
        </p:nvSpPr>
        <p:spPr>
          <a:xfrm>
            <a:off x="8366760" y="2423160"/>
            <a:ext cx="3474720" cy="59436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The Filter That Blocked Everything</a:t>
            </a:r>
            <a:endParaRPr lang="en-US" sz="1800" dirty="0"/>
          </a:p>
        </p:txBody>
      </p:sp>
      <p:sp>
        <p:nvSpPr>
          <p:cNvPr id="20" name="Text 18"/>
          <p:cNvSpPr/>
          <p:nvPr/>
        </p:nvSpPr>
        <p:spPr>
          <a:xfrm>
            <a:off x="8366760" y="3108960"/>
            <a:ext cx="3474720" cy="2560320"/>
          </a:xfrm>
          <a:prstGeom prst="rect">
            <a:avLst/>
          </a:prstGeom>
          <a:noFill/>
          <a:ln/>
        </p:spPr>
        <p:txBody>
          <a:bodyPr wrap="square" rtlCol="0" anchor="t"/>
          <a:lstStyle/>
          <a:p>
            <a:pPr algn="l" indent="0" marL="0">
              <a:buNone/>
            </a:pPr>
            <a:r>
              <a:rPr lang="en-US" sz="1800" dirty="0">
                <a:solidFill>
                  <a:srgbClr val="2C2A28"/>
                </a:solidFill>
                <a:latin typeface="Calibri" pitchFamily="34" charset="0"/>
                <a:ea typeface="Calibri" pitchFamily="34" charset="-122"/>
                <a:cs typeface="Calibri" pitchFamily="34" charset="-120"/>
              </a:rPr>
              <a:t>A school installed content filtering software.</a:t>
            </a:r>
            <a:endParaRPr lang="en-US" sz="1800" dirty="0"/>
          </a:p>
          <a:p>
            <a:pPr algn="l" indent="0" marL="0">
              <a:buNone/>
            </a:pPr>
            <a:r>
              <a:rPr lang="en-US" sz="1800" dirty="0">
                <a:solidFill>
                  <a:srgbClr val="2C2A28"/>
                </a:solidFill>
                <a:latin typeface="Calibri" pitchFamily="34" charset="0"/>
                <a:ea typeface="Calibri" pitchFamily="34" charset="-122"/>
                <a:cs typeface="Calibri" pitchFamily="34" charset="-120"/>
              </a:rPr>
              <a:t>Students couldn't access half their textbooks.</a:t>
            </a:r>
            <a:endParaRPr lang="en-US" sz="1800" dirty="0"/>
          </a:p>
          <a:p>
            <a:pPr algn="l" indent="0" marL="0">
              <a:buNone/>
            </a:pPr>
            <a:r>
              <a:rPr lang="en-US" sz="1800" dirty="0">
                <a:solidFill>
                  <a:srgbClr val="2C2A28"/>
                </a:solidFill>
                <a:latin typeface="Calibri" pitchFamily="34" charset="0"/>
                <a:ea typeface="Calibri" pitchFamily="34" charset="-122"/>
                <a:cs typeface="Calibri" pitchFamily="34" charset="-120"/>
              </a:rPr>
              <a:t>No student was consulted.</a:t>
            </a:r>
            <a:endParaRPr lang="en-US" sz="1800" dirty="0"/>
          </a:p>
        </p:txBody>
      </p:sp>
      <p:sp>
        <p:nvSpPr>
          <p:cNvPr id="21" name="Text 19"/>
          <p:cNvSpPr/>
          <p:nvPr/>
        </p:nvSpPr>
        <p:spPr>
          <a:xfrm>
            <a:off x="365760" y="6126480"/>
            <a:ext cx="11430000" cy="457200"/>
          </a:xfrm>
          <a:prstGeom prst="rect">
            <a:avLst/>
          </a:prstGeom>
          <a:noFill/>
          <a:ln/>
        </p:spPr>
        <p:txBody>
          <a:bodyPr wrap="square" rtlCol="0" anchor="ctr"/>
          <a:lstStyle/>
          <a:p>
            <a:pPr algn="l" indent="0" marL="0">
              <a:buNone/>
            </a:pPr>
            <a:r>
              <a:rPr lang="en-US" sz="1800" b="1" dirty="0">
                <a:solidFill>
                  <a:srgbClr val="1B5E47"/>
                </a:solidFill>
                <a:latin typeface="Calibri" pitchFamily="34" charset="0"/>
                <a:ea typeface="Calibri" pitchFamily="34" charset="-122"/>
                <a:cs typeface="Calibri" pitchFamily="34" charset="-120"/>
              </a:rPr>
              <a:t>💬 DISCUSS WITH YOUR GROUP: What could have been done differently?</a:t>
            </a:r>
            <a:endParaRPr lang="en-US" sz="1800" dirty="0"/>
          </a:p>
        </p:txBody>
      </p:sp>
      <p:sp>
        <p:nvSpPr>
          <p:cNvPr id="22" name="Text 20"/>
          <p:cNvSpPr/>
          <p:nvPr/>
        </p:nvSpPr>
        <p:spPr>
          <a:xfrm>
            <a:off x="274320" y="6492240"/>
            <a:ext cx="11612880" cy="274320"/>
          </a:xfrm>
          <a:prstGeom prst="rect">
            <a:avLst/>
          </a:prstGeom>
          <a:noFill/>
          <a:ln/>
        </p:spPr>
        <p:txBody>
          <a:bodyPr wrap="square" rtlCol="0" anchor="ctr"/>
          <a:lstStyle/>
          <a:p>
            <a:pPr algn="l" indent="0" marL="0">
              <a:buNone/>
            </a:pPr>
            <a:r>
              <a:rPr lang="en-US" sz="1000" dirty="0">
                <a:solidFill>
                  <a:srgbClr val="6B6762"/>
                </a:solidFill>
                <a:latin typeface="Courier New" pitchFamily="34" charset="0"/>
                <a:ea typeface="Courier New" pitchFamily="34" charset="-122"/>
                <a:cs typeface="Courier New" pitchFamily="34" charset="-120"/>
              </a:rPr>
              <a:t>y11-ac-u2-l3-investigating-problem-space  ·  Mr Smith  ·  Year 11 Applied Computing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100E"/>
          </a:solidFill>
          <a:ln w="12700">
            <a:solidFill>
              <a:srgbClr val="12100E"/>
            </a:solidFill>
            <a:prstDash val="solid"/>
          </a:ln>
        </p:spPr>
      </p:sp>
      <p:sp>
        <p:nvSpPr>
          <p:cNvPr id="3" name="Shape 1"/>
          <p:cNvSpPr/>
          <p:nvPr/>
        </p:nvSpPr>
        <p:spPr>
          <a:xfrm>
            <a:off x="274320" y="109728"/>
            <a:ext cx="1828800" cy="384048"/>
          </a:xfrm>
          <a:prstGeom prst="roundRect">
            <a:avLst>
              <a:gd name="adj" fmla="val 19048"/>
            </a:avLst>
          </a:prstGeom>
          <a:solidFill>
            <a:srgbClr val="2B3A8C"/>
          </a:solidFill>
          <a:ln w="12700">
            <a:solidFill>
              <a:srgbClr val="2B3A8C"/>
            </a:solidFill>
            <a:prstDash val="solid"/>
          </a:ln>
        </p:spPr>
      </p:sp>
      <p:sp>
        <p:nvSpPr>
          <p:cNvPr id="4" name="Text 2"/>
          <p:cNvSpPr/>
          <p:nvPr/>
        </p:nvSpPr>
        <p:spPr>
          <a:xfrm>
            <a:off x="274320" y="109728"/>
            <a:ext cx="1828800"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OBJECTIVE</a:t>
            </a:r>
            <a:endParaRPr lang="en-US" sz="1200" dirty="0"/>
          </a:p>
        </p:txBody>
      </p:sp>
      <p:sp>
        <p:nvSpPr>
          <p:cNvPr id="5" name="Shape 3"/>
          <p:cNvSpPr/>
          <p:nvPr/>
        </p:nvSpPr>
        <p:spPr>
          <a:xfrm>
            <a:off x="9875520" y="137160"/>
            <a:ext cx="2011680" cy="411480"/>
          </a:xfrm>
          <a:prstGeom prst="roundRect">
            <a:avLst>
              <a:gd name="adj" fmla="val 22222"/>
            </a:avLst>
          </a:prstGeom>
          <a:solidFill>
            <a:srgbClr val="5C1419"/>
          </a:solidFill>
          <a:ln w="12700">
            <a:solidFill>
              <a:srgbClr val="5C1419"/>
            </a:solidFill>
            <a:prstDash val="solid"/>
          </a:ln>
        </p:spPr>
      </p:sp>
      <p:sp>
        <p:nvSpPr>
          <p:cNvPr id="6" name="Text 4"/>
          <p:cNvSpPr/>
          <p:nvPr/>
        </p:nvSpPr>
        <p:spPr>
          <a:xfrm>
            <a:off x="9875520" y="137160"/>
            <a:ext cx="20116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DEVICES OFF</a:t>
            </a:r>
            <a:endParaRPr lang="en-US" sz="1100" dirty="0"/>
          </a:p>
        </p:txBody>
      </p:sp>
      <p:sp>
        <p:nvSpPr>
          <p:cNvPr id="7" name="Text 5"/>
          <p:cNvSpPr/>
          <p:nvPr/>
        </p:nvSpPr>
        <p:spPr>
          <a:xfrm>
            <a:off x="457200" y="640080"/>
            <a:ext cx="11247120" cy="548640"/>
          </a:xfrm>
          <a:prstGeom prst="rect">
            <a:avLst/>
          </a:prstGeom>
          <a:noFill/>
          <a:ln/>
        </p:spPr>
        <p:txBody>
          <a:bodyPr wrap="square" rtlCol="0" anchor="ctr"/>
          <a:lstStyle/>
          <a:p>
            <a:pPr algn="l" indent="0" marL="0">
              <a:buNone/>
            </a:pPr>
            <a:r>
              <a:rPr lang="en-US" sz="1400" dirty="0">
                <a:solidFill>
                  <a:srgbClr val="6B6762"/>
                </a:solidFill>
                <a:latin typeface="Courier New" pitchFamily="34" charset="0"/>
                <a:ea typeface="Courier New" pitchFamily="34" charset="-122"/>
                <a:cs typeface="Courier New" pitchFamily="34" charset="-120"/>
              </a:rPr>
              <a:t>Learning Objective</a:t>
            </a:r>
            <a:endParaRPr lang="en-US" sz="1400" dirty="0"/>
          </a:p>
        </p:txBody>
      </p:sp>
      <p:sp>
        <p:nvSpPr>
          <p:cNvPr id="8" name="Text 6"/>
          <p:cNvSpPr/>
          <p:nvPr/>
        </p:nvSpPr>
        <p:spPr>
          <a:xfrm>
            <a:off x="457200" y="1234440"/>
            <a:ext cx="11247120" cy="2286000"/>
          </a:xfrm>
          <a:prstGeom prst="rect">
            <a:avLst/>
          </a:prstGeom>
          <a:noFill/>
          <a:ln/>
        </p:spPr>
        <p:txBody>
          <a:bodyPr wrap="square" rtlCol="0" anchor="ctr"/>
          <a:lstStyle/>
          <a:p>
            <a:pPr algn="l" indent="0" marL="0">
              <a:buNone/>
            </a:pPr>
            <a:r>
              <a:rPr lang="en-US" sz="3000" b="1" dirty="0">
                <a:solidFill>
                  <a:srgbClr val="FFFFFF"/>
                </a:solidFill>
                <a:latin typeface="Bookman Old Style" pitchFamily="34" charset="0"/>
                <a:ea typeface="Bookman Old Style" pitchFamily="34" charset="-122"/>
                <a:cs typeface="Bookman Old Style" pitchFamily="34" charset="-120"/>
              </a:rPr>
              <a:t>To be able to investigate a problem space,</a:t>
            </a:r>
            <a:endParaRPr lang="en-US" sz="3000" dirty="0"/>
          </a:p>
          <a:p>
            <a:pPr algn="l" indent="0" marL="0">
              <a:buNone/>
            </a:pPr>
            <a:r>
              <a:rPr lang="en-US" sz="3000" b="1" dirty="0">
                <a:solidFill>
                  <a:srgbClr val="FFFFFF"/>
                </a:solidFill>
                <a:latin typeface="Bookman Old Style" pitchFamily="34" charset="0"/>
                <a:ea typeface="Bookman Old Style" pitchFamily="34" charset="-122"/>
                <a:cs typeface="Bookman Old Style" pitchFamily="34" charset="-120"/>
              </a:rPr>
              <a:t>research existing solutions, and begin</a:t>
            </a:r>
            <a:endParaRPr lang="en-US" sz="3000" dirty="0"/>
          </a:p>
          <a:p>
            <a:pPr algn="l" indent="0" marL="0">
              <a:buNone/>
            </a:pPr>
            <a:r>
              <a:rPr lang="en-US" sz="3000" b="1" dirty="0">
                <a:solidFill>
                  <a:srgbClr val="FFFFFF"/>
                </a:solidFill>
                <a:latin typeface="Bookman Old Style" pitchFamily="34" charset="0"/>
                <a:ea typeface="Bookman Old Style" pitchFamily="34" charset="-122"/>
                <a:cs typeface="Bookman Old Style" pitchFamily="34" charset="-120"/>
              </a:rPr>
              <a:t>formulating a clear problem statement</a:t>
            </a:r>
            <a:endParaRPr lang="en-US" sz="3000" dirty="0"/>
          </a:p>
          <a:p>
            <a:pPr algn="l" indent="0" marL="0">
              <a:buNone/>
            </a:pPr>
            <a:r>
              <a:rPr lang="en-US" sz="3000" b="1" dirty="0">
                <a:solidFill>
                  <a:srgbClr val="FFFFFF"/>
                </a:solidFill>
                <a:latin typeface="Bookman Old Style" pitchFamily="34" charset="0"/>
                <a:ea typeface="Bookman Old Style" pitchFamily="34" charset="-122"/>
                <a:cs typeface="Bookman Old Style" pitchFamily="34" charset="-120"/>
              </a:rPr>
              <a:t>for your group's project.</a:t>
            </a:r>
            <a:endParaRPr lang="en-US" sz="3000" dirty="0"/>
          </a:p>
        </p:txBody>
      </p:sp>
      <p:sp>
        <p:nvSpPr>
          <p:cNvPr id="9" name="Shape 7"/>
          <p:cNvSpPr/>
          <p:nvPr/>
        </p:nvSpPr>
        <p:spPr>
          <a:xfrm>
            <a:off x="457200" y="3657600"/>
            <a:ext cx="11247120" cy="749808"/>
          </a:xfrm>
          <a:prstGeom prst="roundRect">
            <a:avLst>
              <a:gd name="adj" fmla="val 9756"/>
            </a:avLst>
          </a:prstGeom>
          <a:solidFill>
            <a:srgbClr val="2C2A28"/>
          </a:solidFill>
          <a:ln w="12700">
            <a:solidFill>
              <a:srgbClr val="1B5E47"/>
            </a:solidFill>
            <a:prstDash val="solid"/>
          </a:ln>
        </p:spPr>
      </p:sp>
      <p:sp>
        <p:nvSpPr>
          <p:cNvPr id="10" name="Text 8"/>
          <p:cNvSpPr/>
          <p:nvPr/>
        </p:nvSpPr>
        <p:spPr>
          <a:xfrm>
            <a:off x="640080" y="3657600"/>
            <a:ext cx="10972800" cy="749808"/>
          </a:xfrm>
          <a:prstGeom prst="rect">
            <a:avLst/>
          </a:prstGeom>
          <a:noFill/>
          <a:ln/>
        </p:spPr>
        <p:txBody>
          <a:bodyPr wrap="square" rtlCol="0" anchor="ctr"/>
          <a:lstStyle/>
          <a:p>
            <a:pPr indent="0" marL="0">
              <a:buNone/>
            </a:pPr>
            <a:r>
              <a:rPr lang="en-US" sz="1800" b="1" dirty="0">
                <a:solidFill>
                  <a:srgbClr val="1B5E47"/>
                </a:solidFill>
                <a:latin typeface="Calibri" pitchFamily="34" charset="0"/>
                <a:ea typeface="Calibri" pitchFamily="34" charset="-122"/>
                <a:cs typeface="Calibri" pitchFamily="34" charset="-120"/>
              </a:rPr>
              <a:t>🟢 Foundation  </a:t>
            </a:r>
            <a:pPr indent="0" marL="0">
              <a:buNone/>
            </a:pPr>
            <a:r>
              <a:rPr lang="en-US" sz="1800" dirty="0">
                <a:solidFill>
                  <a:srgbClr val="FFFFFF"/>
                </a:solidFill>
                <a:latin typeface="Calibri" pitchFamily="34" charset="0"/>
                <a:ea typeface="Calibri" pitchFamily="34" charset="-122"/>
                <a:cs typeface="Calibri" pitchFamily="34" charset="-120"/>
              </a:rPr>
              <a:t>I can describe a specific problem or need related to my group's topic area.</a:t>
            </a:r>
            <a:endParaRPr lang="en-US" sz="1800" dirty="0"/>
          </a:p>
        </p:txBody>
      </p:sp>
      <p:sp>
        <p:nvSpPr>
          <p:cNvPr id="11" name="Shape 9"/>
          <p:cNvSpPr/>
          <p:nvPr/>
        </p:nvSpPr>
        <p:spPr>
          <a:xfrm>
            <a:off x="457200" y="4526280"/>
            <a:ext cx="11247120" cy="749808"/>
          </a:xfrm>
          <a:prstGeom prst="roundRect">
            <a:avLst>
              <a:gd name="adj" fmla="val 9756"/>
            </a:avLst>
          </a:prstGeom>
          <a:solidFill>
            <a:srgbClr val="2C2A28"/>
          </a:solidFill>
          <a:ln w="12700">
            <a:solidFill>
              <a:srgbClr val="B8620A"/>
            </a:solidFill>
            <a:prstDash val="solid"/>
          </a:ln>
        </p:spPr>
      </p:sp>
      <p:sp>
        <p:nvSpPr>
          <p:cNvPr id="12" name="Text 10"/>
          <p:cNvSpPr/>
          <p:nvPr/>
        </p:nvSpPr>
        <p:spPr>
          <a:xfrm>
            <a:off x="640080" y="4526280"/>
            <a:ext cx="10972800" cy="749808"/>
          </a:xfrm>
          <a:prstGeom prst="rect">
            <a:avLst/>
          </a:prstGeom>
          <a:noFill/>
          <a:ln/>
        </p:spPr>
        <p:txBody>
          <a:bodyPr wrap="square" rtlCol="0" anchor="ctr"/>
          <a:lstStyle/>
          <a:p>
            <a:pPr indent="0" marL="0">
              <a:buNone/>
            </a:pPr>
            <a:r>
              <a:rPr lang="en-US" sz="1800" b="1" dirty="0">
                <a:solidFill>
                  <a:srgbClr val="B8620A"/>
                </a:solidFill>
                <a:latin typeface="Calibri" pitchFamily="34" charset="0"/>
                <a:ea typeface="Calibri" pitchFamily="34" charset="-122"/>
                <a:cs typeface="Calibri" pitchFamily="34" charset="-120"/>
              </a:rPr>
              <a:t>🟡 Developing  </a:t>
            </a:r>
            <a:pPr indent="0" marL="0">
              <a:buNone/>
            </a:pPr>
            <a:r>
              <a:rPr lang="en-US" sz="1800" dirty="0">
                <a:solidFill>
                  <a:srgbClr val="FFFFFF"/>
                </a:solidFill>
                <a:latin typeface="Calibri" pitchFamily="34" charset="0"/>
                <a:ea typeface="Calibri" pitchFamily="34" charset="-122"/>
                <a:cs typeface="Calibri" pitchFamily="34" charset="-120"/>
              </a:rPr>
              <a:t>I can research existing digital solutions, identify a gap, and connect it to a real user group.</a:t>
            </a:r>
            <a:endParaRPr lang="en-US" sz="1800" dirty="0"/>
          </a:p>
        </p:txBody>
      </p:sp>
      <p:sp>
        <p:nvSpPr>
          <p:cNvPr id="13" name="Shape 11"/>
          <p:cNvSpPr/>
          <p:nvPr/>
        </p:nvSpPr>
        <p:spPr>
          <a:xfrm>
            <a:off x="457200" y="5394960"/>
            <a:ext cx="11247120" cy="749808"/>
          </a:xfrm>
          <a:prstGeom prst="roundRect">
            <a:avLst>
              <a:gd name="adj" fmla="val 9756"/>
            </a:avLst>
          </a:prstGeom>
          <a:solidFill>
            <a:srgbClr val="2C2A28"/>
          </a:solidFill>
          <a:ln w="12700">
            <a:solidFill>
              <a:srgbClr val="2B3A8C"/>
            </a:solidFill>
            <a:prstDash val="solid"/>
          </a:ln>
        </p:spPr>
      </p:sp>
      <p:sp>
        <p:nvSpPr>
          <p:cNvPr id="14" name="Text 12"/>
          <p:cNvSpPr/>
          <p:nvPr/>
        </p:nvSpPr>
        <p:spPr>
          <a:xfrm>
            <a:off x="640080" y="5394960"/>
            <a:ext cx="10972800" cy="749808"/>
          </a:xfrm>
          <a:prstGeom prst="rect">
            <a:avLst/>
          </a:prstGeom>
          <a:noFill/>
          <a:ln/>
        </p:spPr>
        <p:txBody>
          <a:bodyPr wrap="square" rtlCol="0" anchor="ctr"/>
          <a:lstStyle/>
          <a:p>
            <a:pPr indent="0" marL="0">
              <a:buNone/>
            </a:pPr>
            <a:r>
              <a:rPr lang="en-US" sz="1800" b="1" dirty="0">
                <a:solidFill>
                  <a:srgbClr val="2B3A8C"/>
                </a:solidFill>
                <a:latin typeface="Calibri" pitchFamily="34" charset="0"/>
                <a:ea typeface="Calibri" pitchFamily="34" charset="-122"/>
                <a:cs typeface="Calibri" pitchFamily="34" charset="-120"/>
              </a:rPr>
              <a:t>🔵 Extending  </a:t>
            </a:r>
            <a:pPr indent="0" marL="0">
              <a:buNone/>
            </a:pPr>
            <a:r>
              <a:rPr lang="en-US" sz="1800" dirty="0">
                <a:solidFill>
                  <a:srgbClr val="FFFFFF"/>
                </a:solidFill>
                <a:latin typeface="Calibri" pitchFamily="34" charset="0"/>
                <a:ea typeface="Calibri" pitchFamily="34" charset="-122"/>
                <a:cs typeface="Calibri" pitchFamily="34" charset="-120"/>
              </a:rPr>
              <a:t>I can evaluate multiple perspectives on the problem and draft a problem statement that justifies why a new solution is needed.</a:t>
            </a:r>
            <a:endParaRPr lang="en-US" sz="1800" dirty="0"/>
          </a:p>
        </p:txBody>
      </p:sp>
      <p:sp>
        <p:nvSpPr>
          <p:cNvPr id="15" name="Text 13"/>
          <p:cNvSpPr/>
          <p:nvPr/>
        </p:nvSpPr>
        <p:spPr>
          <a:xfrm>
            <a:off x="274320" y="6492240"/>
            <a:ext cx="11612880" cy="274320"/>
          </a:xfrm>
          <a:prstGeom prst="rect">
            <a:avLst/>
          </a:prstGeom>
          <a:noFill/>
          <a:ln/>
        </p:spPr>
        <p:txBody>
          <a:bodyPr wrap="square" rtlCol="0" anchor="ctr"/>
          <a:lstStyle/>
          <a:p>
            <a:pPr algn="l" indent="0" marL="0">
              <a:buNone/>
            </a:pPr>
            <a:r>
              <a:rPr lang="en-US" sz="1000" dirty="0">
                <a:solidFill>
                  <a:srgbClr val="6B6762"/>
                </a:solidFill>
                <a:latin typeface="Courier New" pitchFamily="34" charset="0"/>
                <a:ea typeface="Courier New" pitchFamily="34" charset="-122"/>
                <a:cs typeface="Courier New" pitchFamily="34" charset="-120"/>
              </a:rPr>
              <a:t>y11-ac-u2-l3-investigating-problem-space  ·  Mr Smith  ·  Year 11 Applied Computing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3EC"/>
          </a:solidFill>
          <a:ln w="12700">
            <a:solidFill>
              <a:srgbClr val="F7F3EC"/>
            </a:solidFill>
            <a:prstDash val="solid"/>
          </a:ln>
        </p:spPr>
      </p:sp>
      <p:sp>
        <p:nvSpPr>
          <p:cNvPr id="3" name="Shape 1"/>
          <p:cNvSpPr/>
          <p:nvPr/>
        </p:nvSpPr>
        <p:spPr>
          <a:xfrm>
            <a:off x="274320" y="109728"/>
            <a:ext cx="1828800" cy="384048"/>
          </a:xfrm>
          <a:prstGeom prst="roundRect">
            <a:avLst>
              <a:gd name="adj" fmla="val 19048"/>
            </a:avLst>
          </a:prstGeom>
          <a:solidFill>
            <a:srgbClr val="1B5E47"/>
          </a:solidFill>
          <a:ln w="12700">
            <a:solidFill>
              <a:srgbClr val="1B5E47"/>
            </a:solidFill>
            <a:prstDash val="solid"/>
          </a:ln>
        </p:spPr>
      </p:sp>
      <p:sp>
        <p:nvSpPr>
          <p:cNvPr id="4" name="Text 2"/>
          <p:cNvSpPr/>
          <p:nvPr/>
        </p:nvSpPr>
        <p:spPr>
          <a:xfrm>
            <a:off x="274320" y="109728"/>
            <a:ext cx="1828800"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EXPLICIT</a:t>
            </a:r>
            <a:endParaRPr lang="en-US" sz="1200" dirty="0"/>
          </a:p>
        </p:txBody>
      </p:sp>
      <p:sp>
        <p:nvSpPr>
          <p:cNvPr id="5" name="Shape 3"/>
          <p:cNvSpPr/>
          <p:nvPr/>
        </p:nvSpPr>
        <p:spPr>
          <a:xfrm>
            <a:off x="9875520" y="137160"/>
            <a:ext cx="2011680" cy="411480"/>
          </a:xfrm>
          <a:prstGeom prst="roundRect">
            <a:avLst>
              <a:gd name="adj" fmla="val 22222"/>
            </a:avLst>
          </a:prstGeom>
          <a:solidFill>
            <a:srgbClr val="5C1419"/>
          </a:solidFill>
          <a:ln w="12700">
            <a:solidFill>
              <a:srgbClr val="5C1419"/>
            </a:solidFill>
            <a:prstDash val="solid"/>
          </a:ln>
        </p:spPr>
      </p:sp>
      <p:sp>
        <p:nvSpPr>
          <p:cNvPr id="6" name="Text 4"/>
          <p:cNvSpPr/>
          <p:nvPr/>
        </p:nvSpPr>
        <p:spPr>
          <a:xfrm>
            <a:off x="9875520" y="137160"/>
            <a:ext cx="20116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DEVICES OFF</a:t>
            </a:r>
            <a:endParaRPr lang="en-US" sz="1100" dirty="0"/>
          </a:p>
        </p:txBody>
      </p:sp>
      <p:sp>
        <p:nvSpPr>
          <p:cNvPr id="7" name="Text 5"/>
          <p:cNvSpPr/>
          <p:nvPr/>
        </p:nvSpPr>
        <p:spPr>
          <a:xfrm>
            <a:off x="365760" y="640080"/>
            <a:ext cx="11430000" cy="594360"/>
          </a:xfrm>
          <a:prstGeom prst="rect">
            <a:avLst/>
          </a:prstGeom>
          <a:noFill/>
          <a:ln/>
        </p:spPr>
        <p:txBody>
          <a:bodyPr wrap="square" rtlCol="0" anchor="ctr"/>
          <a:lstStyle/>
          <a:p>
            <a:pPr algn="l" indent="0" marL="0">
              <a:buNone/>
            </a:pPr>
            <a:r>
              <a:rPr lang="en-US" sz="3600" b="1" dirty="0">
                <a:solidFill>
                  <a:srgbClr val="12100E"/>
                </a:solidFill>
                <a:latin typeface="Bookman Old Style" pitchFamily="34" charset="0"/>
                <a:ea typeface="Bookman Old Style" pitchFamily="34" charset="-122"/>
                <a:cs typeface="Bookman Old Style" pitchFamily="34" charset="-120"/>
              </a:rPr>
              <a:t>What is Investigation?</a:t>
            </a:r>
            <a:endParaRPr lang="en-US" sz="3600" dirty="0"/>
          </a:p>
        </p:txBody>
      </p:sp>
      <p:sp>
        <p:nvSpPr>
          <p:cNvPr id="8" name="Shape 6"/>
          <p:cNvSpPr/>
          <p:nvPr/>
        </p:nvSpPr>
        <p:spPr>
          <a:xfrm>
            <a:off x="365760" y="1371600"/>
            <a:ext cx="5577840" cy="2286000"/>
          </a:xfrm>
          <a:prstGeom prst="roundRect">
            <a:avLst>
              <a:gd name="adj" fmla="val 4800"/>
            </a:avLst>
          </a:prstGeom>
          <a:solidFill>
            <a:srgbClr val="1B5E47"/>
          </a:solidFill>
          <a:ln w="12700">
            <a:solidFill>
              <a:srgbClr val="1B5E47"/>
            </a:solidFill>
            <a:prstDash val="solid"/>
          </a:ln>
        </p:spPr>
      </p:sp>
      <p:sp>
        <p:nvSpPr>
          <p:cNvPr id="9" name="Text 7"/>
          <p:cNvSpPr/>
          <p:nvPr/>
        </p:nvSpPr>
        <p:spPr>
          <a:xfrm>
            <a:off x="548640" y="1417320"/>
            <a:ext cx="5212080" cy="2194560"/>
          </a:xfrm>
          <a:prstGeom prst="rect">
            <a:avLst/>
          </a:prstGeom>
          <a:noFill/>
          <a:ln/>
        </p:spPr>
        <p:txBody>
          <a:bodyPr wrap="square" rtlCol="0" anchor="ctr"/>
          <a:lstStyle/>
          <a:p>
            <a:pPr algn="l" indent="0" marL="0">
              <a:buNone/>
            </a:pPr>
            <a:r>
              <a:rPr lang="en-US" sz="2200" dirty="0">
                <a:solidFill>
                  <a:srgbClr val="FFFFFF"/>
                </a:solidFill>
                <a:latin typeface="Calibri" pitchFamily="34" charset="0"/>
                <a:ea typeface="Calibri" pitchFamily="34" charset="-122"/>
                <a:cs typeface="Calibri" pitchFamily="34" charset="-120"/>
              </a:rPr>
              <a:t>Investigation means deliberately gathering information to understand a problem — before you start designing.</a:t>
            </a:r>
            <a:endParaRPr lang="en-US" sz="2200" dirty="0"/>
          </a:p>
        </p:txBody>
      </p:sp>
      <p:sp>
        <p:nvSpPr>
          <p:cNvPr id="10" name="Shape 8"/>
          <p:cNvSpPr/>
          <p:nvPr/>
        </p:nvSpPr>
        <p:spPr>
          <a:xfrm>
            <a:off x="6217920" y="1371600"/>
            <a:ext cx="5577840" cy="2286000"/>
          </a:xfrm>
          <a:prstGeom prst="roundRect">
            <a:avLst>
              <a:gd name="adj" fmla="val 4800"/>
            </a:avLst>
          </a:prstGeom>
          <a:solidFill>
            <a:srgbClr val="EDE8DF"/>
          </a:solidFill>
          <a:ln w="12700">
            <a:solidFill>
              <a:srgbClr val="D8D3CA"/>
            </a:solidFill>
            <a:prstDash val="solid"/>
          </a:ln>
        </p:spPr>
      </p:sp>
      <p:sp>
        <p:nvSpPr>
          <p:cNvPr id="11" name="Text 9"/>
          <p:cNvSpPr/>
          <p:nvPr/>
        </p:nvSpPr>
        <p:spPr>
          <a:xfrm>
            <a:off x="6400800" y="1463040"/>
            <a:ext cx="5212080" cy="548640"/>
          </a:xfrm>
          <a:prstGeom prst="rect">
            <a:avLst/>
          </a:prstGeom>
          <a:noFill/>
          <a:ln/>
        </p:spPr>
        <p:txBody>
          <a:bodyPr wrap="square" rtlCol="0" anchor="ctr"/>
          <a:lstStyle/>
          <a:p>
            <a:pPr algn="l" indent="0" marL="0">
              <a:buNone/>
            </a:pPr>
            <a:r>
              <a:rPr lang="en-US" sz="1800" b="1" dirty="0">
                <a:solidFill>
                  <a:srgbClr val="12100E"/>
                </a:solidFill>
                <a:latin typeface="Calibri" pitchFamily="34" charset="0"/>
                <a:ea typeface="Calibri" pitchFamily="34" charset="-122"/>
                <a:cs typeface="Calibri" pitchFamily="34" charset="-120"/>
              </a:rPr>
              <a:t>Investigation is NOT just Googling.</a:t>
            </a:r>
            <a:endParaRPr lang="en-US" sz="1800" dirty="0"/>
          </a:p>
          <a:p>
            <a:pPr algn="l" indent="0" marL="0">
              <a:buNone/>
            </a:pPr>
            <a:r>
              <a:rPr lang="en-US" sz="1800" b="1" dirty="0">
                <a:solidFill>
                  <a:srgbClr val="12100E"/>
                </a:solidFill>
                <a:latin typeface="Calibri" pitchFamily="34" charset="0"/>
                <a:ea typeface="Calibri" pitchFamily="34" charset="-122"/>
                <a:cs typeface="Calibri" pitchFamily="34" charset="-120"/>
              </a:rPr>
              <a:t>It involves:</a:t>
            </a:r>
            <a:endParaRPr lang="en-US" sz="1800" dirty="0"/>
          </a:p>
        </p:txBody>
      </p:sp>
      <p:sp>
        <p:nvSpPr>
          <p:cNvPr id="12" name="Text 10"/>
          <p:cNvSpPr/>
          <p:nvPr/>
        </p:nvSpPr>
        <p:spPr>
          <a:xfrm>
            <a:off x="6400800" y="2057400"/>
            <a:ext cx="5212080" cy="365760"/>
          </a:xfrm>
          <a:prstGeom prst="rect">
            <a:avLst/>
          </a:prstGeom>
          <a:noFill/>
          <a:ln/>
        </p:spPr>
        <p:txBody>
          <a:bodyPr wrap="square" rtlCol="0" anchor="ctr"/>
          <a:lstStyle/>
          <a:p>
            <a:pPr algn="l" indent="0" marL="0">
              <a:buNone/>
            </a:pPr>
            <a:r>
              <a:rPr lang="en-US" sz="1800" dirty="0">
                <a:solidFill>
                  <a:srgbClr val="2C2A28"/>
                </a:solidFill>
                <a:latin typeface="Calibri" pitchFamily="34" charset="0"/>
                <a:ea typeface="Calibri" pitchFamily="34" charset="-122"/>
                <a:cs typeface="Calibri" pitchFamily="34" charset="-120"/>
              </a:rPr>
              <a:t>→  Understanding who has the problem (users)</a:t>
            </a:r>
            <a:endParaRPr lang="en-US" sz="1800" dirty="0"/>
          </a:p>
        </p:txBody>
      </p:sp>
      <p:sp>
        <p:nvSpPr>
          <p:cNvPr id="13" name="Text 11"/>
          <p:cNvSpPr/>
          <p:nvPr/>
        </p:nvSpPr>
        <p:spPr>
          <a:xfrm>
            <a:off x="6400800" y="2441448"/>
            <a:ext cx="5212080" cy="365760"/>
          </a:xfrm>
          <a:prstGeom prst="rect">
            <a:avLst/>
          </a:prstGeom>
          <a:noFill/>
          <a:ln/>
        </p:spPr>
        <p:txBody>
          <a:bodyPr wrap="square" rtlCol="0" anchor="ctr"/>
          <a:lstStyle/>
          <a:p>
            <a:pPr algn="l" indent="0" marL="0">
              <a:buNone/>
            </a:pPr>
            <a:r>
              <a:rPr lang="en-US" sz="1800" dirty="0">
                <a:solidFill>
                  <a:srgbClr val="2C2A28"/>
                </a:solidFill>
                <a:latin typeface="Calibri" pitchFamily="34" charset="0"/>
                <a:ea typeface="Calibri" pitchFamily="34" charset="-122"/>
                <a:cs typeface="Calibri" pitchFamily="34" charset="-120"/>
              </a:rPr>
              <a:t>→  Looking at what solutions already exist</a:t>
            </a:r>
            <a:endParaRPr lang="en-US" sz="1800" dirty="0"/>
          </a:p>
        </p:txBody>
      </p:sp>
      <p:sp>
        <p:nvSpPr>
          <p:cNvPr id="14" name="Text 12"/>
          <p:cNvSpPr/>
          <p:nvPr/>
        </p:nvSpPr>
        <p:spPr>
          <a:xfrm>
            <a:off x="6400800" y="2825496"/>
            <a:ext cx="5212080" cy="365760"/>
          </a:xfrm>
          <a:prstGeom prst="rect">
            <a:avLst/>
          </a:prstGeom>
          <a:noFill/>
          <a:ln/>
        </p:spPr>
        <p:txBody>
          <a:bodyPr wrap="square" rtlCol="0" anchor="ctr"/>
          <a:lstStyle/>
          <a:p>
            <a:pPr algn="l" indent="0" marL="0">
              <a:buNone/>
            </a:pPr>
            <a:r>
              <a:rPr lang="en-US" sz="1800" dirty="0">
                <a:solidFill>
                  <a:srgbClr val="2C2A28"/>
                </a:solidFill>
                <a:latin typeface="Calibri" pitchFamily="34" charset="0"/>
                <a:ea typeface="Calibri" pitchFamily="34" charset="-122"/>
                <a:cs typeface="Calibri" pitchFamily="34" charset="-120"/>
              </a:rPr>
              <a:t>→  Finding gaps — what is still missing or failing?</a:t>
            </a:r>
            <a:endParaRPr lang="en-US" sz="1800" dirty="0"/>
          </a:p>
        </p:txBody>
      </p:sp>
      <p:sp>
        <p:nvSpPr>
          <p:cNvPr id="15" name="Text 13"/>
          <p:cNvSpPr/>
          <p:nvPr/>
        </p:nvSpPr>
        <p:spPr>
          <a:xfrm>
            <a:off x="6400800" y="3209544"/>
            <a:ext cx="5212080" cy="365760"/>
          </a:xfrm>
          <a:prstGeom prst="rect">
            <a:avLst/>
          </a:prstGeom>
          <a:noFill/>
          <a:ln/>
        </p:spPr>
        <p:txBody>
          <a:bodyPr wrap="square" rtlCol="0" anchor="ctr"/>
          <a:lstStyle/>
          <a:p>
            <a:pPr algn="l" indent="0" marL="0">
              <a:buNone/>
            </a:pPr>
            <a:r>
              <a:rPr lang="en-US" sz="1800" dirty="0">
                <a:solidFill>
                  <a:srgbClr val="2C2A28"/>
                </a:solidFill>
                <a:latin typeface="Calibri" pitchFamily="34" charset="0"/>
                <a:ea typeface="Calibri" pitchFamily="34" charset="-122"/>
                <a:cs typeface="Calibri" pitchFamily="34" charset="-120"/>
              </a:rPr>
              <a:t>→  Asking: who is affected, and how?</a:t>
            </a:r>
            <a:endParaRPr lang="en-US" sz="1800" dirty="0"/>
          </a:p>
        </p:txBody>
      </p:sp>
      <p:sp>
        <p:nvSpPr>
          <p:cNvPr id="16" name="Text 14"/>
          <p:cNvSpPr/>
          <p:nvPr/>
        </p:nvSpPr>
        <p:spPr>
          <a:xfrm>
            <a:off x="365760" y="3840480"/>
            <a:ext cx="11430000" cy="365760"/>
          </a:xfrm>
          <a:prstGeom prst="rect">
            <a:avLst/>
          </a:prstGeom>
          <a:noFill/>
          <a:ln/>
        </p:spPr>
        <p:txBody>
          <a:bodyPr wrap="square" rtlCol="0" anchor="ctr"/>
          <a:lstStyle/>
          <a:p>
            <a:pPr algn="l" indent="0" marL="0">
              <a:buNone/>
            </a:pPr>
            <a:r>
              <a:rPr lang="en-US" sz="2000" b="1" dirty="0">
                <a:solidFill>
                  <a:srgbClr val="12100E"/>
                </a:solidFill>
                <a:latin typeface="Calibri" pitchFamily="34" charset="0"/>
                <a:ea typeface="Calibri" pitchFamily="34" charset="-122"/>
                <a:cs typeface="Calibri" pitchFamily="34" charset="-120"/>
              </a:rPr>
              <a:t>Two types of research you'll use:</a:t>
            </a:r>
            <a:endParaRPr lang="en-US" sz="2000" dirty="0"/>
          </a:p>
        </p:txBody>
      </p:sp>
      <p:sp>
        <p:nvSpPr>
          <p:cNvPr id="17" name="Shape 15"/>
          <p:cNvSpPr/>
          <p:nvPr/>
        </p:nvSpPr>
        <p:spPr>
          <a:xfrm>
            <a:off x="365760" y="4297680"/>
            <a:ext cx="5577840" cy="2103120"/>
          </a:xfrm>
          <a:prstGeom prst="roundRect">
            <a:avLst>
              <a:gd name="adj" fmla="val 4348"/>
            </a:avLst>
          </a:prstGeom>
          <a:solidFill>
            <a:srgbClr val="FFFFFF"/>
          </a:solidFill>
          <a:ln w="12700">
            <a:solidFill>
              <a:srgbClr val="B8620A"/>
            </a:solidFill>
            <a:prstDash val="solid"/>
          </a:ln>
        </p:spPr>
      </p:sp>
      <p:sp>
        <p:nvSpPr>
          <p:cNvPr id="18" name="Shape 16"/>
          <p:cNvSpPr/>
          <p:nvPr/>
        </p:nvSpPr>
        <p:spPr>
          <a:xfrm>
            <a:off x="365760" y="4297680"/>
            <a:ext cx="5577840" cy="502920"/>
          </a:xfrm>
          <a:prstGeom prst="rect">
            <a:avLst/>
          </a:prstGeom>
          <a:solidFill>
            <a:srgbClr val="B8620A"/>
          </a:solidFill>
          <a:ln w="12700">
            <a:solidFill>
              <a:srgbClr val="B8620A"/>
            </a:solidFill>
            <a:prstDash val="solid"/>
          </a:ln>
        </p:spPr>
      </p:sp>
      <p:sp>
        <p:nvSpPr>
          <p:cNvPr id="19" name="Text 17"/>
          <p:cNvSpPr/>
          <p:nvPr/>
        </p:nvSpPr>
        <p:spPr>
          <a:xfrm>
            <a:off x="502920" y="4297680"/>
            <a:ext cx="5303520" cy="502920"/>
          </a:xfrm>
          <a:prstGeom prst="rect">
            <a:avLst/>
          </a:prstGeom>
          <a:noFill/>
          <a:ln/>
        </p:spPr>
        <p:txBody>
          <a:bodyPr wrap="square"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Primary Research</a:t>
            </a:r>
            <a:endParaRPr lang="en-US" sz="2000" dirty="0"/>
          </a:p>
        </p:txBody>
      </p:sp>
      <p:sp>
        <p:nvSpPr>
          <p:cNvPr id="20" name="Text 18"/>
          <p:cNvSpPr/>
          <p:nvPr/>
        </p:nvSpPr>
        <p:spPr>
          <a:xfrm>
            <a:off x="502920" y="4846320"/>
            <a:ext cx="5303520" cy="1417320"/>
          </a:xfrm>
          <a:prstGeom prst="rect">
            <a:avLst/>
          </a:prstGeom>
          <a:noFill/>
          <a:ln/>
        </p:spPr>
        <p:txBody>
          <a:bodyPr wrap="square" rtlCol="0" anchor="t"/>
          <a:lstStyle/>
          <a:p>
            <a:pPr algn="l" indent="0" marL="0">
              <a:buNone/>
            </a:pPr>
            <a:r>
              <a:rPr lang="en-US" sz="1800" dirty="0">
                <a:solidFill>
                  <a:srgbClr val="2C2A28"/>
                </a:solidFill>
                <a:latin typeface="Calibri" pitchFamily="34" charset="0"/>
                <a:ea typeface="Calibri" pitchFamily="34" charset="-122"/>
                <a:cs typeface="Calibri" pitchFamily="34" charset="-120"/>
              </a:rPr>
              <a:t>You collect it yourself.</a:t>
            </a:r>
            <a:endParaRPr lang="en-US" sz="1800" dirty="0"/>
          </a:p>
          <a:p>
            <a:pPr algn="l" indent="0" marL="0">
              <a:buNone/>
            </a:pPr>
            <a:r>
              <a:rPr lang="en-US" sz="1800" dirty="0">
                <a:solidFill>
                  <a:srgbClr val="2C2A28"/>
                </a:solidFill>
                <a:latin typeface="Calibri" pitchFamily="34" charset="0"/>
                <a:ea typeface="Calibri" pitchFamily="34" charset="-122"/>
                <a:cs typeface="Calibri" pitchFamily="34" charset="-120"/>
              </a:rPr>
              <a:t>Surveys · Interviews · Observations</a:t>
            </a:r>
            <a:endParaRPr lang="en-US" sz="1800" dirty="0"/>
          </a:p>
          <a:p>
            <a:pPr algn="l" indent="0" marL="0">
              <a:buNone/>
            </a:pPr>
            <a:r>
              <a:rPr lang="en-US" sz="1800" dirty="0">
                <a:solidFill>
                  <a:srgbClr val="2C2A28"/>
                </a:solidFill>
                <a:latin typeface="Calibri" pitchFamily="34" charset="0"/>
                <a:ea typeface="Calibri" pitchFamily="34" charset="-122"/>
                <a:cs typeface="Calibri" pitchFamily="34" charset="-120"/>
              </a:rPr>
              <a:t>Asking real people about their experience.</a:t>
            </a:r>
            <a:endParaRPr lang="en-US" sz="1800" dirty="0"/>
          </a:p>
        </p:txBody>
      </p:sp>
      <p:sp>
        <p:nvSpPr>
          <p:cNvPr id="21" name="Shape 19"/>
          <p:cNvSpPr/>
          <p:nvPr/>
        </p:nvSpPr>
        <p:spPr>
          <a:xfrm>
            <a:off x="6309360" y="4297680"/>
            <a:ext cx="5577840" cy="2103120"/>
          </a:xfrm>
          <a:prstGeom prst="roundRect">
            <a:avLst>
              <a:gd name="adj" fmla="val 4348"/>
            </a:avLst>
          </a:prstGeom>
          <a:solidFill>
            <a:srgbClr val="FFFFFF"/>
          </a:solidFill>
          <a:ln w="12700">
            <a:solidFill>
              <a:srgbClr val="2B3A8C"/>
            </a:solidFill>
            <a:prstDash val="solid"/>
          </a:ln>
        </p:spPr>
      </p:sp>
      <p:sp>
        <p:nvSpPr>
          <p:cNvPr id="22" name="Shape 20"/>
          <p:cNvSpPr/>
          <p:nvPr/>
        </p:nvSpPr>
        <p:spPr>
          <a:xfrm>
            <a:off x="6309360" y="4297680"/>
            <a:ext cx="5577840" cy="502920"/>
          </a:xfrm>
          <a:prstGeom prst="rect">
            <a:avLst/>
          </a:prstGeom>
          <a:solidFill>
            <a:srgbClr val="2B3A8C"/>
          </a:solidFill>
          <a:ln w="12700">
            <a:solidFill>
              <a:srgbClr val="2B3A8C"/>
            </a:solidFill>
            <a:prstDash val="solid"/>
          </a:ln>
        </p:spPr>
      </p:sp>
      <p:sp>
        <p:nvSpPr>
          <p:cNvPr id="23" name="Text 21"/>
          <p:cNvSpPr/>
          <p:nvPr/>
        </p:nvSpPr>
        <p:spPr>
          <a:xfrm>
            <a:off x="6446520" y="4297680"/>
            <a:ext cx="5303520" cy="502920"/>
          </a:xfrm>
          <a:prstGeom prst="rect">
            <a:avLst/>
          </a:prstGeom>
          <a:noFill/>
          <a:ln/>
        </p:spPr>
        <p:txBody>
          <a:bodyPr wrap="square"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Secondary Research</a:t>
            </a:r>
            <a:endParaRPr lang="en-US" sz="2000" dirty="0"/>
          </a:p>
        </p:txBody>
      </p:sp>
      <p:sp>
        <p:nvSpPr>
          <p:cNvPr id="24" name="Text 22"/>
          <p:cNvSpPr/>
          <p:nvPr/>
        </p:nvSpPr>
        <p:spPr>
          <a:xfrm>
            <a:off x="6446520" y="4846320"/>
            <a:ext cx="5303520" cy="1417320"/>
          </a:xfrm>
          <a:prstGeom prst="rect">
            <a:avLst/>
          </a:prstGeom>
          <a:noFill/>
          <a:ln/>
        </p:spPr>
        <p:txBody>
          <a:bodyPr wrap="square" rtlCol="0" anchor="t"/>
          <a:lstStyle/>
          <a:p>
            <a:pPr algn="l" indent="0" marL="0">
              <a:buNone/>
            </a:pPr>
            <a:r>
              <a:rPr lang="en-US" sz="1800" dirty="0">
                <a:solidFill>
                  <a:srgbClr val="2C2A28"/>
                </a:solidFill>
                <a:latin typeface="Calibri" pitchFamily="34" charset="0"/>
                <a:ea typeface="Calibri" pitchFamily="34" charset="-122"/>
                <a:cs typeface="Calibri" pitchFamily="34" charset="-120"/>
              </a:rPr>
              <a:t>Already collected by someone else.</a:t>
            </a:r>
            <a:endParaRPr lang="en-US" sz="1800" dirty="0"/>
          </a:p>
          <a:p>
            <a:pPr algn="l" indent="0" marL="0">
              <a:buNone/>
            </a:pPr>
            <a:r>
              <a:rPr lang="en-US" sz="1800" dirty="0">
                <a:solidFill>
                  <a:srgbClr val="2C2A28"/>
                </a:solidFill>
                <a:latin typeface="Calibri" pitchFamily="34" charset="0"/>
                <a:ea typeface="Calibri" pitchFamily="34" charset="-122"/>
                <a:cs typeface="Calibri" pitchFamily="34" charset="-120"/>
              </a:rPr>
              <a:t>Articles · Reports · Statistics</a:t>
            </a:r>
            <a:endParaRPr lang="en-US" sz="1800" dirty="0"/>
          </a:p>
          <a:p>
            <a:pPr algn="l" indent="0" marL="0">
              <a:buNone/>
            </a:pPr>
            <a:r>
              <a:rPr lang="en-US" sz="1800" dirty="0">
                <a:solidFill>
                  <a:srgbClr val="2C2A28"/>
                </a:solidFill>
                <a:latin typeface="Calibri" pitchFamily="34" charset="0"/>
                <a:ea typeface="Calibri" pitchFamily="34" charset="-122"/>
                <a:cs typeface="Calibri" pitchFamily="34" charset="-120"/>
              </a:rPr>
              <a:t>Existing digital solutions and reviews.</a:t>
            </a:r>
            <a:endParaRPr lang="en-US" sz="1800" dirty="0"/>
          </a:p>
        </p:txBody>
      </p:sp>
      <p:sp>
        <p:nvSpPr>
          <p:cNvPr id="25" name="Text 23"/>
          <p:cNvSpPr/>
          <p:nvPr/>
        </p:nvSpPr>
        <p:spPr>
          <a:xfrm>
            <a:off x="274320" y="6492240"/>
            <a:ext cx="11612880" cy="274320"/>
          </a:xfrm>
          <a:prstGeom prst="rect">
            <a:avLst/>
          </a:prstGeom>
          <a:noFill/>
          <a:ln/>
        </p:spPr>
        <p:txBody>
          <a:bodyPr wrap="square" rtlCol="0" anchor="ctr"/>
          <a:lstStyle/>
          <a:p>
            <a:pPr algn="l" indent="0" marL="0">
              <a:buNone/>
            </a:pPr>
            <a:r>
              <a:rPr lang="en-US" sz="1000" dirty="0">
                <a:solidFill>
                  <a:srgbClr val="6B6762"/>
                </a:solidFill>
                <a:latin typeface="Courier New" pitchFamily="34" charset="0"/>
                <a:ea typeface="Courier New" pitchFamily="34" charset="-122"/>
                <a:cs typeface="Courier New" pitchFamily="34" charset="-120"/>
              </a:rPr>
              <a:t>y11-ac-u2-l3-investigating-problem-space  ·  Mr Smith  ·  Year 11 Applied Computing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3EC"/>
          </a:solidFill>
          <a:ln w="12700">
            <a:solidFill>
              <a:srgbClr val="F7F3EC"/>
            </a:solidFill>
            <a:prstDash val="solid"/>
          </a:ln>
        </p:spPr>
      </p:sp>
      <p:sp>
        <p:nvSpPr>
          <p:cNvPr id="3" name="Shape 1"/>
          <p:cNvSpPr/>
          <p:nvPr/>
        </p:nvSpPr>
        <p:spPr>
          <a:xfrm>
            <a:off x="274320" y="109728"/>
            <a:ext cx="1828800" cy="384048"/>
          </a:xfrm>
          <a:prstGeom prst="roundRect">
            <a:avLst>
              <a:gd name="adj" fmla="val 19048"/>
            </a:avLst>
          </a:prstGeom>
          <a:solidFill>
            <a:srgbClr val="1B5E47"/>
          </a:solidFill>
          <a:ln w="12700">
            <a:solidFill>
              <a:srgbClr val="1B5E47"/>
            </a:solidFill>
            <a:prstDash val="solid"/>
          </a:ln>
        </p:spPr>
      </p:sp>
      <p:sp>
        <p:nvSpPr>
          <p:cNvPr id="4" name="Text 2"/>
          <p:cNvSpPr/>
          <p:nvPr/>
        </p:nvSpPr>
        <p:spPr>
          <a:xfrm>
            <a:off x="274320" y="109728"/>
            <a:ext cx="1828800"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EXPLICIT</a:t>
            </a:r>
            <a:endParaRPr lang="en-US" sz="1200" dirty="0"/>
          </a:p>
        </p:txBody>
      </p:sp>
      <p:sp>
        <p:nvSpPr>
          <p:cNvPr id="5" name="Shape 3"/>
          <p:cNvSpPr/>
          <p:nvPr/>
        </p:nvSpPr>
        <p:spPr>
          <a:xfrm>
            <a:off x="9875520" y="137160"/>
            <a:ext cx="2011680" cy="411480"/>
          </a:xfrm>
          <a:prstGeom prst="roundRect">
            <a:avLst>
              <a:gd name="adj" fmla="val 22222"/>
            </a:avLst>
          </a:prstGeom>
          <a:solidFill>
            <a:srgbClr val="5C1419"/>
          </a:solidFill>
          <a:ln w="12700">
            <a:solidFill>
              <a:srgbClr val="5C1419"/>
            </a:solidFill>
            <a:prstDash val="solid"/>
          </a:ln>
        </p:spPr>
      </p:sp>
      <p:sp>
        <p:nvSpPr>
          <p:cNvPr id="6" name="Text 4"/>
          <p:cNvSpPr/>
          <p:nvPr/>
        </p:nvSpPr>
        <p:spPr>
          <a:xfrm>
            <a:off x="9875520" y="137160"/>
            <a:ext cx="20116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DEVICES OFF</a:t>
            </a:r>
            <a:endParaRPr lang="en-US" sz="1100" dirty="0"/>
          </a:p>
        </p:txBody>
      </p:sp>
      <p:sp>
        <p:nvSpPr>
          <p:cNvPr id="7" name="Text 5"/>
          <p:cNvSpPr/>
          <p:nvPr/>
        </p:nvSpPr>
        <p:spPr>
          <a:xfrm>
            <a:off x="365760" y="640080"/>
            <a:ext cx="11430000" cy="594360"/>
          </a:xfrm>
          <a:prstGeom prst="rect">
            <a:avLst/>
          </a:prstGeom>
          <a:noFill/>
          <a:ln/>
        </p:spPr>
        <p:txBody>
          <a:bodyPr wrap="square" rtlCol="0" anchor="ctr"/>
          <a:lstStyle/>
          <a:p>
            <a:pPr algn="l" indent="0" marL="0">
              <a:buNone/>
            </a:pPr>
            <a:r>
              <a:rPr lang="en-US" sz="3600" b="1" dirty="0">
                <a:solidFill>
                  <a:srgbClr val="12100E"/>
                </a:solidFill>
                <a:latin typeface="Bookman Old Style" pitchFamily="34" charset="0"/>
                <a:ea typeface="Bookman Old Style" pitchFamily="34" charset="-122"/>
                <a:cs typeface="Bookman Old Style" pitchFamily="34" charset="-120"/>
              </a:rPr>
              <a:t>Analysing Existing Solutions</a:t>
            </a:r>
            <a:endParaRPr lang="en-US" sz="3600" dirty="0"/>
          </a:p>
        </p:txBody>
      </p:sp>
      <p:sp>
        <p:nvSpPr>
          <p:cNvPr id="8" name="Text 6"/>
          <p:cNvSpPr/>
          <p:nvPr/>
        </p:nvSpPr>
        <p:spPr>
          <a:xfrm>
            <a:off x="365760" y="1371600"/>
            <a:ext cx="11430000" cy="548640"/>
          </a:xfrm>
          <a:prstGeom prst="rect">
            <a:avLst/>
          </a:prstGeom>
          <a:noFill/>
          <a:ln/>
        </p:spPr>
        <p:txBody>
          <a:bodyPr wrap="square" rtlCol="0" anchor="ctr"/>
          <a:lstStyle/>
          <a:p>
            <a:pPr algn="l" indent="0" marL="0">
              <a:buNone/>
            </a:pPr>
            <a:r>
              <a:rPr lang="en-US" sz="2000" i="1" dirty="0">
                <a:solidFill>
                  <a:srgbClr val="6B6762"/>
                </a:solidFill>
                <a:latin typeface="Calibri" pitchFamily="34" charset="0"/>
                <a:ea typeface="Calibri" pitchFamily="34" charset="-122"/>
                <a:cs typeface="Calibri" pitchFamily="34" charset="-120"/>
              </a:rPr>
              <a:t>Before designing something new, you must understand what already exists — and why it falls short.</a:t>
            </a:r>
            <a:endParaRPr lang="en-US" sz="2000" dirty="0"/>
          </a:p>
        </p:txBody>
      </p:sp>
      <p:sp>
        <p:nvSpPr>
          <p:cNvPr id="9" name="Shape 7"/>
          <p:cNvSpPr/>
          <p:nvPr/>
        </p:nvSpPr>
        <p:spPr>
          <a:xfrm>
            <a:off x="365760" y="2103120"/>
            <a:ext cx="5577840" cy="1828800"/>
          </a:xfrm>
          <a:prstGeom prst="roundRect">
            <a:avLst>
              <a:gd name="adj" fmla="val 5000"/>
            </a:avLst>
          </a:prstGeom>
          <a:solidFill>
            <a:srgbClr val="FFFFFF"/>
          </a:solidFill>
          <a:ln w="12700">
            <a:solidFill>
              <a:srgbClr val="1B5E47"/>
            </a:solidFill>
            <a:prstDash val="solid"/>
          </a:ln>
        </p:spPr>
      </p:sp>
      <p:sp>
        <p:nvSpPr>
          <p:cNvPr id="10" name="Text 8"/>
          <p:cNvSpPr/>
          <p:nvPr/>
        </p:nvSpPr>
        <p:spPr>
          <a:xfrm>
            <a:off x="502920" y="2176272"/>
            <a:ext cx="731520" cy="457200"/>
          </a:xfrm>
          <a:prstGeom prst="rect">
            <a:avLst/>
          </a:prstGeom>
          <a:noFill/>
          <a:ln/>
        </p:spPr>
        <p:txBody>
          <a:bodyPr wrap="square" rtlCol="0" anchor="ctr"/>
          <a:lstStyle/>
          <a:p>
            <a:pPr algn="l" indent="0" marL="0">
              <a:buNone/>
            </a:pPr>
            <a:r>
              <a:rPr lang="en-US" sz="2400" b="1" dirty="0">
                <a:solidFill>
                  <a:srgbClr val="1B5E47"/>
                </a:solidFill>
                <a:latin typeface="Courier New" pitchFamily="34" charset="0"/>
                <a:ea typeface="Courier New" pitchFamily="34" charset="-122"/>
                <a:cs typeface="Courier New" pitchFamily="34" charset="-120"/>
              </a:rPr>
              <a:t>01</a:t>
            </a:r>
            <a:endParaRPr lang="en-US" sz="2400" dirty="0"/>
          </a:p>
        </p:txBody>
      </p:sp>
      <p:sp>
        <p:nvSpPr>
          <p:cNvPr id="11" name="Text 9"/>
          <p:cNvSpPr/>
          <p:nvPr/>
        </p:nvSpPr>
        <p:spPr>
          <a:xfrm>
            <a:off x="1234440" y="2176272"/>
            <a:ext cx="4480560" cy="457200"/>
          </a:xfrm>
          <a:prstGeom prst="rect">
            <a:avLst/>
          </a:prstGeom>
          <a:noFill/>
          <a:ln/>
        </p:spPr>
        <p:txBody>
          <a:bodyPr wrap="square" rtlCol="0" anchor="ctr"/>
          <a:lstStyle/>
          <a:p>
            <a:pPr algn="l" indent="0" marL="0">
              <a:buNone/>
            </a:pPr>
            <a:r>
              <a:rPr lang="en-US" sz="2000" b="1" dirty="0">
                <a:solidFill>
                  <a:srgbClr val="12100E"/>
                </a:solidFill>
                <a:latin typeface="Calibri" pitchFamily="34" charset="0"/>
                <a:ea typeface="Calibri" pitchFamily="34" charset="-122"/>
                <a:cs typeface="Calibri" pitchFamily="34" charset="-120"/>
              </a:rPr>
              <a:t>What exists?</a:t>
            </a:r>
            <a:endParaRPr lang="en-US" sz="2000" dirty="0"/>
          </a:p>
        </p:txBody>
      </p:sp>
      <p:sp>
        <p:nvSpPr>
          <p:cNvPr id="12" name="Text 10"/>
          <p:cNvSpPr/>
          <p:nvPr/>
        </p:nvSpPr>
        <p:spPr>
          <a:xfrm>
            <a:off x="502920" y="2670048"/>
            <a:ext cx="5303520" cy="1143000"/>
          </a:xfrm>
          <a:prstGeom prst="rect">
            <a:avLst/>
          </a:prstGeom>
          <a:noFill/>
          <a:ln/>
        </p:spPr>
        <p:txBody>
          <a:bodyPr wrap="square" rtlCol="0" anchor="t"/>
          <a:lstStyle/>
          <a:p>
            <a:pPr algn="l" indent="0" marL="0">
              <a:buNone/>
            </a:pPr>
            <a:r>
              <a:rPr lang="en-US" sz="1800" dirty="0">
                <a:solidFill>
                  <a:srgbClr val="2C2A28"/>
                </a:solidFill>
                <a:latin typeface="Calibri" pitchFamily="34" charset="0"/>
                <a:ea typeface="Calibri" pitchFamily="34" charset="-122"/>
                <a:cs typeface="Calibri" pitchFamily="34" charset="-120"/>
              </a:rPr>
              <a:t>Name at least 2-3 digital solutions already</a:t>
            </a:r>
            <a:endParaRPr lang="en-US" sz="1800" dirty="0"/>
          </a:p>
          <a:p>
            <a:pPr algn="l" indent="0" marL="0">
              <a:buNone/>
            </a:pPr>
            <a:r>
              <a:rPr lang="en-US" sz="1800" dirty="0">
                <a:solidFill>
                  <a:srgbClr val="2C2A28"/>
                </a:solidFill>
                <a:latin typeface="Calibri" pitchFamily="34" charset="0"/>
                <a:ea typeface="Calibri" pitchFamily="34" charset="-122"/>
                <a:cs typeface="Calibri" pitchFamily="34" charset="-120"/>
              </a:rPr>
              <a:t>attempting to address your topic area.</a:t>
            </a:r>
            <a:endParaRPr lang="en-US" sz="1800" dirty="0"/>
          </a:p>
        </p:txBody>
      </p:sp>
      <p:sp>
        <p:nvSpPr>
          <p:cNvPr id="13" name="Shape 11"/>
          <p:cNvSpPr/>
          <p:nvPr/>
        </p:nvSpPr>
        <p:spPr>
          <a:xfrm>
            <a:off x="6263640" y="2103120"/>
            <a:ext cx="5577840" cy="1828800"/>
          </a:xfrm>
          <a:prstGeom prst="roundRect">
            <a:avLst>
              <a:gd name="adj" fmla="val 5000"/>
            </a:avLst>
          </a:prstGeom>
          <a:solidFill>
            <a:srgbClr val="FFFFFF"/>
          </a:solidFill>
          <a:ln w="12700">
            <a:solidFill>
              <a:srgbClr val="B8620A"/>
            </a:solidFill>
            <a:prstDash val="solid"/>
          </a:ln>
        </p:spPr>
      </p:sp>
      <p:sp>
        <p:nvSpPr>
          <p:cNvPr id="14" name="Text 12"/>
          <p:cNvSpPr/>
          <p:nvPr/>
        </p:nvSpPr>
        <p:spPr>
          <a:xfrm>
            <a:off x="6400800" y="2176272"/>
            <a:ext cx="731520" cy="457200"/>
          </a:xfrm>
          <a:prstGeom prst="rect">
            <a:avLst/>
          </a:prstGeom>
          <a:noFill/>
          <a:ln/>
        </p:spPr>
        <p:txBody>
          <a:bodyPr wrap="square" rtlCol="0" anchor="ctr"/>
          <a:lstStyle/>
          <a:p>
            <a:pPr algn="l" indent="0" marL="0">
              <a:buNone/>
            </a:pPr>
            <a:r>
              <a:rPr lang="en-US" sz="2400" b="1" dirty="0">
                <a:solidFill>
                  <a:srgbClr val="B8620A"/>
                </a:solidFill>
                <a:latin typeface="Courier New" pitchFamily="34" charset="0"/>
                <a:ea typeface="Courier New" pitchFamily="34" charset="-122"/>
                <a:cs typeface="Courier New" pitchFamily="34" charset="-120"/>
              </a:rPr>
              <a:t>02</a:t>
            </a:r>
            <a:endParaRPr lang="en-US" sz="2400" dirty="0"/>
          </a:p>
        </p:txBody>
      </p:sp>
      <p:sp>
        <p:nvSpPr>
          <p:cNvPr id="15" name="Text 13"/>
          <p:cNvSpPr/>
          <p:nvPr/>
        </p:nvSpPr>
        <p:spPr>
          <a:xfrm>
            <a:off x="7132320" y="2176272"/>
            <a:ext cx="4480560" cy="457200"/>
          </a:xfrm>
          <a:prstGeom prst="rect">
            <a:avLst/>
          </a:prstGeom>
          <a:noFill/>
          <a:ln/>
        </p:spPr>
        <p:txBody>
          <a:bodyPr wrap="square" rtlCol="0" anchor="ctr"/>
          <a:lstStyle/>
          <a:p>
            <a:pPr algn="l" indent="0" marL="0">
              <a:buNone/>
            </a:pPr>
            <a:r>
              <a:rPr lang="en-US" sz="2000" b="1" dirty="0">
                <a:solidFill>
                  <a:srgbClr val="12100E"/>
                </a:solidFill>
                <a:latin typeface="Calibri" pitchFamily="34" charset="0"/>
                <a:ea typeface="Calibri" pitchFamily="34" charset="-122"/>
                <a:cs typeface="Calibri" pitchFamily="34" charset="-120"/>
              </a:rPr>
              <a:t>Who uses it?</a:t>
            </a:r>
            <a:endParaRPr lang="en-US" sz="2000" dirty="0"/>
          </a:p>
        </p:txBody>
      </p:sp>
      <p:sp>
        <p:nvSpPr>
          <p:cNvPr id="16" name="Text 14"/>
          <p:cNvSpPr/>
          <p:nvPr/>
        </p:nvSpPr>
        <p:spPr>
          <a:xfrm>
            <a:off x="6400800" y="2670048"/>
            <a:ext cx="5303520" cy="1143000"/>
          </a:xfrm>
          <a:prstGeom prst="rect">
            <a:avLst/>
          </a:prstGeom>
          <a:noFill/>
          <a:ln/>
        </p:spPr>
        <p:txBody>
          <a:bodyPr wrap="square" rtlCol="0" anchor="t"/>
          <a:lstStyle/>
          <a:p>
            <a:pPr algn="l" indent="0" marL="0">
              <a:buNone/>
            </a:pPr>
            <a:r>
              <a:rPr lang="en-US" sz="1800" dirty="0">
                <a:solidFill>
                  <a:srgbClr val="2C2A28"/>
                </a:solidFill>
                <a:latin typeface="Calibri" pitchFamily="34" charset="0"/>
                <a:ea typeface="Calibri" pitchFamily="34" charset="-122"/>
                <a:cs typeface="Calibri" pitchFamily="34" charset="-120"/>
              </a:rPr>
              <a:t>Describe the main users of these solutions.</a:t>
            </a:r>
            <a:endParaRPr lang="en-US" sz="1800" dirty="0"/>
          </a:p>
          <a:p>
            <a:pPr algn="l" indent="0" marL="0">
              <a:buNone/>
            </a:pPr>
            <a:r>
              <a:rPr lang="en-US" sz="1800" dirty="0">
                <a:solidFill>
                  <a:srgbClr val="2C2A28"/>
                </a:solidFill>
                <a:latin typeface="Calibri" pitchFamily="34" charset="0"/>
                <a:ea typeface="Calibri" pitchFamily="34" charset="-122"/>
                <a:cs typeface="Calibri" pitchFamily="34" charset="-120"/>
              </a:rPr>
              <a:t>What problems do they have that the solution</a:t>
            </a:r>
            <a:endParaRPr lang="en-US" sz="1800" dirty="0"/>
          </a:p>
          <a:p>
            <a:pPr algn="l" indent="0" marL="0">
              <a:buNone/>
            </a:pPr>
            <a:r>
              <a:rPr lang="en-US" sz="1800" dirty="0">
                <a:solidFill>
                  <a:srgbClr val="2C2A28"/>
                </a:solidFill>
                <a:latin typeface="Calibri" pitchFamily="34" charset="0"/>
                <a:ea typeface="Calibri" pitchFamily="34" charset="-122"/>
                <a:cs typeface="Calibri" pitchFamily="34" charset="-120"/>
              </a:rPr>
              <a:t>tries to solve?</a:t>
            </a:r>
            <a:endParaRPr lang="en-US" sz="1800" dirty="0"/>
          </a:p>
        </p:txBody>
      </p:sp>
      <p:sp>
        <p:nvSpPr>
          <p:cNvPr id="17" name="Shape 15"/>
          <p:cNvSpPr/>
          <p:nvPr/>
        </p:nvSpPr>
        <p:spPr>
          <a:xfrm>
            <a:off x="365760" y="4069080"/>
            <a:ext cx="5577840" cy="1828800"/>
          </a:xfrm>
          <a:prstGeom prst="roundRect">
            <a:avLst>
              <a:gd name="adj" fmla="val 5000"/>
            </a:avLst>
          </a:prstGeom>
          <a:solidFill>
            <a:srgbClr val="FFFFFF"/>
          </a:solidFill>
          <a:ln w="12700">
            <a:solidFill>
              <a:srgbClr val="2B3A8C"/>
            </a:solidFill>
            <a:prstDash val="solid"/>
          </a:ln>
        </p:spPr>
      </p:sp>
      <p:sp>
        <p:nvSpPr>
          <p:cNvPr id="18" name="Text 16"/>
          <p:cNvSpPr/>
          <p:nvPr/>
        </p:nvSpPr>
        <p:spPr>
          <a:xfrm>
            <a:off x="502920" y="4142232"/>
            <a:ext cx="731520" cy="457200"/>
          </a:xfrm>
          <a:prstGeom prst="rect">
            <a:avLst/>
          </a:prstGeom>
          <a:noFill/>
          <a:ln/>
        </p:spPr>
        <p:txBody>
          <a:bodyPr wrap="square" rtlCol="0" anchor="ctr"/>
          <a:lstStyle/>
          <a:p>
            <a:pPr algn="l" indent="0" marL="0">
              <a:buNone/>
            </a:pPr>
            <a:r>
              <a:rPr lang="en-US" sz="2400" b="1" dirty="0">
                <a:solidFill>
                  <a:srgbClr val="2B3A8C"/>
                </a:solidFill>
                <a:latin typeface="Courier New" pitchFamily="34" charset="0"/>
                <a:ea typeface="Courier New" pitchFamily="34" charset="-122"/>
                <a:cs typeface="Courier New" pitchFamily="34" charset="-120"/>
              </a:rPr>
              <a:t>03</a:t>
            </a:r>
            <a:endParaRPr lang="en-US" sz="2400" dirty="0"/>
          </a:p>
        </p:txBody>
      </p:sp>
      <p:sp>
        <p:nvSpPr>
          <p:cNvPr id="19" name="Text 17"/>
          <p:cNvSpPr/>
          <p:nvPr/>
        </p:nvSpPr>
        <p:spPr>
          <a:xfrm>
            <a:off x="1234440" y="4142232"/>
            <a:ext cx="4480560" cy="457200"/>
          </a:xfrm>
          <a:prstGeom prst="rect">
            <a:avLst/>
          </a:prstGeom>
          <a:noFill/>
          <a:ln/>
        </p:spPr>
        <p:txBody>
          <a:bodyPr wrap="square" rtlCol="0" anchor="ctr"/>
          <a:lstStyle/>
          <a:p>
            <a:pPr algn="l" indent="0" marL="0">
              <a:buNone/>
            </a:pPr>
            <a:r>
              <a:rPr lang="en-US" sz="2000" b="1" dirty="0">
                <a:solidFill>
                  <a:srgbClr val="12100E"/>
                </a:solidFill>
                <a:latin typeface="Calibri" pitchFamily="34" charset="0"/>
                <a:ea typeface="Calibri" pitchFamily="34" charset="-122"/>
                <a:cs typeface="Calibri" pitchFamily="34" charset="-120"/>
              </a:rPr>
              <a:t>What's missing?</a:t>
            </a:r>
            <a:endParaRPr lang="en-US" sz="2000" dirty="0"/>
          </a:p>
        </p:txBody>
      </p:sp>
      <p:sp>
        <p:nvSpPr>
          <p:cNvPr id="20" name="Text 18"/>
          <p:cNvSpPr/>
          <p:nvPr/>
        </p:nvSpPr>
        <p:spPr>
          <a:xfrm>
            <a:off x="502920" y="4636008"/>
            <a:ext cx="5303520" cy="1143000"/>
          </a:xfrm>
          <a:prstGeom prst="rect">
            <a:avLst/>
          </a:prstGeom>
          <a:noFill/>
          <a:ln/>
        </p:spPr>
        <p:txBody>
          <a:bodyPr wrap="square" rtlCol="0" anchor="t"/>
          <a:lstStyle/>
          <a:p>
            <a:pPr algn="l" indent="0" marL="0">
              <a:buNone/>
            </a:pPr>
            <a:r>
              <a:rPr lang="en-US" sz="1800" dirty="0">
                <a:solidFill>
                  <a:srgbClr val="2C2A28"/>
                </a:solidFill>
                <a:latin typeface="Calibri" pitchFamily="34" charset="0"/>
                <a:ea typeface="Calibri" pitchFamily="34" charset="-122"/>
                <a:cs typeface="Calibri" pitchFamily="34" charset="-120"/>
              </a:rPr>
              <a:t>What do existing solutions NOT do well?</a:t>
            </a:r>
            <a:endParaRPr lang="en-US" sz="1800" dirty="0"/>
          </a:p>
          <a:p>
            <a:pPr algn="l" indent="0" marL="0">
              <a:buNone/>
            </a:pPr>
            <a:r>
              <a:rPr lang="en-US" sz="1800" dirty="0">
                <a:solidFill>
                  <a:srgbClr val="2C2A28"/>
                </a:solidFill>
                <a:latin typeface="Calibri" pitchFamily="34" charset="0"/>
                <a:ea typeface="Calibri" pitchFamily="34" charset="-122"/>
                <a:cs typeface="Calibri" pitchFamily="34" charset="-120"/>
              </a:rPr>
              <a:t>What complaints or limitations appear in</a:t>
            </a:r>
            <a:endParaRPr lang="en-US" sz="1800" dirty="0"/>
          </a:p>
          <a:p>
            <a:pPr algn="l" indent="0" marL="0">
              <a:buNone/>
            </a:pPr>
            <a:r>
              <a:rPr lang="en-US" sz="1800" dirty="0">
                <a:solidFill>
                  <a:srgbClr val="2C2A28"/>
                </a:solidFill>
                <a:latin typeface="Calibri" pitchFamily="34" charset="0"/>
                <a:ea typeface="Calibri" pitchFamily="34" charset="-122"/>
                <a:cs typeface="Calibri" pitchFamily="34" charset="-120"/>
              </a:rPr>
              <a:t>reviews, news or research?</a:t>
            </a:r>
            <a:endParaRPr lang="en-US" sz="1800" dirty="0"/>
          </a:p>
        </p:txBody>
      </p:sp>
      <p:sp>
        <p:nvSpPr>
          <p:cNvPr id="21" name="Shape 19"/>
          <p:cNvSpPr/>
          <p:nvPr/>
        </p:nvSpPr>
        <p:spPr>
          <a:xfrm>
            <a:off x="6263640" y="4069080"/>
            <a:ext cx="5577840" cy="1828800"/>
          </a:xfrm>
          <a:prstGeom prst="roundRect">
            <a:avLst>
              <a:gd name="adj" fmla="val 5000"/>
            </a:avLst>
          </a:prstGeom>
          <a:solidFill>
            <a:srgbClr val="FFFFFF"/>
          </a:solidFill>
          <a:ln w="12700">
            <a:solidFill>
              <a:srgbClr val="8C1F28"/>
            </a:solidFill>
            <a:prstDash val="solid"/>
          </a:ln>
        </p:spPr>
      </p:sp>
      <p:sp>
        <p:nvSpPr>
          <p:cNvPr id="22" name="Text 20"/>
          <p:cNvSpPr/>
          <p:nvPr/>
        </p:nvSpPr>
        <p:spPr>
          <a:xfrm>
            <a:off x="6400800" y="4142232"/>
            <a:ext cx="731520" cy="457200"/>
          </a:xfrm>
          <a:prstGeom prst="rect">
            <a:avLst/>
          </a:prstGeom>
          <a:noFill/>
          <a:ln/>
        </p:spPr>
        <p:txBody>
          <a:bodyPr wrap="square" rtlCol="0" anchor="ctr"/>
          <a:lstStyle/>
          <a:p>
            <a:pPr algn="l" indent="0" marL="0">
              <a:buNone/>
            </a:pPr>
            <a:r>
              <a:rPr lang="en-US" sz="2400" b="1" dirty="0">
                <a:solidFill>
                  <a:srgbClr val="8C1F28"/>
                </a:solidFill>
                <a:latin typeface="Courier New" pitchFamily="34" charset="0"/>
                <a:ea typeface="Courier New" pitchFamily="34" charset="-122"/>
                <a:cs typeface="Courier New" pitchFamily="34" charset="-120"/>
              </a:rPr>
              <a:t>04</a:t>
            </a:r>
            <a:endParaRPr lang="en-US" sz="2400" dirty="0"/>
          </a:p>
        </p:txBody>
      </p:sp>
      <p:sp>
        <p:nvSpPr>
          <p:cNvPr id="23" name="Text 21"/>
          <p:cNvSpPr/>
          <p:nvPr/>
        </p:nvSpPr>
        <p:spPr>
          <a:xfrm>
            <a:off x="7132320" y="4142232"/>
            <a:ext cx="4480560" cy="457200"/>
          </a:xfrm>
          <a:prstGeom prst="rect">
            <a:avLst/>
          </a:prstGeom>
          <a:noFill/>
          <a:ln/>
        </p:spPr>
        <p:txBody>
          <a:bodyPr wrap="square" rtlCol="0" anchor="ctr"/>
          <a:lstStyle/>
          <a:p>
            <a:pPr algn="l" indent="0" marL="0">
              <a:buNone/>
            </a:pPr>
            <a:r>
              <a:rPr lang="en-US" sz="2000" b="1" dirty="0">
                <a:solidFill>
                  <a:srgbClr val="12100E"/>
                </a:solidFill>
                <a:latin typeface="Calibri" pitchFamily="34" charset="0"/>
                <a:ea typeface="Calibri" pitchFamily="34" charset="-122"/>
                <a:cs typeface="Calibri" pitchFamily="34" charset="-120"/>
              </a:rPr>
              <a:t>Why does the gap matter?</a:t>
            </a:r>
            <a:endParaRPr lang="en-US" sz="2000" dirty="0"/>
          </a:p>
        </p:txBody>
      </p:sp>
      <p:sp>
        <p:nvSpPr>
          <p:cNvPr id="24" name="Text 22"/>
          <p:cNvSpPr/>
          <p:nvPr/>
        </p:nvSpPr>
        <p:spPr>
          <a:xfrm>
            <a:off x="6400800" y="4636008"/>
            <a:ext cx="5303520" cy="1143000"/>
          </a:xfrm>
          <a:prstGeom prst="rect">
            <a:avLst/>
          </a:prstGeom>
          <a:noFill/>
          <a:ln/>
        </p:spPr>
        <p:txBody>
          <a:bodyPr wrap="square" rtlCol="0" anchor="t"/>
          <a:lstStyle/>
          <a:p>
            <a:pPr algn="l" indent="0" marL="0">
              <a:buNone/>
            </a:pPr>
            <a:r>
              <a:rPr lang="en-US" sz="1800" dirty="0">
                <a:solidFill>
                  <a:srgbClr val="2C2A28"/>
                </a:solidFill>
                <a:latin typeface="Calibri" pitchFamily="34" charset="0"/>
                <a:ea typeface="Calibri" pitchFamily="34" charset="-122"/>
                <a:cs typeface="Calibri" pitchFamily="34" charset="-120"/>
              </a:rPr>
              <a:t>Who is affected by this gap?</a:t>
            </a:r>
            <a:endParaRPr lang="en-US" sz="1800" dirty="0"/>
          </a:p>
          <a:p>
            <a:pPr algn="l" indent="0" marL="0">
              <a:buNone/>
            </a:pPr>
            <a:r>
              <a:rPr lang="en-US" sz="1800" dirty="0">
                <a:solidFill>
                  <a:srgbClr val="2C2A28"/>
                </a:solidFill>
                <a:latin typeface="Calibri" pitchFamily="34" charset="0"/>
                <a:ea typeface="Calibri" pitchFamily="34" charset="-122"/>
                <a:cs typeface="Calibri" pitchFamily="34" charset="-120"/>
              </a:rPr>
              <a:t>How significant is the impact?</a:t>
            </a:r>
            <a:endParaRPr lang="en-US" sz="1800" dirty="0"/>
          </a:p>
        </p:txBody>
      </p:sp>
      <p:sp>
        <p:nvSpPr>
          <p:cNvPr id="25" name="Text 23"/>
          <p:cNvSpPr/>
          <p:nvPr/>
        </p:nvSpPr>
        <p:spPr>
          <a:xfrm>
            <a:off x="365760" y="6199632"/>
            <a:ext cx="11430000" cy="320040"/>
          </a:xfrm>
          <a:prstGeom prst="rect">
            <a:avLst/>
          </a:prstGeom>
          <a:noFill/>
          <a:ln/>
        </p:spPr>
        <p:txBody>
          <a:bodyPr wrap="square" rtlCol="0" anchor="ctr"/>
          <a:lstStyle/>
          <a:p>
            <a:pPr algn="l" indent="0" marL="0">
              <a:buNone/>
            </a:pPr>
            <a:r>
              <a:rPr lang="en-US" sz="1400" b="1" dirty="0">
                <a:solidFill>
                  <a:srgbClr val="B8620A"/>
                </a:solidFill>
                <a:latin typeface="Courier New" pitchFamily="34" charset="0"/>
                <a:ea typeface="Courier New" pitchFamily="34" charset="-122"/>
                <a:cs typeface="Courier New" pitchFamily="34" charset="-120"/>
              </a:rPr>
              <a:t>📋 COPY THESE 4 QUESTIONS INTO YOUR PAPER WORKBOOK</a:t>
            </a:r>
            <a:endParaRPr lang="en-US" sz="1400" dirty="0"/>
          </a:p>
        </p:txBody>
      </p:sp>
      <p:sp>
        <p:nvSpPr>
          <p:cNvPr id="26" name="Text 24"/>
          <p:cNvSpPr/>
          <p:nvPr/>
        </p:nvSpPr>
        <p:spPr>
          <a:xfrm>
            <a:off x="274320" y="6492240"/>
            <a:ext cx="11612880" cy="274320"/>
          </a:xfrm>
          <a:prstGeom prst="rect">
            <a:avLst/>
          </a:prstGeom>
          <a:noFill/>
          <a:ln/>
        </p:spPr>
        <p:txBody>
          <a:bodyPr wrap="square" rtlCol="0" anchor="ctr"/>
          <a:lstStyle/>
          <a:p>
            <a:pPr algn="l" indent="0" marL="0">
              <a:buNone/>
            </a:pPr>
            <a:r>
              <a:rPr lang="en-US" sz="1000" dirty="0">
                <a:solidFill>
                  <a:srgbClr val="6B6762"/>
                </a:solidFill>
                <a:latin typeface="Courier New" pitchFamily="34" charset="0"/>
                <a:ea typeface="Courier New" pitchFamily="34" charset="-122"/>
                <a:cs typeface="Courier New" pitchFamily="34" charset="-120"/>
              </a:rPr>
              <a:t>y11-ac-u2-l3-investigating-problem-space  ·  Mr Smith  ·  Year 11 Applied Computing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100E"/>
          </a:solidFill>
          <a:ln w="12700">
            <a:solidFill>
              <a:srgbClr val="12100E"/>
            </a:solidFill>
            <a:prstDash val="solid"/>
          </a:ln>
        </p:spPr>
      </p:sp>
      <p:sp>
        <p:nvSpPr>
          <p:cNvPr id="3" name="Shape 1"/>
          <p:cNvSpPr/>
          <p:nvPr/>
        </p:nvSpPr>
        <p:spPr>
          <a:xfrm>
            <a:off x="274320" y="109728"/>
            <a:ext cx="1828800" cy="384048"/>
          </a:xfrm>
          <a:prstGeom prst="roundRect">
            <a:avLst>
              <a:gd name="adj" fmla="val 19048"/>
            </a:avLst>
          </a:prstGeom>
          <a:solidFill>
            <a:srgbClr val="1B5E47"/>
          </a:solidFill>
          <a:ln w="12700">
            <a:solidFill>
              <a:srgbClr val="1B5E47"/>
            </a:solidFill>
            <a:prstDash val="solid"/>
          </a:ln>
        </p:spPr>
      </p:sp>
      <p:sp>
        <p:nvSpPr>
          <p:cNvPr id="4" name="Text 2"/>
          <p:cNvSpPr/>
          <p:nvPr/>
        </p:nvSpPr>
        <p:spPr>
          <a:xfrm>
            <a:off x="274320" y="109728"/>
            <a:ext cx="1828800"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EXPLICIT</a:t>
            </a:r>
            <a:endParaRPr lang="en-US" sz="1200" dirty="0"/>
          </a:p>
        </p:txBody>
      </p:sp>
      <p:sp>
        <p:nvSpPr>
          <p:cNvPr id="5" name="Shape 3"/>
          <p:cNvSpPr/>
          <p:nvPr/>
        </p:nvSpPr>
        <p:spPr>
          <a:xfrm>
            <a:off x="9875520" y="137160"/>
            <a:ext cx="2011680" cy="411480"/>
          </a:xfrm>
          <a:prstGeom prst="roundRect">
            <a:avLst>
              <a:gd name="adj" fmla="val 22222"/>
            </a:avLst>
          </a:prstGeom>
          <a:solidFill>
            <a:srgbClr val="5C1419"/>
          </a:solidFill>
          <a:ln w="12700">
            <a:solidFill>
              <a:srgbClr val="5C1419"/>
            </a:solidFill>
            <a:prstDash val="solid"/>
          </a:ln>
        </p:spPr>
      </p:sp>
      <p:sp>
        <p:nvSpPr>
          <p:cNvPr id="6" name="Text 4"/>
          <p:cNvSpPr/>
          <p:nvPr/>
        </p:nvSpPr>
        <p:spPr>
          <a:xfrm>
            <a:off x="9875520" y="137160"/>
            <a:ext cx="20116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DEVICES OFF</a:t>
            </a:r>
            <a:endParaRPr lang="en-US" sz="1100" dirty="0"/>
          </a:p>
        </p:txBody>
      </p:sp>
      <p:sp>
        <p:nvSpPr>
          <p:cNvPr id="7" name="Text 5"/>
          <p:cNvSpPr/>
          <p:nvPr/>
        </p:nvSpPr>
        <p:spPr>
          <a:xfrm>
            <a:off x="457200" y="640080"/>
            <a:ext cx="11247120" cy="594360"/>
          </a:xfrm>
          <a:prstGeom prst="rect">
            <a:avLst/>
          </a:prstGeom>
          <a:noFill/>
          <a:ln/>
        </p:spPr>
        <p:txBody>
          <a:bodyPr wrap="square" rtlCol="0" anchor="ctr"/>
          <a:lstStyle/>
          <a:p>
            <a:pPr algn="l" indent="0" marL="0">
              <a:buNone/>
            </a:pPr>
            <a:r>
              <a:rPr lang="en-US" sz="3600" b="1" dirty="0">
                <a:solidFill>
                  <a:srgbClr val="FFFFFF"/>
                </a:solidFill>
                <a:latin typeface="Bookman Old Style" pitchFamily="34" charset="0"/>
                <a:ea typeface="Bookman Old Style" pitchFamily="34" charset="-122"/>
                <a:cs typeface="Bookman Old Style" pitchFamily="34" charset="-120"/>
              </a:rPr>
              <a:t>Who Has This Problem?</a:t>
            </a:r>
            <a:endParaRPr lang="en-US" sz="3600" dirty="0"/>
          </a:p>
        </p:txBody>
      </p:sp>
      <p:sp>
        <p:nvSpPr>
          <p:cNvPr id="8" name="Text 6"/>
          <p:cNvSpPr/>
          <p:nvPr/>
        </p:nvSpPr>
        <p:spPr>
          <a:xfrm>
            <a:off x="457200" y="1325880"/>
            <a:ext cx="11247120" cy="457200"/>
          </a:xfrm>
          <a:prstGeom prst="rect">
            <a:avLst/>
          </a:prstGeom>
          <a:noFill/>
          <a:ln/>
        </p:spPr>
        <p:txBody>
          <a:bodyPr wrap="square" rtlCol="0" anchor="ctr"/>
          <a:lstStyle/>
          <a:p>
            <a:pPr algn="l" indent="0" marL="0">
              <a:buNone/>
            </a:pPr>
            <a:r>
              <a:rPr lang="en-US" sz="2000" i="1" dirty="0">
                <a:solidFill>
                  <a:srgbClr val="6B6762"/>
                </a:solidFill>
                <a:latin typeface="Calibri" pitchFamily="34" charset="0"/>
                <a:ea typeface="Calibri" pitchFamily="34" charset="-122"/>
                <a:cs typeface="Calibri" pitchFamily="34" charset="-120"/>
              </a:rPr>
              <a:t>Identifying your users is one of the most important steps in investigation.</a:t>
            </a:r>
            <a:endParaRPr lang="en-US" sz="2000" dirty="0"/>
          </a:p>
        </p:txBody>
      </p:sp>
      <p:sp>
        <p:nvSpPr>
          <p:cNvPr id="9" name="Shape 7"/>
          <p:cNvSpPr/>
          <p:nvPr/>
        </p:nvSpPr>
        <p:spPr>
          <a:xfrm>
            <a:off x="457200" y="1920240"/>
            <a:ext cx="7498080" cy="4434840"/>
          </a:xfrm>
          <a:prstGeom prst="roundRect">
            <a:avLst>
              <a:gd name="adj" fmla="val 2474"/>
            </a:avLst>
          </a:prstGeom>
          <a:solidFill>
            <a:srgbClr val="2C2A28"/>
          </a:solidFill>
          <a:ln w="12700">
            <a:solidFill>
              <a:srgbClr val="2B3A8C"/>
            </a:solidFill>
            <a:prstDash val="solid"/>
          </a:ln>
        </p:spPr>
      </p:sp>
      <p:sp>
        <p:nvSpPr>
          <p:cNvPr id="10" name="Text 8"/>
          <p:cNvSpPr/>
          <p:nvPr/>
        </p:nvSpPr>
        <p:spPr>
          <a:xfrm>
            <a:off x="640080" y="1965960"/>
            <a:ext cx="7132320" cy="411480"/>
          </a:xfrm>
          <a:prstGeom prst="rect">
            <a:avLst/>
          </a:prstGeom>
          <a:noFill/>
          <a:ln/>
        </p:spPr>
        <p:txBody>
          <a:bodyPr wrap="square" rtlCol="0" anchor="ctr"/>
          <a:lstStyle/>
          <a:p>
            <a:pPr algn="l" indent="0" marL="0">
              <a:buNone/>
            </a:pPr>
            <a:r>
              <a:rPr lang="en-US" sz="1400" dirty="0">
                <a:solidFill>
                  <a:srgbClr val="2B3A8C"/>
                </a:solidFill>
                <a:latin typeface="Courier New" pitchFamily="34" charset="0"/>
                <a:ea typeface="Courier New" pitchFamily="34" charset="-122"/>
                <a:cs typeface="Courier New" pitchFamily="34" charset="-120"/>
              </a:rPr>
              <a:t>USER PROFILE (a simplified version)</a:t>
            </a:r>
            <a:endParaRPr lang="en-US" sz="1400" dirty="0"/>
          </a:p>
        </p:txBody>
      </p:sp>
      <p:sp>
        <p:nvSpPr>
          <p:cNvPr id="11" name="Text 9"/>
          <p:cNvSpPr/>
          <p:nvPr/>
        </p:nvSpPr>
        <p:spPr>
          <a:xfrm>
            <a:off x="640080" y="2468880"/>
            <a:ext cx="7132320" cy="347472"/>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Who are they?</a:t>
            </a:r>
            <a:endParaRPr lang="en-US" sz="1800" dirty="0"/>
          </a:p>
        </p:txBody>
      </p:sp>
      <p:sp>
        <p:nvSpPr>
          <p:cNvPr id="12" name="Text 10"/>
          <p:cNvSpPr/>
          <p:nvPr/>
        </p:nvSpPr>
        <p:spPr>
          <a:xfrm>
            <a:off x="640080" y="2816352"/>
            <a:ext cx="7132320" cy="457200"/>
          </a:xfrm>
          <a:prstGeom prst="rect">
            <a:avLst/>
          </a:prstGeom>
          <a:noFill/>
          <a:ln/>
        </p:spPr>
        <p:txBody>
          <a:bodyPr wrap="square" rtlCol="0" anchor="ctr"/>
          <a:lstStyle/>
          <a:p>
            <a:pPr algn="l" indent="0" marL="0">
              <a:buNone/>
            </a:pPr>
            <a:r>
              <a:rPr lang="en-US" sz="1600" i="1" dirty="0">
                <a:solidFill>
                  <a:srgbClr val="6B6762"/>
                </a:solidFill>
                <a:latin typeface="Calibri" pitchFamily="34" charset="0"/>
                <a:ea typeface="Calibri" pitchFamily="34" charset="-122"/>
                <a:cs typeface="Calibri" pitchFamily="34" charset="-120"/>
              </a:rPr>
              <a:t>Age group, role, context — describe in 1-2 sentences</a:t>
            </a:r>
            <a:endParaRPr lang="en-US" sz="1600" dirty="0"/>
          </a:p>
        </p:txBody>
      </p:sp>
      <p:sp>
        <p:nvSpPr>
          <p:cNvPr id="13" name="Text 11"/>
          <p:cNvSpPr/>
          <p:nvPr/>
        </p:nvSpPr>
        <p:spPr>
          <a:xfrm>
            <a:off x="640080" y="3401568"/>
            <a:ext cx="7132320" cy="347472"/>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problem do they face?</a:t>
            </a:r>
            <a:endParaRPr lang="en-US" sz="1800" dirty="0"/>
          </a:p>
        </p:txBody>
      </p:sp>
      <p:sp>
        <p:nvSpPr>
          <p:cNvPr id="14" name="Text 12"/>
          <p:cNvSpPr/>
          <p:nvPr/>
        </p:nvSpPr>
        <p:spPr>
          <a:xfrm>
            <a:off x="640080" y="3749040"/>
            <a:ext cx="7132320" cy="457200"/>
          </a:xfrm>
          <a:prstGeom prst="rect">
            <a:avLst/>
          </a:prstGeom>
          <a:noFill/>
          <a:ln/>
        </p:spPr>
        <p:txBody>
          <a:bodyPr wrap="square" rtlCol="0" anchor="ctr"/>
          <a:lstStyle/>
          <a:p>
            <a:pPr algn="l" indent="0" marL="0">
              <a:buNone/>
            </a:pPr>
            <a:r>
              <a:rPr lang="en-US" sz="1600" i="1" dirty="0">
                <a:solidFill>
                  <a:srgbClr val="6B6762"/>
                </a:solidFill>
                <a:latin typeface="Calibri" pitchFamily="34" charset="0"/>
                <a:ea typeface="Calibri" pitchFamily="34" charset="-122"/>
                <a:cs typeface="Calibri" pitchFamily="34" charset="-120"/>
              </a:rPr>
              <a:t>Describe the specific difficulty or frustration</a:t>
            </a:r>
            <a:endParaRPr lang="en-US" sz="1600" dirty="0"/>
          </a:p>
        </p:txBody>
      </p:sp>
      <p:sp>
        <p:nvSpPr>
          <p:cNvPr id="15" name="Text 13"/>
          <p:cNvSpPr/>
          <p:nvPr/>
        </p:nvSpPr>
        <p:spPr>
          <a:xfrm>
            <a:off x="640080" y="4334256"/>
            <a:ext cx="7132320" cy="347472"/>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do they currently do?</a:t>
            </a:r>
            <a:endParaRPr lang="en-US" sz="1800" dirty="0"/>
          </a:p>
        </p:txBody>
      </p:sp>
      <p:sp>
        <p:nvSpPr>
          <p:cNvPr id="16" name="Text 14"/>
          <p:cNvSpPr/>
          <p:nvPr/>
        </p:nvSpPr>
        <p:spPr>
          <a:xfrm>
            <a:off x="640080" y="4681728"/>
            <a:ext cx="7132320" cy="457200"/>
          </a:xfrm>
          <a:prstGeom prst="rect">
            <a:avLst/>
          </a:prstGeom>
          <a:noFill/>
          <a:ln/>
        </p:spPr>
        <p:txBody>
          <a:bodyPr wrap="square" rtlCol="0" anchor="ctr"/>
          <a:lstStyle/>
          <a:p>
            <a:pPr algn="l" indent="0" marL="0">
              <a:buNone/>
            </a:pPr>
            <a:r>
              <a:rPr lang="en-US" sz="1600" i="1" dirty="0">
                <a:solidFill>
                  <a:srgbClr val="6B6762"/>
                </a:solidFill>
                <a:latin typeface="Calibri" pitchFamily="34" charset="0"/>
                <a:ea typeface="Calibri" pitchFamily="34" charset="-122"/>
                <a:cs typeface="Calibri" pitchFamily="34" charset="-120"/>
              </a:rPr>
              <a:t>How do they handle it now? What tools/workarounds?</a:t>
            </a:r>
            <a:endParaRPr lang="en-US" sz="1600" dirty="0"/>
          </a:p>
        </p:txBody>
      </p:sp>
      <p:sp>
        <p:nvSpPr>
          <p:cNvPr id="17" name="Text 15"/>
          <p:cNvSpPr/>
          <p:nvPr/>
        </p:nvSpPr>
        <p:spPr>
          <a:xfrm>
            <a:off x="640080" y="5266944"/>
            <a:ext cx="7132320" cy="347472"/>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would make their life better?</a:t>
            </a:r>
            <a:endParaRPr lang="en-US" sz="1800" dirty="0"/>
          </a:p>
        </p:txBody>
      </p:sp>
      <p:sp>
        <p:nvSpPr>
          <p:cNvPr id="18" name="Text 16"/>
          <p:cNvSpPr/>
          <p:nvPr/>
        </p:nvSpPr>
        <p:spPr>
          <a:xfrm>
            <a:off x="640080" y="5614416"/>
            <a:ext cx="7132320" cy="457200"/>
          </a:xfrm>
          <a:prstGeom prst="rect">
            <a:avLst/>
          </a:prstGeom>
          <a:noFill/>
          <a:ln/>
        </p:spPr>
        <p:txBody>
          <a:bodyPr wrap="square" rtlCol="0" anchor="ctr"/>
          <a:lstStyle/>
          <a:p>
            <a:pPr algn="l" indent="0" marL="0">
              <a:buNone/>
            </a:pPr>
            <a:r>
              <a:rPr lang="en-US" sz="1600" i="1" dirty="0">
                <a:solidFill>
                  <a:srgbClr val="6B6762"/>
                </a:solidFill>
                <a:latin typeface="Calibri" pitchFamily="34" charset="0"/>
                <a:ea typeface="Calibri" pitchFamily="34" charset="-122"/>
                <a:cs typeface="Calibri" pitchFamily="34" charset="-120"/>
              </a:rPr>
              <a:t>What outcome would solve the problem for them?</a:t>
            </a:r>
            <a:endParaRPr lang="en-US" sz="1600" dirty="0"/>
          </a:p>
        </p:txBody>
      </p:sp>
      <p:sp>
        <p:nvSpPr>
          <p:cNvPr id="19" name="Shape 17"/>
          <p:cNvSpPr/>
          <p:nvPr/>
        </p:nvSpPr>
        <p:spPr>
          <a:xfrm>
            <a:off x="8229600" y="1920240"/>
            <a:ext cx="3566160" cy="4434840"/>
          </a:xfrm>
          <a:prstGeom prst="roundRect">
            <a:avLst>
              <a:gd name="adj" fmla="val 3077"/>
            </a:avLst>
          </a:prstGeom>
          <a:solidFill>
            <a:srgbClr val="2C2A28"/>
          </a:solidFill>
          <a:ln w="12700">
            <a:solidFill>
              <a:srgbClr val="B8620A"/>
            </a:solidFill>
            <a:prstDash val="solid"/>
          </a:ln>
        </p:spPr>
      </p:sp>
      <p:sp>
        <p:nvSpPr>
          <p:cNvPr id="20" name="Text 18"/>
          <p:cNvSpPr/>
          <p:nvPr/>
        </p:nvSpPr>
        <p:spPr>
          <a:xfrm>
            <a:off x="8412480" y="2011680"/>
            <a:ext cx="3200400" cy="411480"/>
          </a:xfrm>
          <a:prstGeom prst="rect">
            <a:avLst/>
          </a:prstGeom>
          <a:noFill/>
          <a:ln/>
        </p:spPr>
        <p:txBody>
          <a:bodyPr wrap="square" rtlCol="0" anchor="ctr"/>
          <a:lstStyle/>
          <a:p>
            <a:pPr algn="l" indent="0" marL="0">
              <a:buNone/>
            </a:pPr>
            <a:r>
              <a:rPr lang="en-US" sz="1600" b="1" dirty="0">
                <a:solidFill>
                  <a:srgbClr val="B8620A"/>
                </a:solidFill>
                <a:latin typeface="Calibri" pitchFamily="34" charset="0"/>
                <a:ea typeface="Calibri" pitchFamily="34" charset="-122"/>
                <a:cs typeface="Calibri" pitchFamily="34" charset="-120"/>
              </a:rPr>
              <a:t>⚠️ IMPORTANT</a:t>
            </a:r>
            <a:endParaRPr lang="en-US" sz="1600" dirty="0"/>
          </a:p>
        </p:txBody>
      </p:sp>
      <p:sp>
        <p:nvSpPr>
          <p:cNvPr id="21" name="Text 19"/>
          <p:cNvSpPr/>
          <p:nvPr/>
        </p:nvSpPr>
        <p:spPr>
          <a:xfrm>
            <a:off x="8412480" y="2514600"/>
            <a:ext cx="3200400" cy="3657600"/>
          </a:xfrm>
          <a:prstGeom prst="rect">
            <a:avLst/>
          </a:prstGeom>
          <a:noFill/>
          <a:ln/>
        </p:spPr>
        <p:txBody>
          <a:bodyPr wrap="square" rtlCol="0" anchor="t"/>
          <a:lstStyle/>
          <a:p>
            <a:pPr algn="l" indent="0" marL="0">
              <a:buNone/>
            </a:pPr>
            <a:r>
              <a:rPr lang="en-US" sz="1800" dirty="0">
                <a:solidFill>
                  <a:srgbClr val="EDE8DF"/>
                </a:solidFill>
                <a:latin typeface="Calibri" pitchFamily="34" charset="0"/>
                <a:ea typeface="Calibri" pitchFamily="34" charset="-122"/>
                <a:cs typeface="Calibri" pitchFamily="34" charset="-120"/>
              </a:rPr>
              <a:t>Your user group does not have to be every possible person.</a:t>
            </a:r>
            <a:endParaRPr lang="en-US" sz="1800" dirty="0"/>
          </a:p>
          <a:p>
            <a:pPr algn="l" indent="0" marL="0">
              <a:buNone/>
            </a:pPr>
            <a:endParaRPr lang="en-US" sz="1800" dirty="0"/>
          </a:p>
          <a:p>
            <a:pPr algn="l" indent="0" marL="0">
              <a:buNone/>
            </a:pPr>
            <a:r>
              <a:rPr lang="en-US" sz="1800" dirty="0">
                <a:solidFill>
                  <a:srgbClr val="EDE8DF"/>
                </a:solidFill>
                <a:latin typeface="Calibri" pitchFamily="34" charset="0"/>
                <a:ea typeface="Calibri" pitchFamily="34" charset="-122"/>
                <a:cs typeface="Calibri" pitchFamily="34" charset="-120"/>
              </a:rPr>
              <a:t>A focused, specific user group makes your investigation — and eventually your design — much stronger.</a:t>
            </a:r>
            <a:endParaRPr lang="en-US" sz="1800" dirty="0"/>
          </a:p>
          <a:p>
            <a:pPr algn="l" indent="0" marL="0">
              <a:buNone/>
            </a:pPr>
            <a:endParaRPr lang="en-US" sz="1800" dirty="0"/>
          </a:p>
          <a:p>
            <a:pPr algn="l" indent="0" marL="0">
              <a:buNone/>
            </a:pPr>
            <a:r>
              <a:rPr lang="en-US" sz="1800" dirty="0">
                <a:solidFill>
                  <a:srgbClr val="EDE8DF"/>
                </a:solidFill>
                <a:latin typeface="Calibri" pitchFamily="34" charset="0"/>
                <a:ea typeface="Calibri" pitchFamily="34" charset="-122"/>
                <a:cs typeface="Calibri" pitchFamily="34" charset="-120"/>
              </a:rPr>
              <a:t>e.g. "students aged 13-18 who have a visual impairment" is better than "anyone who uses the internet"</a:t>
            </a:r>
            <a:endParaRPr lang="en-US" sz="1800" dirty="0"/>
          </a:p>
        </p:txBody>
      </p:sp>
      <p:sp>
        <p:nvSpPr>
          <p:cNvPr id="22" name="Text 20"/>
          <p:cNvSpPr/>
          <p:nvPr/>
        </p:nvSpPr>
        <p:spPr>
          <a:xfrm>
            <a:off x="365760" y="6199632"/>
            <a:ext cx="11430000" cy="320040"/>
          </a:xfrm>
          <a:prstGeom prst="rect">
            <a:avLst/>
          </a:prstGeom>
          <a:noFill/>
          <a:ln/>
        </p:spPr>
        <p:txBody>
          <a:bodyPr wrap="square" rtlCol="0" anchor="ctr"/>
          <a:lstStyle/>
          <a:p>
            <a:pPr algn="l" indent="0" marL="0">
              <a:buNone/>
            </a:pPr>
            <a:r>
              <a:rPr lang="en-US" sz="1200" b="1" dirty="0">
                <a:solidFill>
                  <a:srgbClr val="B8620A"/>
                </a:solidFill>
                <a:latin typeface="Courier New" pitchFamily="34" charset="0"/>
                <a:ea typeface="Courier New" pitchFamily="34" charset="-122"/>
                <a:cs typeface="Courier New" pitchFamily="34" charset="-120"/>
              </a:rPr>
              <a:t>📋 COPY THE USER PROFILE HEADINGS INTO YOUR PAPER WORKBOOK</a:t>
            </a:r>
            <a:endParaRPr lang="en-US" sz="1200" dirty="0"/>
          </a:p>
        </p:txBody>
      </p:sp>
      <p:sp>
        <p:nvSpPr>
          <p:cNvPr id="23" name="Text 21"/>
          <p:cNvSpPr/>
          <p:nvPr/>
        </p:nvSpPr>
        <p:spPr>
          <a:xfrm>
            <a:off x="274320" y="6492240"/>
            <a:ext cx="11612880" cy="274320"/>
          </a:xfrm>
          <a:prstGeom prst="rect">
            <a:avLst/>
          </a:prstGeom>
          <a:noFill/>
          <a:ln/>
        </p:spPr>
        <p:txBody>
          <a:bodyPr wrap="square" rtlCol="0" anchor="ctr"/>
          <a:lstStyle/>
          <a:p>
            <a:pPr algn="l" indent="0" marL="0">
              <a:buNone/>
            </a:pPr>
            <a:r>
              <a:rPr lang="en-US" sz="1000" dirty="0">
                <a:solidFill>
                  <a:srgbClr val="6B6762"/>
                </a:solidFill>
                <a:latin typeface="Courier New" pitchFamily="34" charset="0"/>
                <a:ea typeface="Courier New" pitchFamily="34" charset="-122"/>
                <a:cs typeface="Courier New" pitchFamily="34" charset="-120"/>
              </a:rPr>
              <a:t>y11-ac-u2-l3-investigating-problem-space  ·  Mr Smith  ·  Year 11 Applied Computing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3EC"/>
          </a:solidFill>
          <a:ln w="12700">
            <a:solidFill>
              <a:srgbClr val="F7F3EC"/>
            </a:solidFill>
            <a:prstDash val="solid"/>
          </a:ln>
        </p:spPr>
      </p:sp>
      <p:sp>
        <p:nvSpPr>
          <p:cNvPr id="3" name="Shape 1"/>
          <p:cNvSpPr/>
          <p:nvPr/>
        </p:nvSpPr>
        <p:spPr>
          <a:xfrm>
            <a:off x="274320" y="109728"/>
            <a:ext cx="1828800" cy="384048"/>
          </a:xfrm>
          <a:prstGeom prst="roundRect">
            <a:avLst>
              <a:gd name="adj" fmla="val 19048"/>
            </a:avLst>
          </a:prstGeom>
          <a:solidFill>
            <a:srgbClr val="1B5E47"/>
          </a:solidFill>
          <a:ln w="12700">
            <a:solidFill>
              <a:srgbClr val="1B5E47"/>
            </a:solidFill>
            <a:prstDash val="solid"/>
          </a:ln>
        </p:spPr>
      </p:sp>
      <p:sp>
        <p:nvSpPr>
          <p:cNvPr id="4" name="Text 2"/>
          <p:cNvSpPr/>
          <p:nvPr/>
        </p:nvSpPr>
        <p:spPr>
          <a:xfrm>
            <a:off x="274320" y="109728"/>
            <a:ext cx="1828800"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EXPLICIT</a:t>
            </a:r>
            <a:endParaRPr lang="en-US" sz="1200" dirty="0"/>
          </a:p>
        </p:txBody>
      </p:sp>
      <p:sp>
        <p:nvSpPr>
          <p:cNvPr id="5" name="Shape 3"/>
          <p:cNvSpPr/>
          <p:nvPr/>
        </p:nvSpPr>
        <p:spPr>
          <a:xfrm>
            <a:off x="9875520" y="137160"/>
            <a:ext cx="2011680" cy="411480"/>
          </a:xfrm>
          <a:prstGeom prst="roundRect">
            <a:avLst>
              <a:gd name="adj" fmla="val 22222"/>
            </a:avLst>
          </a:prstGeom>
          <a:solidFill>
            <a:srgbClr val="5C1419"/>
          </a:solidFill>
          <a:ln w="12700">
            <a:solidFill>
              <a:srgbClr val="5C1419"/>
            </a:solidFill>
            <a:prstDash val="solid"/>
          </a:ln>
        </p:spPr>
      </p:sp>
      <p:sp>
        <p:nvSpPr>
          <p:cNvPr id="6" name="Text 4"/>
          <p:cNvSpPr/>
          <p:nvPr/>
        </p:nvSpPr>
        <p:spPr>
          <a:xfrm>
            <a:off x="9875520" y="137160"/>
            <a:ext cx="20116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DEVICES OFF</a:t>
            </a:r>
            <a:endParaRPr lang="en-US" sz="1100" dirty="0"/>
          </a:p>
        </p:txBody>
      </p:sp>
      <p:sp>
        <p:nvSpPr>
          <p:cNvPr id="7" name="Text 5"/>
          <p:cNvSpPr/>
          <p:nvPr/>
        </p:nvSpPr>
        <p:spPr>
          <a:xfrm>
            <a:off x="365760" y="640080"/>
            <a:ext cx="11430000" cy="594360"/>
          </a:xfrm>
          <a:prstGeom prst="rect">
            <a:avLst/>
          </a:prstGeom>
          <a:noFill/>
          <a:ln/>
        </p:spPr>
        <p:txBody>
          <a:bodyPr wrap="square" rtlCol="0" anchor="ctr"/>
          <a:lstStyle/>
          <a:p>
            <a:pPr algn="l" indent="0" marL="0">
              <a:buNone/>
            </a:pPr>
            <a:r>
              <a:rPr lang="en-US" sz="3600" b="1" dirty="0">
                <a:solidFill>
                  <a:srgbClr val="12100E"/>
                </a:solidFill>
                <a:latin typeface="Bookman Old Style" pitchFamily="34" charset="0"/>
                <a:ea typeface="Bookman Old Style" pitchFamily="34" charset="-122"/>
                <a:cs typeface="Bookman Old Style" pitchFamily="34" charset="-120"/>
              </a:rPr>
              <a:t>Writing a Problem Statement</a:t>
            </a:r>
            <a:endParaRPr lang="en-US" sz="3600" dirty="0"/>
          </a:p>
        </p:txBody>
      </p:sp>
      <p:sp>
        <p:nvSpPr>
          <p:cNvPr id="8" name="Shape 6"/>
          <p:cNvSpPr/>
          <p:nvPr/>
        </p:nvSpPr>
        <p:spPr>
          <a:xfrm>
            <a:off x="365760" y="1417320"/>
            <a:ext cx="11430000" cy="1234440"/>
          </a:xfrm>
          <a:prstGeom prst="roundRect">
            <a:avLst>
              <a:gd name="adj" fmla="val 8889"/>
            </a:avLst>
          </a:prstGeom>
          <a:solidFill>
            <a:srgbClr val="1B5E47"/>
          </a:solidFill>
          <a:ln w="12700">
            <a:solidFill>
              <a:srgbClr val="1B5E47"/>
            </a:solidFill>
            <a:prstDash val="solid"/>
          </a:ln>
        </p:spPr>
      </p:sp>
      <p:sp>
        <p:nvSpPr>
          <p:cNvPr id="9" name="Text 7"/>
          <p:cNvSpPr/>
          <p:nvPr/>
        </p:nvSpPr>
        <p:spPr>
          <a:xfrm>
            <a:off x="548640" y="1463040"/>
            <a:ext cx="1828800" cy="365760"/>
          </a:xfrm>
          <a:prstGeom prst="rect">
            <a:avLst/>
          </a:prstGeom>
          <a:noFill/>
          <a:ln/>
        </p:spPr>
        <p:txBody>
          <a:bodyPr wrap="square" rtlCol="0" anchor="ctr"/>
          <a:lstStyle/>
          <a:p>
            <a:pPr algn="l" indent="0" marL="0">
              <a:buNone/>
            </a:pPr>
            <a:r>
              <a:rPr lang="en-US" sz="1300" dirty="0">
                <a:solidFill>
                  <a:srgbClr val="EDE8DF"/>
                </a:solidFill>
                <a:latin typeface="Courier New" pitchFamily="34" charset="0"/>
                <a:ea typeface="Courier New" pitchFamily="34" charset="-122"/>
                <a:cs typeface="Courier New" pitchFamily="34" charset="-120"/>
              </a:rPr>
              <a:t>FORMULA</a:t>
            </a:r>
            <a:endParaRPr lang="en-US" sz="1300" dirty="0"/>
          </a:p>
        </p:txBody>
      </p:sp>
      <p:sp>
        <p:nvSpPr>
          <p:cNvPr id="10" name="Text 8"/>
          <p:cNvSpPr/>
          <p:nvPr/>
        </p:nvSpPr>
        <p:spPr>
          <a:xfrm>
            <a:off x="548640" y="1810512"/>
            <a:ext cx="11064240" cy="749808"/>
          </a:xfrm>
          <a:prstGeom prst="rect">
            <a:avLst/>
          </a:prstGeom>
          <a:noFill/>
          <a:ln/>
        </p:spPr>
        <p:txBody>
          <a:bodyPr wrap="square" rtlCol="0" anchor="ctr"/>
          <a:lstStyle/>
          <a:p>
            <a:pPr algn="l" indent="0" marL="0">
              <a:buNone/>
            </a:pPr>
            <a:r>
              <a:rPr lang="en-US" sz="2200" b="1" dirty="0">
                <a:solidFill>
                  <a:srgbClr val="FFFFFF"/>
                </a:solidFill>
                <a:latin typeface="Courier New" pitchFamily="34" charset="0"/>
                <a:ea typeface="Courier New" pitchFamily="34" charset="-122"/>
                <a:cs typeface="Courier New" pitchFamily="34" charset="-120"/>
              </a:rPr>
              <a:t>[USER GROUP] need a way to [ACCOMPLISH GOAL] because [INSIGHT ABOUT THE PROBLEM]</a:t>
            </a:r>
            <a:endParaRPr lang="en-US" sz="2200" dirty="0"/>
          </a:p>
        </p:txBody>
      </p:sp>
      <p:sp>
        <p:nvSpPr>
          <p:cNvPr id="11" name="Text 9"/>
          <p:cNvSpPr/>
          <p:nvPr/>
        </p:nvSpPr>
        <p:spPr>
          <a:xfrm>
            <a:off x="365760" y="2834640"/>
            <a:ext cx="3657600" cy="365760"/>
          </a:xfrm>
          <a:prstGeom prst="rect">
            <a:avLst/>
          </a:prstGeom>
          <a:noFill/>
          <a:ln/>
        </p:spPr>
        <p:txBody>
          <a:bodyPr wrap="square" rtlCol="0" anchor="ctr"/>
          <a:lstStyle/>
          <a:p>
            <a:pPr algn="l" indent="0" marL="0">
              <a:buNone/>
            </a:pPr>
            <a:r>
              <a:rPr lang="en-US" sz="1800" b="1" dirty="0">
                <a:solidFill>
                  <a:srgbClr val="12100E"/>
                </a:solidFill>
                <a:latin typeface="Calibri" pitchFamily="34" charset="0"/>
                <a:ea typeface="Calibri" pitchFamily="34" charset="-122"/>
                <a:cs typeface="Calibri" pitchFamily="34" charset="-120"/>
              </a:rPr>
              <a:t>Examples:</a:t>
            </a:r>
            <a:endParaRPr lang="en-US" sz="1800" dirty="0"/>
          </a:p>
        </p:txBody>
      </p:sp>
      <p:sp>
        <p:nvSpPr>
          <p:cNvPr id="12" name="Shape 10"/>
          <p:cNvSpPr/>
          <p:nvPr/>
        </p:nvSpPr>
        <p:spPr>
          <a:xfrm>
            <a:off x="365760" y="3291840"/>
            <a:ext cx="11430000" cy="1417320"/>
          </a:xfrm>
          <a:prstGeom prst="roundRect">
            <a:avLst>
              <a:gd name="adj" fmla="val 6452"/>
            </a:avLst>
          </a:prstGeom>
          <a:solidFill>
            <a:srgbClr val="FFFFFF"/>
          </a:solidFill>
          <a:ln w="12700">
            <a:solidFill>
              <a:srgbClr val="1B5E47"/>
            </a:solidFill>
            <a:prstDash val="solid"/>
          </a:ln>
        </p:spPr>
      </p:sp>
      <p:sp>
        <p:nvSpPr>
          <p:cNvPr id="13" name="Text 11"/>
          <p:cNvSpPr/>
          <p:nvPr/>
        </p:nvSpPr>
        <p:spPr>
          <a:xfrm>
            <a:off x="548640" y="3383280"/>
            <a:ext cx="2743200" cy="411480"/>
          </a:xfrm>
          <a:prstGeom prst="rect">
            <a:avLst/>
          </a:prstGeom>
          <a:noFill/>
          <a:ln/>
        </p:spPr>
        <p:txBody>
          <a:bodyPr wrap="square" rtlCol="0" anchor="ctr"/>
          <a:lstStyle/>
          <a:p>
            <a:pPr algn="l" indent="0" marL="0">
              <a:buNone/>
            </a:pPr>
            <a:r>
              <a:rPr lang="en-US" sz="1800" b="1" dirty="0">
                <a:solidFill>
                  <a:srgbClr val="1B5E47"/>
                </a:solidFill>
                <a:latin typeface="Calibri" pitchFamily="34" charset="0"/>
                <a:ea typeface="Calibri" pitchFamily="34" charset="-122"/>
                <a:cs typeface="Calibri" pitchFamily="34" charset="-120"/>
              </a:rPr>
              <a:t>✅ Strong</a:t>
            </a:r>
            <a:endParaRPr lang="en-US" sz="1800" dirty="0"/>
          </a:p>
        </p:txBody>
      </p:sp>
      <p:sp>
        <p:nvSpPr>
          <p:cNvPr id="14" name="Text 12"/>
          <p:cNvSpPr/>
          <p:nvPr/>
        </p:nvSpPr>
        <p:spPr>
          <a:xfrm>
            <a:off x="548640" y="3794760"/>
            <a:ext cx="11064240" cy="804672"/>
          </a:xfrm>
          <a:prstGeom prst="rect">
            <a:avLst/>
          </a:prstGeom>
          <a:noFill/>
          <a:ln/>
        </p:spPr>
        <p:txBody>
          <a:bodyPr wrap="square" rtlCol="0" anchor="t"/>
          <a:lstStyle/>
          <a:p>
            <a:pPr algn="l" indent="0" marL="0">
              <a:buNone/>
            </a:pPr>
            <a:r>
              <a:rPr lang="en-US" sz="1800" dirty="0">
                <a:solidFill>
                  <a:srgbClr val="2C2A28"/>
                </a:solidFill>
                <a:latin typeface="Calibri" pitchFamily="34" charset="0"/>
                <a:ea typeface="Calibri" pitchFamily="34" charset="-122"/>
                <a:cs typeface="Calibri" pitchFamily="34" charset="-120"/>
              </a:rPr>
              <a:t>"Elderly users in aged care facilities need a way to video call family members independently because existing platforms require too many steps and unfamiliar interfaces, causing frequent call failures and social isolation."</a:t>
            </a:r>
            <a:endParaRPr lang="en-US" sz="1800" dirty="0"/>
          </a:p>
        </p:txBody>
      </p:sp>
      <p:sp>
        <p:nvSpPr>
          <p:cNvPr id="15" name="Shape 13"/>
          <p:cNvSpPr/>
          <p:nvPr/>
        </p:nvSpPr>
        <p:spPr>
          <a:xfrm>
            <a:off x="365760" y="4846320"/>
            <a:ext cx="11430000" cy="1417320"/>
          </a:xfrm>
          <a:prstGeom prst="roundRect">
            <a:avLst>
              <a:gd name="adj" fmla="val 6452"/>
            </a:avLst>
          </a:prstGeom>
          <a:solidFill>
            <a:srgbClr val="FFFFFF"/>
          </a:solidFill>
          <a:ln w="12700">
            <a:solidFill>
              <a:srgbClr val="8C1F28"/>
            </a:solidFill>
            <a:prstDash val="solid"/>
          </a:ln>
        </p:spPr>
      </p:sp>
      <p:sp>
        <p:nvSpPr>
          <p:cNvPr id="16" name="Text 14"/>
          <p:cNvSpPr/>
          <p:nvPr/>
        </p:nvSpPr>
        <p:spPr>
          <a:xfrm>
            <a:off x="548640" y="4937760"/>
            <a:ext cx="2743200" cy="411480"/>
          </a:xfrm>
          <a:prstGeom prst="rect">
            <a:avLst/>
          </a:prstGeom>
          <a:noFill/>
          <a:ln/>
        </p:spPr>
        <p:txBody>
          <a:bodyPr wrap="square" rtlCol="0" anchor="ctr"/>
          <a:lstStyle/>
          <a:p>
            <a:pPr algn="l" indent="0" marL="0">
              <a:buNone/>
            </a:pPr>
            <a:r>
              <a:rPr lang="en-US" sz="1800" b="1" dirty="0">
                <a:solidFill>
                  <a:srgbClr val="8C1F28"/>
                </a:solidFill>
                <a:latin typeface="Calibri" pitchFamily="34" charset="0"/>
                <a:ea typeface="Calibri" pitchFamily="34" charset="-122"/>
                <a:cs typeface="Calibri" pitchFamily="34" charset="-120"/>
              </a:rPr>
              <a:t>❌ Weak</a:t>
            </a:r>
            <a:endParaRPr lang="en-US" sz="1800" dirty="0"/>
          </a:p>
        </p:txBody>
      </p:sp>
      <p:sp>
        <p:nvSpPr>
          <p:cNvPr id="17" name="Text 15"/>
          <p:cNvSpPr/>
          <p:nvPr/>
        </p:nvSpPr>
        <p:spPr>
          <a:xfrm>
            <a:off x="548640" y="5349240"/>
            <a:ext cx="11064240" cy="804672"/>
          </a:xfrm>
          <a:prstGeom prst="rect">
            <a:avLst/>
          </a:prstGeom>
          <a:noFill/>
          <a:ln/>
        </p:spPr>
        <p:txBody>
          <a:bodyPr wrap="square" rtlCol="0" anchor="t"/>
          <a:lstStyle/>
          <a:p>
            <a:pPr algn="l" indent="0" marL="0">
              <a:buNone/>
            </a:pPr>
            <a:r>
              <a:rPr lang="en-US" sz="1800" dirty="0">
                <a:solidFill>
                  <a:srgbClr val="2C2A28"/>
                </a:solidFill>
                <a:latin typeface="Calibri" pitchFamily="34" charset="0"/>
                <a:ea typeface="Calibri" pitchFamily="34" charset="-122"/>
                <a:cs typeface="Calibri" pitchFamily="34" charset="-120"/>
              </a:rPr>
              <a:t>"People need a better app because the current apps are bad."</a:t>
            </a:r>
            <a:endParaRPr lang="en-US" sz="1800" dirty="0"/>
          </a:p>
        </p:txBody>
      </p:sp>
      <p:sp>
        <p:nvSpPr>
          <p:cNvPr id="18" name="Text 16"/>
          <p:cNvSpPr/>
          <p:nvPr/>
        </p:nvSpPr>
        <p:spPr>
          <a:xfrm>
            <a:off x="365760" y="6199632"/>
            <a:ext cx="11430000" cy="320040"/>
          </a:xfrm>
          <a:prstGeom prst="rect">
            <a:avLst/>
          </a:prstGeom>
          <a:noFill/>
          <a:ln/>
        </p:spPr>
        <p:txBody>
          <a:bodyPr wrap="square" rtlCol="0" anchor="ctr"/>
          <a:lstStyle/>
          <a:p>
            <a:pPr algn="l" indent="0" marL="0">
              <a:buNone/>
            </a:pPr>
            <a:r>
              <a:rPr lang="en-US" sz="1400" b="1" dirty="0">
                <a:solidFill>
                  <a:srgbClr val="B8620A"/>
                </a:solidFill>
                <a:latin typeface="Courier New" pitchFamily="34" charset="0"/>
                <a:ea typeface="Courier New" pitchFamily="34" charset="-122"/>
                <a:cs typeface="Courier New" pitchFamily="34" charset="-120"/>
              </a:rPr>
              <a:t>📋 COPY THE FORMULA INTO YOUR PAPER WORKBOOK</a:t>
            </a:r>
            <a:endParaRPr lang="en-US" sz="1400" dirty="0"/>
          </a:p>
        </p:txBody>
      </p:sp>
      <p:sp>
        <p:nvSpPr>
          <p:cNvPr id="19" name="Text 17"/>
          <p:cNvSpPr/>
          <p:nvPr/>
        </p:nvSpPr>
        <p:spPr>
          <a:xfrm>
            <a:off x="274320" y="6492240"/>
            <a:ext cx="11612880" cy="274320"/>
          </a:xfrm>
          <a:prstGeom prst="rect">
            <a:avLst/>
          </a:prstGeom>
          <a:noFill/>
          <a:ln/>
        </p:spPr>
        <p:txBody>
          <a:bodyPr wrap="square" rtlCol="0" anchor="ctr"/>
          <a:lstStyle/>
          <a:p>
            <a:pPr algn="l" indent="0" marL="0">
              <a:buNone/>
            </a:pPr>
            <a:r>
              <a:rPr lang="en-US" sz="1000" dirty="0">
                <a:solidFill>
                  <a:srgbClr val="6B6762"/>
                </a:solidFill>
                <a:latin typeface="Courier New" pitchFamily="34" charset="0"/>
                <a:ea typeface="Courier New" pitchFamily="34" charset="-122"/>
                <a:cs typeface="Courier New" pitchFamily="34" charset="-120"/>
              </a:rPr>
              <a:t>y11-ac-u2-l3-investigating-problem-space  ·  Mr Smith  ·  Year 11 Applied Computing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B3A8C"/>
          </a:solidFill>
          <a:ln w="12700">
            <a:solidFill>
              <a:srgbClr val="2B3A8C"/>
            </a:solidFill>
            <a:prstDash val="solid"/>
          </a:ln>
        </p:spPr>
      </p:sp>
      <p:sp>
        <p:nvSpPr>
          <p:cNvPr id="3" name="Text 1"/>
          <p:cNvSpPr/>
          <p:nvPr/>
        </p:nvSpPr>
        <p:spPr>
          <a:xfrm>
            <a:off x="457200" y="1097280"/>
            <a:ext cx="11247120" cy="731520"/>
          </a:xfrm>
          <a:prstGeom prst="rect">
            <a:avLst/>
          </a:prstGeom>
          <a:noFill/>
          <a:ln/>
        </p:spPr>
        <p:txBody>
          <a:bodyPr wrap="square" rtlCol="0" anchor="ctr"/>
          <a:lstStyle/>
          <a:p>
            <a:pPr algn="ctr" indent="0" marL="0">
              <a:buNone/>
            </a:pPr>
            <a:r>
              <a:rPr lang="en-US" sz="4400" b="1" dirty="0">
                <a:solidFill>
                  <a:srgbClr val="FFFFFF"/>
                </a:solidFill>
                <a:latin typeface="Bookman Old Style" pitchFamily="34" charset="0"/>
                <a:ea typeface="Bookman Old Style" pitchFamily="34" charset="-122"/>
                <a:cs typeface="Bookman Old Style" pitchFamily="34" charset="-120"/>
              </a:rPr>
              <a:t>🧠 BRAIN BREAK</a:t>
            </a:r>
            <a:endParaRPr lang="en-US" sz="4400" dirty="0"/>
          </a:p>
        </p:txBody>
      </p:sp>
      <p:sp>
        <p:nvSpPr>
          <p:cNvPr id="4" name="Text 2"/>
          <p:cNvSpPr/>
          <p:nvPr/>
        </p:nvSpPr>
        <p:spPr>
          <a:xfrm>
            <a:off x="457200" y="2011680"/>
            <a:ext cx="11247120" cy="594360"/>
          </a:xfrm>
          <a:prstGeom prst="rect">
            <a:avLst/>
          </a:prstGeom>
          <a:noFill/>
          <a:ln/>
        </p:spPr>
        <p:txBody>
          <a:bodyPr wrap="square" rtlCol="0" anchor="ctr"/>
          <a:lstStyle/>
          <a:p>
            <a:pPr algn="ctr" indent="0" marL="0">
              <a:buNone/>
            </a:pPr>
            <a:r>
              <a:rPr lang="en-US" sz="3000" i="1" dirty="0">
                <a:solidFill>
                  <a:srgbClr val="EDE8DF"/>
                </a:solidFill>
                <a:latin typeface="Calibri" pitchFamily="34" charset="0"/>
                <a:ea typeface="Calibri" pitchFamily="34" charset="-122"/>
                <a:cs typeface="Calibri" pitchFamily="34" charset="-120"/>
              </a:rPr>
              <a:t>Two Truths and a Tech Lie</a:t>
            </a:r>
            <a:endParaRPr lang="en-US" sz="3000" dirty="0"/>
          </a:p>
        </p:txBody>
      </p:sp>
      <p:sp>
        <p:nvSpPr>
          <p:cNvPr id="5" name="Text 3"/>
          <p:cNvSpPr/>
          <p:nvPr/>
        </p:nvSpPr>
        <p:spPr>
          <a:xfrm>
            <a:off x="1371600" y="2834640"/>
            <a:ext cx="9418320" cy="137160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Mr Smith will say three statements about technology.</a:t>
            </a:r>
            <a:endParaRPr lang="en-US" sz="2200" dirty="0"/>
          </a:p>
          <a:p>
            <a:pPr algn="ctr" indent="0" marL="0">
              <a:buNone/>
            </a:pPr>
            <a:r>
              <a:rPr lang="en-US" sz="2200" dirty="0">
                <a:solidFill>
                  <a:srgbClr val="FFFFFF"/>
                </a:solidFill>
                <a:latin typeface="Calibri" pitchFamily="34" charset="0"/>
                <a:ea typeface="Calibri" pitchFamily="34" charset="-122"/>
                <a:cs typeface="Calibri" pitchFamily="34" charset="-120"/>
              </a:rPr>
              <a:t>Two are true — one is a lie.</a:t>
            </a:r>
            <a:endParaRPr lang="en-US" sz="2200" dirty="0"/>
          </a:p>
          <a:p>
            <a:pPr algn="ctr" indent="0" marL="0">
              <a:buNone/>
            </a:pPr>
            <a:r>
              <a:rPr lang="en-US" sz="2200" dirty="0">
                <a:solidFill>
                  <a:srgbClr val="FFFFFF"/>
                </a:solidFill>
                <a:latin typeface="Calibri" pitchFamily="34" charset="0"/>
                <a:ea typeface="Calibri" pitchFamily="34" charset="-122"/>
                <a:cs typeface="Calibri" pitchFamily="34" charset="-120"/>
              </a:rPr>
              <a:t>Discuss with the person next to you. Which one is the lie?</a:t>
            </a:r>
            <a:endParaRPr lang="en-US" sz="2200" dirty="0"/>
          </a:p>
        </p:txBody>
      </p:sp>
      <p:sp>
        <p:nvSpPr>
          <p:cNvPr id="6" name="Text 4"/>
          <p:cNvSpPr/>
          <p:nvPr/>
        </p:nvSpPr>
        <p:spPr>
          <a:xfrm>
            <a:off x="457200" y="4754880"/>
            <a:ext cx="11247120" cy="594360"/>
          </a:xfrm>
          <a:prstGeom prst="rect">
            <a:avLst/>
          </a:prstGeom>
          <a:noFill/>
          <a:ln/>
        </p:spPr>
        <p:txBody>
          <a:bodyPr wrap="square" rtlCol="0" anchor="ctr"/>
          <a:lstStyle/>
          <a:p>
            <a:pPr algn="ctr" indent="0" marL="0">
              <a:buNone/>
            </a:pPr>
            <a:r>
              <a:rPr lang="en-US" sz="3000" b="1" dirty="0">
                <a:solidFill>
                  <a:srgbClr val="EDE8DF"/>
                </a:solidFill>
                <a:latin typeface="Calibri" pitchFamily="34" charset="0"/>
                <a:ea typeface="Calibri" pitchFamily="34" charset="-122"/>
                <a:cs typeface="Calibri" pitchFamily="34" charset="-120"/>
              </a:rPr>
              <a:t>⏱ 2 minutes</a:t>
            </a:r>
            <a:endParaRPr lang="en-US" sz="3000" dirty="0"/>
          </a:p>
        </p:txBody>
      </p:sp>
      <p:sp>
        <p:nvSpPr>
          <p:cNvPr id="7" name="Text 5"/>
          <p:cNvSpPr/>
          <p:nvPr/>
        </p:nvSpPr>
        <p:spPr>
          <a:xfrm>
            <a:off x="274320" y="6492240"/>
            <a:ext cx="11612880" cy="274320"/>
          </a:xfrm>
          <a:prstGeom prst="rect">
            <a:avLst/>
          </a:prstGeom>
          <a:noFill/>
          <a:ln/>
        </p:spPr>
        <p:txBody>
          <a:bodyPr wrap="square" rtlCol="0" anchor="ctr"/>
          <a:lstStyle/>
          <a:p>
            <a:pPr algn="l" indent="0" marL="0">
              <a:buNone/>
            </a:pPr>
            <a:r>
              <a:rPr lang="en-US" sz="1000" dirty="0">
                <a:solidFill>
                  <a:srgbClr val="6B6762"/>
                </a:solidFill>
                <a:latin typeface="Courier New" pitchFamily="34" charset="0"/>
                <a:ea typeface="Courier New" pitchFamily="34" charset="-122"/>
                <a:cs typeface="Courier New" pitchFamily="34" charset="-120"/>
              </a:rPr>
              <a:t>y11-ac-u2-l3-investigating-problem-space  ·  Mr Smith  ·  Year 11 Applied Computing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100E"/>
          </a:solidFill>
          <a:ln w="12700">
            <a:solidFill>
              <a:srgbClr val="12100E"/>
            </a:solidFill>
            <a:prstDash val="solid"/>
          </a:ln>
        </p:spPr>
      </p:sp>
      <p:sp>
        <p:nvSpPr>
          <p:cNvPr id="3" name="Shape 1"/>
          <p:cNvSpPr/>
          <p:nvPr/>
        </p:nvSpPr>
        <p:spPr>
          <a:xfrm>
            <a:off x="4114800" y="822960"/>
            <a:ext cx="3931920" cy="1005840"/>
          </a:xfrm>
          <a:prstGeom prst="roundRect">
            <a:avLst>
              <a:gd name="adj" fmla="val 13636"/>
            </a:avLst>
          </a:prstGeom>
          <a:solidFill>
            <a:srgbClr val="0F3D2D"/>
          </a:solidFill>
          <a:ln w="12700">
            <a:solidFill>
              <a:srgbClr val="0F3D2D"/>
            </a:solidFill>
            <a:prstDash val="solid"/>
          </a:ln>
        </p:spPr>
      </p:sp>
      <p:sp>
        <p:nvSpPr>
          <p:cNvPr id="4" name="Text 2"/>
          <p:cNvSpPr/>
          <p:nvPr/>
        </p:nvSpPr>
        <p:spPr>
          <a:xfrm>
            <a:off x="4114800" y="822960"/>
            <a:ext cx="3931920" cy="100584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 DEVICES NOW OPEN</a:t>
            </a:r>
            <a:endParaRPr lang="en-US" sz="2600" dirty="0"/>
          </a:p>
        </p:txBody>
      </p:sp>
      <p:sp>
        <p:nvSpPr>
          <p:cNvPr id="5" name="Text 3"/>
          <p:cNvSpPr/>
          <p:nvPr/>
        </p:nvSpPr>
        <p:spPr>
          <a:xfrm>
            <a:off x="457200" y="2057400"/>
            <a:ext cx="11247120" cy="640080"/>
          </a:xfrm>
          <a:prstGeom prst="rect">
            <a:avLst/>
          </a:prstGeom>
          <a:noFill/>
          <a:ln/>
        </p:spPr>
        <p:txBody>
          <a:bodyPr wrap="square" rtlCol="0" anchor="ctr"/>
          <a:lstStyle/>
          <a:p>
            <a:pPr algn="ctr" indent="0" marL="0">
              <a:buNone/>
            </a:pPr>
            <a:r>
              <a:rPr lang="en-US" sz="1400" dirty="0">
                <a:solidFill>
                  <a:srgbClr val="6B6762"/>
                </a:solidFill>
                <a:latin typeface="Courier New" pitchFamily="34" charset="0"/>
                <a:ea typeface="Courier New" pitchFamily="34" charset="-122"/>
                <a:cs typeface="Courier New" pitchFamily="34" charset="-120"/>
              </a:rPr>
              <a:t>Application of Learning</a:t>
            </a:r>
            <a:endParaRPr lang="en-US" sz="1400" dirty="0"/>
          </a:p>
        </p:txBody>
      </p:sp>
      <p:sp>
        <p:nvSpPr>
          <p:cNvPr id="6" name="Text 4"/>
          <p:cNvSpPr/>
          <p:nvPr/>
        </p:nvSpPr>
        <p:spPr>
          <a:xfrm>
            <a:off x="457200" y="2697480"/>
            <a:ext cx="11247120" cy="1371600"/>
          </a:xfrm>
          <a:prstGeom prst="rect">
            <a:avLst/>
          </a:prstGeom>
          <a:noFill/>
          <a:ln/>
        </p:spPr>
        <p:txBody>
          <a:bodyPr wrap="square" rtlCol="0" anchor="ctr"/>
          <a:lstStyle/>
          <a:p>
            <a:pPr algn="ctr" indent="0" marL="0">
              <a:buNone/>
            </a:pPr>
            <a:r>
              <a:rPr lang="en-US" sz="3800" b="1" dirty="0">
                <a:solidFill>
                  <a:srgbClr val="FFFFFF"/>
                </a:solidFill>
                <a:latin typeface="Bookman Old Style" pitchFamily="34" charset="0"/>
                <a:ea typeface="Bookman Old Style" pitchFamily="34" charset="-122"/>
                <a:cs typeface="Bookman Old Style" pitchFamily="34" charset="-120"/>
              </a:rPr>
              <a:t>Open your Lesson 3 Workbook</a:t>
            </a:r>
            <a:endParaRPr lang="en-US" sz="3800" dirty="0"/>
          </a:p>
          <a:p>
            <a:pPr algn="ctr" indent="0" marL="0">
              <a:buNone/>
            </a:pPr>
            <a:r>
              <a:rPr lang="en-US" sz="3800" b="1" dirty="0">
                <a:solidFill>
                  <a:srgbClr val="FFFFFF"/>
                </a:solidFill>
                <a:latin typeface="Bookman Old Style" pitchFamily="34" charset="0"/>
                <a:ea typeface="Bookman Old Style" pitchFamily="34" charset="-122"/>
                <a:cs typeface="Bookman Old Style" pitchFamily="34" charset="-120"/>
              </a:rPr>
              <a:t>and go to Section 1</a:t>
            </a:r>
            <a:endParaRPr lang="en-US" sz="3800" dirty="0"/>
          </a:p>
        </p:txBody>
      </p:sp>
      <p:sp>
        <p:nvSpPr>
          <p:cNvPr id="7" name="Text 5"/>
          <p:cNvSpPr/>
          <p:nvPr/>
        </p:nvSpPr>
        <p:spPr>
          <a:xfrm>
            <a:off x="457200" y="4297680"/>
            <a:ext cx="11247120" cy="457200"/>
          </a:xfrm>
          <a:prstGeom prst="rect">
            <a:avLst/>
          </a:prstGeom>
          <a:noFill/>
          <a:ln/>
        </p:spPr>
        <p:txBody>
          <a:bodyPr wrap="square" rtlCol="0" anchor="ctr"/>
          <a:lstStyle/>
          <a:p>
            <a:pPr algn="ctr" indent="0" marL="0">
              <a:buNone/>
            </a:pPr>
            <a:r>
              <a:rPr lang="en-US" sz="2000" dirty="0">
                <a:solidFill>
                  <a:srgbClr val="EDE8DF"/>
                </a:solidFill>
                <a:latin typeface="Calibri" pitchFamily="34" charset="0"/>
                <a:ea typeface="Calibri" pitchFamily="34" charset="-122"/>
                <a:cs typeface="Calibri" pitchFamily="34" charset="-120"/>
              </a:rPr>
              <a:t>You will find the workbook link on the class portal.</a:t>
            </a:r>
            <a:endParaRPr lang="en-US" sz="2000" dirty="0"/>
          </a:p>
        </p:txBody>
      </p:sp>
      <p:sp>
        <p:nvSpPr>
          <p:cNvPr id="8" name="Text 6"/>
          <p:cNvSpPr/>
          <p:nvPr/>
        </p:nvSpPr>
        <p:spPr>
          <a:xfrm>
            <a:off x="1828800" y="5029200"/>
            <a:ext cx="8503920" cy="457200"/>
          </a:xfrm>
          <a:prstGeom prst="rect">
            <a:avLst/>
          </a:prstGeom>
          <a:noFill/>
          <a:ln/>
        </p:spPr>
        <p:txBody>
          <a:bodyPr wrap="square" rtlCol="0" anchor="ctr"/>
          <a:lstStyle/>
          <a:p>
            <a:pPr algn="ctr" indent="0" marL="0">
              <a:buNone/>
            </a:pPr>
            <a:r>
              <a:rPr lang="en-US" sz="1800" i="1" dirty="0">
                <a:solidFill>
                  <a:srgbClr val="B8620A"/>
                </a:solidFill>
                <a:latin typeface="Calibri" pitchFamily="34" charset="0"/>
                <a:ea typeface="Calibri" pitchFamily="34" charset="-122"/>
                <a:cs typeface="Calibri" pitchFamily="34" charset="-120"/>
              </a:rPr>
              <a:t>➜ Keep your paper notes open beside you — you'll need them.</a:t>
            </a:r>
            <a:endParaRPr lang="en-US" sz="1800" dirty="0"/>
          </a:p>
        </p:txBody>
      </p:sp>
      <p:sp>
        <p:nvSpPr>
          <p:cNvPr id="9" name="Text 7"/>
          <p:cNvSpPr/>
          <p:nvPr/>
        </p:nvSpPr>
        <p:spPr>
          <a:xfrm>
            <a:off x="274320" y="6492240"/>
            <a:ext cx="11612880" cy="274320"/>
          </a:xfrm>
          <a:prstGeom prst="rect">
            <a:avLst/>
          </a:prstGeom>
          <a:noFill/>
          <a:ln/>
        </p:spPr>
        <p:txBody>
          <a:bodyPr wrap="square" rtlCol="0" anchor="ctr"/>
          <a:lstStyle/>
          <a:p>
            <a:pPr algn="l" indent="0" marL="0">
              <a:buNone/>
            </a:pPr>
            <a:r>
              <a:rPr lang="en-US" sz="1000" dirty="0">
                <a:solidFill>
                  <a:srgbClr val="6B6762"/>
                </a:solidFill>
                <a:latin typeface="Courier New" pitchFamily="34" charset="0"/>
                <a:ea typeface="Courier New" pitchFamily="34" charset="-122"/>
                <a:cs typeface="Courier New" pitchFamily="34" charset="-120"/>
              </a:rPr>
              <a:t>y11-ac-u2-l3-investigating-problem-space  ·  Mr Smith  ·  Year 11 Applied Computing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3EC"/>
          </a:solidFill>
          <a:ln w="12700">
            <a:solidFill>
              <a:srgbClr val="F7F3EC"/>
            </a:solidFill>
            <a:prstDash val="solid"/>
          </a:ln>
        </p:spPr>
      </p:sp>
      <p:sp>
        <p:nvSpPr>
          <p:cNvPr id="3" name="Shape 1"/>
          <p:cNvSpPr/>
          <p:nvPr/>
        </p:nvSpPr>
        <p:spPr>
          <a:xfrm>
            <a:off x="274320" y="109728"/>
            <a:ext cx="1828800" cy="384048"/>
          </a:xfrm>
          <a:prstGeom prst="roundRect">
            <a:avLst>
              <a:gd name="adj" fmla="val 19048"/>
            </a:avLst>
          </a:prstGeom>
          <a:solidFill>
            <a:srgbClr val="B8620A"/>
          </a:solidFill>
          <a:ln w="12700">
            <a:solidFill>
              <a:srgbClr val="B8620A"/>
            </a:solidFill>
            <a:prstDash val="solid"/>
          </a:ln>
        </p:spPr>
      </p:sp>
      <p:sp>
        <p:nvSpPr>
          <p:cNvPr id="4" name="Text 2"/>
          <p:cNvSpPr/>
          <p:nvPr/>
        </p:nvSpPr>
        <p:spPr>
          <a:xfrm>
            <a:off x="274320" y="109728"/>
            <a:ext cx="1828800"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APPLICATION</a:t>
            </a:r>
            <a:endParaRPr lang="en-US" sz="1200" dirty="0"/>
          </a:p>
        </p:txBody>
      </p:sp>
      <p:sp>
        <p:nvSpPr>
          <p:cNvPr id="5" name="Shape 3"/>
          <p:cNvSpPr/>
          <p:nvPr/>
        </p:nvSpPr>
        <p:spPr>
          <a:xfrm>
            <a:off x="9875520" y="137160"/>
            <a:ext cx="2011680" cy="411480"/>
          </a:xfrm>
          <a:prstGeom prst="roundRect">
            <a:avLst>
              <a:gd name="adj" fmla="val 22222"/>
            </a:avLst>
          </a:prstGeom>
          <a:solidFill>
            <a:srgbClr val="0F3D2D"/>
          </a:solidFill>
          <a:ln w="12700">
            <a:solidFill>
              <a:srgbClr val="0F3D2D"/>
            </a:solidFill>
            <a:prstDash val="solid"/>
          </a:ln>
        </p:spPr>
      </p:sp>
      <p:sp>
        <p:nvSpPr>
          <p:cNvPr id="6" name="Text 4"/>
          <p:cNvSpPr/>
          <p:nvPr/>
        </p:nvSpPr>
        <p:spPr>
          <a:xfrm>
            <a:off x="9875520" y="137160"/>
            <a:ext cx="20116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DEVICES ON</a:t>
            </a:r>
            <a:endParaRPr lang="en-US" sz="1100" dirty="0"/>
          </a:p>
        </p:txBody>
      </p:sp>
      <p:sp>
        <p:nvSpPr>
          <p:cNvPr id="7" name="Text 5"/>
          <p:cNvSpPr/>
          <p:nvPr/>
        </p:nvSpPr>
        <p:spPr>
          <a:xfrm>
            <a:off x="365760" y="640080"/>
            <a:ext cx="11430000" cy="594360"/>
          </a:xfrm>
          <a:prstGeom prst="rect">
            <a:avLst/>
          </a:prstGeom>
          <a:noFill/>
          <a:ln/>
        </p:spPr>
        <p:txBody>
          <a:bodyPr wrap="square" rtlCol="0" anchor="ctr"/>
          <a:lstStyle/>
          <a:p>
            <a:pPr algn="l" indent="0" marL="0">
              <a:buNone/>
            </a:pPr>
            <a:r>
              <a:rPr lang="en-US" sz="3600" b="1" dirty="0">
                <a:solidFill>
                  <a:srgbClr val="12100E"/>
                </a:solidFill>
                <a:latin typeface="Bookman Old Style" pitchFamily="34" charset="0"/>
                <a:ea typeface="Bookman Old Style" pitchFamily="34" charset="-122"/>
                <a:cs typeface="Bookman Old Style" pitchFamily="34" charset="-120"/>
              </a:rPr>
              <a:t>Today's Investigation Tasks</a:t>
            </a:r>
            <a:endParaRPr lang="en-US" sz="3600" dirty="0"/>
          </a:p>
        </p:txBody>
      </p:sp>
      <p:sp>
        <p:nvSpPr>
          <p:cNvPr id="8" name="Text 6"/>
          <p:cNvSpPr/>
          <p:nvPr/>
        </p:nvSpPr>
        <p:spPr>
          <a:xfrm>
            <a:off x="365760" y="1325880"/>
            <a:ext cx="11430000" cy="411480"/>
          </a:xfrm>
          <a:prstGeom prst="rect">
            <a:avLst/>
          </a:prstGeom>
          <a:noFill/>
          <a:ln/>
        </p:spPr>
        <p:txBody>
          <a:bodyPr wrap="square" rtlCol="0" anchor="ctr"/>
          <a:lstStyle/>
          <a:p>
            <a:pPr algn="l" indent="0" marL="0">
              <a:buNone/>
            </a:pPr>
            <a:r>
              <a:rPr lang="en-US" sz="2000" i="1" dirty="0">
                <a:solidFill>
                  <a:srgbClr val="6B6762"/>
                </a:solidFill>
                <a:latin typeface="Calibri" pitchFamily="34" charset="0"/>
                <a:ea typeface="Calibri" pitchFamily="34" charset="-122"/>
                <a:cs typeface="Calibri" pitchFamily="34" charset="-120"/>
              </a:rPr>
              <a:t>Work through the tasks in your digital workbook with your group.</a:t>
            </a:r>
            <a:endParaRPr lang="en-US" sz="2000" dirty="0"/>
          </a:p>
        </p:txBody>
      </p:sp>
      <p:sp>
        <p:nvSpPr>
          <p:cNvPr id="9" name="Shape 7"/>
          <p:cNvSpPr/>
          <p:nvPr/>
        </p:nvSpPr>
        <p:spPr>
          <a:xfrm>
            <a:off x="365760" y="1874520"/>
            <a:ext cx="5577840" cy="2057400"/>
          </a:xfrm>
          <a:prstGeom prst="roundRect">
            <a:avLst>
              <a:gd name="adj" fmla="val 4444"/>
            </a:avLst>
          </a:prstGeom>
          <a:solidFill>
            <a:srgbClr val="FFFFFF"/>
          </a:solidFill>
          <a:ln w="12700">
            <a:solidFill>
              <a:srgbClr val="1B5E47"/>
            </a:solidFill>
            <a:prstDash val="solid"/>
          </a:ln>
        </p:spPr>
      </p:sp>
      <p:sp>
        <p:nvSpPr>
          <p:cNvPr id="10" name="Text 8"/>
          <p:cNvSpPr/>
          <p:nvPr/>
        </p:nvSpPr>
        <p:spPr>
          <a:xfrm>
            <a:off x="502920" y="1965960"/>
            <a:ext cx="640080" cy="457200"/>
          </a:xfrm>
          <a:prstGeom prst="rect">
            <a:avLst/>
          </a:prstGeom>
          <a:noFill/>
          <a:ln/>
        </p:spPr>
        <p:txBody>
          <a:bodyPr wrap="square" rtlCol="0" anchor="ctr"/>
          <a:lstStyle/>
          <a:p>
            <a:pPr indent="0" marL="0">
              <a:buNone/>
            </a:pPr>
            <a:r>
              <a:rPr lang="en-US" sz="2200" b="1" dirty="0">
                <a:solidFill>
                  <a:srgbClr val="1B5E47"/>
                </a:solidFill>
                <a:latin typeface="Courier New" pitchFamily="34" charset="0"/>
                <a:ea typeface="Courier New" pitchFamily="34" charset="-122"/>
                <a:cs typeface="Courier New" pitchFamily="34" charset="-120"/>
              </a:rPr>
              <a:t>01</a:t>
            </a:r>
            <a:endParaRPr lang="en-US" sz="2200" dirty="0"/>
          </a:p>
        </p:txBody>
      </p:sp>
      <p:sp>
        <p:nvSpPr>
          <p:cNvPr id="11" name="Text 9"/>
          <p:cNvSpPr/>
          <p:nvPr/>
        </p:nvSpPr>
        <p:spPr>
          <a:xfrm>
            <a:off x="1188720" y="1984248"/>
            <a:ext cx="3200400" cy="365760"/>
          </a:xfrm>
          <a:prstGeom prst="rect">
            <a:avLst/>
          </a:prstGeom>
          <a:noFill/>
          <a:ln/>
        </p:spPr>
        <p:txBody>
          <a:bodyPr wrap="square" rtlCol="0" anchor="ctr"/>
          <a:lstStyle/>
          <a:p>
            <a:pPr indent="0" marL="0">
              <a:buNone/>
            </a:pPr>
            <a:r>
              <a:rPr lang="en-US" sz="1400" b="1" dirty="0">
                <a:solidFill>
                  <a:srgbClr val="1B5E47"/>
                </a:solidFill>
                <a:latin typeface="Courier New" pitchFamily="34" charset="0"/>
                <a:ea typeface="Courier New" pitchFamily="34" charset="-122"/>
                <a:cs typeface="Courier New" pitchFamily="34" charset="-120"/>
              </a:rPr>
              <a:t>🟢 Foundation</a:t>
            </a:r>
            <a:endParaRPr lang="en-US" sz="1400" dirty="0"/>
          </a:p>
        </p:txBody>
      </p:sp>
      <p:sp>
        <p:nvSpPr>
          <p:cNvPr id="12" name="Text 10"/>
          <p:cNvSpPr/>
          <p:nvPr/>
        </p:nvSpPr>
        <p:spPr>
          <a:xfrm>
            <a:off x="4389120" y="1965960"/>
            <a:ext cx="1371600" cy="384048"/>
          </a:xfrm>
          <a:prstGeom prst="rect">
            <a:avLst/>
          </a:prstGeom>
          <a:noFill/>
          <a:ln/>
        </p:spPr>
        <p:txBody>
          <a:bodyPr wrap="square" rtlCol="0" anchor="ctr"/>
          <a:lstStyle/>
          <a:p>
            <a:pPr algn="r" indent="0" marL="0">
              <a:buNone/>
            </a:pPr>
            <a:r>
              <a:rPr lang="en-US" sz="1400" dirty="0">
                <a:solidFill>
                  <a:srgbClr val="6B6762"/>
                </a:solidFill>
                <a:latin typeface="Courier New" pitchFamily="34" charset="0"/>
                <a:ea typeface="Courier New" pitchFamily="34" charset="-122"/>
                <a:cs typeface="Courier New" pitchFamily="34" charset="-120"/>
              </a:rPr>
              <a:t>~10 min</a:t>
            </a:r>
            <a:endParaRPr lang="en-US" sz="1400" dirty="0"/>
          </a:p>
        </p:txBody>
      </p:sp>
      <p:sp>
        <p:nvSpPr>
          <p:cNvPr id="13" name="Text 11"/>
          <p:cNvSpPr/>
          <p:nvPr/>
        </p:nvSpPr>
        <p:spPr>
          <a:xfrm>
            <a:off x="502920" y="2404872"/>
            <a:ext cx="5303520" cy="411480"/>
          </a:xfrm>
          <a:prstGeom prst="rect">
            <a:avLst/>
          </a:prstGeom>
          <a:noFill/>
          <a:ln/>
        </p:spPr>
        <p:txBody>
          <a:bodyPr wrap="square" rtlCol="0" anchor="ctr"/>
          <a:lstStyle/>
          <a:p>
            <a:pPr algn="l" indent="0" marL="0">
              <a:buNone/>
            </a:pPr>
            <a:r>
              <a:rPr lang="en-US" sz="2000" b="1" dirty="0">
                <a:solidFill>
                  <a:srgbClr val="12100E"/>
                </a:solidFill>
                <a:latin typeface="Calibri" pitchFamily="34" charset="0"/>
                <a:ea typeface="Calibri" pitchFamily="34" charset="-122"/>
                <a:cs typeface="Calibri" pitchFamily="34" charset="-120"/>
              </a:rPr>
              <a:t>Existing Solutions Map</a:t>
            </a:r>
            <a:endParaRPr lang="en-US" sz="2000" dirty="0"/>
          </a:p>
        </p:txBody>
      </p:sp>
      <p:sp>
        <p:nvSpPr>
          <p:cNvPr id="14" name="Text 12"/>
          <p:cNvSpPr/>
          <p:nvPr/>
        </p:nvSpPr>
        <p:spPr>
          <a:xfrm>
            <a:off x="502920" y="2834640"/>
            <a:ext cx="5303520" cy="987552"/>
          </a:xfrm>
          <a:prstGeom prst="rect">
            <a:avLst/>
          </a:prstGeom>
          <a:noFill/>
          <a:ln/>
        </p:spPr>
        <p:txBody>
          <a:bodyPr wrap="square" rtlCol="0" anchor="t"/>
          <a:lstStyle/>
          <a:p>
            <a:pPr algn="l" indent="0" marL="0">
              <a:buNone/>
            </a:pPr>
            <a:r>
              <a:rPr lang="en-US" sz="1600" dirty="0">
                <a:solidFill>
                  <a:srgbClr val="2C2A28"/>
                </a:solidFill>
                <a:latin typeface="Calibri" pitchFamily="34" charset="0"/>
                <a:ea typeface="Calibri" pitchFamily="34" charset="-122"/>
                <a:cs typeface="Calibri" pitchFamily="34" charset="-120"/>
              </a:rPr>
              <a:t>Name 3 digital tools/solutions already related to your topic. For each: who uses it, what does it do, one limitation.</a:t>
            </a:r>
            <a:endParaRPr lang="en-US" sz="1600" dirty="0"/>
          </a:p>
        </p:txBody>
      </p:sp>
      <p:sp>
        <p:nvSpPr>
          <p:cNvPr id="15" name="Shape 13"/>
          <p:cNvSpPr/>
          <p:nvPr/>
        </p:nvSpPr>
        <p:spPr>
          <a:xfrm>
            <a:off x="6263640" y="1874520"/>
            <a:ext cx="5577840" cy="2057400"/>
          </a:xfrm>
          <a:prstGeom prst="roundRect">
            <a:avLst>
              <a:gd name="adj" fmla="val 4444"/>
            </a:avLst>
          </a:prstGeom>
          <a:solidFill>
            <a:srgbClr val="FFFFFF"/>
          </a:solidFill>
          <a:ln w="12700">
            <a:solidFill>
              <a:srgbClr val="B8620A"/>
            </a:solidFill>
            <a:prstDash val="solid"/>
          </a:ln>
        </p:spPr>
      </p:sp>
      <p:sp>
        <p:nvSpPr>
          <p:cNvPr id="16" name="Text 14"/>
          <p:cNvSpPr/>
          <p:nvPr/>
        </p:nvSpPr>
        <p:spPr>
          <a:xfrm>
            <a:off x="6400800" y="1965960"/>
            <a:ext cx="640080" cy="457200"/>
          </a:xfrm>
          <a:prstGeom prst="rect">
            <a:avLst/>
          </a:prstGeom>
          <a:noFill/>
          <a:ln/>
        </p:spPr>
        <p:txBody>
          <a:bodyPr wrap="square" rtlCol="0" anchor="ctr"/>
          <a:lstStyle/>
          <a:p>
            <a:pPr indent="0" marL="0">
              <a:buNone/>
            </a:pPr>
            <a:r>
              <a:rPr lang="en-US" sz="2200" b="1" dirty="0">
                <a:solidFill>
                  <a:srgbClr val="B8620A"/>
                </a:solidFill>
                <a:latin typeface="Courier New" pitchFamily="34" charset="0"/>
                <a:ea typeface="Courier New" pitchFamily="34" charset="-122"/>
                <a:cs typeface="Courier New" pitchFamily="34" charset="-120"/>
              </a:rPr>
              <a:t>02</a:t>
            </a:r>
            <a:endParaRPr lang="en-US" sz="2200" dirty="0"/>
          </a:p>
        </p:txBody>
      </p:sp>
      <p:sp>
        <p:nvSpPr>
          <p:cNvPr id="17" name="Text 15"/>
          <p:cNvSpPr/>
          <p:nvPr/>
        </p:nvSpPr>
        <p:spPr>
          <a:xfrm>
            <a:off x="7086600" y="1984248"/>
            <a:ext cx="3200400" cy="365760"/>
          </a:xfrm>
          <a:prstGeom prst="rect">
            <a:avLst/>
          </a:prstGeom>
          <a:noFill/>
          <a:ln/>
        </p:spPr>
        <p:txBody>
          <a:bodyPr wrap="square" rtlCol="0" anchor="ctr"/>
          <a:lstStyle/>
          <a:p>
            <a:pPr indent="0" marL="0">
              <a:buNone/>
            </a:pPr>
            <a:r>
              <a:rPr lang="en-US" sz="1400" b="1" dirty="0">
                <a:solidFill>
                  <a:srgbClr val="B8620A"/>
                </a:solidFill>
                <a:latin typeface="Courier New" pitchFamily="34" charset="0"/>
                <a:ea typeface="Courier New" pitchFamily="34" charset="-122"/>
                <a:cs typeface="Courier New" pitchFamily="34" charset="-120"/>
              </a:rPr>
              <a:t>🟡 Developing</a:t>
            </a:r>
            <a:endParaRPr lang="en-US" sz="1400" dirty="0"/>
          </a:p>
        </p:txBody>
      </p:sp>
      <p:sp>
        <p:nvSpPr>
          <p:cNvPr id="18" name="Text 16"/>
          <p:cNvSpPr/>
          <p:nvPr/>
        </p:nvSpPr>
        <p:spPr>
          <a:xfrm>
            <a:off x="10287000" y="1965960"/>
            <a:ext cx="1371600" cy="384048"/>
          </a:xfrm>
          <a:prstGeom prst="rect">
            <a:avLst/>
          </a:prstGeom>
          <a:noFill/>
          <a:ln/>
        </p:spPr>
        <p:txBody>
          <a:bodyPr wrap="square" rtlCol="0" anchor="ctr"/>
          <a:lstStyle/>
          <a:p>
            <a:pPr algn="r" indent="0" marL="0">
              <a:buNone/>
            </a:pPr>
            <a:r>
              <a:rPr lang="en-US" sz="1400" dirty="0">
                <a:solidFill>
                  <a:srgbClr val="6B6762"/>
                </a:solidFill>
                <a:latin typeface="Courier New" pitchFamily="34" charset="0"/>
                <a:ea typeface="Courier New" pitchFamily="34" charset="-122"/>
                <a:cs typeface="Courier New" pitchFamily="34" charset="-120"/>
              </a:rPr>
              <a:t>~10 min</a:t>
            </a:r>
            <a:endParaRPr lang="en-US" sz="1400" dirty="0"/>
          </a:p>
        </p:txBody>
      </p:sp>
      <p:sp>
        <p:nvSpPr>
          <p:cNvPr id="19" name="Text 17"/>
          <p:cNvSpPr/>
          <p:nvPr/>
        </p:nvSpPr>
        <p:spPr>
          <a:xfrm>
            <a:off x="6400800" y="2404872"/>
            <a:ext cx="5303520" cy="411480"/>
          </a:xfrm>
          <a:prstGeom prst="rect">
            <a:avLst/>
          </a:prstGeom>
          <a:noFill/>
          <a:ln/>
        </p:spPr>
        <p:txBody>
          <a:bodyPr wrap="square" rtlCol="0" anchor="ctr"/>
          <a:lstStyle/>
          <a:p>
            <a:pPr algn="l" indent="0" marL="0">
              <a:buNone/>
            </a:pPr>
            <a:r>
              <a:rPr lang="en-US" sz="2000" b="1" dirty="0">
                <a:solidFill>
                  <a:srgbClr val="12100E"/>
                </a:solidFill>
                <a:latin typeface="Calibri" pitchFamily="34" charset="0"/>
                <a:ea typeface="Calibri" pitchFamily="34" charset="-122"/>
                <a:cs typeface="Calibri" pitchFamily="34" charset="-120"/>
              </a:rPr>
              <a:t>User Profile</a:t>
            </a:r>
            <a:endParaRPr lang="en-US" sz="2000" dirty="0"/>
          </a:p>
        </p:txBody>
      </p:sp>
      <p:sp>
        <p:nvSpPr>
          <p:cNvPr id="20" name="Text 18"/>
          <p:cNvSpPr/>
          <p:nvPr/>
        </p:nvSpPr>
        <p:spPr>
          <a:xfrm>
            <a:off x="6400800" y="2834640"/>
            <a:ext cx="5303520" cy="987552"/>
          </a:xfrm>
          <a:prstGeom prst="rect">
            <a:avLst/>
          </a:prstGeom>
          <a:noFill/>
          <a:ln/>
        </p:spPr>
        <p:txBody>
          <a:bodyPr wrap="square" rtlCol="0" anchor="t"/>
          <a:lstStyle/>
          <a:p>
            <a:pPr algn="l" indent="0" marL="0">
              <a:buNone/>
            </a:pPr>
            <a:r>
              <a:rPr lang="en-US" sz="1600" dirty="0">
                <a:solidFill>
                  <a:srgbClr val="2C2A28"/>
                </a:solidFill>
                <a:latin typeface="Calibri" pitchFamily="34" charset="0"/>
                <a:ea typeface="Calibri" pitchFamily="34" charset="-122"/>
                <a:cs typeface="Calibri" pitchFamily="34" charset="-120"/>
              </a:rPr>
              <a:t>Write a detailed user profile for the main group of people affected by the problem in your topic area.</a:t>
            </a:r>
            <a:endParaRPr lang="en-US" sz="1600" dirty="0"/>
          </a:p>
        </p:txBody>
      </p:sp>
      <p:sp>
        <p:nvSpPr>
          <p:cNvPr id="21" name="Shape 19"/>
          <p:cNvSpPr/>
          <p:nvPr/>
        </p:nvSpPr>
        <p:spPr>
          <a:xfrm>
            <a:off x="365760" y="4069080"/>
            <a:ext cx="5577840" cy="2057400"/>
          </a:xfrm>
          <a:prstGeom prst="roundRect">
            <a:avLst>
              <a:gd name="adj" fmla="val 4444"/>
            </a:avLst>
          </a:prstGeom>
          <a:solidFill>
            <a:srgbClr val="FFFFFF"/>
          </a:solidFill>
          <a:ln w="12700">
            <a:solidFill>
              <a:srgbClr val="B8620A"/>
            </a:solidFill>
            <a:prstDash val="solid"/>
          </a:ln>
        </p:spPr>
      </p:sp>
      <p:sp>
        <p:nvSpPr>
          <p:cNvPr id="22" name="Text 20"/>
          <p:cNvSpPr/>
          <p:nvPr/>
        </p:nvSpPr>
        <p:spPr>
          <a:xfrm>
            <a:off x="502920" y="4160520"/>
            <a:ext cx="640080" cy="457200"/>
          </a:xfrm>
          <a:prstGeom prst="rect">
            <a:avLst/>
          </a:prstGeom>
          <a:noFill/>
          <a:ln/>
        </p:spPr>
        <p:txBody>
          <a:bodyPr wrap="square" rtlCol="0" anchor="ctr"/>
          <a:lstStyle/>
          <a:p>
            <a:pPr indent="0" marL="0">
              <a:buNone/>
            </a:pPr>
            <a:r>
              <a:rPr lang="en-US" sz="2200" b="1" dirty="0">
                <a:solidFill>
                  <a:srgbClr val="B8620A"/>
                </a:solidFill>
                <a:latin typeface="Courier New" pitchFamily="34" charset="0"/>
                <a:ea typeface="Courier New" pitchFamily="34" charset="-122"/>
                <a:cs typeface="Courier New" pitchFamily="34" charset="-120"/>
              </a:rPr>
              <a:t>03</a:t>
            </a:r>
            <a:endParaRPr lang="en-US" sz="2200" dirty="0"/>
          </a:p>
        </p:txBody>
      </p:sp>
      <p:sp>
        <p:nvSpPr>
          <p:cNvPr id="23" name="Text 21"/>
          <p:cNvSpPr/>
          <p:nvPr/>
        </p:nvSpPr>
        <p:spPr>
          <a:xfrm>
            <a:off x="1188720" y="4178808"/>
            <a:ext cx="3200400" cy="365760"/>
          </a:xfrm>
          <a:prstGeom prst="rect">
            <a:avLst/>
          </a:prstGeom>
          <a:noFill/>
          <a:ln/>
        </p:spPr>
        <p:txBody>
          <a:bodyPr wrap="square" rtlCol="0" anchor="ctr"/>
          <a:lstStyle/>
          <a:p>
            <a:pPr indent="0" marL="0">
              <a:buNone/>
            </a:pPr>
            <a:r>
              <a:rPr lang="en-US" sz="1400" b="1" dirty="0">
                <a:solidFill>
                  <a:srgbClr val="B8620A"/>
                </a:solidFill>
                <a:latin typeface="Courier New" pitchFamily="34" charset="0"/>
                <a:ea typeface="Courier New" pitchFamily="34" charset="-122"/>
                <a:cs typeface="Courier New" pitchFamily="34" charset="-120"/>
              </a:rPr>
              <a:t>🟡 Developing</a:t>
            </a:r>
            <a:endParaRPr lang="en-US" sz="1400" dirty="0"/>
          </a:p>
        </p:txBody>
      </p:sp>
      <p:sp>
        <p:nvSpPr>
          <p:cNvPr id="24" name="Text 22"/>
          <p:cNvSpPr/>
          <p:nvPr/>
        </p:nvSpPr>
        <p:spPr>
          <a:xfrm>
            <a:off x="4389120" y="4160520"/>
            <a:ext cx="1371600" cy="384048"/>
          </a:xfrm>
          <a:prstGeom prst="rect">
            <a:avLst/>
          </a:prstGeom>
          <a:noFill/>
          <a:ln/>
        </p:spPr>
        <p:txBody>
          <a:bodyPr wrap="square" rtlCol="0" anchor="ctr"/>
          <a:lstStyle/>
          <a:p>
            <a:pPr algn="r" indent="0" marL="0">
              <a:buNone/>
            </a:pPr>
            <a:r>
              <a:rPr lang="en-US" sz="1400" dirty="0">
                <a:solidFill>
                  <a:srgbClr val="6B6762"/>
                </a:solidFill>
                <a:latin typeface="Courier New" pitchFamily="34" charset="0"/>
                <a:ea typeface="Courier New" pitchFamily="34" charset="-122"/>
                <a:cs typeface="Courier New" pitchFamily="34" charset="-120"/>
              </a:rPr>
              <a:t>~10 min</a:t>
            </a:r>
            <a:endParaRPr lang="en-US" sz="1400" dirty="0"/>
          </a:p>
        </p:txBody>
      </p:sp>
      <p:sp>
        <p:nvSpPr>
          <p:cNvPr id="25" name="Text 23"/>
          <p:cNvSpPr/>
          <p:nvPr/>
        </p:nvSpPr>
        <p:spPr>
          <a:xfrm>
            <a:off x="502920" y="4599432"/>
            <a:ext cx="5303520" cy="411480"/>
          </a:xfrm>
          <a:prstGeom prst="rect">
            <a:avLst/>
          </a:prstGeom>
          <a:noFill/>
          <a:ln/>
        </p:spPr>
        <p:txBody>
          <a:bodyPr wrap="square" rtlCol="0" anchor="ctr"/>
          <a:lstStyle/>
          <a:p>
            <a:pPr algn="l" indent="0" marL="0">
              <a:buNone/>
            </a:pPr>
            <a:r>
              <a:rPr lang="en-US" sz="2000" b="1" dirty="0">
                <a:solidFill>
                  <a:srgbClr val="12100E"/>
                </a:solidFill>
                <a:latin typeface="Calibri" pitchFamily="34" charset="0"/>
                <a:ea typeface="Calibri" pitchFamily="34" charset="-122"/>
                <a:cs typeface="Calibri" pitchFamily="34" charset="-120"/>
              </a:rPr>
              <a:t>Gap Analysis</a:t>
            </a:r>
            <a:endParaRPr lang="en-US" sz="2000" dirty="0"/>
          </a:p>
        </p:txBody>
      </p:sp>
      <p:sp>
        <p:nvSpPr>
          <p:cNvPr id="26" name="Text 24"/>
          <p:cNvSpPr/>
          <p:nvPr/>
        </p:nvSpPr>
        <p:spPr>
          <a:xfrm>
            <a:off x="502920" y="5029200"/>
            <a:ext cx="5303520" cy="987552"/>
          </a:xfrm>
          <a:prstGeom prst="rect">
            <a:avLst/>
          </a:prstGeom>
          <a:noFill/>
          <a:ln/>
        </p:spPr>
        <p:txBody>
          <a:bodyPr wrap="square" rtlCol="0" anchor="t"/>
          <a:lstStyle/>
          <a:p>
            <a:pPr algn="l" indent="0" marL="0">
              <a:buNone/>
            </a:pPr>
            <a:r>
              <a:rPr lang="en-US" sz="1600" dirty="0">
                <a:solidFill>
                  <a:srgbClr val="2C2A28"/>
                </a:solidFill>
                <a:latin typeface="Calibri" pitchFamily="34" charset="0"/>
                <a:ea typeface="Calibri" pitchFamily="34" charset="-122"/>
                <a:cs typeface="Calibri" pitchFamily="34" charset="-120"/>
              </a:rPr>
              <a:t>Using your existing solutions map and user profile, identify the most significant gap: what isn't being solved?</a:t>
            </a:r>
            <a:endParaRPr lang="en-US" sz="1600" dirty="0"/>
          </a:p>
        </p:txBody>
      </p:sp>
      <p:sp>
        <p:nvSpPr>
          <p:cNvPr id="27" name="Shape 25"/>
          <p:cNvSpPr/>
          <p:nvPr/>
        </p:nvSpPr>
        <p:spPr>
          <a:xfrm>
            <a:off x="6263640" y="4069080"/>
            <a:ext cx="5577840" cy="2057400"/>
          </a:xfrm>
          <a:prstGeom prst="roundRect">
            <a:avLst>
              <a:gd name="adj" fmla="val 4444"/>
            </a:avLst>
          </a:prstGeom>
          <a:solidFill>
            <a:srgbClr val="FFFFFF"/>
          </a:solidFill>
          <a:ln w="12700">
            <a:solidFill>
              <a:srgbClr val="2B3A8C"/>
            </a:solidFill>
            <a:prstDash val="solid"/>
          </a:ln>
        </p:spPr>
      </p:sp>
      <p:sp>
        <p:nvSpPr>
          <p:cNvPr id="28" name="Text 26"/>
          <p:cNvSpPr/>
          <p:nvPr/>
        </p:nvSpPr>
        <p:spPr>
          <a:xfrm>
            <a:off x="6400800" y="4160520"/>
            <a:ext cx="640080" cy="457200"/>
          </a:xfrm>
          <a:prstGeom prst="rect">
            <a:avLst/>
          </a:prstGeom>
          <a:noFill/>
          <a:ln/>
        </p:spPr>
        <p:txBody>
          <a:bodyPr wrap="square" rtlCol="0" anchor="ctr"/>
          <a:lstStyle/>
          <a:p>
            <a:pPr indent="0" marL="0">
              <a:buNone/>
            </a:pPr>
            <a:r>
              <a:rPr lang="en-US" sz="2200" b="1" dirty="0">
                <a:solidFill>
                  <a:srgbClr val="2B3A8C"/>
                </a:solidFill>
                <a:latin typeface="Courier New" pitchFamily="34" charset="0"/>
                <a:ea typeface="Courier New" pitchFamily="34" charset="-122"/>
                <a:cs typeface="Courier New" pitchFamily="34" charset="-120"/>
              </a:rPr>
              <a:t>04</a:t>
            </a:r>
            <a:endParaRPr lang="en-US" sz="2200" dirty="0"/>
          </a:p>
        </p:txBody>
      </p:sp>
      <p:sp>
        <p:nvSpPr>
          <p:cNvPr id="29" name="Text 27"/>
          <p:cNvSpPr/>
          <p:nvPr/>
        </p:nvSpPr>
        <p:spPr>
          <a:xfrm>
            <a:off x="7086600" y="4178808"/>
            <a:ext cx="3200400" cy="365760"/>
          </a:xfrm>
          <a:prstGeom prst="rect">
            <a:avLst/>
          </a:prstGeom>
          <a:noFill/>
          <a:ln/>
        </p:spPr>
        <p:txBody>
          <a:bodyPr wrap="square" rtlCol="0" anchor="ctr"/>
          <a:lstStyle/>
          <a:p>
            <a:pPr indent="0" marL="0">
              <a:buNone/>
            </a:pPr>
            <a:r>
              <a:rPr lang="en-US" sz="1400" b="1" dirty="0">
                <a:solidFill>
                  <a:srgbClr val="2B3A8C"/>
                </a:solidFill>
                <a:latin typeface="Courier New" pitchFamily="34" charset="0"/>
                <a:ea typeface="Courier New" pitchFamily="34" charset="-122"/>
                <a:cs typeface="Courier New" pitchFamily="34" charset="-120"/>
              </a:rPr>
              <a:t>🔵 Extending</a:t>
            </a:r>
            <a:endParaRPr lang="en-US" sz="1400" dirty="0"/>
          </a:p>
        </p:txBody>
      </p:sp>
      <p:sp>
        <p:nvSpPr>
          <p:cNvPr id="30" name="Text 28"/>
          <p:cNvSpPr/>
          <p:nvPr/>
        </p:nvSpPr>
        <p:spPr>
          <a:xfrm>
            <a:off x="10287000" y="4160520"/>
            <a:ext cx="1371600" cy="384048"/>
          </a:xfrm>
          <a:prstGeom prst="rect">
            <a:avLst/>
          </a:prstGeom>
          <a:noFill/>
          <a:ln/>
        </p:spPr>
        <p:txBody>
          <a:bodyPr wrap="square" rtlCol="0" anchor="ctr"/>
          <a:lstStyle/>
          <a:p>
            <a:pPr algn="r" indent="0" marL="0">
              <a:buNone/>
            </a:pPr>
            <a:r>
              <a:rPr lang="en-US" sz="1400" dirty="0">
                <a:solidFill>
                  <a:srgbClr val="6B6762"/>
                </a:solidFill>
                <a:latin typeface="Courier New" pitchFamily="34" charset="0"/>
                <a:ea typeface="Courier New" pitchFamily="34" charset="-122"/>
                <a:cs typeface="Courier New" pitchFamily="34" charset="-120"/>
              </a:rPr>
              <a:t>~10 min</a:t>
            </a:r>
            <a:endParaRPr lang="en-US" sz="1400" dirty="0"/>
          </a:p>
        </p:txBody>
      </p:sp>
      <p:sp>
        <p:nvSpPr>
          <p:cNvPr id="31" name="Text 29"/>
          <p:cNvSpPr/>
          <p:nvPr/>
        </p:nvSpPr>
        <p:spPr>
          <a:xfrm>
            <a:off x="6400800" y="4599432"/>
            <a:ext cx="5303520" cy="411480"/>
          </a:xfrm>
          <a:prstGeom prst="rect">
            <a:avLst/>
          </a:prstGeom>
          <a:noFill/>
          <a:ln/>
        </p:spPr>
        <p:txBody>
          <a:bodyPr wrap="square" rtlCol="0" anchor="ctr"/>
          <a:lstStyle/>
          <a:p>
            <a:pPr algn="l" indent="0" marL="0">
              <a:buNone/>
            </a:pPr>
            <a:r>
              <a:rPr lang="en-US" sz="2000" b="1" dirty="0">
                <a:solidFill>
                  <a:srgbClr val="12100E"/>
                </a:solidFill>
                <a:latin typeface="Calibri" pitchFamily="34" charset="0"/>
                <a:ea typeface="Calibri" pitchFamily="34" charset="-122"/>
                <a:cs typeface="Calibri" pitchFamily="34" charset="-120"/>
              </a:rPr>
              <a:t>First Draft Problem Statement</a:t>
            </a:r>
            <a:endParaRPr lang="en-US" sz="2000" dirty="0"/>
          </a:p>
        </p:txBody>
      </p:sp>
      <p:sp>
        <p:nvSpPr>
          <p:cNvPr id="32" name="Text 30"/>
          <p:cNvSpPr/>
          <p:nvPr/>
        </p:nvSpPr>
        <p:spPr>
          <a:xfrm>
            <a:off x="6400800" y="5029200"/>
            <a:ext cx="5303520" cy="987552"/>
          </a:xfrm>
          <a:prstGeom prst="rect">
            <a:avLst/>
          </a:prstGeom>
          <a:noFill/>
          <a:ln/>
        </p:spPr>
        <p:txBody>
          <a:bodyPr wrap="square" rtlCol="0" anchor="t"/>
          <a:lstStyle/>
          <a:p>
            <a:pPr algn="l" indent="0" marL="0">
              <a:buNone/>
            </a:pPr>
            <a:r>
              <a:rPr lang="en-US" sz="1600" dirty="0">
                <a:solidFill>
                  <a:srgbClr val="2C2A28"/>
                </a:solidFill>
                <a:latin typeface="Calibri" pitchFamily="34" charset="0"/>
                <a:ea typeface="Calibri" pitchFamily="34" charset="-122"/>
                <a:cs typeface="Calibri" pitchFamily="34" charset="-120"/>
              </a:rPr>
              <a:t>Use the formula from the slides to write a first draft problem statement for your group's project.</a:t>
            </a:r>
            <a:endParaRPr lang="en-US" sz="1600" dirty="0"/>
          </a:p>
        </p:txBody>
      </p:sp>
      <p:sp>
        <p:nvSpPr>
          <p:cNvPr id="33" name="Text 31"/>
          <p:cNvSpPr/>
          <p:nvPr/>
        </p:nvSpPr>
        <p:spPr>
          <a:xfrm>
            <a:off x="274320" y="6492240"/>
            <a:ext cx="11612880" cy="274320"/>
          </a:xfrm>
          <a:prstGeom prst="rect">
            <a:avLst/>
          </a:prstGeom>
          <a:noFill/>
          <a:ln/>
        </p:spPr>
        <p:txBody>
          <a:bodyPr wrap="square" rtlCol="0" anchor="ctr"/>
          <a:lstStyle/>
          <a:p>
            <a:pPr algn="l" indent="0" marL="0">
              <a:buNone/>
            </a:pPr>
            <a:r>
              <a:rPr lang="en-US" sz="1000" dirty="0">
                <a:solidFill>
                  <a:srgbClr val="6B6762"/>
                </a:solidFill>
                <a:latin typeface="Courier New" pitchFamily="34" charset="0"/>
                <a:ea typeface="Courier New" pitchFamily="34" charset="-122"/>
                <a:cs typeface="Courier New" pitchFamily="34" charset="-120"/>
              </a:rPr>
              <a:t>y11-ac-u2-l3-investigating-problem-space  ·  Mr Smith  ·  Year 11 Applied Computing</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3EC"/>
          </a:solidFill>
          <a:ln w="12700">
            <a:solidFill>
              <a:srgbClr val="F7F3EC"/>
            </a:solidFill>
            <a:prstDash val="solid"/>
          </a:ln>
        </p:spPr>
      </p:sp>
      <p:sp>
        <p:nvSpPr>
          <p:cNvPr id="3" name="Shape 1"/>
          <p:cNvSpPr/>
          <p:nvPr/>
        </p:nvSpPr>
        <p:spPr>
          <a:xfrm>
            <a:off x="274320" y="109728"/>
            <a:ext cx="1828800" cy="384048"/>
          </a:xfrm>
          <a:prstGeom prst="roundRect">
            <a:avLst>
              <a:gd name="adj" fmla="val 19048"/>
            </a:avLst>
          </a:prstGeom>
          <a:solidFill>
            <a:srgbClr val="2B3A8C"/>
          </a:solidFill>
          <a:ln w="12700">
            <a:solidFill>
              <a:srgbClr val="2B3A8C"/>
            </a:solidFill>
            <a:prstDash val="solid"/>
          </a:ln>
        </p:spPr>
      </p:sp>
      <p:sp>
        <p:nvSpPr>
          <p:cNvPr id="4" name="Text 2"/>
          <p:cNvSpPr/>
          <p:nvPr/>
        </p:nvSpPr>
        <p:spPr>
          <a:xfrm>
            <a:off x="274320" y="109728"/>
            <a:ext cx="1828800"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RESPONSIVE</a:t>
            </a:r>
            <a:endParaRPr lang="en-US" sz="1200" dirty="0"/>
          </a:p>
        </p:txBody>
      </p:sp>
      <p:sp>
        <p:nvSpPr>
          <p:cNvPr id="5" name="Shape 3"/>
          <p:cNvSpPr/>
          <p:nvPr/>
        </p:nvSpPr>
        <p:spPr>
          <a:xfrm>
            <a:off x="9875520" y="137160"/>
            <a:ext cx="2011680" cy="411480"/>
          </a:xfrm>
          <a:prstGeom prst="roundRect">
            <a:avLst>
              <a:gd name="adj" fmla="val 22222"/>
            </a:avLst>
          </a:prstGeom>
          <a:solidFill>
            <a:srgbClr val="5C1419"/>
          </a:solidFill>
          <a:ln w="12700">
            <a:solidFill>
              <a:srgbClr val="5C1419"/>
            </a:solidFill>
            <a:prstDash val="solid"/>
          </a:ln>
        </p:spPr>
      </p:sp>
      <p:sp>
        <p:nvSpPr>
          <p:cNvPr id="6" name="Text 4"/>
          <p:cNvSpPr/>
          <p:nvPr/>
        </p:nvSpPr>
        <p:spPr>
          <a:xfrm>
            <a:off x="9875520" y="137160"/>
            <a:ext cx="20116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DEVICES OFF</a:t>
            </a:r>
            <a:endParaRPr lang="en-US" sz="1100" dirty="0"/>
          </a:p>
        </p:txBody>
      </p:sp>
      <p:sp>
        <p:nvSpPr>
          <p:cNvPr id="7" name="Text 5"/>
          <p:cNvSpPr/>
          <p:nvPr/>
        </p:nvSpPr>
        <p:spPr>
          <a:xfrm>
            <a:off x="365760" y="640080"/>
            <a:ext cx="11430000" cy="594360"/>
          </a:xfrm>
          <a:prstGeom prst="rect">
            <a:avLst/>
          </a:prstGeom>
          <a:noFill/>
          <a:ln/>
        </p:spPr>
        <p:txBody>
          <a:bodyPr wrap="square" rtlCol="0" anchor="ctr"/>
          <a:lstStyle/>
          <a:p>
            <a:pPr algn="l" indent="0" marL="0">
              <a:buNone/>
            </a:pPr>
            <a:r>
              <a:rPr lang="en-US" sz="3600" b="1" dirty="0">
                <a:solidFill>
                  <a:srgbClr val="12100E"/>
                </a:solidFill>
                <a:latin typeface="Bookman Old Style" pitchFamily="34" charset="0"/>
                <a:ea typeface="Bookman Old Style" pitchFamily="34" charset="-122"/>
                <a:cs typeface="Bookman Old Style" pitchFamily="34" charset="-120"/>
              </a:rPr>
              <a:t>Group Share-Out</a:t>
            </a:r>
            <a:endParaRPr lang="en-US" sz="3600" dirty="0"/>
          </a:p>
        </p:txBody>
      </p:sp>
      <p:sp>
        <p:nvSpPr>
          <p:cNvPr id="8" name="Shape 6"/>
          <p:cNvSpPr/>
          <p:nvPr/>
        </p:nvSpPr>
        <p:spPr>
          <a:xfrm>
            <a:off x="365760" y="1417320"/>
            <a:ext cx="5394960" cy="4480560"/>
          </a:xfrm>
          <a:prstGeom prst="roundRect">
            <a:avLst>
              <a:gd name="adj" fmla="val 2449"/>
            </a:avLst>
          </a:prstGeom>
          <a:solidFill>
            <a:srgbClr val="FFFFFF"/>
          </a:solidFill>
          <a:ln w="12700">
            <a:solidFill>
              <a:srgbClr val="1B5E47"/>
            </a:solidFill>
            <a:prstDash val="solid"/>
          </a:ln>
        </p:spPr>
      </p:sp>
      <p:sp>
        <p:nvSpPr>
          <p:cNvPr id="9" name="Shape 7"/>
          <p:cNvSpPr/>
          <p:nvPr/>
        </p:nvSpPr>
        <p:spPr>
          <a:xfrm>
            <a:off x="365760" y="1417320"/>
            <a:ext cx="5394960" cy="502920"/>
          </a:xfrm>
          <a:prstGeom prst="rect">
            <a:avLst/>
          </a:prstGeom>
          <a:solidFill>
            <a:srgbClr val="1B5E47"/>
          </a:solidFill>
          <a:ln w="12700">
            <a:solidFill>
              <a:srgbClr val="1B5E47"/>
            </a:solidFill>
            <a:prstDash val="solid"/>
          </a:ln>
        </p:spPr>
      </p:sp>
      <p:sp>
        <p:nvSpPr>
          <p:cNvPr id="10" name="Text 8"/>
          <p:cNvSpPr/>
          <p:nvPr/>
        </p:nvSpPr>
        <p:spPr>
          <a:xfrm>
            <a:off x="548640" y="1417320"/>
            <a:ext cx="5029200" cy="50292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Each group shares:</a:t>
            </a:r>
            <a:endParaRPr lang="en-US" sz="1800" dirty="0"/>
          </a:p>
        </p:txBody>
      </p:sp>
      <p:sp>
        <p:nvSpPr>
          <p:cNvPr id="11" name="Text 9"/>
          <p:cNvSpPr/>
          <p:nvPr/>
        </p:nvSpPr>
        <p:spPr>
          <a:xfrm>
            <a:off x="548640" y="2057400"/>
            <a:ext cx="5029200" cy="822960"/>
          </a:xfrm>
          <a:prstGeom prst="rect">
            <a:avLst/>
          </a:prstGeom>
          <a:noFill/>
          <a:ln/>
        </p:spPr>
        <p:txBody>
          <a:bodyPr wrap="square" rtlCol="0" anchor="t"/>
          <a:lstStyle/>
          <a:p>
            <a:pPr algn="l" indent="0" marL="0">
              <a:buNone/>
            </a:pPr>
            <a:r>
              <a:rPr lang="en-US" sz="1800" dirty="0">
                <a:solidFill>
                  <a:srgbClr val="2C2A28"/>
                </a:solidFill>
                <a:latin typeface="Calibri" pitchFamily="34" charset="0"/>
                <a:ea typeface="Calibri" pitchFamily="34" charset="-122"/>
                <a:cs typeface="Calibri" pitchFamily="34" charset="-120"/>
              </a:rPr>
              <a:t>1. Your topic area in one sentence.</a:t>
            </a:r>
            <a:endParaRPr lang="en-US" sz="1800" dirty="0"/>
          </a:p>
        </p:txBody>
      </p:sp>
      <p:sp>
        <p:nvSpPr>
          <p:cNvPr id="12" name="Text 10"/>
          <p:cNvSpPr/>
          <p:nvPr/>
        </p:nvSpPr>
        <p:spPr>
          <a:xfrm>
            <a:off x="548640" y="2971800"/>
            <a:ext cx="5029200" cy="822960"/>
          </a:xfrm>
          <a:prstGeom prst="rect">
            <a:avLst/>
          </a:prstGeom>
          <a:noFill/>
          <a:ln/>
        </p:spPr>
        <p:txBody>
          <a:bodyPr wrap="square" rtlCol="0" anchor="t"/>
          <a:lstStyle/>
          <a:p>
            <a:pPr algn="l" indent="0" marL="0">
              <a:buNone/>
            </a:pPr>
            <a:r>
              <a:rPr lang="en-US" sz="1800" dirty="0">
                <a:solidFill>
                  <a:srgbClr val="2C2A28"/>
                </a:solidFill>
                <a:latin typeface="Calibri" pitchFamily="34" charset="0"/>
                <a:ea typeface="Calibri" pitchFamily="34" charset="-122"/>
                <a:cs typeface="Calibri" pitchFamily="34" charset="-120"/>
              </a:rPr>
              <a:t>2. One existing solution you found — and its biggest limitation.</a:t>
            </a:r>
            <a:endParaRPr lang="en-US" sz="1800" dirty="0"/>
          </a:p>
        </p:txBody>
      </p:sp>
      <p:sp>
        <p:nvSpPr>
          <p:cNvPr id="13" name="Text 11"/>
          <p:cNvSpPr/>
          <p:nvPr/>
        </p:nvSpPr>
        <p:spPr>
          <a:xfrm>
            <a:off x="548640" y="3886200"/>
            <a:ext cx="5029200" cy="822960"/>
          </a:xfrm>
          <a:prstGeom prst="rect">
            <a:avLst/>
          </a:prstGeom>
          <a:noFill/>
          <a:ln/>
        </p:spPr>
        <p:txBody>
          <a:bodyPr wrap="square" rtlCol="0" anchor="t"/>
          <a:lstStyle/>
          <a:p>
            <a:pPr algn="l" indent="0" marL="0">
              <a:buNone/>
            </a:pPr>
            <a:r>
              <a:rPr lang="en-US" sz="1800" dirty="0">
                <a:solidFill>
                  <a:srgbClr val="2C2A28"/>
                </a:solidFill>
                <a:latin typeface="Calibri" pitchFamily="34" charset="0"/>
                <a:ea typeface="Calibri" pitchFamily="34" charset="-122"/>
                <a:cs typeface="Calibri" pitchFamily="34" charset="-120"/>
              </a:rPr>
              <a:t>3. Who you identified as your main user.</a:t>
            </a:r>
            <a:endParaRPr lang="en-US" sz="1800" dirty="0"/>
          </a:p>
        </p:txBody>
      </p:sp>
      <p:sp>
        <p:nvSpPr>
          <p:cNvPr id="14" name="Text 12"/>
          <p:cNvSpPr/>
          <p:nvPr/>
        </p:nvSpPr>
        <p:spPr>
          <a:xfrm>
            <a:off x="548640" y="4800600"/>
            <a:ext cx="5029200" cy="822960"/>
          </a:xfrm>
          <a:prstGeom prst="rect">
            <a:avLst/>
          </a:prstGeom>
          <a:noFill/>
          <a:ln/>
        </p:spPr>
        <p:txBody>
          <a:bodyPr wrap="square" rtlCol="0" anchor="t"/>
          <a:lstStyle/>
          <a:p>
            <a:pPr algn="l" indent="0" marL="0">
              <a:buNone/>
            </a:pPr>
            <a:r>
              <a:rPr lang="en-US" sz="1800" dirty="0">
                <a:solidFill>
                  <a:srgbClr val="2C2A28"/>
                </a:solidFill>
                <a:latin typeface="Calibri" pitchFamily="34" charset="0"/>
                <a:ea typeface="Calibri" pitchFamily="34" charset="-122"/>
                <a:cs typeface="Calibri" pitchFamily="34" charset="-120"/>
              </a:rPr>
              <a:t>4. (If reached) Your first draft problem statement.</a:t>
            </a:r>
            <a:endParaRPr lang="en-US" sz="1800" dirty="0"/>
          </a:p>
        </p:txBody>
      </p:sp>
      <p:sp>
        <p:nvSpPr>
          <p:cNvPr id="15" name="Shape 13"/>
          <p:cNvSpPr/>
          <p:nvPr/>
        </p:nvSpPr>
        <p:spPr>
          <a:xfrm>
            <a:off x="6035040" y="1417320"/>
            <a:ext cx="5760720" cy="4480560"/>
          </a:xfrm>
          <a:prstGeom prst="roundRect">
            <a:avLst>
              <a:gd name="adj" fmla="val 2449"/>
            </a:avLst>
          </a:prstGeom>
          <a:solidFill>
            <a:srgbClr val="FFFFFF"/>
          </a:solidFill>
          <a:ln w="12700">
            <a:solidFill>
              <a:srgbClr val="2B3A8C"/>
            </a:solidFill>
            <a:prstDash val="solid"/>
          </a:ln>
        </p:spPr>
      </p:sp>
      <p:sp>
        <p:nvSpPr>
          <p:cNvPr id="16" name="Shape 14"/>
          <p:cNvSpPr/>
          <p:nvPr/>
        </p:nvSpPr>
        <p:spPr>
          <a:xfrm>
            <a:off x="6035040" y="1417320"/>
            <a:ext cx="5760720" cy="502920"/>
          </a:xfrm>
          <a:prstGeom prst="rect">
            <a:avLst/>
          </a:prstGeom>
          <a:solidFill>
            <a:srgbClr val="2B3A8C"/>
          </a:solidFill>
          <a:ln w="12700">
            <a:solidFill>
              <a:srgbClr val="2B3A8C"/>
            </a:solidFill>
            <a:prstDash val="solid"/>
          </a:ln>
        </p:spPr>
      </p:sp>
      <p:sp>
        <p:nvSpPr>
          <p:cNvPr id="17" name="Text 15"/>
          <p:cNvSpPr/>
          <p:nvPr/>
        </p:nvSpPr>
        <p:spPr>
          <a:xfrm>
            <a:off x="6217920" y="1417320"/>
            <a:ext cx="5394960" cy="50292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feedback questions:</a:t>
            </a:r>
            <a:endParaRPr lang="en-US" sz="1800" dirty="0"/>
          </a:p>
        </p:txBody>
      </p:sp>
      <p:sp>
        <p:nvSpPr>
          <p:cNvPr id="18" name="Text 16"/>
          <p:cNvSpPr/>
          <p:nvPr/>
        </p:nvSpPr>
        <p:spPr>
          <a:xfrm>
            <a:off x="6217920" y="2057400"/>
            <a:ext cx="5394960" cy="822960"/>
          </a:xfrm>
          <a:prstGeom prst="rect">
            <a:avLst/>
          </a:prstGeom>
          <a:noFill/>
          <a:ln/>
        </p:spPr>
        <p:txBody>
          <a:bodyPr wrap="square" rtlCol="0" anchor="t"/>
          <a:lstStyle/>
          <a:p>
            <a:pPr algn="l" indent="0" marL="0">
              <a:buNone/>
            </a:pPr>
            <a:r>
              <a:rPr lang="en-US" sz="1800" dirty="0">
                <a:solidFill>
                  <a:srgbClr val="2C2A28"/>
                </a:solidFill>
                <a:latin typeface="Calibri" pitchFamily="34" charset="0"/>
                <a:ea typeface="Calibri" pitchFamily="34" charset="-122"/>
                <a:cs typeface="Calibri" pitchFamily="34" charset="-120"/>
              </a:rPr>
              <a:t>→ Is the problem statement specific enough?</a:t>
            </a:r>
            <a:endParaRPr lang="en-US" sz="1800" dirty="0"/>
          </a:p>
        </p:txBody>
      </p:sp>
      <p:sp>
        <p:nvSpPr>
          <p:cNvPr id="19" name="Text 17"/>
          <p:cNvSpPr/>
          <p:nvPr/>
        </p:nvSpPr>
        <p:spPr>
          <a:xfrm>
            <a:off x="6217920" y="2971800"/>
            <a:ext cx="5394960" cy="822960"/>
          </a:xfrm>
          <a:prstGeom prst="rect">
            <a:avLst/>
          </a:prstGeom>
          <a:noFill/>
          <a:ln/>
        </p:spPr>
        <p:txBody>
          <a:bodyPr wrap="square" rtlCol="0" anchor="t"/>
          <a:lstStyle/>
          <a:p>
            <a:pPr algn="l" indent="0" marL="0">
              <a:buNone/>
            </a:pPr>
            <a:r>
              <a:rPr lang="en-US" sz="1800" dirty="0">
                <a:solidFill>
                  <a:srgbClr val="2C2A28"/>
                </a:solidFill>
                <a:latin typeface="Calibri" pitchFamily="34" charset="0"/>
                <a:ea typeface="Calibri" pitchFamily="34" charset="-122"/>
                <a:cs typeface="Calibri" pitchFamily="34" charset="-120"/>
              </a:rPr>
              <a:t>→ Is the user group focused?</a:t>
            </a:r>
            <a:endParaRPr lang="en-US" sz="1800" dirty="0"/>
          </a:p>
        </p:txBody>
      </p:sp>
      <p:sp>
        <p:nvSpPr>
          <p:cNvPr id="20" name="Text 18"/>
          <p:cNvSpPr/>
          <p:nvPr/>
        </p:nvSpPr>
        <p:spPr>
          <a:xfrm>
            <a:off x="6217920" y="3886200"/>
            <a:ext cx="5394960" cy="822960"/>
          </a:xfrm>
          <a:prstGeom prst="rect">
            <a:avLst/>
          </a:prstGeom>
          <a:noFill/>
          <a:ln/>
        </p:spPr>
        <p:txBody>
          <a:bodyPr wrap="square" rtlCol="0" anchor="t"/>
          <a:lstStyle/>
          <a:p>
            <a:pPr algn="l" indent="0" marL="0">
              <a:buNone/>
            </a:pPr>
            <a:r>
              <a:rPr lang="en-US" sz="1800" dirty="0">
                <a:solidFill>
                  <a:srgbClr val="2C2A28"/>
                </a:solidFill>
                <a:latin typeface="Calibri" pitchFamily="34" charset="0"/>
                <a:ea typeface="Calibri" pitchFamily="34" charset="-122"/>
                <a:cs typeface="Calibri" pitchFamily="34" charset="-120"/>
              </a:rPr>
              <a:t>→ Does the gap make sense given the existing solutions?</a:t>
            </a:r>
            <a:endParaRPr lang="en-US" sz="1800" dirty="0"/>
          </a:p>
        </p:txBody>
      </p:sp>
      <p:sp>
        <p:nvSpPr>
          <p:cNvPr id="21" name="Text 19"/>
          <p:cNvSpPr/>
          <p:nvPr/>
        </p:nvSpPr>
        <p:spPr>
          <a:xfrm>
            <a:off x="6217920" y="4800600"/>
            <a:ext cx="5394960" cy="822960"/>
          </a:xfrm>
          <a:prstGeom prst="rect">
            <a:avLst/>
          </a:prstGeom>
          <a:noFill/>
          <a:ln/>
        </p:spPr>
        <p:txBody>
          <a:bodyPr wrap="square" rtlCol="0" anchor="t"/>
          <a:lstStyle/>
          <a:p>
            <a:pPr algn="l" indent="0" marL="0">
              <a:buNone/>
            </a:pPr>
            <a:r>
              <a:rPr lang="en-US" sz="1800" dirty="0">
                <a:solidFill>
                  <a:srgbClr val="2C2A28"/>
                </a:solidFill>
                <a:latin typeface="Calibri" pitchFamily="34" charset="0"/>
                <a:ea typeface="Calibri" pitchFamily="34" charset="-122"/>
                <a:cs typeface="Calibri" pitchFamily="34" charset="-120"/>
              </a:rPr>
              <a:t>→ What evidence or research might strengthen this?</a:t>
            </a:r>
            <a:endParaRPr lang="en-US" sz="1800" dirty="0"/>
          </a:p>
        </p:txBody>
      </p:sp>
      <p:sp>
        <p:nvSpPr>
          <p:cNvPr id="22" name="Text 20"/>
          <p:cNvSpPr/>
          <p:nvPr/>
        </p:nvSpPr>
        <p:spPr>
          <a:xfrm>
            <a:off x="365760" y="6080760"/>
            <a:ext cx="11430000" cy="502920"/>
          </a:xfrm>
          <a:prstGeom prst="rect">
            <a:avLst/>
          </a:prstGeom>
          <a:noFill/>
          <a:ln/>
        </p:spPr>
        <p:txBody>
          <a:bodyPr wrap="square" rtlCol="0" anchor="ctr"/>
          <a:lstStyle/>
          <a:p>
            <a:pPr algn="l" indent="0" marL="0">
              <a:buNone/>
            </a:pPr>
            <a:r>
              <a:rPr lang="en-US" sz="1800" b="1" dirty="0">
                <a:solidFill>
                  <a:srgbClr val="2B3A8C"/>
                </a:solidFill>
                <a:latin typeface="Calibri" pitchFamily="34" charset="0"/>
                <a:ea typeface="Calibri" pitchFamily="34" charset="-122"/>
                <a:cs typeface="Calibri" pitchFamily="34" charset="-120"/>
              </a:rPr>
              <a:t>💬 Aim to hear from 3-4 groups. Students who are not presenting: listen for patterns across topics.</a:t>
            </a:r>
            <a:endParaRPr lang="en-US" sz="1800" dirty="0"/>
          </a:p>
        </p:txBody>
      </p:sp>
      <p:sp>
        <p:nvSpPr>
          <p:cNvPr id="23" name="Text 21"/>
          <p:cNvSpPr/>
          <p:nvPr/>
        </p:nvSpPr>
        <p:spPr>
          <a:xfrm>
            <a:off x="274320" y="6492240"/>
            <a:ext cx="11612880" cy="274320"/>
          </a:xfrm>
          <a:prstGeom prst="rect">
            <a:avLst/>
          </a:prstGeom>
          <a:noFill/>
          <a:ln/>
        </p:spPr>
        <p:txBody>
          <a:bodyPr wrap="square" rtlCol="0" anchor="ctr"/>
          <a:lstStyle/>
          <a:p>
            <a:pPr algn="l" indent="0" marL="0">
              <a:buNone/>
            </a:pPr>
            <a:r>
              <a:rPr lang="en-US" sz="1000" dirty="0">
                <a:solidFill>
                  <a:srgbClr val="6B6762"/>
                </a:solidFill>
                <a:latin typeface="Courier New" pitchFamily="34" charset="0"/>
                <a:ea typeface="Courier New" pitchFamily="34" charset="-122"/>
                <a:cs typeface="Courier New" pitchFamily="34" charset="-120"/>
              </a:rPr>
              <a:t>y11-ac-u2-l3-investigating-problem-space  ·  Mr Smith  ·  Year 11 Applied Computing</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100E"/>
          </a:solidFill>
          <a:ln w="12700">
            <a:solidFill>
              <a:srgbClr val="12100E"/>
            </a:solidFill>
            <a:prstDash val="solid"/>
          </a:ln>
        </p:spPr>
      </p:sp>
      <p:sp>
        <p:nvSpPr>
          <p:cNvPr id="3" name="Shape 1"/>
          <p:cNvSpPr/>
          <p:nvPr/>
        </p:nvSpPr>
        <p:spPr>
          <a:xfrm>
            <a:off x="274320" y="109728"/>
            <a:ext cx="1828800" cy="384048"/>
          </a:xfrm>
          <a:prstGeom prst="roundRect">
            <a:avLst>
              <a:gd name="adj" fmla="val 19048"/>
            </a:avLst>
          </a:prstGeom>
          <a:solidFill>
            <a:srgbClr val="8C1F28"/>
          </a:solidFill>
          <a:ln w="12700">
            <a:solidFill>
              <a:srgbClr val="8C1F28"/>
            </a:solidFill>
            <a:prstDash val="solid"/>
          </a:ln>
        </p:spPr>
      </p:sp>
      <p:sp>
        <p:nvSpPr>
          <p:cNvPr id="4" name="Text 2"/>
          <p:cNvSpPr/>
          <p:nvPr/>
        </p:nvSpPr>
        <p:spPr>
          <a:xfrm>
            <a:off x="274320" y="109728"/>
            <a:ext cx="1828800"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EXIT TICKET</a:t>
            </a:r>
            <a:endParaRPr lang="en-US" sz="1200" dirty="0"/>
          </a:p>
        </p:txBody>
      </p:sp>
      <p:sp>
        <p:nvSpPr>
          <p:cNvPr id="5" name="Shape 3"/>
          <p:cNvSpPr/>
          <p:nvPr/>
        </p:nvSpPr>
        <p:spPr>
          <a:xfrm>
            <a:off x="9875520" y="137160"/>
            <a:ext cx="2011680" cy="411480"/>
          </a:xfrm>
          <a:prstGeom prst="roundRect">
            <a:avLst>
              <a:gd name="adj" fmla="val 22222"/>
            </a:avLst>
          </a:prstGeom>
          <a:solidFill>
            <a:srgbClr val="0F3D2D"/>
          </a:solidFill>
          <a:ln w="12700">
            <a:solidFill>
              <a:srgbClr val="0F3D2D"/>
            </a:solidFill>
            <a:prstDash val="solid"/>
          </a:ln>
        </p:spPr>
      </p:sp>
      <p:sp>
        <p:nvSpPr>
          <p:cNvPr id="6" name="Text 4"/>
          <p:cNvSpPr/>
          <p:nvPr/>
        </p:nvSpPr>
        <p:spPr>
          <a:xfrm>
            <a:off x="9875520" y="137160"/>
            <a:ext cx="20116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DEVICES ON</a:t>
            </a:r>
            <a:endParaRPr lang="en-US" sz="1100" dirty="0"/>
          </a:p>
        </p:txBody>
      </p:sp>
      <p:sp>
        <p:nvSpPr>
          <p:cNvPr id="7" name="Text 5"/>
          <p:cNvSpPr/>
          <p:nvPr/>
        </p:nvSpPr>
        <p:spPr>
          <a:xfrm>
            <a:off x="457200" y="640080"/>
            <a:ext cx="11247120" cy="594360"/>
          </a:xfrm>
          <a:prstGeom prst="rect">
            <a:avLst/>
          </a:prstGeom>
          <a:noFill/>
          <a:ln/>
        </p:spPr>
        <p:txBody>
          <a:bodyPr wrap="square" rtlCol="0" anchor="ctr"/>
          <a:lstStyle/>
          <a:p>
            <a:pPr algn="l" indent="0" marL="0">
              <a:buNone/>
            </a:pPr>
            <a:r>
              <a:rPr lang="en-US" sz="3600" b="1" dirty="0">
                <a:solidFill>
                  <a:srgbClr val="FFFFFF"/>
                </a:solidFill>
                <a:latin typeface="Bookman Old Style" pitchFamily="34" charset="0"/>
                <a:ea typeface="Bookman Old Style" pitchFamily="34" charset="-122"/>
                <a:cs typeface="Bookman Old Style" pitchFamily="34" charset="-120"/>
              </a:rPr>
              <a:t>Exit Ticket</a:t>
            </a:r>
            <a:endParaRPr lang="en-US" sz="3600" dirty="0"/>
          </a:p>
        </p:txBody>
      </p:sp>
      <p:sp>
        <p:nvSpPr>
          <p:cNvPr id="8" name="Text 6"/>
          <p:cNvSpPr/>
          <p:nvPr/>
        </p:nvSpPr>
        <p:spPr>
          <a:xfrm>
            <a:off x="457200" y="1325880"/>
            <a:ext cx="11247120" cy="411480"/>
          </a:xfrm>
          <a:prstGeom prst="rect">
            <a:avLst/>
          </a:prstGeom>
          <a:noFill/>
          <a:ln/>
        </p:spPr>
        <p:txBody>
          <a:bodyPr wrap="square" rtlCol="0" anchor="ctr"/>
          <a:lstStyle/>
          <a:p>
            <a:pPr algn="l" indent="0" marL="0">
              <a:buNone/>
            </a:pPr>
            <a:r>
              <a:rPr lang="en-US" sz="2000" i="1" dirty="0">
                <a:solidFill>
                  <a:srgbClr val="6B6762"/>
                </a:solidFill>
                <a:latin typeface="Calibri" pitchFamily="34" charset="0"/>
                <a:ea typeface="Calibri" pitchFamily="34" charset="-122"/>
                <a:cs typeface="Calibri" pitchFamily="34" charset="-120"/>
              </a:rPr>
              <a:t>Complete in your workbook before the end of the lesson.</a:t>
            </a:r>
            <a:endParaRPr lang="en-US" sz="2000" dirty="0"/>
          </a:p>
        </p:txBody>
      </p:sp>
      <p:sp>
        <p:nvSpPr>
          <p:cNvPr id="9" name="Shape 7"/>
          <p:cNvSpPr/>
          <p:nvPr/>
        </p:nvSpPr>
        <p:spPr>
          <a:xfrm>
            <a:off x="457200" y="1920240"/>
            <a:ext cx="11247120" cy="1371600"/>
          </a:xfrm>
          <a:prstGeom prst="roundRect">
            <a:avLst>
              <a:gd name="adj" fmla="val 6667"/>
            </a:avLst>
          </a:prstGeom>
          <a:solidFill>
            <a:srgbClr val="2C2A28"/>
          </a:solidFill>
          <a:ln w="12700">
            <a:solidFill>
              <a:srgbClr val="1B5E47"/>
            </a:solidFill>
            <a:prstDash val="solid"/>
          </a:ln>
        </p:spPr>
      </p:sp>
      <p:sp>
        <p:nvSpPr>
          <p:cNvPr id="10" name="Text 8"/>
          <p:cNvSpPr/>
          <p:nvPr/>
        </p:nvSpPr>
        <p:spPr>
          <a:xfrm>
            <a:off x="640080" y="2011680"/>
            <a:ext cx="731520" cy="457200"/>
          </a:xfrm>
          <a:prstGeom prst="rect">
            <a:avLst/>
          </a:prstGeom>
          <a:noFill/>
          <a:ln/>
        </p:spPr>
        <p:txBody>
          <a:bodyPr wrap="square" rtlCol="0" anchor="ctr"/>
          <a:lstStyle/>
          <a:p>
            <a:pPr indent="0" marL="0">
              <a:buNone/>
            </a:pPr>
            <a:r>
              <a:rPr lang="en-US" sz="2200" b="1" dirty="0">
                <a:solidFill>
                  <a:srgbClr val="1B5E47"/>
                </a:solidFill>
                <a:latin typeface="Courier New" pitchFamily="34" charset="0"/>
                <a:ea typeface="Courier New" pitchFamily="34" charset="-122"/>
                <a:cs typeface="Courier New" pitchFamily="34" charset="-120"/>
              </a:rPr>
              <a:t>Q1</a:t>
            </a:r>
            <a:endParaRPr lang="en-US" sz="2200" dirty="0"/>
          </a:p>
        </p:txBody>
      </p:sp>
      <p:sp>
        <p:nvSpPr>
          <p:cNvPr id="11" name="Text 9"/>
          <p:cNvSpPr/>
          <p:nvPr/>
        </p:nvSpPr>
        <p:spPr>
          <a:xfrm>
            <a:off x="1280160" y="2039112"/>
            <a:ext cx="2286000" cy="365760"/>
          </a:xfrm>
          <a:prstGeom prst="rect">
            <a:avLst/>
          </a:prstGeom>
          <a:noFill/>
          <a:ln/>
        </p:spPr>
        <p:txBody>
          <a:bodyPr wrap="square" rtlCol="0" anchor="ctr"/>
          <a:lstStyle/>
          <a:p>
            <a:pPr indent="0" marL="0">
              <a:buNone/>
            </a:pPr>
            <a:r>
              <a:rPr lang="en-US" sz="1300" dirty="0">
                <a:solidFill>
                  <a:srgbClr val="1B5E47"/>
                </a:solidFill>
                <a:latin typeface="Courier New" pitchFamily="34" charset="0"/>
                <a:ea typeface="Courier New" pitchFamily="34" charset="-122"/>
                <a:cs typeface="Courier New" pitchFamily="34" charset="-120"/>
              </a:rPr>
              <a:t>Foundation</a:t>
            </a:r>
            <a:endParaRPr lang="en-US" sz="1300" dirty="0"/>
          </a:p>
        </p:txBody>
      </p:sp>
      <p:sp>
        <p:nvSpPr>
          <p:cNvPr id="12" name="Text 10"/>
          <p:cNvSpPr/>
          <p:nvPr/>
        </p:nvSpPr>
        <p:spPr>
          <a:xfrm>
            <a:off x="640080" y="2450592"/>
            <a:ext cx="10881360" cy="804672"/>
          </a:xfrm>
          <a:prstGeom prst="rect">
            <a:avLst/>
          </a:prstGeom>
          <a:noFill/>
          <a:ln/>
        </p:spPr>
        <p:txBody>
          <a:bodyPr wrap="square" rtlCol="0" anchor="t"/>
          <a:lstStyle/>
          <a:p>
            <a:pPr algn="l" indent="0" marL="0">
              <a:buNone/>
            </a:pPr>
            <a:r>
              <a:rPr lang="en-US" sz="1800" dirty="0">
                <a:solidFill>
                  <a:srgbClr val="FFFFFF"/>
                </a:solidFill>
                <a:latin typeface="Calibri" pitchFamily="34" charset="0"/>
                <a:ea typeface="Calibri" pitchFamily="34" charset="-122"/>
                <a:cs typeface="Calibri" pitchFamily="34" charset="-120"/>
              </a:rPr>
              <a:t>In your own words: what is the difference between primary and secondary research?</a:t>
            </a:r>
            <a:endParaRPr lang="en-US" sz="1800" dirty="0"/>
          </a:p>
        </p:txBody>
      </p:sp>
      <p:sp>
        <p:nvSpPr>
          <p:cNvPr id="13" name="Shape 11"/>
          <p:cNvSpPr/>
          <p:nvPr/>
        </p:nvSpPr>
        <p:spPr>
          <a:xfrm>
            <a:off x="457200" y="3383280"/>
            <a:ext cx="11247120" cy="1371600"/>
          </a:xfrm>
          <a:prstGeom prst="roundRect">
            <a:avLst>
              <a:gd name="adj" fmla="val 6667"/>
            </a:avLst>
          </a:prstGeom>
          <a:solidFill>
            <a:srgbClr val="2C2A28"/>
          </a:solidFill>
          <a:ln w="12700">
            <a:solidFill>
              <a:srgbClr val="B8620A"/>
            </a:solidFill>
            <a:prstDash val="solid"/>
          </a:ln>
        </p:spPr>
      </p:sp>
      <p:sp>
        <p:nvSpPr>
          <p:cNvPr id="14" name="Text 12"/>
          <p:cNvSpPr/>
          <p:nvPr/>
        </p:nvSpPr>
        <p:spPr>
          <a:xfrm>
            <a:off x="640080" y="3474720"/>
            <a:ext cx="731520" cy="457200"/>
          </a:xfrm>
          <a:prstGeom prst="rect">
            <a:avLst/>
          </a:prstGeom>
          <a:noFill/>
          <a:ln/>
        </p:spPr>
        <p:txBody>
          <a:bodyPr wrap="square" rtlCol="0" anchor="ctr"/>
          <a:lstStyle/>
          <a:p>
            <a:pPr indent="0" marL="0">
              <a:buNone/>
            </a:pPr>
            <a:r>
              <a:rPr lang="en-US" sz="2200" b="1" dirty="0">
                <a:solidFill>
                  <a:srgbClr val="B8620A"/>
                </a:solidFill>
                <a:latin typeface="Courier New" pitchFamily="34" charset="0"/>
                <a:ea typeface="Courier New" pitchFamily="34" charset="-122"/>
                <a:cs typeface="Courier New" pitchFamily="34" charset="-120"/>
              </a:rPr>
              <a:t>Q2</a:t>
            </a:r>
            <a:endParaRPr lang="en-US" sz="2200" dirty="0"/>
          </a:p>
        </p:txBody>
      </p:sp>
      <p:sp>
        <p:nvSpPr>
          <p:cNvPr id="15" name="Text 13"/>
          <p:cNvSpPr/>
          <p:nvPr/>
        </p:nvSpPr>
        <p:spPr>
          <a:xfrm>
            <a:off x="1280160" y="3502152"/>
            <a:ext cx="2286000" cy="365760"/>
          </a:xfrm>
          <a:prstGeom prst="rect">
            <a:avLst/>
          </a:prstGeom>
          <a:noFill/>
          <a:ln/>
        </p:spPr>
        <p:txBody>
          <a:bodyPr wrap="square" rtlCol="0" anchor="ctr"/>
          <a:lstStyle/>
          <a:p>
            <a:pPr indent="0" marL="0">
              <a:buNone/>
            </a:pPr>
            <a:r>
              <a:rPr lang="en-US" sz="1300" dirty="0">
                <a:solidFill>
                  <a:srgbClr val="B8620A"/>
                </a:solidFill>
                <a:latin typeface="Courier New" pitchFamily="34" charset="0"/>
                <a:ea typeface="Courier New" pitchFamily="34" charset="-122"/>
                <a:cs typeface="Courier New" pitchFamily="34" charset="-120"/>
              </a:rPr>
              <a:t>Developing</a:t>
            </a:r>
            <a:endParaRPr lang="en-US" sz="1300" dirty="0"/>
          </a:p>
        </p:txBody>
      </p:sp>
      <p:sp>
        <p:nvSpPr>
          <p:cNvPr id="16" name="Text 14"/>
          <p:cNvSpPr/>
          <p:nvPr/>
        </p:nvSpPr>
        <p:spPr>
          <a:xfrm>
            <a:off x="640080" y="3913632"/>
            <a:ext cx="10881360" cy="804672"/>
          </a:xfrm>
          <a:prstGeom prst="rect">
            <a:avLst/>
          </a:prstGeom>
          <a:noFill/>
          <a:ln/>
        </p:spPr>
        <p:txBody>
          <a:bodyPr wrap="square" rtlCol="0" anchor="t"/>
          <a:lstStyle/>
          <a:p>
            <a:pPr algn="l" indent="0" marL="0">
              <a:buNone/>
            </a:pPr>
            <a:r>
              <a:rPr lang="en-US" sz="1800" dirty="0">
                <a:solidFill>
                  <a:srgbClr val="FFFFFF"/>
                </a:solidFill>
                <a:latin typeface="Calibri" pitchFamily="34" charset="0"/>
                <a:ea typeface="Calibri" pitchFamily="34" charset="-122"/>
                <a:cs typeface="Calibri" pitchFamily="34" charset="-120"/>
              </a:rPr>
              <a:t>Write your group's first draft problem statement using the formula. Don't copy from notes — write from memory.</a:t>
            </a:r>
            <a:endParaRPr lang="en-US" sz="1800" dirty="0"/>
          </a:p>
        </p:txBody>
      </p:sp>
      <p:sp>
        <p:nvSpPr>
          <p:cNvPr id="17" name="Shape 15"/>
          <p:cNvSpPr/>
          <p:nvPr/>
        </p:nvSpPr>
        <p:spPr>
          <a:xfrm>
            <a:off x="457200" y="4846320"/>
            <a:ext cx="11247120" cy="1371600"/>
          </a:xfrm>
          <a:prstGeom prst="roundRect">
            <a:avLst>
              <a:gd name="adj" fmla="val 6667"/>
            </a:avLst>
          </a:prstGeom>
          <a:solidFill>
            <a:srgbClr val="2C2A28"/>
          </a:solidFill>
          <a:ln w="12700">
            <a:solidFill>
              <a:srgbClr val="2B3A8C"/>
            </a:solidFill>
            <a:prstDash val="solid"/>
          </a:ln>
        </p:spPr>
      </p:sp>
      <p:sp>
        <p:nvSpPr>
          <p:cNvPr id="18" name="Text 16"/>
          <p:cNvSpPr/>
          <p:nvPr/>
        </p:nvSpPr>
        <p:spPr>
          <a:xfrm>
            <a:off x="640080" y="4937760"/>
            <a:ext cx="731520" cy="457200"/>
          </a:xfrm>
          <a:prstGeom prst="rect">
            <a:avLst/>
          </a:prstGeom>
          <a:noFill/>
          <a:ln/>
        </p:spPr>
        <p:txBody>
          <a:bodyPr wrap="square" rtlCol="0" anchor="ctr"/>
          <a:lstStyle/>
          <a:p>
            <a:pPr indent="0" marL="0">
              <a:buNone/>
            </a:pPr>
            <a:r>
              <a:rPr lang="en-US" sz="2200" b="1" dirty="0">
                <a:solidFill>
                  <a:srgbClr val="2B3A8C"/>
                </a:solidFill>
                <a:latin typeface="Courier New" pitchFamily="34" charset="0"/>
                <a:ea typeface="Courier New" pitchFamily="34" charset="-122"/>
                <a:cs typeface="Courier New" pitchFamily="34" charset="-120"/>
              </a:rPr>
              <a:t>Q3</a:t>
            </a:r>
            <a:endParaRPr lang="en-US" sz="2200" dirty="0"/>
          </a:p>
        </p:txBody>
      </p:sp>
      <p:sp>
        <p:nvSpPr>
          <p:cNvPr id="19" name="Text 17"/>
          <p:cNvSpPr/>
          <p:nvPr/>
        </p:nvSpPr>
        <p:spPr>
          <a:xfrm>
            <a:off x="1280160" y="4965192"/>
            <a:ext cx="2286000" cy="365760"/>
          </a:xfrm>
          <a:prstGeom prst="rect">
            <a:avLst/>
          </a:prstGeom>
          <a:noFill/>
          <a:ln/>
        </p:spPr>
        <p:txBody>
          <a:bodyPr wrap="square" rtlCol="0" anchor="ctr"/>
          <a:lstStyle/>
          <a:p>
            <a:pPr indent="0" marL="0">
              <a:buNone/>
            </a:pPr>
            <a:r>
              <a:rPr lang="en-US" sz="1300" dirty="0">
                <a:solidFill>
                  <a:srgbClr val="2B3A8C"/>
                </a:solidFill>
                <a:latin typeface="Courier New" pitchFamily="34" charset="0"/>
                <a:ea typeface="Courier New" pitchFamily="34" charset="-122"/>
                <a:cs typeface="Courier New" pitchFamily="34" charset="-120"/>
              </a:rPr>
              <a:t>Extending</a:t>
            </a:r>
            <a:endParaRPr lang="en-US" sz="1300" dirty="0"/>
          </a:p>
        </p:txBody>
      </p:sp>
      <p:sp>
        <p:nvSpPr>
          <p:cNvPr id="20" name="Text 18"/>
          <p:cNvSpPr/>
          <p:nvPr/>
        </p:nvSpPr>
        <p:spPr>
          <a:xfrm>
            <a:off x="640080" y="5376672"/>
            <a:ext cx="10881360" cy="804672"/>
          </a:xfrm>
          <a:prstGeom prst="rect">
            <a:avLst/>
          </a:prstGeom>
          <a:noFill/>
          <a:ln/>
        </p:spPr>
        <p:txBody>
          <a:bodyPr wrap="square" rtlCol="0" anchor="t"/>
          <a:lstStyle/>
          <a:p>
            <a:pPr algn="l" indent="0" marL="0">
              <a:buNone/>
            </a:pPr>
            <a:r>
              <a:rPr lang="en-US" sz="1800" dirty="0">
                <a:solidFill>
                  <a:srgbClr val="FFFFFF"/>
                </a:solidFill>
                <a:latin typeface="Calibri" pitchFamily="34" charset="0"/>
                <a:ea typeface="Calibri" pitchFamily="34" charset="-122"/>
                <a:cs typeface="Calibri" pitchFamily="34" charset="-120"/>
              </a:rPr>
              <a:t>Explain why your identified user group is specific enough, and what evidence you used to justify the gap.</a:t>
            </a:r>
            <a:endParaRPr lang="en-US" sz="1800" dirty="0"/>
          </a:p>
        </p:txBody>
      </p:sp>
      <p:sp>
        <p:nvSpPr>
          <p:cNvPr id="21" name="Text 19"/>
          <p:cNvSpPr/>
          <p:nvPr/>
        </p:nvSpPr>
        <p:spPr>
          <a:xfrm>
            <a:off x="457200" y="6446520"/>
            <a:ext cx="11247120" cy="347472"/>
          </a:xfrm>
          <a:prstGeom prst="rect">
            <a:avLst/>
          </a:prstGeom>
          <a:noFill/>
          <a:ln/>
        </p:spPr>
        <p:txBody>
          <a:bodyPr wrap="square" rtlCol="0" anchor="ctr"/>
          <a:lstStyle/>
          <a:p>
            <a:pPr algn="l" indent="0" marL="0">
              <a:buNone/>
            </a:pPr>
            <a:r>
              <a:rPr lang="en-US" sz="1400" dirty="0">
                <a:solidFill>
                  <a:srgbClr val="8C1F28"/>
                </a:solidFill>
                <a:latin typeface="Courier New" pitchFamily="34" charset="0"/>
                <a:ea typeface="Courier New" pitchFamily="34" charset="-122"/>
                <a:cs typeface="Courier New" pitchFamily="34" charset="-120"/>
              </a:rPr>
              <a:t>Workbook  →  Section 4: Exit Ticket</a:t>
            </a:r>
            <a:endParaRPr lang="en-US" sz="1400" dirty="0"/>
          </a:p>
        </p:txBody>
      </p:sp>
      <p:sp>
        <p:nvSpPr>
          <p:cNvPr id="22" name="Text 20"/>
          <p:cNvSpPr/>
          <p:nvPr/>
        </p:nvSpPr>
        <p:spPr>
          <a:xfrm>
            <a:off x="274320" y="6492240"/>
            <a:ext cx="11612880" cy="274320"/>
          </a:xfrm>
          <a:prstGeom prst="rect">
            <a:avLst/>
          </a:prstGeom>
          <a:noFill/>
          <a:ln/>
        </p:spPr>
        <p:txBody>
          <a:bodyPr wrap="square" rtlCol="0" anchor="ctr"/>
          <a:lstStyle/>
          <a:p>
            <a:pPr algn="l" indent="0" marL="0">
              <a:buNone/>
            </a:pPr>
            <a:r>
              <a:rPr lang="en-US" sz="1000" dirty="0">
                <a:solidFill>
                  <a:srgbClr val="6B6762"/>
                </a:solidFill>
                <a:latin typeface="Courier New" pitchFamily="34" charset="0"/>
                <a:ea typeface="Courier New" pitchFamily="34" charset="-122"/>
                <a:cs typeface="Courier New" pitchFamily="34" charset="-120"/>
              </a:rPr>
              <a:t>y11-ac-u2-l3-investigating-problem-space  ·  Mr Smith  ·  Year 11 Applied Computing</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3EC"/>
          </a:solidFill>
          <a:ln w="12700">
            <a:solidFill>
              <a:srgbClr val="F7F3EC"/>
            </a:solidFill>
            <a:prstDash val="solid"/>
          </a:ln>
        </p:spPr>
      </p:sp>
      <p:sp>
        <p:nvSpPr>
          <p:cNvPr id="3" name="Shape 1"/>
          <p:cNvSpPr/>
          <p:nvPr/>
        </p:nvSpPr>
        <p:spPr>
          <a:xfrm>
            <a:off x="274320" y="109728"/>
            <a:ext cx="1828800" cy="384048"/>
          </a:xfrm>
          <a:prstGeom prst="roundRect">
            <a:avLst>
              <a:gd name="adj" fmla="val 19048"/>
            </a:avLst>
          </a:prstGeom>
          <a:solidFill>
            <a:srgbClr val="1B5E47"/>
          </a:solidFill>
          <a:ln w="12700">
            <a:solidFill>
              <a:srgbClr val="1B5E47"/>
            </a:solidFill>
            <a:prstDash val="solid"/>
          </a:ln>
        </p:spPr>
      </p:sp>
      <p:sp>
        <p:nvSpPr>
          <p:cNvPr id="4" name="Text 2"/>
          <p:cNvSpPr/>
          <p:nvPr/>
        </p:nvSpPr>
        <p:spPr>
          <a:xfrm>
            <a:off x="274320" y="109728"/>
            <a:ext cx="1828800"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PROGRESS</a:t>
            </a:r>
            <a:endParaRPr lang="en-US" sz="1200" dirty="0"/>
          </a:p>
        </p:txBody>
      </p:sp>
      <p:sp>
        <p:nvSpPr>
          <p:cNvPr id="5" name="Shape 3"/>
          <p:cNvSpPr/>
          <p:nvPr/>
        </p:nvSpPr>
        <p:spPr>
          <a:xfrm>
            <a:off x="9875520" y="137160"/>
            <a:ext cx="2011680" cy="411480"/>
          </a:xfrm>
          <a:prstGeom prst="roundRect">
            <a:avLst>
              <a:gd name="adj" fmla="val 22222"/>
            </a:avLst>
          </a:prstGeom>
          <a:solidFill>
            <a:srgbClr val="0F3D2D"/>
          </a:solidFill>
          <a:ln w="12700">
            <a:solidFill>
              <a:srgbClr val="0F3D2D"/>
            </a:solidFill>
            <a:prstDash val="solid"/>
          </a:ln>
        </p:spPr>
      </p:sp>
      <p:sp>
        <p:nvSpPr>
          <p:cNvPr id="6" name="Text 4"/>
          <p:cNvSpPr/>
          <p:nvPr/>
        </p:nvSpPr>
        <p:spPr>
          <a:xfrm>
            <a:off x="9875520" y="137160"/>
            <a:ext cx="20116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DEVICES ON</a:t>
            </a:r>
            <a:endParaRPr lang="en-US" sz="1100" dirty="0"/>
          </a:p>
        </p:txBody>
      </p:sp>
      <p:sp>
        <p:nvSpPr>
          <p:cNvPr id="7" name="Text 5"/>
          <p:cNvSpPr/>
          <p:nvPr/>
        </p:nvSpPr>
        <p:spPr>
          <a:xfrm>
            <a:off x="365760" y="640080"/>
            <a:ext cx="11430000" cy="594360"/>
          </a:xfrm>
          <a:prstGeom prst="rect">
            <a:avLst/>
          </a:prstGeom>
          <a:noFill/>
          <a:ln/>
        </p:spPr>
        <p:txBody>
          <a:bodyPr wrap="square" rtlCol="0" anchor="ctr"/>
          <a:lstStyle/>
          <a:p>
            <a:pPr algn="l" indent="0" marL="0">
              <a:buNone/>
            </a:pPr>
            <a:r>
              <a:rPr lang="en-US" sz="3600" b="1" dirty="0">
                <a:solidFill>
                  <a:srgbClr val="12100E"/>
                </a:solidFill>
                <a:latin typeface="Bookman Old Style" pitchFamily="34" charset="0"/>
                <a:ea typeface="Bookman Old Style" pitchFamily="34" charset="-122"/>
                <a:cs typeface="Bookman Old Style" pitchFamily="34" charset="-120"/>
              </a:rPr>
              <a:t>Where Should Your Group Be?</a:t>
            </a:r>
            <a:endParaRPr lang="en-US" sz="3600" dirty="0"/>
          </a:p>
        </p:txBody>
      </p:sp>
      <p:sp>
        <p:nvSpPr>
          <p:cNvPr id="8" name="Text 6"/>
          <p:cNvSpPr/>
          <p:nvPr/>
        </p:nvSpPr>
        <p:spPr>
          <a:xfrm>
            <a:off x="365760" y="1325880"/>
            <a:ext cx="11430000" cy="411480"/>
          </a:xfrm>
          <a:prstGeom prst="rect">
            <a:avLst/>
          </a:prstGeom>
          <a:noFill/>
          <a:ln/>
        </p:spPr>
        <p:txBody>
          <a:bodyPr wrap="square" rtlCol="0" anchor="ctr"/>
          <a:lstStyle/>
          <a:p>
            <a:pPr algn="l" indent="0" marL="0">
              <a:buNone/>
            </a:pPr>
            <a:r>
              <a:rPr lang="en-US" sz="1800" dirty="0">
                <a:solidFill>
                  <a:srgbClr val="6B6762"/>
                </a:solidFill>
                <a:latin typeface="Courier New" pitchFamily="34" charset="0"/>
                <a:ea typeface="Courier New" pitchFamily="34" charset="-122"/>
                <a:cs typeface="Courier New" pitchFamily="34" charset="-120"/>
              </a:rPr>
              <a:t>Unit 2 Project — AoS 1: Innovative Solutions</a:t>
            </a:r>
            <a:endParaRPr lang="en-US" sz="1800" dirty="0"/>
          </a:p>
        </p:txBody>
      </p:sp>
      <p:sp>
        <p:nvSpPr>
          <p:cNvPr id="9" name="Shape 7"/>
          <p:cNvSpPr/>
          <p:nvPr/>
        </p:nvSpPr>
        <p:spPr>
          <a:xfrm>
            <a:off x="914400" y="2103120"/>
            <a:ext cx="822960" cy="822960"/>
          </a:xfrm>
          <a:prstGeom prst="ellipse">
            <a:avLst/>
          </a:prstGeom>
          <a:solidFill>
            <a:srgbClr val="1B5E47"/>
          </a:solidFill>
          <a:ln w="12700">
            <a:solidFill>
              <a:srgbClr val="1B5E47"/>
            </a:solidFill>
            <a:prstDash val="solid"/>
          </a:ln>
        </p:spPr>
      </p:sp>
      <p:sp>
        <p:nvSpPr>
          <p:cNvPr id="10" name="Text 8"/>
          <p:cNvSpPr/>
          <p:nvPr/>
        </p:nvSpPr>
        <p:spPr>
          <a:xfrm>
            <a:off x="914400" y="2103120"/>
            <a:ext cx="822960" cy="82296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457200" y="3017520"/>
            <a:ext cx="1828800" cy="457200"/>
          </a:xfrm>
          <a:prstGeom prst="rect">
            <a:avLst/>
          </a:prstGeom>
          <a:noFill/>
          <a:ln/>
        </p:spPr>
        <p:txBody>
          <a:bodyPr wrap="square" rtlCol="0" anchor="ctr"/>
          <a:lstStyle/>
          <a:p>
            <a:pPr algn="ctr" indent="0" marL="0">
              <a:buNone/>
            </a:pPr>
            <a:r>
              <a:rPr lang="en-US" sz="1400" dirty="0">
                <a:solidFill>
                  <a:srgbClr val="1B5E47"/>
                </a:solidFill>
                <a:latin typeface="Courier New" pitchFamily="34" charset="0"/>
                <a:ea typeface="Courier New" pitchFamily="34" charset="-122"/>
                <a:cs typeface="Courier New" pitchFamily="34" charset="-120"/>
              </a:rPr>
              <a:t>D1.1</a:t>
            </a:r>
            <a:endParaRPr lang="en-US" sz="1400" dirty="0"/>
          </a:p>
        </p:txBody>
      </p:sp>
      <p:sp>
        <p:nvSpPr>
          <p:cNvPr id="12" name="Text 10"/>
          <p:cNvSpPr/>
          <p:nvPr/>
        </p:nvSpPr>
        <p:spPr>
          <a:xfrm>
            <a:off x="457200" y="3474720"/>
            <a:ext cx="1828800" cy="914400"/>
          </a:xfrm>
          <a:prstGeom prst="rect">
            <a:avLst/>
          </a:prstGeom>
          <a:noFill/>
          <a:ln/>
        </p:spPr>
        <p:txBody>
          <a:bodyPr wrap="square" rtlCol="0" anchor="ctr"/>
          <a:lstStyle/>
          <a:p>
            <a:pPr algn="ctr" indent="0" marL="0">
              <a:buNone/>
            </a:pPr>
            <a:r>
              <a:rPr lang="en-US" sz="1600" dirty="0">
                <a:solidFill>
                  <a:srgbClr val="1B5E47"/>
                </a:solidFill>
                <a:latin typeface="Calibri" pitchFamily="34" charset="0"/>
                <a:ea typeface="Calibri" pitchFamily="34" charset="-122"/>
                <a:cs typeface="Calibri" pitchFamily="34" charset="-120"/>
              </a:rPr>
              <a:t>Launch</a:t>
            </a:r>
            <a:endParaRPr lang="en-US" sz="1600" dirty="0"/>
          </a:p>
          <a:p>
            <a:pPr algn="ctr" indent="0" marL="0">
              <a:buNone/>
            </a:pPr>
            <a:r>
              <a:rPr lang="en-US" sz="1600" dirty="0">
                <a:solidFill>
                  <a:srgbClr val="1B5E47"/>
                </a:solidFill>
                <a:latin typeface="Calibri" pitchFamily="34" charset="0"/>
                <a:ea typeface="Calibri" pitchFamily="34" charset="-122"/>
                <a:cs typeface="Calibri" pitchFamily="34" charset="-120"/>
              </a:rPr>
              <a:t>&amp; Topic Selection</a:t>
            </a:r>
            <a:endParaRPr lang="en-US" sz="1600" dirty="0"/>
          </a:p>
        </p:txBody>
      </p:sp>
      <p:sp>
        <p:nvSpPr>
          <p:cNvPr id="13" name="Shape 11"/>
          <p:cNvSpPr/>
          <p:nvPr/>
        </p:nvSpPr>
        <p:spPr>
          <a:xfrm>
            <a:off x="1783080" y="2450592"/>
            <a:ext cx="1005840" cy="128016"/>
          </a:xfrm>
          <a:prstGeom prst="rect">
            <a:avLst/>
          </a:prstGeom>
          <a:solidFill>
            <a:srgbClr val="D8D3CA"/>
          </a:solidFill>
          <a:ln w="12700">
            <a:solidFill>
              <a:srgbClr val="D8D3CA"/>
            </a:solidFill>
            <a:prstDash val="solid"/>
          </a:ln>
        </p:spPr>
      </p:sp>
      <p:sp>
        <p:nvSpPr>
          <p:cNvPr id="14" name="Shape 12"/>
          <p:cNvSpPr/>
          <p:nvPr/>
        </p:nvSpPr>
        <p:spPr>
          <a:xfrm>
            <a:off x="3246120" y="2103120"/>
            <a:ext cx="822960" cy="822960"/>
          </a:xfrm>
          <a:prstGeom prst="ellipse">
            <a:avLst/>
          </a:prstGeom>
          <a:solidFill>
            <a:srgbClr val="1B5E47"/>
          </a:solidFill>
          <a:ln w="12700">
            <a:solidFill>
              <a:srgbClr val="1B5E47"/>
            </a:solidFill>
            <a:prstDash val="solid"/>
          </a:ln>
        </p:spPr>
      </p:sp>
      <p:sp>
        <p:nvSpPr>
          <p:cNvPr id="15" name="Text 13"/>
          <p:cNvSpPr/>
          <p:nvPr/>
        </p:nvSpPr>
        <p:spPr>
          <a:xfrm>
            <a:off x="3246120" y="2103120"/>
            <a:ext cx="822960" cy="82296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6" name="Text 14"/>
          <p:cNvSpPr/>
          <p:nvPr/>
        </p:nvSpPr>
        <p:spPr>
          <a:xfrm>
            <a:off x="2788920" y="3017520"/>
            <a:ext cx="1828800" cy="457200"/>
          </a:xfrm>
          <a:prstGeom prst="rect">
            <a:avLst/>
          </a:prstGeom>
          <a:noFill/>
          <a:ln/>
        </p:spPr>
        <p:txBody>
          <a:bodyPr wrap="square" rtlCol="0" anchor="ctr"/>
          <a:lstStyle/>
          <a:p>
            <a:pPr algn="ctr" indent="0" marL="0">
              <a:buNone/>
            </a:pPr>
            <a:r>
              <a:rPr lang="en-US" sz="1400" dirty="0">
                <a:solidFill>
                  <a:srgbClr val="1B5E47"/>
                </a:solidFill>
                <a:latin typeface="Courier New" pitchFamily="34" charset="0"/>
                <a:ea typeface="Courier New" pitchFamily="34" charset="-122"/>
                <a:cs typeface="Courier New" pitchFamily="34" charset="-120"/>
              </a:rPr>
              <a:t>D1.2</a:t>
            </a:r>
            <a:endParaRPr lang="en-US" sz="1400" dirty="0"/>
          </a:p>
        </p:txBody>
      </p:sp>
      <p:sp>
        <p:nvSpPr>
          <p:cNvPr id="17" name="Text 15"/>
          <p:cNvSpPr/>
          <p:nvPr/>
        </p:nvSpPr>
        <p:spPr>
          <a:xfrm>
            <a:off x="2788920" y="3474720"/>
            <a:ext cx="1828800" cy="914400"/>
          </a:xfrm>
          <a:prstGeom prst="rect">
            <a:avLst/>
          </a:prstGeom>
          <a:noFill/>
          <a:ln/>
        </p:spPr>
        <p:txBody>
          <a:bodyPr wrap="square" rtlCol="0" anchor="ctr"/>
          <a:lstStyle/>
          <a:p>
            <a:pPr algn="ctr" indent="0" marL="0">
              <a:buNone/>
            </a:pPr>
            <a:r>
              <a:rPr lang="en-US" sz="1600" dirty="0">
                <a:solidFill>
                  <a:srgbClr val="1B5E47"/>
                </a:solidFill>
                <a:latin typeface="Calibri" pitchFamily="34" charset="0"/>
                <a:ea typeface="Calibri" pitchFamily="34" charset="-122"/>
                <a:cs typeface="Calibri" pitchFamily="34" charset="-120"/>
              </a:rPr>
              <a:t>Digital Systems</a:t>
            </a:r>
            <a:endParaRPr lang="en-US" sz="1600" dirty="0"/>
          </a:p>
          <a:p>
            <a:pPr algn="ctr" indent="0" marL="0">
              <a:buNone/>
            </a:pPr>
            <a:r>
              <a:rPr lang="en-US" sz="1600" dirty="0">
                <a:solidFill>
                  <a:srgbClr val="1B5E47"/>
                </a:solidFill>
                <a:latin typeface="Calibri" pitchFamily="34" charset="0"/>
                <a:ea typeface="Calibri" pitchFamily="34" charset="-122"/>
                <a:cs typeface="Calibri" pitchFamily="34" charset="-120"/>
              </a:rPr>
              <a:t>in Context</a:t>
            </a:r>
            <a:endParaRPr lang="en-US" sz="1600" dirty="0"/>
          </a:p>
        </p:txBody>
      </p:sp>
      <p:sp>
        <p:nvSpPr>
          <p:cNvPr id="18" name="Shape 16"/>
          <p:cNvSpPr/>
          <p:nvPr/>
        </p:nvSpPr>
        <p:spPr>
          <a:xfrm>
            <a:off x="4114800" y="2450592"/>
            <a:ext cx="1005840" cy="128016"/>
          </a:xfrm>
          <a:prstGeom prst="rect">
            <a:avLst/>
          </a:prstGeom>
          <a:solidFill>
            <a:srgbClr val="D8D3CA"/>
          </a:solidFill>
          <a:ln w="12700">
            <a:solidFill>
              <a:srgbClr val="D8D3CA"/>
            </a:solidFill>
            <a:prstDash val="solid"/>
          </a:ln>
        </p:spPr>
      </p:sp>
      <p:sp>
        <p:nvSpPr>
          <p:cNvPr id="19" name="Shape 17"/>
          <p:cNvSpPr/>
          <p:nvPr/>
        </p:nvSpPr>
        <p:spPr>
          <a:xfrm>
            <a:off x="5577840" y="2103120"/>
            <a:ext cx="822960" cy="822960"/>
          </a:xfrm>
          <a:prstGeom prst="ellipse">
            <a:avLst/>
          </a:prstGeom>
          <a:solidFill>
            <a:srgbClr val="B8620A"/>
          </a:solidFill>
          <a:ln w="12700">
            <a:solidFill>
              <a:srgbClr val="B8620A"/>
            </a:solidFill>
            <a:prstDash val="solid"/>
          </a:ln>
        </p:spPr>
      </p:sp>
      <p:sp>
        <p:nvSpPr>
          <p:cNvPr id="20" name="Text 18"/>
          <p:cNvSpPr/>
          <p:nvPr/>
        </p:nvSpPr>
        <p:spPr>
          <a:xfrm>
            <a:off x="5577840" y="2103120"/>
            <a:ext cx="822960" cy="82296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1" name="Text 19"/>
          <p:cNvSpPr/>
          <p:nvPr/>
        </p:nvSpPr>
        <p:spPr>
          <a:xfrm>
            <a:off x="5120640" y="3017520"/>
            <a:ext cx="1828800" cy="457200"/>
          </a:xfrm>
          <a:prstGeom prst="rect">
            <a:avLst/>
          </a:prstGeom>
          <a:noFill/>
          <a:ln/>
        </p:spPr>
        <p:txBody>
          <a:bodyPr wrap="square" rtlCol="0" anchor="ctr"/>
          <a:lstStyle/>
          <a:p>
            <a:pPr algn="ctr" indent="0" marL="0">
              <a:buNone/>
            </a:pPr>
            <a:r>
              <a:rPr lang="en-US" sz="1400" dirty="0">
                <a:solidFill>
                  <a:srgbClr val="B8620A"/>
                </a:solidFill>
                <a:latin typeface="Courier New" pitchFamily="34" charset="0"/>
                <a:ea typeface="Courier New" pitchFamily="34" charset="-122"/>
                <a:cs typeface="Courier New" pitchFamily="34" charset="-120"/>
              </a:rPr>
              <a:t>D2.1</a:t>
            </a:r>
            <a:endParaRPr lang="en-US" sz="1400" dirty="0"/>
          </a:p>
        </p:txBody>
      </p:sp>
      <p:sp>
        <p:nvSpPr>
          <p:cNvPr id="22" name="Text 20"/>
          <p:cNvSpPr/>
          <p:nvPr/>
        </p:nvSpPr>
        <p:spPr>
          <a:xfrm>
            <a:off x="5120640" y="3474720"/>
            <a:ext cx="1828800" cy="914400"/>
          </a:xfrm>
          <a:prstGeom prst="rect">
            <a:avLst/>
          </a:prstGeom>
          <a:noFill/>
          <a:ln/>
        </p:spPr>
        <p:txBody>
          <a:bodyPr wrap="square" rtlCol="0" anchor="ctr"/>
          <a:lstStyle/>
          <a:p>
            <a:pPr algn="ctr" indent="0" marL="0">
              <a:buNone/>
            </a:pPr>
            <a:r>
              <a:rPr lang="en-US" sz="1600" dirty="0">
                <a:solidFill>
                  <a:srgbClr val="B8620A"/>
                </a:solidFill>
                <a:latin typeface="Calibri" pitchFamily="34" charset="0"/>
                <a:ea typeface="Calibri" pitchFamily="34" charset="-122"/>
                <a:cs typeface="Calibri" pitchFamily="34" charset="-120"/>
              </a:rPr>
              <a:t>← YOU ARE</a:t>
            </a:r>
            <a:endParaRPr lang="en-US" sz="1600" dirty="0"/>
          </a:p>
          <a:p>
            <a:pPr algn="ctr" indent="0" marL="0">
              <a:buNone/>
            </a:pPr>
            <a:r>
              <a:rPr lang="en-US" sz="1600" dirty="0">
                <a:solidFill>
                  <a:srgbClr val="B8620A"/>
                </a:solidFill>
                <a:latin typeface="Calibri" pitchFamily="34" charset="0"/>
                <a:ea typeface="Calibri" pitchFamily="34" charset="-122"/>
                <a:cs typeface="Calibri" pitchFamily="34" charset="-120"/>
              </a:rPr>
              <a:t>HERE</a:t>
            </a:r>
            <a:endParaRPr lang="en-US" sz="1600" dirty="0"/>
          </a:p>
        </p:txBody>
      </p:sp>
      <p:sp>
        <p:nvSpPr>
          <p:cNvPr id="23" name="Shape 21"/>
          <p:cNvSpPr/>
          <p:nvPr/>
        </p:nvSpPr>
        <p:spPr>
          <a:xfrm>
            <a:off x="6446520" y="2450592"/>
            <a:ext cx="1005840" cy="128016"/>
          </a:xfrm>
          <a:prstGeom prst="rect">
            <a:avLst/>
          </a:prstGeom>
          <a:solidFill>
            <a:srgbClr val="D8D3CA"/>
          </a:solidFill>
          <a:ln w="12700">
            <a:solidFill>
              <a:srgbClr val="D8D3CA"/>
            </a:solidFill>
            <a:prstDash val="solid"/>
          </a:ln>
        </p:spPr>
      </p:sp>
      <p:sp>
        <p:nvSpPr>
          <p:cNvPr id="24" name="Shape 22"/>
          <p:cNvSpPr/>
          <p:nvPr/>
        </p:nvSpPr>
        <p:spPr>
          <a:xfrm>
            <a:off x="7909560" y="2103120"/>
            <a:ext cx="822960" cy="822960"/>
          </a:xfrm>
          <a:prstGeom prst="ellipse">
            <a:avLst/>
          </a:prstGeom>
          <a:solidFill>
            <a:srgbClr val="D8D3CA"/>
          </a:solidFill>
          <a:ln w="12700">
            <a:solidFill>
              <a:srgbClr val="D8D3CA"/>
            </a:solidFill>
            <a:prstDash val="solid"/>
          </a:ln>
        </p:spPr>
      </p:sp>
      <p:sp>
        <p:nvSpPr>
          <p:cNvPr id="25" name="Text 23"/>
          <p:cNvSpPr/>
          <p:nvPr/>
        </p:nvSpPr>
        <p:spPr>
          <a:xfrm>
            <a:off x="7909560" y="2103120"/>
            <a:ext cx="822960" cy="822960"/>
          </a:xfrm>
          <a:prstGeom prst="rect">
            <a:avLst/>
          </a:prstGeom>
          <a:noFill/>
          <a:ln/>
        </p:spPr>
        <p:txBody>
          <a:bodyPr wrap="square" rtlCol="0" anchor="ctr"/>
          <a:lstStyle/>
          <a:p>
            <a:pPr algn="ctr" indent="0" marL="0">
              <a:buNone/>
            </a:pPr>
            <a:endParaRPr lang="en-US" sz="2200" dirty="0"/>
          </a:p>
        </p:txBody>
      </p:sp>
      <p:sp>
        <p:nvSpPr>
          <p:cNvPr id="26" name="Text 24"/>
          <p:cNvSpPr/>
          <p:nvPr/>
        </p:nvSpPr>
        <p:spPr>
          <a:xfrm>
            <a:off x="7452360" y="3017520"/>
            <a:ext cx="1828800" cy="457200"/>
          </a:xfrm>
          <a:prstGeom prst="rect">
            <a:avLst/>
          </a:prstGeom>
          <a:noFill/>
          <a:ln/>
        </p:spPr>
        <p:txBody>
          <a:bodyPr wrap="square" rtlCol="0" anchor="ctr"/>
          <a:lstStyle/>
          <a:p>
            <a:pPr algn="ctr" indent="0" marL="0">
              <a:buNone/>
            </a:pPr>
            <a:r>
              <a:rPr lang="en-US" sz="1400" dirty="0">
                <a:solidFill>
                  <a:srgbClr val="6B6762"/>
                </a:solidFill>
                <a:latin typeface="Courier New" pitchFamily="34" charset="0"/>
                <a:ea typeface="Courier New" pitchFamily="34" charset="-122"/>
                <a:cs typeface="Courier New" pitchFamily="34" charset="-120"/>
              </a:rPr>
              <a:t>D2.2</a:t>
            </a:r>
            <a:endParaRPr lang="en-US" sz="1400" dirty="0"/>
          </a:p>
        </p:txBody>
      </p:sp>
      <p:sp>
        <p:nvSpPr>
          <p:cNvPr id="27" name="Text 25"/>
          <p:cNvSpPr/>
          <p:nvPr/>
        </p:nvSpPr>
        <p:spPr>
          <a:xfrm>
            <a:off x="7452360" y="3474720"/>
            <a:ext cx="1828800" cy="914400"/>
          </a:xfrm>
          <a:prstGeom prst="rect">
            <a:avLst/>
          </a:prstGeom>
          <a:noFill/>
          <a:ln/>
        </p:spPr>
        <p:txBody>
          <a:bodyPr wrap="square" rtlCol="0" anchor="ctr"/>
          <a:lstStyle/>
          <a:p>
            <a:pPr algn="ctr" indent="0" marL="0">
              <a:buNone/>
            </a:pPr>
            <a:r>
              <a:rPr lang="en-US" sz="1600" dirty="0">
                <a:solidFill>
                  <a:srgbClr val="6B6762"/>
                </a:solidFill>
                <a:latin typeface="Calibri" pitchFamily="34" charset="0"/>
                <a:ea typeface="Calibri" pitchFamily="34" charset="-122"/>
                <a:cs typeface="Calibri" pitchFamily="34" charset="-120"/>
              </a:rPr>
              <a:t>Problem</a:t>
            </a:r>
            <a:endParaRPr lang="en-US" sz="1600" dirty="0"/>
          </a:p>
          <a:p>
            <a:pPr algn="ctr" indent="0" marL="0">
              <a:buNone/>
            </a:pPr>
            <a:r>
              <a:rPr lang="en-US" sz="1600" dirty="0">
                <a:solidFill>
                  <a:srgbClr val="6B6762"/>
                </a:solidFill>
                <a:latin typeface="Calibri" pitchFamily="34" charset="0"/>
                <a:ea typeface="Calibri" pitchFamily="34" charset="-122"/>
                <a:cs typeface="Calibri" pitchFamily="34" charset="-120"/>
              </a:rPr>
              <a:t>Scoping</a:t>
            </a:r>
            <a:endParaRPr lang="en-US" sz="1600" dirty="0"/>
          </a:p>
        </p:txBody>
      </p:sp>
      <p:sp>
        <p:nvSpPr>
          <p:cNvPr id="28" name="Shape 26"/>
          <p:cNvSpPr/>
          <p:nvPr/>
        </p:nvSpPr>
        <p:spPr>
          <a:xfrm>
            <a:off x="8778240" y="2450592"/>
            <a:ext cx="1005840" cy="128016"/>
          </a:xfrm>
          <a:prstGeom prst="rect">
            <a:avLst/>
          </a:prstGeom>
          <a:solidFill>
            <a:srgbClr val="D8D3CA"/>
          </a:solidFill>
          <a:ln w="12700">
            <a:solidFill>
              <a:srgbClr val="D8D3CA"/>
            </a:solidFill>
            <a:prstDash val="solid"/>
          </a:ln>
        </p:spPr>
      </p:sp>
      <p:sp>
        <p:nvSpPr>
          <p:cNvPr id="29" name="Shape 27"/>
          <p:cNvSpPr/>
          <p:nvPr/>
        </p:nvSpPr>
        <p:spPr>
          <a:xfrm>
            <a:off x="10241280" y="2103120"/>
            <a:ext cx="822960" cy="822960"/>
          </a:xfrm>
          <a:prstGeom prst="ellipse">
            <a:avLst/>
          </a:prstGeom>
          <a:solidFill>
            <a:srgbClr val="D8D3CA"/>
          </a:solidFill>
          <a:ln w="12700">
            <a:solidFill>
              <a:srgbClr val="D8D3CA"/>
            </a:solidFill>
            <a:prstDash val="solid"/>
          </a:ln>
        </p:spPr>
      </p:sp>
      <p:sp>
        <p:nvSpPr>
          <p:cNvPr id="30" name="Text 28"/>
          <p:cNvSpPr/>
          <p:nvPr/>
        </p:nvSpPr>
        <p:spPr>
          <a:xfrm>
            <a:off x="10241280" y="2103120"/>
            <a:ext cx="822960" cy="822960"/>
          </a:xfrm>
          <a:prstGeom prst="rect">
            <a:avLst/>
          </a:prstGeom>
          <a:noFill/>
          <a:ln/>
        </p:spPr>
        <p:txBody>
          <a:bodyPr wrap="square" rtlCol="0" anchor="ctr"/>
          <a:lstStyle/>
          <a:p>
            <a:pPr algn="ctr" indent="0" marL="0">
              <a:buNone/>
            </a:pPr>
            <a:endParaRPr lang="en-US" sz="2200" dirty="0"/>
          </a:p>
        </p:txBody>
      </p:sp>
      <p:sp>
        <p:nvSpPr>
          <p:cNvPr id="31" name="Text 29"/>
          <p:cNvSpPr/>
          <p:nvPr/>
        </p:nvSpPr>
        <p:spPr>
          <a:xfrm>
            <a:off x="9784080" y="3017520"/>
            <a:ext cx="1828800" cy="457200"/>
          </a:xfrm>
          <a:prstGeom prst="rect">
            <a:avLst/>
          </a:prstGeom>
          <a:noFill/>
          <a:ln/>
        </p:spPr>
        <p:txBody>
          <a:bodyPr wrap="square" rtlCol="0" anchor="ctr"/>
          <a:lstStyle/>
          <a:p>
            <a:pPr algn="ctr" indent="0" marL="0">
              <a:buNone/>
            </a:pPr>
            <a:r>
              <a:rPr lang="en-US" sz="1400" dirty="0">
                <a:solidFill>
                  <a:srgbClr val="6B6762"/>
                </a:solidFill>
                <a:latin typeface="Courier New" pitchFamily="34" charset="0"/>
                <a:ea typeface="Courier New" pitchFamily="34" charset="-122"/>
                <a:cs typeface="Courier New" pitchFamily="34" charset="-120"/>
              </a:rPr>
              <a:t>D3.1+</a:t>
            </a:r>
            <a:endParaRPr lang="en-US" sz="1400" dirty="0"/>
          </a:p>
        </p:txBody>
      </p:sp>
      <p:sp>
        <p:nvSpPr>
          <p:cNvPr id="32" name="Text 30"/>
          <p:cNvSpPr/>
          <p:nvPr/>
        </p:nvSpPr>
        <p:spPr>
          <a:xfrm>
            <a:off x="9784080" y="3474720"/>
            <a:ext cx="1828800" cy="914400"/>
          </a:xfrm>
          <a:prstGeom prst="rect">
            <a:avLst/>
          </a:prstGeom>
          <a:noFill/>
          <a:ln/>
        </p:spPr>
        <p:txBody>
          <a:bodyPr wrap="square" rtlCol="0" anchor="ctr"/>
          <a:lstStyle/>
          <a:p>
            <a:pPr algn="ctr" indent="0" marL="0">
              <a:buNone/>
            </a:pPr>
            <a:r>
              <a:rPr lang="en-US" sz="1600" dirty="0">
                <a:solidFill>
                  <a:srgbClr val="6B6762"/>
                </a:solidFill>
                <a:latin typeface="Calibri" pitchFamily="34" charset="0"/>
                <a:ea typeface="Calibri" pitchFamily="34" charset="-122"/>
                <a:cs typeface="Calibri" pitchFamily="34" charset="-120"/>
              </a:rPr>
              <a:t>Design &amp;</a:t>
            </a:r>
            <a:endParaRPr lang="en-US" sz="1600" dirty="0"/>
          </a:p>
          <a:p>
            <a:pPr algn="ctr" indent="0" marL="0">
              <a:buNone/>
            </a:pPr>
            <a:r>
              <a:rPr lang="en-US" sz="1600" dirty="0">
                <a:solidFill>
                  <a:srgbClr val="6B6762"/>
                </a:solidFill>
                <a:latin typeface="Calibri" pitchFamily="34" charset="0"/>
                <a:ea typeface="Calibri" pitchFamily="34" charset="-122"/>
                <a:cs typeface="Calibri" pitchFamily="34" charset="-120"/>
              </a:rPr>
              <a:t>Develop</a:t>
            </a:r>
            <a:endParaRPr lang="en-US" sz="1600" dirty="0"/>
          </a:p>
        </p:txBody>
      </p:sp>
      <p:sp>
        <p:nvSpPr>
          <p:cNvPr id="33" name="Text 31"/>
          <p:cNvSpPr/>
          <p:nvPr/>
        </p:nvSpPr>
        <p:spPr>
          <a:xfrm>
            <a:off x="365760" y="4572000"/>
            <a:ext cx="11430000" cy="411480"/>
          </a:xfrm>
          <a:prstGeom prst="rect">
            <a:avLst/>
          </a:prstGeom>
          <a:noFill/>
          <a:ln/>
        </p:spPr>
        <p:txBody>
          <a:bodyPr wrap="square" rtlCol="0" anchor="ctr"/>
          <a:lstStyle/>
          <a:p>
            <a:pPr algn="l" indent="0" marL="0">
              <a:buNone/>
            </a:pPr>
            <a:r>
              <a:rPr lang="en-US" sz="1800" b="1" dirty="0">
                <a:solidFill>
                  <a:srgbClr val="12100E"/>
                </a:solidFill>
                <a:latin typeface="Calibri" pitchFamily="34" charset="0"/>
                <a:ea typeface="Calibri" pitchFamily="34" charset="-122"/>
                <a:cs typeface="Calibri" pitchFamily="34" charset="-120"/>
              </a:rPr>
              <a:t>By the end of today, your group should have:</a:t>
            </a:r>
            <a:endParaRPr lang="en-US" sz="1800" dirty="0"/>
          </a:p>
        </p:txBody>
      </p:sp>
      <p:sp>
        <p:nvSpPr>
          <p:cNvPr id="34" name="Text 32"/>
          <p:cNvSpPr/>
          <p:nvPr/>
        </p:nvSpPr>
        <p:spPr>
          <a:xfrm>
            <a:off x="548640" y="4937760"/>
            <a:ext cx="11064240" cy="365760"/>
          </a:xfrm>
          <a:prstGeom prst="rect">
            <a:avLst/>
          </a:prstGeom>
          <a:noFill/>
          <a:ln/>
        </p:spPr>
        <p:txBody>
          <a:bodyPr wrap="square" rtlCol="0" anchor="ctr"/>
          <a:lstStyle/>
          <a:p>
            <a:pPr algn="l" indent="0" marL="0">
              <a:buNone/>
            </a:pPr>
            <a:r>
              <a:rPr lang="en-US" sz="1600" dirty="0">
                <a:solidFill>
                  <a:srgbClr val="1B5E47"/>
                </a:solidFill>
                <a:latin typeface="Calibri" pitchFamily="34" charset="0"/>
                <a:ea typeface="Calibri" pitchFamily="34" charset="-122"/>
                <a:cs typeface="Calibri" pitchFamily="34" charset="-120"/>
              </a:rPr>
              <a:t>☐  Identified and described 3 existing solutions related to your topic  [Foundation]</a:t>
            </a:r>
            <a:endParaRPr lang="en-US" sz="1600" dirty="0"/>
          </a:p>
        </p:txBody>
      </p:sp>
      <p:sp>
        <p:nvSpPr>
          <p:cNvPr id="35" name="Text 33"/>
          <p:cNvSpPr/>
          <p:nvPr/>
        </p:nvSpPr>
        <p:spPr>
          <a:xfrm>
            <a:off x="548640" y="5330952"/>
            <a:ext cx="11064240" cy="365760"/>
          </a:xfrm>
          <a:prstGeom prst="rect">
            <a:avLst/>
          </a:prstGeom>
          <a:noFill/>
          <a:ln/>
        </p:spPr>
        <p:txBody>
          <a:bodyPr wrap="square" rtlCol="0" anchor="ctr"/>
          <a:lstStyle/>
          <a:p>
            <a:pPr algn="l" indent="0" marL="0">
              <a:buNone/>
            </a:pPr>
            <a:r>
              <a:rPr lang="en-US" sz="1600" dirty="0">
                <a:solidFill>
                  <a:srgbClr val="B8620A"/>
                </a:solidFill>
                <a:latin typeface="Calibri" pitchFamily="34" charset="0"/>
                <a:ea typeface="Calibri" pitchFamily="34" charset="-122"/>
                <a:cs typeface="Calibri" pitchFamily="34" charset="-120"/>
              </a:rPr>
              <a:t>☐  Written a detailed user profile for your main user group  [Developing]</a:t>
            </a:r>
            <a:endParaRPr lang="en-US" sz="1600" dirty="0"/>
          </a:p>
        </p:txBody>
      </p:sp>
      <p:sp>
        <p:nvSpPr>
          <p:cNvPr id="36" name="Text 34"/>
          <p:cNvSpPr/>
          <p:nvPr/>
        </p:nvSpPr>
        <p:spPr>
          <a:xfrm>
            <a:off x="548640" y="5724144"/>
            <a:ext cx="11064240" cy="365760"/>
          </a:xfrm>
          <a:prstGeom prst="rect">
            <a:avLst/>
          </a:prstGeom>
          <a:noFill/>
          <a:ln/>
        </p:spPr>
        <p:txBody>
          <a:bodyPr wrap="square" rtlCol="0" anchor="ctr"/>
          <a:lstStyle/>
          <a:p>
            <a:pPr algn="l" indent="0" marL="0">
              <a:buNone/>
            </a:pPr>
            <a:r>
              <a:rPr lang="en-US" sz="1600" dirty="0">
                <a:solidFill>
                  <a:srgbClr val="B8620A"/>
                </a:solidFill>
                <a:latin typeface="Calibri" pitchFamily="34" charset="0"/>
                <a:ea typeface="Calibri" pitchFamily="34" charset="-122"/>
                <a:cs typeface="Calibri" pitchFamily="34" charset="-120"/>
              </a:rPr>
              <a:t>☐  Identified the key gap in existing solutions  [Developing]</a:t>
            </a:r>
            <a:endParaRPr lang="en-US" sz="1600" dirty="0"/>
          </a:p>
        </p:txBody>
      </p:sp>
      <p:sp>
        <p:nvSpPr>
          <p:cNvPr id="37" name="Text 35"/>
          <p:cNvSpPr/>
          <p:nvPr/>
        </p:nvSpPr>
        <p:spPr>
          <a:xfrm>
            <a:off x="548640" y="6117336"/>
            <a:ext cx="11064240" cy="365760"/>
          </a:xfrm>
          <a:prstGeom prst="rect">
            <a:avLst/>
          </a:prstGeom>
          <a:noFill/>
          <a:ln/>
        </p:spPr>
        <p:txBody>
          <a:bodyPr wrap="square" rtlCol="0" anchor="ctr"/>
          <a:lstStyle/>
          <a:p>
            <a:pPr algn="l" indent="0" marL="0">
              <a:buNone/>
            </a:pPr>
            <a:r>
              <a:rPr lang="en-US" sz="1600" dirty="0">
                <a:solidFill>
                  <a:srgbClr val="2B3A8C"/>
                </a:solidFill>
                <a:latin typeface="Calibri" pitchFamily="34" charset="0"/>
                <a:ea typeface="Calibri" pitchFamily="34" charset="-122"/>
                <a:cs typeface="Calibri" pitchFamily="34" charset="-120"/>
              </a:rPr>
              <a:t>☐  Drafted a first problem statement using the formula  [Extending]</a:t>
            </a:r>
            <a:endParaRPr lang="en-US" sz="1600" dirty="0"/>
          </a:p>
        </p:txBody>
      </p:sp>
      <p:sp>
        <p:nvSpPr>
          <p:cNvPr id="38" name="Text 36"/>
          <p:cNvSpPr/>
          <p:nvPr/>
        </p:nvSpPr>
        <p:spPr>
          <a:xfrm>
            <a:off x="274320" y="6492240"/>
            <a:ext cx="11612880" cy="274320"/>
          </a:xfrm>
          <a:prstGeom prst="rect">
            <a:avLst/>
          </a:prstGeom>
          <a:noFill/>
          <a:ln/>
        </p:spPr>
        <p:txBody>
          <a:bodyPr wrap="square" rtlCol="0" anchor="ctr"/>
          <a:lstStyle/>
          <a:p>
            <a:pPr algn="l" indent="0" marL="0">
              <a:buNone/>
            </a:pPr>
            <a:r>
              <a:rPr lang="en-US" sz="1000" dirty="0">
                <a:solidFill>
                  <a:srgbClr val="6B6762"/>
                </a:solidFill>
                <a:latin typeface="Courier New" pitchFamily="34" charset="0"/>
                <a:ea typeface="Courier New" pitchFamily="34" charset="-122"/>
                <a:cs typeface="Courier New" pitchFamily="34" charset="-120"/>
              </a:rPr>
              <a:t>y11-ac-u2-l3-investigating-problem-space  ·  Mr Smith  ·  Year 11 Applied Computing</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100E"/>
          </a:solidFill>
          <a:ln w="12700">
            <a:solidFill>
              <a:srgbClr val="12100E"/>
            </a:solidFill>
            <a:prstDash val="solid"/>
          </a:ln>
        </p:spPr>
      </p:sp>
      <p:sp>
        <p:nvSpPr>
          <p:cNvPr id="3" name="Shape 1"/>
          <p:cNvSpPr/>
          <p:nvPr/>
        </p:nvSpPr>
        <p:spPr>
          <a:xfrm>
            <a:off x="274320" y="109728"/>
            <a:ext cx="1828800" cy="384048"/>
          </a:xfrm>
          <a:prstGeom prst="roundRect">
            <a:avLst>
              <a:gd name="adj" fmla="val 19048"/>
            </a:avLst>
          </a:prstGeom>
          <a:solidFill>
            <a:srgbClr val="1B5E47"/>
          </a:solidFill>
          <a:ln w="12700">
            <a:solidFill>
              <a:srgbClr val="1B5E47"/>
            </a:solidFill>
            <a:prstDash val="solid"/>
          </a:ln>
        </p:spPr>
      </p:sp>
      <p:sp>
        <p:nvSpPr>
          <p:cNvPr id="4" name="Text 2"/>
          <p:cNvSpPr/>
          <p:nvPr/>
        </p:nvSpPr>
        <p:spPr>
          <a:xfrm>
            <a:off x="274320" y="109728"/>
            <a:ext cx="1828800"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NEXT STEPS</a:t>
            </a:r>
            <a:endParaRPr lang="en-US" sz="1200" dirty="0"/>
          </a:p>
        </p:txBody>
      </p:sp>
      <p:sp>
        <p:nvSpPr>
          <p:cNvPr id="5" name="Text 3"/>
          <p:cNvSpPr/>
          <p:nvPr/>
        </p:nvSpPr>
        <p:spPr>
          <a:xfrm>
            <a:off x="457200" y="685800"/>
            <a:ext cx="11247120" cy="685800"/>
          </a:xfrm>
          <a:prstGeom prst="rect">
            <a:avLst/>
          </a:prstGeom>
          <a:noFill/>
          <a:ln/>
        </p:spPr>
        <p:txBody>
          <a:bodyPr wrap="square" rtlCol="0" anchor="ctr"/>
          <a:lstStyle/>
          <a:p>
            <a:pPr algn="l" indent="0" marL="0">
              <a:buNone/>
            </a:pPr>
            <a:r>
              <a:rPr lang="en-US" sz="3600" b="1" dirty="0">
                <a:solidFill>
                  <a:srgbClr val="FFFFFF"/>
                </a:solidFill>
                <a:latin typeface="Bookman Old Style" pitchFamily="34" charset="0"/>
                <a:ea typeface="Bookman Old Style" pitchFamily="34" charset="-122"/>
                <a:cs typeface="Bookman Old Style" pitchFamily="34" charset="-120"/>
              </a:rPr>
              <a:t>See You Next Lesson</a:t>
            </a:r>
            <a:endParaRPr lang="en-US" sz="3600" dirty="0"/>
          </a:p>
        </p:txBody>
      </p:sp>
      <p:sp>
        <p:nvSpPr>
          <p:cNvPr id="6" name="Shape 4"/>
          <p:cNvSpPr/>
          <p:nvPr/>
        </p:nvSpPr>
        <p:spPr>
          <a:xfrm>
            <a:off x="457200" y="1645920"/>
            <a:ext cx="11247120" cy="1417320"/>
          </a:xfrm>
          <a:prstGeom prst="roundRect">
            <a:avLst>
              <a:gd name="adj" fmla="val 6452"/>
            </a:avLst>
          </a:prstGeom>
          <a:solidFill>
            <a:srgbClr val="2C2A28"/>
          </a:solidFill>
          <a:ln w="12700">
            <a:solidFill>
              <a:srgbClr val="2B3A8C"/>
            </a:solidFill>
            <a:prstDash val="solid"/>
          </a:ln>
        </p:spPr>
      </p:sp>
      <p:pic>
        <p:nvPicPr>
          <p:cNvPr id="7" name="Image 0" descr="preencoded.png">    </p:cNvPr>
          <p:cNvPicPr>
            <a:picLocks noChangeAspect="1"/>
          </p:cNvPicPr>
          <p:nvPr/>
        </p:nvPicPr>
        <p:blipFill>
          <a:blip r:embed="rId1"/>
          <a:stretch>
            <a:fillRect/>
          </a:stretch>
        </p:blipFill>
        <p:spPr>
          <a:xfrm>
            <a:off x="640080" y="1901952"/>
            <a:ext cx="822960" cy="822960"/>
          </a:xfrm>
          <a:prstGeom prst="rect">
            <a:avLst/>
          </a:prstGeom>
        </p:spPr>
      </p:pic>
      <p:sp>
        <p:nvSpPr>
          <p:cNvPr id="8" name="Text 5"/>
          <p:cNvSpPr/>
          <p:nvPr/>
        </p:nvSpPr>
        <p:spPr>
          <a:xfrm>
            <a:off x="1645920" y="1755648"/>
            <a:ext cx="9875520" cy="457200"/>
          </a:xfrm>
          <a:prstGeom prst="rect">
            <a:avLst/>
          </a:prstGeom>
          <a:noFill/>
          <a:ln/>
        </p:spPr>
        <p:txBody>
          <a:bodyPr wrap="square" rtlCol="0" anchor="ctr"/>
          <a:lstStyle/>
          <a:p>
            <a:pPr algn="l" indent="0" marL="0">
              <a:buNone/>
            </a:pPr>
            <a:r>
              <a:rPr lang="en-US" sz="2000" b="1" dirty="0">
                <a:solidFill>
                  <a:srgbClr val="2B3A8C"/>
                </a:solidFill>
                <a:latin typeface="Calibri" pitchFamily="34" charset="0"/>
                <a:ea typeface="Calibri" pitchFamily="34" charset="-122"/>
                <a:cs typeface="Calibri" pitchFamily="34" charset="-120"/>
              </a:rPr>
              <a:t>Next Lesson: D2.2</a:t>
            </a:r>
            <a:endParaRPr lang="en-US" sz="2000" dirty="0"/>
          </a:p>
        </p:txBody>
      </p:sp>
      <p:sp>
        <p:nvSpPr>
          <p:cNvPr id="9" name="Text 6"/>
          <p:cNvSpPr/>
          <p:nvPr/>
        </p:nvSpPr>
        <p:spPr>
          <a:xfrm>
            <a:off x="1645920" y="2212848"/>
            <a:ext cx="9875520" cy="777240"/>
          </a:xfrm>
          <a:prstGeom prst="rect">
            <a:avLst/>
          </a:prstGeom>
          <a:noFill/>
          <a:ln/>
        </p:spPr>
        <p:txBody>
          <a:bodyPr wrap="square" rtlCol="0" anchor="t"/>
          <a:lstStyle/>
          <a:p>
            <a:pPr algn="l" indent="0" marL="0">
              <a:buNone/>
            </a:pPr>
            <a:r>
              <a:rPr lang="en-US" sz="1800" dirty="0">
                <a:solidFill>
                  <a:srgbClr val="EDE8DF"/>
                </a:solidFill>
                <a:latin typeface="Calibri" pitchFamily="34" charset="0"/>
                <a:ea typeface="Calibri" pitchFamily="34" charset="-122"/>
                <a:cs typeface="Calibri" pitchFamily="34" charset="-120"/>
              </a:rPr>
              <a:t>Problem Scoping — you'll refine your problem statement, define your target users formally, and establish the scope of your digital solution.</a:t>
            </a:r>
            <a:endParaRPr lang="en-US" sz="1800" dirty="0"/>
          </a:p>
        </p:txBody>
      </p:sp>
      <p:sp>
        <p:nvSpPr>
          <p:cNvPr id="10" name="Shape 7"/>
          <p:cNvSpPr/>
          <p:nvPr/>
        </p:nvSpPr>
        <p:spPr>
          <a:xfrm>
            <a:off x="457200" y="3200400"/>
            <a:ext cx="11247120" cy="1417320"/>
          </a:xfrm>
          <a:prstGeom prst="roundRect">
            <a:avLst>
              <a:gd name="adj" fmla="val 6452"/>
            </a:avLst>
          </a:prstGeom>
          <a:solidFill>
            <a:srgbClr val="2C2A28"/>
          </a:solidFill>
          <a:ln w="12700">
            <a:solidFill>
              <a:srgbClr val="B8620A"/>
            </a:solidFill>
            <a:prstDash val="solid"/>
          </a:ln>
        </p:spPr>
      </p:sp>
      <p:pic>
        <p:nvPicPr>
          <p:cNvPr id="11" name="Image 1" descr="preencoded.png">    </p:cNvPr>
          <p:cNvPicPr>
            <a:picLocks noChangeAspect="1"/>
          </p:cNvPicPr>
          <p:nvPr/>
        </p:nvPicPr>
        <p:blipFill>
          <a:blip r:embed="rId2"/>
          <a:stretch>
            <a:fillRect/>
          </a:stretch>
        </p:blipFill>
        <p:spPr>
          <a:xfrm>
            <a:off x="640080" y="3456432"/>
            <a:ext cx="822960" cy="822960"/>
          </a:xfrm>
          <a:prstGeom prst="rect">
            <a:avLst/>
          </a:prstGeom>
        </p:spPr>
      </p:pic>
      <p:sp>
        <p:nvSpPr>
          <p:cNvPr id="12" name="Text 8"/>
          <p:cNvSpPr/>
          <p:nvPr/>
        </p:nvSpPr>
        <p:spPr>
          <a:xfrm>
            <a:off x="1645920" y="3310128"/>
            <a:ext cx="9875520" cy="457200"/>
          </a:xfrm>
          <a:prstGeom prst="rect">
            <a:avLst/>
          </a:prstGeom>
          <a:noFill/>
          <a:ln/>
        </p:spPr>
        <p:txBody>
          <a:bodyPr wrap="square" rtlCol="0" anchor="ctr"/>
          <a:lstStyle/>
          <a:p>
            <a:pPr algn="l" indent="0" marL="0">
              <a:buNone/>
            </a:pPr>
            <a:r>
              <a:rPr lang="en-US" sz="2000" b="1" dirty="0">
                <a:solidFill>
                  <a:srgbClr val="B8620A"/>
                </a:solidFill>
                <a:latin typeface="Calibri" pitchFamily="34" charset="0"/>
                <a:ea typeface="Calibri" pitchFamily="34" charset="-122"/>
                <a:cs typeface="Calibri" pitchFamily="34" charset="-120"/>
              </a:rPr>
              <a:t>Before D2.2 — Group Task</a:t>
            </a:r>
            <a:endParaRPr lang="en-US" sz="2000" dirty="0"/>
          </a:p>
        </p:txBody>
      </p:sp>
      <p:sp>
        <p:nvSpPr>
          <p:cNvPr id="13" name="Text 9"/>
          <p:cNvSpPr/>
          <p:nvPr/>
        </p:nvSpPr>
        <p:spPr>
          <a:xfrm>
            <a:off x="1645920" y="3767328"/>
            <a:ext cx="9875520" cy="777240"/>
          </a:xfrm>
          <a:prstGeom prst="rect">
            <a:avLst/>
          </a:prstGeom>
          <a:noFill/>
          <a:ln/>
        </p:spPr>
        <p:txBody>
          <a:bodyPr wrap="square" rtlCol="0" anchor="t"/>
          <a:lstStyle/>
          <a:p>
            <a:pPr algn="l" indent="0" marL="0">
              <a:buNone/>
            </a:pPr>
            <a:r>
              <a:rPr lang="en-US" sz="1800" dirty="0">
                <a:solidFill>
                  <a:srgbClr val="EDE8DF"/>
                </a:solidFill>
                <a:latin typeface="Calibri" pitchFamily="34" charset="0"/>
                <a:ea typeface="Calibri" pitchFamily="34" charset="-122"/>
                <a:cs typeface="Calibri" pitchFamily="34" charset="-120"/>
              </a:rPr>
              <a:t>Do a quick secondary research check: find ONE piece of evidence (article, statistic, or report) that supports the problem you've identified. Bring it to next lesson.</a:t>
            </a:r>
            <a:endParaRPr lang="en-US" sz="1800" dirty="0"/>
          </a:p>
        </p:txBody>
      </p:sp>
      <p:sp>
        <p:nvSpPr>
          <p:cNvPr id="14" name="Shape 10"/>
          <p:cNvSpPr/>
          <p:nvPr/>
        </p:nvSpPr>
        <p:spPr>
          <a:xfrm>
            <a:off x="457200" y="4754880"/>
            <a:ext cx="11247120" cy="1417320"/>
          </a:xfrm>
          <a:prstGeom prst="roundRect">
            <a:avLst>
              <a:gd name="adj" fmla="val 6452"/>
            </a:avLst>
          </a:prstGeom>
          <a:solidFill>
            <a:srgbClr val="2C2A28"/>
          </a:solidFill>
          <a:ln w="12700">
            <a:solidFill>
              <a:srgbClr val="1B5E47"/>
            </a:solidFill>
            <a:prstDash val="solid"/>
          </a:ln>
        </p:spPr>
      </p:sp>
      <p:pic>
        <p:nvPicPr>
          <p:cNvPr id="15" name="Image 2" descr="preencoded.png">    </p:cNvPr>
          <p:cNvPicPr>
            <a:picLocks noChangeAspect="1"/>
          </p:cNvPicPr>
          <p:nvPr/>
        </p:nvPicPr>
        <p:blipFill>
          <a:blip r:embed="rId3"/>
          <a:stretch>
            <a:fillRect/>
          </a:stretch>
        </p:blipFill>
        <p:spPr>
          <a:xfrm>
            <a:off x="640080" y="5010912"/>
            <a:ext cx="822960" cy="822960"/>
          </a:xfrm>
          <a:prstGeom prst="rect">
            <a:avLst/>
          </a:prstGeom>
        </p:spPr>
      </p:pic>
      <p:sp>
        <p:nvSpPr>
          <p:cNvPr id="16" name="Text 11"/>
          <p:cNvSpPr/>
          <p:nvPr/>
        </p:nvSpPr>
        <p:spPr>
          <a:xfrm>
            <a:off x="1645920" y="4864608"/>
            <a:ext cx="9875520" cy="457200"/>
          </a:xfrm>
          <a:prstGeom prst="rect">
            <a:avLst/>
          </a:prstGeom>
          <a:noFill/>
          <a:ln/>
        </p:spPr>
        <p:txBody>
          <a:bodyPr wrap="square" rtlCol="0" anchor="ctr"/>
          <a:lstStyle/>
          <a:p>
            <a:pPr algn="l" indent="0" marL="0">
              <a:buNone/>
            </a:pPr>
            <a:r>
              <a:rPr lang="en-US" sz="2000" b="1" dirty="0">
                <a:solidFill>
                  <a:srgbClr val="1B5E47"/>
                </a:solidFill>
                <a:latin typeface="Calibri" pitchFamily="34" charset="0"/>
                <a:ea typeface="Calibri" pitchFamily="34" charset="-122"/>
                <a:cs typeface="Calibri" pitchFamily="34" charset="-120"/>
              </a:rPr>
              <a:t>Milestone 1 — Week 4</a:t>
            </a:r>
            <a:endParaRPr lang="en-US" sz="2000" dirty="0"/>
          </a:p>
        </p:txBody>
      </p:sp>
      <p:sp>
        <p:nvSpPr>
          <p:cNvPr id="17" name="Text 12"/>
          <p:cNvSpPr/>
          <p:nvPr/>
        </p:nvSpPr>
        <p:spPr>
          <a:xfrm>
            <a:off x="1645920" y="5321808"/>
            <a:ext cx="9875520" cy="777240"/>
          </a:xfrm>
          <a:prstGeom prst="rect">
            <a:avLst/>
          </a:prstGeom>
          <a:noFill/>
          <a:ln/>
        </p:spPr>
        <p:txBody>
          <a:bodyPr wrap="square" rtlCol="0" anchor="t"/>
          <a:lstStyle/>
          <a:p>
            <a:pPr algn="l" indent="0" marL="0">
              <a:buNone/>
            </a:pPr>
            <a:r>
              <a:rPr lang="en-US" sz="1800" dirty="0">
                <a:solidFill>
                  <a:srgbClr val="EDE8DF"/>
                </a:solidFill>
                <a:latin typeface="Calibri" pitchFamily="34" charset="0"/>
                <a:ea typeface="Calibri" pitchFamily="34" charset="-122"/>
                <a:cs typeface="Calibri" pitchFamily="34" charset="-120"/>
              </a:rPr>
              <a:t>Your group will need a defined problem statement, identified user group, and an initial design direction by Milestone 1. Start thinking ahead.</a:t>
            </a:r>
            <a:endParaRPr lang="en-US" sz="1800" dirty="0"/>
          </a:p>
        </p:txBody>
      </p:sp>
      <p:sp>
        <p:nvSpPr>
          <p:cNvPr id="18" name="Text 13"/>
          <p:cNvSpPr/>
          <p:nvPr/>
        </p:nvSpPr>
        <p:spPr>
          <a:xfrm>
            <a:off x="457200" y="6446520"/>
            <a:ext cx="11247120" cy="347472"/>
          </a:xfrm>
          <a:prstGeom prst="rect">
            <a:avLst/>
          </a:prstGeom>
          <a:noFill/>
          <a:ln/>
        </p:spPr>
        <p:txBody>
          <a:bodyPr wrap="square" rtlCol="0" anchor="ctr"/>
          <a:lstStyle/>
          <a:p>
            <a:pPr algn="l" indent="0" marL="0">
              <a:buNone/>
            </a:pPr>
            <a:r>
              <a:rPr lang="en-US" sz="1400" dirty="0">
                <a:solidFill>
                  <a:srgbClr val="B8620A"/>
                </a:solidFill>
                <a:latin typeface="Courier New" pitchFamily="34" charset="0"/>
                <a:ea typeface="Courier New" pitchFamily="34" charset="-122"/>
                <a:cs typeface="Courier New" pitchFamily="34" charset="-120"/>
              </a:rPr>
              <a:t>🏠 HOMEWORK: Find one piece of secondary research relevant to your topic. Note the source.</a:t>
            </a:r>
            <a:endParaRPr lang="en-US" sz="1400" dirty="0"/>
          </a:p>
        </p:txBody>
      </p:sp>
      <p:sp>
        <p:nvSpPr>
          <p:cNvPr id="19" name="Text 14"/>
          <p:cNvSpPr/>
          <p:nvPr/>
        </p:nvSpPr>
        <p:spPr>
          <a:xfrm>
            <a:off x="274320" y="6492240"/>
            <a:ext cx="11612880" cy="274320"/>
          </a:xfrm>
          <a:prstGeom prst="rect">
            <a:avLst/>
          </a:prstGeom>
          <a:noFill/>
          <a:ln/>
        </p:spPr>
        <p:txBody>
          <a:bodyPr wrap="square" rtlCol="0" anchor="ctr"/>
          <a:lstStyle/>
          <a:p>
            <a:pPr algn="l" indent="0" marL="0">
              <a:buNone/>
            </a:pPr>
            <a:r>
              <a:rPr lang="en-US" sz="1000" dirty="0">
                <a:solidFill>
                  <a:srgbClr val="6B6762"/>
                </a:solidFill>
                <a:latin typeface="Courier New" pitchFamily="34" charset="0"/>
                <a:ea typeface="Courier New" pitchFamily="34" charset="-122"/>
                <a:cs typeface="Courier New" pitchFamily="34" charset="-120"/>
              </a:rPr>
              <a:t>y11-ac-u2-l3-investigating-problem-space  ·  Mr Smith  ·  Year 11 Applied Computing</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L3 — Investigating the Problem Space</dc:title>
  <dc:subject>Year 11 Applied Computing — Unit 2</dc:subject>
  <dc:creator>Mr Smith</dc:creator>
  <cp:lastModifiedBy>Mr Smith</cp:lastModifiedBy>
  <cp:revision>1</cp:revision>
  <dcterms:created xsi:type="dcterms:W3CDTF">2026-06-23T22:28:25Z</dcterms:created>
  <dcterms:modified xsi:type="dcterms:W3CDTF">2026-06-23T22:28:25Z</dcterms:modified>
</cp:coreProperties>
</file>