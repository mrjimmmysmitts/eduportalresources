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4602" y="0"/>
            <a:ext cx="4267093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417320"/>
            <a:ext cx="6827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D8.1 · PLANNING THE BUILD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6827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 11 Applied Computing — Unit 2 · AoS1 Innovative Solutions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682732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Design to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Build Plan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6690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Choosing the digital systems you’ll actually build with, and turning your preferred design into tasks you can start this week.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9B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LESSON 11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Mr Smith</a:t>
            </a:r>
            <a:endParaRPr lang="en-US" sz="1150" dirty="0"/>
          </a:p>
        </p:txBody>
      </p:sp>
      <p:pic>
        <p:nvPicPr>
          <p:cNvPr id="9" name="Image 0" descr="icons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429" y="224028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01023" y="60350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01023" y="6035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 UP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050" dirty="0"/>
          </a:p>
        </p:txBody>
      </p:sp>
      <p:pic>
        <p:nvPicPr>
          <p:cNvPr id="10" name="Image 0" descr="icons/warmu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Right Tool, Wrong Tool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57200" y="151790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 — discuss as a table.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1975104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one of these actually happened. In each case, someone chose a tool that technically “worked” — for a while.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2569464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715768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spreadsheet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8368" y="3136392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to store 10,000 rows of video, image and audio files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07738" y="2569464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8906" y="2715768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slideshow tool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08906" y="3136392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to build a live, multi-user booking system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58277" y="2569464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59445" y="2715768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text file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59445" y="3136392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to track five people's tasks, deadlines and dependencies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261104"/>
            <a:ext cx="11277295" cy="1211199"/>
          </a:xfrm>
          <a:prstGeom prst="roundRect">
            <a:avLst>
              <a:gd name="adj" fmla="val 6040"/>
            </a:avLst>
          </a:prstGeom>
          <a:solidFill>
            <a:srgbClr val="E8ECFD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0740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DISCUSS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4736592"/>
            <a:ext cx="10728655" cy="64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one, name the specific thing about the tool that makes it the wrong fit — not just “it's annoying to use”.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01023" y="60350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01023" y="6035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 UP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050" dirty="0"/>
          </a:p>
        </p:txBody>
      </p:sp>
      <p:pic>
        <p:nvPicPr>
          <p:cNvPr id="10" name="Image 0" descr="icons/warmu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Quick Recall — Your Preferred Design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57200" y="151790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 — answer from memory, then compare with your table.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066544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249424"/>
            <a:ext cx="310896" cy="31089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2066544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preferred design did your group choose last lesson?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2852928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035808"/>
            <a:ext cx="310896" cy="31089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2852928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was your strongest evaluation criterion for choosing it — the one that actually decided it?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3639312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22192"/>
            <a:ext cx="310896" cy="31089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3000" y="3639312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was your best runner-up idea, and what's the one reason it didn't win?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57200" y="4562856"/>
            <a:ext cx="11277295" cy="943928"/>
          </a:xfrm>
          <a:prstGeom prst="roundRect">
            <a:avLst>
              <a:gd name="adj" fmla="val 7750"/>
            </a:avLst>
          </a:prstGeom>
          <a:solidFill>
            <a:srgbClr val="E8ECFD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70916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DISCUSS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1520" y="5038344"/>
            <a:ext cx="10728655" cy="37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answers with your group — did everyone give the same reason for the same design?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44484" y="603504"/>
            <a:ext cx="170809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44484" y="603504"/>
            <a:ext cx="17080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OBJECTIVE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050" dirty="0"/>
          </a:p>
        </p:txBody>
      </p:sp>
      <p:pic>
        <p:nvPicPr>
          <p:cNvPr id="10" name="Image 0" descr="icons/obj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Today's Objective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57200" y="1609344"/>
            <a:ext cx="11277295" cy="917651"/>
          </a:xfrm>
          <a:prstGeom prst="roundRect">
            <a:avLst>
              <a:gd name="adj" fmla="val 7972"/>
            </a:avLst>
          </a:prstGeom>
          <a:solidFill>
            <a:srgbClr val="E8ECFD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755648"/>
            <a:ext cx="10728655" cy="67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be able to select appropriate digital systems for my solution and translate my preferred design into a build plan with tasks and time estimates.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2709875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167075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3285947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" y="3167075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68880" y="3112211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list the digital tools and software my group will use to build my solution and explain what each will be used for.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4401515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" y="4520387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4401515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468880" y="4346651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break my preferred design into discrete build tasks, and update my build plan with owners and time estimates.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7200" y="5635955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" y="5754827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5635955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468880" y="5581091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justify my tool choices against my requirements, and identify a build risk with a specific, workable mitigation.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513978" y="603504"/>
            <a:ext cx="163860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13978" y="603504"/>
            <a:ext cx="1638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 TEACHING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180015" y="98755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ECFD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📋 COPY THIS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Counts as a Digital System?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11277295" cy="1451743"/>
          </a:xfrm>
          <a:prstGeom prst="roundRect">
            <a:avLst>
              <a:gd name="adj" fmla="val 5039"/>
            </a:avLst>
          </a:prstGeom>
          <a:solidFill>
            <a:srgbClr val="FEF3E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39696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📋 COPY THIS INTO YOUR NOTES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10728655" cy="88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digital system is any combination of hardware, software and data used to build your solution. For this project that includes: a programming language, spreadsheet software, presentation software, or a tool for planning a project — each is valid, as long as it matches your design.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3582295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THE MATCH MATTERS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93191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749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838327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tool needs to match what your design actually needs to do — not just what you're already comfortable with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7200" y="4295527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772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240663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Mixing tools is normal — most solutions use more than one, e.g. a language to build it, a planning tool to manage it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57200" y="4697863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795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642999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You'll justify this choice in your Milestone paperwork, so "I already knew it" isn't a real reason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57200" y="5155063"/>
            <a:ext cx="11277295" cy="1193381"/>
          </a:xfrm>
          <a:prstGeom prst="roundRect">
            <a:avLst>
              <a:gd name="adj" fmla="val 6130"/>
            </a:avLst>
          </a:prstGeom>
          <a:solidFill>
            <a:srgbClr val="F6F8FA"/>
          </a:solidFill>
          <a:ln w="15875">
            <a:solidFill>
              <a:srgbClr val="5760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301367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THINK–PAIR–SHARE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630551"/>
            <a:ext cx="10728655" cy="626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at your preferred design from last lesson — which single feature will be hardest to build with the tool you're currently planning to use?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513978" y="603504"/>
            <a:ext cx="163860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13978" y="603504"/>
            <a:ext cx="1638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 TEACHING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180015" y="98755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ECFD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📋 COPY THIS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Matching Tools to Your Design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457200" y="190195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categories cover almost every Unit 2 solution.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11277295" cy="71323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591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Programming language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86200" y="2359152"/>
            <a:ext cx="76196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fit when your design needs custom logic, live user input, or behaviour a pre-built tool can't offer.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11277295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Spreadsheet software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886200" y="3072384"/>
            <a:ext cx="76196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fit when your design is mostly structured data, calculations, or simple record-keeping.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11277295" cy="71323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856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 software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886200" y="3785616"/>
            <a:ext cx="76196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fit when your design is a fixed sequence of information — not something a user interacts with freely.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4498848"/>
            <a:ext cx="11277295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988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Project-planning tool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886200" y="4498848"/>
            <a:ext cx="76196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part of the solution itself — used alongside it to manage tasks, time and version control.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2359152"/>
            <a:ext cx="11277295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12080"/>
            <a:ext cx="11277295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394960"/>
            <a:ext cx="11277295" cy="596925"/>
          </a:xfrm>
          <a:prstGeom prst="roundRect">
            <a:avLst>
              <a:gd name="adj" fmla="val 12255"/>
            </a:avLst>
          </a:prstGeom>
          <a:solidFill>
            <a:srgbClr val="E8ECFD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541264"/>
            <a:ext cx="10728655" cy="359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groups use two or three of these together — that's expected, not a sign you're unsure.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513978" y="603504"/>
            <a:ext cx="163860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13978" y="603504"/>
            <a:ext cx="1638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 TEACHING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04241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Design to Build Tasks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Worked example — turning one feature into buildable tasks.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11277295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75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975104"/>
            <a:ext cx="8305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check-in screen that confirms a booking within seconds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11277295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42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542032"/>
            <a:ext cx="8305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the check-in confirmation screen and connect it to the booking data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1277295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108960"/>
            <a:ext cx="8305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named group member — not "the group"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11277295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758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estimate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675888"/>
            <a:ext cx="8305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days, based on Lesson 6's Gantt chart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4242816"/>
            <a:ext cx="11277295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2428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Depends 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4242816"/>
            <a:ext cx="8305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booking data structure must exist first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7200" y="1975104"/>
            <a:ext cx="11277295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809744"/>
            <a:ext cx="11277295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038344"/>
            <a:ext cx="11277295" cy="1193381"/>
          </a:xfrm>
          <a:prstGeom prst="roundRect">
            <a:avLst>
              <a:gd name="adj" fmla="val 6130"/>
            </a:avLst>
          </a:prstGeom>
          <a:solidFill>
            <a:srgbClr val="F6F8FA"/>
          </a:solidFill>
          <a:ln w="15875">
            <a:solidFill>
              <a:srgbClr val="5760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84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513832"/>
            <a:ext cx="10728655" cy="626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feature became one task with a real owner, a real estimate, and a real dependency — not a vague line like "build the app".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513978" y="603504"/>
            <a:ext cx="163860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13978" y="603504"/>
            <a:ext cx="1638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 TEACHING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042416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Updating Your Build Plan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Lesson 6 Gantt chart was a plan. Today it becomes a commitment.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Re-open your Lesson 6 Gantt chart, project journal, or task list — whichever you used to document progress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487168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every task still makes sense now that you've chosen your preferred design and your tools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054096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any new tasks your tools introduce — e.g. "set up the development environment" often gets missed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21024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owners and time estimates are realistic for the weeks actually left before your build is due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200" y="4379976"/>
            <a:ext cx="11277295" cy="926109"/>
          </a:xfrm>
          <a:prstGeom prst="roundRect">
            <a:avLst>
              <a:gd name="adj" fmla="val 7899"/>
            </a:avLst>
          </a:prstGeom>
          <a:solidFill>
            <a:srgbClr val="F6F8FA"/>
          </a:solidFill>
          <a:ln w="15875">
            <a:solidFill>
              <a:srgbClr val="5760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262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USING THE SAME DOCUMENTATION METHOD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55464"/>
            <a:ext cx="10728655" cy="359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Gantt charts, project journals, and version control all work — the method matters less than actually updating 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513978" y="603504"/>
            <a:ext cx="163860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13978" y="603504"/>
            <a:ext cx="1638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 TEACHING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180015" y="98755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ECFD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📋 COPY THIS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Build Risks &amp; Mitigation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11277295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93392"/>
            <a:ext cx="3834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1480" y="1993392"/>
            <a:ext cx="22554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Likelihood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6939" y="1993392"/>
            <a:ext cx="5187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11277295" cy="65836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50592"/>
            <a:ext cx="360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key tool or account isn't accessible at school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28640" y="2450592"/>
            <a:ext cx="20268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84099" y="2450592"/>
            <a:ext cx="4958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access in week 1 — have a backup tool identified before you need 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11277295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108960"/>
            <a:ext cx="360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group member owns most of the hardest tasks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28640" y="3108960"/>
            <a:ext cx="20268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84099" y="3108960"/>
            <a:ext cx="4958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the task list before building starts, not after someone falls behind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11277295" cy="65836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67328"/>
            <a:ext cx="360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feature turns out too complex to finish in time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28640" y="3767328"/>
            <a:ext cx="20268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84099" y="3767328"/>
            <a:ext cx="4958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simpler working version first, then add complexity if time allows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608576"/>
            <a:ext cx="11277295" cy="943928"/>
          </a:xfrm>
          <a:prstGeom prst="roundRect">
            <a:avLst>
              <a:gd name="adj" fmla="val 7750"/>
            </a:avLst>
          </a:prstGeom>
          <a:solidFill>
            <a:srgbClr val="E3FBF3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754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💻 LAPTOP GATE — DEVICES ON NOW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084064"/>
            <a:ext cx="10728655" cy="37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your workbook.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930945" y="603504"/>
            <a:ext cx="12216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30945" y="603504"/>
            <a:ext cx="12216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BRAIN BREAK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</a:t>
            </a:r>
            <a:endParaRPr lang="en-US" sz="1050" dirty="0"/>
          </a:p>
        </p:txBody>
      </p:sp>
      <p:pic>
        <p:nvPicPr>
          <p:cNvPr id="10" name="Image 0" descr="icons/brainbr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60-Second Stretch: Code It or Don't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57200" y="183794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1792224"/>
            <a:ext cx="9402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 up. Teacher names a build task from an earlier slide, e.g. "build the booking calendar".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57200" y="298094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935224"/>
            <a:ext cx="9402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a strong group could finish it within a week, move to the left side of the room. If it needs longer, move right.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57200" y="412394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4078224"/>
            <a:ext cx="9402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person from the larger group explains what makes the task quick — or what makes it slow.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57200" y="526694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5266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5221224"/>
            <a:ext cx="9402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for two more tasks, then sit back down.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930945" y="603504"/>
            <a:ext cx="12216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30945" y="603504"/>
            <a:ext cx="12216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1050" dirty="0"/>
          </a:p>
        </p:txBody>
      </p:sp>
      <p:pic>
        <p:nvPicPr>
          <p:cNvPr id="10" name="Image 0" descr="icons/app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Open Your Workbook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57200" y="151790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L11_PlanningTheBuild_workbook.html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066544"/>
            <a:ext cx="11277295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4944" y="2386584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98448" y="2212848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 &amp; Match Your Tools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298448" y="2596896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the digital systems your group needs, and what each will be used for.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814255" y="238658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78847" y="250545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10125151" y="23865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11277295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4944" y="3483864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3" name="Text 20"/>
          <p:cNvSpPr/>
          <p:nvPr/>
        </p:nvSpPr>
        <p:spPr>
          <a:xfrm>
            <a:off x="694944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298448" y="3310128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Your Build Plan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298448" y="3694176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your preferred design into build-task cards with owners, estimates and dependencies.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814255" y="348386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978847" y="36027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10125151" y="34838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DEVELOPING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4261104"/>
            <a:ext cx="11277295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4944" y="4581144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31" name="Text 28"/>
          <p:cNvSpPr/>
          <p:nvPr/>
        </p:nvSpPr>
        <p:spPr>
          <a:xfrm>
            <a:off x="694944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98448" y="4407408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Justify &amp; Assess Risk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1298448" y="4791456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Justify one tool choice, and name a real build risk with a genuine response.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814255" y="458114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978847" y="470001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3"/>
          <p:cNvSpPr/>
          <p:nvPr/>
        </p:nvSpPr>
        <p:spPr>
          <a:xfrm>
            <a:off x="10125151" y="4581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EXTENDING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358384"/>
            <a:ext cx="11277295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" y="5678424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39" name="Text 36"/>
          <p:cNvSpPr/>
          <p:nvPr/>
        </p:nvSpPr>
        <p:spPr>
          <a:xfrm>
            <a:off x="694944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298448" y="5504688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Plan Checklist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1298448" y="5888736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every element is genuinely present before you start building next lesson.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814255" y="567842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978847" y="579729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1"/>
          <p:cNvSpPr/>
          <p:nvPr/>
        </p:nvSpPr>
        <p:spPr>
          <a:xfrm>
            <a:off x="10125151" y="5678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930945" y="603504"/>
            <a:ext cx="12216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30945" y="603504"/>
            <a:ext cx="12216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1050" dirty="0"/>
          </a:p>
        </p:txBody>
      </p:sp>
      <p:pic>
        <p:nvPicPr>
          <p:cNvPr id="10" name="Image 0" descr="icons/task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Task Card — Start From Your Preferred Design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57200" y="170078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165506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your preferred design from Lesson 10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57200" y="224942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20370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 every distinct feature it needs to work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57200" y="279806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275234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feature, name the tool or software that fits it best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57200" y="334670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330098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Carry those into your tools table — one row per tool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57200" y="4032504"/>
            <a:ext cx="11277295" cy="1175563"/>
          </a:xfrm>
          <a:prstGeom prst="roundRect">
            <a:avLst>
              <a:gd name="adj" fmla="val 6223"/>
            </a:avLst>
          </a:prstGeom>
          <a:solidFill>
            <a:srgbClr val="F6F8FA"/>
          </a:solidFill>
          <a:ln w="15875">
            <a:solidFill>
              <a:srgbClr val="5760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417880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4507992"/>
            <a:ext cx="10728655" cy="6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Feature: an interactive booking calendar. Tool: a programming language with a UI framework — because it needs to handle live user input a spreadsheet or slideshow can't.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930945" y="603504"/>
            <a:ext cx="12216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30945" y="603504"/>
            <a:ext cx="12216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1050" dirty="0"/>
          </a:p>
        </p:txBody>
      </p:sp>
      <p:pic>
        <p:nvPicPr>
          <p:cNvPr id="10" name="Image 0" descr="icons/task_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Task Card — Build Your Build Plan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57200" y="170078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165506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task builder to add one card per build task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57200" y="224942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20370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owner, time estimate, and dependencies for every card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57200" y="279806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275234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Cross-check against your Lesson 10 preferred design — is anything missing?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57200" y="334670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3300984"/>
            <a:ext cx="10774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your Lesson 6 Gantt chart or project journal to match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57200" y="4032504"/>
            <a:ext cx="11277295" cy="1175563"/>
          </a:xfrm>
          <a:prstGeom prst="roundRect">
            <a:avLst>
              <a:gd name="adj" fmla="val 6223"/>
            </a:avLst>
          </a:prstGeom>
          <a:solidFill>
            <a:srgbClr val="FDEAEA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417880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WATCH FOR THIS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4507992"/>
            <a:ext cx="10728655" cy="6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task with no owner or no time estimate isn't a plan — it's a wish. Every card needs both before it counts as finished.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000439" y="603504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0439" y="60350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</a:t>
            </a:r>
            <a:endParaRPr lang="en-US" sz="1050" dirty="0"/>
          </a:p>
        </p:txBody>
      </p:sp>
      <p:pic>
        <p:nvPicPr>
          <p:cNvPr id="10" name="Image 0" descr="icons/respons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Peer Build-Plan Check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57200" y="151790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Swap with a neighbouring group for 4 minutes.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066544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020824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one task from their build plan — choose the one you're least sure has a real owner.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57200" y="2633472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587752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 to break it: could two people read the task and disagree on what "done" looks like?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457200" y="3200400"/>
            <a:ext cx="347472" cy="347472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15468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the fix: suggest what detail, owner, or estimate would close the gap.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57200" y="3950208"/>
            <a:ext cx="11277295" cy="1175563"/>
          </a:xfrm>
          <a:prstGeom prst="roundRect">
            <a:avLst>
              <a:gd name="adj" fmla="val 6223"/>
            </a:avLst>
          </a:prstGeom>
          <a:solidFill>
            <a:srgbClr val="F1EBFE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09651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ASSESSMENT CHECKPOINT — MILESTONE 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" y="4425696"/>
            <a:ext cx="10728655" cy="6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the due date you need a complete build plan: tools chosen and justified, tasks assigned with estimates, and at least one risk identified with a real mitigation. Keep this — you start building next lesson.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930945" y="603504"/>
            <a:ext cx="12216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30945" y="603504"/>
            <a:ext cx="12216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EXIT TICKET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1050" dirty="0"/>
          </a:p>
        </p:txBody>
      </p:sp>
      <p:pic>
        <p:nvPicPr>
          <p:cNvPr id="10" name="Image 0" descr="icons/exit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Exit Ticket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57200" y="151790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 — complete Section 5 from memory. No looking back.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11226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22311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21122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68880" y="2020824"/>
            <a:ext cx="9265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a "digital system", in your own words?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57200" y="352958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" y="36484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295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468880" y="3438144"/>
            <a:ext cx="9265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one task from your build plan and who owns it, from memory.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57200" y="494690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" y="506577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768096" y="49469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68880" y="4855464"/>
            <a:ext cx="9265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Explain, in one sentence, why matching the tool to the requirement matters more than picking the tool you already know.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y11-ac-u2-l11-planning-the-build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71455" y="603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0327" y="7132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09199" y="6035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000439" y="603504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0439" y="60350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1050" dirty="0"/>
          </a:p>
        </p:txBody>
      </p:sp>
      <p:pic>
        <p:nvPicPr>
          <p:cNvPr id="10" name="Image 0" descr="icons/next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996696"/>
            <a:ext cx="107469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Looking Ahead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57200" y="1609344"/>
            <a:ext cx="11277295" cy="1211199"/>
          </a:xfrm>
          <a:prstGeom prst="roundRect">
            <a:avLst>
              <a:gd name="adj" fmla="val 6040"/>
            </a:avLst>
          </a:prstGeom>
          <a:solidFill>
            <a:srgbClr val="E8ECFD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755648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LESSON — BUILDING RESPONSIBLY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084832"/>
            <a:ext cx="10728655" cy="64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you start building, checking the legal and ethical rules that apply to your solution — copyright, privacy, and the data you're allowed to collect and store.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2930271"/>
            <a:ext cx="11277295" cy="1175563"/>
          </a:xfrm>
          <a:prstGeom prst="roundRect">
            <a:avLst>
              <a:gd name="adj" fmla="val 6223"/>
            </a:avLst>
          </a:prstGeom>
          <a:solidFill>
            <a:srgbClr val="F6F8FA"/>
          </a:solidFill>
          <a:ln w="15875">
            <a:solidFill>
              <a:srgbClr val="5760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076575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BUILD PLAN IS NOW A WORKING REFERENCE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3405759"/>
            <a:ext cx="10728655" cy="6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it alongside your specifications, evaluation criteria and preferred design — together they guide every build decision from here.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215562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DISMISSING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508170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4898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4453306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Workbook saved (check the Saved ✓ confirmation)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57200" y="4855642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373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4800778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build task has a named owner and a time estimate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457200" y="5203114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51848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68680" y="5148250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Bring this build plan to next lesson — you start building straight after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560545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HOMEWORK: none set — all work stays in class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2026-08-12T23:44:30Z</dcterms:created>
  <dcterms:modified xsi:type="dcterms:W3CDTF">2026-08-12T23:44:30Z</dcterms:modified>
</cp:coreProperties>
</file>