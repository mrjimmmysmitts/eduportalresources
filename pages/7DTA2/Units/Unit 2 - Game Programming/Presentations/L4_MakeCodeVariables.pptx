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period (100 min). Sequence: warm-up 8 / LO 4 / MakeCode teaching 18 / Task A build 22 / brain break 5 / variables teaching 15 / Task B build 15 / challenge + exit 13.
This lesson combines what were previously two lessons. The pacing is tight — protect Task A and Task B, and cut the challenge slide if you need the time.
Every student leaves with a saved project file. That file is the base for Lesson 5 and, eventually, the CAT.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minutes, unplugged. Collect examples on the board in two columns: 'changes while playing' and 'set once'.
That sorting IS the variable concept, arriving before the word does. Don't name it yet — you'll land the term in the second half of the lesson and can point back at this board.
Differentiation: if a student can't name a game, offer a shared reference — a class Minecraft world, a sports game, anything on the board already.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minutes. Students copy the objective into paper notes and tick their target tier in workbook Section 1.
Say plainly that this is a combined lesson and it moves fast — the reward is that they leave with a game that actually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minutes. Project MakeCode and point at each area as you name it. Do NOT let students follow along yet — laptops closed. They will retain more from watching once than from fumbling along four times.
The 160x120 fact prevents a whole class of 'my sprite disappeared' problems later today and in Lesson 5's spawn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minutes. The misconception to break: students expect code to run in the order it appears on screen. Show two event blocks side by side and ask which runs first — the answer is 'whichever thing happens first'.
Cold call: 'name something that could happen in a game that code might react to.'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minutes. Keep this brisk — it's a reference slide, not a teaching slide. Students copy the table and will use it as a lookup all lesson.
Flag that Loops and Logic are deliberately left for next lesson so nobody panics about the unfamiliar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Deliberately slow. Narrate every click — 'I'm clicking Sprites, here, on the left'.
Do it twice if the class is unfamiliar with drag-and-drop coding: once at normal speed, once with narration.
After this slide, laptops open and stay open for the rest of the lesson apart from the variables teaching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minutes. This is the longest single block of the lesson — protect it.
Circulate constantly. The three failure points are: not finding the import button for sprite art, accidentally deleting a tutorial block, and running out of time on the tutorial.
If a student is badly stuck on the tutorial at the 15-minute mark, get them to a working game any way you can — a partly-finished tutorial that RUNS is far more useful for Task B than a perfect one that doesn't exist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 including settling. Use it to check how many have a running game before you decide how fast to teach variables.
The 'no apologising' instruction is deliberate — Year 7 students reflexively undersell their own work, and this is their first real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minutes, laptops CLOSED. Point back at the warm-up board — this is the payoff for that discussion.
The box analogy carries the whole concept for Year 7. Physical prop optional but effective: a labelled box with number cards you swap.
Check for understanding: 'is the player's name a variable? Is the screen width?'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Do the trace out loud: 'score is 0, we collect a coin, set score to 1 — score is 1. Collect another, set score to 1 — score is...?'
Let them answer wrong once. This misconception is worth surfacing here rather than during the build.
Same trace appears as an auto-marked question in the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minutes. Worth showing pitfall 3 live if you have a spare 60 seconds — it's the least intuitive of the three.
This slide is also insurance: when a student's score misbehaves in Task B, you can say 'check slide 12' rather than fixing it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minutes. Steps 1-2 are quick; step 3 is where the set-vs-change misconception shows up in the wild.
If a student's tutorial has no collectible, have them use any collision the tutorial already contains — the concept transfers, the specific sprite doesn't matter.
Saving is the non-negotiable: Lesson 5 begins by opening this exact file. Say it twice and check before anyone logs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minutes, and the first thing to cut if you're behind.
The Extending task is the real stretch: naming their own variable is the moment the concept stops being 'the score block' and becomes general.
Workbook Section 6 records whichever they attempt.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minutes including pack-up. Question 2 is the diagnostic — anyone who can't answer it will struggle with Lesson 5's conditionals, so read those before next lesson.
Question 3 doubles as a hook: several of their answers will be achievable with conditionals and loops, which is exactly what's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The homework line is the important one — Lesson 5's guided build assumes a running project.
Point absent or unfinished students to the unit site Lesson 4 section, which has the full write-up including both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8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7  ·  DIGITAL TECHNOLOGY  ·  UNIT 2: GAME PROGRAMMING  ·  LESSON 4 OF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MakeCode Arcade &amp; Variables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lesson: meet the tool you'll build your game in — then give that game something to remember.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F4F6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your first working game, with a score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Does a Game Remember?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0881360" cy="1554480"/>
          </a:xfrm>
          <a:prstGeom prst="roundRect">
            <a:avLst>
              <a:gd name="adj" fmla="val 2941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600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any game you've played this week. While you were playing, the game was quietly keeping track of things about you.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Coins. Health. Lives. Level. Time left. High score. Ammo. How many you've collected.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talk (4 min):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game, then list everything it kept track of while you played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those things changed while you played, and which stayed the same?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break if the game forgot one of them halfway through?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&amp; SUCCESS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We're Learning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371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working game in MakeCode Arcade using event blocks, and use variables to track values that change as it runs.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383280" cy="3017520"/>
          </a:xfrm>
          <a:prstGeom prst="roundRect">
            <a:avLst>
              <a:gd name="adj" fmla="val 1515"/>
            </a:avLst>
          </a:prstGeom>
          <a:solidFill>
            <a:srgbClr val="F4F6F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3090672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main block categories.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tutorial and add a score that goes up.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97680" y="2468880"/>
            <a:ext cx="3383280" cy="3017520"/>
          </a:xfrm>
          <a:prstGeom prst="roundRect">
            <a:avLst>
              <a:gd name="adj" fmla="val 1515"/>
            </a:avLst>
          </a:prstGeom>
          <a:solidFill>
            <a:srgbClr val="F4F6F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3090672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an event block does.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starting value and change a variable on an event.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955280" y="2468880"/>
            <a:ext cx="3383280" cy="3017520"/>
          </a:xfrm>
          <a:prstGeom prst="roundRect">
            <a:avLst>
              <a:gd name="adj" fmla="val 1515"/>
            </a:avLst>
          </a:prstGeom>
          <a:solidFill>
            <a:srgbClr val="F4F6F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8388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83880" y="3090672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event-driven behaviour of your own.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score and life together correctly.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MakeCode Arcade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TOUR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on screen. Watch the demonstration before you touch anything.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349240" cy="118872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0208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361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Simulator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96112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preview — your game runs here in real time as you build.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5349240" cy="118872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20208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361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Toolbox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28232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coloured block categories down the left. Drag blocks from here.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5349240" cy="118872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4381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361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Workspace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96112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area where you snap blocks together to make a program.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72200" y="3291840"/>
            <a:ext cx="5349240" cy="118872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8232" y="34381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361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Blocks / JavaScript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28232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toggle to see the same program as text code. Not needed today.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881360" cy="822960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754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Arcade screen is 160 pixels wide and 120 tall. Put a sprite at x = 200 and it sits off the edge of the world — invisible, but still there.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Games Are Built From Events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881360" cy="77724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325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MakeCode program is not a recipe that runs top to bottom. It waits, and reacts when something happens.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6035040" cy="2194560"/>
          </a:xfrm>
          <a:prstGeom prst="roundRect">
            <a:avLst>
              <a:gd name="adj" fmla="val 208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32304"/>
            <a:ext cx="55778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7DF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start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7DF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A button pressed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7DF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Player overlaps Enemy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7DF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life zero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32320" y="2286000"/>
            <a:ext cx="4389120" cy="2194560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0920" y="248716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 block holds the instructions that run when that one thing happens.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it happens, that code sits there doing nothing at all.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Lesson 3? The diamonds in your flowchart usually become event blocks — a decision point becomes an "on something happens" block.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5797296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EF6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5797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 ·  The definition of an event + the four example event blocks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Block Categories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 do almost everything you need this unit.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772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use it for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Sprites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Creating, moving and changing the look of game objects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button presses — A, B and the direction pad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Score, lives, win and lose conditions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Storing and changing values — the second half of today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Repeating blocks of code — Lesson 5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else conditions and comparisons — Lesson 5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5797296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EF6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5797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 ·  The six block categories and what each one is for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Watch First, Then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10881360" cy="2103120"/>
          </a:xfrm>
          <a:prstGeom prst="roundRect">
            <a:avLst>
              <a:gd name="adj" fmla="val 2174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645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361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Teacher demonstration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 project and finding the tutorial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Dragging a block from the toolbox into an event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play and watching the simulator respond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0881360" cy="1737360"/>
          </a:xfrm>
          <a:prstGeom prst="roundRect">
            <a:avLst>
              <a:gd name="adj" fmla="val 2632"/>
            </a:avLst>
          </a:prstGeom>
          <a:solidFill>
            <a:srgbClr val="F4F6F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977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5A0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job while watching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4434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the laptop. Watch where each thing is on the screen — you'll be asked to find them yourself in two minutes, and the finding is the point.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A — Your First Game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OPEN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MakeCode Arcade and work through the tutorial. Your teacher will name which one.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F4F6F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13055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1993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tutorial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199339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it start to finish. Don't skip steps — each one adds a block you'll need.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F4F6F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36499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08760" y="32278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Reskin the player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54880" y="322783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Lesson 2 sprite art and replace the default player image.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F4F6F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59943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44622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754880" y="446227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simulator. Does it still work with your art in it?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Open your workbook — Section 4. Tick each checkpoint as you get it working.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Minutes — Screens Down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0881360" cy="3108960"/>
          </a:xfrm>
          <a:prstGeom prst="roundRect">
            <a:avLst>
              <a:gd name="adj" fmla="val 1471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0116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 up. Shake out your hands.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sitting back down — show the person next to you the one thing in your game you're most pleased with.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seconds each. No apologising for it.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stay closed after this — the next part is teaching, not building.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a Variable?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881360" cy="77724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325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place to store a value that can change while the program runs.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965960" y="2468880"/>
            <a:ext cx="2377440" cy="1554480"/>
          </a:xfrm>
          <a:prstGeom prst="roundRect">
            <a:avLst>
              <a:gd name="adj" fmla="val 2941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6596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5806440" y="2468880"/>
            <a:ext cx="2377440" cy="1554480"/>
          </a:xfrm>
          <a:prstGeom prst="roundRect">
            <a:avLst>
              <a:gd name="adj" fmla="val 2941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06440" y="3017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43484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79476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score by 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F4F6F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5720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labelled box. Changing a variable doesn't make a new box — it swaps the card inside the box you already have. Remember the board from the warm-up? Everything in the 'changes while playing' column was a variable.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5797296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EF6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797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 ·  The definition of a variable + the labelled box diagram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Score &amp; Lives in MakeCode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score to 0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the starting value. Use once, on start.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score by 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to whatever the value is now. Use on an event.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life to 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the number of hearts drawn at the top of the screen.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life by -1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a life away. At zero, MakeCode ends the game for you.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407408"/>
            <a:ext cx="10881360" cy="1325880"/>
          </a:xfrm>
          <a:prstGeom prst="roundRect">
            <a:avLst>
              <a:gd name="adj" fmla="val 3448"/>
            </a:avLst>
          </a:prstGeom>
          <a:solidFill>
            <a:srgbClr val="F4F6F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 vs  change — the difference that catches everyone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" y="49377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score to 1  makes the score exactly 1, every single time, no matter what it was before.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score by 1  adds one to whatever is already there. Only one of these gives you a score that climbs.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5797296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EF6E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579729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 ·  The four blocks + the difference between set and change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Ways This Goes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0881360" cy="118872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5544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starting value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never set score to 0, the variable starts undefined — the display does strange things.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10881360" cy="118872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926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set where you need change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jumps to the same number every time instead of climbing.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881360" cy="1188720"/>
          </a:xfrm>
          <a:prstGeom prst="roundRect">
            <a:avLst>
              <a:gd name="adj" fmla="val 3846"/>
            </a:avLst>
          </a:prstGeom>
          <a:solidFill>
            <a:srgbClr val="F4F6F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2976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score to 0 inside the collision event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resets every time the player scores, so it never gets past 1.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 without an error message. The game just quietly does the wrong thing — which is why you test after every change.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Task B — Give It a Memory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OPEN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into your project. Four steps — run the simulator and check after each one.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5852160" cy="2240280"/>
          </a:xfrm>
          <a:prstGeom prst="roundRect">
            <a:avLst>
              <a:gd name="adj" fmla="val 204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29384"/>
            <a:ext cx="53949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7DF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start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7DF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score to 0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7DF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life to 3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7DF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Player overlaps Food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7DF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 score by 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18120" y="1783080"/>
            <a:ext cx="3703320" cy="2240280"/>
          </a:xfrm>
          <a:prstGeom prst="roundRect">
            <a:avLst>
              <a:gd name="adj" fmla="val 2041"/>
            </a:avLst>
          </a:prstGeom>
          <a:solidFill>
            <a:srgbClr val="F4F6F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96596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as you go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 shows 0 at the start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Three hearts appear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 goes UP on collect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Save your project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881360" cy="1417320"/>
          </a:xfrm>
          <a:prstGeom prst="roundRect">
            <a:avLst>
              <a:gd name="adj" fmla="val 3226"/>
            </a:avLst>
          </a:prstGeom>
          <a:solidFill>
            <a:srgbClr val="F4F6F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player lose a life when they touch an enemy, so score and life are both working at once. Then test what happens when life reaches zero — MakeCode handles that ending for you.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Choose Your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OPEN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both tasks? Pick one — you may do more than one.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3383280" cy="2926080"/>
          </a:xfrm>
          <a:prstGeom prst="roundRect">
            <a:avLst>
              <a:gd name="adj" fmla="val 1563"/>
            </a:avLst>
          </a:prstGeom>
          <a:solidFill>
            <a:srgbClr val="F4F6F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450592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one more default sprite with your own art.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changes how the game feels most?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383280" cy="2926080"/>
          </a:xfrm>
          <a:prstGeom prst="roundRect">
            <a:avLst>
              <a:gd name="adj" fmla="val 1563"/>
            </a:avLst>
          </a:prstGeom>
          <a:solidFill>
            <a:srgbClr val="F4F6F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2450592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sound effect on an event of your choosing.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event deserves the player's attention?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0" y="1828800"/>
            <a:ext cx="3383280" cy="2926080"/>
          </a:xfrm>
          <a:prstGeom prst="roundRect">
            <a:avLst>
              <a:gd name="adj" fmla="val 1563"/>
            </a:avLst>
          </a:prstGeom>
          <a:solidFill>
            <a:srgbClr val="F4F6F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38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83880" y="2450592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 variable of your own, named by you, tracking something the tutorial doesn't.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8388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is worth remembering?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before you pack up. Lesson 5 starts by opening this exact file.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OPEN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memory — workbook Section 8.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18745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your own words: what is a variable, and what does your game use one for?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29260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What's the difference between  set score to 1  and  change score by 1 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881360" cy="868680"/>
          </a:xfrm>
          <a:prstGeom prst="roundRect">
            <a:avLst>
              <a:gd name="adj" fmla="val 5263"/>
            </a:avLst>
          </a:prstGeom>
          <a:solidFill>
            <a:srgbClr val="F4F6F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9776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Name one thing you'd like to add to your game next lesson.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submit your workbook before you log off.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118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This Is Going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1874520" cy="402336"/>
          </a:xfrm>
          <a:prstGeom prst="roundRect">
            <a:avLst>
              <a:gd name="adj" fmla="val 18182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3840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6272784"/>
            <a:ext cx="2240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272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577840" cy="2377440"/>
          </a:xfrm>
          <a:prstGeom prst="roundRect">
            <a:avLst>
              <a:gd name="adj" fmla="val 1923"/>
            </a:avLst>
          </a:prstGeom>
          <a:solidFill>
            <a:srgbClr val="F4F6F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 you learned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way around MakeCode Arcade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games are built from events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variable is and what it's for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set and change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120640" cy="2377440"/>
          </a:xfrm>
          <a:prstGeom prst="roundRect">
            <a:avLst>
              <a:gd name="adj" fmla="val 1923"/>
            </a:avLst>
          </a:prstGeom>
          <a:solidFill>
            <a:srgbClr val="F4F6FA"/>
          </a:solidFill>
          <a:ln w="19050">
            <a:solidFill>
              <a:srgbClr val="4361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361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lesson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20116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 — Conditionals &amp; Loops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give the game rules and rhythm: win and lose conditions, and enemies that keep coming. Bring this project.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1691640"/>
          </a:xfrm>
          <a:prstGeom prst="roundRect">
            <a:avLst>
              <a:gd name="adj" fmla="val 2703"/>
            </a:avLst>
          </a:prstGeom>
          <a:solidFill>
            <a:srgbClr val="F4F6F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9AA4B2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progress check — you should now have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art (L2)   ·   A flowchart (L3)   ·   A running game with your own player art and a working score (today)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if your tutorial isn't finished, finish it before Lesson 5. You can't add rules to a game that doesn't run.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L4 MakeCode Arcade &amp; Variables</dc:title>
  <dc:subject>PptxGenJS Presentation</dc:subject>
  <dc:creator>EduPortal</dc:creator>
  <cp:lastModifiedBy>EduPortal</cp:lastModifiedBy>
  <cp:revision>1</cp:revision>
  <dcterms:created xsi:type="dcterms:W3CDTF">2026-08-11T00:26:43Z</dcterms:created>
  <dcterms:modified xsi:type="dcterms:W3CDTF">2026-08-11T00:26:43Z</dcterms:modified>
</cp:coreProperties>
</file>