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422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period (100 min). Sequence: warm-up 8 / LO 4 / criteria teaching 14 / critique a game 15 / critique your own 12 / brain break 5 / studio briefing 8 / assessed studio 30 / exit 4.
This is a combined lesson: critique first, then the first half of CAT 1 build time. Be explicit at the transition that the assessment has started — students should know exactly when they cross that line.
Have the CAT Task Sheet and rubric available. Students need their Lesson 2 sprite files and Lesson 5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unplugged. The word ban is the entire mechanism — enforce it cheerfully and make students restate when they slip.
Collect two or three examples and push each one: 'why did that feel unfair?' until you get something specific. Those live examples make the four criteria on slide 4 feel like names for things they already noticed.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Be clear that the criteria cards cover both halves — the first line of each is the critique work, the second is the build.
Students copy the objective and tick their target tier in workbook Section 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Tie each criterion back to a warm-up example from the board — 'that unfair jump you mentioned, that's difficulty'.
Feedback is the one Year 7 students most often miss in their own games: no sound, no score change, no visual signal when something important happens. Flag it now, because it's the easiest weakness for them to fix later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Model one live: take a weak statement from the warm-up and rebuild it through the frame with the class.
The frame is scaffolding, not a rule — Extending students should move past it. Foundation students should use it word for word.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Choose a game with an obvious flaw — a genuinely polished game gives students nothing to critique and the weakness column stays empty.
The watching partner is not optional: noticing is easier from outside the controls. Swap at the halfway mark.
Circulate and push back on the first vague comment you see in each pair. One correction early saves ten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Step 1 is the highest-value instruction on this slide: watching a peer play in silence tells a student more about their own game than any amount of self-reflection.
Stop students who defend their game while their partner is playing. Silence is the task.
By the end of this task every student needs a written proposed fix — it's the input to next lesson's modification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Some students will need talking down from something enormous — do it as scoping, never as 'you can't'.
Useful question for an over-ambitious plan: 'which single part of that would make the biggest difference on its own?' That usually finds the buildable version inside the big idea.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including settling. Use this window to sort out missing files — a student without sprite art needs a plan before studio time starts, not halfway through it.
This break is deliberately placed at the seam between the two halves of the lesson. It marks the transition into assessed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Say the words 'the assessment starts now' out loud. Students should never be unclear about when they crossed into assessed work.
Remind them the full rubric is on the CAT Task Sheet — today only two criteria are in play,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to brief. Run Checkpoint A conferences at roughly the 15-minute mark of studio time, moving desk to desk — 60 seconds each is enough.
The self-check first is deliberate: it makes students look at their own work against criteria before you do, which is the habit the whole unit is building.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Read the Developing column aloud — that's the standard expectation, and naming it prevents students aiming at Foundation by default.
'Cohesive' in the Extending column means the art looks like it belongs to one game. Give a quick example: consistent colours and pixel size across every sprite.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minutes of build time. Your job is conferencing, not solving — when a student is stuck, ask which of the four debugging steps from Lesson 5 they've tried.
Common time sink: students redrawing sprite art they already made in Lesson 2. Redirect them — the art exists, import it.
Hold the line on 'don't start the modification'. Students who build it today arrive at Lesson 7 with nothing to do and often with a broken game.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Question 3 is your planning data for Lesson 7 — read the answers and group students by what they still owe.
Anyone who can't answer question 2 needs five minutes with you at the start of next lesson before they can begin building.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The homework framing matters: Lesson 7 has its own full workload, so anyone arriving with an unfinished reskin will be doing two lessons at once.
Point students to the unit site Lesson 6 section for the criteria and the rubric extract if they need them at home.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822960"/>
            <a:ext cx="10881360" cy="365760"/>
          </a:xfrm>
          <a:prstGeom prst="rect">
            <a:avLst/>
          </a:prstGeom>
          <a:noFill/>
          <a:ln/>
        </p:spPr>
        <p:txBody>
          <a:bodyPr wrap="square" lIns="0" tIns="0" rIns="0" bIns="0" rtlCol="0" anchor="ctr"/>
          <a:lstStyle/>
          <a:p>
            <a:pPr marL="0" indent="0">
              <a:buNone/>
            </a:pPr>
            <a:r>
              <a:rPr lang="en-US" sz="1400" b="1" kern="0" spc="180" dirty="0">
                <a:solidFill>
                  <a:srgbClr val="4361EE"/>
                </a:solidFill>
                <a:latin typeface="Calibri" pitchFamily="34" charset="0"/>
                <a:ea typeface="Calibri" pitchFamily="34" charset="-122"/>
                <a:cs typeface="Calibri" pitchFamily="34" charset="-120"/>
              </a:rPr>
              <a:t>YEAR 7  ·  DIGITAL TECHNOLOGY  ·  UNIT 2: GAME PROGRAMMING  ·  LESSON 6 OF 8</a:t>
            </a:r>
            <a:endParaRPr lang="en-US" sz="1400" dirty="0"/>
          </a:p>
        </p:txBody>
      </p:sp>
      <p:sp>
        <p:nvSpPr>
          <p:cNvPr id="3" name="Text 1"/>
          <p:cNvSpPr/>
          <p:nvPr/>
        </p:nvSpPr>
        <p:spPr>
          <a:xfrm>
            <a:off x="640080" y="2194560"/>
            <a:ext cx="10881360" cy="1371600"/>
          </a:xfrm>
          <a:prstGeom prst="rect">
            <a:avLst/>
          </a:prstGeom>
          <a:noFill/>
          <a:ln/>
        </p:spPr>
        <p:txBody>
          <a:bodyPr wrap="square" lIns="0" tIns="0" rIns="0" bIns="0" rtlCol="0" anchor="ctr"/>
          <a:lstStyle/>
          <a:p>
            <a:pPr marL="0" indent="0">
              <a:buNone/>
            </a:pPr>
            <a:r>
              <a:rPr lang="en-US" sz="6000" dirty="0">
                <a:solidFill>
                  <a:srgbClr val="111827"/>
                </a:solidFill>
                <a:latin typeface="Bookman Old Style" pitchFamily="34" charset="0"/>
                <a:ea typeface="Bookman Old Style" pitchFamily="34" charset="-122"/>
                <a:cs typeface="Bookman Old Style" pitchFamily="34" charset="-120"/>
              </a:rPr>
              <a:t>Making Our Game</a:t>
            </a:r>
            <a:endParaRPr lang="en-US" sz="6000" dirty="0"/>
          </a:p>
        </p:txBody>
      </p:sp>
      <p:sp>
        <p:nvSpPr>
          <p:cNvPr id="4" name="Text 2"/>
          <p:cNvSpPr/>
          <p:nvPr/>
        </p:nvSpPr>
        <p:spPr>
          <a:xfrm>
            <a:off x="640080" y="3749040"/>
            <a:ext cx="9326880" cy="914400"/>
          </a:xfrm>
          <a:prstGeom prst="rect">
            <a:avLst/>
          </a:prstGeom>
          <a:noFill/>
          <a:ln/>
        </p:spPr>
        <p:txBody>
          <a:bodyPr wrap="square" lIns="0" tIns="0" rIns="0" bIns="0" rtlCol="0" anchor="ctr"/>
          <a:lstStyle/>
          <a:p>
            <a:pPr marL="0" indent="0">
              <a:buNone/>
            </a:pPr>
            <a:r>
              <a:rPr lang="en-US" sz="2000" dirty="0">
                <a:solidFill>
                  <a:srgbClr val="374151"/>
                </a:solidFill>
                <a:latin typeface="Calibri" pitchFamily="34" charset="0"/>
                <a:ea typeface="Calibri" pitchFamily="34" charset="-122"/>
                <a:cs typeface="Calibri" pitchFamily="34" charset="-120"/>
              </a:rPr>
              <a:t>First we learn to judge a game properly — including our own. Then assessed build time begins.</a:t>
            </a:r>
            <a:endParaRPr lang="en-US" sz="2000" dirty="0"/>
          </a:p>
        </p:txBody>
      </p:sp>
      <p:sp>
        <p:nvSpPr>
          <p:cNvPr id="7" name="Shape 5"/>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txBody>
          <a:bodyPr/>
          <a:lstStyle/>
          <a:p>
            <a:endParaRPr lang="en-AU"/>
          </a:p>
        </p:txBody>
      </p:sp>
      <p:sp>
        <p:nvSpPr>
          <p:cNvPr id="8" name="Text 6"/>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EF4444"/>
                </a:solidFill>
                <a:latin typeface="Calibri" pitchFamily="34" charset="0"/>
                <a:ea typeface="Calibri" pitchFamily="34" charset="-122"/>
                <a:cs typeface="Calibri" pitchFamily="34" charset="-120"/>
              </a:rPr>
              <a:t>LAPTOPS CLOSED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WARM UP</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"It's Good" Tells Me Nothing</a:t>
            </a:r>
            <a:endParaRPr lang="en-US" sz="3200" dirty="0"/>
          </a:p>
        </p:txBody>
      </p:sp>
      <p:sp>
        <p:nvSpPr>
          <p:cNvPr id="4" name="Shape 2"/>
          <p:cNvSpPr/>
          <p:nvPr/>
        </p:nvSpPr>
        <p:spPr>
          <a:xfrm>
            <a:off x="9646920" y="384048"/>
            <a:ext cx="1874520" cy="402336"/>
          </a:xfrm>
          <a:prstGeom prst="roundRect">
            <a:avLst>
              <a:gd name="adj" fmla="val 18182"/>
            </a:avLst>
          </a:prstGeom>
          <a:solidFill>
            <a:srgbClr val="4361EE"/>
          </a:solidFill>
          <a:ln w="12700">
            <a:solidFill>
              <a:srgbClr val="4361EE"/>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DISCUSS</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417320"/>
            <a:ext cx="10881360" cy="1371600"/>
          </a:xfrm>
          <a:prstGeom prst="roundRect">
            <a:avLst>
              <a:gd name="adj" fmla="val 333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9" name="Text 7"/>
          <p:cNvSpPr/>
          <p:nvPr/>
        </p:nvSpPr>
        <p:spPr>
          <a:xfrm>
            <a:off x="960120" y="1417320"/>
            <a:ext cx="10241280" cy="1371600"/>
          </a:xfrm>
          <a:prstGeom prst="rect">
            <a:avLst/>
          </a:prstGeom>
          <a:noFill/>
          <a:ln/>
        </p:spPr>
        <p:txBody>
          <a:bodyPr wrap="square" lIns="0" tIns="0" rIns="0" bIns="0" rtlCol="0" anchor="ctr"/>
          <a:lstStyle/>
          <a:p>
            <a:pPr marL="0" indent="0">
              <a:buNone/>
            </a:pPr>
            <a:r>
              <a:rPr lang="en-US" sz="2200" b="1" dirty="0">
                <a:solidFill>
                  <a:srgbClr val="111827"/>
                </a:solidFill>
                <a:latin typeface="Calibri" pitchFamily="34" charset="0"/>
                <a:ea typeface="Calibri" pitchFamily="34" charset="-122"/>
                <a:cs typeface="Calibri" pitchFamily="34" charset="-120"/>
              </a:rPr>
              <a:t>Give any game you like a score out of ten. Now justify it — without using the words good, bad, fun or boring.</a:t>
            </a:r>
            <a:endParaRPr lang="en-US" sz="2200" dirty="0"/>
          </a:p>
        </p:txBody>
      </p:sp>
      <p:sp>
        <p:nvSpPr>
          <p:cNvPr id="10" name="Text 8"/>
          <p:cNvSpPr/>
          <p:nvPr/>
        </p:nvSpPr>
        <p:spPr>
          <a:xfrm>
            <a:off x="640080" y="3063240"/>
            <a:ext cx="10881360" cy="2103120"/>
          </a:xfrm>
          <a:prstGeom prst="rect">
            <a:avLst/>
          </a:prstGeom>
          <a:noFill/>
          <a:ln/>
        </p:spPr>
        <p:txBody>
          <a:bodyPr wrap="square" lIns="0" tIns="0" rIns="0" bIns="0" rtlCol="0" anchor="ctr"/>
          <a:lstStyle/>
          <a:p>
            <a:pPr marL="0" indent="0">
              <a:spcAft>
                <a:spcPts val="800"/>
              </a:spcAft>
              <a:buNone/>
            </a:pPr>
            <a:r>
              <a:rPr lang="en-US" sz="2000" b="1" dirty="0">
                <a:solidFill>
                  <a:srgbClr val="374151"/>
                </a:solidFill>
                <a:latin typeface="Calibri" pitchFamily="34" charset="0"/>
                <a:ea typeface="Calibri" pitchFamily="34" charset="-122"/>
                <a:cs typeface="Calibri" pitchFamily="34" charset="-120"/>
              </a:rPr>
              <a:t>Turn and talk (4 min):</a:t>
            </a:r>
            <a:endParaRPr lang="en-US" sz="2000" dirty="0"/>
          </a:p>
          <a:p>
            <a:pPr marL="342900" indent="-342900">
              <a:spcAft>
                <a:spcPts val="800"/>
              </a:spcAft>
              <a:buSzPct val="100000"/>
              <a:buChar char="•"/>
            </a:pPr>
            <a:r>
              <a:rPr lang="en-US" sz="2000" dirty="0">
                <a:solidFill>
                  <a:srgbClr val="374151"/>
                </a:solidFill>
                <a:latin typeface="Calibri" pitchFamily="34" charset="0"/>
                <a:ea typeface="Calibri" pitchFamily="34" charset="-122"/>
                <a:cs typeface="Calibri" pitchFamily="34" charset="-120"/>
              </a:rPr>
              <a:t>What exactly makes it work — name a specific moment</a:t>
            </a:r>
            <a:endParaRPr lang="en-US" sz="2000" dirty="0"/>
          </a:p>
          <a:p>
            <a:pPr marL="342900" indent="-342900">
              <a:spcAft>
                <a:spcPts val="800"/>
              </a:spcAft>
              <a:buSzPct val="100000"/>
              <a:buChar char="•"/>
            </a:pPr>
            <a:r>
              <a:rPr lang="en-US" sz="2000" dirty="0">
                <a:solidFill>
                  <a:srgbClr val="374151"/>
                </a:solidFill>
                <a:latin typeface="Calibri" pitchFamily="34" charset="0"/>
                <a:ea typeface="Calibri" pitchFamily="34" charset="-122"/>
                <a:cs typeface="Calibri" pitchFamily="34" charset="-120"/>
              </a:rPr>
              <a:t>What one thing would you change if you could?</a:t>
            </a:r>
            <a:endParaRPr lang="en-US" sz="2000" dirty="0"/>
          </a:p>
          <a:p>
            <a:pPr marL="342900" indent="-342900">
              <a:spcAft>
                <a:spcPts val="800"/>
              </a:spcAft>
              <a:buSzPct val="100000"/>
              <a:buChar char="•"/>
            </a:pPr>
            <a:r>
              <a:rPr lang="en-US" sz="2000" dirty="0">
                <a:solidFill>
                  <a:srgbClr val="374151"/>
                </a:solidFill>
                <a:latin typeface="Calibri" pitchFamily="34" charset="0"/>
                <a:ea typeface="Calibri" pitchFamily="34" charset="-122"/>
                <a:cs typeface="Calibri" pitchFamily="34" charset="-120"/>
              </a:rPr>
              <a:t>Would a stranger understand your reason without playing it?</a:t>
            </a:r>
            <a:endParaRPr lang="en-US" sz="2000" dirty="0"/>
          </a:p>
        </p:txBody>
      </p:sp>
      <p:sp>
        <p:nvSpPr>
          <p:cNvPr id="11" name="Text 9"/>
          <p:cNvSpPr/>
          <p:nvPr/>
        </p:nvSpPr>
        <p:spPr>
          <a:xfrm>
            <a:off x="640080" y="5257800"/>
            <a:ext cx="10881360" cy="457200"/>
          </a:xfrm>
          <a:prstGeom prst="rect">
            <a:avLst/>
          </a:prstGeom>
          <a:noFill/>
          <a:ln/>
        </p:spPr>
        <p:txBody>
          <a:bodyPr wrap="square" lIns="0" tIns="0" rIns="0" bIns="0" rtlCol="0" anchor="ctr"/>
          <a:lstStyle/>
          <a:p>
            <a:pPr marL="0" indent="0">
              <a:buNone/>
            </a:pPr>
            <a:r>
              <a:rPr lang="en-US" sz="1900" i="1" dirty="0">
                <a:solidFill>
                  <a:srgbClr val="6B7280"/>
                </a:solidFill>
                <a:latin typeface="Calibri" pitchFamily="34" charset="0"/>
                <a:ea typeface="Calibri" pitchFamily="34" charset="-122"/>
                <a:cs typeface="Calibri" pitchFamily="34" charset="-120"/>
              </a:rPr>
              <a:t>Banning four words forces you into the real reason. That's the whole skill today.</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LEARNING OBJECTIVE &amp; SUCCESS CRITERIA</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What We're Learning Today</a:t>
            </a:r>
            <a:endParaRPr lang="en-US" sz="3200" dirty="0"/>
          </a:p>
        </p:txBody>
      </p:sp>
      <p:sp>
        <p:nvSpPr>
          <p:cNvPr id="4" name="Shape 2"/>
          <p:cNvSpPr/>
          <p:nvPr/>
        </p:nvSpPr>
        <p:spPr>
          <a:xfrm>
            <a:off x="9646920" y="384048"/>
            <a:ext cx="1874520" cy="402336"/>
          </a:xfrm>
          <a:prstGeom prst="roundRect">
            <a:avLst>
              <a:gd name="adj" fmla="val 18182"/>
            </a:avLst>
          </a:prstGeom>
          <a:solidFill>
            <a:srgbClr val="4361EE"/>
          </a:solidFill>
          <a:ln w="12700">
            <a:solidFill>
              <a:srgbClr val="4361EE"/>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OBJECTIVE</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325880"/>
            <a:ext cx="10881360" cy="868680"/>
          </a:xfrm>
          <a:prstGeom prst="roundRect">
            <a:avLst>
              <a:gd name="adj" fmla="val 526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9" name="Text 7"/>
          <p:cNvSpPr/>
          <p:nvPr/>
        </p:nvSpPr>
        <p:spPr>
          <a:xfrm>
            <a:off x="914400" y="1325880"/>
            <a:ext cx="10332720" cy="868680"/>
          </a:xfrm>
          <a:prstGeom prst="rect">
            <a:avLst/>
          </a:prstGeom>
          <a:noFill/>
          <a:ln/>
        </p:spPr>
        <p:txBody>
          <a:bodyPr wrap="square" lIns="0" tIns="0" rIns="0" bIns="0" rtlCol="0" anchor="ctr"/>
          <a:lstStyle/>
          <a:p>
            <a:pPr marL="0" indent="0">
              <a:buNone/>
            </a:pPr>
            <a:r>
              <a:rPr lang="en-US" sz="2100" b="1" dirty="0">
                <a:solidFill>
                  <a:srgbClr val="111827"/>
                </a:solidFill>
                <a:latin typeface="Calibri" pitchFamily="34" charset="0"/>
                <a:ea typeface="Calibri" pitchFamily="34" charset="-122"/>
                <a:cs typeface="Calibri" pitchFamily="34" charset="-120"/>
              </a:rPr>
              <a:t>To critique a game against design criteria, then apply that judgement to your own game.</a:t>
            </a:r>
            <a:endParaRPr lang="en-US" sz="2100" dirty="0"/>
          </a:p>
        </p:txBody>
      </p:sp>
      <p:sp>
        <p:nvSpPr>
          <p:cNvPr id="10" name="Shape 8"/>
          <p:cNvSpPr/>
          <p:nvPr/>
        </p:nvSpPr>
        <p:spPr>
          <a:xfrm>
            <a:off x="640080" y="2377440"/>
            <a:ext cx="3383280" cy="2926080"/>
          </a:xfrm>
          <a:prstGeom prst="roundRect">
            <a:avLst>
              <a:gd name="adj" fmla="val 1563"/>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1" name="Text 9"/>
          <p:cNvSpPr/>
          <p:nvPr/>
        </p:nvSpPr>
        <p:spPr>
          <a:xfrm>
            <a:off x="868680" y="2542032"/>
            <a:ext cx="29260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 Foundation</a:t>
            </a:r>
            <a:endParaRPr lang="en-US" sz="1700" dirty="0"/>
          </a:p>
        </p:txBody>
      </p:sp>
      <p:sp>
        <p:nvSpPr>
          <p:cNvPr id="12" name="Text 10"/>
          <p:cNvSpPr/>
          <p:nvPr/>
        </p:nvSpPr>
        <p:spPr>
          <a:xfrm>
            <a:off x="868680" y="2962656"/>
            <a:ext cx="2926080" cy="2194560"/>
          </a:xfrm>
          <a:prstGeom prst="rect">
            <a:avLst/>
          </a:prstGeom>
          <a:noFill/>
          <a:ln/>
        </p:spPr>
        <p:txBody>
          <a:bodyPr wrap="square" lIns="0" tIns="0" rIns="0" bIns="0" rtlCol="0" anchor="ctr"/>
          <a:lstStyle/>
          <a:p>
            <a:pPr marL="0" indent="0">
              <a:lnSpc>
                <a:spcPts val="2300"/>
              </a:lnSpc>
              <a:buNone/>
            </a:pPr>
            <a:r>
              <a:rPr lang="en-US" sz="1700" dirty="0">
                <a:solidFill>
                  <a:srgbClr val="374151"/>
                </a:solidFill>
                <a:latin typeface="Calibri" pitchFamily="34" charset="0"/>
                <a:ea typeface="Calibri" pitchFamily="34" charset="-122"/>
                <a:cs typeface="Calibri" pitchFamily="34" charset="-120"/>
              </a:rPr>
              <a:t>Identify the core gameplay elements of a given game.</a:t>
            </a:r>
            <a:endParaRPr lang="en-US" sz="1700" dirty="0"/>
          </a:p>
          <a:p>
            <a:pPr marL="0" indent="0">
              <a:lnSpc>
                <a:spcPts val="2300"/>
              </a:lnSpc>
              <a:buNone/>
            </a:pPr>
            <a:endParaRPr lang="en-US" sz="1700" dirty="0"/>
          </a:p>
          <a:p>
            <a:pPr marL="0" indent="0">
              <a:lnSpc>
                <a:spcPts val="2300"/>
              </a:lnSpc>
              <a:buNone/>
            </a:pPr>
            <a:r>
              <a:rPr lang="en-US" sz="1700" dirty="0">
                <a:solidFill>
                  <a:srgbClr val="374151"/>
                </a:solidFill>
                <a:latin typeface="Calibri" pitchFamily="34" charset="0"/>
                <a:ea typeface="Calibri" pitchFamily="34" charset="-122"/>
                <a:cs typeface="Calibri" pitchFamily="34" charset="-120"/>
              </a:rPr>
              <a:t>Tutorial runs; some art replaced.</a:t>
            </a:r>
            <a:endParaRPr lang="en-US" sz="1700" dirty="0"/>
          </a:p>
        </p:txBody>
      </p:sp>
      <p:sp>
        <p:nvSpPr>
          <p:cNvPr id="13" name="Shape 11"/>
          <p:cNvSpPr/>
          <p:nvPr/>
        </p:nvSpPr>
        <p:spPr>
          <a:xfrm>
            <a:off x="4297680" y="2377440"/>
            <a:ext cx="3383280" cy="2926080"/>
          </a:xfrm>
          <a:prstGeom prst="roundRect">
            <a:avLst>
              <a:gd name="adj" fmla="val 1563"/>
            </a:avLst>
          </a:prstGeom>
          <a:solidFill>
            <a:srgbClr val="F4F6FA"/>
          </a:solidFill>
          <a:ln w="19050">
            <a:solidFill>
              <a:srgbClr val="F59E0B"/>
            </a:solidFill>
            <a:prstDash val="solid"/>
          </a:ln>
          <a:effectLst>
            <a:outerShdw blurRad="76200" dist="12700" dir="5400000" algn="bl" rotWithShape="0">
              <a:srgbClr val="9AA4B2">
                <a:alpha val="18000"/>
              </a:srgbClr>
            </a:outerShdw>
          </a:effectLst>
        </p:spPr>
        <p:txBody>
          <a:bodyPr/>
          <a:lstStyle/>
          <a:p>
            <a:endParaRPr lang="en-AU"/>
          </a:p>
        </p:txBody>
      </p:sp>
      <p:sp>
        <p:nvSpPr>
          <p:cNvPr id="14" name="Text 12"/>
          <p:cNvSpPr/>
          <p:nvPr/>
        </p:nvSpPr>
        <p:spPr>
          <a:xfrm>
            <a:off x="4526280" y="2542032"/>
            <a:ext cx="2926080" cy="365760"/>
          </a:xfrm>
          <a:prstGeom prst="rect">
            <a:avLst/>
          </a:prstGeom>
          <a:noFill/>
          <a:ln/>
        </p:spPr>
        <p:txBody>
          <a:bodyPr wrap="square" lIns="0" tIns="0" rIns="0" bIns="0" rtlCol="0" anchor="ctr"/>
          <a:lstStyle/>
          <a:p>
            <a:pPr marL="0" indent="0">
              <a:buNone/>
            </a:pPr>
            <a:r>
              <a:rPr lang="en-US" sz="1700" b="1" dirty="0">
                <a:solidFill>
                  <a:srgbClr val="F59E0B"/>
                </a:solidFill>
                <a:latin typeface="Calibri" pitchFamily="34" charset="0"/>
                <a:ea typeface="Calibri" pitchFamily="34" charset="-122"/>
                <a:cs typeface="Calibri" pitchFamily="34" charset="-120"/>
              </a:rPr>
              <a:t>🟡 Developing</a:t>
            </a:r>
            <a:endParaRPr lang="en-US" sz="1700" dirty="0"/>
          </a:p>
        </p:txBody>
      </p:sp>
      <p:sp>
        <p:nvSpPr>
          <p:cNvPr id="15" name="Text 13"/>
          <p:cNvSpPr/>
          <p:nvPr/>
        </p:nvSpPr>
        <p:spPr>
          <a:xfrm>
            <a:off x="4526280" y="2962656"/>
            <a:ext cx="2926080" cy="2194560"/>
          </a:xfrm>
          <a:prstGeom prst="rect">
            <a:avLst/>
          </a:prstGeom>
          <a:noFill/>
          <a:ln/>
        </p:spPr>
        <p:txBody>
          <a:bodyPr wrap="square" lIns="0" tIns="0" rIns="0" bIns="0" rtlCol="0" anchor="ctr"/>
          <a:lstStyle/>
          <a:p>
            <a:pPr marL="0" indent="0">
              <a:lnSpc>
                <a:spcPts val="2300"/>
              </a:lnSpc>
              <a:buNone/>
            </a:pPr>
            <a:r>
              <a:rPr lang="en-US" sz="1700" dirty="0">
                <a:solidFill>
                  <a:srgbClr val="374151"/>
                </a:solidFill>
                <a:latin typeface="Calibri" pitchFamily="34" charset="0"/>
                <a:ea typeface="Calibri" pitchFamily="34" charset="-122"/>
                <a:cs typeface="Calibri" pitchFamily="34" charset="-120"/>
              </a:rPr>
              <a:t>Critique a game against named criteria with a strength and a weakness.</a:t>
            </a:r>
            <a:endParaRPr lang="en-US" sz="1700" dirty="0"/>
          </a:p>
          <a:p>
            <a:pPr marL="0" indent="0">
              <a:lnSpc>
                <a:spcPts val="2300"/>
              </a:lnSpc>
              <a:buNone/>
            </a:pPr>
            <a:endParaRPr lang="en-US" sz="1700" dirty="0"/>
          </a:p>
          <a:p>
            <a:pPr marL="0" indent="0">
              <a:lnSpc>
                <a:spcPts val="2300"/>
              </a:lnSpc>
              <a:buNone/>
            </a:pPr>
            <a:r>
              <a:rPr lang="en-US" sz="1700" dirty="0">
                <a:solidFill>
                  <a:srgbClr val="374151"/>
                </a:solidFill>
                <a:latin typeface="Calibri" pitchFamily="34" charset="0"/>
                <a:ea typeface="Calibri" pitchFamily="34" charset="-122"/>
                <a:cs typeface="Calibri" pitchFamily="34" charset="-120"/>
              </a:rPr>
              <a:t>All required art original.</a:t>
            </a:r>
            <a:endParaRPr lang="en-US" sz="1700" dirty="0"/>
          </a:p>
        </p:txBody>
      </p:sp>
      <p:sp>
        <p:nvSpPr>
          <p:cNvPr id="16" name="Shape 14"/>
          <p:cNvSpPr/>
          <p:nvPr/>
        </p:nvSpPr>
        <p:spPr>
          <a:xfrm>
            <a:off x="7955280" y="2377440"/>
            <a:ext cx="3383280" cy="2926080"/>
          </a:xfrm>
          <a:prstGeom prst="roundRect">
            <a:avLst>
              <a:gd name="adj" fmla="val 1563"/>
            </a:avLst>
          </a:prstGeom>
          <a:solidFill>
            <a:srgbClr val="F4F6FA"/>
          </a:solidFill>
          <a:ln w="19050">
            <a:solidFill>
              <a:srgbClr val="8B5CF6"/>
            </a:solidFill>
            <a:prstDash val="solid"/>
          </a:ln>
          <a:effectLst>
            <a:outerShdw blurRad="76200" dist="12700" dir="5400000" algn="bl" rotWithShape="0">
              <a:srgbClr val="9AA4B2">
                <a:alpha val="18000"/>
              </a:srgbClr>
            </a:outerShdw>
          </a:effectLst>
        </p:spPr>
        <p:txBody>
          <a:bodyPr/>
          <a:lstStyle/>
          <a:p>
            <a:endParaRPr lang="en-AU"/>
          </a:p>
        </p:txBody>
      </p:sp>
      <p:sp>
        <p:nvSpPr>
          <p:cNvPr id="17" name="Text 15"/>
          <p:cNvSpPr/>
          <p:nvPr/>
        </p:nvSpPr>
        <p:spPr>
          <a:xfrm>
            <a:off x="8183880" y="2542032"/>
            <a:ext cx="2926080" cy="365760"/>
          </a:xfrm>
          <a:prstGeom prst="rect">
            <a:avLst/>
          </a:prstGeom>
          <a:noFill/>
          <a:ln/>
        </p:spPr>
        <p:txBody>
          <a:bodyPr wrap="square" lIns="0" tIns="0" rIns="0" bIns="0" rtlCol="0" anchor="ctr"/>
          <a:lstStyle/>
          <a:p>
            <a:pPr marL="0" indent="0">
              <a:buNone/>
            </a:pPr>
            <a:r>
              <a:rPr lang="en-US" sz="1700" b="1" dirty="0">
                <a:solidFill>
                  <a:srgbClr val="8B5CF6"/>
                </a:solidFill>
                <a:latin typeface="Calibri" pitchFamily="34" charset="0"/>
                <a:ea typeface="Calibri" pitchFamily="34" charset="-122"/>
                <a:cs typeface="Calibri" pitchFamily="34" charset="-120"/>
              </a:rPr>
              <a:t>🟣 Extending</a:t>
            </a:r>
            <a:endParaRPr lang="en-US" sz="1700" dirty="0"/>
          </a:p>
        </p:txBody>
      </p:sp>
      <p:sp>
        <p:nvSpPr>
          <p:cNvPr id="18" name="Text 16"/>
          <p:cNvSpPr/>
          <p:nvPr/>
        </p:nvSpPr>
        <p:spPr>
          <a:xfrm>
            <a:off x="8183880" y="2962656"/>
            <a:ext cx="2926080" cy="2194560"/>
          </a:xfrm>
          <a:prstGeom prst="rect">
            <a:avLst/>
          </a:prstGeom>
          <a:noFill/>
          <a:ln/>
        </p:spPr>
        <p:txBody>
          <a:bodyPr wrap="square" lIns="0" tIns="0" rIns="0" bIns="0" rtlCol="0" anchor="ctr"/>
          <a:lstStyle/>
          <a:p>
            <a:pPr marL="0" indent="0">
              <a:lnSpc>
                <a:spcPts val="2300"/>
              </a:lnSpc>
              <a:buNone/>
            </a:pPr>
            <a:r>
              <a:rPr lang="en-US" sz="1700" dirty="0">
                <a:solidFill>
                  <a:srgbClr val="374151"/>
                </a:solidFill>
                <a:latin typeface="Calibri" pitchFamily="34" charset="0"/>
                <a:ea typeface="Calibri" pitchFamily="34" charset="-122"/>
                <a:cs typeface="Calibri" pitchFamily="34" charset="-120"/>
              </a:rPr>
              <a:t>Propose a specific, justified improvement to your own game.</a:t>
            </a:r>
            <a:endParaRPr lang="en-US" sz="1700" dirty="0"/>
          </a:p>
          <a:p>
            <a:pPr marL="0" indent="0">
              <a:lnSpc>
                <a:spcPts val="2300"/>
              </a:lnSpc>
              <a:buNone/>
            </a:pPr>
            <a:endParaRPr lang="en-US" sz="1700" dirty="0"/>
          </a:p>
          <a:p>
            <a:pPr marL="0" indent="0">
              <a:lnSpc>
                <a:spcPts val="2300"/>
              </a:lnSpc>
              <a:buNone/>
            </a:pPr>
            <a:r>
              <a:rPr lang="en-US" sz="1700" dirty="0">
                <a:solidFill>
                  <a:srgbClr val="374151"/>
                </a:solidFill>
                <a:latin typeface="Calibri" pitchFamily="34" charset="0"/>
                <a:ea typeface="Calibri" pitchFamily="34" charset="-122"/>
                <a:cs typeface="Calibri" pitchFamily="34" charset="-120"/>
              </a:rPr>
              <a:t>Polish beyond the tutorial.</a:t>
            </a:r>
            <a:endParaRPr lang="en-US" sz="1700" dirty="0"/>
          </a:p>
        </p:txBody>
      </p:sp>
      <p:sp>
        <p:nvSpPr>
          <p:cNvPr id="19" name="Text 17"/>
          <p:cNvSpPr/>
          <p:nvPr/>
        </p:nvSpPr>
        <p:spPr>
          <a:xfrm>
            <a:off x="640080" y="5440680"/>
            <a:ext cx="10881360" cy="457200"/>
          </a:xfrm>
          <a:prstGeom prst="rect">
            <a:avLst/>
          </a:prstGeom>
          <a:noFill/>
          <a:ln/>
        </p:spPr>
        <p:txBody>
          <a:bodyPr wrap="square" lIns="0" tIns="0" rIns="0" bIns="0" rtlCol="0" anchor="ctr"/>
          <a:lstStyle/>
          <a:p>
            <a:pPr marL="0" indent="0">
              <a:buNone/>
            </a:pPr>
            <a:r>
              <a:rPr lang="en-US" sz="1800" i="1" dirty="0">
                <a:solidFill>
                  <a:srgbClr val="374151"/>
                </a:solidFill>
                <a:latin typeface="Calibri" pitchFamily="34" charset="0"/>
                <a:ea typeface="Calibri" pitchFamily="34" charset="-122"/>
                <a:cs typeface="Calibri" pitchFamily="34" charset="-120"/>
              </a:rPr>
              <a:t>Two halves today: critique first (not assessed), then build (assessed). Both sets of criteria above apply.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EXPLICIT EXPLANATION</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Four Critique Criteria</a:t>
            </a:r>
            <a:endParaRPr lang="en-US" sz="3200" dirty="0"/>
          </a:p>
        </p:txBody>
      </p:sp>
      <p:sp>
        <p:nvSpPr>
          <p:cNvPr id="4" name="Shape 2"/>
          <p:cNvSpPr/>
          <p:nvPr/>
        </p:nvSpPr>
        <p:spPr>
          <a:xfrm>
            <a:off x="9646920" y="384048"/>
            <a:ext cx="1874520" cy="402336"/>
          </a:xfrm>
          <a:prstGeom prst="roundRect">
            <a:avLst>
              <a:gd name="adj" fmla="val 18182"/>
            </a:avLst>
          </a:prstGeom>
          <a:solidFill>
            <a:srgbClr val="F59E0B"/>
          </a:solidFill>
          <a:ln w="12700">
            <a:solidFill>
              <a:srgbClr val="F59E0B"/>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CRITERIA</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marL="0" indent="0">
              <a:buNone/>
            </a:pPr>
            <a:r>
              <a:rPr lang="en-US" sz="1900" dirty="0">
                <a:solidFill>
                  <a:srgbClr val="374151"/>
                </a:solidFill>
                <a:latin typeface="Calibri" pitchFamily="34" charset="0"/>
                <a:ea typeface="Calibri" pitchFamily="34" charset="-122"/>
                <a:cs typeface="Calibri" pitchFamily="34" charset="-120"/>
              </a:rPr>
              <a:t>Four questions to ask of any game — including yours.</a:t>
            </a:r>
            <a:endParaRPr lang="en-US" sz="1900" dirty="0"/>
          </a:p>
        </p:txBody>
      </p:sp>
      <p:sp>
        <p:nvSpPr>
          <p:cNvPr id="9" name="Shape 7"/>
          <p:cNvSpPr/>
          <p:nvPr/>
        </p:nvSpPr>
        <p:spPr>
          <a:xfrm>
            <a:off x="640080" y="1828800"/>
            <a:ext cx="10881360" cy="868680"/>
          </a:xfrm>
          <a:prstGeom prst="roundRect">
            <a:avLst>
              <a:gd name="adj" fmla="val 526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0" name="Shape 8"/>
          <p:cNvSpPr/>
          <p:nvPr/>
        </p:nvSpPr>
        <p:spPr>
          <a:xfrm>
            <a:off x="868680" y="2048256"/>
            <a:ext cx="438912" cy="438912"/>
          </a:xfrm>
          <a:prstGeom prst="ellipse">
            <a:avLst/>
          </a:prstGeom>
          <a:solidFill>
            <a:srgbClr val="4361EE"/>
          </a:solidFill>
          <a:ln w="12700">
            <a:solidFill>
              <a:srgbClr val="4361EE"/>
            </a:solidFill>
            <a:prstDash val="solid"/>
          </a:ln>
        </p:spPr>
        <p:txBody>
          <a:bodyPr/>
          <a:lstStyle/>
          <a:p>
            <a:endParaRPr lang="en-AU"/>
          </a:p>
        </p:txBody>
      </p:sp>
      <p:sp>
        <p:nvSpPr>
          <p:cNvPr id="11" name="Text 9"/>
          <p:cNvSpPr/>
          <p:nvPr/>
        </p:nvSpPr>
        <p:spPr>
          <a:xfrm>
            <a:off x="868680" y="204825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2" name="Text 10"/>
          <p:cNvSpPr/>
          <p:nvPr/>
        </p:nvSpPr>
        <p:spPr>
          <a:xfrm>
            <a:off x="1508760" y="1828800"/>
            <a:ext cx="2194560" cy="868680"/>
          </a:xfrm>
          <a:prstGeom prst="rect">
            <a:avLst/>
          </a:prstGeom>
          <a:noFill/>
          <a:ln/>
        </p:spPr>
        <p:txBody>
          <a:bodyPr wrap="square" lIns="0" tIns="0" rIns="0" bIns="0" rtlCol="0" anchor="ctr"/>
          <a:lstStyle/>
          <a:p>
            <a:pPr marL="0" indent="0">
              <a:buNone/>
            </a:pPr>
            <a:r>
              <a:rPr lang="en-US" sz="2100" dirty="0">
                <a:solidFill>
                  <a:srgbClr val="111827"/>
                </a:solidFill>
                <a:latin typeface="Bookman Old Style" pitchFamily="34" charset="0"/>
                <a:ea typeface="Bookman Old Style" pitchFamily="34" charset="-122"/>
                <a:cs typeface="Bookman Old Style" pitchFamily="34" charset="-120"/>
              </a:rPr>
              <a:t>Controls</a:t>
            </a:r>
            <a:endParaRPr lang="en-US" sz="2100" dirty="0"/>
          </a:p>
        </p:txBody>
      </p:sp>
      <p:sp>
        <p:nvSpPr>
          <p:cNvPr id="13" name="Text 11"/>
          <p:cNvSpPr/>
          <p:nvPr/>
        </p:nvSpPr>
        <p:spPr>
          <a:xfrm>
            <a:off x="3749040" y="1828800"/>
            <a:ext cx="7406640" cy="868680"/>
          </a:xfrm>
          <a:prstGeom prst="rect">
            <a:avLst/>
          </a:prstGeom>
          <a:noFill/>
          <a:ln/>
        </p:spPr>
        <p:txBody>
          <a:bodyPr wrap="square" lIns="0" tIns="0" rIns="0" bIns="0" rtlCol="0" anchor="ctr"/>
          <a:lstStyle/>
          <a:p>
            <a:pPr marL="0" indent="0">
              <a:buNone/>
            </a:pPr>
            <a:r>
              <a:rPr lang="en-US" sz="1800" dirty="0">
                <a:solidFill>
                  <a:srgbClr val="374151"/>
                </a:solidFill>
                <a:latin typeface="Calibri" pitchFamily="34" charset="0"/>
                <a:ea typeface="Calibri" pitchFamily="34" charset="-122"/>
                <a:cs typeface="Calibri" pitchFamily="34" charset="-120"/>
              </a:rPr>
              <a:t>Do they feel responsive and intuitive? Does the game do what you meant?</a:t>
            </a:r>
            <a:endParaRPr lang="en-US" sz="1800" dirty="0"/>
          </a:p>
        </p:txBody>
      </p:sp>
      <p:sp>
        <p:nvSpPr>
          <p:cNvPr id="14" name="Shape 12"/>
          <p:cNvSpPr/>
          <p:nvPr/>
        </p:nvSpPr>
        <p:spPr>
          <a:xfrm>
            <a:off x="640080" y="2834640"/>
            <a:ext cx="10881360" cy="868680"/>
          </a:xfrm>
          <a:prstGeom prst="roundRect">
            <a:avLst>
              <a:gd name="adj" fmla="val 526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5" name="Shape 13"/>
          <p:cNvSpPr/>
          <p:nvPr/>
        </p:nvSpPr>
        <p:spPr>
          <a:xfrm>
            <a:off x="868680" y="3054096"/>
            <a:ext cx="438912" cy="438912"/>
          </a:xfrm>
          <a:prstGeom prst="ellipse">
            <a:avLst/>
          </a:prstGeom>
          <a:solidFill>
            <a:srgbClr val="4361EE"/>
          </a:solidFill>
          <a:ln w="12700">
            <a:solidFill>
              <a:srgbClr val="4361EE"/>
            </a:solidFill>
            <a:prstDash val="solid"/>
          </a:ln>
        </p:spPr>
        <p:txBody>
          <a:bodyPr/>
          <a:lstStyle/>
          <a:p>
            <a:endParaRPr lang="en-AU"/>
          </a:p>
        </p:txBody>
      </p:sp>
      <p:sp>
        <p:nvSpPr>
          <p:cNvPr id="16" name="Text 14"/>
          <p:cNvSpPr/>
          <p:nvPr/>
        </p:nvSpPr>
        <p:spPr>
          <a:xfrm>
            <a:off x="868680" y="305409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7" name="Text 15"/>
          <p:cNvSpPr/>
          <p:nvPr/>
        </p:nvSpPr>
        <p:spPr>
          <a:xfrm>
            <a:off x="1508760" y="2834640"/>
            <a:ext cx="2194560" cy="868680"/>
          </a:xfrm>
          <a:prstGeom prst="rect">
            <a:avLst/>
          </a:prstGeom>
          <a:noFill/>
          <a:ln/>
        </p:spPr>
        <p:txBody>
          <a:bodyPr wrap="square" lIns="0" tIns="0" rIns="0" bIns="0" rtlCol="0" anchor="ctr"/>
          <a:lstStyle/>
          <a:p>
            <a:pPr marL="0" indent="0">
              <a:buNone/>
            </a:pPr>
            <a:r>
              <a:rPr lang="en-US" sz="2100" dirty="0">
                <a:solidFill>
                  <a:srgbClr val="111827"/>
                </a:solidFill>
                <a:latin typeface="Bookman Old Style" pitchFamily="34" charset="0"/>
                <a:ea typeface="Bookman Old Style" pitchFamily="34" charset="-122"/>
                <a:cs typeface="Bookman Old Style" pitchFamily="34" charset="-120"/>
              </a:rPr>
              <a:t>Goal</a:t>
            </a:r>
            <a:endParaRPr lang="en-US" sz="2100" dirty="0"/>
          </a:p>
        </p:txBody>
      </p:sp>
      <p:sp>
        <p:nvSpPr>
          <p:cNvPr id="18" name="Text 16"/>
          <p:cNvSpPr/>
          <p:nvPr/>
        </p:nvSpPr>
        <p:spPr>
          <a:xfrm>
            <a:off x="3749040" y="2834640"/>
            <a:ext cx="7406640" cy="868680"/>
          </a:xfrm>
          <a:prstGeom prst="rect">
            <a:avLst/>
          </a:prstGeom>
          <a:noFill/>
          <a:ln/>
        </p:spPr>
        <p:txBody>
          <a:bodyPr wrap="square" lIns="0" tIns="0" rIns="0" bIns="0" rtlCol="0" anchor="ctr"/>
          <a:lstStyle/>
          <a:p>
            <a:pPr marL="0" indent="0">
              <a:buNone/>
            </a:pPr>
            <a:r>
              <a:rPr lang="en-US" sz="1800" dirty="0">
                <a:solidFill>
                  <a:srgbClr val="374151"/>
                </a:solidFill>
                <a:latin typeface="Calibri" pitchFamily="34" charset="0"/>
                <a:ea typeface="Calibri" pitchFamily="34" charset="-122"/>
                <a:cs typeface="Calibri" pitchFamily="34" charset="-120"/>
              </a:rPr>
              <a:t>Is it clear what you're trying to do, without being told?</a:t>
            </a:r>
            <a:endParaRPr lang="en-US" sz="1800" dirty="0"/>
          </a:p>
        </p:txBody>
      </p:sp>
      <p:sp>
        <p:nvSpPr>
          <p:cNvPr id="19" name="Shape 17"/>
          <p:cNvSpPr/>
          <p:nvPr/>
        </p:nvSpPr>
        <p:spPr>
          <a:xfrm>
            <a:off x="640080" y="3840480"/>
            <a:ext cx="10881360" cy="868680"/>
          </a:xfrm>
          <a:prstGeom prst="roundRect">
            <a:avLst>
              <a:gd name="adj" fmla="val 526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20" name="Shape 18"/>
          <p:cNvSpPr/>
          <p:nvPr/>
        </p:nvSpPr>
        <p:spPr>
          <a:xfrm>
            <a:off x="868680" y="4059936"/>
            <a:ext cx="438912" cy="438912"/>
          </a:xfrm>
          <a:prstGeom prst="ellipse">
            <a:avLst/>
          </a:prstGeom>
          <a:solidFill>
            <a:srgbClr val="4361EE"/>
          </a:solidFill>
          <a:ln w="12700">
            <a:solidFill>
              <a:srgbClr val="4361EE"/>
            </a:solidFill>
            <a:prstDash val="solid"/>
          </a:ln>
        </p:spPr>
        <p:txBody>
          <a:bodyPr/>
          <a:lstStyle/>
          <a:p>
            <a:endParaRPr lang="en-AU"/>
          </a:p>
        </p:txBody>
      </p:sp>
      <p:sp>
        <p:nvSpPr>
          <p:cNvPr id="21" name="Text 19"/>
          <p:cNvSpPr/>
          <p:nvPr/>
        </p:nvSpPr>
        <p:spPr>
          <a:xfrm>
            <a:off x="868680" y="4059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2" name="Text 20"/>
          <p:cNvSpPr/>
          <p:nvPr/>
        </p:nvSpPr>
        <p:spPr>
          <a:xfrm>
            <a:off x="1508760" y="3840480"/>
            <a:ext cx="2194560" cy="868680"/>
          </a:xfrm>
          <a:prstGeom prst="rect">
            <a:avLst/>
          </a:prstGeom>
          <a:noFill/>
          <a:ln/>
        </p:spPr>
        <p:txBody>
          <a:bodyPr wrap="square" lIns="0" tIns="0" rIns="0" bIns="0" rtlCol="0" anchor="ctr"/>
          <a:lstStyle/>
          <a:p>
            <a:pPr marL="0" indent="0">
              <a:buNone/>
            </a:pPr>
            <a:r>
              <a:rPr lang="en-US" sz="2100" dirty="0">
                <a:solidFill>
                  <a:srgbClr val="111827"/>
                </a:solidFill>
                <a:latin typeface="Bookman Old Style" pitchFamily="34" charset="0"/>
                <a:ea typeface="Bookman Old Style" pitchFamily="34" charset="-122"/>
                <a:cs typeface="Bookman Old Style" pitchFamily="34" charset="-120"/>
              </a:rPr>
              <a:t>Feedback</a:t>
            </a:r>
            <a:endParaRPr lang="en-US" sz="2100" dirty="0"/>
          </a:p>
        </p:txBody>
      </p:sp>
      <p:sp>
        <p:nvSpPr>
          <p:cNvPr id="23" name="Text 21"/>
          <p:cNvSpPr/>
          <p:nvPr/>
        </p:nvSpPr>
        <p:spPr>
          <a:xfrm>
            <a:off x="3749040" y="3840480"/>
            <a:ext cx="7406640" cy="868680"/>
          </a:xfrm>
          <a:prstGeom prst="rect">
            <a:avLst/>
          </a:prstGeom>
          <a:noFill/>
          <a:ln/>
        </p:spPr>
        <p:txBody>
          <a:bodyPr wrap="square" lIns="0" tIns="0" rIns="0" bIns="0" rtlCol="0" anchor="ctr"/>
          <a:lstStyle/>
          <a:p>
            <a:pPr marL="0" indent="0">
              <a:buNone/>
            </a:pPr>
            <a:r>
              <a:rPr lang="en-US" sz="1800" dirty="0">
                <a:solidFill>
                  <a:srgbClr val="374151"/>
                </a:solidFill>
                <a:latin typeface="Calibri" pitchFamily="34" charset="0"/>
                <a:ea typeface="Calibri" pitchFamily="34" charset="-122"/>
                <a:cs typeface="Calibri" pitchFamily="34" charset="-120"/>
              </a:rPr>
              <a:t>Does the game tell you what's happening — score, hits, wins, sounds?</a:t>
            </a:r>
            <a:endParaRPr lang="en-US" sz="1800" dirty="0"/>
          </a:p>
        </p:txBody>
      </p:sp>
      <p:sp>
        <p:nvSpPr>
          <p:cNvPr id="24" name="Shape 22"/>
          <p:cNvSpPr/>
          <p:nvPr/>
        </p:nvSpPr>
        <p:spPr>
          <a:xfrm>
            <a:off x="640080" y="4846320"/>
            <a:ext cx="10881360" cy="868680"/>
          </a:xfrm>
          <a:prstGeom prst="roundRect">
            <a:avLst>
              <a:gd name="adj" fmla="val 526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25" name="Shape 23"/>
          <p:cNvSpPr/>
          <p:nvPr/>
        </p:nvSpPr>
        <p:spPr>
          <a:xfrm>
            <a:off x="868680" y="5065776"/>
            <a:ext cx="438912" cy="438912"/>
          </a:xfrm>
          <a:prstGeom prst="ellipse">
            <a:avLst/>
          </a:prstGeom>
          <a:solidFill>
            <a:srgbClr val="4361EE"/>
          </a:solidFill>
          <a:ln w="12700">
            <a:solidFill>
              <a:srgbClr val="4361EE"/>
            </a:solidFill>
            <a:prstDash val="solid"/>
          </a:ln>
        </p:spPr>
        <p:txBody>
          <a:bodyPr/>
          <a:lstStyle/>
          <a:p>
            <a:endParaRPr lang="en-AU"/>
          </a:p>
        </p:txBody>
      </p:sp>
      <p:sp>
        <p:nvSpPr>
          <p:cNvPr id="26" name="Text 24"/>
          <p:cNvSpPr/>
          <p:nvPr/>
        </p:nvSpPr>
        <p:spPr>
          <a:xfrm>
            <a:off x="868680" y="506577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7" name="Text 25"/>
          <p:cNvSpPr/>
          <p:nvPr/>
        </p:nvSpPr>
        <p:spPr>
          <a:xfrm>
            <a:off x="1508760" y="4846320"/>
            <a:ext cx="2194560" cy="868680"/>
          </a:xfrm>
          <a:prstGeom prst="rect">
            <a:avLst/>
          </a:prstGeom>
          <a:noFill/>
          <a:ln/>
        </p:spPr>
        <p:txBody>
          <a:bodyPr wrap="square" lIns="0" tIns="0" rIns="0" bIns="0" rtlCol="0" anchor="ctr"/>
          <a:lstStyle/>
          <a:p>
            <a:pPr marL="0" indent="0">
              <a:buNone/>
            </a:pPr>
            <a:r>
              <a:rPr lang="en-US" sz="2100" dirty="0">
                <a:solidFill>
                  <a:srgbClr val="111827"/>
                </a:solidFill>
                <a:latin typeface="Bookman Old Style" pitchFamily="34" charset="0"/>
                <a:ea typeface="Bookman Old Style" pitchFamily="34" charset="-122"/>
                <a:cs typeface="Bookman Old Style" pitchFamily="34" charset="-120"/>
              </a:rPr>
              <a:t>Difficulty</a:t>
            </a:r>
            <a:endParaRPr lang="en-US" sz="2100" dirty="0"/>
          </a:p>
        </p:txBody>
      </p:sp>
      <p:sp>
        <p:nvSpPr>
          <p:cNvPr id="28" name="Text 26"/>
          <p:cNvSpPr/>
          <p:nvPr/>
        </p:nvSpPr>
        <p:spPr>
          <a:xfrm>
            <a:off x="3749040" y="4846320"/>
            <a:ext cx="7406640" cy="868680"/>
          </a:xfrm>
          <a:prstGeom prst="rect">
            <a:avLst/>
          </a:prstGeom>
          <a:noFill/>
          <a:ln/>
        </p:spPr>
        <p:txBody>
          <a:bodyPr wrap="square" lIns="0" tIns="0" rIns="0" bIns="0" rtlCol="0" anchor="ctr"/>
          <a:lstStyle/>
          <a:p>
            <a:pPr marL="0" indent="0">
              <a:buNone/>
            </a:pPr>
            <a:r>
              <a:rPr lang="en-US" sz="1800" dirty="0">
                <a:solidFill>
                  <a:srgbClr val="374151"/>
                </a:solidFill>
                <a:latin typeface="Calibri" pitchFamily="34" charset="0"/>
                <a:ea typeface="Calibri" pitchFamily="34" charset="-122"/>
                <a:cs typeface="Calibri" pitchFamily="34" charset="-120"/>
              </a:rPr>
              <a:t>Is the challenge fair, and does it build as you go?</a:t>
            </a:r>
            <a:endParaRPr lang="en-US" sz="1800" dirty="0"/>
          </a:p>
        </p:txBody>
      </p:sp>
      <p:sp>
        <p:nvSpPr>
          <p:cNvPr id="29" name="Shape 27"/>
          <p:cNvSpPr/>
          <p:nvPr/>
        </p:nvSpPr>
        <p:spPr>
          <a:xfrm>
            <a:off x="640080" y="5797296"/>
            <a:ext cx="10881360" cy="384048"/>
          </a:xfrm>
          <a:prstGeom prst="roundRect">
            <a:avLst>
              <a:gd name="adj" fmla="val 11905"/>
            </a:avLst>
          </a:prstGeom>
          <a:solidFill>
            <a:srgbClr val="FEF6E7"/>
          </a:solidFill>
          <a:ln w="12700">
            <a:solidFill>
              <a:srgbClr val="F59E0B"/>
            </a:solidFill>
            <a:prstDash val="solid"/>
          </a:ln>
        </p:spPr>
        <p:txBody>
          <a:bodyPr/>
          <a:lstStyle/>
          <a:p>
            <a:endParaRPr lang="en-AU"/>
          </a:p>
        </p:txBody>
      </p:sp>
      <p:sp>
        <p:nvSpPr>
          <p:cNvPr id="30" name="Text 28"/>
          <p:cNvSpPr/>
          <p:nvPr/>
        </p:nvSpPr>
        <p:spPr>
          <a:xfrm>
            <a:off x="841248" y="5797296"/>
            <a:ext cx="10515600" cy="384048"/>
          </a:xfrm>
          <a:prstGeom prst="rect">
            <a:avLst/>
          </a:prstGeom>
          <a:noFill/>
          <a:ln/>
        </p:spPr>
        <p:txBody>
          <a:bodyPr wrap="square" lIns="0" tIns="0" rIns="0" bIns="0" rtlCol="0" anchor="ctr"/>
          <a:lstStyle/>
          <a:p>
            <a:pPr marL="0" indent="0">
              <a:buNone/>
            </a:pPr>
            <a:r>
              <a:rPr lang="en-US" sz="1600" b="1" dirty="0">
                <a:solidFill>
                  <a:srgbClr val="8A5A05"/>
                </a:solidFill>
                <a:latin typeface="Calibri" pitchFamily="34" charset="0"/>
                <a:ea typeface="Calibri" pitchFamily="34" charset="-122"/>
                <a:cs typeface="Calibri" pitchFamily="34" charset="-120"/>
              </a:rPr>
              <a:t>COPY  ·  All four criteria and the question each one asks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WHY SPECIFICITY MATTERS</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"It's Good" Is Not a Critique</a:t>
            </a:r>
            <a:endParaRPr lang="en-US" sz="3200" dirty="0"/>
          </a:p>
        </p:txBody>
      </p:sp>
      <p:sp>
        <p:nvSpPr>
          <p:cNvPr id="4" name="Shape 2"/>
          <p:cNvSpPr/>
          <p:nvPr/>
        </p:nvSpPr>
        <p:spPr>
          <a:xfrm>
            <a:off x="9646920" y="384048"/>
            <a:ext cx="1874520" cy="402336"/>
          </a:xfrm>
          <a:prstGeom prst="roundRect">
            <a:avLst>
              <a:gd name="adj" fmla="val 18182"/>
            </a:avLst>
          </a:prstGeom>
          <a:solidFill>
            <a:srgbClr val="F59E0B"/>
          </a:solidFill>
          <a:ln w="12700">
            <a:solidFill>
              <a:srgbClr val="F59E0B"/>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KEY IDEA</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371600"/>
            <a:ext cx="5257800" cy="2103120"/>
          </a:xfrm>
          <a:prstGeom prst="roundRect">
            <a:avLst>
              <a:gd name="adj" fmla="val 2174"/>
            </a:avLst>
          </a:prstGeom>
          <a:solidFill>
            <a:srgbClr val="F4F6FA"/>
          </a:solidFill>
          <a:ln w="19050">
            <a:solidFill>
              <a:srgbClr val="EF4444"/>
            </a:solidFill>
            <a:prstDash val="solid"/>
          </a:ln>
          <a:effectLst>
            <a:outerShdw blurRad="76200" dist="12700" dir="5400000" algn="bl" rotWithShape="0">
              <a:srgbClr val="9AA4B2">
                <a:alpha val="18000"/>
              </a:srgbClr>
            </a:outerShdw>
          </a:effectLst>
        </p:spPr>
        <p:txBody>
          <a:bodyPr/>
          <a:lstStyle/>
          <a:p>
            <a:endParaRPr lang="en-AU"/>
          </a:p>
        </p:txBody>
      </p:sp>
      <p:sp>
        <p:nvSpPr>
          <p:cNvPr id="9" name="Text 7"/>
          <p:cNvSpPr/>
          <p:nvPr/>
        </p:nvSpPr>
        <p:spPr>
          <a:xfrm>
            <a:off x="914400" y="1554480"/>
            <a:ext cx="4754880" cy="365760"/>
          </a:xfrm>
          <a:prstGeom prst="rect">
            <a:avLst/>
          </a:prstGeom>
          <a:noFill/>
          <a:ln/>
        </p:spPr>
        <p:txBody>
          <a:bodyPr wrap="square" lIns="0" tIns="0" rIns="0" bIns="0" rtlCol="0" anchor="ctr"/>
          <a:lstStyle/>
          <a:p>
            <a:pPr marL="0" indent="0">
              <a:buNone/>
            </a:pPr>
            <a:r>
              <a:rPr lang="en-US" sz="1900" dirty="0">
                <a:solidFill>
                  <a:srgbClr val="EF4444"/>
                </a:solidFill>
                <a:latin typeface="Bookman Old Style" pitchFamily="34" charset="0"/>
                <a:ea typeface="Bookman Old Style" pitchFamily="34" charset="-122"/>
                <a:cs typeface="Bookman Old Style" pitchFamily="34" charset="-120"/>
              </a:rPr>
              <a:t>Not a critique</a:t>
            </a:r>
            <a:endParaRPr lang="en-US" sz="1900" dirty="0"/>
          </a:p>
        </p:txBody>
      </p:sp>
      <p:sp>
        <p:nvSpPr>
          <p:cNvPr id="10" name="Text 8"/>
          <p:cNvSpPr/>
          <p:nvPr/>
        </p:nvSpPr>
        <p:spPr>
          <a:xfrm>
            <a:off x="914400" y="2011680"/>
            <a:ext cx="4754880" cy="1280160"/>
          </a:xfrm>
          <a:prstGeom prst="rect">
            <a:avLst/>
          </a:prstGeom>
          <a:noFill/>
          <a:ln/>
        </p:spPr>
        <p:txBody>
          <a:bodyPr wrap="square" lIns="0" tIns="0" rIns="0" bIns="0" rtlCol="0" anchor="ctr"/>
          <a:lstStyle/>
          <a:p>
            <a:pPr marL="0" indent="0">
              <a:lnSpc>
                <a:spcPts val="2800"/>
              </a:lnSpc>
              <a:buNone/>
            </a:pPr>
            <a:r>
              <a:rPr lang="en-US" sz="1900" dirty="0">
                <a:solidFill>
                  <a:srgbClr val="374151"/>
                </a:solidFill>
                <a:latin typeface="Calibri" pitchFamily="34" charset="0"/>
                <a:ea typeface="Calibri" pitchFamily="34" charset="-122"/>
                <a:cs typeface="Calibri" pitchFamily="34" charset="-120"/>
              </a:rPr>
              <a:t>"It's good."</a:t>
            </a:r>
            <a:endParaRPr lang="en-US" sz="1900" dirty="0"/>
          </a:p>
          <a:p>
            <a:pPr marL="0" indent="0">
              <a:lnSpc>
                <a:spcPts val="2800"/>
              </a:lnSpc>
              <a:buNone/>
            </a:pPr>
            <a:r>
              <a:rPr lang="en-US" sz="1900" dirty="0">
                <a:solidFill>
                  <a:srgbClr val="374151"/>
                </a:solidFill>
                <a:latin typeface="Calibri" pitchFamily="34" charset="0"/>
                <a:ea typeface="Calibri" pitchFamily="34" charset="-122"/>
                <a:cs typeface="Calibri" pitchFamily="34" charset="-120"/>
              </a:rPr>
              <a:t>"The controls are bad."</a:t>
            </a:r>
            <a:endParaRPr lang="en-US" sz="1900" dirty="0"/>
          </a:p>
          <a:p>
            <a:pPr marL="0" indent="0">
              <a:lnSpc>
                <a:spcPts val="2800"/>
              </a:lnSpc>
              <a:buNone/>
            </a:pPr>
            <a:r>
              <a:rPr lang="en-US" sz="1900" dirty="0">
                <a:solidFill>
                  <a:srgbClr val="374151"/>
                </a:solidFill>
                <a:latin typeface="Calibri" pitchFamily="34" charset="0"/>
                <a:ea typeface="Calibri" pitchFamily="34" charset="-122"/>
                <a:cs typeface="Calibri" pitchFamily="34" charset="-120"/>
              </a:rPr>
              <a:t>"I liked it."</a:t>
            </a:r>
            <a:endParaRPr lang="en-US" sz="1900" dirty="0"/>
          </a:p>
        </p:txBody>
      </p:sp>
      <p:sp>
        <p:nvSpPr>
          <p:cNvPr id="11" name="Shape 9"/>
          <p:cNvSpPr/>
          <p:nvPr/>
        </p:nvSpPr>
        <p:spPr>
          <a:xfrm>
            <a:off x="6263640" y="1371600"/>
            <a:ext cx="5257800" cy="2103120"/>
          </a:xfrm>
          <a:prstGeom prst="roundRect">
            <a:avLst>
              <a:gd name="adj" fmla="val 2174"/>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2" name="Text 10"/>
          <p:cNvSpPr/>
          <p:nvPr/>
        </p:nvSpPr>
        <p:spPr>
          <a:xfrm>
            <a:off x="6537960" y="1554480"/>
            <a:ext cx="4754880" cy="365760"/>
          </a:xfrm>
          <a:prstGeom prst="rect">
            <a:avLst/>
          </a:prstGeom>
          <a:noFill/>
          <a:ln/>
        </p:spPr>
        <p:txBody>
          <a:bodyPr wrap="square" lIns="0" tIns="0" rIns="0" bIns="0" rtlCol="0" anchor="ctr"/>
          <a:lstStyle/>
          <a:p>
            <a:pPr marL="0" indent="0">
              <a:buNone/>
            </a:pPr>
            <a:r>
              <a:rPr lang="en-US" sz="1900" dirty="0">
                <a:solidFill>
                  <a:srgbClr val="10B981"/>
                </a:solidFill>
                <a:latin typeface="Bookman Old Style" pitchFamily="34" charset="0"/>
                <a:ea typeface="Bookman Old Style" pitchFamily="34" charset="-122"/>
                <a:cs typeface="Bookman Old Style" pitchFamily="34" charset="-120"/>
              </a:rPr>
              <a:t>A critique</a:t>
            </a:r>
            <a:endParaRPr lang="en-US" sz="1900" dirty="0"/>
          </a:p>
        </p:txBody>
      </p:sp>
      <p:sp>
        <p:nvSpPr>
          <p:cNvPr id="13" name="Text 11"/>
          <p:cNvSpPr/>
          <p:nvPr/>
        </p:nvSpPr>
        <p:spPr>
          <a:xfrm>
            <a:off x="6537960" y="2011680"/>
            <a:ext cx="4754880" cy="1280160"/>
          </a:xfrm>
          <a:prstGeom prst="rect">
            <a:avLst/>
          </a:prstGeom>
          <a:noFill/>
          <a:ln/>
        </p:spPr>
        <p:txBody>
          <a:bodyPr wrap="square" lIns="0" tIns="0" rIns="0" bIns="0" rtlCol="0" anchor="ctr"/>
          <a:lstStyle/>
          <a:p>
            <a:pPr marL="0" indent="0">
              <a:lnSpc>
                <a:spcPts val="2600"/>
              </a:lnSpc>
              <a:buNone/>
            </a:pPr>
            <a:r>
              <a:rPr lang="en-US" sz="1900" dirty="0">
                <a:solidFill>
                  <a:srgbClr val="374151"/>
                </a:solidFill>
                <a:latin typeface="Calibri" pitchFamily="34" charset="0"/>
                <a:ea typeface="Calibri" pitchFamily="34" charset="-122"/>
                <a:cs typeface="Calibri" pitchFamily="34" charset="-120"/>
              </a:rPr>
              <a:t>"The controls felt slightly delayed when jumping, so I kept missing platforms I'd aimed at."</a:t>
            </a:r>
            <a:endParaRPr lang="en-US" sz="1900" dirty="0"/>
          </a:p>
        </p:txBody>
      </p:sp>
      <p:sp>
        <p:nvSpPr>
          <p:cNvPr id="14" name="Shape 12"/>
          <p:cNvSpPr/>
          <p:nvPr/>
        </p:nvSpPr>
        <p:spPr>
          <a:xfrm>
            <a:off x="640080" y="3703320"/>
            <a:ext cx="10881360" cy="1371600"/>
          </a:xfrm>
          <a:prstGeom prst="roundRect">
            <a:avLst>
              <a:gd name="adj" fmla="val 333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5" name="Text 13"/>
          <p:cNvSpPr/>
          <p:nvPr/>
        </p:nvSpPr>
        <p:spPr>
          <a:xfrm>
            <a:off x="914400" y="3840480"/>
            <a:ext cx="7315200" cy="365760"/>
          </a:xfrm>
          <a:prstGeom prst="rect">
            <a:avLst/>
          </a:prstGeom>
          <a:noFill/>
          <a:ln/>
        </p:spPr>
        <p:txBody>
          <a:bodyPr wrap="square" lIns="0" tIns="0" rIns="0" bIns="0" rtlCol="0" anchor="ctr"/>
          <a:lstStyle/>
          <a:p>
            <a:pPr marL="0" indent="0">
              <a:buNone/>
            </a:pPr>
            <a:r>
              <a:rPr lang="en-US" sz="1900" dirty="0">
                <a:solidFill>
                  <a:srgbClr val="4361EE"/>
                </a:solidFill>
                <a:latin typeface="Bookman Old Style" pitchFamily="34" charset="0"/>
                <a:ea typeface="Bookman Old Style" pitchFamily="34" charset="-122"/>
                <a:cs typeface="Bookman Old Style" pitchFamily="34" charset="-120"/>
              </a:rPr>
              <a:t>The sentence frame</a:t>
            </a:r>
            <a:endParaRPr lang="en-US" sz="1900" dirty="0"/>
          </a:p>
        </p:txBody>
      </p:sp>
      <p:sp>
        <p:nvSpPr>
          <p:cNvPr id="16" name="Text 14"/>
          <p:cNvSpPr/>
          <p:nvPr/>
        </p:nvSpPr>
        <p:spPr>
          <a:xfrm>
            <a:off x="914400" y="4251960"/>
            <a:ext cx="10332720" cy="685800"/>
          </a:xfrm>
          <a:prstGeom prst="rect">
            <a:avLst/>
          </a:prstGeom>
          <a:noFill/>
          <a:ln/>
        </p:spPr>
        <p:txBody>
          <a:bodyPr wrap="square" lIns="0" tIns="0" rIns="0" bIns="0" rtlCol="0" anchor="ctr"/>
          <a:lstStyle/>
          <a:p>
            <a:pPr marL="0" indent="0">
              <a:buNone/>
            </a:pPr>
            <a:r>
              <a:rPr lang="en-US" sz="2000" b="1" dirty="0">
                <a:solidFill>
                  <a:srgbClr val="374151"/>
                </a:solidFill>
                <a:latin typeface="Calibri" pitchFamily="34" charset="0"/>
                <a:ea typeface="Calibri" pitchFamily="34" charset="-122"/>
                <a:cs typeface="Calibri" pitchFamily="34" charset="-120"/>
              </a:rPr>
              <a:t>The [criterion] was [specific observation], because [what happened when you played].</a:t>
            </a:r>
            <a:endParaRPr lang="en-US" sz="2000" dirty="0"/>
          </a:p>
        </p:txBody>
      </p:sp>
      <p:sp>
        <p:nvSpPr>
          <p:cNvPr id="17" name="Text 15"/>
          <p:cNvSpPr/>
          <p:nvPr/>
        </p:nvSpPr>
        <p:spPr>
          <a:xfrm>
            <a:off x="640080" y="5212080"/>
            <a:ext cx="10881360" cy="502920"/>
          </a:xfrm>
          <a:prstGeom prst="rect">
            <a:avLst/>
          </a:prstGeom>
          <a:noFill/>
          <a:ln/>
        </p:spPr>
        <p:txBody>
          <a:bodyPr wrap="square" lIns="0" tIns="0" rIns="0" bIns="0" rtlCol="0" anchor="ctr"/>
          <a:lstStyle/>
          <a:p>
            <a:pPr marL="0" indent="0">
              <a:buNone/>
            </a:pPr>
            <a:r>
              <a:rPr lang="en-US" sz="1800" i="1" dirty="0">
                <a:solidFill>
                  <a:srgbClr val="374151"/>
                </a:solidFill>
                <a:latin typeface="Calibri" pitchFamily="34" charset="0"/>
                <a:ea typeface="Calibri" pitchFamily="34" charset="-122"/>
                <a:cs typeface="Calibri" pitchFamily="34" charset="-120"/>
              </a:rPr>
              <a:t>Every observation you write today needs a named criterion and a specific reason. A rating on its own is not evidence of anything.</a:t>
            </a:r>
            <a:endParaRPr lang="en-US" sz="1800" dirty="0"/>
          </a:p>
        </p:txBody>
      </p:sp>
      <p:sp>
        <p:nvSpPr>
          <p:cNvPr id="18" name="Shape 16"/>
          <p:cNvSpPr/>
          <p:nvPr/>
        </p:nvSpPr>
        <p:spPr>
          <a:xfrm>
            <a:off x="640080" y="5797296"/>
            <a:ext cx="10881360" cy="384048"/>
          </a:xfrm>
          <a:prstGeom prst="roundRect">
            <a:avLst>
              <a:gd name="adj" fmla="val 11905"/>
            </a:avLst>
          </a:prstGeom>
          <a:solidFill>
            <a:srgbClr val="FEF6E7"/>
          </a:solidFill>
          <a:ln w="12700">
            <a:solidFill>
              <a:srgbClr val="F59E0B"/>
            </a:solidFill>
            <a:prstDash val="solid"/>
          </a:ln>
        </p:spPr>
        <p:txBody>
          <a:bodyPr/>
          <a:lstStyle/>
          <a:p>
            <a:endParaRPr lang="en-AU"/>
          </a:p>
        </p:txBody>
      </p:sp>
      <p:sp>
        <p:nvSpPr>
          <p:cNvPr id="19" name="Text 17"/>
          <p:cNvSpPr/>
          <p:nvPr/>
        </p:nvSpPr>
        <p:spPr>
          <a:xfrm>
            <a:off x="841248" y="5797296"/>
            <a:ext cx="10515600" cy="384048"/>
          </a:xfrm>
          <a:prstGeom prst="rect">
            <a:avLst/>
          </a:prstGeom>
          <a:noFill/>
          <a:ln/>
        </p:spPr>
        <p:txBody>
          <a:bodyPr wrap="square" lIns="0" tIns="0" rIns="0" bIns="0" rtlCol="0" anchor="ctr"/>
          <a:lstStyle/>
          <a:p>
            <a:pPr marL="0" indent="0">
              <a:buNone/>
            </a:pPr>
            <a:r>
              <a:rPr lang="en-US" sz="1600" b="1" dirty="0">
                <a:solidFill>
                  <a:srgbClr val="8A5A05"/>
                </a:solidFill>
                <a:latin typeface="Calibri" pitchFamily="34" charset="0"/>
                <a:ea typeface="Calibri" pitchFamily="34" charset="-122"/>
                <a:cs typeface="Calibri" pitchFamily="34" charset="-120"/>
              </a:rPr>
              <a:t>COPY  ·  The sentence frame — use it for every critique you write today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APPLICATION OF LEARNING</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Task 1 — Critique a Given Game</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TASK</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marL="0" indent="0">
              <a:buNone/>
            </a:pPr>
            <a:r>
              <a:rPr lang="en-US" sz="1900" dirty="0">
                <a:solidFill>
                  <a:srgbClr val="374151"/>
                </a:solidFill>
                <a:latin typeface="Calibri" pitchFamily="34" charset="0"/>
                <a:ea typeface="Calibri" pitchFamily="34" charset="-122"/>
                <a:cs typeface="Calibri" pitchFamily="34" charset="-120"/>
              </a:rPr>
              <a:t>In pairs, play the game your teacher names. Take turns — one plays, one watches and notices.</a:t>
            </a:r>
            <a:endParaRPr lang="en-US" sz="1900" dirty="0"/>
          </a:p>
        </p:txBody>
      </p:sp>
      <p:sp>
        <p:nvSpPr>
          <p:cNvPr id="9" name="Shape 7"/>
          <p:cNvSpPr/>
          <p:nvPr/>
        </p:nvSpPr>
        <p:spPr>
          <a:xfrm>
            <a:off x="640080" y="1828800"/>
            <a:ext cx="10881360" cy="868680"/>
          </a:xfrm>
          <a:prstGeom prst="roundRect">
            <a:avLst>
              <a:gd name="adj" fmla="val 5263"/>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0" name="Text 8"/>
          <p:cNvSpPr/>
          <p:nvPr/>
        </p:nvSpPr>
        <p:spPr>
          <a:xfrm>
            <a:off x="914400" y="1828800"/>
            <a:ext cx="3383280" cy="86868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Play it properly</a:t>
            </a:r>
            <a:endParaRPr lang="en-US" sz="1900" dirty="0"/>
          </a:p>
        </p:txBody>
      </p:sp>
      <p:sp>
        <p:nvSpPr>
          <p:cNvPr id="11" name="Text 9"/>
          <p:cNvSpPr/>
          <p:nvPr/>
        </p:nvSpPr>
        <p:spPr>
          <a:xfrm>
            <a:off x="4343400" y="1828800"/>
            <a:ext cx="6858000" cy="86868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Give it a fair go — at least three or four minutes before you judge anything.</a:t>
            </a:r>
            <a:endParaRPr lang="en-US" sz="1700" dirty="0"/>
          </a:p>
        </p:txBody>
      </p:sp>
      <p:sp>
        <p:nvSpPr>
          <p:cNvPr id="12" name="Shape 10"/>
          <p:cNvSpPr/>
          <p:nvPr/>
        </p:nvSpPr>
        <p:spPr>
          <a:xfrm>
            <a:off x="640080" y="2834640"/>
            <a:ext cx="10881360" cy="868680"/>
          </a:xfrm>
          <a:prstGeom prst="roundRect">
            <a:avLst>
              <a:gd name="adj" fmla="val 5263"/>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3" name="Text 11"/>
          <p:cNvSpPr/>
          <p:nvPr/>
        </p:nvSpPr>
        <p:spPr>
          <a:xfrm>
            <a:off x="914400" y="2834640"/>
            <a:ext cx="3383280" cy="86868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Rate all four criteria</a:t>
            </a:r>
            <a:endParaRPr lang="en-US" sz="1900" dirty="0"/>
          </a:p>
        </p:txBody>
      </p:sp>
      <p:sp>
        <p:nvSpPr>
          <p:cNvPr id="14" name="Text 12"/>
          <p:cNvSpPr/>
          <p:nvPr/>
        </p:nvSpPr>
        <p:spPr>
          <a:xfrm>
            <a:off x="4343400" y="2834640"/>
            <a:ext cx="6858000" cy="86868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Controls, goal, feedback, difficulty. Every one gets a comment, not just the interesting ones.</a:t>
            </a:r>
            <a:endParaRPr lang="en-US" sz="1700" dirty="0"/>
          </a:p>
        </p:txBody>
      </p:sp>
      <p:sp>
        <p:nvSpPr>
          <p:cNvPr id="15" name="Shape 13"/>
          <p:cNvSpPr/>
          <p:nvPr/>
        </p:nvSpPr>
        <p:spPr>
          <a:xfrm>
            <a:off x="640080" y="3840480"/>
            <a:ext cx="10881360" cy="868680"/>
          </a:xfrm>
          <a:prstGeom prst="roundRect">
            <a:avLst>
              <a:gd name="adj" fmla="val 5263"/>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6" name="Text 14"/>
          <p:cNvSpPr/>
          <p:nvPr/>
        </p:nvSpPr>
        <p:spPr>
          <a:xfrm>
            <a:off x="914400" y="3840480"/>
            <a:ext cx="3383280" cy="86868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One genuine strength</a:t>
            </a:r>
            <a:endParaRPr lang="en-US" sz="1900" dirty="0"/>
          </a:p>
        </p:txBody>
      </p:sp>
      <p:sp>
        <p:nvSpPr>
          <p:cNvPr id="17" name="Text 15"/>
          <p:cNvSpPr/>
          <p:nvPr/>
        </p:nvSpPr>
        <p:spPr>
          <a:xfrm>
            <a:off x="4343400" y="3840480"/>
            <a:ext cx="6858000" cy="86868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Specific reason, using the sentence frame. Not "the art is nice".</a:t>
            </a:r>
            <a:endParaRPr lang="en-US" sz="1700" dirty="0"/>
          </a:p>
        </p:txBody>
      </p:sp>
      <p:sp>
        <p:nvSpPr>
          <p:cNvPr id="18" name="Shape 16"/>
          <p:cNvSpPr/>
          <p:nvPr/>
        </p:nvSpPr>
        <p:spPr>
          <a:xfrm>
            <a:off x="640080" y="4846320"/>
            <a:ext cx="10881360" cy="868680"/>
          </a:xfrm>
          <a:prstGeom prst="roundRect">
            <a:avLst>
              <a:gd name="adj" fmla="val 5263"/>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9" name="Text 17"/>
          <p:cNvSpPr/>
          <p:nvPr/>
        </p:nvSpPr>
        <p:spPr>
          <a:xfrm>
            <a:off x="914400" y="4846320"/>
            <a:ext cx="3383280" cy="86868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One genuine weakness</a:t>
            </a:r>
            <a:endParaRPr lang="en-US" sz="1900" dirty="0"/>
          </a:p>
        </p:txBody>
      </p:sp>
      <p:sp>
        <p:nvSpPr>
          <p:cNvPr id="20" name="Text 18"/>
          <p:cNvSpPr/>
          <p:nvPr/>
        </p:nvSpPr>
        <p:spPr>
          <a:xfrm>
            <a:off x="4343400" y="4846320"/>
            <a:ext cx="6858000" cy="86868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Specific reason. Something you'd actually change, not something trivial.</a:t>
            </a:r>
            <a:endParaRPr lang="en-US" sz="1700" dirty="0"/>
          </a:p>
        </p:txBody>
      </p:sp>
      <p:sp>
        <p:nvSpPr>
          <p:cNvPr id="21" name="Text 19"/>
          <p:cNvSpPr/>
          <p:nvPr/>
        </p:nvSpPr>
        <p:spPr>
          <a:xfrm>
            <a:off x="640080" y="5943600"/>
            <a:ext cx="10881360" cy="365760"/>
          </a:xfrm>
          <a:prstGeom prst="rect">
            <a:avLst/>
          </a:prstGeom>
          <a:noFill/>
          <a:ln/>
        </p:spPr>
        <p:txBody>
          <a:bodyPr wrap="square" lIns="0" tIns="0" rIns="0" bIns="0" rtlCol="0" anchor="ctr"/>
          <a:lstStyle/>
          <a:p>
            <a:pPr marL="0" indent="0">
              <a:buNone/>
            </a:pPr>
            <a:r>
              <a:rPr lang="en-US" sz="1800" b="1" dirty="0">
                <a:solidFill>
                  <a:srgbClr val="4361EE"/>
                </a:solidFill>
                <a:latin typeface="Calibri" pitchFamily="34" charset="0"/>
                <a:ea typeface="Calibri" pitchFamily="34" charset="-122"/>
                <a:cs typeface="Calibri" pitchFamily="34" charset="-120"/>
              </a:rPr>
              <a:t>➜  Open your workbook — Section 4. There's a row for each criterion.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APPLICATION OF LEARNING</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Task 2 — Critique Your Own Game</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TASK</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Shape 6"/>
          <p:cNvSpPr/>
          <p:nvPr/>
        </p:nvSpPr>
        <p:spPr>
          <a:xfrm>
            <a:off x="640080" y="1325880"/>
            <a:ext cx="10881360" cy="960120"/>
          </a:xfrm>
          <a:prstGeom prst="roundRect">
            <a:avLst>
              <a:gd name="adj" fmla="val 4762"/>
            </a:avLst>
          </a:prstGeom>
          <a:solidFill>
            <a:srgbClr val="F4F6FA"/>
          </a:solidFill>
          <a:ln w="19050">
            <a:solidFill>
              <a:srgbClr val="F59E0B"/>
            </a:solidFill>
            <a:prstDash val="solid"/>
          </a:ln>
          <a:effectLst>
            <a:outerShdw blurRad="76200" dist="12700" dir="5400000" algn="bl" rotWithShape="0">
              <a:srgbClr val="9AA4B2">
                <a:alpha val="18000"/>
              </a:srgbClr>
            </a:outerShdw>
          </a:effectLst>
        </p:spPr>
        <p:txBody>
          <a:bodyPr/>
          <a:lstStyle/>
          <a:p>
            <a:endParaRPr lang="en-AU"/>
          </a:p>
        </p:txBody>
      </p:sp>
      <p:sp>
        <p:nvSpPr>
          <p:cNvPr id="9" name="Text 7"/>
          <p:cNvSpPr/>
          <p:nvPr/>
        </p:nvSpPr>
        <p:spPr>
          <a:xfrm>
            <a:off x="914400" y="1325880"/>
            <a:ext cx="10332720" cy="960120"/>
          </a:xfrm>
          <a:prstGeom prst="rect">
            <a:avLst/>
          </a:prstGeom>
          <a:noFill/>
          <a:ln/>
        </p:spPr>
        <p:txBody>
          <a:bodyPr wrap="square" lIns="0" tIns="0" rIns="0" bIns="0" rtlCol="0" anchor="ctr"/>
          <a:lstStyle/>
          <a:p>
            <a:pPr marL="0" indent="0">
              <a:buNone/>
            </a:pPr>
            <a:r>
              <a:rPr lang="en-US" sz="2000" b="1" dirty="0">
                <a:solidFill>
                  <a:srgbClr val="374151"/>
                </a:solidFill>
                <a:latin typeface="Calibri" pitchFamily="34" charset="0"/>
                <a:ea typeface="Calibri" pitchFamily="34" charset="-122"/>
                <a:cs typeface="Calibri" pitchFamily="34" charset="-120"/>
              </a:rPr>
              <a:t>This is harder than critiquing someone else's. You already know what you meant it to do — which makes the weaknesses very easy to miss.</a:t>
            </a:r>
            <a:endParaRPr lang="en-US" sz="2000" dirty="0"/>
          </a:p>
        </p:txBody>
      </p:sp>
      <p:sp>
        <p:nvSpPr>
          <p:cNvPr id="10" name="Shape 8"/>
          <p:cNvSpPr/>
          <p:nvPr/>
        </p:nvSpPr>
        <p:spPr>
          <a:xfrm>
            <a:off x="640080" y="2468880"/>
            <a:ext cx="10881360" cy="731520"/>
          </a:xfrm>
          <a:prstGeom prst="roundRect">
            <a:avLst>
              <a:gd name="adj" fmla="val 625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1" name="Shape 9"/>
          <p:cNvSpPr/>
          <p:nvPr/>
        </p:nvSpPr>
        <p:spPr>
          <a:xfrm>
            <a:off x="841248" y="2615184"/>
            <a:ext cx="420624" cy="420624"/>
          </a:xfrm>
          <a:prstGeom prst="ellipse">
            <a:avLst/>
          </a:prstGeom>
          <a:solidFill>
            <a:srgbClr val="10B981"/>
          </a:solidFill>
          <a:ln w="12700">
            <a:solidFill>
              <a:srgbClr val="10B981"/>
            </a:solidFill>
            <a:prstDash val="solid"/>
          </a:ln>
        </p:spPr>
        <p:txBody>
          <a:bodyPr/>
          <a:lstStyle/>
          <a:p>
            <a:endParaRPr lang="en-AU"/>
          </a:p>
        </p:txBody>
      </p:sp>
      <p:sp>
        <p:nvSpPr>
          <p:cNvPr id="12" name="Text 10"/>
          <p:cNvSpPr/>
          <p:nvPr/>
        </p:nvSpPr>
        <p:spPr>
          <a:xfrm>
            <a:off x="841248" y="261518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1463040" y="2468880"/>
            <a:ext cx="4846320" cy="731520"/>
          </a:xfrm>
          <a:prstGeom prst="rect">
            <a:avLst/>
          </a:prstGeom>
          <a:noFill/>
          <a:ln/>
        </p:spPr>
        <p:txBody>
          <a:bodyPr wrap="square" lIns="0" tIns="0" rIns="0" bIns="0"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Hand your game to your partner and say nothing</a:t>
            </a:r>
            <a:endParaRPr lang="en-US" sz="1800" dirty="0"/>
          </a:p>
        </p:txBody>
      </p:sp>
      <p:sp>
        <p:nvSpPr>
          <p:cNvPr id="14" name="Text 12"/>
          <p:cNvSpPr/>
          <p:nvPr/>
        </p:nvSpPr>
        <p:spPr>
          <a:xfrm>
            <a:off x="6400800" y="2468880"/>
            <a:ext cx="4754880" cy="73152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Watch where they hesitate. That hesitation is data.</a:t>
            </a:r>
            <a:endParaRPr lang="en-US" sz="1700" dirty="0"/>
          </a:p>
        </p:txBody>
      </p:sp>
      <p:sp>
        <p:nvSpPr>
          <p:cNvPr id="15" name="Shape 13"/>
          <p:cNvSpPr/>
          <p:nvPr/>
        </p:nvSpPr>
        <p:spPr>
          <a:xfrm>
            <a:off x="640080" y="3310128"/>
            <a:ext cx="10881360" cy="731520"/>
          </a:xfrm>
          <a:prstGeom prst="roundRect">
            <a:avLst>
              <a:gd name="adj" fmla="val 625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6" name="Shape 14"/>
          <p:cNvSpPr/>
          <p:nvPr/>
        </p:nvSpPr>
        <p:spPr>
          <a:xfrm>
            <a:off x="841248" y="3456432"/>
            <a:ext cx="420624" cy="420624"/>
          </a:xfrm>
          <a:prstGeom prst="ellipse">
            <a:avLst/>
          </a:prstGeom>
          <a:solidFill>
            <a:srgbClr val="10B981"/>
          </a:solidFill>
          <a:ln w="12700">
            <a:solidFill>
              <a:srgbClr val="10B981"/>
            </a:solidFill>
            <a:prstDash val="solid"/>
          </a:ln>
        </p:spPr>
        <p:txBody>
          <a:bodyPr/>
          <a:lstStyle/>
          <a:p>
            <a:endParaRPr lang="en-AU"/>
          </a:p>
        </p:txBody>
      </p:sp>
      <p:sp>
        <p:nvSpPr>
          <p:cNvPr id="17" name="Text 15"/>
          <p:cNvSpPr/>
          <p:nvPr/>
        </p:nvSpPr>
        <p:spPr>
          <a:xfrm>
            <a:off x="841248" y="345643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8" name="Text 16"/>
          <p:cNvSpPr/>
          <p:nvPr/>
        </p:nvSpPr>
        <p:spPr>
          <a:xfrm>
            <a:off x="1463040" y="3310128"/>
            <a:ext cx="4846320" cy="731520"/>
          </a:xfrm>
          <a:prstGeom prst="rect">
            <a:avLst/>
          </a:prstGeom>
          <a:noFill/>
          <a:ln/>
        </p:spPr>
        <p:txBody>
          <a:bodyPr wrap="square" lIns="0" tIns="0" rIns="0" bIns="0"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Apply all four criteria to your own game</a:t>
            </a:r>
            <a:endParaRPr lang="en-US" sz="1800" dirty="0"/>
          </a:p>
        </p:txBody>
      </p:sp>
      <p:sp>
        <p:nvSpPr>
          <p:cNvPr id="19" name="Text 17"/>
          <p:cNvSpPr/>
          <p:nvPr/>
        </p:nvSpPr>
        <p:spPr>
          <a:xfrm>
            <a:off x="6400800" y="3310128"/>
            <a:ext cx="4754880" cy="73152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Same standard, same sentence frame.</a:t>
            </a:r>
            <a:endParaRPr lang="en-US" sz="1700" dirty="0"/>
          </a:p>
        </p:txBody>
      </p:sp>
      <p:sp>
        <p:nvSpPr>
          <p:cNvPr id="20" name="Shape 18"/>
          <p:cNvSpPr/>
          <p:nvPr/>
        </p:nvSpPr>
        <p:spPr>
          <a:xfrm>
            <a:off x="640080" y="4151376"/>
            <a:ext cx="10881360" cy="731520"/>
          </a:xfrm>
          <a:prstGeom prst="roundRect">
            <a:avLst>
              <a:gd name="adj" fmla="val 625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21" name="Shape 19"/>
          <p:cNvSpPr/>
          <p:nvPr/>
        </p:nvSpPr>
        <p:spPr>
          <a:xfrm>
            <a:off x="841248" y="4297680"/>
            <a:ext cx="420624" cy="420624"/>
          </a:xfrm>
          <a:prstGeom prst="ellipse">
            <a:avLst/>
          </a:prstGeom>
          <a:solidFill>
            <a:srgbClr val="10B981"/>
          </a:solidFill>
          <a:ln w="12700">
            <a:solidFill>
              <a:srgbClr val="10B981"/>
            </a:solidFill>
            <a:prstDash val="solid"/>
          </a:ln>
        </p:spPr>
        <p:txBody>
          <a:bodyPr/>
          <a:lstStyle/>
          <a:p>
            <a:endParaRPr lang="en-AU"/>
          </a:p>
        </p:txBody>
      </p:sp>
      <p:sp>
        <p:nvSpPr>
          <p:cNvPr id="22" name="Text 20"/>
          <p:cNvSpPr/>
          <p:nvPr/>
        </p:nvSpPr>
        <p:spPr>
          <a:xfrm>
            <a:off x="841248" y="429768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1463040" y="4151376"/>
            <a:ext cx="4846320" cy="731520"/>
          </a:xfrm>
          <a:prstGeom prst="rect">
            <a:avLst/>
          </a:prstGeom>
          <a:noFill/>
          <a:ln/>
        </p:spPr>
        <p:txBody>
          <a:bodyPr wrap="square" lIns="0" tIns="0" rIns="0" bIns="0"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Name one genuine weakness</a:t>
            </a:r>
            <a:endParaRPr lang="en-US" sz="1800" dirty="0"/>
          </a:p>
        </p:txBody>
      </p:sp>
      <p:sp>
        <p:nvSpPr>
          <p:cNvPr id="24" name="Text 22"/>
          <p:cNvSpPr/>
          <p:nvPr/>
        </p:nvSpPr>
        <p:spPr>
          <a:xfrm>
            <a:off x="6400800" y="4151376"/>
            <a:ext cx="4754880" cy="73152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Not something trivial. The one that actually costs the player something.</a:t>
            </a:r>
            <a:endParaRPr lang="en-US" sz="1700" dirty="0"/>
          </a:p>
        </p:txBody>
      </p:sp>
      <p:sp>
        <p:nvSpPr>
          <p:cNvPr id="25" name="Shape 23"/>
          <p:cNvSpPr/>
          <p:nvPr/>
        </p:nvSpPr>
        <p:spPr>
          <a:xfrm>
            <a:off x="640080" y="4992624"/>
            <a:ext cx="10881360" cy="731520"/>
          </a:xfrm>
          <a:prstGeom prst="roundRect">
            <a:avLst>
              <a:gd name="adj" fmla="val 625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26" name="Shape 24"/>
          <p:cNvSpPr/>
          <p:nvPr/>
        </p:nvSpPr>
        <p:spPr>
          <a:xfrm>
            <a:off x="841248" y="5138928"/>
            <a:ext cx="420624" cy="420624"/>
          </a:xfrm>
          <a:prstGeom prst="ellipse">
            <a:avLst/>
          </a:prstGeom>
          <a:solidFill>
            <a:srgbClr val="10B981"/>
          </a:solidFill>
          <a:ln w="12700">
            <a:solidFill>
              <a:srgbClr val="10B981"/>
            </a:solidFill>
            <a:prstDash val="solid"/>
          </a:ln>
        </p:spPr>
        <p:txBody>
          <a:bodyPr/>
          <a:lstStyle/>
          <a:p>
            <a:endParaRPr lang="en-AU"/>
          </a:p>
        </p:txBody>
      </p:sp>
      <p:sp>
        <p:nvSpPr>
          <p:cNvPr id="27" name="Text 25"/>
          <p:cNvSpPr/>
          <p:nvPr/>
        </p:nvSpPr>
        <p:spPr>
          <a:xfrm>
            <a:off x="841248" y="51389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6"/>
          <p:cNvSpPr/>
          <p:nvPr/>
        </p:nvSpPr>
        <p:spPr>
          <a:xfrm>
            <a:off x="1463040" y="4992624"/>
            <a:ext cx="4846320" cy="731520"/>
          </a:xfrm>
          <a:prstGeom prst="rect">
            <a:avLst/>
          </a:prstGeom>
          <a:noFill/>
          <a:ln/>
        </p:spPr>
        <p:txBody>
          <a:bodyPr wrap="square" lIns="0" tIns="0" rIns="0" bIns="0"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Write a one-sentence proposed fix</a:t>
            </a:r>
            <a:endParaRPr lang="en-US" sz="1800" dirty="0"/>
          </a:p>
        </p:txBody>
      </p:sp>
      <p:sp>
        <p:nvSpPr>
          <p:cNvPr id="29" name="Text 27"/>
          <p:cNvSpPr/>
          <p:nvPr/>
        </p:nvSpPr>
        <p:spPr>
          <a:xfrm>
            <a:off x="6400800" y="4992624"/>
            <a:ext cx="4754880" cy="73152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This becomes your CAT mechanic modification.</a:t>
            </a:r>
            <a:endParaRPr lang="en-US" sz="1700" dirty="0"/>
          </a:p>
        </p:txBody>
      </p:sp>
      <p:sp>
        <p:nvSpPr>
          <p:cNvPr id="30" name="Shape 28"/>
          <p:cNvSpPr/>
          <p:nvPr/>
        </p:nvSpPr>
        <p:spPr>
          <a:xfrm>
            <a:off x="640080" y="5797296"/>
            <a:ext cx="10881360" cy="384048"/>
          </a:xfrm>
          <a:prstGeom prst="roundRect">
            <a:avLst>
              <a:gd name="adj" fmla="val 11905"/>
            </a:avLst>
          </a:prstGeom>
          <a:solidFill>
            <a:srgbClr val="FEF6E7"/>
          </a:solidFill>
          <a:ln w="12700">
            <a:solidFill>
              <a:srgbClr val="F59E0B"/>
            </a:solidFill>
            <a:prstDash val="solid"/>
          </a:ln>
        </p:spPr>
        <p:txBody>
          <a:bodyPr/>
          <a:lstStyle/>
          <a:p>
            <a:endParaRPr lang="en-AU"/>
          </a:p>
        </p:txBody>
      </p:sp>
      <p:sp>
        <p:nvSpPr>
          <p:cNvPr id="31" name="Text 29"/>
          <p:cNvSpPr/>
          <p:nvPr/>
        </p:nvSpPr>
        <p:spPr>
          <a:xfrm>
            <a:off x="841248" y="5797296"/>
            <a:ext cx="10515600" cy="384048"/>
          </a:xfrm>
          <a:prstGeom prst="rect">
            <a:avLst/>
          </a:prstGeom>
          <a:noFill/>
          <a:ln/>
        </p:spPr>
        <p:txBody>
          <a:bodyPr wrap="square" lIns="0" tIns="0" rIns="0" bIns="0" rtlCol="0" anchor="ctr"/>
          <a:lstStyle/>
          <a:p>
            <a:pPr marL="0" indent="0">
              <a:buNone/>
            </a:pPr>
            <a:r>
              <a:rPr lang="en-US" sz="1600" b="1" dirty="0">
                <a:solidFill>
                  <a:srgbClr val="8A5A05"/>
                </a:solidFill>
                <a:latin typeface="Calibri" pitchFamily="34" charset="0"/>
                <a:ea typeface="Calibri" pitchFamily="34" charset="-122"/>
                <a:cs typeface="Calibri" pitchFamily="34" charset="-120"/>
              </a:rPr>
              <a:t>COPY  ·  Your proposed fix, written as one sentence — you'll build it in Lesson 7</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CHOOSING WELL</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Pick a Fix You Can Actually Build</a:t>
            </a:r>
            <a:endParaRPr lang="en-US" sz="3200" dirty="0"/>
          </a:p>
        </p:txBody>
      </p:sp>
      <p:sp>
        <p:nvSpPr>
          <p:cNvPr id="4" name="Shape 2"/>
          <p:cNvSpPr/>
          <p:nvPr/>
        </p:nvSpPr>
        <p:spPr>
          <a:xfrm>
            <a:off x="9646920" y="384048"/>
            <a:ext cx="1874520" cy="402336"/>
          </a:xfrm>
          <a:prstGeom prst="roundRect">
            <a:avLst>
              <a:gd name="adj" fmla="val 18182"/>
            </a:avLst>
          </a:prstGeom>
          <a:solidFill>
            <a:srgbClr val="F59E0B"/>
          </a:solidFill>
          <a:ln w="12700">
            <a:solidFill>
              <a:srgbClr val="F59E0B"/>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KEY IDEA</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marL="0" indent="0">
              <a:buNone/>
            </a:pPr>
            <a:r>
              <a:rPr lang="en-US" sz="1900" dirty="0">
                <a:solidFill>
                  <a:srgbClr val="374151"/>
                </a:solidFill>
                <a:latin typeface="Calibri" pitchFamily="34" charset="0"/>
                <a:ea typeface="Calibri" pitchFamily="34" charset="-122"/>
                <a:cs typeface="Calibri" pitchFamily="34" charset="-120"/>
              </a:rPr>
              <a:t>Not every good idea is buildable with what you know right now. That's not a failure — it's scope.</a:t>
            </a:r>
            <a:endParaRPr lang="en-US" sz="1900" dirty="0"/>
          </a:p>
        </p:txBody>
      </p:sp>
      <p:sp>
        <p:nvSpPr>
          <p:cNvPr id="9" name="Shape 7"/>
          <p:cNvSpPr/>
          <p:nvPr/>
        </p:nvSpPr>
        <p:spPr>
          <a:xfrm>
            <a:off x="640080" y="1828800"/>
            <a:ext cx="5257800" cy="2377440"/>
          </a:xfrm>
          <a:prstGeom prst="roundRect">
            <a:avLst>
              <a:gd name="adj" fmla="val 1923"/>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0" name="Text 8"/>
          <p:cNvSpPr/>
          <p:nvPr/>
        </p:nvSpPr>
        <p:spPr>
          <a:xfrm>
            <a:off x="914400" y="2011680"/>
            <a:ext cx="4754880" cy="365760"/>
          </a:xfrm>
          <a:prstGeom prst="rect">
            <a:avLst/>
          </a:prstGeom>
          <a:noFill/>
          <a:ln/>
        </p:spPr>
        <p:txBody>
          <a:bodyPr wrap="square" lIns="0" tIns="0" rIns="0" bIns="0" rtlCol="0" anchor="ctr"/>
          <a:lstStyle/>
          <a:p>
            <a:pPr marL="0" indent="0">
              <a:buNone/>
            </a:pPr>
            <a:r>
              <a:rPr lang="en-US" sz="1900" dirty="0">
                <a:solidFill>
                  <a:srgbClr val="10B981"/>
                </a:solidFill>
                <a:latin typeface="Bookman Old Style" pitchFamily="34" charset="0"/>
                <a:ea typeface="Bookman Old Style" pitchFamily="34" charset="-122"/>
                <a:cs typeface="Bookman Old Style" pitchFamily="34" charset="-120"/>
              </a:rPr>
              <a:t>Buildable with your skills</a:t>
            </a:r>
            <a:endParaRPr lang="en-US" sz="1900" dirty="0"/>
          </a:p>
        </p:txBody>
      </p:sp>
      <p:sp>
        <p:nvSpPr>
          <p:cNvPr id="11" name="Text 9"/>
          <p:cNvSpPr/>
          <p:nvPr/>
        </p:nvSpPr>
        <p:spPr>
          <a:xfrm>
            <a:off x="914400" y="2468880"/>
            <a:ext cx="4754880" cy="1554480"/>
          </a:xfrm>
          <a:prstGeom prst="rect">
            <a:avLst/>
          </a:prstGeom>
          <a:noFill/>
          <a:ln/>
        </p:spPr>
        <p:txBody>
          <a:bodyPr wrap="square" lIns="0" tIns="0" rIns="0" bIns="0" rtlCol="0" anchor="ctr"/>
          <a:lstStyle/>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A difficulty ramp using a conditional</a:t>
            </a:r>
            <a:endParaRPr lang="en-US" sz="1700" dirty="0"/>
          </a:p>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A bonus life at a certain score</a:t>
            </a:r>
            <a:endParaRPr lang="en-US" sz="1700" dirty="0"/>
          </a:p>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A second enemy type in the spawn loop</a:t>
            </a:r>
            <a:endParaRPr lang="en-US" sz="1700" dirty="0"/>
          </a:p>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A sound or score change for clearer feedback</a:t>
            </a:r>
            <a:endParaRPr lang="en-US" sz="1700" dirty="0"/>
          </a:p>
        </p:txBody>
      </p:sp>
      <p:sp>
        <p:nvSpPr>
          <p:cNvPr id="12" name="Shape 10"/>
          <p:cNvSpPr/>
          <p:nvPr/>
        </p:nvSpPr>
        <p:spPr>
          <a:xfrm>
            <a:off x="6263640" y="1828800"/>
            <a:ext cx="5257800" cy="2377440"/>
          </a:xfrm>
          <a:prstGeom prst="roundRect">
            <a:avLst>
              <a:gd name="adj" fmla="val 1923"/>
            </a:avLst>
          </a:prstGeom>
          <a:solidFill>
            <a:srgbClr val="F4F6FA"/>
          </a:solidFill>
          <a:ln w="19050">
            <a:solidFill>
              <a:srgbClr val="EF4444"/>
            </a:solidFill>
            <a:prstDash val="solid"/>
          </a:ln>
          <a:effectLst>
            <a:outerShdw blurRad="76200" dist="12700" dir="5400000" algn="bl" rotWithShape="0">
              <a:srgbClr val="9AA4B2">
                <a:alpha val="18000"/>
              </a:srgbClr>
            </a:outerShdw>
          </a:effectLst>
        </p:spPr>
        <p:txBody>
          <a:bodyPr/>
          <a:lstStyle/>
          <a:p>
            <a:endParaRPr lang="en-AU"/>
          </a:p>
        </p:txBody>
      </p:sp>
      <p:sp>
        <p:nvSpPr>
          <p:cNvPr id="13" name="Text 11"/>
          <p:cNvSpPr/>
          <p:nvPr/>
        </p:nvSpPr>
        <p:spPr>
          <a:xfrm>
            <a:off x="6537960" y="2011680"/>
            <a:ext cx="4754880" cy="365760"/>
          </a:xfrm>
          <a:prstGeom prst="rect">
            <a:avLst/>
          </a:prstGeom>
          <a:noFill/>
          <a:ln/>
        </p:spPr>
        <p:txBody>
          <a:bodyPr wrap="square" lIns="0" tIns="0" rIns="0" bIns="0" rtlCol="0" anchor="ctr"/>
          <a:lstStyle/>
          <a:p>
            <a:pPr marL="0" indent="0">
              <a:buNone/>
            </a:pPr>
            <a:r>
              <a:rPr lang="en-US" sz="1900" dirty="0">
                <a:solidFill>
                  <a:srgbClr val="EF4444"/>
                </a:solidFill>
                <a:latin typeface="Bookman Old Style" pitchFamily="34" charset="0"/>
                <a:ea typeface="Bookman Old Style" pitchFamily="34" charset="-122"/>
                <a:cs typeface="Bookman Old Style" pitchFamily="34" charset="-120"/>
              </a:rPr>
              <a:t>Too big for this unit</a:t>
            </a:r>
            <a:endParaRPr lang="en-US" sz="1900" dirty="0"/>
          </a:p>
        </p:txBody>
      </p:sp>
      <p:sp>
        <p:nvSpPr>
          <p:cNvPr id="14" name="Text 12"/>
          <p:cNvSpPr/>
          <p:nvPr/>
        </p:nvSpPr>
        <p:spPr>
          <a:xfrm>
            <a:off x="6537960" y="2468880"/>
            <a:ext cx="4754880" cy="1554480"/>
          </a:xfrm>
          <a:prstGeom prst="rect">
            <a:avLst/>
          </a:prstGeom>
          <a:noFill/>
          <a:ln/>
        </p:spPr>
        <p:txBody>
          <a:bodyPr wrap="square" lIns="0" tIns="0" rIns="0" bIns="0" rtlCol="0" anchor="ctr"/>
          <a:lstStyle/>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Multiplayer over the internet</a:t>
            </a:r>
            <a:endParaRPr lang="en-US" sz="1700" dirty="0"/>
          </a:p>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Saving progress between sessions</a:t>
            </a:r>
            <a:endParaRPr lang="en-US" sz="1700" dirty="0"/>
          </a:p>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Twelve fully designed levels</a:t>
            </a:r>
            <a:endParaRPr lang="en-US" sz="1700" dirty="0"/>
          </a:p>
          <a:p>
            <a:pPr marL="342900" indent="-342900">
              <a:spcAft>
                <a:spcPts val="500"/>
              </a:spcAft>
              <a:buSzPct val="100000"/>
              <a:buChar char="•"/>
            </a:pPr>
            <a:r>
              <a:rPr lang="en-US" sz="1700" dirty="0">
                <a:solidFill>
                  <a:srgbClr val="374151"/>
                </a:solidFill>
                <a:latin typeface="Calibri" pitchFamily="34" charset="0"/>
                <a:ea typeface="Calibri" pitchFamily="34" charset="-122"/>
                <a:cs typeface="Calibri" pitchFamily="34" charset="-120"/>
              </a:rPr>
              <a:t>3D graphics</a:t>
            </a:r>
            <a:endParaRPr lang="en-US" sz="1700" dirty="0"/>
          </a:p>
        </p:txBody>
      </p:sp>
      <p:sp>
        <p:nvSpPr>
          <p:cNvPr id="15" name="Shape 13"/>
          <p:cNvSpPr/>
          <p:nvPr/>
        </p:nvSpPr>
        <p:spPr>
          <a:xfrm>
            <a:off x="640080" y="4434840"/>
            <a:ext cx="10881360" cy="1188720"/>
          </a:xfrm>
          <a:prstGeom prst="roundRect">
            <a:avLst>
              <a:gd name="adj" fmla="val 3846"/>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6" name="Text 14"/>
          <p:cNvSpPr/>
          <p:nvPr/>
        </p:nvSpPr>
        <p:spPr>
          <a:xfrm>
            <a:off x="914400" y="4434840"/>
            <a:ext cx="10332720" cy="1188720"/>
          </a:xfrm>
          <a:prstGeom prst="rect">
            <a:avLst/>
          </a:prstGeom>
          <a:noFill/>
          <a:ln/>
        </p:spPr>
        <p:txBody>
          <a:bodyPr wrap="square" lIns="0" tIns="0" rIns="0" bIns="0" rtlCol="0" anchor="ctr"/>
          <a:lstStyle/>
          <a:p>
            <a:pPr marL="0" indent="0">
              <a:lnSpc>
                <a:spcPts val="2500"/>
              </a:lnSpc>
              <a:buNone/>
            </a:pPr>
            <a:r>
              <a:rPr lang="en-US" sz="1900" b="1" dirty="0">
                <a:solidFill>
                  <a:srgbClr val="374151"/>
                </a:solidFill>
                <a:latin typeface="Calibri" pitchFamily="34" charset="0"/>
                <a:ea typeface="Calibri" pitchFamily="34" charset="-122"/>
                <a:cs typeface="Calibri" pitchFamily="34" charset="-120"/>
              </a:rPr>
              <a:t>Favour a fix built from variables, conditionals and loops — the skills you already have. A small change that works beats an ambitious one that doesn't get finished.</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BRAIN BREAK</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Two Minutes — Screens Down</a:t>
            </a:r>
            <a:endParaRPr lang="en-US" sz="3200" dirty="0"/>
          </a:p>
        </p:txBody>
      </p:sp>
      <p:sp>
        <p:nvSpPr>
          <p:cNvPr id="4" name="Shape 2"/>
          <p:cNvSpPr/>
          <p:nvPr/>
        </p:nvSpPr>
        <p:spPr>
          <a:xfrm>
            <a:off x="9646920" y="384048"/>
            <a:ext cx="1874520" cy="402336"/>
          </a:xfrm>
          <a:prstGeom prst="roundRect">
            <a:avLst>
              <a:gd name="adj" fmla="val 18182"/>
            </a:avLst>
          </a:prstGeom>
          <a:solidFill>
            <a:srgbClr val="6B7280"/>
          </a:solidFill>
          <a:ln w="12700">
            <a:solidFill>
              <a:srgbClr val="6B7280"/>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RESET</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737360"/>
            <a:ext cx="10881360" cy="3108960"/>
          </a:xfrm>
          <a:prstGeom prst="roundRect">
            <a:avLst>
              <a:gd name="adj" fmla="val 1471"/>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9" name="Text 7"/>
          <p:cNvSpPr/>
          <p:nvPr/>
        </p:nvSpPr>
        <p:spPr>
          <a:xfrm>
            <a:off x="1005840" y="2011680"/>
            <a:ext cx="10149840" cy="640080"/>
          </a:xfrm>
          <a:prstGeom prst="rect">
            <a:avLst/>
          </a:prstGeom>
          <a:noFill/>
          <a:ln/>
        </p:spPr>
        <p:txBody>
          <a:bodyPr wrap="square" lIns="0" tIns="0" rIns="0" bIns="0" rtlCol="0" anchor="ctr"/>
          <a:lstStyle/>
          <a:p>
            <a:pPr marL="0" indent="0">
              <a:buNone/>
            </a:pPr>
            <a:r>
              <a:rPr lang="en-US" sz="3000" dirty="0">
                <a:solidFill>
                  <a:srgbClr val="111827"/>
                </a:solidFill>
                <a:latin typeface="Bookman Old Style" pitchFamily="34" charset="0"/>
                <a:ea typeface="Bookman Old Style" pitchFamily="34" charset="-122"/>
                <a:cs typeface="Bookman Old Style" pitchFamily="34" charset="-120"/>
              </a:rPr>
              <a:t>Stand up. Look out a window.</a:t>
            </a:r>
            <a:endParaRPr lang="en-US" sz="3000" dirty="0"/>
          </a:p>
        </p:txBody>
      </p:sp>
      <p:sp>
        <p:nvSpPr>
          <p:cNvPr id="10" name="Text 8"/>
          <p:cNvSpPr/>
          <p:nvPr/>
        </p:nvSpPr>
        <p:spPr>
          <a:xfrm>
            <a:off x="1005840" y="2834640"/>
            <a:ext cx="10149840" cy="1737360"/>
          </a:xfrm>
          <a:prstGeom prst="rect">
            <a:avLst/>
          </a:prstGeom>
          <a:noFill/>
          <a:ln/>
        </p:spPr>
        <p:txBody>
          <a:bodyPr wrap="square" lIns="0" tIns="0" rIns="0" bIns="0" rtlCol="0" anchor="ctr"/>
          <a:lstStyle/>
          <a:p>
            <a:pPr marL="0" indent="0">
              <a:lnSpc>
                <a:spcPts val="3000"/>
              </a:lnSpc>
              <a:buNone/>
            </a:pPr>
            <a:r>
              <a:rPr lang="en-US" sz="2100" dirty="0">
                <a:solidFill>
                  <a:srgbClr val="374151"/>
                </a:solidFill>
                <a:latin typeface="Calibri" pitchFamily="34" charset="0"/>
                <a:ea typeface="Calibri" pitchFamily="34" charset="-122"/>
                <a:cs typeface="Calibri" pitchFamily="34" charset="-120"/>
              </a:rPr>
              <a:t>When you sit back down, the assessment starts.</a:t>
            </a:r>
            <a:endParaRPr lang="en-US" sz="2100" dirty="0"/>
          </a:p>
          <a:p>
            <a:pPr marL="0" indent="0">
              <a:lnSpc>
                <a:spcPts val="3000"/>
              </a:lnSpc>
              <a:buNone/>
            </a:pPr>
            <a:r>
              <a:rPr lang="en-US" sz="2100" dirty="0">
                <a:solidFill>
                  <a:srgbClr val="374151"/>
                </a:solidFill>
                <a:latin typeface="Calibri" pitchFamily="34" charset="0"/>
                <a:ea typeface="Calibri" pitchFamily="34" charset="-122"/>
                <a:cs typeface="Calibri" pitchFamily="34" charset="-120"/>
              </a:rPr>
              <a:t> </a:t>
            </a:r>
            <a:endParaRPr lang="en-US" sz="2100" dirty="0"/>
          </a:p>
          <a:p>
            <a:pPr marL="0" indent="0">
              <a:lnSpc>
                <a:spcPts val="3000"/>
              </a:lnSpc>
              <a:buNone/>
            </a:pPr>
            <a:r>
              <a:rPr lang="en-US" sz="2100" b="1" dirty="0">
                <a:solidFill>
                  <a:srgbClr val="374151"/>
                </a:solidFill>
                <a:latin typeface="Calibri" pitchFamily="34" charset="0"/>
                <a:ea typeface="Calibri" pitchFamily="34" charset="-122"/>
                <a:cs typeface="Calibri" pitchFamily="34" charset="-120"/>
              </a:rPr>
              <a:t>Have ready: your MakeCode project, your Lesson 2 sprite files, and the fix you just wrote.</a:t>
            </a:r>
            <a:endParaRPr lang="en-US" sz="2100" dirty="0"/>
          </a:p>
        </p:txBody>
      </p:sp>
      <p:sp>
        <p:nvSpPr>
          <p:cNvPr id="11" name="Text 9"/>
          <p:cNvSpPr/>
          <p:nvPr/>
        </p:nvSpPr>
        <p:spPr>
          <a:xfrm>
            <a:off x="640080" y="5120640"/>
            <a:ext cx="10881360" cy="457200"/>
          </a:xfrm>
          <a:prstGeom prst="rect">
            <a:avLst/>
          </a:prstGeom>
          <a:noFill/>
          <a:ln/>
        </p:spPr>
        <p:txBody>
          <a:bodyPr wrap="square" lIns="0" tIns="0" rIns="0" bIns="0" rtlCol="0" anchor="ctr"/>
          <a:lstStyle/>
          <a:p>
            <a:pPr marL="0" indent="0">
              <a:buNone/>
            </a:pPr>
            <a:r>
              <a:rPr lang="en-US" sz="1900" i="1" dirty="0">
                <a:solidFill>
                  <a:srgbClr val="EF4444"/>
                </a:solidFill>
                <a:latin typeface="Calibri" pitchFamily="34" charset="0"/>
                <a:ea typeface="Calibri" pitchFamily="34" charset="-122"/>
                <a:cs typeface="Calibri" pitchFamily="34" charset="-120"/>
              </a:rPr>
              <a:t>If any of those three is missing, tell your teacher now — not in twenty minutes.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CAT 1  ·  ASSESSED</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Studio Time Starts Now</a:t>
            </a:r>
            <a:endParaRPr lang="en-US" sz="3200" dirty="0"/>
          </a:p>
        </p:txBody>
      </p:sp>
      <p:sp>
        <p:nvSpPr>
          <p:cNvPr id="4" name="Shape 2"/>
          <p:cNvSpPr/>
          <p:nvPr/>
        </p:nvSpPr>
        <p:spPr>
          <a:xfrm>
            <a:off x="9646920" y="384048"/>
            <a:ext cx="1874520" cy="402336"/>
          </a:xfrm>
          <a:prstGeom prst="roundRect">
            <a:avLst>
              <a:gd name="adj" fmla="val 18182"/>
            </a:avLst>
          </a:prstGeom>
          <a:solidFill>
            <a:srgbClr val="EF4444"/>
          </a:solidFill>
          <a:ln w="12700">
            <a:solidFill>
              <a:srgbClr val="EF4444"/>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ASSESSED</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Shape 6"/>
          <p:cNvSpPr/>
          <p:nvPr/>
        </p:nvSpPr>
        <p:spPr>
          <a:xfrm>
            <a:off x="640080" y="1371600"/>
            <a:ext cx="10881360" cy="1371600"/>
          </a:xfrm>
          <a:prstGeom prst="roundRect">
            <a:avLst>
              <a:gd name="adj" fmla="val 3333"/>
            </a:avLst>
          </a:prstGeom>
          <a:solidFill>
            <a:srgbClr val="F4F6FA"/>
          </a:solidFill>
          <a:ln w="19050">
            <a:solidFill>
              <a:srgbClr val="EF4444"/>
            </a:solidFill>
            <a:prstDash val="solid"/>
          </a:ln>
          <a:effectLst>
            <a:outerShdw blurRad="76200" dist="12700" dir="5400000" algn="bl" rotWithShape="0">
              <a:srgbClr val="9AA4B2">
                <a:alpha val="18000"/>
              </a:srgbClr>
            </a:outerShdw>
          </a:effectLst>
        </p:spPr>
        <p:txBody>
          <a:bodyPr/>
          <a:lstStyle/>
          <a:p>
            <a:endParaRPr lang="en-AU"/>
          </a:p>
        </p:txBody>
      </p:sp>
      <p:sp>
        <p:nvSpPr>
          <p:cNvPr id="9" name="Text 7"/>
          <p:cNvSpPr/>
          <p:nvPr/>
        </p:nvSpPr>
        <p:spPr>
          <a:xfrm>
            <a:off x="960120" y="1371600"/>
            <a:ext cx="10241280" cy="1371600"/>
          </a:xfrm>
          <a:prstGeom prst="rect">
            <a:avLst/>
          </a:prstGeom>
          <a:noFill/>
          <a:ln/>
        </p:spPr>
        <p:txBody>
          <a:bodyPr wrap="square" lIns="0" tIns="0" rIns="0" bIns="0" rtlCol="0" anchor="ctr"/>
          <a:lstStyle/>
          <a:p>
            <a:pPr marL="0" indent="0">
              <a:lnSpc>
                <a:spcPts val="2600"/>
              </a:lnSpc>
              <a:buNone/>
            </a:pPr>
            <a:r>
              <a:rPr lang="en-US" sz="2000" b="1" dirty="0">
                <a:solidFill>
                  <a:srgbClr val="374151"/>
                </a:solidFill>
                <a:latin typeface="Calibri" pitchFamily="34" charset="0"/>
                <a:ea typeface="Calibri" pitchFamily="34" charset="-122"/>
                <a:cs typeface="Calibri" pitchFamily="34" charset="-120"/>
              </a:rPr>
              <a:t>From here to the end of the lesson, this is CAT 1, Task 1. There's no new instruction — this is checkpointed, teacher-conferenced build time using everything from Lessons 1 to 5.</a:t>
            </a:r>
            <a:endParaRPr lang="en-US" sz="2000" dirty="0"/>
          </a:p>
        </p:txBody>
      </p:sp>
      <p:sp>
        <p:nvSpPr>
          <p:cNvPr id="10" name="Text 8"/>
          <p:cNvSpPr/>
          <p:nvPr/>
        </p:nvSpPr>
        <p:spPr>
          <a:xfrm>
            <a:off x="640080" y="2971800"/>
            <a:ext cx="10881360" cy="45720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Objective for this half: complete your MakeCode tutorial and replace all default art with your own pixel art.</a:t>
            </a:r>
            <a:endParaRPr lang="en-US" sz="1900" dirty="0"/>
          </a:p>
        </p:txBody>
      </p:sp>
      <p:sp>
        <p:nvSpPr>
          <p:cNvPr id="11" name="Shape 9"/>
          <p:cNvSpPr/>
          <p:nvPr/>
        </p:nvSpPr>
        <p:spPr>
          <a:xfrm>
            <a:off x="640080" y="3566160"/>
            <a:ext cx="3383280" cy="1463040"/>
          </a:xfrm>
          <a:prstGeom prst="roundRect">
            <a:avLst>
              <a:gd name="adj" fmla="val 3125"/>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2" name="Text 10"/>
          <p:cNvSpPr/>
          <p:nvPr/>
        </p:nvSpPr>
        <p:spPr>
          <a:xfrm>
            <a:off x="868680" y="3730752"/>
            <a:ext cx="2926080" cy="365760"/>
          </a:xfrm>
          <a:prstGeom prst="rect">
            <a:avLst/>
          </a:prstGeom>
          <a:noFill/>
          <a:ln/>
        </p:spPr>
        <p:txBody>
          <a:bodyPr wrap="square" lIns="0" tIns="0" rIns="0" bIns="0" rtlCol="0" anchor="ctr"/>
          <a:lstStyle/>
          <a:p>
            <a:pPr marL="0" indent="0">
              <a:buNone/>
            </a:pPr>
            <a:r>
              <a:rPr lang="en-US" sz="1800" dirty="0">
                <a:solidFill>
                  <a:srgbClr val="4361EE"/>
                </a:solidFill>
                <a:latin typeface="Bookman Old Style" pitchFamily="34" charset="0"/>
                <a:ea typeface="Bookman Old Style" pitchFamily="34" charset="-122"/>
                <a:cs typeface="Bookman Old Style" pitchFamily="34" charset="-120"/>
              </a:rPr>
              <a:t>Your project</a:t>
            </a:r>
            <a:endParaRPr lang="en-US" sz="1800" dirty="0"/>
          </a:p>
        </p:txBody>
      </p:sp>
      <p:sp>
        <p:nvSpPr>
          <p:cNvPr id="13" name="Text 11"/>
          <p:cNvSpPr/>
          <p:nvPr/>
        </p:nvSpPr>
        <p:spPr>
          <a:xfrm>
            <a:off x="868680" y="4114800"/>
            <a:ext cx="2926080" cy="822960"/>
          </a:xfrm>
          <a:prstGeom prst="rect">
            <a:avLst/>
          </a:prstGeom>
          <a:noFill/>
          <a:ln/>
        </p:spPr>
        <p:txBody>
          <a:bodyPr wrap="square" lIns="0" tIns="0" rIns="0" bIns="0" rtlCol="0" anchor="ctr"/>
          <a:lstStyle/>
          <a:p>
            <a:pPr marL="0" indent="0">
              <a:lnSpc>
                <a:spcPts val="2100"/>
              </a:lnSpc>
              <a:buNone/>
            </a:pPr>
            <a:r>
              <a:rPr lang="en-US" sz="1600" dirty="0">
                <a:solidFill>
                  <a:srgbClr val="374151"/>
                </a:solidFill>
                <a:latin typeface="Calibri" pitchFamily="34" charset="0"/>
                <a:ea typeface="Calibri" pitchFamily="34" charset="-122"/>
                <a:cs typeface="Calibri" pitchFamily="34" charset="-120"/>
              </a:rPr>
              <a:t>The MakeCode file you've built across Lessons 4 and 5</a:t>
            </a:r>
            <a:endParaRPr lang="en-US" sz="1600" dirty="0"/>
          </a:p>
        </p:txBody>
      </p:sp>
      <p:sp>
        <p:nvSpPr>
          <p:cNvPr id="14" name="Shape 12"/>
          <p:cNvSpPr/>
          <p:nvPr/>
        </p:nvSpPr>
        <p:spPr>
          <a:xfrm>
            <a:off x="4297680" y="3566160"/>
            <a:ext cx="3383280" cy="1463040"/>
          </a:xfrm>
          <a:prstGeom prst="roundRect">
            <a:avLst>
              <a:gd name="adj" fmla="val 3125"/>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5" name="Text 13"/>
          <p:cNvSpPr/>
          <p:nvPr/>
        </p:nvSpPr>
        <p:spPr>
          <a:xfrm>
            <a:off x="4526280" y="3730752"/>
            <a:ext cx="2926080" cy="365760"/>
          </a:xfrm>
          <a:prstGeom prst="rect">
            <a:avLst/>
          </a:prstGeom>
          <a:noFill/>
          <a:ln/>
        </p:spPr>
        <p:txBody>
          <a:bodyPr wrap="square" lIns="0" tIns="0" rIns="0" bIns="0" rtlCol="0" anchor="ctr"/>
          <a:lstStyle/>
          <a:p>
            <a:pPr marL="0" indent="0">
              <a:buNone/>
            </a:pPr>
            <a:r>
              <a:rPr lang="en-US" sz="1800" dirty="0">
                <a:solidFill>
                  <a:srgbClr val="4361EE"/>
                </a:solidFill>
                <a:latin typeface="Bookman Old Style" pitchFamily="34" charset="0"/>
                <a:ea typeface="Bookman Old Style" pitchFamily="34" charset="-122"/>
                <a:cs typeface="Bookman Old Style" pitchFamily="34" charset="-120"/>
              </a:rPr>
              <a:t>Your sprite art</a:t>
            </a:r>
            <a:endParaRPr lang="en-US" sz="1800" dirty="0"/>
          </a:p>
        </p:txBody>
      </p:sp>
      <p:sp>
        <p:nvSpPr>
          <p:cNvPr id="16" name="Text 14"/>
          <p:cNvSpPr/>
          <p:nvPr/>
        </p:nvSpPr>
        <p:spPr>
          <a:xfrm>
            <a:off x="4526280" y="4114800"/>
            <a:ext cx="2926080" cy="822960"/>
          </a:xfrm>
          <a:prstGeom prst="rect">
            <a:avLst/>
          </a:prstGeom>
          <a:noFill/>
          <a:ln/>
        </p:spPr>
        <p:txBody>
          <a:bodyPr wrap="square" lIns="0" tIns="0" rIns="0" bIns="0" rtlCol="0" anchor="ctr"/>
          <a:lstStyle/>
          <a:p>
            <a:pPr marL="0" indent="0">
              <a:lnSpc>
                <a:spcPts val="2100"/>
              </a:lnSpc>
              <a:buNone/>
            </a:pPr>
            <a:r>
              <a:rPr lang="en-US" sz="1600" dirty="0">
                <a:solidFill>
                  <a:srgbClr val="374151"/>
                </a:solidFill>
                <a:latin typeface="Calibri" pitchFamily="34" charset="0"/>
                <a:ea typeface="Calibri" pitchFamily="34" charset="-122"/>
                <a:cs typeface="Calibri" pitchFamily="34" charset="-120"/>
              </a:rPr>
              <a:t>The pixel art you made in Lesson 2</a:t>
            </a:r>
            <a:endParaRPr lang="en-US" sz="1600" dirty="0"/>
          </a:p>
        </p:txBody>
      </p:sp>
      <p:sp>
        <p:nvSpPr>
          <p:cNvPr id="17" name="Shape 15"/>
          <p:cNvSpPr/>
          <p:nvPr/>
        </p:nvSpPr>
        <p:spPr>
          <a:xfrm>
            <a:off x="7955280" y="3566160"/>
            <a:ext cx="3383280" cy="1463040"/>
          </a:xfrm>
          <a:prstGeom prst="roundRect">
            <a:avLst>
              <a:gd name="adj" fmla="val 3125"/>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8" name="Text 16"/>
          <p:cNvSpPr/>
          <p:nvPr/>
        </p:nvSpPr>
        <p:spPr>
          <a:xfrm>
            <a:off x="8183880" y="3730752"/>
            <a:ext cx="2926080" cy="365760"/>
          </a:xfrm>
          <a:prstGeom prst="rect">
            <a:avLst/>
          </a:prstGeom>
          <a:noFill/>
          <a:ln/>
        </p:spPr>
        <p:txBody>
          <a:bodyPr wrap="square" lIns="0" tIns="0" rIns="0" bIns="0" rtlCol="0" anchor="ctr"/>
          <a:lstStyle/>
          <a:p>
            <a:pPr marL="0" indent="0">
              <a:buNone/>
            </a:pPr>
            <a:r>
              <a:rPr lang="en-US" sz="1800" dirty="0">
                <a:solidFill>
                  <a:srgbClr val="4361EE"/>
                </a:solidFill>
                <a:latin typeface="Bookman Old Style" pitchFamily="34" charset="0"/>
                <a:ea typeface="Bookman Old Style" pitchFamily="34" charset="-122"/>
                <a:cs typeface="Bookman Old Style" pitchFamily="34" charset="-120"/>
              </a:rPr>
              <a:t>Your proposed fix</a:t>
            </a:r>
            <a:endParaRPr lang="en-US" sz="1800" dirty="0"/>
          </a:p>
        </p:txBody>
      </p:sp>
      <p:sp>
        <p:nvSpPr>
          <p:cNvPr id="19" name="Text 17"/>
          <p:cNvSpPr/>
          <p:nvPr/>
        </p:nvSpPr>
        <p:spPr>
          <a:xfrm>
            <a:off x="8183880" y="4114800"/>
            <a:ext cx="2926080" cy="822960"/>
          </a:xfrm>
          <a:prstGeom prst="rect">
            <a:avLst/>
          </a:prstGeom>
          <a:noFill/>
          <a:ln/>
        </p:spPr>
        <p:txBody>
          <a:bodyPr wrap="square" lIns="0" tIns="0" rIns="0" bIns="0" rtlCol="0" anchor="ctr"/>
          <a:lstStyle/>
          <a:p>
            <a:pPr marL="0" indent="0">
              <a:lnSpc>
                <a:spcPts val="2100"/>
              </a:lnSpc>
              <a:buNone/>
            </a:pPr>
            <a:r>
              <a:rPr lang="en-US" sz="1600" dirty="0">
                <a:solidFill>
                  <a:srgbClr val="374151"/>
                </a:solidFill>
                <a:latin typeface="Calibri" pitchFamily="34" charset="0"/>
                <a:ea typeface="Calibri" pitchFamily="34" charset="-122"/>
                <a:cs typeface="Calibri" pitchFamily="34" charset="-120"/>
              </a:rPr>
              <a:t>The one-sentence modification you wrote earlier today</a:t>
            </a:r>
            <a:endParaRPr lang="en-US" sz="1600" dirty="0"/>
          </a:p>
        </p:txBody>
      </p:sp>
      <p:sp>
        <p:nvSpPr>
          <p:cNvPr id="20" name="Text 18"/>
          <p:cNvSpPr/>
          <p:nvPr/>
        </p:nvSpPr>
        <p:spPr>
          <a:xfrm>
            <a:off x="640080" y="5212080"/>
            <a:ext cx="10881360" cy="411480"/>
          </a:xfrm>
          <a:prstGeom prst="rect">
            <a:avLst/>
          </a:prstGeom>
          <a:noFill/>
          <a:ln/>
        </p:spPr>
        <p:txBody>
          <a:bodyPr wrap="square" lIns="0" tIns="0" rIns="0" bIns="0" rtlCol="0" anchor="ctr"/>
          <a:lstStyle/>
          <a:p>
            <a:pPr marL="0" indent="0">
              <a:buNone/>
            </a:pPr>
            <a:r>
              <a:rPr lang="en-US" sz="1800" i="1" dirty="0">
                <a:solidFill>
                  <a:srgbClr val="374151"/>
                </a:solidFill>
                <a:latin typeface="Calibri" pitchFamily="34" charset="0"/>
                <a:ea typeface="Calibri" pitchFamily="34" charset="-122"/>
                <a:cs typeface="Calibri" pitchFamily="34" charset="-120"/>
              </a:rPr>
              <a:t>You'll need all three across today and Lesson 7.</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STUDIO STRUCTURE</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Today's Two Checkpoints</a:t>
            </a:r>
            <a:endParaRPr lang="en-US" sz="3200" dirty="0"/>
          </a:p>
        </p:txBody>
      </p:sp>
      <p:sp>
        <p:nvSpPr>
          <p:cNvPr id="4" name="Shape 2"/>
          <p:cNvSpPr/>
          <p:nvPr/>
        </p:nvSpPr>
        <p:spPr>
          <a:xfrm>
            <a:off x="9646920" y="384048"/>
            <a:ext cx="1874520" cy="402336"/>
          </a:xfrm>
          <a:prstGeom prst="roundRect">
            <a:avLst>
              <a:gd name="adj" fmla="val 18182"/>
            </a:avLst>
          </a:prstGeom>
          <a:solidFill>
            <a:srgbClr val="EF4444"/>
          </a:solidFill>
          <a:ln w="12700">
            <a:solidFill>
              <a:srgbClr val="EF4444"/>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CHECKPOINTS</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marL="0" indent="0">
              <a:buNone/>
            </a:pPr>
            <a:r>
              <a:rPr lang="en-US" sz="1900" dirty="0">
                <a:solidFill>
                  <a:srgbClr val="374151"/>
                </a:solidFill>
                <a:latin typeface="Calibri" pitchFamily="34" charset="0"/>
                <a:ea typeface="Calibri" pitchFamily="34" charset="-122"/>
                <a:cs typeface="Calibri" pitchFamily="34" charset="-120"/>
              </a:rPr>
              <a:t>Both are short conferences with your teacher. Bring the running game, not a description of it.</a:t>
            </a:r>
            <a:endParaRPr lang="en-US" sz="1900" dirty="0"/>
          </a:p>
        </p:txBody>
      </p:sp>
      <p:sp>
        <p:nvSpPr>
          <p:cNvPr id="9" name="Shape 7"/>
          <p:cNvSpPr/>
          <p:nvPr/>
        </p:nvSpPr>
        <p:spPr>
          <a:xfrm>
            <a:off x="640080" y="1828800"/>
            <a:ext cx="5257800" cy="3108960"/>
          </a:xfrm>
          <a:prstGeom prst="roundRect">
            <a:avLst>
              <a:gd name="adj" fmla="val 1471"/>
            </a:avLst>
          </a:prstGeom>
          <a:solidFill>
            <a:srgbClr val="F4F6FA"/>
          </a:solidFill>
          <a:ln w="19050">
            <a:solidFill>
              <a:srgbClr val="F59E0B"/>
            </a:solidFill>
            <a:prstDash val="solid"/>
          </a:ln>
          <a:effectLst>
            <a:outerShdw blurRad="76200" dist="12700" dir="5400000" algn="bl" rotWithShape="0">
              <a:srgbClr val="9AA4B2">
                <a:alpha val="18000"/>
              </a:srgbClr>
            </a:outerShdw>
          </a:effectLst>
        </p:spPr>
        <p:txBody>
          <a:bodyPr/>
          <a:lstStyle/>
          <a:p>
            <a:endParaRPr lang="en-AU"/>
          </a:p>
        </p:txBody>
      </p:sp>
      <p:sp>
        <p:nvSpPr>
          <p:cNvPr id="10" name="Text 8"/>
          <p:cNvSpPr/>
          <p:nvPr/>
        </p:nvSpPr>
        <p:spPr>
          <a:xfrm>
            <a:off x="914400" y="2011680"/>
            <a:ext cx="4754880" cy="365760"/>
          </a:xfrm>
          <a:prstGeom prst="rect">
            <a:avLst/>
          </a:prstGeom>
          <a:noFill/>
          <a:ln/>
        </p:spPr>
        <p:txBody>
          <a:bodyPr wrap="square" lIns="0" tIns="0" rIns="0" bIns="0" rtlCol="0" anchor="ctr"/>
          <a:lstStyle/>
          <a:p>
            <a:pPr marL="0" indent="0">
              <a:buNone/>
            </a:pPr>
            <a:r>
              <a:rPr lang="en-US" sz="1900" dirty="0">
                <a:solidFill>
                  <a:srgbClr val="8A5A05"/>
                </a:solidFill>
                <a:latin typeface="Bookman Old Style" pitchFamily="34" charset="0"/>
                <a:ea typeface="Bookman Old Style" pitchFamily="34" charset="-122"/>
                <a:cs typeface="Bookman Old Style" pitchFamily="34" charset="-120"/>
              </a:rPr>
              <a:t>Checkpoint A — mid-lesson</a:t>
            </a:r>
            <a:endParaRPr lang="en-US" sz="1900" dirty="0"/>
          </a:p>
        </p:txBody>
      </p:sp>
      <p:sp>
        <p:nvSpPr>
          <p:cNvPr id="11" name="Text 9"/>
          <p:cNvSpPr/>
          <p:nvPr/>
        </p:nvSpPr>
        <p:spPr>
          <a:xfrm>
            <a:off x="914400" y="2468880"/>
            <a:ext cx="4754880" cy="2286000"/>
          </a:xfrm>
          <a:prstGeom prst="rect">
            <a:avLst/>
          </a:prstGeom>
          <a:noFill/>
          <a:ln/>
        </p:spPr>
        <p:txBody>
          <a:bodyPr wrap="square" lIns="0" tIns="0" rIns="0" bIns="0" rtlCol="0" anchor="ctr"/>
          <a:lstStyle/>
          <a:p>
            <a:pPr marL="0" indent="0">
              <a:spcAft>
                <a:spcPts val="600"/>
              </a:spcAft>
              <a:buNone/>
            </a:pPr>
            <a:r>
              <a:rPr lang="en-US" sz="1700" dirty="0">
                <a:solidFill>
                  <a:srgbClr val="374151"/>
                </a:solidFill>
                <a:latin typeface="Calibri" pitchFamily="34" charset="0"/>
                <a:ea typeface="Calibri" pitchFamily="34" charset="-122"/>
                <a:cs typeface="Calibri" pitchFamily="34" charset="-120"/>
              </a:rPr>
              <a:t>Run your game in the simulator for your teacher. Confirms:</a:t>
            </a:r>
            <a:endParaRPr lang="en-US" sz="1700" dirty="0"/>
          </a:p>
          <a:p>
            <a:pPr marL="0" indent="0">
              <a:spcAft>
                <a:spcPts val="600"/>
              </a:spcAft>
              <a:buNone/>
            </a:pPr>
            <a:r>
              <a:rPr lang="en-US" sz="1700" dirty="0">
                <a:solidFill>
                  <a:srgbClr val="374151"/>
                </a:solidFill>
                <a:latin typeface="Calibri" pitchFamily="34" charset="0"/>
                <a:ea typeface="Calibri" pitchFamily="34" charset="-122"/>
                <a:cs typeface="Calibri" pitchFamily="34" charset="-120"/>
              </a:rPr>
              <a:t> </a:t>
            </a:r>
            <a:endParaRPr lang="en-US" sz="1700" dirty="0"/>
          </a:p>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Tutorial logic is intact and runs without errors</a:t>
            </a:r>
            <a:endParaRPr lang="en-US" sz="1700" dirty="0"/>
          </a:p>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At least the player sprite is your own art</a:t>
            </a:r>
            <a:endParaRPr lang="en-US" sz="1700" dirty="0"/>
          </a:p>
        </p:txBody>
      </p:sp>
      <p:sp>
        <p:nvSpPr>
          <p:cNvPr id="12" name="Shape 10"/>
          <p:cNvSpPr/>
          <p:nvPr/>
        </p:nvSpPr>
        <p:spPr>
          <a:xfrm>
            <a:off x="6263640" y="1828800"/>
            <a:ext cx="5257800" cy="3108960"/>
          </a:xfrm>
          <a:prstGeom prst="roundRect">
            <a:avLst>
              <a:gd name="adj" fmla="val 1471"/>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3" name="Text 11"/>
          <p:cNvSpPr/>
          <p:nvPr/>
        </p:nvSpPr>
        <p:spPr>
          <a:xfrm>
            <a:off x="6537960" y="2011680"/>
            <a:ext cx="4754880" cy="365760"/>
          </a:xfrm>
          <a:prstGeom prst="rect">
            <a:avLst/>
          </a:prstGeom>
          <a:noFill/>
          <a:ln/>
        </p:spPr>
        <p:txBody>
          <a:bodyPr wrap="square" lIns="0" tIns="0" rIns="0" bIns="0" rtlCol="0" anchor="ctr"/>
          <a:lstStyle/>
          <a:p>
            <a:pPr marL="0" indent="0">
              <a:buNone/>
            </a:pPr>
            <a:r>
              <a:rPr lang="en-US" sz="1900" dirty="0">
                <a:solidFill>
                  <a:srgbClr val="10B981"/>
                </a:solidFill>
                <a:latin typeface="Bookman Old Style" pitchFamily="34" charset="0"/>
                <a:ea typeface="Bookman Old Style" pitchFamily="34" charset="-122"/>
                <a:cs typeface="Bookman Old Style" pitchFamily="34" charset="-120"/>
              </a:rPr>
              <a:t>Checkpoint B — end of lesson</a:t>
            </a:r>
            <a:endParaRPr lang="en-US" sz="1900" dirty="0"/>
          </a:p>
        </p:txBody>
      </p:sp>
      <p:sp>
        <p:nvSpPr>
          <p:cNvPr id="14" name="Text 12"/>
          <p:cNvSpPr/>
          <p:nvPr/>
        </p:nvSpPr>
        <p:spPr>
          <a:xfrm>
            <a:off x="6537960" y="2468880"/>
            <a:ext cx="4754880" cy="2286000"/>
          </a:xfrm>
          <a:prstGeom prst="rect">
            <a:avLst/>
          </a:prstGeom>
          <a:noFill/>
          <a:ln/>
        </p:spPr>
        <p:txBody>
          <a:bodyPr wrap="square" lIns="0" tIns="0" rIns="0" bIns="0" rtlCol="0" anchor="ctr"/>
          <a:lstStyle/>
          <a:p>
            <a:pPr marL="0" indent="0">
              <a:spcAft>
                <a:spcPts val="600"/>
              </a:spcAft>
              <a:buNone/>
            </a:pPr>
            <a:r>
              <a:rPr lang="en-US" sz="1700" dirty="0">
                <a:solidFill>
                  <a:srgbClr val="374151"/>
                </a:solidFill>
                <a:latin typeface="Calibri" pitchFamily="34" charset="0"/>
                <a:ea typeface="Calibri" pitchFamily="34" charset="-122"/>
                <a:cs typeface="Calibri" pitchFamily="34" charset="-120"/>
              </a:rPr>
              <a:t>Second short conference. Confirms:</a:t>
            </a:r>
            <a:endParaRPr lang="en-US" sz="1700" dirty="0"/>
          </a:p>
          <a:p>
            <a:pPr marL="0" indent="0">
              <a:spcAft>
                <a:spcPts val="600"/>
              </a:spcAft>
              <a:buNone/>
            </a:pPr>
            <a:r>
              <a:rPr lang="en-US" sz="1700" dirty="0">
                <a:solidFill>
                  <a:srgbClr val="374151"/>
                </a:solidFill>
                <a:latin typeface="Calibri" pitchFamily="34" charset="0"/>
                <a:ea typeface="Calibri" pitchFamily="34" charset="-122"/>
                <a:cs typeface="Calibri" pitchFamily="34" charset="-120"/>
              </a:rPr>
              <a:t> </a:t>
            </a:r>
            <a:endParaRPr lang="en-US" sz="1700" dirty="0"/>
          </a:p>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Player, enemy or collectible, and background are all original art</a:t>
            </a:r>
            <a:endParaRPr lang="en-US" sz="1700" dirty="0"/>
          </a:p>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The game still runs without errors</a:t>
            </a:r>
            <a:endParaRPr lang="en-US" sz="1700" dirty="0"/>
          </a:p>
        </p:txBody>
      </p:sp>
      <p:sp>
        <p:nvSpPr>
          <p:cNvPr id="15" name="Text 13"/>
          <p:cNvSpPr/>
          <p:nvPr/>
        </p:nvSpPr>
        <p:spPr>
          <a:xfrm>
            <a:off x="640080" y="5120640"/>
            <a:ext cx="10881360" cy="457200"/>
          </a:xfrm>
          <a:prstGeom prst="rect">
            <a:avLst/>
          </a:prstGeom>
          <a:noFill/>
          <a:ln/>
        </p:spPr>
        <p:txBody>
          <a:bodyPr wrap="square" lIns="0" tIns="0" rIns="0" bIns="0" rtlCol="0" anchor="ctr"/>
          <a:lstStyle/>
          <a:p>
            <a:pPr marL="0" indent="0">
              <a:buNone/>
            </a:pPr>
            <a:r>
              <a:rPr lang="en-US" sz="1800" b="1" dirty="0">
                <a:solidFill>
                  <a:srgbClr val="4361EE"/>
                </a:solidFill>
                <a:latin typeface="Calibri" pitchFamily="34" charset="0"/>
                <a:ea typeface="Calibri" pitchFamily="34" charset="-122"/>
                <a:cs typeface="Calibri" pitchFamily="34" charset="-120"/>
              </a:rPr>
              <a:t>➜  Self-check both boxes in your workbook — Section 5 — before you come to each conference.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Rubric — Today's Two Criteria</a:t>
            </a:r>
            <a:endParaRPr lang="en-US" sz="3200" dirty="0"/>
          </a:p>
        </p:txBody>
      </p:sp>
      <p:sp>
        <p:nvSpPr>
          <p:cNvPr id="4" name="Shape 2"/>
          <p:cNvSpPr/>
          <p:nvPr/>
        </p:nvSpPr>
        <p:spPr>
          <a:xfrm>
            <a:off x="9646920" y="384048"/>
            <a:ext cx="1874520" cy="402336"/>
          </a:xfrm>
          <a:prstGeom prst="roundRect">
            <a:avLst>
              <a:gd name="adj" fmla="val 18182"/>
            </a:avLst>
          </a:prstGeom>
          <a:solidFill>
            <a:srgbClr val="EF4444"/>
          </a:solidFill>
          <a:ln w="12700">
            <a:solidFill>
              <a:srgbClr val="EF4444"/>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RUBRIC</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3154680"/>
        </p:xfrm>
        <a:graphic>
          <a:graphicData uri="http://schemas.openxmlformats.org/drawingml/2006/table">
            <a:tbl>
              <a:tblPr/>
              <a:tblGrid>
                <a:gridCol w="27432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1051560">
                <a:tc>
                  <a:txBody>
                    <a:bodyPr/>
                    <a:lstStyle/>
                    <a:p>
                      <a:pPr marL="0" indent="0">
                        <a:buNone/>
                      </a:pPr>
                      <a:r>
                        <a:rPr lang="en-US" sz="1700" b="1" dirty="0">
                          <a:solidFill>
                            <a:srgbClr val="374151"/>
                          </a:solidFill>
                          <a:latin typeface="Calibri" pitchFamily="34" charset="0"/>
                          <a:ea typeface="Calibri" pitchFamily="34" charset="-122"/>
                          <a:cs typeface="Calibri" pitchFamily="34" charset="-120"/>
                        </a:rPr>
                        <a:t>Criterion</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b="1" dirty="0">
                          <a:solidFill>
                            <a:srgbClr val="374151"/>
                          </a:solidFill>
                          <a:latin typeface="Calibri" pitchFamily="34" charset="0"/>
                          <a:ea typeface="Calibri" pitchFamily="34" charset="-122"/>
                          <a:cs typeface="Calibri" pitchFamily="34" charset="-120"/>
                        </a:rPr>
                        <a:t>🟢 Foundation</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b="1" dirty="0">
                          <a:solidFill>
                            <a:srgbClr val="374151"/>
                          </a:solidFill>
                          <a:latin typeface="Calibri" pitchFamily="34" charset="0"/>
                          <a:ea typeface="Calibri" pitchFamily="34" charset="-122"/>
                          <a:cs typeface="Calibri" pitchFamily="34" charset="-120"/>
                        </a:rPr>
                        <a:t>🟡 Developing</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b="1" dirty="0">
                          <a:solidFill>
                            <a:srgbClr val="374151"/>
                          </a:solidFill>
                          <a:latin typeface="Calibri" pitchFamily="34" charset="0"/>
                          <a:ea typeface="Calibri" pitchFamily="34" charset="-122"/>
                          <a:cs typeface="Calibri" pitchFamily="34" charset="-120"/>
                        </a:rPr>
                        <a:t>🟣 Extending</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51560">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Tutorial completion &amp; functionality</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Runs, but with bugs or missing steps</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Completed and runs correctly start to finish</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Runs correctly with extra polish beyond the tutorial</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1560">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Custom visual assets</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Some default art replaced</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All required elements use original art</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700" dirty="0">
                          <a:solidFill>
                            <a:srgbClr val="374151"/>
                          </a:solidFill>
                          <a:latin typeface="Calibri" pitchFamily="34" charset="0"/>
                          <a:ea typeface="Calibri" pitchFamily="34" charset="-122"/>
                          <a:cs typeface="Calibri" pitchFamily="34" charset="-120"/>
                        </a:rPr>
                        <a:t>Art is cohesive and reflects the game's identity</a:t>
                      </a:r>
                      <a:endParaRPr lang="en-US" sz="1700" dirty="0">
                        <a:latin typeface="Calibri" charset="0"/>
                        <a:ea typeface="Calibri" charset="0"/>
                        <a:cs typeface="Calibri" charset="0"/>
                      </a:endParaRPr>
                    </a:p>
                  </a:txBody>
                  <a:tcPr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Shape 6"/>
          <p:cNvSpPr/>
          <p:nvPr/>
        </p:nvSpPr>
        <p:spPr>
          <a:xfrm>
            <a:off x="640080" y="4846320"/>
            <a:ext cx="10881360" cy="1051560"/>
          </a:xfrm>
          <a:prstGeom prst="roundRect">
            <a:avLst>
              <a:gd name="adj" fmla="val 4348"/>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0" name="Text 7"/>
          <p:cNvSpPr/>
          <p:nvPr/>
        </p:nvSpPr>
        <p:spPr>
          <a:xfrm>
            <a:off x="914400" y="4846320"/>
            <a:ext cx="10332720" cy="1051560"/>
          </a:xfrm>
          <a:prstGeom prst="rect">
            <a:avLst/>
          </a:prstGeom>
          <a:noFill/>
          <a:ln/>
        </p:spPr>
        <p:txBody>
          <a:bodyPr wrap="square" lIns="0" tIns="0" rIns="0" bIns="0" rtlCol="0" anchor="ctr"/>
          <a:lstStyle/>
          <a:p>
            <a:pPr marL="0" indent="0">
              <a:lnSpc>
                <a:spcPts val="2400"/>
              </a:lnSpc>
              <a:buNone/>
            </a:pPr>
            <a:r>
              <a:rPr lang="en-US" sz="1800" dirty="0">
                <a:solidFill>
                  <a:srgbClr val="374151"/>
                </a:solidFill>
                <a:latin typeface="Calibri" pitchFamily="34" charset="0"/>
                <a:ea typeface="Calibri" pitchFamily="34" charset="-122"/>
                <a:cs typeface="Calibri" pitchFamily="34" charset="-120"/>
              </a:rPr>
              <a:t>The full rubric — all six criteria — is on the CAT Task Sheet. The other four are assessed next lesson, when you build your modification and make your poster.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STUDIO TIME</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Build &amp; Reskin</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WORK TIME</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Shape 6"/>
          <p:cNvSpPr/>
          <p:nvPr/>
        </p:nvSpPr>
        <p:spPr>
          <a:xfrm>
            <a:off x="640080" y="1417320"/>
            <a:ext cx="10881360" cy="914400"/>
          </a:xfrm>
          <a:prstGeom prst="roundRect">
            <a:avLst>
              <a:gd name="adj" fmla="val 500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9" name="Shape 7"/>
          <p:cNvSpPr/>
          <p:nvPr/>
        </p:nvSpPr>
        <p:spPr>
          <a:xfrm>
            <a:off x="868680" y="1645920"/>
            <a:ext cx="457200" cy="457200"/>
          </a:xfrm>
          <a:prstGeom prst="ellipse">
            <a:avLst/>
          </a:prstGeom>
          <a:solidFill>
            <a:srgbClr val="10B981"/>
          </a:solidFill>
          <a:ln w="12700">
            <a:solidFill>
              <a:srgbClr val="10B981"/>
            </a:solidFill>
            <a:prstDash val="solid"/>
          </a:ln>
        </p:spPr>
        <p:txBody>
          <a:bodyPr/>
          <a:lstStyle/>
          <a:p>
            <a:endParaRPr lang="en-AU"/>
          </a:p>
        </p:txBody>
      </p:sp>
      <p:sp>
        <p:nvSpPr>
          <p:cNvPr id="10" name="Text 8"/>
          <p:cNvSpPr/>
          <p:nvPr/>
        </p:nvSpPr>
        <p:spPr>
          <a:xfrm>
            <a:off x="868680" y="164592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1" name="Text 9"/>
          <p:cNvSpPr/>
          <p:nvPr/>
        </p:nvSpPr>
        <p:spPr>
          <a:xfrm>
            <a:off x="1508760" y="1417320"/>
            <a:ext cx="3657600" cy="91440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Finish your tutorial</a:t>
            </a:r>
            <a:endParaRPr lang="en-US" sz="1900" dirty="0"/>
          </a:p>
        </p:txBody>
      </p:sp>
      <p:sp>
        <p:nvSpPr>
          <p:cNvPr id="12" name="Text 10"/>
          <p:cNvSpPr/>
          <p:nvPr/>
        </p:nvSpPr>
        <p:spPr>
          <a:xfrm>
            <a:off x="5212080" y="1417320"/>
            <a:ext cx="5943600" cy="91440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If it isn't complete, this comes first. Everything else depends on a running game.</a:t>
            </a:r>
            <a:endParaRPr lang="en-US" sz="1700" dirty="0"/>
          </a:p>
        </p:txBody>
      </p:sp>
      <p:sp>
        <p:nvSpPr>
          <p:cNvPr id="13" name="Shape 11"/>
          <p:cNvSpPr/>
          <p:nvPr/>
        </p:nvSpPr>
        <p:spPr>
          <a:xfrm>
            <a:off x="640080" y="2468880"/>
            <a:ext cx="10881360" cy="914400"/>
          </a:xfrm>
          <a:prstGeom prst="roundRect">
            <a:avLst>
              <a:gd name="adj" fmla="val 500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4" name="Shape 12"/>
          <p:cNvSpPr/>
          <p:nvPr/>
        </p:nvSpPr>
        <p:spPr>
          <a:xfrm>
            <a:off x="868680" y="2697480"/>
            <a:ext cx="457200" cy="457200"/>
          </a:xfrm>
          <a:prstGeom prst="ellipse">
            <a:avLst/>
          </a:prstGeom>
          <a:solidFill>
            <a:srgbClr val="10B981"/>
          </a:solidFill>
          <a:ln w="12700">
            <a:solidFill>
              <a:srgbClr val="10B981"/>
            </a:solidFill>
            <a:prstDash val="solid"/>
          </a:ln>
        </p:spPr>
        <p:txBody>
          <a:bodyPr/>
          <a:lstStyle/>
          <a:p>
            <a:endParaRPr lang="en-AU"/>
          </a:p>
        </p:txBody>
      </p:sp>
      <p:sp>
        <p:nvSpPr>
          <p:cNvPr id="15" name="Text 13"/>
          <p:cNvSpPr/>
          <p:nvPr/>
        </p:nvSpPr>
        <p:spPr>
          <a:xfrm>
            <a:off x="868680" y="26974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Text 14"/>
          <p:cNvSpPr/>
          <p:nvPr/>
        </p:nvSpPr>
        <p:spPr>
          <a:xfrm>
            <a:off x="1508760" y="2468880"/>
            <a:ext cx="3657600" cy="91440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Replace every default sprite</a:t>
            </a:r>
            <a:endParaRPr lang="en-US" sz="1900" dirty="0"/>
          </a:p>
        </p:txBody>
      </p:sp>
      <p:sp>
        <p:nvSpPr>
          <p:cNvPr id="17" name="Text 15"/>
          <p:cNvSpPr/>
          <p:nvPr/>
        </p:nvSpPr>
        <p:spPr>
          <a:xfrm>
            <a:off x="5212080" y="2468880"/>
            <a:ext cx="5943600" cy="91440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Player, enemy or collectible, background. Work through them systematically.</a:t>
            </a:r>
            <a:endParaRPr lang="en-US" sz="1700" dirty="0"/>
          </a:p>
        </p:txBody>
      </p:sp>
      <p:sp>
        <p:nvSpPr>
          <p:cNvPr id="18" name="Shape 16"/>
          <p:cNvSpPr/>
          <p:nvPr/>
        </p:nvSpPr>
        <p:spPr>
          <a:xfrm>
            <a:off x="640080" y="3520440"/>
            <a:ext cx="10881360" cy="914400"/>
          </a:xfrm>
          <a:prstGeom prst="roundRect">
            <a:avLst>
              <a:gd name="adj" fmla="val 500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19" name="Shape 17"/>
          <p:cNvSpPr/>
          <p:nvPr/>
        </p:nvSpPr>
        <p:spPr>
          <a:xfrm>
            <a:off x="868680" y="3749040"/>
            <a:ext cx="457200" cy="457200"/>
          </a:xfrm>
          <a:prstGeom prst="ellipse">
            <a:avLst/>
          </a:prstGeom>
          <a:solidFill>
            <a:srgbClr val="10B981"/>
          </a:solidFill>
          <a:ln w="12700">
            <a:solidFill>
              <a:srgbClr val="10B981"/>
            </a:solidFill>
            <a:prstDash val="solid"/>
          </a:ln>
        </p:spPr>
        <p:txBody>
          <a:bodyPr/>
          <a:lstStyle/>
          <a:p>
            <a:endParaRPr lang="en-AU"/>
          </a:p>
        </p:txBody>
      </p:sp>
      <p:sp>
        <p:nvSpPr>
          <p:cNvPr id="20" name="Text 18"/>
          <p:cNvSpPr/>
          <p:nvPr/>
        </p:nvSpPr>
        <p:spPr>
          <a:xfrm>
            <a:off x="868680" y="37490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1" name="Text 19"/>
          <p:cNvSpPr/>
          <p:nvPr/>
        </p:nvSpPr>
        <p:spPr>
          <a:xfrm>
            <a:off x="1508760" y="3520440"/>
            <a:ext cx="3657600" cy="91440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Test after every replacement</a:t>
            </a:r>
            <a:endParaRPr lang="en-US" sz="1900" dirty="0"/>
          </a:p>
        </p:txBody>
      </p:sp>
      <p:sp>
        <p:nvSpPr>
          <p:cNvPr id="22" name="Text 20"/>
          <p:cNvSpPr/>
          <p:nvPr/>
        </p:nvSpPr>
        <p:spPr>
          <a:xfrm>
            <a:off x="5212080" y="3520440"/>
            <a:ext cx="5943600" cy="91440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One change, then run it. Don't swap five sprites and then wonder which broke it.</a:t>
            </a:r>
            <a:endParaRPr lang="en-US" sz="1700" dirty="0"/>
          </a:p>
        </p:txBody>
      </p:sp>
      <p:sp>
        <p:nvSpPr>
          <p:cNvPr id="23" name="Shape 21"/>
          <p:cNvSpPr/>
          <p:nvPr/>
        </p:nvSpPr>
        <p:spPr>
          <a:xfrm>
            <a:off x="640080" y="4572000"/>
            <a:ext cx="10881360" cy="914400"/>
          </a:xfrm>
          <a:prstGeom prst="roundRect">
            <a:avLst>
              <a:gd name="adj" fmla="val 5000"/>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24" name="Shape 22"/>
          <p:cNvSpPr/>
          <p:nvPr/>
        </p:nvSpPr>
        <p:spPr>
          <a:xfrm>
            <a:off x="868680" y="4800600"/>
            <a:ext cx="457200" cy="457200"/>
          </a:xfrm>
          <a:prstGeom prst="ellipse">
            <a:avLst/>
          </a:prstGeom>
          <a:solidFill>
            <a:srgbClr val="10B981"/>
          </a:solidFill>
          <a:ln w="12700">
            <a:solidFill>
              <a:srgbClr val="10B981"/>
            </a:solidFill>
            <a:prstDash val="solid"/>
          </a:ln>
        </p:spPr>
        <p:txBody>
          <a:bodyPr/>
          <a:lstStyle/>
          <a:p>
            <a:endParaRPr lang="en-AU"/>
          </a:p>
        </p:txBody>
      </p:sp>
      <p:sp>
        <p:nvSpPr>
          <p:cNvPr id="25" name="Text 23"/>
          <p:cNvSpPr/>
          <p:nvPr/>
        </p:nvSpPr>
        <p:spPr>
          <a:xfrm>
            <a:off x="868680" y="480060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6" name="Text 24"/>
          <p:cNvSpPr/>
          <p:nvPr/>
        </p:nvSpPr>
        <p:spPr>
          <a:xfrm>
            <a:off x="1508760" y="4572000"/>
            <a:ext cx="3657600" cy="914400"/>
          </a:xfrm>
          <a:prstGeom prst="rect">
            <a:avLst/>
          </a:prstGeom>
          <a:noFill/>
          <a:ln/>
        </p:spPr>
        <p:txBody>
          <a:bodyPr wrap="square" lIns="0" tIns="0" rIns="0" bIns="0" rtlCol="0" anchor="ctr"/>
          <a:lstStyle/>
          <a:p>
            <a:pPr marL="0" indent="0">
              <a:buNone/>
            </a:pPr>
            <a:r>
              <a:rPr lang="en-US" sz="1900" b="1" dirty="0">
                <a:solidFill>
                  <a:srgbClr val="111827"/>
                </a:solidFill>
                <a:latin typeface="Calibri" pitchFamily="34" charset="0"/>
                <a:ea typeface="Calibri" pitchFamily="34" charset="-122"/>
                <a:cs typeface="Calibri" pitchFamily="34" charset="-120"/>
              </a:rPr>
              <a:t>Save often, and save at the end</a:t>
            </a:r>
            <a:endParaRPr lang="en-US" sz="1900" dirty="0"/>
          </a:p>
        </p:txBody>
      </p:sp>
      <p:sp>
        <p:nvSpPr>
          <p:cNvPr id="27" name="Text 25"/>
          <p:cNvSpPr/>
          <p:nvPr/>
        </p:nvSpPr>
        <p:spPr>
          <a:xfrm>
            <a:off x="5212080" y="4572000"/>
            <a:ext cx="5943600" cy="914400"/>
          </a:xfrm>
          <a:prstGeom prst="rect">
            <a:avLst/>
          </a:prstGeom>
          <a:noFill/>
          <a:ln/>
        </p:spPr>
        <p:txBody>
          <a:bodyPr wrap="square" lIns="0" tIns="0" rIns="0" bIns="0" rtlCol="0" anchor="ctr"/>
          <a:lstStyle/>
          <a:p>
            <a:pPr marL="0" indent="0">
              <a:buNone/>
            </a:pPr>
            <a:r>
              <a:rPr lang="en-US" sz="1700" dirty="0">
                <a:solidFill>
                  <a:srgbClr val="374151"/>
                </a:solidFill>
                <a:latin typeface="Calibri" pitchFamily="34" charset="0"/>
                <a:ea typeface="Calibri" pitchFamily="34" charset="-122"/>
                <a:cs typeface="Calibri" pitchFamily="34" charset="-120"/>
              </a:rPr>
              <a:t>Under a name you'll recognise next lesson.</a:t>
            </a:r>
            <a:endParaRPr lang="en-US" sz="1700" dirty="0"/>
          </a:p>
        </p:txBody>
      </p:sp>
      <p:sp>
        <p:nvSpPr>
          <p:cNvPr id="28" name="Shape 26"/>
          <p:cNvSpPr/>
          <p:nvPr/>
        </p:nvSpPr>
        <p:spPr>
          <a:xfrm>
            <a:off x="640080" y="5687568"/>
            <a:ext cx="10881360" cy="457200"/>
          </a:xfrm>
          <a:prstGeom prst="roundRect">
            <a:avLst>
              <a:gd name="adj" fmla="val 10000"/>
            </a:avLst>
          </a:prstGeom>
          <a:solidFill>
            <a:srgbClr val="F4F6FA"/>
          </a:solidFill>
          <a:ln w="19050">
            <a:solidFill>
              <a:srgbClr val="8B5CF6"/>
            </a:solidFill>
            <a:prstDash val="solid"/>
          </a:ln>
          <a:effectLst>
            <a:outerShdw blurRad="76200" dist="12700" dir="5400000" algn="bl" rotWithShape="0">
              <a:srgbClr val="9AA4B2">
                <a:alpha val="18000"/>
              </a:srgbClr>
            </a:outerShdw>
          </a:effectLst>
        </p:spPr>
        <p:txBody>
          <a:bodyPr/>
          <a:lstStyle/>
          <a:p>
            <a:endParaRPr lang="en-AU"/>
          </a:p>
        </p:txBody>
      </p:sp>
      <p:sp>
        <p:nvSpPr>
          <p:cNvPr id="29" name="Text 27"/>
          <p:cNvSpPr/>
          <p:nvPr/>
        </p:nvSpPr>
        <p:spPr>
          <a:xfrm>
            <a:off x="868680" y="5687568"/>
            <a:ext cx="10424160" cy="457200"/>
          </a:xfrm>
          <a:prstGeom prst="rect">
            <a:avLst/>
          </a:prstGeom>
          <a:noFill/>
          <a:ln/>
        </p:spPr>
        <p:txBody>
          <a:bodyPr wrap="square" lIns="0" tIns="0" rIns="0" bIns="0" rtlCol="0" anchor="ctr"/>
          <a:lstStyle/>
          <a:p>
            <a:pPr marL="0" indent="0">
              <a:buNone/>
            </a:pPr>
            <a:r>
              <a:rPr lang="en-US" sz="1600" b="1" dirty="0">
                <a:solidFill>
                  <a:srgbClr val="8B5CF6"/>
                </a:solidFill>
                <a:latin typeface="Calibri" pitchFamily="34" charset="0"/>
                <a:ea typeface="Calibri" pitchFamily="34" charset="-122"/>
                <a:cs typeface="Calibri" pitchFamily="34" charset="-120"/>
              </a:rPr>
              <a:t>Finished early? Sketch your modification plan in Section 6 — but do NOT start building it. Lesson 7 is dedicated to that.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Exit Ticket</a:t>
            </a:r>
            <a:endParaRPr lang="en-US" sz="3200" dirty="0"/>
          </a:p>
        </p:txBody>
      </p:sp>
      <p:sp>
        <p:nvSpPr>
          <p:cNvPr id="4" name="Shape 2"/>
          <p:cNvSpPr/>
          <p:nvPr/>
        </p:nvSpPr>
        <p:spPr>
          <a:xfrm>
            <a:off x="9646920" y="384048"/>
            <a:ext cx="1874520" cy="402336"/>
          </a:xfrm>
          <a:prstGeom prst="roundRect">
            <a:avLst>
              <a:gd name="adj" fmla="val 18182"/>
            </a:avLst>
          </a:prstGeom>
          <a:solidFill>
            <a:srgbClr val="EF4444"/>
          </a:solidFill>
          <a:ln w="12700">
            <a:solidFill>
              <a:srgbClr val="EF4444"/>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EXIT</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marL="0" indent="0">
              <a:buNone/>
            </a:pPr>
            <a:r>
              <a:rPr lang="en-US" sz="1900" dirty="0">
                <a:solidFill>
                  <a:srgbClr val="374151"/>
                </a:solidFill>
                <a:latin typeface="Calibri" pitchFamily="34" charset="0"/>
                <a:ea typeface="Calibri" pitchFamily="34" charset="-122"/>
                <a:cs typeface="Calibri" pitchFamily="34" charset="-120"/>
              </a:rPr>
              <a:t>Workbook Section 8 — before you pack up.</a:t>
            </a:r>
            <a:endParaRPr lang="en-US" sz="1900" dirty="0"/>
          </a:p>
        </p:txBody>
      </p:sp>
      <p:sp>
        <p:nvSpPr>
          <p:cNvPr id="9" name="Shape 7"/>
          <p:cNvSpPr/>
          <p:nvPr/>
        </p:nvSpPr>
        <p:spPr>
          <a:xfrm>
            <a:off x="640080" y="1874520"/>
            <a:ext cx="10881360" cy="868680"/>
          </a:xfrm>
          <a:prstGeom prst="roundRect">
            <a:avLst>
              <a:gd name="adj" fmla="val 5263"/>
            </a:avLst>
          </a:prstGeom>
          <a:solidFill>
            <a:srgbClr val="F4F6FA"/>
          </a:solidFill>
          <a:ln w="19050">
            <a:solidFill>
              <a:srgbClr val="EF4444"/>
            </a:solidFill>
            <a:prstDash val="solid"/>
          </a:ln>
          <a:effectLst>
            <a:outerShdw blurRad="76200" dist="12700" dir="5400000" algn="bl" rotWithShape="0">
              <a:srgbClr val="9AA4B2">
                <a:alpha val="18000"/>
              </a:srgbClr>
            </a:outerShdw>
          </a:effectLst>
        </p:spPr>
        <p:txBody>
          <a:bodyPr/>
          <a:lstStyle/>
          <a:p>
            <a:endParaRPr lang="en-AU"/>
          </a:p>
        </p:txBody>
      </p:sp>
      <p:sp>
        <p:nvSpPr>
          <p:cNvPr id="10" name="Text 8"/>
          <p:cNvSpPr/>
          <p:nvPr/>
        </p:nvSpPr>
        <p:spPr>
          <a:xfrm>
            <a:off x="960120" y="1874520"/>
            <a:ext cx="10241280" cy="868680"/>
          </a:xfrm>
          <a:prstGeom prst="rect">
            <a:avLst/>
          </a:prstGeom>
          <a:noFill/>
          <a:ln/>
        </p:spPr>
        <p:txBody>
          <a:bodyPr wrap="square" lIns="0" tIns="0" rIns="0" bIns="0" rtlCol="0" anchor="ctr"/>
          <a:lstStyle/>
          <a:p>
            <a:pPr marL="0" indent="0">
              <a:buNone/>
            </a:pPr>
            <a:r>
              <a:rPr lang="en-US" sz="2000" dirty="0">
                <a:solidFill>
                  <a:srgbClr val="374151"/>
                </a:solidFill>
                <a:latin typeface="Calibri" pitchFamily="34" charset="0"/>
                <a:ea typeface="Calibri" pitchFamily="34" charset="-122"/>
                <a:cs typeface="Calibri" pitchFamily="34" charset="-120"/>
              </a:rPr>
              <a:t>1.  Name all four critique criteria from memory.</a:t>
            </a:r>
            <a:endParaRPr lang="en-US" sz="2000" dirty="0"/>
          </a:p>
        </p:txBody>
      </p:sp>
      <p:sp>
        <p:nvSpPr>
          <p:cNvPr id="11" name="Shape 9"/>
          <p:cNvSpPr/>
          <p:nvPr/>
        </p:nvSpPr>
        <p:spPr>
          <a:xfrm>
            <a:off x="640080" y="2926080"/>
            <a:ext cx="10881360" cy="868680"/>
          </a:xfrm>
          <a:prstGeom prst="roundRect">
            <a:avLst>
              <a:gd name="adj" fmla="val 5263"/>
            </a:avLst>
          </a:prstGeom>
          <a:solidFill>
            <a:srgbClr val="F4F6FA"/>
          </a:solidFill>
          <a:ln w="19050">
            <a:solidFill>
              <a:srgbClr val="EF4444"/>
            </a:solidFill>
            <a:prstDash val="solid"/>
          </a:ln>
          <a:effectLst>
            <a:outerShdw blurRad="76200" dist="12700" dir="5400000" algn="bl" rotWithShape="0">
              <a:srgbClr val="9AA4B2">
                <a:alpha val="18000"/>
              </a:srgbClr>
            </a:outerShdw>
          </a:effectLst>
        </p:spPr>
        <p:txBody>
          <a:bodyPr/>
          <a:lstStyle/>
          <a:p>
            <a:endParaRPr lang="en-AU"/>
          </a:p>
        </p:txBody>
      </p:sp>
      <p:sp>
        <p:nvSpPr>
          <p:cNvPr id="12" name="Text 10"/>
          <p:cNvSpPr/>
          <p:nvPr/>
        </p:nvSpPr>
        <p:spPr>
          <a:xfrm>
            <a:off x="960120" y="2926080"/>
            <a:ext cx="10241280" cy="868680"/>
          </a:xfrm>
          <a:prstGeom prst="rect">
            <a:avLst/>
          </a:prstGeom>
          <a:noFill/>
          <a:ln/>
        </p:spPr>
        <p:txBody>
          <a:bodyPr wrap="square" lIns="0" tIns="0" rIns="0" bIns="0" rtlCol="0" anchor="ctr"/>
          <a:lstStyle/>
          <a:p>
            <a:pPr marL="0" indent="0">
              <a:buNone/>
            </a:pPr>
            <a:r>
              <a:rPr lang="en-US" sz="2000" dirty="0">
                <a:solidFill>
                  <a:srgbClr val="374151"/>
                </a:solidFill>
                <a:latin typeface="Calibri" pitchFamily="34" charset="0"/>
                <a:ea typeface="Calibri" pitchFamily="34" charset="-122"/>
                <a:cs typeface="Calibri" pitchFamily="34" charset="-120"/>
              </a:rPr>
              <a:t>2.  What's the change you're planning for the CAT, and which criterion does it improve?</a:t>
            </a:r>
            <a:endParaRPr lang="en-US" sz="2000" dirty="0"/>
          </a:p>
        </p:txBody>
      </p:sp>
      <p:sp>
        <p:nvSpPr>
          <p:cNvPr id="13" name="Shape 11"/>
          <p:cNvSpPr/>
          <p:nvPr/>
        </p:nvSpPr>
        <p:spPr>
          <a:xfrm>
            <a:off x="640080" y="3977640"/>
            <a:ext cx="10881360" cy="868680"/>
          </a:xfrm>
          <a:prstGeom prst="roundRect">
            <a:avLst>
              <a:gd name="adj" fmla="val 5263"/>
            </a:avLst>
          </a:prstGeom>
          <a:solidFill>
            <a:srgbClr val="F4F6FA"/>
          </a:solidFill>
          <a:ln w="19050">
            <a:solidFill>
              <a:srgbClr val="EF4444"/>
            </a:solidFill>
            <a:prstDash val="solid"/>
          </a:ln>
          <a:effectLst>
            <a:outerShdw blurRad="76200" dist="12700" dir="5400000" algn="bl" rotWithShape="0">
              <a:srgbClr val="9AA4B2">
                <a:alpha val="18000"/>
              </a:srgbClr>
            </a:outerShdw>
          </a:effectLst>
        </p:spPr>
        <p:txBody>
          <a:bodyPr/>
          <a:lstStyle/>
          <a:p>
            <a:endParaRPr lang="en-AU"/>
          </a:p>
        </p:txBody>
      </p:sp>
      <p:sp>
        <p:nvSpPr>
          <p:cNvPr id="14" name="Text 12"/>
          <p:cNvSpPr/>
          <p:nvPr/>
        </p:nvSpPr>
        <p:spPr>
          <a:xfrm>
            <a:off x="960120" y="3977640"/>
            <a:ext cx="10241280" cy="868680"/>
          </a:xfrm>
          <a:prstGeom prst="rect">
            <a:avLst/>
          </a:prstGeom>
          <a:noFill/>
          <a:ln/>
        </p:spPr>
        <p:txBody>
          <a:bodyPr wrap="square" lIns="0" tIns="0" rIns="0" bIns="0" rtlCol="0" anchor="ctr"/>
          <a:lstStyle/>
          <a:p>
            <a:pPr marL="0" indent="0">
              <a:buNone/>
            </a:pPr>
            <a:r>
              <a:rPr lang="en-US" sz="2000" dirty="0">
                <a:solidFill>
                  <a:srgbClr val="374151"/>
                </a:solidFill>
                <a:latin typeface="Calibri" pitchFamily="34" charset="0"/>
                <a:ea typeface="Calibri" pitchFamily="34" charset="-122"/>
                <a:cs typeface="Calibri" pitchFamily="34" charset="-120"/>
              </a:rPr>
              <a:t>3.  What still needs to happen before you can submit?</a:t>
            </a:r>
            <a:endParaRPr lang="en-US" sz="2000" dirty="0"/>
          </a:p>
        </p:txBody>
      </p:sp>
      <p:sp>
        <p:nvSpPr>
          <p:cNvPr id="15" name="Text 13"/>
          <p:cNvSpPr/>
          <p:nvPr/>
        </p:nvSpPr>
        <p:spPr>
          <a:xfrm>
            <a:off x="640080" y="5212080"/>
            <a:ext cx="10881360" cy="457200"/>
          </a:xfrm>
          <a:prstGeom prst="rect">
            <a:avLst/>
          </a:prstGeom>
          <a:noFill/>
          <a:ln/>
        </p:spPr>
        <p:txBody>
          <a:bodyPr wrap="square" lIns="0" tIns="0" rIns="0" bIns="0" rtlCol="0" anchor="ctr"/>
          <a:lstStyle/>
          <a:p>
            <a:pPr marL="0" indent="0">
              <a:buNone/>
            </a:pPr>
            <a:r>
              <a:rPr lang="en-US" sz="1900" b="1" dirty="0">
                <a:solidFill>
                  <a:srgbClr val="4361EE"/>
                </a:solidFill>
                <a:latin typeface="Calibri" pitchFamily="34" charset="0"/>
                <a:ea typeface="Calibri" pitchFamily="34" charset="-122"/>
                <a:cs typeface="Calibri" pitchFamily="34" charset="-120"/>
              </a:rPr>
              <a:t>Then submit your workbook and make sure your project is saved.</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marL="0" indent="0">
              <a:buNone/>
            </a:pPr>
            <a:r>
              <a:rPr lang="en-US" sz="1200" b="1" kern="0" spc="160" dirty="0">
                <a:solidFill>
                  <a:srgbClr val="6B7280"/>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marL="0" indent="0">
              <a:buNone/>
            </a:pPr>
            <a:r>
              <a:rPr lang="en-US" sz="3200" dirty="0">
                <a:solidFill>
                  <a:srgbClr val="111827"/>
                </a:solidFill>
                <a:latin typeface="Bookman Old Style" pitchFamily="34" charset="0"/>
                <a:ea typeface="Bookman Old Style" pitchFamily="34" charset="-122"/>
                <a:cs typeface="Bookman Old Style" pitchFamily="34" charset="-120"/>
              </a:rPr>
              <a:t>Where This Is Going</a:t>
            </a:r>
            <a:endParaRPr lang="en-US" sz="3200" dirty="0"/>
          </a:p>
        </p:txBody>
      </p:sp>
      <p:sp>
        <p:nvSpPr>
          <p:cNvPr id="4" name="Shape 2"/>
          <p:cNvSpPr/>
          <p:nvPr/>
        </p:nvSpPr>
        <p:spPr>
          <a:xfrm>
            <a:off x="9646920" y="384048"/>
            <a:ext cx="1874520" cy="402336"/>
          </a:xfrm>
          <a:prstGeom prst="roundRect">
            <a:avLst>
              <a:gd name="adj" fmla="val 18182"/>
            </a:avLst>
          </a:prstGeom>
          <a:solidFill>
            <a:srgbClr val="6B7280"/>
          </a:solidFill>
          <a:ln w="12700">
            <a:solidFill>
              <a:srgbClr val="6B7280"/>
            </a:solidFill>
            <a:prstDash val="solid"/>
          </a:ln>
        </p:spPr>
        <p:txBody>
          <a:bodyPr/>
          <a:lstStyle/>
          <a:p>
            <a:endParaRPr lang="en-AU"/>
          </a:p>
        </p:txBody>
      </p:sp>
      <p:sp>
        <p:nvSpPr>
          <p:cNvPr id="5" name="Text 3"/>
          <p:cNvSpPr/>
          <p:nvPr/>
        </p:nvSpPr>
        <p:spPr>
          <a:xfrm>
            <a:off x="9646920" y="384048"/>
            <a:ext cx="1874520" cy="402336"/>
          </a:xfrm>
          <a:prstGeom prst="rect">
            <a:avLst/>
          </a:prstGeom>
          <a:noFill/>
          <a:ln/>
        </p:spPr>
        <p:txBody>
          <a:bodyPr wrap="square" lIns="0" tIns="0" rIns="0" bIns="0" rtlCol="0" anchor="ctr"/>
          <a:lstStyle/>
          <a:p>
            <a:pPr marL="0" indent="0" algn="ctr">
              <a:buNone/>
            </a:pPr>
            <a:r>
              <a:rPr lang="en-US" sz="1200" b="1" kern="0" spc="120" dirty="0">
                <a:solidFill>
                  <a:srgbClr val="FFFFFF"/>
                </a:solidFill>
                <a:latin typeface="Calibri" pitchFamily="34" charset="0"/>
                <a:ea typeface="Calibri" pitchFamily="34" charset="-122"/>
                <a:cs typeface="Calibri" pitchFamily="34" charset="-120"/>
              </a:rPr>
              <a:t>WRAP UP</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txBody>
          <a:bodyPr/>
          <a:lstStyle/>
          <a:p>
            <a:endParaRPr lang="en-AU"/>
          </a:p>
        </p:txBody>
      </p:sp>
      <p:sp>
        <p:nvSpPr>
          <p:cNvPr id="7" name="Text 5"/>
          <p:cNvSpPr/>
          <p:nvPr/>
        </p:nvSpPr>
        <p:spPr>
          <a:xfrm>
            <a:off x="640080" y="6272784"/>
            <a:ext cx="2240280" cy="329184"/>
          </a:xfrm>
          <a:prstGeom prst="rect">
            <a:avLst/>
          </a:prstGeom>
          <a:noFill/>
          <a:ln/>
        </p:spPr>
        <p:txBody>
          <a:bodyPr wrap="square" lIns="0" tIns="0" rIns="0" bIns="0" rtlCol="0" anchor="ctr"/>
          <a:lstStyle/>
          <a:p>
            <a:pPr marL="0" indent="0" algn="ctr">
              <a:buNone/>
            </a:pPr>
            <a:r>
              <a:rPr lang="en-US" sz="1100" b="1" kern="0" spc="10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371600"/>
            <a:ext cx="5577840" cy="2377440"/>
          </a:xfrm>
          <a:prstGeom prst="roundRect">
            <a:avLst>
              <a:gd name="adj" fmla="val 1923"/>
            </a:avLst>
          </a:prstGeom>
          <a:solidFill>
            <a:srgbClr val="F4F6FA"/>
          </a:solidFill>
          <a:ln w="19050">
            <a:solidFill>
              <a:srgbClr val="10B981"/>
            </a:solidFill>
            <a:prstDash val="solid"/>
          </a:ln>
          <a:effectLst>
            <a:outerShdw blurRad="76200" dist="12700" dir="5400000" algn="bl" rotWithShape="0">
              <a:srgbClr val="9AA4B2">
                <a:alpha val="18000"/>
              </a:srgbClr>
            </a:outerShdw>
          </a:effectLst>
        </p:spPr>
        <p:txBody>
          <a:bodyPr/>
          <a:lstStyle/>
          <a:p>
            <a:endParaRPr lang="en-AU"/>
          </a:p>
        </p:txBody>
      </p:sp>
      <p:sp>
        <p:nvSpPr>
          <p:cNvPr id="9" name="Text 7"/>
          <p:cNvSpPr/>
          <p:nvPr/>
        </p:nvSpPr>
        <p:spPr>
          <a:xfrm>
            <a:off x="914400" y="1554480"/>
            <a:ext cx="5029200" cy="365760"/>
          </a:xfrm>
          <a:prstGeom prst="rect">
            <a:avLst/>
          </a:prstGeom>
          <a:noFill/>
          <a:ln/>
        </p:spPr>
        <p:txBody>
          <a:bodyPr wrap="square" lIns="0" tIns="0" rIns="0" bIns="0" rtlCol="0" anchor="ctr"/>
          <a:lstStyle/>
          <a:p>
            <a:pPr marL="0" indent="0">
              <a:buNone/>
            </a:pPr>
            <a:r>
              <a:rPr lang="en-US" sz="2000" dirty="0">
                <a:solidFill>
                  <a:srgbClr val="10B981"/>
                </a:solidFill>
                <a:latin typeface="Bookman Old Style" pitchFamily="34" charset="0"/>
                <a:ea typeface="Bookman Old Style" pitchFamily="34" charset="-122"/>
                <a:cs typeface="Bookman Old Style" pitchFamily="34" charset="-120"/>
              </a:rPr>
              <a:t>Today you</a:t>
            </a:r>
            <a:endParaRPr lang="en-US" sz="2000" dirty="0"/>
          </a:p>
        </p:txBody>
      </p:sp>
      <p:sp>
        <p:nvSpPr>
          <p:cNvPr id="10" name="Text 8"/>
          <p:cNvSpPr/>
          <p:nvPr/>
        </p:nvSpPr>
        <p:spPr>
          <a:xfrm>
            <a:off x="914400" y="2011680"/>
            <a:ext cx="5029200" cy="1645920"/>
          </a:xfrm>
          <a:prstGeom prst="rect">
            <a:avLst/>
          </a:prstGeom>
          <a:noFill/>
          <a:ln/>
        </p:spPr>
        <p:txBody>
          <a:bodyPr wrap="square" lIns="0" tIns="0" rIns="0" bIns="0" rtlCol="0" anchor="ctr"/>
          <a:lstStyle/>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Learned four criteria for critiquing games</a:t>
            </a:r>
            <a:endParaRPr lang="en-US" sz="1700" dirty="0"/>
          </a:p>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Critiqued a game with specific, reasoned observations</a:t>
            </a:r>
            <a:endParaRPr lang="en-US" sz="1700" dirty="0"/>
          </a:p>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Critiqued your own game and chose a fix</a:t>
            </a:r>
            <a:endParaRPr lang="en-US" sz="1700" dirty="0"/>
          </a:p>
          <a:p>
            <a:pPr marL="342900" indent="-342900">
              <a:spcAft>
                <a:spcPts val="600"/>
              </a:spcAft>
              <a:buSzPct val="100000"/>
              <a:buChar char="•"/>
            </a:pPr>
            <a:r>
              <a:rPr lang="en-US" sz="1700" dirty="0">
                <a:solidFill>
                  <a:srgbClr val="374151"/>
                </a:solidFill>
                <a:latin typeface="Calibri" pitchFamily="34" charset="0"/>
                <a:ea typeface="Calibri" pitchFamily="34" charset="-122"/>
                <a:cs typeface="Calibri" pitchFamily="34" charset="-120"/>
              </a:rPr>
              <a:t>Started CAT 1 — build and reskin</a:t>
            </a:r>
            <a:endParaRPr lang="en-US" sz="1700" dirty="0"/>
          </a:p>
        </p:txBody>
      </p:sp>
      <p:sp>
        <p:nvSpPr>
          <p:cNvPr id="11" name="Shape 9"/>
          <p:cNvSpPr/>
          <p:nvPr/>
        </p:nvSpPr>
        <p:spPr>
          <a:xfrm>
            <a:off x="6400800" y="1371600"/>
            <a:ext cx="5120640" cy="2377440"/>
          </a:xfrm>
          <a:prstGeom prst="roundRect">
            <a:avLst>
              <a:gd name="adj" fmla="val 1923"/>
            </a:avLst>
          </a:prstGeom>
          <a:solidFill>
            <a:srgbClr val="F4F6FA"/>
          </a:solidFill>
          <a:ln w="19050">
            <a:solidFill>
              <a:srgbClr val="4361EE"/>
            </a:solidFill>
            <a:prstDash val="solid"/>
          </a:ln>
          <a:effectLst>
            <a:outerShdw blurRad="76200" dist="12700" dir="5400000" algn="bl" rotWithShape="0">
              <a:srgbClr val="9AA4B2">
                <a:alpha val="18000"/>
              </a:srgbClr>
            </a:outerShdw>
          </a:effectLst>
        </p:spPr>
        <p:txBody>
          <a:bodyPr/>
          <a:lstStyle/>
          <a:p>
            <a:endParaRPr lang="en-AU"/>
          </a:p>
        </p:txBody>
      </p:sp>
      <p:sp>
        <p:nvSpPr>
          <p:cNvPr id="12" name="Text 10"/>
          <p:cNvSpPr/>
          <p:nvPr/>
        </p:nvSpPr>
        <p:spPr>
          <a:xfrm>
            <a:off x="6675120" y="1554480"/>
            <a:ext cx="4572000" cy="365760"/>
          </a:xfrm>
          <a:prstGeom prst="rect">
            <a:avLst/>
          </a:prstGeom>
          <a:noFill/>
          <a:ln/>
        </p:spPr>
        <p:txBody>
          <a:bodyPr wrap="square" lIns="0" tIns="0" rIns="0" bIns="0" rtlCol="0" anchor="ctr"/>
          <a:lstStyle/>
          <a:p>
            <a:pPr marL="0" indent="0">
              <a:buNone/>
            </a:pPr>
            <a:r>
              <a:rPr lang="en-US" sz="2000" dirty="0">
                <a:solidFill>
                  <a:srgbClr val="4361EE"/>
                </a:solidFill>
                <a:latin typeface="Bookman Old Style" pitchFamily="34" charset="0"/>
                <a:ea typeface="Bookman Old Style" pitchFamily="34" charset="-122"/>
                <a:cs typeface="Bookman Old Style" pitchFamily="34" charset="-120"/>
              </a:rPr>
              <a:t>Next lesson</a:t>
            </a:r>
            <a:endParaRPr lang="en-US" sz="2000" dirty="0"/>
          </a:p>
        </p:txBody>
      </p:sp>
      <p:sp>
        <p:nvSpPr>
          <p:cNvPr id="13" name="Text 11"/>
          <p:cNvSpPr/>
          <p:nvPr/>
        </p:nvSpPr>
        <p:spPr>
          <a:xfrm>
            <a:off x="6675120" y="2011680"/>
            <a:ext cx="4572000" cy="1645920"/>
          </a:xfrm>
          <a:prstGeom prst="rect">
            <a:avLst/>
          </a:prstGeom>
          <a:noFill/>
          <a:ln/>
        </p:spPr>
        <p:txBody>
          <a:bodyPr wrap="square" lIns="0" tIns="0" rIns="0" bIns="0" rtlCol="0" anchor="ctr"/>
          <a:lstStyle/>
          <a:p>
            <a:pPr marL="0" indent="0">
              <a:lnSpc>
                <a:spcPts val="2400"/>
              </a:lnSpc>
              <a:buNone/>
            </a:pPr>
            <a:r>
              <a:rPr lang="en-US" sz="1800" dirty="0">
                <a:solidFill>
                  <a:srgbClr val="374151"/>
                </a:solidFill>
                <a:latin typeface="Calibri" pitchFamily="34" charset="0"/>
                <a:ea typeface="Calibri" pitchFamily="34" charset="-122"/>
                <a:cs typeface="Calibri" pitchFamily="34" charset="-120"/>
              </a:rPr>
              <a:t>Lesson 7 — CAT Studio 2</a:t>
            </a:r>
            <a:endParaRPr lang="en-US" sz="1800" dirty="0"/>
          </a:p>
          <a:p>
            <a:pPr marL="0" indent="0">
              <a:lnSpc>
                <a:spcPts val="2400"/>
              </a:lnSpc>
              <a:buNone/>
            </a:pPr>
            <a:endParaRPr lang="en-US" sz="1800" dirty="0"/>
          </a:p>
          <a:p>
            <a:pPr marL="0" indent="0">
              <a:lnSpc>
                <a:spcPts val="2400"/>
              </a:lnSpc>
              <a:buNone/>
            </a:pPr>
            <a:r>
              <a:rPr lang="en-US" sz="1800" dirty="0">
                <a:solidFill>
                  <a:srgbClr val="374151"/>
                </a:solidFill>
                <a:latin typeface="Calibri" pitchFamily="34" charset="0"/>
                <a:ea typeface="Calibri" pitchFamily="34" charset="-122"/>
                <a:cs typeface="Calibri" pitchFamily="34" charset="-120"/>
              </a:rPr>
              <a:t>Implement your modification, build your poster, and submit. Also assessed.</a:t>
            </a:r>
            <a:endParaRPr lang="en-US" sz="1800" dirty="0"/>
          </a:p>
        </p:txBody>
      </p:sp>
      <p:sp>
        <p:nvSpPr>
          <p:cNvPr id="14" name="Shape 12"/>
          <p:cNvSpPr/>
          <p:nvPr/>
        </p:nvSpPr>
        <p:spPr>
          <a:xfrm>
            <a:off x="640080" y="3977640"/>
            <a:ext cx="10881360" cy="1691640"/>
          </a:xfrm>
          <a:prstGeom prst="roundRect">
            <a:avLst>
              <a:gd name="adj" fmla="val 2703"/>
            </a:avLst>
          </a:prstGeom>
          <a:solidFill>
            <a:srgbClr val="F4F6FA"/>
          </a:solidFill>
          <a:ln w="19050">
            <a:solidFill>
              <a:srgbClr val="F59E0B"/>
            </a:solidFill>
            <a:prstDash val="solid"/>
          </a:ln>
          <a:effectLst>
            <a:outerShdw blurRad="76200" dist="12700" dir="5400000" algn="bl" rotWithShape="0">
              <a:srgbClr val="9AA4B2">
                <a:alpha val="18000"/>
              </a:srgbClr>
            </a:outerShdw>
          </a:effectLst>
        </p:spPr>
        <p:txBody>
          <a:bodyPr/>
          <a:lstStyle/>
          <a:p>
            <a:endParaRPr lang="en-AU"/>
          </a:p>
        </p:txBody>
      </p:sp>
      <p:sp>
        <p:nvSpPr>
          <p:cNvPr id="15" name="Text 13"/>
          <p:cNvSpPr/>
          <p:nvPr/>
        </p:nvSpPr>
        <p:spPr>
          <a:xfrm>
            <a:off x="914400" y="4114800"/>
            <a:ext cx="10332720" cy="365760"/>
          </a:xfrm>
          <a:prstGeom prst="rect">
            <a:avLst/>
          </a:prstGeom>
          <a:noFill/>
          <a:ln/>
        </p:spPr>
        <p:txBody>
          <a:bodyPr wrap="square" lIns="0" tIns="0" rIns="0" bIns="0" rtlCol="0" anchor="ctr"/>
          <a:lstStyle/>
          <a:p>
            <a:pPr marL="0" indent="0">
              <a:buNone/>
            </a:pPr>
            <a:r>
              <a:rPr lang="en-US" sz="1800" b="1" dirty="0">
                <a:solidFill>
                  <a:srgbClr val="8A5A05"/>
                </a:solidFill>
                <a:latin typeface="Calibri" pitchFamily="34" charset="0"/>
                <a:ea typeface="Calibri" pitchFamily="34" charset="-122"/>
                <a:cs typeface="Calibri" pitchFamily="34" charset="-120"/>
              </a:rPr>
              <a:t>Before Lesson 7 you need</a:t>
            </a:r>
            <a:endParaRPr lang="en-US" sz="1800" dirty="0"/>
          </a:p>
        </p:txBody>
      </p:sp>
      <p:sp>
        <p:nvSpPr>
          <p:cNvPr id="16" name="Text 14"/>
          <p:cNvSpPr/>
          <p:nvPr/>
        </p:nvSpPr>
        <p:spPr>
          <a:xfrm>
            <a:off x="914400" y="4526280"/>
            <a:ext cx="10332720" cy="548640"/>
          </a:xfrm>
          <a:prstGeom prst="rect">
            <a:avLst/>
          </a:prstGeom>
          <a:noFill/>
          <a:ln/>
        </p:spPr>
        <p:txBody>
          <a:bodyPr wrap="square" lIns="0" tIns="0" rIns="0" bIns="0" rtlCol="0" anchor="ctr"/>
          <a:lstStyle/>
          <a:p>
            <a:pPr marL="0" indent="0">
              <a:buNone/>
            </a:pPr>
            <a:r>
              <a:rPr lang="en-US" sz="1800" dirty="0">
                <a:solidFill>
                  <a:srgbClr val="374151"/>
                </a:solidFill>
                <a:latin typeface="Calibri" pitchFamily="34" charset="0"/>
                <a:ea typeface="Calibri" pitchFamily="34" charset="-122"/>
                <a:cs typeface="Calibri" pitchFamily="34" charset="-120"/>
              </a:rPr>
              <a:t>A running game with all original art   ·   Your written proposed modification   ·   Both checkpoints signed off</a:t>
            </a:r>
            <a:endParaRPr lang="en-US" sz="1800" dirty="0"/>
          </a:p>
        </p:txBody>
      </p:sp>
      <p:sp>
        <p:nvSpPr>
          <p:cNvPr id="17" name="Text 15"/>
          <p:cNvSpPr/>
          <p:nvPr/>
        </p:nvSpPr>
        <p:spPr>
          <a:xfrm>
            <a:off x="914400" y="5074920"/>
            <a:ext cx="10332720" cy="457200"/>
          </a:xfrm>
          <a:prstGeom prst="rect">
            <a:avLst/>
          </a:prstGeom>
          <a:noFill/>
          <a:ln/>
        </p:spPr>
        <p:txBody>
          <a:bodyPr wrap="square" lIns="0" tIns="0" rIns="0" bIns="0" rtlCol="0" anchor="ctr"/>
          <a:lstStyle/>
          <a:p>
            <a:pPr marL="0" indent="0">
              <a:buNone/>
            </a:pPr>
            <a:r>
              <a:rPr lang="en-US" sz="1700" i="1" dirty="0">
                <a:solidFill>
                  <a:srgbClr val="374151"/>
                </a:solidFill>
                <a:latin typeface="Calibri" pitchFamily="34" charset="0"/>
                <a:ea typeface="Calibri" pitchFamily="34" charset="-122"/>
                <a:cs typeface="Calibri" pitchFamily="34" charset="-120"/>
              </a:rPr>
              <a:t>Anything unfinished is homework. Next lesson is for the modification, not for catching up on the reskin.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2479</Words>
  <Application>Microsoft Office PowerPoint</Application>
  <PresentationFormat>Widescreen</PresentationFormat>
  <Paragraphs>239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L6 Making Our Game</dc:title>
  <dc:subject>PptxGenJS Presentation</dc:subject>
  <dc:creator>EduPortal</dc:creator>
  <cp:lastModifiedBy>James Smith 5</cp:lastModifiedBy>
  <cp:revision>2</cp:revision>
  <dcterms:created xsi:type="dcterms:W3CDTF">2026-08-11T00:31:54Z</dcterms:created>
  <dcterms:modified xsi:type="dcterms:W3CDTF">2026-08-18T02:35:19Z</dcterms:modified>
</cp:coreProperties>
</file>