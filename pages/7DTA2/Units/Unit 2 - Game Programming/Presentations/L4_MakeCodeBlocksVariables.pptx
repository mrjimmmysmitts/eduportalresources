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period. Open with a live demo: drag three blocks together, press play. 'That's it — that's a program.' Flag the shape of the lesson up front — first half is the environment and events, second half is variables, with a break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minutes, no laptops. Collect three or four answers on the board and leave them there — you will point back at them on the event model slide. Do not name the word 'event' yet; let them arrive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aloud; students copy it into Section 1 of their workbook. Because this is a long lesson, tell them explicitly that the Foundation criteria are the checkpoint at the break, not the end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under 3 minutes. Point at the live MakeCode window if projecting. Laptops still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conceptual idea in the first half. Contrast a recipe (sequential) with an event model (reactive), then point back at the warm-up triggers still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physically open their Lesson 3 flowchart now, if they have it. This connection is the reason these lessons sit back to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over-teach Loops and Logic here — name them and move on. Variables get flagged as 'we come back to this one later today', which sets up the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 gate: devices open here, workbook Section 6. Roughly 25 minutes. Pair stronger and less confident students, but each student saves their own project file. Circulate — anyone not saved by the break will lose the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stop on the build here even if students are mid-task — the second half needs the full remaining time. Use the 'remembering things' line as the hook straight into the variables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 physical box labelled 'score' with a number card inside if you have one — the analogy lands much better with a real object. 'change score by 1' does not create a new box; it swaps the card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create a score variable, set it on start, change it on collision, and watch the simulator update. Use the project the class built before the break so it is the same file they are looking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set-vs-change bug deliberately — let students watch the score stick at 1 instead of climbing. Seeing it fail sticks far better than being told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 gate: devices open again, workbook Section 9. Roughly 25 minutes. Circulate and check starting values are actually set on start, not just created — the most common error in this lesson. Leave 8 minutes for the exit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 minutes, silent writing, laptops open for the workbook only. Question 2 is the one to scan before next lesson — a wrong answer there means conditionals will not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against the success criteria, then dismiss. Homework: nothing written, but anyone whose project is not saved to their own account fixes that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00E"/>
        </a:solidFill>
      </p:bgPr>
    </p:bg>
    <p:spTree>
      <p:nvGrpSpPr>
        <p:cNvPr id="1" name=""/>
        <p:cNvGrpSpPr/>
        <p:nvPr/>
      </p:nvGrpSpPr>
      <p:grpSpPr>
        <a:xfrm>
          <a:off x="0" y="0"/>
          <a:ext cx="0" cy="0"/>
          <a:chOff x="0" y="0"/>
          <a:chExt cx="0" cy="0"/>
        </a:xfrm>
      </p:grpSpPr>
      <p:sp>
        <p:nvSpPr>
          <p:cNvPr id="2" name="Text 0"/>
          <p:cNvSpPr/>
          <p:nvPr/>
        </p:nvSpPr>
        <p:spPr>
          <a:xfrm>
            <a:off x="640080" y="777240"/>
            <a:ext cx="10881360" cy="365760"/>
          </a:xfrm>
          <a:prstGeom prst="rect">
            <a:avLst/>
          </a:prstGeom>
          <a:noFill/>
          <a:ln/>
        </p:spPr>
        <p:txBody>
          <a:bodyPr wrap="square" rtlCol="0" anchor="ctr"/>
          <a:lstStyle/>
          <a:p>
            <a:pPr indent="0" marL="0">
              <a:buNone/>
            </a:pPr>
            <a:r>
              <a:rPr lang="en-US" sz="1200" dirty="0">
                <a:solidFill>
                  <a:srgbClr val="A8A39A"/>
                </a:solidFill>
                <a:latin typeface="Calibri" pitchFamily="34" charset="0"/>
                <a:ea typeface="Calibri" pitchFamily="34" charset="-122"/>
                <a:cs typeface="Calibri" pitchFamily="34" charset="-120"/>
              </a:rPr>
              <a:t>YEAR 7 · DIGITAL TECHNOLOGY · UNIT 2: GAME PROGRAMMING · LESSON 4</a:t>
            </a:r>
            <a:endParaRPr lang="en-US" sz="1200" dirty="0"/>
          </a:p>
        </p:txBody>
      </p:sp>
      <p:sp>
        <p:nvSpPr>
          <p:cNvPr id="3" name="Text 1"/>
          <p:cNvSpPr/>
          <p:nvPr/>
        </p:nvSpPr>
        <p:spPr>
          <a:xfrm>
            <a:off x="640080" y="2377440"/>
            <a:ext cx="10881360" cy="1645920"/>
          </a:xfrm>
          <a:prstGeom prst="rect">
            <a:avLst/>
          </a:prstGeom>
          <a:noFill/>
          <a:ln/>
        </p:spPr>
        <p:txBody>
          <a:bodyPr wrap="square" rtlCol="0" anchor="t"/>
          <a:lstStyle/>
          <a:p>
            <a:pPr indent="0" marL="0">
              <a:buNone/>
            </a:pPr>
            <a:r>
              <a:rPr lang="en-US" sz="4400" b="1" dirty="0">
                <a:solidFill>
                  <a:srgbClr val="F7F3EC"/>
                </a:solidFill>
                <a:latin typeface="Cambria" pitchFamily="34" charset="0"/>
                <a:ea typeface="Cambria" pitchFamily="34" charset="-122"/>
                <a:cs typeface="Cambria" pitchFamily="34" charset="-120"/>
              </a:rPr>
              <a:t>MakeCode Arcade: Blocks &amp; Variables</a:t>
            </a:r>
            <a:endParaRPr lang="en-US" sz="4400" dirty="0"/>
          </a:p>
        </p:txBody>
      </p:sp>
      <p:sp>
        <p:nvSpPr>
          <p:cNvPr id="4" name="Text 2"/>
          <p:cNvSpPr/>
          <p:nvPr/>
        </p:nvSpPr>
        <p:spPr>
          <a:xfrm>
            <a:off x="640080" y="4114800"/>
            <a:ext cx="8686800" cy="1097280"/>
          </a:xfrm>
          <a:prstGeom prst="rect">
            <a:avLst/>
          </a:prstGeom>
          <a:noFill/>
          <a:ln/>
        </p:spPr>
        <p:txBody>
          <a:bodyPr wrap="square" rtlCol="0" anchor="t"/>
          <a:lstStyle/>
          <a:p>
            <a:pPr indent="0" marL="0">
              <a:buNone/>
            </a:pPr>
            <a:r>
              <a:rPr lang="en-US" sz="1600" dirty="0">
                <a:solidFill>
                  <a:srgbClr val="F7F3EC">
                    <a:alpha val="75000"/>
                  </a:srgbClr>
                </a:solidFill>
                <a:latin typeface="Calibri" pitchFamily="34" charset="0"/>
                <a:ea typeface="Calibri" pitchFamily="34" charset="-122"/>
                <a:cs typeface="Calibri" pitchFamily="34" charset="-120"/>
              </a:rPr>
              <a:t>Meet the tool you'll build your CAT game in — then give your game something to remember.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spc="150" kern="0" dirty="0">
                <a:solidFill>
                  <a:srgbClr val="6B6762"/>
                </a:solidFill>
                <a:latin typeface="Calibri" pitchFamily="34" charset="0"/>
                <a:ea typeface="Calibri" pitchFamily="34" charset="-122"/>
                <a:cs typeface="Calibri" pitchFamily="34" charset="-120"/>
              </a:rPr>
              <a:t>WARM UP</a:t>
            </a:r>
            <a:endParaRPr lang="en-US" sz="1100" dirty="0"/>
          </a:p>
        </p:txBody>
      </p:sp>
      <p:sp>
        <p:nvSpPr>
          <p:cNvPr id="3" name="Text 1"/>
          <p:cNvSpPr/>
          <p:nvPr/>
        </p:nvSpPr>
        <p:spPr>
          <a:xfrm>
            <a:off x="548640" y="566928"/>
            <a:ext cx="8686800" cy="640080"/>
          </a:xfrm>
          <a:prstGeom prst="rect">
            <a:avLst/>
          </a:prstGeom>
          <a:noFill/>
          <a:ln/>
        </p:spPr>
        <p:txBody>
          <a:bodyPr wrap="square" rtlCol="0" anchor="ctr"/>
          <a:lstStyle/>
          <a:p>
            <a:pPr indent="0" marL="0">
              <a:buNone/>
            </a:pPr>
            <a:r>
              <a:rPr lang="en-US" sz="2800" b="1" dirty="0">
                <a:solidFill>
                  <a:srgbClr val="12100E"/>
                </a:solidFill>
                <a:latin typeface="Cambria" pitchFamily="34" charset="0"/>
                <a:ea typeface="Cambria" pitchFamily="34" charset="-122"/>
                <a:cs typeface="Cambria" pitchFamily="34" charset="-120"/>
              </a:rPr>
              <a:t>Two Minutes: Spot the Trigger</a:t>
            </a:r>
            <a:endParaRPr lang="en-US" sz="2800" dirty="0"/>
          </a:p>
        </p:txBody>
      </p:sp>
      <p:sp>
        <p:nvSpPr>
          <p:cNvPr id="4" name="Shape 2"/>
          <p:cNvSpPr/>
          <p:nvPr/>
        </p:nvSpPr>
        <p:spPr>
          <a:xfrm>
            <a:off x="9692640" y="457200"/>
            <a:ext cx="1828800" cy="384048"/>
          </a:xfrm>
          <a:prstGeom prst="roundRect">
            <a:avLst>
              <a:gd name="adj" fmla="val 19048"/>
            </a:avLst>
          </a:prstGeom>
          <a:solidFill>
            <a:srgbClr val="E3EEE9"/>
          </a:solidFill>
          <a:ln/>
        </p:spPr>
      </p:sp>
      <p:sp>
        <p:nvSpPr>
          <p:cNvPr id="5" name="Text 3"/>
          <p:cNvSpPr/>
          <p:nvPr/>
        </p:nvSpPr>
        <p:spPr>
          <a:xfrm>
            <a:off x="9692640" y="457200"/>
            <a:ext cx="1828800" cy="384048"/>
          </a:xfrm>
          <a:prstGeom prst="rect">
            <a:avLst/>
          </a:prstGeom>
          <a:noFill/>
          <a:ln/>
        </p:spPr>
        <p:txBody>
          <a:bodyPr wrap="square" rtlCol="0" anchor="ctr"/>
          <a:lstStyle/>
          <a:p>
            <a:pPr algn="ctr" indent="0" marL="0">
              <a:buNone/>
            </a:pPr>
            <a:r>
              <a:rPr lang="en-US" sz="1100" b="1" dirty="0">
                <a:solidFill>
                  <a:srgbClr val="1B5E47"/>
                </a:solidFill>
                <a:latin typeface="Calibri" pitchFamily="34" charset="0"/>
                <a:ea typeface="Calibri" pitchFamily="34" charset="-122"/>
                <a:cs typeface="Calibri" pitchFamily="34" charset="-120"/>
              </a:rPr>
              <a:t>WARM UP</a:t>
            </a:r>
            <a:endParaRPr lang="en-US" sz="1100" dirty="0"/>
          </a:p>
        </p:txBody>
      </p:sp>
      <p:sp>
        <p:nvSpPr>
          <p:cNvPr id="6" name="Text 4"/>
          <p:cNvSpPr/>
          <p:nvPr/>
        </p:nvSpPr>
        <p:spPr>
          <a:xfrm>
            <a:off x="640080" y="1463040"/>
            <a:ext cx="10607040" cy="4572000"/>
          </a:xfrm>
          <a:prstGeom prst="rect">
            <a:avLst/>
          </a:prstGeom>
          <a:noFill/>
          <a:ln/>
        </p:spPr>
        <p:txBody>
          <a:bodyPr wrap="square" rtlCol="0" anchor="t"/>
          <a:lstStyle/>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Think about the last game you played. List three things that only happened because you did something.</a:t>
            </a:r>
            <a:endParaRPr lang="en-US" sz="1600" dirty="0"/>
          </a:p>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Next to each one, write what exactly set it off.</a:t>
            </a:r>
            <a:endParaRPr lang="en-US" sz="1600" dirty="0"/>
          </a:p>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Turn to the person beside you — did you two pick the same kinds of trigger, or different ones?</a:t>
            </a:r>
            <a:endParaRPr lang="en-US" sz="1600" dirty="0"/>
          </a:p>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Laptops stay closed — pen and paper only for this one.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spc="150" kern="0" dirty="0">
                <a:solidFill>
                  <a:srgbClr val="6B6762"/>
                </a:solidFill>
                <a:latin typeface="Calibri" pitchFamily="34" charset="0"/>
                <a:ea typeface="Calibri" pitchFamily="34" charset="-122"/>
                <a:cs typeface="Calibri" pitchFamily="34" charset="-120"/>
              </a:rPr>
              <a:t>LEARNING OBJECTIVE &amp; SUCCESS CRITERIA</a:t>
            </a:r>
            <a:endParaRPr lang="en-US" sz="1100" dirty="0"/>
          </a:p>
        </p:txBody>
      </p:sp>
      <p:sp>
        <p:nvSpPr>
          <p:cNvPr id="3" name="Text 1"/>
          <p:cNvSpPr/>
          <p:nvPr/>
        </p:nvSpPr>
        <p:spPr>
          <a:xfrm>
            <a:off x="548640" y="566928"/>
            <a:ext cx="8686800" cy="640080"/>
          </a:xfrm>
          <a:prstGeom prst="rect">
            <a:avLst/>
          </a:prstGeom>
          <a:noFill/>
          <a:ln/>
        </p:spPr>
        <p:txBody>
          <a:bodyPr wrap="square" rtlCol="0" anchor="ctr"/>
          <a:lstStyle/>
          <a:p>
            <a:pPr indent="0" marL="0">
              <a:buNone/>
            </a:pPr>
            <a:r>
              <a:rPr lang="en-US" sz="2800" b="1" dirty="0">
                <a:solidFill>
                  <a:srgbClr val="12100E"/>
                </a:solidFill>
                <a:latin typeface="Cambria" pitchFamily="34" charset="0"/>
                <a:ea typeface="Cambria" pitchFamily="34" charset="-122"/>
                <a:cs typeface="Cambria" pitchFamily="34" charset="-120"/>
              </a:rPr>
              <a:t>What We're Learning Today</a:t>
            </a:r>
            <a:endParaRPr lang="en-US" sz="2800" dirty="0"/>
          </a:p>
        </p:txBody>
      </p:sp>
      <p:sp>
        <p:nvSpPr>
          <p:cNvPr id="4" name="Shape 2"/>
          <p:cNvSpPr/>
          <p:nvPr/>
        </p:nvSpPr>
        <p:spPr>
          <a:xfrm>
            <a:off x="9692640" y="457200"/>
            <a:ext cx="1828800" cy="384048"/>
          </a:xfrm>
          <a:prstGeom prst="roundRect">
            <a:avLst>
              <a:gd name="adj" fmla="val 19048"/>
            </a:avLst>
          </a:prstGeom>
          <a:solidFill>
            <a:srgbClr val="E1E4F3"/>
          </a:solidFill>
          <a:ln/>
        </p:spPr>
      </p:sp>
      <p:sp>
        <p:nvSpPr>
          <p:cNvPr id="5" name="Text 3"/>
          <p:cNvSpPr/>
          <p:nvPr/>
        </p:nvSpPr>
        <p:spPr>
          <a:xfrm>
            <a:off x="9692640" y="457200"/>
            <a:ext cx="1828800" cy="384048"/>
          </a:xfrm>
          <a:prstGeom prst="rect">
            <a:avLst/>
          </a:prstGeom>
          <a:noFill/>
          <a:ln/>
        </p:spPr>
        <p:txBody>
          <a:bodyPr wrap="square" rtlCol="0" anchor="ctr"/>
          <a:lstStyle/>
          <a:p>
            <a:pPr algn="ctr" indent="0" marL="0">
              <a:buNone/>
            </a:pPr>
            <a:r>
              <a:rPr lang="en-US" sz="1100" b="1" dirty="0">
                <a:solidFill>
                  <a:srgbClr val="2B3A8C"/>
                </a:solidFill>
                <a:latin typeface="Calibri" pitchFamily="34" charset="0"/>
                <a:ea typeface="Calibri" pitchFamily="34" charset="-122"/>
                <a:cs typeface="Calibri" pitchFamily="34" charset="-120"/>
              </a:rPr>
              <a:t>OBJECTIVE</a:t>
            </a:r>
            <a:endParaRPr lang="en-US" sz="1100" dirty="0"/>
          </a:p>
        </p:txBody>
      </p:sp>
      <p:sp>
        <p:nvSpPr>
          <p:cNvPr id="6" name="Text 4"/>
          <p:cNvSpPr/>
          <p:nvPr/>
        </p:nvSpPr>
        <p:spPr>
          <a:xfrm>
            <a:off x="640080" y="1371600"/>
            <a:ext cx="10607040" cy="731520"/>
          </a:xfrm>
          <a:prstGeom prst="rect">
            <a:avLst/>
          </a:prstGeom>
          <a:noFill/>
          <a:ln/>
        </p:spPr>
        <p:txBody>
          <a:bodyPr wrap="square" rtlCol="0" anchor="t"/>
          <a:lstStyle/>
          <a:p>
            <a:pPr indent="0" marL="0">
              <a:buNone/>
            </a:pPr>
            <a:r>
              <a:rPr lang="en-US" sz="1500" b="1" dirty="0">
                <a:solidFill>
                  <a:srgbClr val="12100E"/>
                </a:solidFill>
                <a:latin typeface="Calibri" pitchFamily="34" charset="0"/>
                <a:ea typeface="Calibri" pitchFamily="34" charset="-122"/>
                <a:cs typeface="Calibri" pitchFamily="34" charset="-120"/>
              </a:rPr>
              <a:t>Learning Objective: </a:t>
            </a:r>
            <a:pPr indent="0" marL="0">
              <a:buNone/>
            </a:pPr>
            <a:r>
              <a:rPr lang="en-US" sz="1500" dirty="0">
                <a:solidFill>
                  <a:srgbClr val="2C2A28"/>
                </a:solidFill>
                <a:latin typeface="Calibri" pitchFamily="34" charset="0"/>
                <a:ea typeface="Calibri" pitchFamily="34" charset="-122"/>
                <a:cs typeface="Calibri" pitchFamily="34" charset="-120"/>
              </a:rPr>
              <a:t>Explore the MakeCode Arcade environment, explain what different categories of blocks do, and use variables to track values that change while a game runs.</a:t>
            </a:r>
            <a:endParaRPr lang="en-US" sz="1500" dirty="0"/>
          </a:p>
        </p:txBody>
      </p:sp>
      <p:sp>
        <p:nvSpPr>
          <p:cNvPr id="7" name="Shape 5"/>
          <p:cNvSpPr/>
          <p:nvPr/>
        </p:nvSpPr>
        <p:spPr>
          <a:xfrm>
            <a:off x="640080" y="2377440"/>
            <a:ext cx="3383280" cy="3291840"/>
          </a:xfrm>
          <a:prstGeom prst="roundRect">
            <a:avLst>
              <a:gd name="adj" fmla="val 2222"/>
            </a:avLst>
          </a:prstGeom>
          <a:solidFill>
            <a:srgbClr val="FFFFFF"/>
          </a:solidFill>
          <a:ln w="15875">
            <a:solidFill>
              <a:srgbClr val="1B5E47"/>
            </a:solidFill>
            <a:prstDash val="solid"/>
          </a:ln>
          <a:effectLst>
            <a:outerShdw sx="100000" sy="100000" kx="0" ky="0" algn="bl" rotWithShape="0" blurRad="76200" dist="25400" dir="5400000">
              <a:srgbClr val="000000">
                <a:alpha val="8000"/>
              </a:srgbClr>
            </a:outerShdw>
          </a:effectLst>
        </p:spPr>
      </p:sp>
      <p:sp>
        <p:nvSpPr>
          <p:cNvPr id="8" name="Text 6"/>
          <p:cNvSpPr/>
          <p:nvPr/>
        </p:nvSpPr>
        <p:spPr>
          <a:xfrm>
            <a:off x="868680" y="2578608"/>
            <a:ext cx="2926080" cy="365760"/>
          </a:xfrm>
          <a:prstGeom prst="rect">
            <a:avLst/>
          </a:prstGeom>
          <a:noFill/>
          <a:ln/>
        </p:spPr>
        <p:txBody>
          <a:bodyPr wrap="square" rtlCol="0" anchor="ctr"/>
          <a:lstStyle/>
          <a:p>
            <a:pPr indent="0" marL="0">
              <a:buNone/>
            </a:pPr>
            <a:r>
              <a:rPr lang="en-US" sz="1200" b="1" dirty="0">
                <a:solidFill>
                  <a:srgbClr val="1B5E47"/>
                </a:solidFill>
                <a:latin typeface="Calibri" pitchFamily="34" charset="0"/>
                <a:ea typeface="Calibri" pitchFamily="34" charset="-122"/>
                <a:cs typeface="Calibri" pitchFamily="34" charset="-120"/>
              </a:rPr>
              <a:t>🟢 Foundation</a:t>
            </a:r>
            <a:endParaRPr lang="en-US" sz="1200" dirty="0"/>
          </a:p>
        </p:txBody>
      </p:sp>
      <p:sp>
        <p:nvSpPr>
          <p:cNvPr id="9" name="Text 7"/>
          <p:cNvSpPr/>
          <p:nvPr/>
        </p:nvSpPr>
        <p:spPr>
          <a:xfrm>
            <a:off x="868680" y="3017520"/>
            <a:ext cx="2926080" cy="2377440"/>
          </a:xfrm>
          <a:prstGeom prst="rect">
            <a:avLst/>
          </a:prstGeom>
          <a:noFill/>
          <a:ln/>
        </p:spPr>
        <p:txBody>
          <a:bodyPr wrap="square" rtlCol="0" anchor="t"/>
          <a:lstStyle/>
          <a:p>
            <a:pPr indent="0" marL="0">
              <a:lnSpc>
                <a:spcPts val="1900"/>
              </a:lnSpc>
              <a:buNone/>
            </a:pPr>
            <a:r>
              <a:rPr lang="en-US" sz="1350" dirty="0">
                <a:solidFill>
                  <a:srgbClr val="2C2A28"/>
                </a:solidFill>
                <a:latin typeface="Calibri" pitchFamily="34" charset="0"/>
                <a:ea typeface="Calibri" pitchFamily="34" charset="-122"/>
                <a:cs typeface="Calibri" pitchFamily="34" charset="-120"/>
              </a:rPr>
              <a:t>Identify the main block categories, complete a guided tutorial, and explain what a variable is using the labelled box analogy.</a:t>
            </a:r>
            <a:endParaRPr lang="en-US" sz="1350" dirty="0"/>
          </a:p>
        </p:txBody>
      </p:sp>
      <p:sp>
        <p:nvSpPr>
          <p:cNvPr id="10" name="Shape 8"/>
          <p:cNvSpPr/>
          <p:nvPr/>
        </p:nvSpPr>
        <p:spPr>
          <a:xfrm>
            <a:off x="4251960" y="2377440"/>
            <a:ext cx="3383280" cy="3291840"/>
          </a:xfrm>
          <a:prstGeom prst="roundRect">
            <a:avLst>
              <a:gd name="adj" fmla="val 2222"/>
            </a:avLst>
          </a:prstGeom>
          <a:solidFill>
            <a:srgbClr val="FFFFFF"/>
          </a:solidFill>
          <a:ln w="15875">
            <a:solidFill>
              <a:srgbClr val="B8620A"/>
            </a:solidFill>
            <a:prstDash val="solid"/>
          </a:ln>
          <a:effectLst>
            <a:outerShdw sx="100000" sy="100000" kx="0" ky="0" algn="bl" rotWithShape="0" blurRad="76200" dist="25400" dir="5400000">
              <a:srgbClr val="000000">
                <a:alpha val="8000"/>
              </a:srgbClr>
            </a:outerShdw>
          </a:effectLst>
        </p:spPr>
      </p:sp>
      <p:sp>
        <p:nvSpPr>
          <p:cNvPr id="11" name="Text 9"/>
          <p:cNvSpPr/>
          <p:nvPr/>
        </p:nvSpPr>
        <p:spPr>
          <a:xfrm>
            <a:off x="4480560" y="2578608"/>
            <a:ext cx="2926080" cy="365760"/>
          </a:xfrm>
          <a:prstGeom prst="rect">
            <a:avLst/>
          </a:prstGeom>
          <a:noFill/>
          <a:ln/>
        </p:spPr>
        <p:txBody>
          <a:bodyPr wrap="square" rtlCol="0" anchor="ctr"/>
          <a:lstStyle/>
          <a:p>
            <a:pPr indent="0" marL="0">
              <a:buNone/>
            </a:pPr>
            <a:r>
              <a:rPr lang="en-US" sz="1200" b="1" dirty="0">
                <a:solidFill>
                  <a:srgbClr val="B8620A"/>
                </a:solidFill>
                <a:latin typeface="Calibri" pitchFamily="34" charset="0"/>
                <a:ea typeface="Calibri" pitchFamily="34" charset="-122"/>
                <a:cs typeface="Calibri" pitchFamily="34" charset="-120"/>
              </a:rPr>
              <a:t>🟡 Developing</a:t>
            </a:r>
            <a:endParaRPr lang="en-US" sz="1200" dirty="0"/>
          </a:p>
        </p:txBody>
      </p:sp>
      <p:sp>
        <p:nvSpPr>
          <p:cNvPr id="12" name="Text 10"/>
          <p:cNvSpPr/>
          <p:nvPr/>
        </p:nvSpPr>
        <p:spPr>
          <a:xfrm>
            <a:off x="4480560" y="3017520"/>
            <a:ext cx="2926080" cy="2377440"/>
          </a:xfrm>
          <a:prstGeom prst="rect">
            <a:avLst/>
          </a:prstGeom>
          <a:noFill/>
          <a:ln/>
        </p:spPr>
        <p:txBody>
          <a:bodyPr wrap="square" rtlCol="0" anchor="t"/>
          <a:lstStyle/>
          <a:p>
            <a:pPr indent="0" marL="0">
              <a:lnSpc>
                <a:spcPts val="1900"/>
              </a:lnSpc>
              <a:buNone/>
            </a:pPr>
            <a:r>
              <a:rPr lang="en-US" sz="1350" dirty="0">
                <a:solidFill>
                  <a:srgbClr val="2C2A28"/>
                </a:solidFill>
                <a:latin typeface="Calibri" pitchFamily="34" charset="0"/>
                <a:ea typeface="Calibri" pitchFamily="34" charset="-122"/>
                <a:cs typeface="Calibri" pitchFamily="34" charset="-120"/>
              </a:rPr>
              <a:t>Explain what an "event" block does and why games are built around events, and create a variable with a starting value that changes correctly.</a:t>
            </a:r>
            <a:endParaRPr lang="en-US" sz="1350" dirty="0"/>
          </a:p>
        </p:txBody>
      </p:sp>
      <p:sp>
        <p:nvSpPr>
          <p:cNvPr id="13" name="Shape 11"/>
          <p:cNvSpPr/>
          <p:nvPr/>
        </p:nvSpPr>
        <p:spPr>
          <a:xfrm>
            <a:off x="7863840" y="2377440"/>
            <a:ext cx="3383280" cy="3291840"/>
          </a:xfrm>
          <a:prstGeom prst="roundRect">
            <a:avLst>
              <a:gd name="adj" fmla="val 2222"/>
            </a:avLst>
          </a:prstGeom>
          <a:solidFill>
            <a:srgbClr val="FFFFFF"/>
          </a:solidFill>
          <a:ln w="15875">
            <a:solidFill>
              <a:srgbClr val="2B3A8C"/>
            </a:solidFill>
            <a:prstDash val="solid"/>
          </a:ln>
          <a:effectLst>
            <a:outerShdw sx="100000" sy="100000" kx="0" ky="0" algn="bl" rotWithShape="0" blurRad="76200" dist="25400" dir="5400000">
              <a:srgbClr val="000000">
                <a:alpha val="8000"/>
              </a:srgbClr>
            </a:outerShdw>
          </a:effectLst>
        </p:spPr>
      </p:sp>
      <p:sp>
        <p:nvSpPr>
          <p:cNvPr id="14" name="Text 12"/>
          <p:cNvSpPr/>
          <p:nvPr/>
        </p:nvSpPr>
        <p:spPr>
          <a:xfrm>
            <a:off x="8092440" y="2578608"/>
            <a:ext cx="2926080" cy="365760"/>
          </a:xfrm>
          <a:prstGeom prst="rect">
            <a:avLst/>
          </a:prstGeom>
          <a:noFill/>
          <a:ln/>
        </p:spPr>
        <p:txBody>
          <a:bodyPr wrap="square" rtlCol="0" anchor="ctr"/>
          <a:lstStyle/>
          <a:p>
            <a:pPr indent="0" marL="0">
              <a:buNone/>
            </a:pPr>
            <a:r>
              <a:rPr lang="en-US" sz="1200" b="1" dirty="0">
                <a:solidFill>
                  <a:srgbClr val="2B3A8C"/>
                </a:solidFill>
                <a:latin typeface="Calibri" pitchFamily="34" charset="0"/>
                <a:ea typeface="Calibri" pitchFamily="34" charset="-122"/>
                <a:cs typeface="Calibri" pitchFamily="34" charset="-120"/>
              </a:rPr>
              <a:t>🟣 Extending</a:t>
            </a:r>
            <a:endParaRPr lang="en-US" sz="1200" dirty="0"/>
          </a:p>
        </p:txBody>
      </p:sp>
      <p:sp>
        <p:nvSpPr>
          <p:cNvPr id="15" name="Text 13"/>
          <p:cNvSpPr/>
          <p:nvPr/>
        </p:nvSpPr>
        <p:spPr>
          <a:xfrm>
            <a:off x="8092440" y="3017520"/>
            <a:ext cx="2926080" cy="2377440"/>
          </a:xfrm>
          <a:prstGeom prst="rect">
            <a:avLst/>
          </a:prstGeom>
          <a:noFill/>
          <a:ln/>
        </p:spPr>
        <p:txBody>
          <a:bodyPr wrap="square" rtlCol="0" anchor="t"/>
          <a:lstStyle/>
          <a:p>
            <a:pPr indent="0" marL="0">
              <a:lnSpc>
                <a:spcPts val="1900"/>
              </a:lnSpc>
              <a:buNone/>
            </a:pPr>
            <a:r>
              <a:rPr lang="en-US" sz="1350" dirty="0">
                <a:solidFill>
                  <a:srgbClr val="2C2A28"/>
                </a:solidFill>
                <a:latin typeface="Calibri" pitchFamily="34" charset="0"/>
                <a:ea typeface="Calibri" pitchFamily="34" charset="-122"/>
                <a:cs typeface="Calibri" pitchFamily="34" charset="-120"/>
              </a:rPr>
              <a:t>Add an extra event-driven behaviour beyond the tutorial, and use two variables together to drive a win or lose condition.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spc="150" kern="0" dirty="0">
                <a:solidFill>
                  <a:srgbClr val="6B6762"/>
                </a:solidFill>
                <a:latin typeface="Calibri" pitchFamily="34" charset="0"/>
                <a:ea typeface="Calibri" pitchFamily="34" charset="-122"/>
                <a:cs typeface="Calibri" pitchFamily="34" charset="-120"/>
              </a:rPr>
              <a:t>TOOL WALKTHROUGH</a:t>
            </a:r>
            <a:endParaRPr lang="en-US" sz="1100" dirty="0"/>
          </a:p>
        </p:txBody>
      </p:sp>
      <p:sp>
        <p:nvSpPr>
          <p:cNvPr id="3" name="Text 1"/>
          <p:cNvSpPr/>
          <p:nvPr/>
        </p:nvSpPr>
        <p:spPr>
          <a:xfrm>
            <a:off x="548640" y="566928"/>
            <a:ext cx="8686800" cy="640080"/>
          </a:xfrm>
          <a:prstGeom prst="rect">
            <a:avLst/>
          </a:prstGeom>
          <a:noFill/>
          <a:ln/>
        </p:spPr>
        <p:txBody>
          <a:bodyPr wrap="square" rtlCol="0" anchor="ctr"/>
          <a:lstStyle/>
          <a:p>
            <a:pPr indent="0" marL="0">
              <a:buNone/>
            </a:pPr>
            <a:r>
              <a:rPr lang="en-US" sz="2800" b="1" dirty="0">
                <a:solidFill>
                  <a:srgbClr val="12100E"/>
                </a:solidFill>
                <a:latin typeface="Cambria" pitchFamily="34" charset="0"/>
                <a:ea typeface="Cambria" pitchFamily="34" charset="-122"/>
                <a:cs typeface="Cambria" pitchFamily="34" charset="-120"/>
              </a:rPr>
              <a:t>The Interface</a:t>
            </a:r>
            <a:endParaRPr lang="en-US" sz="2800" dirty="0"/>
          </a:p>
        </p:txBody>
      </p:sp>
      <p:sp>
        <p:nvSpPr>
          <p:cNvPr id="4" name="Shape 2"/>
          <p:cNvSpPr/>
          <p:nvPr/>
        </p:nvSpPr>
        <p:spPr>
          <a:xfrm>
            <a:off x="9692640" y="457200"/>
            <a:ext cx="1828800" cy="384048"/>
          </a:xfrm>
          <a:prstGeom prst="roundRect">
            <a:avLst>
              <a:gd name="adj" fmla="val 19048"/>
            </a:avLst>
          </a:prstGeom>
          <a:solidFill>
            <a:srgbClr val="F6E8D8"/>
          </a:solidFill>
          <a:ln/>
        </p:spPr>
      </p:sp>
      <p:sp>
        <p:nvSpPr>
          <p:cNvPr id="5" name="Text 3"/>
          <p:cNvSpPr/>
          <p:nvPr/>
        </p:nvSpPr>
        <p:spPr>
          <a:xfrm>
            <a:off x="9692640" y="457200"/>
            <a:ext cx="1828800" cy="384048"/>
          </a:xfrm>
          <a:prstGeom prst="rect">
            <a:avLst/>
          </a:prstGeom>
          <a:noFill/>
          <a:ln/>
        </p:spPr>
        <p:txBody>
          <a:bodyPr wrap="square" rtlCol="0" anchor="ctr"/>
          <a:lstStyle/>
          <a:p>
            <a:pPr algn="ctr" indent="0" marL="0">
              <a:buNone/>
            </a:pPr>
            <a:r>
              <a:rPr lang="en-US" sz="1100" b="1" dirty="0">
                <a:solidFill>
                  <a:srgbClr val="B8620A"/>
                </a:solidFill>
                <a:latin typeface="Calibri" pitchFamily="34" charset="0"/>
                <a:ea typeface="Calibri" pitchFamily="34" charset="-122"/>
                <a:cs typeface="Calibri" pitchFamily="34" charset="-120"/>
              </a:rPr>
              <a:t>TOOL</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3200400"/>
                <a:gridCol w="7680960"/>
              </a:tblGrid>
              <a:tr h="0">
                <a:tc>
                  <a:txBody>
                    <a:bodyPr/>
                    <a:lstStyle/>
                    <a:p>
                      <a:pPr indent="0" marL="0">
                        <a:buNone/>
                      </a:pPr>
                      <a:r>
                        <a:rPr lang="en-US" sz="1200" b="1" dirty="0">
                          <a:solidFill>
                            <a:srgbClr val="FFFFFF"/>
                          </a:solidFill>
                        </a:rPr>
                        <a:t>Area</a:t>
                      </a:r>
                      <a:endParaRPr lang="en-US" sz="120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solidFill>
                      <a:srgbClr val="12100E"/>
                    </a:solidFill>
                  </a:tcPr>
                </a:tc>
                <a:tc>
                  <a:txBody>
                    <a:bodyPr/>
                    <a:lstStyle/>
                    <a:p>
                      <a:pPr indent="0" marL="0">
                        <a:buNone/>
                      </a:pPr>
                      <a:r>
                        <a:rPr lang="en-US" sz="1200" b="1" dirty="0">
                          <a:solidFill>
                            <a:srgbClr val="FFFFFF"/>
                          </a:solidFill>
                        </a:rPr>
                        <a:t>What it's for</a:t>
                      </a:r>
                      <a:endParaRPr lang="en-US" sz="120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solidFill>
                      <a:srgbClr val="12100E"/>
                    </a:solidFill>
                  </a:tcPr>
                </a:tc>
              </a:tr>
              <a:tr h="0">
                <a:tc>
                  <a:txBody>
                    <a:bodyPr/>
                    <a:lstStyle/>
                    <a:p>
                      <a:pPr indent="0" marL="0">
                        <a:buNone/>
                      </a:pPr>
                      <a:r>
                        <a:rPr lang="en-US" sz="1250" dirty="0">
                          <a:solidFill>
                            <a:srgbClr val="2C2A28"/>
                          </a:solidFill>
                        </a:rPr>
                        <a:t>Simulator</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c>
                  <a:txBody>
                    <a:bodyPr/>
                    <a:lstStyle/>
                    <a:p>
                      <a:pPr indent="0" marL="0">
                        <a:buNone/>
                      </a:pPr>
                      <a:r>
                        <a:rPr lang="en-US" sz="1250" dirty="0">
                          <a:solidFill>
                            <a:srgbClr val="2C2A28"/>
                          </a:solidFill>
                        </a:rPr>
                        <a:t>The live preview of your game — runs in real time as you build.</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r>
              <a:tr h="0">
                <a:tc>
                  <a:txBody>
                    <a:bodyPr/>
                    <a:lstStyle/>
                    <a:p>
                      <a:pPr indent="0" marL="0">
                        <a:buNone/>
                      </a:pPr>
                      <a:r>
                        <a:rPr lang="en-US" sz="1250" dirty="0">
                          <a:solidFill>
                            <a:srgbClr val="2C2A28"/>
                          </a:solidFill>
                        </a:rPr>
                        <a:t>Toolbox</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c>
                  <a:txBody>
                    <a:bodyPr/>
                    <a:lstStyle/>
                    <a:p>
                      <a:pPr indent="0" marL="0">
                        <a:buNone/>
                      </a:pPr>
                      <a:r>
                        <a:rPr lang="en-US" sz="1250" dirty="0">
                          <a:solidFill>
                            <a:srgbClr val="2C2A28"/>
                          </a:solidFill>
                        </a:rPr>
                        <a:t>Block categories on the left — drag blocks into your workspace.</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r>
              <a:tr h="0">
                <a:tc>
                  <a:txBody>
                    <a:bodyPr/>
                    <a:lstStyle/>
                    <a:p>
                      <a:pPr indent="0" marL="0">
                        <a:buNone/>
                      </a:pPr>
                      <a:r>
                        <a:rPr lang="en-US" sz="1250" dirty="0">
                          <a:solidFill>
                            <a:srgbClr val="2C2A28"/>
                          </a:solidFill>
                        </a:rPr>
                        <a:t>Workspace</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c>
                  <a:txBody>
                    <a:bodyPr/>
                    <a:lstStyle/>
                    <a:p>
                      <a:pPr indent="0" marL="0">
                        <a:buNone/>
                      </a:pPr>
                      <a:r>
                        <a:rPr lang="en-US" sz="1250" dirty="0">
                          <a:solidFill>
                            <a:srgbClr val="2C2A28"/>
                          </a:solidFill>
                        </a:rPr>
                        <a:t>Where you snap blocks together to build your program.</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r>
              <a:tr h="0">
                <a:tc>
                  <a:txBody>
                    <a:bodyPr/>
                    <a:lstStyle/>
                    <a:p>
                      <a:pPr indent="0" marL="0">
                        <a:buNone/>
                      </a:pPr>
                      <a:r>
                        <a:rPr lang="en-US" sz="1250" dirty="0">
                          <a:solidFill>
                            <a:srgbClr val="2C2A28"/>
                          </a:solidFill>
                        </a:rPr>
                        <a:t>Blocks / JS toggle</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c>
                  <a:txBody>
                    <a:bodyPr/>
                    <a:lstStyle/>
                    <a:p>
                      <a:pPr indent="0" marL="0">
                        <a:buNone/>
                      </a:pPr>
                      <a:r>
                        <a:rPr lang="en-US" sz="1250" dirty="0">
                          <a:solidFill>
                            <a:srgbClr val="2C2A28"/>
                          </a:solidFill>
                        </a:rPr>
                        <a:t>Switch to see the same program as text code — not needed yet.</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spc="150" kern="0" dirty="0">
                <a:solidFill>
                  <a:srgbClr val="6B6762"/>
                </a:solidFill>
                <a:latin typeface="Calibri" pitchFamily="34" charset="0"/>
                <a:ea typeface="Calibri" pitchFamily="34" charset="-122"/>
                <a:cs typeface="Calibri" pitchFamily="34" charset="-120"/>
              </a:rPr>
              <a:t>EXPLICIT EXPLANATION</a:t>
            </a:r>
            <a:endParaRPr lang="en-US" sz="1100" dirty="0"/>
          </a:p>
        </p:txBody>
      </p:sp>
      <p:sp>
        <p:nvSpPr>
          <p:cNvPr id="3" name="Text 1"/>
          <p:cNvSpPr/>
          <p:nvPr/>
        </p:nvSpPr>
        <p:spPr>
          <a:xfrm>
            <a:off x="548640" y="566928"/>
            <a:ext cx="8686800" cy="640080"/>
          </a:xfrm>
          <a:prstGeom prst="rect">
            <a:avLst/>
          </a:prstGeom>
          <a:noFill/>
          <a:ln/>
        </p:spPr>
        <p:txBody>
          <a:bodyPr wrap="square" rtlCol="0" anchor="ctr"/>
          <a:lstStyle/>
          <a:p>
            <a:pPr indent="0" marL="0">
              <a:buNone/>
            </a:pPr>
            <a:r>
              <a:rPr lang="en-US" sz="2800" b="1" dirty="0">
                <a:solidFill>
                  <a:srgbClr val="12100E"/>
                </a:solidFill>
                <a:latin typeface="Cambria" pitchFamily="34" charset="0"/>
                <a:ea typeface="Cambria" pitchFamily="34" charset="-122"/>
                <a:cs typeface="Cambria" pitchFamily="34" charset="-120"/>
              </a:rPr>
              <a:t>Most Programs Don't Run Top to Bottom</a:t>
            </a:r>
            <a:endParaRPr lang="en-US" sz="2800" dirty="0"/>
          </a:p>
        </p:txBody>
      </p:sp>
      <p:sp>
        <p:nvSpPr>
          <p:cNvPr id="4" name="Shape 2"/>
          <p:cNvSpPr/>
          <p:nvPr/>
        </p:nvSpPr>
        <p:spPr>
          <a:xfrm>
            <a:off x="9692640" y="457200"/>
            <a:ext cx="1828800" cy="384048"/>
          </a:xfrm>
          <a:prstGeom prst="roundRect">
            <a:avLst>
              <a:gd name="adj" fmla="val 19048"/>
            </a:avLst>
          </a:prstGeom>
          <a:solidFill>
            <a:srgbClr val="F6E8D8"/>
          </a:solidFill>
          <a:ln/>
        </p:spPr>
      </p:sp>
      <p:sp>
        <p:nvSpPr>
          <p:cNvPr id="5" name="Text 3"/>
          <p:cNvSpPr/>
          <p:nvPr/>
        </p:nvSpPr>
        <p:spPr>
          <a:xfrm>
            <a:off x="9692640" y="457200"/>
            <a:ext cx="1828800" cy="384048"/>
          </a:xfrm>
          <a:prstGeom prst="rect">
            <a:avLst/>
          </a:prstGeom>
          <a:noFill/>
          <a:ln/>
        </p:spPr>
        <p:txBody>
          <a:bodyPr wrap="square" rtlCol="0" anchor="ctr"/>
          <a:lstStyle/>
          <a:p>
            <a:pPr algn="ctr" indent="0" marL="0">
              <a:buNone/>
            </a:pPr>
            <a:r>
              <a:rPr lang="en-US" sz="1100" b="1" dirty="0">
                <a:solidFill>
                  <a:srgbClr val="B8620A"/>
                </a:solidFill>
                <a:latin typeface="Calibri" pitchFamily="34" charset="0"/>
                <a:ea typeface="Calibri" pitchFamily="34" charset="-122"/>
                <a:cs typeface="Calibri" pitchFamily="34" charset="-120"/>
              </a:rPr>
              <a:t>KEY IDEA</a:t>
            </a:r>
            <a:endParaRPr lang="en-US" sz="1100" dirty="0"/>
          </a:p>
        </p:txBody>
      </p:sp>
      <p:sp>
        <p:nvSpPr>
          <p:cNvPr id="6" name="Shape 4"/>
          <p:cNvSpPr/>
          <p:nvPr/>
        </p:nvSpPr>
        <p:spPr>
          <a:xfrm>
            <a:off x="822960" y="1828800"/>
            <a:ext cx="10149840" cy="3291840"/>
          </a:xfrm>
          <a:prstGeom prst="roundRect">
            <a:avLst>
              <a:gd name="adj" fmla="val 2778"/>
            </a:avLst>
          </a:prstGeom>
          <a:solidFill>
            <a:srgbClr val="FFFFFF"/>
          </a:solidFill>
          <a:ln w="19050">
            <a:solidFill>
              <a:srgbClr val="B8620A"/>
            </a:solidFill>
            <a:prstDash val="solid"/>
          </a:ln>
          <a:effectLst>
            <a:outerShdw sx="100000" sy="100000" kx="0" ky="0" algn="bl" rotWithShape="0" blurRad="101600" dist="25400" dir="5400000">
              <a:srgbClr val="000000">
                <a:alpha val="8000"/>
              </a:srgbClr>
            </a:outerShdw>
          </a:effectLst>
        </p:spPr>
      </p:sp>
      <p:sp>
        <p:nvSpPr>
          <p:cNvPr id="7" name="Text 5"/>
          <p:cNvSpPr/>
          <p:nvPr/>
        </p:nvSpPr>
        <p:spPr>
          <a:xfrm>
            <a:off x="1188720" y="2148840"/>
            <a:ext cx="9418320" cy="320040"/>
          </a:xfrm>
          <a:prstGeom prst="rect">
            <a:avLst/>
          </a:prstGeom>
          <a:noFill/>
          <a:ln/>
        </p:spPr>
        <p:txBody>
          <a:bodyPr wrap="square" rtlCol="0" anchor="ctr"/>
          <a:lstStyle/>
          <a:p>
            <a:pPr indent="0" marL="0">
              <a:buNone/>
            </a:pPr>
            <a:r>
              <a:rPr lang="en-US" sz="1100" b="1" spc="120" kern="0" dirty="0">
                <a:solidFill>
                  <a:srgbClr val="B8620A"/>
                </a:solidFill>
                <a:latin typeface="Calibri" pitchFamily="34" charset="0"/>
                <a:ea typeface="Calibri" pitchFamily="34" charset="-122"/>
                <a:cs typeface="Calibri" pitchFamily="34" charset="-120"/>
              </a:rPr>
              <a:t>THE EVENT MODEL</a:t>
            </a:r>
            <a:endParaRPr lang="en-US" sz="1100" dirty="0"/>
          </a:p>
        </p:txBody>
      </p:sp>
      <p:sp>
        <p:nvSpPr>
          <p:cNvPr id="8" name="Text 6"/>
          <p:cNvSpPr/>
          <p:nvPr/>
        </p:nvSpPr>
        <p:spPr>
          <a:xfrm>
            <a:off x="1188720" y="2606040"/>
            <a:ext cx="9418320" cy="2286000"/>
          </a:xfrm>
          <a:prstGeom prst="rect">
            <a:avLst/>
          </a:prstGeom>
          <a:noFill/>
          <a:ln/>
        </p:spPr>
        <p:txBody>
          <a:bodyPr wrap="square" rtlCol="0" anchor="t"/>
          <a:lstStyle/>
          <a:p>
            <a:pPr indent="0" marL="0">
              <a:lnSpc>
                <a:spcPts val="2800"/>
              </a:lnSpc>
              <a:buNone/>
            </a:pPr>
            <a:r>
              <a:rPr lang="en-US" sz="2100" dirty="0">
                <a:solidFill>
                  <a:srgbClr val="12100E"/>
                </a:solidFill>
                <a:latin typeface="Cambria" pitchFamily="34" charset="0"/>
                <a:ea typeface="Cambria" pitchFamily="34" charset="-122"/>
                <a:cs typeface="Cambria" pitchFamily="34" charset="-120"/>
              </a:rPr>
              <a:t>MakeCode programs wait, and react when something happens — "on start," "on button pressed," "on sprite overlaps."</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spc="150" kern="0" dirty="0">
                <a:solidFill>
                  <a:srgbClr val="6B6762"/>
                </a:solidFill>
                <a:latin typeface="Calibri" pitchFamily="34" charset="0"/>
                <a:ea typeface="Calibri" pitchFamily="34" charset="-122"/>
                <a:cs typeface="Calibri" pitchFamily="34" charset="-120"/>
              </a:rPr>
              <a:t>CONNECTING BACK</a:t>
            </a:r>
            <a:endParaRPr lang="en-US" sz="1100" dirty="0"/>
          </a:p>
        </p:txBody>
      </p:sp>
      <p:sp>
        <p:nvSpPr>
          <p:cNvPr id="3" name="Text 1"/>
          <p:cNvSpPr/>
          <p:nvPr/>
        </p:nvSpPr>
        <p:spPr>
          <a:xfrm>
            <a:off x="548640" y="566928"/>
            <a:ext cx="8686800" cy="640080"/>
          </a:xfrm>
          <a:prstGeom prst="rect">
            <a:avLst/>
          </a:prstGeom>
          <a:noFill/>
          <a:ln/>
        </p:spPr>
        <p:txBody>
          <a:bodyPr wrap="square" rtlCol="0" anchor="ctr"/>
          <a:lstStyle/>
          <a:p>
            <a:pPr indent="0" marL="0">
              <a:buNone/>
            </a:pPr>
            <a:r>
              <a:rPr lang="en-US" sz="2800" b="1" dirty="0">
                <a:solidFill>
                  <a:srgbClr val="12100E"/>
                </a:solidFill>
                <a:latin typeface="Cambria" pitchFamily="34" charset="0"/>
                <a:ea typeface="Cambria" pitchFamily="34" charset="-122"/>
                <a:cs typeface="Cambria" pitchFamily="34" charset="-120"/>
              </a:rPr>
              <a:t>Your Flowchart, Now in Blocks</a:t>
            </a:r>
            <a:endParaRPr lang="en-US" sz="2800" dirty="0"/>
          </a:p>
        </p:txBody>
      </p:sp>
      <p:sp>
        <p:nvSpPr>
          <p:cNvPr id="4" name="Shape 2"/>
          <p:cNvSpPr/>
          <p:nvPr/>
        </p:nvSpPr>
        <p:spPr>
          <a:xfrm>
            <a:off x="9692640" y="457200"/>
            <a:ext cx="1828800" cy="384048"/>
          </a:xfrm>
          <a:prstGeom prst="roundRect">
            <a:avLst>
              <a:gd name="adj" fmla="val 19048"/>
            </a:avLst>
          </a:prstGeom>
          <a:solidFill>
            <a:srgbClr val="E1E4F3"/>
          </a:solidFill>
          <a:ln/>
        </p:spPr>
      </p:sp>
      <p:sp>
        <p:nvSpPr>
          <p:cNvPr id="5" name="Text 3"/>
          <p:cNvSpPr/>
          <p:nvPr/>
        </p:nvSpPr>
        <p:spPr>
          <a:xfrm>
            <a:off x="9692640" y="457200"/>
            <a:ext cx="1828800" cy="384048"/>
          </a:xfrm>
          <a:prstGeom prst="rect">
            <a:avLst/>
          </a:prstGeom>
          <a:noFill/>
          <a:ln/>
        </p:spPr>
        <p:txBody>
          <a:bodyPr wrap="square" rtlCol="0" anchor="ctr"/>
          <a:lstStyle/>
          <a:p>
            <a:pPr algn="ctr" indent="0" marL="0">
              <a:buNone/>
            </a:pPr>
            <a:r>
              <a:rPr lang="en-US" sz="1100" b="1" dirty="0">
                <a:solidFill>
                  <a:srgbClr val="2B3A8C"/>
                </a:solidFill>
                <a:latin typeface="Calibri" pitchFamily="34" charset="0"/>
                <a:ea typeface="Calibri" pitchFamily="34" charset="-122"/>
                <a:cs typeface="Calibri" pitchFamily="34" charset="-120"/>
              </a:rPr>
              <a:t>LINK</a:t>
            </a:r>
            <a:endParaRPr lang="en-US" sz="1100" dirty="0"/>
          </a:p>
        </p:txBody>
      </p:sp>
      <p:sp>
        <p:nvSpPr>
          <p:cNvPr id="6" name="Text 4"/>
          <p:cNvSpPr/>
          <p:nvPr/>
        </p:nvSpPr>
        <p:spPr>
          <a:xfrm>
            <a:off x="640080" y="1463040"/>
            <a:ext cx="10607040" cy="4572000"/>
          </a:xfrm>
          <a:prstGeom prst="rect">
            <a:avLst/>
          </a:prstGeom>
          <a:noFill/>
          <a:ln/>
        </p:spPr>
        <p:txBody>
          <a:bodyPr wrap="square" rtlCol="0" anchor="t"/>
          <a:lstStyle/>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The diamond shapes in your Lesson 3 flowchart often become event blocks here.</a:t>
            </a:r>
            <a:endParaRPr lang="en-US" sz="1600" dirty="0"/>
          </a:p>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A decision point in your algorithm usually maps to an "on [event]" block checking a condition.</a:t>
            </a:r>
            <a:endParaRPr lang="en-US" sz="1600" dirty="0"/>
          </a:p>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Keep your flowchart open while you build — you're translating it, not starting from scratch.</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spc="150" kern="0" dirty="0">
                <a:solidFill>
                  <a:srgbClr val="6B6762"/>
                </a:solidFill>
                <a:latin typeface="Calibri" pitchFamily="34" charset="0"/>
                <a:ea typeface="Calibri" pitchFamily="34" charset="-122"/>
                <a:cs typeface="Calibri" pitchFamily="34" charset="-120"/>
              </a:rPr>
              <a:t>REFERENCE</a:t>
            </a:r>
            <a:endParaRPr lang="en-US" sz="1100" dirty="0"/>
          </a:p>
        </p:txBody>
      </p:sp>
      <p:sp>
        <p:nvSpPr>
          <p:cNvPr id="3" name="Text 1"/>
          <p:cNvSpPr/>
          <p:nvPr/>
        </p:nvSpPr>
        <p:spPr>
          <a:xfrm>
            <a:off x="548640" y="566928"/>
            <a:ext cx="8686800" cy="640080"/>
          </a:xfrm>
          <a:prstGeom prst="rect">
            <a:avLst/>
          </a:prstGeom>
          <a:noFill/>
          <a:ln/>
        </p:spPr>
        <p:txBody>
          <a:bodyPr wrap="square" rtlCol="0" anchor="ctr"/>
          <a:lstStyle/>
          <a:p>
            <a:pPr indent="0" marL="0">
              <a:buNone/>
            </a:pPr>
            <a:r>
              <a:rPr lang="en-US" sz="2800" b="1" dirty="0">
                <a:solidFill>
                  <a:srgbClr val="12100E"/>
                </a:solidFill>
                <a:latin typeface="Cambria" pitchFamily="34" charset="0"/>
                <a:ea typeface="Cambria" pitchFamily="34" charset="-122"/>
                <a:cs typeface="Cambria" pitchFamily="34" charset="-120"/>
              </a:rPr>
              <a:t>Block Categories</a:t>
            </a:r>
            <a:endParaRPr lang="en-US" sz="2800" dirty="0"/>
          </a:p>
        </p:txBody>
      </p:sp>
      <p:sp>
        <p:nvSpPr>
          <p:cNvPr id="4" name="Shape 2"/>
          <p:cNvSpPr/>
          <p:nvPr/>
        </p:nvSpPr>
        <p:spPr>
          <a:xfrm>
            <a:off x="9692640" y="457200"/>
            <a:ext cx="1828800" cy="384048"/>
          </a:xfrm>
          <a:prstGeom prst="roundRect">
            <a:avLst>
              <a:gd name="adj" fmla="val 19048"/>
            </a:avLst>
          </a:prstGeom>
          <a:solidFill>
            <a:srgbClr val="E1E4F3"/>
          </a:solidFill>
          <a:ln/>
        </p:spPr>
      </p:sp>
      <p:sp>
        <p:nvSpPr>
          <p:cNvPr id="5" name="Text 3"/>
          <p:cNvSpPr/>
          <p:nvPr/>
        </p:nvSpPr>
        <p:spPr>
          <a:xfrm>
            <a:off x="9692640" y="457200"/>
            <a:ext cx="1828800" cy="384048"/>
          </a:xfrm>
          <a:prstGeom prst="rect">
            <a:avLst/>
          </a:prstGeom>
          <a:noFill/>
          <a:ln/>
        </p:spPr>
        <p:txBody>
          <a:bodyPr wrap="square" rtlCol="0" anchor="ctr"/>
          <a:lstStyle/>
          <a:p>
            <a:pPr algn="ctr" indent="0" marL="0">
              <a:buNone/>
            </a:pPr>
            <a:r>
              <a:rPr lang="en-US" sz="1100" b="1" dirty="0">
                <a:solidFill>
                  <a:srgbClr val="2B3A8C"/>
                </a:solidFill>
                <a:latin typeface="Calibri" pitchFamily="34" charset="0"/>
                <a:ea typeface="Calibri" pitchFamily="34" charset="-122"/>
                <a:cs typeface="Calibri" pitchFamily="34" charset="-120"/>
              </a:rPr>
              <a:t>REFERENCE</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3840480"/>
                <a:gridCol w="7040880"/>
              </a:tblGrid>
              <a:tr h="0">
                <a:tc>
                  <a:txBody>
                    <a:bodyPr/>
                    <a:lstStyle/>
                    <a:p>
                      <a:pPr indent="0" marL="0">
                        <a:buNone/>
                      </a:pPr>
                      <a:r>
                        <a:rPr lang="en-US" sz="1200" b="1" dirty="0">
                          <a:solidFill>
                            <a:srgbClr val="FFFFFF"/>
                          </a:solidFill>
                        </a:rPr>
                        <a:t>Category</a:t>
                      </a:r>
                      <a:endParaRPr lang="en-US" sz="120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solidFill>
                      <a:srgbClr val="12100E"/>
                    </a:solidFill>
                  </a:tcPr>
                </a:tc>
                <a:tc>
                  <a:txBody>
                    <a:bodyPr/>
                    <a:lstStyle/>
                    <a:p>
                      <a:pPr indent="0" marL="0">
                        <a:buNone/>
                      </a:pPr>
                      <a:r>
                        <a:rPr lang="en-US" sz="1200" b="1" dirty="0">
                          <a:solidFill>
                            <a:srgbClr val="FFFFFF"/>
                          </a:solidFill>
                        </a:rPr>
                        <a:t>Used for</a:t>
                      </a:r>
                      <a:endParaRPr lang="en-US" sz="120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solidFill>
                      <a:srgbClr val="12100E"/>
                    </a:solidFill>
                  </a:tcPr>
                </a:tc>
              </a:tr>
              <a:tr h="0">
                <a:tc>
                  <a:txBody>
                    <a:bodyPr/>
                    <a:lstStyle/>
                    <a:p>
                      <a:pPr indent="0" marL="0">
                        <a:buNone/>
                      </a:pPr>
                      <a:r>
                        <a:rPr lang="en-US" sz="1250" dirty="0">
                          <a:solidFill>
                            <a:srgbClr val="2C2A28"/>
                          </a:solidFill>
                        </a:rPr>
                        <a:t>Sprites</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c>
                  <a:txBody>
                    <a:bodyPr/>
                    <a:lstStyle/>
                    <a:p>
                      <a:pPr indent="0" marL="0">
                        <a:buNone/>
                      </a:pPr>
                      <a:r>
                        <a:rPr lang="en-US" sz="1250" dirty="0">
                          <a:solidFill>
                            <a:srgbClr val="2C2A28"/>
                          </a:solidFill>
                        </a:rPr>
                        <a:t>Creating, moving, and changing the appearance of game objects.</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r>
              <a:tr h="0">
                <a:tc>
                  <a:txBody>
                    <a:bodyPr/>
                    <a:lstStyle/>
                    <a:p>
                      <a:pPr indent="0" marL="0">
                        <a:buNone/>
                      </a:pPr>
                      <a:r>
                        <a:rPr lang="en-US" sz="1250" dirty="0">
                          <a:solidFill>
                            <a:srgbClr val="2C2A28"/>
                          </a:solidFill>
                        </a:rPr>
                        <a:t>Controller</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c>
                  <a:txBody>
                    <a:bodyPr/>
                    <a:lstStyle/>
                    <a:p>
                      <a:pPr indent="0" marL="0">
                        <a:buNone/>
                      </a:pPr>
                      <a:r>
                        <a:rPr lang="en-US" sz="1250" dirty="0">
                          <a:solidFill>
                            <a:srgbClr val="2C2A28"/>
                          </a:solidFill>
                        </a:rPr>
                        <a:t>Reading button presses (A, B, directional pad).</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r>
              <a:tr h="0">
                <a:tc>
                  <a:txBody>
                    <a:bodyPr/>
                    <a:lstStyle/>
                    <a:p>
                      <a:pPr indent="0" marL="0">
                        <a:buNone/>
                      </a:pPr>
                      <a:r>
                        <a:rPr lang="en-US" sz="1250" dirty="0">
                          <a:solidFill>
                            <a:srgbClr val="2C2A28"/>
                          </a:solidFill>
                        </a:rPr>
                        <a:t>Game</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c>
                  <a:txBody>
                    <a:bodyPr/>
                    <a:lstStyle/>
                    <a:p>
                      <a:pPr indent="0" marL="0">
                        <a:buNone/>
                      </a:pPr>
                      <a:r>
                        <a:rPr lang="en-US" sz="1250" dirty="0">
                          <a:solidFill>
                            <a:srgbClr val="2C2A28"/>
                          </a:solidFill>
                        </a:rPr>
                        <a:t>Score, lives, win/lose conditions.</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r>
              <a:tr h="0">
                <a:tc>
                  <a:txBody>
                    <a:bodyPr/>
                    <a:lstStyle/>
                    <a:p>
                      <a:pPr indent="0" marL="0">
                        <a:buNone/>
                      </a:pPr>
                      <a:r>
                        <a:rPr lang="en-US" sz="1250" dirty="0">
                          <a:solidFill>
                            <a:srgbClr val="2C2A28"/>
                          </a:solidFill>
                        </a:rPr>
                        <a:t>Loops / Logic / Variables</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c>
                  <a:txBody>
                    <a:bodyPr/>
                    <a:lstStyle/>
                    <a:p>
                      <a:pPr indent="0" marL="0">
                        <a:buNone/>
                      </a:pPr>
                      <a:r>
                        <a:rPr lang="en-US" sz="1250" dirty="0">
                          <a:solidFill>
                            <a:srgbClr val="2C2A28"/>
                          </a:solidFill>
                        </a:rPr>
                        <a:t>Repetition, conditions, and stored values — variables come up after the break, loops and logic next lesson.</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spc="150" kern="0" dirty="0">
                <a:solidFill>
                  <a:srgbClr val="6B6762"/>
                </a:solidFill>
                <a:latin typeface="Calibri" pitchFamily="34" charset="0"/>
                <a:ea typeface="Calibri" pitchFamily="34" charset="-122"/>
                <a:cs typeface="Calibri" pitchFamily="34" charset="-120"/>
              </a:rPr>
              <a:t>APPLICATION OF LEARNING</a:t>
            </a:r>
            <a:endParaRPr lang="en-US" sz="1100" dirty="0"/>
          </a:p>
        </p:txBody>
      </p:sp>
      <p:sp>
        <p:nvSpPr>
          <p:cNvPr id="3" name="Text 1"/>
          <p:cNvSpPr/>
          <p:nvPr/>
        </p:nvSpPr>
        <p:spPr>
          <a:xfrm>
            <a:off x="548640" y="566928"/>
            <a:ext cx="8686800" cy="640080"/>
          </a:xfrm>
          <a:prstGeom prst="rect">
            <a:avLst/>
          </a:prstGeom>
          <a:noFill/>
          <a:ln/>
        </p:spPr>
        <p:txBody>
          <a:bodyPr wrap="square" rtlCol="0" anchor="ctr"/>
          <a:lstStyle/>
          <a:p>
            <a:pPr indent="0" marL="0">
              <a:buNone/>
            </a:pPr>
            <a:r>
              <a:rPr lang="en-US" sz="2800" b="1" dirty="0">
                <a:solidFill>
                  <a:srgbClr val="12100E"/>
                </a:solidFill>
                <a:latin typeface="Cambria" pitchFamily="34" charset="0"/>
                <a:ea typeface="Cambria" pitchFamily="34" charset="-122"/>
                <a:cs typeface="Cambria" pitchFamily="34" charset="-120"/>
              </a:rPr>
              <a:t>Your First Game</a:t>
            </a:r>
            <a:endParaRPr lang="en-US" sz="2800" dirty="0"/>
          </a:p>
        </p:txBody>
      </p:sp>
      <p:sp>
        <p:nvSpPr>
          <p:cNvPr id="4" name="Shape 2"/>
          <p:cNvSpPr/>
          <p:nvPr/>
        </p:nvSpPr>
        <p:spPr>
          <a:xfrm>
            <a:off x="9692640" y="457200"/>
            <a:ext cx="1828800" cy="384048"/>
          </a:xfrm>
          <a:prstGeom prst="roundRect">
            <a:avLst>
              <a:gd name="adj" fmla="val 19048"/>
            </a:avLst>
          </a:prstGeom>
          <a:solidFill>
            <a:srgbClr val="E3EEE9"/>
          </a:solidFill>
          <a:ln/>
        </p:spPr>
      </p:sp>
      <p:sp>
        <p:nvSpPr>
          <p:cNvPr id="5" name="Text 3"/>
          <p:cNvSpPr/>
          <p:nvPr/>
        </p:nvSpPr>
        <p:spPr>
          <a:xfrm>
            <a:off x="9692640" y="457200"/>
            <a:ext cx="1828800" cy="384048"/>
          </a:xfrm>
          <a:prstGeom prst="rect">
            <a:avLst/>
          </a:prstGeom>
          <a:noFill/>
          <a:ln/>
        </p:spPr>
        <p:txBody>
          <a:bodyPr wrap="square" rtlCol="0" anchor="ctr"/>
          <a:lstStyle/>
          <a:p>
            <a:pPr algn="ctr" indent="0" marL="0">
              <a:buNone/>
            </a:pPr>
            <a:r>
              <a:rPr lang="en-US" sz="1100" b="1" dirty="0">
                <a:solidFill>
                  <a:srgbClr val="1B5E47"/>
                </a:solidFill>
                <a:latin typeface="Calibri" pitchFamily="34" charset="0"/>
                <a:ea typeface="Calibri" pitchFamily="34" charset="-122"/>
                <a:cs typeface="Calibri" pitchFamily="34" charset="-120"/>
              </a:rPr>
              <a:t>TASK</a:t>
            </a:r>
            <a:endParaRPr lang="en-US" sz="1100" dirty="0"/>
          </a:p>
        </p:txBody>
      </p:sp>
      <p:sp>
        <p:nvSpPr>
          <p:cNvPr id="6" name="Text 4"/>
          <p:cNvSpPr/>
          <p:nvPr/>
        </p:nvSpPr>
        <p:spPr>
          <a:xfrm>
            <a:off x="640080" y="1463040"/>
            <a:ext cx="10607040" cy="3474720"/>
          </a:xfrm>
          <a:prstGeom prst="rect">
            <a:avLst/>
          </a:prstGeom>
          <a:noFill/>
          <a:ln/>
        </p:spPr>
        <p:txBody>
          <a:bodyPr wrap="square" rtlCol="0" anchor="t"/>
          <a:lstStyle/>
          <a:p>
            <a:pPr marL="342900" indent="-342900">
              <a:spcAft>
                <a:spcPts val="900"/>
              </a:spcAft>
              <a:buSzPct val="100000"/>
              <a:buChar char="•"/>
            </a:pPr>
            <a:r>
              <a:rPr lang="en-US" sz="1550" dirty="0">
                <a:solidFill>
                  <a:srgbClr val="2C2A28"/>
                </a:solidFill>
                <a:latin typeface="Calibri" pitchFamily="34" charset="0"/>
                <a:ea typeface="Calibri" pitchFamily="34" charset="-122"/>
                <a:cs typeface="Calibri" pitchFamily="34" charset="-120"/>
              </a:rPr>
              <a:t>Complete the official "Chase the Pizza" tutorial (or teacher-provided equivalent).</a:t>
            </a:r>
            <a:endParaRPr lang="en-US" sz="1550" dirty="0"/>
          </a:p>
          <a:p>
            <a:pPr marL="342900" indent="-342900">
              <a:spcAft>
                <a:spcPts val="900"/>
              </a:spcAft>
              <a:buSzPct val="100000"/>
              <a:buChar char="•"/>
            </a:pPr>
            <a:r>
              <a:rPr lang="en-US" sz="1550" dirty="0">
                <a:solidFill>
                  <a:srgbClr val="2C2A28"/>
                </a:solidFill>
                <a:latin typeface="Calibri" pitchFamily="34" charset="0"/>
                <a:ea typeface="Calibri" pitchFamily="34" charset="-122"/>
                <a:cs typeface="Calibri" pitchFamily="34" charset="-120"/>
              </a:rPr>
              <a:t>Import your Lesson 2 sprite art to replace at least the player sprite.</a:t>
            </a:r>
            <a:endParaRPr lang="en-US" sz="1550" dirty="0"/>
          </a:p>
          <a:p>
            <a:pPr marL="342900" indent="-342900">
              <a:spcAft>
                <a:spcPts val="900"/>
              </a:spcAft>
              <a:buSzPct val="100000"/>
              <a:buChar char="•"/>
            </a:pPr>
            <a:r>
              <a:rPr lang="en-US" sz="1550" dirty="0">
                <a:solidFill>
                  <a:srgbClr val="2C2A28"/>
                </a:solidFill>
                <a:latin typeface="Calibri" pitchFamily="34" charset="0"/>
                <a:ea typeface="Calibri" pitchFamily="34" charset="-122"/>
                <a:cs typeface="Calibri" pitchFamily="34" charset="-120"/>
              </a:rPr>
              <a:t>(Extending) Add one extra event-driven behaviour beyond the tutorial.</a:t>
            </a:r>
            <a:endParaRPr lang="en-US" sz="1550" dirty="0"/>
          </a:p>
        </p:txBody>
      </p:sp>
      <p:sp>
        <p:nvSpPr>
          <p:cNvPr id="7" name="Shape 5"/>
          <p:cNvSpPr/>
          <p:nvPr/>
        </p:nvSpPr>
        <p:spPr>
          <a:xfrm>
            <a:off x="640080" y="5806440"/>
            <a:ext cx="10881360" cy="594360"/>
          </a:xfrm>
          <a:prstGeom prst="roundRect">
            <a:avLst>
              <a:gd name="adj" fmla="val 9231"/>
            </a:avLst>
          </a:prstGeom>
          <a:solidFill>
            <a:srgbClr val="F6E8D8"/>
          </a:solidFill>
          <a:ln/>
        </p:spPr>
      </p:sp>
      <p:sp>
        <p:nvSpPr>
          <p:cNvPr id="8" name="Text 6"/>
          <p:cNvSpPr/>
          <p:nvPr/>
        </p:nvSpPr>
        <p:spPr>
          <a:xfrm>
            <a:off x="868680" y="5806440"/>
            <a:ext cx="10424160" cy="594360"/>
          </a:xfrm>
          <a:prstGeom prst="rect">
            <a:avLst/>
          </a:prstGeom>
          <a:noFill/>
          <a:ln/>
        </p:spPr>
        <p:txBody>
          <a:bodyPr wrap="square" rtlCol="0" anchor="ctr"/>
          <a:lstStyle/>
          <a:p>
            <a:pPr indent="0" marL="0">
              <a:buNone/>
            </a:pPr>
            <a:r>
              <a:rPr lang="en-US" sz="1250" b="1" dirty="0">
                <a:solidFill>
                  <a:srgbClr val="B8620A"/>
                </a:solidFill>
                <a:latin typeface="Calibri" pitchFamily="34" charset="0"/>
                <a:ea typeface="Calibri" pitchFamily="34" charset="-122"/>
                <a:cs typeface="Calibri" pitchFamily="34" charset="-120"/>
              </a:rPr>
              <a:t>📋  Save your project — you build on this exact file after the break, and again next lesson.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spc="150" kern="0" dirty="0">
                <a:solidFill>
                  <a:srgbClr val="6B6762"/>
                </a:solidFill>
                <a:latin typeface="Calibri" pitchFamily="34" charset="0"/>
                <a:ea typeface="Calibri" pitchFamily="34" charset="-122"/>
                <a:cs typeface="Calibri" pitchFamily="34" charset="-120"/>
              </a:rPr>
              <a:t>BRAIN BREAK</a:t>
            </a:r>
            <a:endParaRPr lang="en-US" sz="1100" dirty="0"/>
          </a:p>
        </p:txBody>
      </p:sp>
      <p:sp>
        <p:nvSpPr>
          <p:cNvPr id="3" name="Text 1"/>
          <p:cNvSpPr/>
          <p:nvPr/>
        </p:nvSpPr>
        <p:spPr>
          <a:xfrm>
            <a:off x="548640" y="566928"/>
            <a:ext cx="8686800" cy="640080"/>
          </a:xfrm>
          <a:prstGeom prst="rect">
            <a:avLst/>
          </a:prstGeom>
          <a:noFill/>
          <a:ln/>
        </p:spPr>
        <p:txBody>
          <a:bodyPr wrap="square" rtlCol="0" anchor="ctr"/>
          <a:lstStyle/>
          <a:p>
            <a:pPr indent="0" marL="0">
              <a:buNone/>
            </a:pPr>
            <a:r>
              <a:rPr lang="en-US" sz="2800" b="1" dirty="0">
                <a:solidFill>
                  <a:srgbClr val="12100E"/>
                </a:solidFill>
                <a:latin typeface="Cambria" pitchFamily="34" charset="0"/>
                <a:ea typeface="Cambria" pitchFamily="34" charset="-122"/>
                <a:cs typeface="Cambria" pitchFamily="34" charset="-120"/>
              </a:rPr>
              <a:t>Screens Down, Stand Up</a:t>
            </a:r>
            <a:endParaRPr lang="en-US" sz="2800" dirty="0"/>
          </a:p>
        </p:txBody>
      </p:sp>
      <p:sp>
        <p:nvSpPr>
          <p:cNvPr id="4" name="Shape 2"/>
          <p:cNvSpPr/>
          <p:nvPr/>
        </p:nvSpPr>
        <p:spPr>
          <a:xfrm>
            <a:off x="9692640" y="457200"/>
            <a:ext cx="1828800" cy="384048"/>
          </a:xfrm>
          <a:prstGeom prst="roundRect">
            <a:avLst>
              <a:gd name="adj" fmla="val 19048"/>
            </a:avLst>
          </a:prstGeom>
          <a:solidFill>
            <a:srgbClr val="F6E8D8"/>
          </a:solidFill>
          <a:ln/>
        </p:spPr>
      </p:sp>
      <p:sp>
        <p:nvSpPr>
          <p:cNvPr id="5" name="Text 3"/>
          <p:cNvSpPr/>
          <p:nvPr/>
        </p:nvSpPr>
        <p:spPr>
          <a:xfrm>
            <a:off x="9692640" y="457200"/>
            <a:ext cx="1828800" cy="384048"/>
          </a:xfrm>
          <a:prstGeom prst="rect">
            <a:avLst/>
          </a:prstGeom>
          <a:noFill/>
          <a:ln/>
        </p:spPr>
        <p:txBody>
          <a:bodyPr wrap="square" rtlCol="0" anchor="ctr"/>
          <a:lstStyle/>
          <a:p>
            <a:pPr algn="ctr" indent="0" marL="0">
              <a:buNone/>
            </a:pPr>
            <a:r>
              <a:rPr lang="en-US" sz="1100" b="1" dirty="0">
                <a:solidFill>
                  <a:srgbClr val="B8620A"/>
                </a:solidFill>
                <a:latin typeface="Calibri" pitchFamily="34" charset="0"/>
                <a:ea typeface="Calibri" pitchFamily="34" charset="-122"/>
                <a:cs typeface="Calibri" pitchFamily="34" charset="-120"/>
              </a:rPr>
              <a:t>BREAK</a:t>
            </a:r>
            <a:endParaRPr lang="en-US" sz="1100" dirty="0"/>
          </a:p>
        </p:txBody>
      </p:sp>
      <p:sp>
        <p:nvSpPr>
          <p:cNvPr id="6" name="Text 4"/>
          <p:cNvSpPr/>
          <p:nvPr/>
        </p:nvSpPr>
        <p:spPr>
          <a:xfrm>
            <a:off x="640080" y="1463040"/>
            <a:ext cx="10607040" cy="4572000"/>
          </a:xfrm>
          <a:prstGeom prst="rect">
            <a:avLst/>
          </a:prstGeom>
          <a:noFill/>
          <a:ln/>
        </p:spPr>
        <p:txBody>
          <a:bodyPr wrap="square" rtlCol="0" anchor="t"/>
          <a:lstStyle/>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Save first. Then screens down and stand up — 60 seconds of stretching or moving.</a:t>
            </a:r>
            <a:endParaRPr lang="en-US" sz="1600" dirty="0"/>
          </a:p>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Tell someone near you the single best thing your game does so far.</a:t>
            </a:r>
            <a:endParaRPr lang="en-US" sz="1600" dirty="0"/>
          </a:p>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We are changing gears after this: from making things happen, to remembering things.</a:t>
            </a:r>
            <a:endParaRPr lang="en-US" sz="1600" dirty="0"/>
          </a:p>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Laptops stay closed until the task slide after the break.</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spc="150" kern="0" dirty="0">
                <a:solidFill>
                  <a:srgbClr val="6B6762"/>
                </a:solidFill>
                <a:latin typeface="Calibri" pitchFamily="34" charset="0"/>
                <a:ea typeface="Calibri" pitchFamily="34" charset="-122"/>
                <a:cs typeface="Calibri" pitchFamily="34" charset="-120"/>
              </a:rPr>
              <a:t>EXPLICIT EXPLANATION</a:t>
            </a:r>
            <a:endParaRPr lang="en-US" sz="1100" dirty="0"/>
          </a:p>
        </p:txBody>
      </p:sp>
      <p:sp>
        <p:nvSpPr>
          <p:cNvPr id="3" name="Text 1"/>
          <p:cNvSpPr/>
          <p:nvPr/>
        </p:nvSpPr>
        <p:spPr>
          <a:xfrm>
            <a:off x="548640" y="566928"/>
            <a:ext cx="8686800" cy="640080"/>
          </a:xfrm>
          <a:prstGeom prst="rect">
            <a:avLst/>
          </a:prstGeom>
          <a:noFill/>
          <a:ln/>
        </p:spPr>
        <p:txBody>
          <a:bodyPr wrap="square" rtlCol="0" anchor="ctr"/>
          <a:lstStyle/>
          <a:p>
            <a:pPr indent="0" marL="0">
              <a:buNone/>
            </a:pPr>
            <a:r>
              <a:rPr lang="en-US" sz="2800" b="1" dirty="0">
                <a:solidFill>
                  <a:srgbClr val="12100E"/>
                </a:solidFill>
                <a:latin typeface="Cambria" pitchFamily="34" charset="0"/>
                <a:ea typeface="Cambria" pitchFamily="34" charset="-122"/>
                <a:cs typeface="Cambria" pitchFamily="34" charset="-120"/>
              </a:rPr>
              <a:t>A Variable Is a Labelled Box</a:t>
            </a:r>
            <a:endParaRPr lang="en-US" sz="2800" dirty="0"/>
          </a:p>
        </p:txBody>
      </p:sp>
      <p:sp>
        <p:nvSpPr>
          <p:cNvPr id="4" name="Shape 2"/>
          <p:cNvSpPr/>
          <p:nvPr/>
        </p:nvSpPr>
        <p:spPr>
          <a:xfrm>
            <a:off x="9692640" y="457200"/>
            <a:ext cx="1828800" cy="384048"/>
          </a:xfrm>
          <a:prstGeom prst="roundRect">
            <a:avLst>
              <a:gd name="adj" fmla="val 19048"/>
            </a:avLst>
          </a:prstGeom>
          <a:solidFill>
            <a:srgbClr val="F6E8D8"/>
          </a:solidFill>
          <a:ln/>
        </p:spPr>
      </p:sp>
      <p:sp>
        <p:nvSpPr>
          <p:cNvPr id="5" name="Text 3"/>
          <p:cNvSpPr/>
          <p:nvPr/>
        </p:nvSpPr>
        <p:spPr>
          <a:xfrm>
            <a:off x="9692640" y="457200"/>
            <a:ext cx="1828800" cy="384048"/>
          </a:xfrm>
          <a:prstGeom prst="rect">
            <a:avLst/>
          </a:prstGeom>
          <a:noFill/>
          <a:ln/>
        </p:spPr>
        <p:txBody>
          <a:bodyPr wrap="square" rtlCol="0" anchor="ctr"/>
          <a:lstStyle/>
          <a:p>
            <a:pPr algn="ctr" indent="0" marL="0">
              <a:buNone/>
            </a:pPr>
            <a:r>
              <a:rPr lang="en-US" sz="1100" b="1" dirty="0">
                <a:solidFill>
                  <a:srgbClr val="B8620A"/>
                </a:solidFill>
                <a:latin typeface="Calibri" pitchFamily="34" charset="0"/>
                <a:ea typeface="Calibri" pitchFamily="34" charset="-122"/>
                <a:cs typeface="Calibri" pitchFamily="34" charset="-120"/>
              </a:rPr>
              <a:t>ANALOGY</a:t>
            </a:r>
            <a:endParaRPr lang="en-US" sz="1100" dirty="0"/>
          </a:p>
        </p:txBody>
      </p:sp>
      <p:sp>
        <p:nvSpPr>
          <p:cNvPr id="6" name="Shape 4"/>
          <p:cNvSpPr/>
          <p:nvPr/>
        </p:nvSpPr>
        <p:spPr>
          <a:xfrm>
            <a:off x="822960" y="1828800"/>
            <a:ext cx="10149840" cy="3291840"/>
          </a:xfrm>
          <a:prstGeom prst="roundRect">
            <a:avLst>
              <a:gd name="adj" fmla="val 2778"/>
            </a:avLst>
          </a:prstGeom>
          <a:solidFill>
            <a:srgbClr val="FFFFFF"/>
          </a:solidFill>
          <a:ln w="19050">
            <a:solidFill>
              <a:srgbClr val="B8620A"/>
            </a:solidFill>
            <a:prstDash val="solid"/>
          </a:ln>
          <a:effectLst>
            <a:outerShdw sx="100000" sy="100000" kx="0" ky="0" algn="bl" rotWithShape="0" blurRad="101600" dist="25400" dir="5400000">
              <a:srgbClr val="000000">
                <a:alpha val="8000"/>
              </a:srgbClr>
            </a:outerShdw>
          </a:effectLst>
        </p:spPr>
      </p:sp>
      <p:sp>
        <p:nvSpPr>
          <p:cNvPr id="7" name="Text 5"/>
          <p:cNvSpPr/>
          <p:nvPr/>
        </p:nvSpPr>
        <p:spPr>
          <a:xfrm>
            <a:off x="1188720" y="2148840"/>
            <a:ext cx="9418320" cy="320040"/>
          </a:xfrm>
          <a:prstGeom prst="rect">
            <a:avLst/>
          </a:prstGeom>
          <a:noFill/>
          <a:ln/>
        </p:spPr>
        <p:txBody>
          <a:bodyPr wrap="square" rtlCol="0" anchor="ctr"/>
          <a:lstStyle/>
          <a:p>
            <a:pPr indent="0" marL="0">
              <a:buNone/>
            </a:pPr>
            <a:r>
              <a:rPr lang="en-US" sz="1100" b="1" spc="120" kern="0" dirty="0">
                <a:solidFill>
                  <a:srgbClr val="B8620A"/>
                </a:solidFill>
                <a:latin typeface="Calibri" pitchFamily="34" charset="0"/>
                <a:ea typeface="Calibri" pitchFamily="34" charset="-122"/>
                <a:cs typeface="Calibri" pitchFamily="34" charset="-120"/>
              </a:rPr>
              <a:t>DEFINITION</a:t>
            </a:r>
            <a:endParaRPr lang="en-US" sz="1100" dirty="0"/>
          </a:p>
        </p:txBody>
      </p:sp>
      <p:sp>
        <p:nvSpPr>
          <p:cNvPr id="8" name="Text 6"/>
          <p:cNvSpPr/>
          <p:nvPr/>
        </p:nvSpPr>
        <p:spPr>
          <a:xfrm>
            <a:off x="1188720" y="2606040"/>
            <a:ext cx="9418320" cy="2286000"/>
          </a:xfrm>
          <a:prstGeom prst="rect">
            <a:avLst/>
          </a:prstGeom>
          <a:noFill/>
          <a:ln/>
        </p:spPr>
        <p:txBody>
          <a:bodyPr wrap="square" rtlCol="0" anchor="t"/>
          <a:lstStyle/>
          <a:p>
            <a:pPr indent="0" marL="0">
              <a:lnSpc>
                <a:spcPts val="2800"/>
              </a:lnSpc>
              <a:buNone/>
            </a:pPr>
            <a:r>
              <a:rPr lang="en-US" sz="2100" dirty="0">
                <a:solidFill>
                  <a:srgbClr val="12100E"/>
                </a:solidFill>
                <a:latin typeface="Cambria" pitchFamily="34" charset="0"/>
                <a:ea typeface="Cambria" pitchFamily="34" charset="-122"/>
                <a:cs typeface="Cambria" pitchFamily="34" charset="-120"/>
              </a:rPr>
              <a:t>A variable is a named place to store a value that can change while the program runs.</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spc="150" kern="0" dirty="0">
                <a:solidFill>
                  <a:srgbClr val="6B6762"/>
                </a:solidFill>
                <a:latin typeface="Calibri" pitchFamily="34" charset="0"/>
                <a:ea typeface="Calibri" pitchFamily="34" charset="-122"/>
                <a:cs typeface="Calibri" pitchFamily="34" charset="-120"/>
              </a:rPr>
              <a:t>TOOL WALKTHROUGH</a:t>
            </a:r>
            <a:endParaRPr lang="en-US" sz="1100" dirty="0"/>
          </a:p>
        </p:txBody>
      </p:sp>
      <p:sp>
        <p:nvSpPr>
          <p:cNvPr id="3" name="Text 1"/>
          <p:cNvSpPr/>
          <p:nvPr/>
        </p:nvSpPr>
        <p:spPr>
          <a:xfrm>
            <a:off x="548640" y="566928"/>
            <a:ext cx="8686800" cy="640080"/>
          </a:xfrm>
          <a:prstGeom prst="rect">
            <a:avLst/>
          </a:prstGeom>
          <a:noFill/>
          <a:ln/>
        </p:spPr>
        <p:txBody>
          <a:bodyPr wrap="square" rtlCol="0" anchor="ctr"/>
          <a:lstStyle/>
          <a:p>
            <a:pPr indent="0" marL="0">
              <a:buNone/>
            </a:pPr>
            <a:r>
              <a:rPr lang="en-US" sz="2800" b="1" dirty="0">
                <a:solidFill>
                  <a:srgbClr val="12100E"/>
                </a:solidFill>
                <a:latin typeface="Cambria" pitchFamily="34" charset="0"/>
                <a:ea typeface="Cambria" pitchFamily="34" charset="-122"/>
                <a:cs typeface="Cambria" pitchFamily="34" charset="-120"/>
              </a:rPr>
              <a:t>Score &amp; Lives in MakeCode</a:t>
            </a:r>
            <a:endParaRPr lang="en-US" sz="2800" dirty="0"/>
          </a:p>
        </p:txBody>
      </p:sp>
      <p:sp>
        <p:nvSpPr>
          <p:cNvPr id="4" name="Shape 2"/>
          <p:cNvSpPr/>
          <p:nvPr/>
        </p:nvSpPr>
        <p:spPr>
          <a:xfrm>
            <a:off x="9692640" y="457200"/>
            <a:ext cx="1828800" cy="384048"/>
          </a:xfrm>
          <a:prstGeom prst="roundRect">
            <a:avLst>
              <a:gd name="adj" fmla="val 19048"/>
            </a:avLst>
          </a:prstGeom>
          <a:solidFill>
            <a:srgbClr val="F6E8D8"/>
          </a:solidFill>
          <a:ln/>
        </p:spPr>
      </p:sp>
      <p:sp>
        <p:nvSpPr>
          <p:cNvPr id="5" name="Text 3"/>
          <p:cNvSpPr/>
          <p:nvPr/>
        </p:nvSpPr>
        <p:spPr>
          <a:xfrm>
            <a:off x="9692640" y="457200"/>
            <a:ext cx="1828800" cy="384048"/>
          </a:xfrm>
          <a:prstGeom prst="rect">
            <a:avLst/>
          </a:prstGeom>
          <a:noFill/>
          <a:ln/>
        </p:spPr>
        <p:txBody>
          <a:bodyPr wrap="square" rtlCol="0" anchor="ctr"/>
          <a:lstStyle/>
          <a:p>
            <a:pPr algn="ctr" indent="0" marL="0">
              <a:buNone/>
            </a:pPr>
            <a:r>
              <a:rPr lang="en-US" sz="1100" b="1" dirty="0">
                <a:solidFill>
                  <a:srgbClr val="B8620A"/>
                </a:solidFill>
                <a:latin typeface="Calibri" pitchFamily="34" charset="0"/>
                <a:ea typeface="Calibri" pitchFamily="34" charset="-122"/>
                <a:cs typeface="Calibri" pitchFamily="34" charset="-120"/>
              </a:rPr>
              <a:t>TOOL</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881360" cy="914400"/>
        </p:xfrm>
        <a:graphic>
          <a:graphicData uri="http://schemas.openxmlformats.org/drawingml/2006/table">
            <a:tbl>
              <a:tblPr/>
              <a:tblGrid>
                <a:gridCol w="3931920"/>
                <a:gridCol w="6949440"/>
              </a:tblGrid>
              <a:tr h="0">
                <a:tc>
                  <a:txBody>
                    <a:bodyPr/>
                    <a:lstStyle/>
                    <a:p>
                      <a:pPr indent="0" marL="0">
                        <a:buNone/>
                      </a:pPr>
                      <a:r>
                        <a:rPr lang="en-US" sz="1200" b="1" dirty="0">
                          <a:solidFill>
                            <a:srgbClr val="FFFFFF"/>
                          </a:solidFill>
                        </a:rPr>
                        <a:t>Block</a:t>
                      </a:r>
                      <a:endParaRPr lang="en-US" sz="120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solidFill>
                      <a:srgbClr val="12100E"/>
                    </a:solidFill>
                  </a:tcPr>
                </a:tc>
                <a:tc>
                  <a:txBody>
                    <a:bodyPr/>
                    <a:lstStyle/>
                    <a:p>
                      <a:pPr indent="0" marL="0">
                        <a:buNone/>
                      </a:pPr>
                      <a:r>
                        <a:rPr lang="en-US" sz="1200" b="1" dirty="0">
                          <a:solidFill>
                            <a:srgbClr val="FFFFFF"/>
                          </a:solidFill>
                        </a:rPr>
                        <a:t>What it does</a:t>
                      </a:r>
                      <a:endParaRPr lang="en-US" sz="120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solidFill>
                      <a:srgbClr val="12100E"/>
                    </a:solidFill>
                  </a:tcPr>
                </a:tc>
              </a:tr>
              <a:tr h="0">
                <a:tc>
                  <a:txBody>
                    <a:bodyPr/>
                    <a:lstStyle/>
                    <a:p>
                      <a:pPr indent="0" marL="0">
                        <a:buNone/>
                      </a:pPr>
                      <a:r>
                        <a:rPr lang="en-US" sz="1250" dirty="0">
                          <a:solidFill>
                            <a:srgbClr val="2C2A28"/>
                          </a:solidFill>
                        </a:rPr>
                        <a:t>set score to 0</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c>
                  <a:txBody>
                    <a:bodyPr/>
                    <a:lstStyle/>
                    <a:p>
                      <a:pPr indent="0" marL="0">
                        <a:buNone/>
                      </a:pPr>
                      <a:r>
                        <a:rPr lang="en-US" sz="1250" dirty="0">
                          <a:solidFill>
                            <a:srgbClr val="2C2A28"/>
                          </a:solidFill>
                        </a:rPr>
                        <a:t>Sets the starting value — use once, on start.</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r>
              <a:tr h="0">
                <a:tc>
                  <a:txBody>
                    <a:bodyPr/>
                    <a:lstStyle/>
                    <a:p>
                      <a:pPr indent="0" marL="0">
                        <a:buNone/>
                      </a:pPr>
                      <a:r>
                        <a:rPr lang="en-US" sz="1250" dirty="0">
                          <a:solidFill>
                            <a:srgbClr val="2C2A28"/>
                          </a:solidFill>
                        </a:rPr>
                        <a:t>change score by 1</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c>
                  <a:txBody>
                    <a:bodyPr/>
                    <a:lstStyle/>
                    <a:p>
                      <a:pPr indent="0" marL="0">
                        <a:buNone/>
                      </a:pPr>
                      <a:r>
                        <a:rPr lang="en-US" sz="1250" dirty="0">
                          <a:solidFill>
                            <a:srgbClr val="2C2A28"/>
                          </a:solidFill>
                        </a:rPr>
                        <a:t>Adds to the current value — use on an event, like a collision.</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r>
              <a:tr h="0">
                <a:tc>
                  <a:txBody>
                    <a:bodyPr/>
                    <a:lstStyle/>
                    <a:p>
                      <a:pPr indent="0" marL="0">
                        <a:buNone/>
                      </a:pPr>
                      <a:r>
                        <a:rPr lang="en-US" sz="1250" dirty="0">
                          <a:solidFill>
                            <a:srgbClr val="2C2A28"/>
                          </a:solidFill>
                        </a:rPr>
                        <a:t>info.setScore / info.setLife</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c>
                  <a:txBody>
                    <a:bodyPr/>
                    <a:lstStyle/>
                    <a:p>
                      <a:pPr indent="0" marL="0">
                        <a:buNone/>
                      </a:pPr>
                      <a:r>
                        <a:rPr lang="en-US" sz="1250" dirty="0">
                          <a:solidFill>
                            <a:srgbClr val="2C2A28"/>
                          </a:solidFill>
                        </a:rPr>
                        <a:t>MakeCode's built-in score/life display, shown automatically.</a:t>
                      </a:r>
                      <a:endParaRPr lang="en-US" sz="1250" dirty="0"/>
                    </a:p>
                  </a:txBody>
                  <a:tcPr marL="101600" marR="101600" marT="76200" marB="76200" anchor="ctr">
                    <a:lnL w="9525" cap="flat" cmpd="sng" algn="ctr">
                      <a:solidFill>
                        <a:srgbClr val="D8D3CA"/>
                      </a:solidFill>
                      <a:prstDash val="solid"/>
                      <a:round/>
                      <a:headEnd type="none" w="med" len="med"/>
                      <a:tailEnd type="none" w="med" len="med"/>
                    </a:lnL>
                    <a:lnR w="9525" cap="flat" cmpd="sng" algn="ctr">
                      <a:solidFill>
                        <a:srgbClr val="D8D3CA"/>
                      </a:solidFill>
                      <a:prstDash val="solid"/>
                      <a:round/>
                      <a:headEnd type="none" w="med" len="med"/>
                      <a:tailEnd type="none" w="med" len="med"/>
                    </a:lnR>
                    <a:lnT w="9525" cap="flat" cmpd="sng" algn="ctr">
                      <a:solidFill>
                        <a:srgbClr val="D8D3CA"/>
                      </a:solidFill>
                      <a:prstDash val="solid"/>
                      <a:round/>
                      <a:headEnd type="none" w="med" len="med"/>
                      <a:tailEnd type="none" w="med" len="med"/>
                    </a:lnT>
                    <a:lnB w="9525" cap="flat" cmpd="sng" algn="ctr">
                      <a:solidFill>
                        <a:srgbClr val="D8D3CA"/>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spc="150" kern="0" dirty="0">
                <a:solidFill>
                  <a:srgbClr val="6B6762"/>
                </a:solidFill>
                <a:latin typeface="Calibri" pitchFamily="34" charset="0"/>
                <a:ea typeface="Calibri" pitchFamily="34" charset="-122"/>
                <a:cs typeface="Calibri" pitchFamily="34" charset="-120"/>
              </a:rPr>
              <a:t>COMMON PITFALLS</a:t>
            </a:r>
            <a:endParaRPr lang="en-US" sz="1100" dirty="0"/>
          </a:p>
        </p:txBody>
      </p:sp>
      <p:sp>
        <p:nvSpPr>
          <p:cNvPr id="3" name="Text 1"/>
          <p:cNvSpPr/>
          <p:nvPr/>
        </p:nvSpPr>
        <p:spPr>
          <a:xfrm>
            <a:off x="548640" y="566928"/>
            <a:ext cx="8686800" cy="640080"/>
          </a:xfrm>
          <a:prstGeom prst="rect">
            <a:avLst/>
          </a:prstGeom>
          <a:noFill/>
          <a:ln/>
        </p:spPr>
        <p:txBody>
          <a:bodyPr wrap="square" rtlCol="0" anchor="ctr"/>
          <a:lstStyle/>
          <a:p>
            <a:pPr indent="0" marL="0">
              <a:buNone/>
            </a:pPr>
            <a:r>
              <a:rPr lang="en-US" sz="2800" b="1" dirty="0">
                <a:solidFill>
                  <a:srgbClr val="12100E"/>
                </a:solidFill>
                <a:latin typeface="Cambria" pitchFamily="34" charset="0"/>
                <a:ea typeface="Cambria" pitchFamily="34" charset="-122"/>
                <a:cs typeface="Cambria" pitchFamily="34" charset="-120"/>
              </a:rPr>
              <a:t>What Goes Wrong</a:t>
            </a:r>
            <a:endParaRPr lang="en-US" sz="2800" dirty="0"/>
          </a:p>
        </p:txBody>
      </p:sp>
      <p:sp>
        <p:nvSpPr>
          <p:cNvPr id="4" name="Shape 2"/>
          <p:cNvSpPr/>
          <p:nvPr/>
        </p:nvSpPr>
        <p:spPr>
          <a:xfrm>
            <a:off x="9692640" y="457200"/>
            <a:ext cx="1828800" cy="384048"/>
          </a:xfrm>
          <a:prstGeom prst="roundRect">
            <a:avLst>
              <a:gd name="adj" fmla="val 19048"/>
            </a:avLst>
          </a:prstGeom>
          <a:solidFill>
            <a:srgbClr val="F3DEE0"/>
          </a:solidFill>
          <a:ln/>
        </p:spPr>
      </p:sp>
      <p:sp>
        <p:nvSpPr>
          <p:cNvPr id="5" name="Text 3"/>
          <p:cNvSpPr/>
          <p:nvPr/>
        </p:nvSpPr>
        <p:spPr>
          <a:xfrm>
            <a:off x="9692640" y="457200"/>
            <a:ext cx="1828800" cy="384048"/>
          </a:xfrm>
          <a:prstGeom prst="rect">
            <a:avLst/>
          </a:prstGeom>
          <a:noFill/>
          <a:ln/>
        </p:spPr>
        <p:txBody>
          <a:bodyPr wrap="square" rtlCol="0" anchor="ctr"/>
          <a:lstStyle/>
          <a:p>
            <a:pPr algn="ctr" indent="0" marL="0">
              <a:buNone/>
            </a:pPr>
            <a:r>
              <a:rPr lang="en-US" sz="1100" b="1" dirty="0">
                <a:solidFill>
                  <a:srgbClr val="8C1F28"/>
                </a:solidFill>
                <a:latin typeface="Calibri" pitchFamily="34" charset="0"/>
                <a:ea typeface="Calibri" pitchFamily="34" charset="-122"/>
                <a:cs typeface="Calibri" pitchFamily="34" charset="-120"/>
              </a:rPr>
              <a:t>PITFALLS</a:t>
            </a:r>
            <a:endParaRPr lang="en-US" sz="1100" dirty="0"/>
          </a:p>
        </p:txBody>
      </p:sp>
      <p:sp>
        <p:nvSpPr>
          <p:cNvPr id="6" name="Text 4"/>
          <p:cNvSpPr/>
          <p:nvPr/>
        </p:nvSpPr>
        <p:spPr>
          <a:xfrm>
            <a:off x="640080" y="1463040"/>
            <a:ext cx="10607040" cy="4572000"/>
          </a:xfrm>
          <a:prstGeom prst="rect">
            <a:avLst/>
          </a:prstGeom>
          <a:noFill/>
          <a:ln/>
        </p:spPr>
        <p:txBody>
          <a:bodyPr wrap="square" rtlCol="0" anchor="t"/>
          <a:lstStyle/>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Forgetting a starting value — score starts undefined, unpredictable behaviour follows.</a:t>
            </a:r>
            <a:endParaRPr lang="en-US" sz="1600" dirty="0"/>
          </a:p>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Using "set" instead of "change" — set always overwrites, change adds or subtracts.</a:t>
            </a:r>
            <a:endParaRPr lang="en-US" sz="1600" dirty="0"/>
          </a:p>
          <a:p>
            <a:pPr marL="342900" indent="-342900">
              <a:spcAft>
                <a:spcPts val="1000"/>
              </a:spcAft>
              <a:buSzPct val="100000"/>
              <a:buChar char="•"/>
            </a:pPr>
            <a:r>
              <a:rPr lang="en-US" sz="1600" dirty="0">
                <a:solidFill>
                  <a:srgbClr val="2C2A28"/>
                </a:solidFill>
                <a:latin typeface="Calibri" pitchFamily="34" charset="0"/>
                <a:ea typeface="Calibri" pitchFamily="34" charset="-122"/>
                <a:cs typeface="Calibri" pitchFamily="34" charset="-120"/>
              </a:rPr>
              <a:t>Try it: swap "change score by 1" for "set score to 1" on a repeated event, and watch what happens.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spc="150" kern="0" dirty="0">
                <a:solidFill>
                  <a:srgbClr val="6B6762"/>
                </a:solidFill>
                <a:latin typeface="Calibri" pitchFamily="34" charset="0"/>
                <a:ea typeface="Calibri" pitchFamily="34" charset="-122"/>
                <a:cs typeface="Calibri" pitchFamily="34" charset="-120"/>
              </a:rPr>
              <a:t>APPLICATION OF LEARNING</a:t>
            </a:r>
            <a:endParaRPr lang="en-US" sz="1100" dirty="0"/>
          </a:p>
        </p:txBody>
      </p:sp>
      <p:sp>
        <p:nvSpPr>
          <p:cNvPr id="3" name="Text 1"/>
          <p:cNvSpPr/>
          <p:nvPr/>
        </p:nvSpPr>
        <p:spPr>
          <a:xfrm>
            <a:off x="548640" y="566928"/>
            <a:ext cx="8686800" cy="640080"/>
          </a:xfrm>
          <a:prstGeom prst="rect">
            <a:avLst/>
          </a:prstGeom>
          <a:noFill/>
          <a:ln/>
        </p:spPr>
        <p:txBody>
          <a:bodyPr wrap="square" rtlCol="0" anchor="ctr"/>
          <a:lstStyle/>
          <a:p>
            <a:pPr indent="0" marL="0">
              <a:buNone/>
            </a:pPr>
            <a:r>
              <a:rPr lang="en-US" sz="2800" b="1" dirty="0">
                <a:solidFill>
                  <a:srgbClr val="12100E"/>
                </a:solidFill>
                <a:latin typeface="Cambria" pitchFamily="34" charset="0"/>
                <a:ea typeface="Cambria" pitchFamily="34" charset="-122"/>
                <a:cs typeface="Cambria" pitchFamily="34" charset="-120"/>
              </a:rPr>
              <a:t>Your Turn</a:t>
            </a:r>
            <a:endParaRPr lang="en-US" sz="2800" dirty="0"/>
          </a:p>
        </p:txBody>
      </p:sp>
      <p:sp>
        <p:nvSpPr>
          <p:cNvPr id="4" name="Shape 2"/>
          <p:cNvSpPr/>
          <p:nvPr/>
        </p:nvSpPr>
        <p:spPr>
          <a:xfrm>
            <a:off x="9692640" y="457200"/>
            <a:ext cx="1828800" cy="384048"/>
          </a:xfrm>
          <a:prstGeom prst="roundRect">
            <a:avLst>
              <a:gd name="adj" fmla="val 19048"/>
            </a:avLst>
          </a:prstGeom>
          <a:solidFill>
            <a:srgbClr val="E3EEE9"/>
          </a:solidFill>
          <a:ln/>
        </p:spPr>
      </p:sp>
      <p:sp>
        <p:nvSpPr>
          <p:cNvPr id="5" name="Text 3"/>
          <p:cNvSpPr/>
          <p:nvPr/>
        </p:nvSpPr>
        <p:spPr>
          <a:xfrm>
            <a:off x="9692640" y="457200"/>
            <a:ext cx="1828800" cy="384048"/>
          </a:xfrm>
          <a:prstGeom prst="rect">
            <a:avLst/>
          </a:prstGeom>
          <a:noFill/>
          <a:ln/>
        </p:spPr>
        <p:txBody>
          <a:bodyPr wrap="square" rtlCol="0" anchor="ctr"/>
          <a:lstStyle/>
          <a:p>
            <a:pPr algn="ctr" indent="0" marL="0">
              <a:buNone/>
            </a:pPr>
            <a:r>
              <a:rPr lang="en-US" sz="1100" b="1" dirty="0">
                <a:solidFill>
                  <a:srgbClr val="1B5E47"/>
                </a:solidFill>
                <a:latin typeface="Calibri" pitchFamily="34" charset="0"/>
                <a:ea typeface="Calibri" pitchFamily="34" charset="-122"/>
                <a:cs typeface="Calibri" pitchFamily="34" charset="-120"/>
              </a:rPr>
              <a:t>TASK</a:t>
            </a:r>
            <a:endParaRPr lang="en-US" sz="1100" dirty="0"/>
          </a:p>
        </p:txBody>
      </p:sp>
      <p:sp>
        <p:nvSpPr>
          <p:cNvPr id="6" name="Text 4"/>
          <p:cNvSpPr/>
          <p:nvPr/>
        </p:nvSpPr>
        <p:spPr>
          <a:xfrm>
            <a:off x="640080" y="1463040"/>
            <a:ext cx="10607040" cy="3474720"/>
          </a:xfrm>
          <a:prstGeom prst="rect">
            <a:avLst/>
          </a:prstGeom>
          <a:noFill/>
          <a:ln/>
        </p:spPr>
        <p:txBody>
          <a:bodyPr wrap="square" rtlCol="0" anchor="t"/>
          <a:lstStyle/>
          <a:p>
            <a:pPr marL="342900" indent="-342900">
              <a:spcAft>
                <a:spcPts val="900"/>
              </a:spcAft>
              <a:buSzPct val="100000"/>
              <a:buChar char="•"/>
            </a:pPr>
            <a:r>
              <a:rPr lang="en-US" sz="1550" dirty="0">
                <a:solidFill>
                  <a:srgbClr val="2C2A28"/>
                </a:solidFill>
                <a:latin typeface="Calibri" pitchFamily="34" charset="0"/>
                <a:ea typeface="Calibri" pitchFamily="34" charset="-122"/>
                <a:cs typeface="Calibri" pitchFamily="34" charset="-120"/>
              </a:rPr>
              <a:t>Reopen the project you built before the break and add a score variable, if it does not already have one.</a:t>
            </a:r>
            <a:endParaRPr lang="en-US" sz="1550" dirty="0"/>
          </a:p>
          <a:p>
            <a:pPr marL="342900" indent="-342900">
              <a:spcAft>
                <a:spcPts val="900"/>
              </a:spcAft>
              <a:buSzPct val="100000"/>
              <a:buChar char="•"/>
            </a:pPr>
            <a:r>
              <a:rPr lang="en-US" sz="1550" dirty="0">
                <a:solidFill>
                  <a:srgbClr val="2C2A28"/>
                </a:solidFill>
                <a:latin typeface="Calibri" pitchFamily="34" charset="0"/>
                <a:ea typeface="Calibri" pitchFamily="34" charset="-122"/>
                <a:cs typeface="Calibri" pitchFamily="34" charset="-120"/>
              </a:rPr>
              <a:t>Add a lives variable.</a:t>
            </a:r>
            <a:endParaRPr lang="en-US" sz="1550" dirty="0"/>
          </a:p>
          <a:p>
            <a:pPr marL="342900" indent="-342900">
              <a:spcAft>
                <a:spcPts val="900"/>
              </a:spcAft>
              <a:buSzPct val="100000"/>
              <a:buChar char="•"/>
            </a:pPr>
            <a:r>
              <a:rPr lang="en-US" sz="1550" dirty="0">
                <a:solidFill>
                  <a:srgbClr val="2C2A28"/>
                </a:solidFill>
                <a:latin typeface="Calibri" pitchFamily="34" charset="0"/>
                <a:ea typeface="Calibri" pitchFamily="34" charset="-122"/>
                <a:cs typeface="Calibri" pitchFamily="34" charset="-120"/>
              </a:rPr>
              <a:t>(Extending) Wire lives to a lose condition — when lives reach 0, trigger game over.</a:t>
            </a:r>
            <a:endParaRPr lang="en-US" sz="1550" dirty="0"/>
          </a:p>
        </p:txBody>
      </p:sp>
      <p:sp>
        <p:nvSpPr>
          <p:cNvPr id="7" name="Shape 5"/>
          <p:cNvSpPr/>
          <p:nvPr/>
        </p:nvSpPr>
        <p:spPr>
          <a:xfrm>
            <a:off x="640080" y="5806440"/>
            <a:ext cx="10881360" cy="594360"/>
          </a:xfrm>
          <a:prstGeom prst="roundRect">
            <a:avLst>
              <a:gd name="adj" fmla="val 9231"/>
            </a:avLst>
          </a:prstGeom>
          <a:solidFill>
            <a:srgbClr val="F6E8D8"/>
          </a:solidFill>
          <a:ln/>
        </p:spPr>
      </p:sp>
      <p:sp>
        <p:nvSpPr>
          <p:cNvPr id="8" name="Text 6"/>
          <p:cNvSpPr/>
          <p:nvPr/>
        </p:nvSpPr>
        <p:spPr>
          <a:xfrm>
            <a:off x="868680" y="5806440"/>
            <a:ext cx="10424160" cy="594360"/>
          </a:xfrm>
          <a:prstGeom prst="rect">
            <a:avLst/>
          </a:prstGeom>
          <a:noFill/>
          <a:ln/>
        </p:spPr>
        <p:txBody>
          <a:bodyPr wrap="square" rtlCol="0" anchor="ctr"/>
          <a:lstStyle/>
          <a:p>
            <a:pPr indent="0" marL="0">
              <a:buNone/>
            </a:pPr>
            <a:r>
              <a:rPr lang="en-US" sz="1250" b="1" dirty="0">
                <a:solidFill>
                  <a:srgbClr val="B8620A"/>
                </a:solidFill>
                <a:latin typeface="Calibri" pitchFamily="34" charset="0"/>
                <a:ea typeface="Calibri" pitchFamily="34" charset="-122"/>
                <a:cs typeface="Calibri" pitchFamily="34" charset="-120"/>
              </a:rPr>
              <a:t>📋  Score and lives tracking is a common CAT mechanic modification — keep this working version safe.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C"/>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spc="150" kern="0" dirty="0">
                <a:solidFill>
                  <a:srgbClr val="6B6762"/>
                </a:solidFill>
                <a:latin typeface="Calibri" pitchFamily="34" charset="0"/>
                <a:ea typeface="Calibri" pitchFamily="34" charset="-122"/>
                <a:cs typeface="Calibri" pitchFamily="34" charset="-120"/>
              </a:rPr>
              <a:t>NEXT STEPS</a:t>
            </a:r>
            <a:endParaRPr lang="en-US" sz="1100" dirty="0"/>
          </a:p>
        </p:txBody>
      </p:sp>
      <p:sp>
        <p:nvSpPr>
          <p:cNvPr id="3" name="Text 1"/>
          <p:cNvSpPr/>
          <p:nvPr/>
        </p:nvSpPr>
        <p:spPr>
          <a:xfrm>
            <a:off x="548640" y="566928"/>
            <a:ext cx="8686800" cy="640080"/>
          </a:xfrm>
          <a:prstGeom prst="rect">
            <a:avLst/>
          </a:prstGeom>
          <a:noFill/>
          <a:ln/>
        </p:spPr>
        <p:txBody>
          <a:bodyPr wrap="square" rtlCol="0" anchor="ctr"/>
          <a:lstStyle/>
          <a:p>
            <a:pPr indent="0" marL="0">
              <a:buNone/>
            </a:pPr>
            <a:r>
              <a:rPr lang="en-US" sz="2800" b="1" dirty="0">
                <a:solidFill>
                  <a:srgbClr val="12100E"/>
                </a:solidFill>
                <a:latin typeface="Cambria" pitchFamily="34" charset="0"/>
                <a:ea typeface="Cambria" pitchFamily="34" charset="-122"/>
                <a:cs typeface="Cambria" pitchFamily="34" charset="-120"/>
              </a:rPr>
              <a:t>Exit Ticket</a:t>
            </a:r>
            <a:endParaRPr lang="en-US" sz="2800" dirty="0"/>
          </a:p>
        </p:txBody>
      </p:sp>
      <p:sp>
        <p:nvSpPr>
          <p:cNvPr id="4" name="Shape 2"/>
          <p:cNvSpPr/>
          <p:nvPr/>
        </p:nvSpPr>
        <p:spPr>
          <a:xfrm>
            <a:off x="9692640" y="457200"/>
            <a:ext cx="1828800" cy="384048"/>
          </a:xfrm>
          <a:prstGeom prst="roundRect">
            <a:avLst>
              <a:gd name="adj" fmla="val 19048"/>
            </a:avLst>
          </a:prstGeom>
          <a:solidFill>
            <a:srgbClr val="F3DEE0"/>
          </a:solidFill>
          <a:ln/>
        </p:spPr>
      </p:sp>
      <p:sp>
        <p:nvSpPr>
          <p:cNvPr id="5" name="Text 3"/>
          <p:cNvSpPr/>
          <p:nvPr/>
        </p:nvSpPr>
        <p:spPr>
          <a:xfrm>
            <a:off x="9692640" y="457200"/>
            <a:ext cx="1828800" cy="384048"/>
          </a:xfrm>
          <a:prstGeom prst="rect">
            <a:avLst/>
          </a:prstGeom>
          <a:noFill/>
          <a:ln/>
        </p:spPr>
        <p:txBody>
          <a:bodyPr wrap="square" rtlCol="0" anchor="ctr"/>
          <a:lstStyle/>
          <a:p>
            <a:pPr algn="ctr" indent="0" marL="0">
              <a:buNone/>
            </a:pPr>
            <a:r>
              <a:rPr lang="en-US" sz="1100" b="1" dirty="0">
                <a:solidFill>
                  <a:srgbClr val="8C1F28"/>
                </a:solidFill>
                <a:latin typeface="Calibri" pitchFamily="34" charset="0"/>
                <a:ea typeface="Calibri" pitchFamily="34" charset="-122"/>
                <a:cs typeface="Calibri" pitchFamily="34" charset="-120"/>
              </a:rPr>
              <a:t>EXIT TICKET</a:t>
            </a:r>
            <a:endParaRPr lang="en-US" sz="1100" dirty="0"/>
          </a:p>
        </p:txBody>
      </p:sp>
      <p:sp>
        <p:nvSpPr>
          <p:cNvPr id="6" name="Text 4"/>
          <p:cNvSpPr/>
          <p:nvPr/>
        </p:nvSpPr>
        <p:spPr>
          <a:xfrm>
            <a:off x="640080" y="1554480"/>
            <a:ext cx="10607040" cy="4206240"/>
          </a:xfrm>
          <a:prstGeom prst="rect">
            <a:avLst/>
          </a:prstGeom>
          <a:noFill/>
          <a:ln/>
        </p:spPr>
        <p:txBody>
          <a:bodyPr wrap="square" rtlCol="0" anchor="t"/>
          <a:lstStyle/>
          <a:p>
            <a:pPr indent="0" marL="0">
              <a:spcAft>
                <a:spcPts val="1600"/>
              </a:spcAft>
              <a:buNone/>
            </a:pPr>
            <a:r>
              <a:rPr lang="en-US" sz="1600" dirty="0">
                <a:solidFill>
                  <a:srgbClr val="2C2A28"/>
                </a:solidFill>
                <a:latin typeface="Calibri" pitchFamily="34" charset="0"/>
                <a:ea typeface="Calibri" pitchFamily="34" charset="-122"/>
                <a:cs typeface="Calibri" pitchFamily="34" charset="-120"/>
              </a:rPr>
              <a:t>1.  Name one event block you used today and what it made happen.</a:t>
            </a:r>
            <a:endParaRPr lang="en-US" sz="1600" dirty="0"/>
          </a:p>
          <a:p>
            <a:pPr indent="0" marL="0">
              <a:spcAft>
                <a:spcPts val="1600"/>
              </a:spcAft>
              <a:buNone/>
            </a:pPr>
            <a:r>
              <a:rPr lang="en-US" sz="1600" dirty="0">
                <a:solidFill>
                  <a:srgbClr val="2C2A28"/>
                </a:solidFill>
                <a:latin typeface="Calibri" pitchFamily="34" charset="0"/>
                <a:ea typeface="Calibri" pitchFamily="34" charset="-122"/>
                <a:cs typeface="Calibri" pitchFamily="34" charset="-120"/>
              </a:rPr>
              <a:t>2.  What is the difference between "set score to 0" and "change score by 1"?</a:t>
            </a:r>
            <a:endParaRPr lang="en-US" sz="1600" dirty="0"/>
          </a:p>
          <a:p>
            <a:pPr indent="0" marL="0">
              <a:spcAft>
                <a:spcPts val="1600"/>
              </a:spcAft>
              <a:buNone/>
            </a:pPr>
            <a:r>
              <a:rPr lang="en-US" sz="1600" dirty="0">
                <a:solidFill>
                  <a:srgbClr val="2C2A28"/>
                </a:solidFill>
                <a:latin typeface="Calibri" pitchFamily="34" charset="0"/>
                <a:ea typeface="Calibri" pitchFamily="34" charset="-122"/>
                <a:cs typeface="Calibri" pitchFamily="34" charset="-120"/>
              </a:rPr>
              <a:t>3.  Why does a variable need a starting value?</a:t>
            </a:r>
            <a:endParaRPr lang="en-US" sz="1600" dirty="0"/>
          </a:p>
          <a:p>
            <a:pPr indent="0" marL="0">
              <a:spcAft>
                <a:spcPts val="1600"/>
              </a:spcAft>
              <a:buNone/>
            </a:pPr>
            <a:r>
              <a:rPr lang="en-US" sz="1600" dirty="0">
                <a:solidFill>
                  <a:srgbClr val="2C2A28"/>
                </a:solidFill>
                <a:latin typeface="Calibri" pitchFamily="34" charset="0"/>
                <a:ea typeface="Calibri" pitchFamily="34" charset="-122"/>
                <a:cs typeface="Calibri" pitchFamily="34" charset="-120"/>
              </a:rPr>
              <a:t>4.  Tick your success criteria in Section 1 — which tier did you reach?</a:t>
            </a:r>
            <a:endParaRPr lang="en-US" sz="1600" dirty="0"/>
          </a:p>
        </p:txBody>
      </p:sp>
      <p:sp>
        <p:nvSpPr>
          <p:cNvPr id="7" name="Text 5"/>
          <p:cNvSpPr/>
          <p:nvPr/>
        </p:nvSpPr>
        <p:spPr>
          <a:xfrm>
            <a:off x="640080" y="6035040"/>
            <a:ext cx="7315200" cy="365760"/>
          </a:xfrm>
          <a:prstGeom prst="rect">
            <a:avLst/>
          </a:prstGeom>
          <a:noFill/>
          <a:ln/>
        </p:spPr>
        <p:txBody>
          <a:bodyPr wrap="square" rtlCol="0" anchor="ctr"/>
          <a:lstStyle/>
          <a:p>
            <a:pPr indent="0" marL="0">
              <a:buNone/>
            </a:pPr>
            <a:r>
              <a:rPr lang="en-US" sz="1200" i="1" dirty="0">
                <a:solidFill>
                  <a:srgbClr val="2B3A8C"/>
                </a:solidFill>
                <a:latin typeface="Calibri" pitchFamily="34" charset="0"/>
                <a:ea typeface="Calibri" pitchFamily="34" charset="-122"/>
                <a:cs typeface="Calibri" pitchFamily="34" charset="-120"/>
              </a:rPr>
              <a:t>➜ Open your workbook — Section 10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00E"/>
        </a:solidFill>
      </p:bgPr>
    </p:bg>
    <p:spTree>
      <p:nvGrpSpPr>
        <p:cNvPr id="1" name=""/>
        <p:cNvGrpSpPr/>
        <p:nvPr/>
      </p:nvGrpSpPr>
      <p:grpSpPr>
        <a:xfrm>
          <a:off x="0" y="0"/>
          <a:ext cx="0" cy="0"/>
          <a:chOff x="0" y="0"/>
          <a:chExt cx="0" cy="0"/>
        </a:xfrm>
      </p:grpSpPr>
      <p:sp>
        <p:nvSpPr>
          <p:cNvPr id="2" name="Text 0"/>
          <p:cNvSpPr/>
          <p:nvPr/>
        </p:nvSpPr>
        <p:spPr>
          <a:xfrm>
            <a:off x="640080" y="1005840"/>
            <a:ext cx="5029200" cy="320040"/>
          </a:xfrm>
          <a:prstGeom prst="rect">
            <a:avLst/>
          </a:prstGeom>
          <a:noFill/>
          <a:ln/>
        </p:spPr>
        <p:txBody>
          <a:bodyPr wrap="square" rtlCol="0" anchor="ctr"/>
          <a:lstStyle/>
          <a:p>
            <a:pPr indent="0" marL="0">
              <a:buNone/>
            </a:pPr>
            <a:r>
              <a:rPr lang="en-US" sz="1100" dirty="0">
                <a:solidFill>
                  <a:srgbClr val="A8A39A"/>
                </a:solidFill>
                <a:latin typeface="Calibri" pitchFamily="34" charset="0"/>
                <a:ea typeface="Calibri" pitchFamily="34" charset="-122"/>
                <a:cs typeface="Calibri" pitchFamily="34" charset="-120"/>
              </a:rPr>
              <a:t>TODAY YOU</a:t>
            </a:r>
            <a:endParaRPr lang="en-US" sz="1100" dirty="0"/>
          </a:p>
        </p:txBody>
      </p:sp>
      <p:sp>
        <p:nvSpPr>
          <p:cNvPr id="3" name="Text 1"/>
          <p:cNvSpPr/>
          <p:nvPr/>
        </p:nvSpPr>
        <p:spPr>
          <a:xfrm>
            <a:off x="640080" y="1371600"/>
            <a:ext cx="5120640" cy="3840480"/>
          </a:xfrm>
          <a:prstGeom prst="rect">
            <a:avLst/>
          </a:prstGeom>
          <a:noFill/>
          <a:ln/>
        </p:spPr>
        <p:txBody>
          <a:bodyPr wrap="square" rtlCol="0" anchor="t"/>
          <a:lstStyle/>
          <a:p>
            <a:pPr indent="0" marL="0">
              <a:lnSpc>
                <a:spcPts val="2200"/>
              </a:lnSpc>
              <a:buNone/>
            </a:pPr>
            <a:r>
              <a:rPr lang="en-US" sz="1450" dirty="0">
                <a:solidFill>
                  <a:srgbClr val="E8E3DA"/>
                </a:solidFill>
                <a:latin typeface="Calibri" pitchFamily="34" charset="0"/>
                <a:ea typeface="Calibri" pitchFamily="34" charset="-122"/>
                <a:cs typeface="Calibri" pitchFamily="34" charset="-120"/>
              </a:rPr>
              <a:t>• Toured MakeCode Arcade and learned the event model</a:t>
            </a:r>
            <a:endParaRPr lang="en-US" sz="1450" dirty="0"/>
          </a:p>
          <a:p>
            <a:pPr indent="0" marL="0">
              <a:lnSpc>
                <a:spcPts val="2200"/>
              </a:lnSpc>
              <a:buNone/>
            </a:pPr>
            <a:r>
              <a:rPr lang="en-US" sz="1450" dirty="0">
                <a:solidFill>
                  <a:srgbClr val="E8E3DA"/>
                </a:solidFill>
                <a:latin typeface="Calibri" pitchFamily="34" charset="0"/>
                <a:ea typeface="Calibri" pitchFamily="34" charset="-122"/>
                <a:cs typeface="Calibri" pitchFamily="34" charset="-120"/>
              </a:rPr>
              <a:t>• Built and customised your first working game</a:t>
            </a:r>
            <a:endParaRPr lang="en-US" sz="1450" dirty="0"/>
          </a:p>
          <a:p>
            <a:pPr indent="0" marL="0">
              <a:lnSpc>
                <a:spcPts val="2200"/>
              </a:lnSpc>
              <a:buNone/>
            </a:pPr>
            <a:r>
              <a:rPr lang="en-US" sz="1450" dirty="0">
                <a:solidFill>
                  <a:srgbClr val="E8E3DA"/>
                </a:solidFill>
                <a:latin typeface="Calibri" pitchFamily="34" charset="0"/>
                <a:ea typeface="Calibri" pitchFamily="34" charset="-122"/>
                <a:cs typeface="Calibri" pitchFamily="34" charset="-120"/>
              </a:rPr>
              <a:t>• Learned what a variable is and how to set and change one</a:t>
            </a:r>
            <a:endParaRPr lang="en-US" sz="1450" dirty="0"/>
          </a:p>
          <a:p>
            <a:pPr indent="0" marL="0">
              <a:lnSpc>
                <a:spcPts val="2200"/>
              </a:lnSpc>
              <a:buNone/>
            </a:pPr>
            <a:r>
              <a:rPr lang="en-US" sz="1450" dirty="0">
                <a:solidFill>
                  <a:srgbClr val="E8E3DA"/>
                </a:solidFill>
                <a:latin typeface="Calibri" pitchFamily="34" charset="0"/>
                <a:ea typeface="Calibri" pitchFamily="34" charset="-122"/>
                <a:cs typeface="Calibri" pitchFamily="34" charset="-120"/>
              </a:rPr>
              <a:t>• Added score and lives to your own project</a:t>
            </a:r>
            <a:endParaRPr lang="en-US" sz="1450" dirty="0"/>
          </a:p>
        </p:txBody>
      </p:sp>
      <p:sp>
        <p:nvSpPr>
          <p:cNvPr id="4" name="Shape 2"/>
          <p:cNvSpPr/>
          <p:nvPr/>
        </p:nvSpPr>
        <p:spPr>
          <a:xfrm>
            <a:off x="6080760" y="1005840"/>
            <a:ext cx="0" cy="4389120"/>
          </a:xfrm>
          <a:prstGeom prst="line">
            <a:avLst/>
          </a:prstGeom>
          <a:noFill/>
          <a:ln w="9525">
            <a:solidFill>
              <a:srgbClr val="F7F3EC">
                <a:alpha val="25000"/>
              </a:srgbClr>
            </a:solidFill>
            <a:prstDash val="solid"/>
          </a:ln>
        </p:spPr>
      </p:sp>
      <p:sp>
        <p:nvSpPr>
          <p:cNvPr id="5" name="Text 3"/>
          <p:cNvSpPr/>
          <p:nvPr/>
        </p:nvSpPr>
        <p:spPr>
          <a:xfrm>
            <a:off x="6492240" y="1005840"/>
            <a:ext cx="5029200" cy="320040"/>
          </a:xfrm>
          <a:prstGeom prst="rect">
            <a:avLst/>
          </a:prstGeom>
          <a:noFill/>
          <a:ln/>
        </p:spPr>
        <p:txBody>
          <a:bodyPr wrap="square" rtlCol="0" anchor="ctr"/>
          <a:lstStyle/>
          <a:p>
            <a:pPr indent="0" marL="0">
              <a:buNone/>
            </a:pPr>
            <a:r>
              <a:rPr lang="en-US" sz="1100" dirty="0">
                <a:solidFill>
                  <a:srgbClr val="B8620A"/>
                </a:solidFill>
                <a:latin typeface="Calibri" pitchFamily="34" charset="0"/>
                <a:ea typeface="Calibri" pitchFamily="34" charset="-122"/>
                <a:cs typeface="Calibri" pitchFamily="34" charset="-120"/>
              </a:rPr>
              <a:t>NEXT LESSON</a:t>
            </a:r>
            <a:endParaRPr lang="en-US" sz="1100" dirty="0"/>
          </a:p>
        </p:txBody>
      </p:sp>
      <p:sp>
        <p:nvSpPr>
          <p:cNvPr id="6" name="Text 4"/>
          <p:cNvSpPr/>
          <p:nvPr/>
        </p:nvSpPr>
        <p:spPr>
          <a:xfrm>
            <a:off x="6492240" y="1371600"/>
            <a:ext cx="5029200" cy="3840480"/>
          </a:xfrm>
          <a:prstGeom prst="rect">
            <a:avLst/>
          </a:prstGeom>
          <a:noFill/>
          <a:ln/>
        </p:spPr>
        <p:txBody>
          <a:bodyPr wrap="square" rtlCol="0" anchor="t"/>
          <a:lstStyle/>
          <a:p>
            <a:pPr indent="0" marL="0">
              <a:lnSpc>
                <a:spcPts val="2600"/>
              </a:lnSpc>
              <a:buNone/>
            </a:pPr>
            <a:r>
              <a:rPr lang="en-US" sz="2200" b="1" dirty="0">
                <a:solidFill>
                  <a:srgbClr val="F7F3EC"/>
                </a:solidFill>
                <a:latin typeface="Cambria" pitchFamily="34" charset="0"/>
                <a:ea typeface="Cambria" pitchFamily="34" charset="-122"/>
                <a:cs typeface="Cambria" pitchFamily="34" charset="-120"/>
              </a:rPr>
              <a:t>Conditionals &amp; Loops — make your game decide things and repeat things.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L4 — Introduction to MakeCode Arcade</dc:title>
  <dc:subject>PptxGenJS Presentation</dc:subject>
  <dc:creator>EduPortal</dc:creator>
  <cp:lastModifiedBy>EduPortal</cp:lastModifiedBy>
  <cp:revision>1</cp:revision>
  <dcterms:created xsi:type="dcterms:W3CDTF">2026-06-30T14:02:24Z</dcterms:created>
  <dcterms:modified xsi:type="dcterms:W3CDTF">2026-06-30T14:02:24Z</dcterms:modified>
</cp:coreProperties>
</file>