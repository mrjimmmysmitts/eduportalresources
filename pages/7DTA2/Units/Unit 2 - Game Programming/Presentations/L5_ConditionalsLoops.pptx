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period (100 min). Sequence: warm-up 8 / LO 4 / explicit teaching 25 / guided build 35 / brain break 5 / debugging 12 / exit 8.
Students need their Lesson 4 MakeCode project open later — remind them now that they will be extending it, not starting fresh. Laptops stay CLOSED until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Run this unplugged — no devices.
Collect 3-4 examples on the board and sort them live into 'conditional' and 'loop' columns. Push for the difference between 'repeat 10 times' (set number) and 'repeat until my bag is packed' (condition). That distinction is exactly repeat vs while, and it costs nothing to plant it now.
Differentiation: if a student is stuck, give them the frame 'if ___ then I ___, otherwise I ___'.
Students record answers in workbook Section 2 — but on paper first if laptops are still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Students copy the objective into their paper notes and tick their target tier in workbook Section 1 later.
Be explicit that the tiers are about how far through the build they get, not about how clever they are. Everyone starts at Step 1.
Refer back to this slide at the brain break to check where the room is up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Quick verbal check — hands up: who has a score that goes up? Who has three hearts showing?
Anyone whose Lesson 4 project is missing or broken should pair up now, before the build starts. Have a completed baseline project ready to share as a fallback so nobody spends today rebuilding Lesson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Trace the code out loud with life = 3, then life = 1. Ask the class which branch runs each time before you say it.
Common misconception to pre-empt: students think else runs after if. Show that only ONE branch ever runs.
Link hard back to the Lesson 3 flowchart — this is the payoff for that lesson's planning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Do two quick cold-call checks: 'score is 5 — does score &gt; 5 run?' and 'life is 1 — does life &lt;= 1 run?'
The off-by-one point is the single most valuable thing on this slide. It reappears as Bug C later and in the 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Demonstrate the no-pause freeze live in the simulator if time allows — it lands far better seen than described.
Don't over-teach 'while' — Year 7 students mainly need repeat and forever today. It's here so the vocabulary exists.
Check for understanding: 'which loop would you use to lay out five coins at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Think-pair-share: 'what would happen if the numbers were swapped — 1500 in the if, 700 in the else?' (The game gets easier as you win, which feels wrong.)
This slide is the conceptual peak of the lesson. Everything after it is application. If the room looks lost here, reteach with the umbrella analogy: check the weather every morning (loop), decide umbrella or not (conditional).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laptop gate — devices open from here.
35 minutes total across slides 9-12, roughly 5-6 minutes per step. Do NOT let students race ahead to Step 5; the whole method is 'small change, test, small change'.
Circulate with one question: 'show me it working before you move on.' Foundation students who reach Step 3 with a working if/else have met their criteria — tell them that explicitly so they don't feel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for both steps.
Step 1 is deliberately easy — it is a Lesson 4 recap that guarantees every student gets a working first checkpoint.
The prediction task in Step 2 matters: make them write the prediction BEFORE running. Predicting then checking is what turns clicking blocks into thinking.
Common issues: enemy spawns off-screen (x above 155), or no velocity so it sits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for both steps.
Step 3 is where most support is needed — the if goes INSIDE the overlap event, and the order matters. Watch for students putting 'change life by -1' before the if, which costs two lives per hit.
Step 4 workbook question ('why does &gt;= 5 win on the fifth coin?') is the assessed thinking here. Encourage them to test &gt; 5 and see the failure themselves.
Anyone finished early goes to the Extending prompt rather than to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This is the Developing/Extending boundary.
The hardest part is physically dragging the if block inside the forever loop and getting both pause blocks in the right branches. Have a completed example on the board to project.
If a student's game now feels too hard, that's a design conversation, not a bug — get them to change 700 to 900 and re-test. That is exactly the iteration the CAT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including settling. Use this to take the temperature of the room — count how many are at Step 4 or beyond before deciding how long to give Step 6.
If more than a third of the class is still on Step 2-3, cut the bug hunt to one example and give the time back to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Step 4 is the one students skip: they change three things at once and then can't tell which fixed it. Say that out loud.
Model step 3 on the no-pause bug: the block right before the freeze is the loop repeating with nothing slowing it down.
Workbook Section 5 has the four-step log. Everyone completes one entry, even Foundation students — the log is the transferable skill, not the specific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Work A together as a class, then let them do B and C in the workbook — it auto-marks.
Bug A is set vs change. Bug B is the missing pause. Bug C is the off-by-one from slide 6. All three are bugs students will genuinely produce in the CAT, which is why these three were chosen.
Ask for a show of hands on C before revealing — it splits a class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Deliberately no answers on the slide — the italic lines are questions, not hints.
The Extending task is genuinely hard: the neat answer is a conditional wrapping the spawn, since a forever loop can't be stopped directly. Let them wrestle with it; don't hand it over.
Saving under a new name is non-negotiable — say it twice. Students who overwrite a working file lose CAT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including pack-up.
Question 3 is the one that shapes next lesson — read those responses before Lesson 6 and open with whatever comes up most.
Check submissions on the dashboard; anyone not submitted has it as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Be concrete about the homework: the four items listed are the entry ticket to CAT Studio.
Point students who need help to the unit site Lesson 5 section — the full guided build write-up is there, so an absent student can complete it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822960"/>
            <a:ext cx="10881360" cy="365760"/>
          </a:xfrm>
          <a:prstGeom prst="rect">
            <a:avLst/>
          </a:prstGeom>
          <a:noFill/>
          <a:ln/>
        </p:spPr>
        <p:txBody>
          <a:bodyPr wrap="square" lIns="0" tIns="0" rIns="0" bIns="0" rtlCol="0" anchor="ctr"/>
          <a:lstStyle/>
          <a:p>
            <a:pPr indent="0" marL="0">
              <a:buNone/>
            </a:pPr>
            <a:r>
              <a:rPr lang="en-US" sz="1400" b="1" spc="180" kern="0" dirty="0">
                <a:solidFill>
                  <a:srgbClr val="4361EE"/>
                </a:solidFill>
                <a:latin typeface="Calibri" pitchFamily="34" charset="0"/>
                <a:ea typeface="Calibri" pitchFamily="34" charset="-122"/>
                <a:cs typeface="Calibri" pitchFamily="34" charset="-120"/>
              </a:rPr>
              <a:t>YEAR 7  ·  DIGITAL TECHNOLOGY  ·  UNIT 2: GAME PROGRAMMING  ·  LESSON 5 OF 8</a:t>
            </a:r>
            <a:endParaRPr lang="en-US" sz="1400" dirty="0"/>
          </a:p>
        </p:txBody>
      </p:sp>
      <p:sp>
        <p:nvSpPr>
          <p:cNvPr id="3" name="Text 1"/>
          <p:cNvSpPr/>
          <p:nvPr/>
        </p:nvSpPr>
        <p:spPr>
          <a:xfrm>
            <a:off x="640080" y="2286000"/>
            <a:ext cx="10881360" cy="1371600"/>
          </a:xfrm>
          <a:prstGeom prst="rect">
            <a:avLst/>
          </a:prstGeom>
          <a:noFill/>
          <a:ln/>
        </p:spPr>
        <p:txBody>
          <a:bodyPr wrap="square" lIns="0" tIns="0" rIns="0" bIns="0" rtlCol="0" anchor="ctr"/>
          <a:lstStyle/>
          <a:p>
            <a:pPr indent="0" marL="0">
              <a:buNone/>
            </a:pPr>
            <a:r>
              <a:rPr lang="en-US" sz="6000" dirty="0">
                <a:solidFill>
                  <a:srgbClr val="111827"/>
                </a:solidFill>
                <a:latin typeface="Bookman Old Style" pitchFamily="34" charset="0"/>
                <a:ea typeface="Bookman Old Style" pitchFamily="34" charset="-122"/>
                <a:cs typeface="Bookman Old Style" pitchFamily="34" charset="-120"/>
              </a:rPr>
              <a:t>Conditionals &amp; Loops</a:t>
            </a:r>
            <a:endParaRPr lang="en-US" sz="6000" dirty="0"/>
          </a:p>
        </p:txBody>
      </p:sp>
      <p:sp>
        <p:nvSpPr>
          <p:cNvPr id="4" name="Text 2"/>
          <p:cNvSpPr/>
          <p:nvPr/>
        </p:nvSpPr>
        <p:spPr>
          <a:xfrm>
            <a:off x="640080" y="3794760"/>
            <a:ext cx="8778240" cy="914400"/>
          </a:xfrm>
          <a:prstGeom prst="rect">
            <a:avLst/>
          </a:prstGeom>
          <a:noFill/>
          <a:ln/>
        </p:spPr>
        <p:txBody>
          <a:bodyPr wrap="square" lIns="0" tIns="0" rIns="0" bIns="0" rtlCol="0" anchor="ctr"/>
          <a:lstStyle/>
          <a:p>
            <a:pPr indent="0" marL="0">
              <a:buNone/>
            </a:pPr>
            <a:r>
              <a:rPr lang="en-US" sz="2000" dirty="0">
                <a:solidFill>
                  <a:srgbClr val="374151"/>
                </a:solidFill>
                <a:latin typeface="Calibri" pitchFamily="34" charset="0"/>
                <a:ea typeface="Calibri" pitchFamily="34" charset="-122"/>
                <a:cs typeface="Calibri" pitchFamily="34" charset="-120"/>
              </a:rPr>
              <a:t>Make your game decide things and repeat things — then learn a real method for fixing it when it breaks.</a:t>
            </a:r>
            <a:endParaRPr lang="en-US" sz="2000" dirty="0"/>
          </a:p>
        </p:txBody>
      </p:sp>
      <p:sp>
        <p:nvSpPr>
          <p:cNvPr id="5" name="Shape 3"/>
          <p:cNvSpPr/>
          <p:nvPr/>
        </p:nvSpPr>
        <p:spPr>
          <a:xfrm>
            <a:off x="640080" y="5029200"/>
            <a:ext cx="4480560" cy="457200"/>
          </a:xfrm>
          <a:prstGeom prst="roundRect">
            <a:avLst>
              <a:gd name="adj" fmla="val 14000"/>
            </a:avLst>
          </a:prstGeom>
          <a:solidFill>
            <a:srgbClr val="F4F6FA"/>
          </a:solidFill>
          <a:ln w="12700">
            <a:solidFill>
              <a:srgbClr val="D9DEE7"/>
            </a:solidFill>
            <a:prstDash val="solid"/>
          </a:ln>
        </p:spPr>
      </p:sp>
      <p:sp>
        <p:nvSpPr>
          <p:cNvPr id="6" name="Text 4"/>
          <p:cNvSpPr/>
          <p:nvPr/>
        </p:nvSpPr>
        <p:spPr>
          <a:xfrm>
            <a:off x="640080" y="5029200"/>
            <a:ext cx="4480560" cy="457200"/>
          </a:xfrm>
          <a:prstGeom prst="rect">
            <a:avLst/>
          </a:prstGeom>
          <a:noFill/>
          <a:ln/>
        </p:spPr>
        <p:txBody>
          <a:bodyPr wrap="square" lIns="0" tIns="0" rIns="0" bIns="0" rtlCol="0" anchor="ctr"/>
          <a:lstStyle/>
          <a:p>
            <a:pPr algn="ctr" indent="0" marL="0">
              <a:buNone/>
            </a:pPr>
            <a:r>
              <a:rPr lang="en-US" sz="1600" b="1" dirty="0">
                <a:solidFill>
                  <a:srgbClr val="374151"/>
                </a:solidFill>
                <a:latin typeface="Calibri" pitchFamily="34" charset="0"/>
                <a:ea typeface="Calibri" pitchFamily="34" charset="-122"/>
                <a:cs typeface="Calibri" pitchFamily="34" charset="-120"/>
              </a:rPr>
              <a:t>Guided build today: Survive the Swarm</a:t>
            </a:r>
            <a:endParaRPr lang="en-US" sz="1600" dirty="0"/>
          </a:p>
        </p:txBody>
      </p:sp>
      <p:sp>
        <p:nvSpPr>
          <p:cNvPr id="7" name="Shape 5"/>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sp>
      <p:sp>
        <p:nvSpPr>
          <p:cNvPr id="8" name="Text 6"/>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EF4444"/>
                </a:solidFill>
                <a:latin typeface="Calibri" pitchFamily="34" charset="0"/>
                <a:ea typeface="Calibri" pitchFamily="34" charset="-122"/>
                <a:cs typeface="Calibri" pitchFamily="34" charset="-120"/>
              </a:rPr>
              <a:t>LAPTOPS CLOSED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WARM UP</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If It's Raining…</a:t>
            </a:r>
            <a:endParaRPr lang="en-US" sz="3200" dirty="0"/>
          </a:p>
        </p:txBody>
      </p:sp>
      <p:sp>
        <p:nvSpPr>
          <p:cNvPr id="4" name="Shape 2"/>
          <p:cNvSpPr/>
          <p:nvPr/>
        </p:nvSpPr>
        <p:spPr>
          <a:xfrm>
            <a:off x="9646920" y="384048"/>
            <a:ext cx="1874520" cy="402336"/>
          </a:xfrm>
          <a:prstGeom prst="roundRect">
            <a:avLst>
              <a:gd name="adj" fmla="val 18182"/>
            </a:avLst>
          </a:prstGeom>
          <a:solidFill>
            <a:srgbClr val="4361EE"/>
          </a:solidFill>
          <a:ln w="12700">
            <a:solidFill>
              <a:srgbClr val="4361EE"/>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DISCUSS</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Shape 6"/>
          <p:cNvSpPr/>
          <p:nvPr/>
        </p:nvSpPr>
        <p:spPr>
          <a:xfrm>
            <a:off x="640080" y="1417320"/>
            <a:ext cx="10881360" cy="2011680"/>
          </a:xfrm>
          <a:prstGeom prst="roundRect">
            <a:avLst>
              <a:gd name="adj" fmla="val 2273"/>
            </a:avLst>
          </a:prstGeom>
          <a:solidFill>
            <a:srgbClr val="F4F6FA"/>
          </a:solidFill>
          <a:ln w="19050">
            <a:solidFill>
              <a:srgbClr val="4361EE"/>
            </a:solidFill>
            <a:prstDash val="solid"/>
          </a:ln>
          <a:effectLst>
            <a:outerShdw sx="100000" sy="100000" kx="0" ky="0" algn="bl" rotWithShape="0" blurRad="76200" dist="12700" dir="5400000">
              <a:srgbClr val="9AA4B2">
                <a:alpha val="18000"/>
              </a:srgbClr>
            </a:outerShdw>
          </a:effectLst>
        </p:spPr>
      </p:sp>
      <p:sp>
        <p:nvSpPr>
          <p:cNvPr id="9" name="Text 7"/>
          <p:cNvSpPr/>
          <p:nvPr/>
        </p:nvSpPr>
        <p:spPr>
          <a:xfrm>
            <a:off x="1005840" y="1645920"/>
            <a:ext cx="10149840" cy="548640"/>
          </a:xfrm>
          <a:prstGeom prst="rect">
            <a:avLst/>
          </a:prstGeom>
          <a:noFill/>
          <a:ln/>
        </p:spPr>
        <p:txBody>
          <a:bodyPr wrap="square" lIns="0" tIns="0" rIns="0" bIns="0" rtlCol="0" anchor="ctr"/>
          <a:lstStyle/>
          <a:p>
            <a:pPr indent="0" marL="0">
              <a:buNone/>
            </a:pPr>
            <a:r>
              <a:rPr lang="en-US" sz="2400" dirty="0">
                <a:solidFill>
                  <a:srgbClr val="111827"/>
                </a:solidFill>
                <a:latin typeface="Bookman Old Style" pitchFamily="34" charset="0"/>
                <a:ea typeface="Bookman Old Style" pitchFamily="34" charset="-122"/>
                <a:cs typeface="Bookman Old Style" pitchFamily="34" charset="-120"/>
              </a:rPr>
              <a:t>"If it's raining, take an umbrella. Else, leave it at home."</a:t>
            </a:r>
            <a:endParaRPr lang="en-US" sz="2400" dirty="0"/>
          </a:p>
        </p:txBody>
      </p:sp>
      <p:sp>
        <p:nvSpPr>
          <p:cNvPr id="10" name="Text 8"/>
          <p:cNvSpPr/>
          <p:nvPr/>
        </p:nvSpPr>
        <p:spPr>
          <a:xfrm>
            <a:off x="1005840" y="2286000"/>
            <a:ext cx="10149840" cy="914400"/>
          </a:xfrm>
          <a:prstGeom prst="rect">
            <a:avLst/>
          </a:prstGeom>
          <a:noFill/>
          <a:ln/>
        </p:spPr>
        <p:txBody>
          <a:bodyPr wrap="square" lIns="0" tIns="0" rIns="0" bIns="0" rtlCol="0" anchor="ctr"/>
          <a:lstStyle/>
          <a:p>
            <a:pPr indent="0" marL="0">
              <a:lnSpc>
                <a:spcPts val="2600"/>
              </a:lnSpc>
              <a:buNone/>
            </a:pPr>
            <a:r>
              <a:rPr lang="en-US" sz="1900" dirty="0">
                <a:solidFill>
                  <a:srgbClr val="374151"/>
                </a:solidFill>
                <a:latin typeface="Calibri" pitchFamily="34" charset="0"/>
                <a:ea typeface="Calibri" pitchFamily="34" charset="-122"/>
                <a:cs typeface="Calibri" pitchFamily="34" charset="-120"/>
              </a:rPr>
              <a:t>That's a conditional — a rule with a test and two possible paths.</a:t>
            </a:r>
            <a:endParaRPr lang="en-US" sz="1900" dirty="0"/>
          </a:p>
          <a:p>
            <a:pPr indent="0" marL="0">
              <a:lnSpc>
                <a:spcPts val="2600"/>
              </a:lnSpc>
              <a:buNone/>
            </a:pPr>
            <a:r>
              <a:rPr lang="en-US" sz="1900" dirty="0">
                <a:solidFill>
                  <a:srgbClr val="374151"/>
                </a:solidFill>
                <a:latin typeface="Calibri" pitchFamily="34" charset="0"/>
                <a:ea typeface="Calibri" pitchFamily="34" charset="-122"/>
                <a:cs typeface="Calibri" pitchFamily="34" charset="-120"/>
              </a:rPr>
              <a:t>Now add: "…and do that check every single morning."  That's a loop.</a:t>
            </a:r>
            <a:endParaRPr lang="en-US" sz="1900" dirty="0"/>
          </a:p>
        </p:txBody>
      </p:sp>
      <p:sp>
        <p:nvSpPr>
          <p:cNvPr id="11" name="Text 9"/>
          <p:cNvSpPr/>
          <p:nvPr/>
        </p:nvSpPr>
        <p:spPr>
          <a:xfrm>
            <a:off x="640080" y="3657600"/>
            <a:ext cx="10881360" cy="1920240"/>
          </a:xfrm>
          <a:prstGeom prst="rect">
            <a:avLst/>
          </a:prstGeom>
          <a:noFill/>
          <a:ln/>
        </p:spPr>
        <p:txBody>
          <a:bodyPr wrap="square" lIns="0" tIns="0" rIns="0" bIns="0" rtlCol="0" anchor="ctr"/>
          <a:lstStyle/>
          <a:p>
            <a:pPr indent="0" marL="0">
              <a:spcAft>
                <a:spcPts val="800"/>
              </a:spcAft>
              <a:buNone/>
            </a:pPr>
            <a:r>
              <a:rPr lang="en-US" sz="2000" b="1" dirty="0">
                <a:solidFill>
                  <a:srgbClr val="374151"/>
                </a:solidFill>
                <a:latin typeface="Calibri" pitchFamily="34" charset="0"/>
                <a:ea typeface="Calibri" pitchFamily="34" charset="-122"/>
                <a:cs typeface="Calibri" pitchFamily="34" charset="-120"/>
              </a:rPr>
              <a:t>Turn and talk (3 min):</a:t>
            </a:r>
            <a:endParaRPr lang="en-US" sz="2000" dirty="0"/>
          </a:p>
          <a:p>
            <a:pPr marL="342900" indent="-342900">
              <a:spcAft>
                <a:spcPts val="800"/>
              </a:spcAft>
              <a:buSzPct val="100000"/>
              <a:buChar char="•"/>
            </a:pPr>
            <a:r>
              <a:rPr lang="en-US" sz="2000" dirty="0">
                <a:solidFill>
                  <a:srgbClr val="374151"/>
                </a:solidFill>
                <a:latin typeface="Calibri" pitchFamily="34" charset="0"/>
                <a:ea typeface="Calibri" pitchFamily="34" charset="-122"/>
                <a:cs typeface="Calibri" pitchFamily="34" charset="-120"/>
              </a:rPr>
              <a:t>One rule you follow that has an 'if' and an 'else' in it</a:t>
            </a:r>
            <a:endParaRPr lang="en-US" sz="2000" dirty="0"/>
          </a:p>
          <a:p>
            <a:pPr marL="342900" indent="-342900">
              <a:spcAft>
                <a:spcPts val="800"/>
              </a:spcAft>
              <a:buSzPct val="100000"/>
              <a:buChar char="•"/>
            </a:pPr>
            <a:r>
              <a:rPr lang="en-US" sz="2000" dirty="0">
                <a:solidFill>
                  <a:srgbClr val="374151"/>
                </a:solidFill>
                <a:latin typeface="Calibri" pitchFamily="34" charset="0"/>
                <a:ea typeface="Calibri" pitchFamily="34" charset="-122"/>
                <a:cs typeface="Calibri" pitchFamily="34" charset="-120"/>
              </a:rPr>
              <a:t>One thing you repeat a set number of times</a:t>
            </a:r>
            <a:endParaRPr lang="en-US" sz="2000" dirty="0"/>
          </a:p>
          <a:p>
            <a:pPr marL="342900" indent="-342900">
              <a:spcAft>
                <a:spcPts val="800"/>
              </a:spcAft>
              <a:buSzPct val="100000"/>
              <a:buChar char="•"/>
            </a:pPr>
            <a:r>
              <a:rPr lang="en-US" sz="2000" dirty="0">
                <a:solidFill>
                  <a:srgbClr val="374151"/>
                </a:solidFill>
                <a:latin typeface="Calibri" pitchFamily="34" charset="0"/>
                <a:ea typeface="Calibri" pitchFamily="34" charset="-122"/>
                <a:cs typeface="Calibri" pitchFamily="34" charset="-120"/>
              </a:rPr>
              <a:t>One thing you repeat until something changes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LEARNING OBJECTIVE &amp; SUCCESS CRITERIA</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What We're Learning Today</a:t>
            </a:r>
            <a:endParaRPr lang="en-US" sz="3200" dirty="0"/>
          </a:p>
        </p:txBody>
      </p:sp>
      <p:sp>
        <p:nvSpPr>
          <p:cNvPr id="4" name="Shape 2"/>
          <p:cNvSpPr/>
          <p:nvPr/>
        </p:nvSpPr>
        <p:spPr>
          <a:xfrm>
            <a:off x="9646920" y="384048"/>
            <a:ext cx="1874520" cy="402336"/>
          </a:xfrm>
          <a:prstGeom prst="roundRect">
            <a:avLst>
              <a:gd name="adj" fmla="val 18182"/>
            </a:avLst>
          </a:prstGeom>
          <a:solidFill>
            <a:srgbClr val="4361EE"/>
          </a:solidFill>
          <a:ln w="12700">
            <a:solidFill>
              <a:srgbClr val="4361EE"/>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OBJECTIVE</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Shape 6"/>
          <p:cNvSpPr/>
          <p:nvPr/>
        </p:nvSpPr>
        <p:spPr>
          <a:xfrm>
            <a:off x="640080" y="1371600"/>
            <a:ext cx="10881360" cy="868680"/>
          </a:xfrm>
          <a:prstGeom prst="roundRect">
            <a:avLst>
              <a:gd name="adj" fmla="val 5263"/>
            </a:avLst>
          </a:prstGeom>
          <a:solidFill>
            <a:srgbClr val="F4F6FA"/>
          </a:solidFill>
          <a:ln w="19050">
            <a:solidFill>
              <a:srgbClr val="4361EE"/>
            </a:solidFill>
            <a:prstDash val="solid"/>
          </a:ln>
          <a:effectLst>
            <a:outerShdw sx="100000" sy="100000" kx="0" ky="0" algn="bl" rotWithShape="0" blurRad="76200" dist="12700" dir="5400000">
              <a:srgbClr val="9AA4B2">
                <a:alpha val="18000"/>
              </a:srgbClr>
            </a:outerShdw>
          </a:effectLst>
        </p:spPr>
      </p:sp>
      <p:sp>
        <p:nvSpPr>
          <p:cNvPr id="9" name="Text 7"/>
          <p:cNvSpPr/>
          <p:nvPr/>
        </p:nvSpPr>
        <p:spPr>
          <a:xfrm>
            <a:off x="914400" y="1371600"/>
            <a:ext cx="10332720" cy="868680"/>
          </a:xfrm>
          <a:prstGeom prst="rect">
            <a:avLst/>
          </a:prstGeom>
          <a:noFill/>
          <a:ln/>
        </p:spPr>
        <p:txBody>
          <a:bodyPr wrap="square" lIns="0" tIns="0" rIns="0" bIns="0" rtlCol="0" anchor="ctr"/>
          <a:lstStyle/>
          <a:p>
            <a:pPr indent="0" marL="0">
              <a:buNone/>
            </a:pPr>
            <a:r>
              <a:rPr lang="en-US" sz="2100" b="1" dirty="0">
                <a:solidFill>
                  <a:srgbClr val="111827"/>
                </a:solidFill>
                <a:latin typeface="Calibri" pitchFamily="34" charset="0"/>
                <a:ea typeface="Calibri" pitchFamily="34" charset="-122"/>
                <a:cs typeface="Calibri" pitchFamily="34" charset="-120"/>
              </a:rPr>
              <a:t>To apply conditionals and loops in a MakeCode program — and to fix it with a method when it breaks.</a:t>
            </a:r>
            <a:endParaRPr lang="en-US" sz="2100" dirty="0"/>
          </a:p>
        </p:txBody>
      </p:sp>
      <p:sp>
        <p:nvSpPr>
          <p:cNvPr id="10" name="Shape 8"/>
          <p:cNvSpPr/>
          <p:nvPr/>
        </p:nvSpPr>
        <p:spPr>
          <a:xfrm>
            <a:off x="640080" y="2468880"/>
            <a:ext cx="3383280" cy="3017520"/>
          </a:xfrm>
          <a:prstGeom prst="roundRect">
            <a:avLst>
              <a:gd name="adj" fmla="val 1515"/>
            </a:avLst>
          </a:prstGeom>
          <a:solidFill>
            <a:srgbClr val="F4F6FA"/>
          </a:solidFill>
          <a:ln w="19050">
            <a:solidFill>
              <a:srgbClr val="10B981"/>
            </a:solidFill>
            <a:prstDash val="solid"/>
          </a:ln>
          <a:effectLst>
            <a:outerShdw sx="100000" sy="100000" kx="0" ky="0" algn="bl" rotWithShape="0" blurRad="76200" dist="12700" dir="5400000">
              <a:srgbClr val="9AA4B2">
                <a:alpha val="18000"/>
              </a:srgbClr>
            </a:outerShdw>
          </a:effectLst>
        </p:spPr>
      </p:sp>
      <p:sp>
        <p:nvSpPr>
          <p:cNvPr id="11" name="Text 9"/>
          <p:cNvSpPr/>
          <p:nvPr/>
        </p:nvSpPr>
        <p:spPr>
          <a:xfrm>
            <a:off x="868680" y="2651760"/>
            <a:ext cx="2926080" cy="365760"/>
          </a:xfrm>
          <a:prstGeom prst="rect">
            <a:avLst/>
          </a:prstGeom>
          <a:noFill/>
          <a:ln/>
        </p:spPr>
        <p:txBody>
          <a:bodyPr wrap="square" lIns="0" tIns="0" rIns="0" bIns="0" rtlCol="0" anchor="ctr"/>
          <a:lstStyle/>
          <a:p>
            <a:pPr indent="0" marL="0">
              <a:buNone/>
            </a:pPr>
            <a:r>
              <a:rPr lang="en-US" sz="1700" b="1" dirty="0">
                <a:solidFill>
                  <a:srgbClr val="10B981"/>
                </a:solidFill>
                <a:latin typeface="Calibri" pitchFamily="34" charset="0"/>
                <a:ea typeface="Calibri" pitchFamily="34" charset="-122"/>
                <a:cs typeface="Calibri" pitchFamily="34" charset="-120"/>
              </a:rPr>
              <a:t>🟢 Foundation</a:t>
            </a:r>
            <a:endParaRPr lang="en-US" sz="1700" dirty="0"/>
          </a:p>
        </p:txBody>
      </p:sp>
      <p:sp>
        <p:nvSpPr>
          <p:cNvPr id="12" name="Text 10"/>
          <p:cNvSpPr/>
          <p:nvPr/>
        </p:nvSpPr>
        <p:spPr>
          <a:xfrm>
            <a:off x="868680" y="3090672"/>
            <a:ext cx="2926080" cy="2194560"/>
          </a:xfrm>
          <a:prstGeom prst="rect">
            <a:avLst/>
          </a:prstGeom>
          <a:noFill/>
          <a:ln/>
        </p:spPr>
        <p:txBody>
          <a:bodyPr wrap="square" lIns="0" tIns="0" rIns="0" bIns="0" rtlCol="0" anchor="ctr"/>
          <a:lstStyle/>
          <a:p>
            <a:pPr indent="0" marL="0">
              <a:lnSpc>
                <a:spcPts val="2300"/>
              </a:lnSpc>
              <a:buNone/>
            </a:pPr>
            <a:r>
              <a:rPr lang="en-US" sz="1700" dirty="0">
                <a:solidFill>
                  <a:srgbClr val="374151"/>
                </a:solidFill>
                <a:latin typeface="Calibri" pitchFamily="34" charset="0"/>
                <a:ea typeface="Calibri" pitchFamily="34" charset="-122"/>
                <a:cs typeface="Calibri" pitchFamily="34" charset="-120"/>
              </a:rPr>
              <a:t>Identify an if/else block and a loop block.</a:t>
            </a:r>
            <a:endParaRPr lang="en-US" sz="1700" dirty="0"/>
          </a:p>
          <a:p>
            <a:pPr indent="0" marL="0">
              <a:lnSpc>
                <a:spcPts val="2300"/>
              </a:lnSpc>
              <a:buNone/>
            </a:pPr>
            <a:endParaRPr lang="en-US" sz="1700" dirty="0"/>
          </a:p>
          <a:p>
            <a:pPr indent="0" marL="0">
              <a:lnSpc>
                <a:spcPts val="2300"/>
              </a:lnSpc>
              <a:buNone/>
            </a:pPr>
            <a:r>
              <a:rPr lang="en-US" sz="1700" dirty="0">
                <a:solidFill>
                  <a:srgbClr val="374151"/>
                </a:solidFill>
                <a:latin typeface="Calibri" pitchFamily="34" charset="0"/>
                <a:ea typeface="Calibri" pitchFamily="34" charset="-122"/>
                <a:cs typeface="Calibri" pitchFamily="34" charset="-120"/>
              </a:rPr>
              <a:t>Complete the guided build to Step 3.</a:t>
            </a:r>
            <a:endParaRPr lang="en-US" sz="1700" dirty="0"/>
          </a:p>
        </p:txBody>
      </p:sp>
      <p:sp>
        <p:nvSpPr>
          <p:cNvPr id="13" name="Shape 11"/>
          <p:cNvSpPr/>
          <p:nvPr/>
        </p:nvSpPr>
        <p:spPr>
          <a:xfrm>
            <a:off x="4297680" y="2468880"/>
            <a:ext cx="3383280" cy="3017520"/>
          </a:xfrm>
          <a:prstGeom prst="roundRect">
            <a:avLst>
              <a:gd name="adj" fmla="val 1515"/>
            </a:avLst>
          </a:prstGeom>
          <a:solidFill>
            <a:srgbClr val="F4F6FA"/>
          </a:solidFill>
          <a:ln w="19050">
            <a:solidFill>
              <a:srgbClr val="F59E0B"/>
            </a:solidFill>
            <a:prstDash val="solid"/>
          </a:ln>
          <a:effectLst>
            <a:outerShdw sx="100000" sy="100000" kx="0" ky="0" algn="bl" rotWithShape="0" blurRad="76200" dist="12700" dir="5400000">
              <a:srgbClr val="9AA4B2">
                <a:alpha val="18000"/>
              </a:srgbClr>
            </a:outerShdw>
          </a:effectLst>
        </p:spPr>
      </p:sp>
      <p:sp>
        <p:nvSpPr>
          <p:cNvPr id="14" name="Text 12"/>
          <p:cNvSpPr/>
          <p:nvPr/>
        </p:nvSpPr>
        <p:spPr>
          <a:xfrm>
            <a:off x="4526280" y="2651760"/>
            <a:ext cx="2926080" cy="365760"/>
          </a:xfrm>
          <a:prstGeom prst="rect">
            <a:avLst/>
          </a:prstGeom>
          <a:noFill/>
          <a:ln/>
        </p:spPr>
        <p:txBody>
          <a:bodyPr wrap="square" lIns="0" tIns="0" rIns="0" bIns="0" rtlCol="0" anchor="ctr"/>
          <a:lstStyle/>
          <a:p>
            <a:pPr indent="0" marL="0">
              <a:buNone/>
            </a:pPr>
            <a:r>
              <a:rPr lang="en-US" sz="1700" b="1" dirty="0">
                <a:solidFill>
                  <a:srgbClr val="F59E0B"/>
                </a:solidFill>
                <a:latin typeface="Calibri" pitchFamily="34" charset="0"/>
                <a:ea typeface="Calibri" pitchFamily="34" charset="-122"/>
                <a:cs typeface="Calibri" pitchFamily="34" charset="-120"/>
              </a:rPr>
              <a:t>🟡 Developing</a:t>
            </a:r>
            <a:endParaRPr lang="en-US" sz="1700" dirty="0"/>
          </a:p>
        </p:txBody>
      </p:sp>
      <p:sp>
        <p:nvSpPr>
          <p:cNvPr id="15" name="Text 13"/>
          <p:cNvSpPr/>
          <p:nvPr/>
        </p:nvSpPr>
        <p:spPr>
          <a:xfrm>
            <a:off x="4526280" y="3090672"/>
            <a:ext cx="2926080" cy="2194560"/>
          </a:xfrm>
          <a:prstGeom prst="rect">
            <a:avLst/>
          </a:prstGeom>
          <a:noFill/>
          <a:ln/>
        </p:spPr>
        <p:txBody>
          <a:bodyPr wrap="square" lIns="0" tIns="0" rIns="0" bIns="0" rtlCol="0" anchor="ctr"/>
          <a:lstStyle/>
          <a:p>
            <a:pPr indent="0" marL="0">
              <a:lnSpc>
                <a:spcPts val="2300"/>
              </a:lnSpc>
              <a:buNone/>
            </a:pPr>
            <a:r>
              <a:rPr lang="en-US" sz="1700" dirty="0">
                <a:solidFill>
                  <a:srgbClr val="374151"/>
                </a:solidFill>
                <a:latin typeface="Calibri" pitchFamily="34" charset="0"/>
                <a:ea typeface="Calibri" pitchFamily="34" charset="-122"/>
                <a:cs typeface="Calibri" pitchFamily="34" charset="-120"/>
              </a:rPr>
              <a:t>Complete all six steps.</a:t>
            </a:r>
            <a:endParaRPr lang="en-US" sz="1700" dirty="0"/>
          </a:p>
          <a:p>
            <a:pPr indent="0" marL="0">
              <a:lnSpc>
                <a:spcPts val="2300"/>
              </a:lnSpc>
              <a:buNone/>
            </a:pPr>
            <a:endParaRPr lang="en-US" sz="1700" dirty="0"/>
          </a:p>
          <a:p>
            <a:pPr indent="0" marL="0">
              <a:lnSpc>
                <a:spcPts val="2300"/>
              </a:lnSpc>
              <a:buNone/>
            </a:pPr>
            <a:r>
              <a:rPr lang="en-US" sz="1700" dirty="0">
                <a:solidFill>
                  <a:srgbClr val="374151"/>
                </a:solidFill>
                <a:latin typeface="Calibri" pitchFamily="34" charset="0"/>
                <a:ea typeface="Calibri" pitchFamily="34" charset="-122"/>
                <a:cs typeface="Calibri" pitchFamily="34" charset="-120"/>
              </a:rPr>
              <a:t>Your game has a win condition, a lose condition and a spawn loop.</a:t>
            </a:r>
            <a:endParaRPr lang="en-US" sz="1700" dirty="0"/>
          </a:p>
        </p:txBody>
      </p:sp>
      <p:sp>
        <p:nvSpPr>
          <p:cNvPr id="16" name="Shape 14"/>
          <p:cNvSpPr/>
          <p:nvPr/>
        </p:nvSpPr>
        <p:spPr>
          <a:xfrm>
            <a:off x="7955280" y="2468880"/>
            <a:ext cx="3383280" cy="3017520"/>
          </a:xfrm>
          <a:prstGeom prst="roundRect">
            <a:avLst>
              <a:gd name="adj" fmla="val 1515"/>
            </a:avLst>
          </a:prstGeom>
          <a:solidFill>
            <a:srgbClr val="F4F6FA"/>
          </a:solidFill>
          <a:ln w="19050">
            <a:solidFill>
              <a:srgbClr val="8B5CF6"/>
            </a:solidFill>
            <a:prstDash val="solid"/>
          </a:ln>
          <a:effectLst>
            <a:outerShdw sx="100000" sy="100000" kx="0" ky="0" algn="bl" rotWithShape="0" blurRad="76200" dist="12700" dir="5400000">
              <a:srgbClr val="9AA4B2">
                <a:alpha val="18000"/>
              </a:srgbClr>
            </a:outerShdw>
          </a:effectLst>
        </p:spPr>
      </p:sp>
      <p:sp>
        <p:nvSpPr>
          <p:cNvPr id="17" name="Text 15"/>
          <p:cNvSpPr/>
          <p:nvPr/>
        </p:nvSpPr>
        <p:spPr>
          <a:xfrm>
            <a:off x="8183880" y="2651760"/>
            <a:ext cx="2926080" cy="365760"/>
          </a:xfrm>
          <a:prstGeom prst="rect">
            <a:avLst/>
          </a:prstGeom>
          <a:noFill/>
          <a:ln/>
        </p:spPr>
        <p:txBody>
          <a:bodyPr wrap="square" lIns="0" tIns="0" rIns="0" bIns="0" rtlCol="0" anchor="ctr"/>
          <a:lstStyle/>
          <a:p>
            <a:pPr indent="0" marL="0">
              <a:buNone/>
            </a:pPr>
            <a:r>
              <a:rPr lang="en-US" sz="1700" b="1" dirty="0">
                <a:solidFill>
                  <a:srgbClr val="8B5CF6"/>
                </a:solidFill>
                <a:latin typeface="Calibri" pitchFamily="34" charset="0"/>
                <a:ea typeface="Calibri" pitchFamily="34" charset="-122"/>
                <a:cs typeface="Calibri" pitchFamily="34" charset="-120"/>
              </a:rPr>
              <a:t>🟣 Extending</a:t>
            </a:r>
            <a:endParaRPr lang="en-US" sz="1700" dirty="0"/>
          </a:p>
        </p:txBody>
      </p:sp>
      <p:sp>
        <p:nvSpPr>
          <p:cNvPr id="18" name="Text 16"/>
          <p:cNvSpPr/>
          <p:nvPr/>
        </p:nvSpPr>
        <p:spPr>
          <a:xfrm>
            <a:off x="8183880" y="3090672"/>
            <a:ext cx="2926080" cy="2194560"/>
          </a:xfrm>
          <a:prstGeom prst="rect">
            <a:avLst/>
          </a:prstGeom>
          <a:noFill/>
          <a:ln/>
        </p:spPr>
        <p:txBody>
          <a:bodyPr wrap="square" lIns="0" tIns="0" rIns="0" bIns="0" rtlCol="0" anchor="ctr"/>
          <a:lstStyle/>
          <a:p>
            <a:pPr indent="0" marL="0">
              <a:lnSpc>
                <a:spcPts val="2300"/>
              </a:lnSpc>
              <a:buNone/>
            </a:pPr>
            <a:r>
              <a:rPr lang="en-US" sz="1700" dirty="0">
                <a:solidFill>
                  <a:srgbClr val="374151"/>
                </a:solidFill>
                <a:latin typeface="Calibri" pitchFamily="34" charset="0"/>
                <a:ea typeface="Calibri" pitchFamily="34" charset="-122"/>
                <a:cs typeface="Calibri" pitchFamily="34" charset="-120"/>
              </a:rPr>
              <a:t>Add a conditional of your own inside a loop.</a:t>
            </a:r>
            <a:endParaRPr lang="en-US" sz="1700" dirty="0"/>
          </a:p>
          <a:p>
            <a:pPr indent="0" marL="0">
              <a:lnSpc>
                <a:spcPts val="2300"/>
              </a:lnSpc>
              <a:buNone/>
            </a:pPr>
            <a:endParaRPr lang="en-US" sz="1700" dirty="0"/>
          </a:p>
          <a:p>
            <a:pPr indent="0" marL="0">
              <a:lnSpc>
                <a:spcPts val="2300"/>
              </a:lnSpc>
              <a:buNone/>
            </a:pPr>
            <a:r>
              <a:rPr lang="en-US" sz="1700" dirty="0">
                <a:solidFill>
                  <a:srgbClr val="374151"/>
                </a:solidFill>
                <a:latin typeface="Calibri" pitchFamily="34" charset="0"/>
                <a:ea typeface="Calibri" pitchFamily="34" charset="-122"/>
                <a:cs typeface="Calibri" pitchFamily="34" charset="-120"/>
              </a:rPr>
              <a:t>Log a bug using all four steps.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BRIDGE FROM LESSON 4</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Where Your Game Is Now</a:t>
            </a:r>
            <a:endParaRPr lang="en-US" sz="3200" dirty="0"/>
          </a:p>
        </p:txBody>
      </p:sp>
      <p:sp>
        <p:nvSpPr>
          <p:cNvPr id="4" name="Shape 2"/>
          <p:cNvSpPr/>
          <p:nvPr/>
        </p:nvSpPr>
        <p:spPr>
          <a:xfrm>
            <a:off x="9646920" y="384048"/>
            <a:ext cx="1874520" cy="402336"/>
          </a:xfrm>
          <a:prstGeom prst="roundRect">
            <a:avLst>
              <a:gd name="adj" fmla="val 18182"/>
            </a:avLst>
          </a:prstGeom>
          <a:solidFill>
            <a:srgbClr val="6B7280"/>
          </a:solidFill>
          <a:ln w="12700">
            <a:solidFill>
              <a:srgbClr val="6B7280"/>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RECAP</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Text 6"/>
          <p:cNvSpPr/>
          <p:nvPr/>
        </p:nvSpPr>
        <p:spPr>
          <a:xfrm>
            <a:off x="640080" y="1371600"/>
            <a:ext cx="10881360" cy="411480"/>
          </a:xfrm>
          <a:prstGeom prst="rect">
            <a:avLst/>
          </a:prstGeom>
          <a:noFill/>
          <a:ln/>
        </p:spPr>
        <p:txBody>
          <a:bodyPr wrap="square" lIns="0" tIns="0" rIns="0" bIns="0" rtlCol="0" anchor="ctr"/>
          <a:lstStyle/>
          <a:p>
            <a:pPr indent="0" marL="0">
              <a:buNone/>
            </a:pPr>
            <a:r>
              <a:rPr lang="en-US" sz="2000" dirty="0">
                <a:solidFill>
                  <a:srgbClr val="374151"/>
                </a:solidFill>
                <a:latin typeface="Calibri" pitchFamily="34" charset="0"/>
                <a:ea typeface="Calibri" pitchFamily="34" charset="-122"/>
                <a:cs typeface="Calibri" pitchFamily="34" charset="-120"/>
              </a:rPr>
              <a:t>Last lesson you met MakeCode and gave your game a memory. Today you give it rules and rhythm.</a:t>
            </a:r>
            <a:endParaRPr lang="en-US" sz="2000" dirty="0"/>
          </a:p>
        </p:txBody>
      </p:sp>
      <p:sp>
        <p:nvSpPr>
          <p:cNvPr id="9" name="Shape 7"/>
          <p:cNvSpPr/>
          <p:nvPr/>
        </p:nvSpPr>
        <p:spPr>
          <a:xfrm>
            <a:off x="640080" y="2011680"/>
            <a:ext cx="3383280" cy="1737360"/>
          </a:xfrm>
          <a:prstGeom prst="roundRect">
            <a:avLst>
              <a:gd name="adj" fmla="val 2632"/>
            </a:avLst>
          </a:prstGeom>
          <a:solidFill>
            <a:srgbClr val="F4F6FA"/>
          </a:solidFill>
          <a:ln w="12700">
            <a:solidFill>
              <a:srgbClr val="D9DEE7"/>
            </a:solidFill>
            <a:prstDash val="solid"/>
          </a:ln>
          <a:effectLst>
            <a:outerShdw sx="100000" sy="100000" kx="0" ky="0" algn="bl" rotWithShape="0" blurRad="76200" dist="12700" dir="5400000">
              <a:srgbClr val="9AA4B2">
                <a:alpha val="18000"/>
              </a:srgbClr>
            </a:outerShdw>
          </a:effectLst>
        </p:spPr>
      </p:sp>
      <p:sp>
        <p:nvSpPr>
          <p:cNvPr id="10" name="Text 8"/>
          <p:cNvSpPr/>
          <p:nvPr/>
        </p:nvSpPr>
        <p:spPr>
          <a:xfrm>
            <a:off x="868680" y="2194560"/>
            <a:ext cx="2926080" cy="365760"/>
          </a:xfrm>
          <a:prstGeom prst="rect">
            <a:avLst/>
          </a:prstGeom>
          <a:noFill/>
          <a:ln/>
        </p:spPr>
        <p:txBody>
          <a:bodyPr wrap="square" lIns="0" tIns="0" rIns="0" bIns="0" rtlCol="0" anchor="ctr"/>
          <a:lstStyle/>
          <a:p>
            <a:pPr indent="0" marL="0">
              <a:buNone/>
            </a:pPr>
            <a:r>
              <a:rPr lang="en-US" sz="2000" dirty="0">
                <a:solidFill>
                  <a:srgbClr val="4361EE"/>
                </a:solidFill>
                <a:latin typeface="Bookman Old Style" pitchFamily="34" charset="0"/>
                <a:ea typeface="Bookman Old Style" pitchFamily="34" charset="-122"/>
                <a:cs typeface="Bookman Old Style" pitchFamily="34" charset="-120"/>
              </a:rPr>
              <a:t>Sprites</a:t>
            </a:r>
            <a:endParaRPr lang="en-US" sz="2000" dirty="0"/>
          </a:p>
        </p:txBody>
      </p:sp>
      <p:sp>
        <p:nvSpPr>
          <p:cNvPr id="11" name="Text 9"/>
          <p:cNvSpPr/>
          <p:nvPr/>
        </p:nvSpPr>
        <p:spPr>
          <a:xfrm>
            <a:off x="868680" y="2606040"/>
            <a:ext cx="2926080" cy="1005840"/>
          </a:xfrm>
          <a:prstGeom prst="rect">
            <a:avLst/>
          </a:prstGeom>
          <a:noFill/>
          <a:ln/>
        </p:spPr>
        <p:txBody>
          <a:bodyPr wrap="square" lIns="0" tIns="0" rIns="0" bIns="0" rtlCol="0" anchor="ctr"/>
          <a:lstStyle/>
          <a:p>
            <a:pPr indent="0" marL="0">
              <a:lnSpc>
                <a:spcPts val="2200"/>
              </a:lnSpc>
              <a:buNone/>
            </a:pPr>
            <a:r>
              <a:rPr lang="en-US" sz="1700" dirty="0">
                <a:solidFill>
                  <a:srgbClr val="374151"/>
                </a:solidFill>
                <a:latin typeface="Calibri" pitchFamily="34" charset="0"/>
                <a:ea typeface="Calibri" pitchFamily="34" charset="-122"/>
                <a:cs typeface="Calibri" pitchFamily="34" charset="-120"/>
              </a:rPr>
              <a:t>Your player, enemies and collectibles exist on screen</a:t>
            </a:r>
            <a:endParaRPr lang="en-US" sz="1700" dirty="0"/>
          </a:p>
        </p:txBody>
      </p:sp>
      <p:sp>
        <p:nvSpPr>
          <p:cNvPr id="12" name="Shape 10"/>
          <p:cNvSpPr/>
          <p:nvPr/>
        </p:nvSpPr>
        <p:spPr>
          <a:xfrm>
            <a:off x="4297680" y="2011680"/>
            <a:ext cx="3383280" cy="1737360"/>
          </a:xfrm>
          <a:prstGeom prst="roundRect">
            <a:avLst>
              <a:gd name="adj" fmla="val 2632"/>
            </a:avLst>
          </a:prstGeom>
          <a:solidFill>
            <a:srgbClr val="F4F6FA"/>
          </a:solidFill>
          <a:ln w="12700">
            <a:solidFill>
              <a:srgbClr val="D9DEE7"/>
            </a:solidFill>
            <a:prstDash val="solid"/>
          </a:ln>
          <a:effectLst>
            <a:outerShdw sx="100000" sy="100000" kx="0" ky="0" algn="bl" rotWithShape="0" blurRad="76200" dist="12700" dir="5400000">
              <a:srgbClr val="9AA4B2">
                <a:alpha val="18000"/>
              </a:srgbClr>
            </a:outerShdw>
          </a:effectLst>
        </p:spPr>
      </p:sp>
      <p:sp>
        <p:nvSpPr>
          <p:cNvPr id="13" name="Text 11"/>
          <p:cNvSpPr/>
          <p:nvPr/>
        </p:nvSpPr>
        <p:spPr>
          <a:xfrm>
            <a:off x="4526280" y="2194560"/>
            <a:ext cx="2926080" cy="365760"/>
          </a:xfrm>
          <a:prstGeom prst="rect">
            <a:avLst/>
          </a:prstGeom>
          <a:noFill/>
          <a:ln/>
        </p:spPr>
        <p:txBody>
          <a:bodyPr wrap="square" lIns="0" tIns="0" rIns="0" bIns="0" rtlCol="0" anchor="ctr"/>
          <a:lstStyle/>
          <a:p>
            <a:pPr indent="0" marL="0">
              <a:buNone/>
            </a:pPr>
            <a:r>
              <a:rPr lang="en-US" sz="2000" dirty="0">
                <a:solidFill>
                  <a:srgbClr val="4361EE"/>
                </a:solidFill>
                <a:latin typeface="Bookman Old Style" pitchFamily="34" charset="0"/>
                <a:ea typeface="Bookman Old Style" pitchFamily="34" charset="-122"/>
                <a:cs typeface="Bookman Old Style" pitchFamily="34" charset="-120"/>
              </a:rPr>
              <a:t>Events</a:t>
            </a:r>
            <a:endParaRPr lang="en-US" sz="2000" dirty="0"/>
          </a:p>
        </p:txBody>
      </p:sp>
      <p:sp>
        <p:nvSpPr>
          <p:cNvPr id="14" name="Text 12"/>
          <p:cNvSpPr/>
          <p:nvPr/>
        </p:nvSpPr>
        <p:spPr>
          <a:xfrm>
            <a:off x="4526280" y="2606040"/>
            <a:ext cx="2926080" cy="1005840"/>
          </a:xfrm>
          <a:prstGeom prst="rect">
            <a:avLst/>
          </a:prstGeom>
          <a:noFill/>
          <a:ln/>
        </p:spPr>
        <p:txBody>
          <a:bodyPr wrap="square" lIns="0" tIns="0" rIns="0" bIns="0" rtlCol="0" anchor="ctr"/>
          <a:lstStyle/>
          <a:p>
            <a:pPr indent="0" marL="0">
              <a:lnSpc>
                <a:spcPts val="2200"/>
              </a:lnSpc>
              <a:buNone/>
            </a:pPr>
            <a:r>
              <a:rPr lang="en-US" sz="1700" dirty="0">
                <a:solidFill>
                  <a:srgbClr val="374151"/>
                </a:solidFill>
                <a:latin typeface="Calibri" pitchFamily="34" charset="0"/>
                <a:ea typeface="Calibri" pitchFamily="34" charset="-122"/>
                <a:cs typeface="Calibri" pitchFamily="34" charset="-120"/>
              </a:rPr>
              <a:t>Code runs when something happens — a press, a collision</a:t>
            </a:r>
            <a:endParaRPr lang="en-US" sz="1700" dirty="0"/>
          </a:p>
        </p:txBody>
      </p:sp>
      <p:sp>
        <p:nvSpPr>
          <p:cNvPr id="15" name="Shape 13"/>
          <p:cNvSpPr/>
          <p:nvPr/>
        </p:nvSpPr>
        <p:spPr>
          <a:xfrm>
            <a:off x="7955280" y="2011680"/>
            <a:ext cx="3383280" cy="1737360"/>
          </a:xfrm>
          <a:prstGeom prst="roundRect">
            <a:avLst>
              <a:gd name="adj" fmla="val 2632"/>
            </a:avLst>
          </a:prstGeom>
          <a:solidFill>
            <a:srgbClr val="F4F6FA"/>
          </a:solidFill>
          <a:ln w="12700">
            <a:solidFill>
              <a:srgbClr val="D9DEE7"/>
            </a:solidFill>
            <a:prstDash val="solid"/>
          </a:ln>
          <a:effectLst>
            <a:outerShdw sx="100000" sy="100000" kx="0" ky="0" algn="bl" rotWithShape="0" blurRad="76200" dist="12700" dir="5400000">
              <a:srgbClr val="9AA4B2">
                <a:alpha val="18000"/>
              </a:srgbClr>
            </a:outerShdw>
          </a:effectLst>
        </p:spPr>
      </p:sp>
      <p:sp>
        <p:nvSpPr>
          <p:cNvPr id="16" name="Text 14"/>
          <p:cNvSpPr/>
          <p:nvPr/>
        </p:nvSpPr>
        <p:spPr>
          <a:xfrm>
            <a:off x="8183880" y="2194560"/>
            <a:ext cx="2926080" cy="365760"/>
          </a:xfrm>
          <a:prstGeom prst="rect">
            <a:avLst/>
          </a:prstGeom>
          <a:noFill/>
          <a:ln/>
        </p:spPr>
        <p:txBody>
          <a:bodyPr wrap="square" lIns="0" tIns="0" rIns="0" bIns="0" rtlCol="0" anchor="ctr"/>
          <a:lstStyle/>
          <a:p>
            <a:pPr indent="0" marL="0">
              <a:buNone/>
            </a:pPr>
            <a:r>
              <a:rPr lang="en-US" sz="2000" dirty="0">
                <a:solidFill>
                  <a:srgbClr val="4361EE"/>
                </a:solidFill>
                <a:latin typeface="Bookman Old Style" pitchFamily="34" charset="0"/>
                <a:ea typeface="Bookman Old Style" pitchFamily="34" charset="-122"/>
                <a:cs typeface="Bookman Old Style" pitchFamily="34" charset="-120"/>
              </a:rPr>
              <a:t>Variables</a:t>
            </a:r>
            <a:endParaRPr lang="en-US" sz="2000" dirty="0"/>
          </a:p>
        </p:txBody>
      </p:sp>
      <p:sp>
        <p:nvSpPr>
          <p:cNvPr id="17" name="Text 15"/>
          <p:cNvSpPr/>
          <p:nvPr/>
        </p:nvSpPr>
        <p:spPr>
          <a:xfrm>
            <a:off x="8183880" y="2606040"/>
            <a:ext cx="2926080" cy="1005840"/>
          </a:xfrm>
          <a:prstGeom prst="rect">
            <a:avLst/>
          </a:prstGeom>
          <a:noFill/>
          <a:ln/>
        </p:spPr>
        <p:txBody>
          <a:bodyPr wrap="square" lIns="0" tIns="0" rIns="0" bIns="0" rtlCol="0" anchor="ctr"/>
          <a:lstStyle/>
          <a:p>
            <a:pPr indent="0" marL="0">
              <a:lnSpc>
                <a:spcPts val="2200"/>
              </a:lnSpc>
              <a:buNone/>
            </a:pPr>
            <a:r>
              <a:rPr lang="en-US" sz="1700" dirty="0">
                <a:solidFill>
                  <a:srgbClr val="374151"/>
                </a:solidFill>
                <a:latin typeface="Calibri" pitchFamily="34" charset="0"/>
                <a:ea typeface="Calibri" pitchFamily="34" charset="-122"/>
                <a:cs typeface="Calibri" pitchFamily="34" charset="-120"/>
              </a:rPr>
              <a:t>score and life remember values while the game runs</a:t>
            </a:r>
            <a:endParaRPr lang="en-US" sz="1700" dirty="0"/>
          </a:p>
        </p:txBody>
      </p:sp>
      <p:sp>
        <p:nvSpPr>
          <p:cNvPr id="18" name="Shape 16"/>
          <p:cNvSpPr/>
          <p:nvPr/>
        </p:nvSpPr>
        <p:spPr>
          <a:xfrm>
            <a:off x="640080" y="4069080"/>
            <a:ext cx="10881360" cy="1463040"/>
          </a:xfrm>
          <a:prstGeom prst="roundRect">
            <a:avLst>
              <a:gd name="adj" fmla="val 3125"/>
            </a:avLst>
          </a:prstGeom>
          <a:solidFill>
            <a:srgbClr val="F4F6FA"/>
          </a:solidFill>
          <a:ln w="19050">
            <a:solidFill>
              <a:srgbClr val="F59E0B"/>
            </a:solidFill>
            <a:prstDash val="solid"/>
          </a:ln>
          <a:effectLst>
            <a:outerShdw sx="100000" sy="100000" kx="0" ky="0" algn="bl" rotWithShape="0" blurRad="76200" dist="12700" dir="5400000">
              <a:srgbClr val="9AA4B2">
                <a:alpha val="18000"/>
              </a:srgbClr>
            </a:outerShdw>
          </a:effectLst>
        </p:spPr>
      </p:sp>
      <p:sp>
        <p:nvSpPr>
          <p:cNvPr id="19" name="Text 17"/>
          <p:cNvSpPr/>
          <p:nvPr/>
        </p:nvSpPr>
        <p:spPr>
          <a:xfrm>
            <a:off x="914400" y="4224528"/>
            <a:ext cx="4572000" cy="365760"/>
          </a:xfrm>
          <a:prstGeom prst="rect">
            <a:avLst/>
          </a:prstGeom>
          <a:noFill/>
          <a:ln/>
        </p:spPr>
        <p:txBody>
          <a:bodyPr wrap="square" lIns="0" tIns="0" rIns="0" bIns="0" rtlCol="0" anchor="ctr"/>
          <a:lstStyle/>
          <a:p>
            <a:pPr indent="0" marL="0">
              <a:buNone/>
            </a:pPr>
            <a:r>
              <a:rPr lang="en-US" sz="2000" dirty="0">
                <a:solidFill>
                  <a:srgbClr val="8A5A05"/>
                </a:solidFill>
                <a:latin typeface="Bookman Old Style" pitchFamily="34" charset="0"/>
                <a:ea typeface="Bookman Old Style" pitchFamily="34" charset="-122"/>
                <a:cs typeface="Bookman Old Style" pitchFamily="34" charset="-120"/>
              </a:rPr>
              <a:t>What's missing?</a:t>
            </a:r>
            <a:endParaRPr lang="en-US" sz="2000" dirty="0"/>
          </a:p>
        </p:txBody>
      </p:sp>
      <p:sp>
        <p:nvSpPr>
          <p:cNvPr id="20" name="Text 18"/>
          <p:cNvSpPr/>
          <p:nvPr/>
        </p:nvSpPr>
        <p:spPr>
          <a:xfrm>
            <a:off x="914400" y="4617720"/>
            <a:ext cx="10332720" cy="822960"/>
          </a:xfrm>
          <a:prstGeom prst="rect">
            <a:avLst/>
          </a:prstGeom>
          <a:noFill/>
          <a:ln/>
        </p:spPr>
        <p:txBody>
          <a:bodyPr wrap="square" lIns="0" tIns="0" rIns="0" bIns="0" rtlCol="0" anchor="ctr"/>
          <a:lstStyle/>
          <a:p>
            <a:pPr indent="0" marL="0">
              <a:lnSpc>
                <a:spcPts val="2400"/>
              </a:lnSpc>
              <a:buNone/>
            </a:pPr>
            <a:r>
              <a:rPr lang="en-US" sz="1900" dirty="0">
                <a:solidFill>
                  <a:srgbClr val="374151"/>
                </a:solidFill>
                <a:latin typeface="Calibri" pitchFamily="34" charset="0"/>
                <a:ea typeface="Calibri" pitchFamily="34" charset="-122"/>
                <a:cs typeface="Calibri" pitchFamily="34" charset="-120"/>
              </a:rPr>
              <a:t>Your game can remember a score — but it can't yet decide what to do about it, and it can't do anything over and over on its own. Those two gaps are today.</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EXPLICIT EXPLANATION</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Conditionals — If / Else</a:t>
            </a:r>
            <a:endParaRPr lang="en-US" sz="3200" dirty="0"/>
          </a:p>
        </p:txBody>
      </p:sp>
      <p:sp>
        <p:nvSpPr>
          <p:cNvPr id="4" name="Shape 2"/>
          <p:cNvSpPr/>
          <p:nvPr/>
        </p:nvSpPr>
        <p:spPr>
          <a:xfrm>
            <a:off x="9646920" y="384048"/>
            <a:ext cx="1874520" cy="402336"/>
          </a:xfrm>
          <a:prstGeom prst="roundRect">
            <a:avLst>
              <a:gd name="adj" fmla="val 18182"/>
            </a:avLst>
          </a:prstGeom>
          <a:solidFill>
            <a:srgbClr val="F59E0B"/>
          </a:solidFill>
          <a:ln w="12700">
            <a:solidFill>
              <a:srgbClr val="F59E0B"/>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EXPLANATION</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Shape 6"/>
          <p:cNvSpPr/>
          <p:nvPr/>
        </p:nvSpPr>
        <p:spPr>
          <a:xfrm>
            <a:off x="640080" y="1371600"/>
            <a:ext cx="10881360" cy="777240"/>
          </a:xfrm>
          <a:prstGeom prst="roundRect">
            <a:avLst>
              <a:gd name="adj" fmla="val 5882"/>
            </a:avLst>
          </a:prstGeom>
          <a:solidFill>
            <a:srgbClr val="F4F6FA"/>
          </a:solidFill>
          <a:ln w="19050">
            <a:solidFill>
              <a:srgbClr val="4361EE"/>
            </a:solidFill>
            <a:prstDash val="solid"/>
          </a:ln>
          <a:effectLst>
            <a:outerShdw sx="100000" sy="100000" kx="0" ky="0" algn="bl" rotWithShape="0" blurRad="76200" dist="12700" dir="5400000">
              <a:srgbClr val="9AA4B2">
                <a:alpha val="18000"/>
              </a:srgbClr>
            </a:outerShdw>
          </a:effectLst>
        </p:spPr>
      </p:sp>
      <p:sp>
        <p:nvSpPr>
          <p:cNvPr id="9" name="Text 7"/>
          <p:cNvSpPr/>
          <p:nvPr/>
        </p:nvSpPr>
        <p:spPr>
          <a:xfrm>
            <a:off x="914400" y="1371600"/>
            <a:ext cx="10332720" cy="77724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A conditional runs one block of code if a condition is TRUE, and a different block if it's FALSE.</a:t>
            </a:r>
            <a:endParaRPr lang="en-US" sz="2000" dirty="0"/>
          </a:p>
        </p:txBody>
      </p:sp>
      <p:sp>
        <p:nvSpPr>
          <p:cNvPr id="10" name="Shape 8"/>
          <p:cNvSpPr/>
          <p:nvPr/>
        </p:nvSpPr>
        <p:spPr>
          <a:xfrm>
            <a:off x="640080" y="2377440"/>
            <a:ext cx="6492240" cy="2331720"/>
          </a:xfrm>
          <a:prstGeom prst="roundRect">
            <a:avLst>
              <a:gd name="adj" fmla="val 1961"/>
            </a:avLst>
          </a:prstGeom>
          <a:solidFill>
            <a:srgbClr val="111827"/>
          </a:solidFill>
          <a:ln w="12700">
            <a:solidFill>
              <a:srgbClr val="111827"/>
            </a:solidFill>
            <a:prstDash val="solid"/>
          </a:ln>
        </p:spPr>
      </p:sp>
      <p:sp>
        <p:nvSpPr>
          <p:cNvPr id="11" name="Text 9"/>
          <p:cNvSpPr/>
          <p:nvPr/>
        </p:nvSpPr>
        <p:spPr>
          <a:xfrm>
            <a:off x="896112" y="2523744"/>
            <a:ext cx="6035040" cy="2039112"/>
          </a:xfrm>
          <a:prstGeom prst="rect">
            <a:avLst/>
          </a:prstGeom>
          <a:noFill/>
          <a:ln/>
        </p:spPr>
        <p:txBody>
          <a:bodyPr wrap="square" lIns="0" tIns="0" rIns="0" bIns="0" rtlCol="0" anchor="t"/>
          <a:lstStyle/>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on Player overlaps Enemy</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if life &lt;= 1 then</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game over LOSE</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else</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change life by -1</a:t>
            </a:r>
            <a:endParaRPr lang="en-US" sz="1800" dirty="0"/>
          </a:p>
        </p:txBody>
      </p:sp>
      <p:sp>
        <p:nvSpPr>
          <p:cNvPr id="12" name="Text 10"/>
          <p:cNvSpPr/>
          <p:nvPr/>
        </p:nvSpPr>
        <p:spPr>
          <a:xfrm>
            <a:off x="7406640" y="2377440"/>
            <a:ext cx="4114800" cy="2331720"/>
          </a:xfrm>
          <a:prstGeom prst="rect">
            <a:avLst/>
          </a:prstGeom>
          <a:noFill/>
          <a:ln/>
        </p:spPr>
        <p:txBody>
          <a:bodyPr wrap="square" lIns="0" tIns="0" rIns="0" bIns="0" rtlCol="0" anchor="ctr"/>
          <a:lstStyle/>
          <a:p>
            <a:pPr indent="0" marL="0">
              <a:lnSpc>
                <a:spcPts val="2400"/>
              </a:lnSpc>
              <a:buNone/>
            </a:pPr>
            <a:r>
              <a:rPr lang="en-US" sz="1800" b="1" dirty="0">
                <a:solidFill>
                  <a:srgbClr val="374151"/>
                </a:solidFill>
                <a:latin typeface="Calibri" pitchFamily="34" charset="0"/>
                <a:ea typeface="Calibri" pitchFamily="34" charset="-122"/>
                <a:cs typeface="Calibri" pitchFamily="34" charset="-120"/>
              </a:rPr>
              <a:t>Read it as one sentence:</a:t>
            </a:r>
            <a:endParaRPr lang="en-US" sz="1800" dirty="0"/>
          </a:p>
          <a:p>
            <a:pPr indent="0" marL="0">
              <a:lnSpc>
                <a:spcPts val="2400"/>
              </a:lnSpc>
              <a:buNone/>
            </a:pPr>
            <a:r>
              <a:rPr lang="en-US" sz="1800" dirty="0">
                <a:solidFill>
                  <a:srgbClr val="374151"/>
                </a:solidFill>
                <a:latin typeface="Calibri" pitchFamily="34" charset="0"/>
                <a:ea typeface="Calibri" pitchFamily="34" charset="-122"/>
                <a:cs typeface="Calibri" pitchFamily="34" charset="-120"/>
              </a:rPr>
              <a:t>When the player touches an enemy — if that was their last life, end the game. Otherwise, just take a life away.</a:t>
            </a:r>
            <a:endParaRPr lang="en-US" sz="1800" dirty="0"/>
          </a:p>
          <a:p>
            <a:pPr indent="0" marL="0">
              <a:lnSpc>
                <a:spcPts val="2400"/>
              </a:lnSpc>
              <a:buNone/>
            </a:pPr>
            <a:r>
              <a:rPr lang="en-US" sz="1800" dirty="0">
                <a:solidFill>
                  <a:srgbClr val="374151"/>
                </a:solidFill>
                <a:latin typeface="Calibri" pitchFamily="34" charset="0"/>
                <a:ea typeface="Calibri" pitchFamily="34" charset="-122"/>
                <a:cs typeface="Calibri" pitchFamily="34" charset="-120"/>
              </a:rPr>
              <a:t> </a:t>
            </a:r>
            <a:endParaRPr lang="en-US" sz="1800" dirty="0"/>
          </a:p>
          <a:p>
            <a:pPr indent="0" marL="0">
              <a:lnSpc>
                <a:spcPts val="2400"/>
              </a:lnSpc>
              <a:buNone/>
            </a:pPr>
            <a:r>
              <a:rPr lang="en-US" sz="1800" dirty="0">
                <a:solidFill>
                  <a:srgbClr val="374151"/>
                </a:solidFill>
                <a:latin typeface="Calibri" pitchFamily="34" charset="0"/>
                <a:ea typeface="Calibri" pitchFamily="34" charset="-122"/>
                <a:cs typeface="Calibri" pitchFamily="34" charset="-120"/>
              </a:rPr>
              <a:t>This is your flowchart diamond from Lesson 3. The two arrows out of the diamond are if and else.</a:t>
            </a:r>
            <a:endParaRPr lang="en-US" sz="1800" dirty="0"/>
          </a:p>
        </p:txBody>
      </p:sp>
      <p:sp>
        <p:nvSpPr>
          <p:cNvPr id="13" name="Text 11"/>
          <p:cNvSpPr/>
          <p:nvPr/>
        </p:nvSpPr>
        <p:spPr>
          <a:xfrm>
            <a:off x="640080" y="4937760"/>
            <a:ext cx="10881360" cy="640080"/>
          </a:xfrm>
          <a:prstGeom prst="rect">
            <a:avLst/>
          </a:prstGeom>
          <a:noFill/>
          <a:ln/>
        </p:spPr>
        <p:txBody>
          <a:bodyPr wrap="square" lIns="0" tIns="0" rIns="0" bIns="0" rtlCol="0" anchor="ctr"/>
          <a:lstStyle/>
          <a:p>
            <a:pPr indent="0" marL="0">
              <a:buNone/>
            </a:pPr>
            <a:r>
              <a:rPr lang="en-US" sz="1800" i="1" dirty="0">
                <a:solidFill>
                  <a:srgbClr val="374151"/>
                </a:solidFill>
                <a:latin typeface="Calibri" pitchFamily="34" charset="0"/>
                <a:ea typeface="Calibri" pitchFamily="34" charset="-122"/>
                <a:cs typeface="Calibri" pitchFamily="34" charset="-120"/>
              </a:rPr>
              <a:t>else is optional  ·  if score &gt;= 5 then game over WIN  is a complete conditional on its own — when the condition is false, nothing happens.</a:t>
            </a:r>
            <a:endParaRPr lang="en-US" sz="1800" dirty="0"/>
          </a:p>
        </p:txBody>
      </p:sp>
      <p:sp>
        <p:nvSpPr>
          <p:cNvPr id="14" name="Shape 12"/>
          <p:cNvSpPr/>
          <p:nvPr/>
        </p:nvSpPr>
        <p:spPr>
          <a:xfrm>
            <a:off x="640080" y="5797296"/>
            <a:ext cx="10881360" cy="384048"/>
          </a:xfrm>
          <a:prstGeom prst="roundRect">
            <a:avLst>
              <a:gd name="adj" fmla="val 11905"/>
            </a:avLst>
          </a:prstGeom>
          <a:solidFill>
            <a:srgbClr val="FEF6E7"/>
          </a:solidFill>
          <a:ln w="12700">
            <a:solidFill>
              <a:srgbClr val="F59E0B"/>
            </a:solidFill>
            <a:prstDash val="solid"/>
          </a:ln>
        </p:spPr>
      </p:sp>
      <p:sp>
        <p:nvSpPr>
          <p:cNvPr id="15" name="Text 13"/>
          <p:cNvSpPr/>
          <p:nvPr/>
        </p:nvSpPr>
        <p:spPr>
          <a:xfrm>
            <a:off x="841248" y="5797296"/>
            <a:ext cx="10515600" cy="384048"/>
          </a:xfrm>
          <a:prstGeom prst="rect">
            <a:avLst/>
          </a:prstGeom>
          <a:noFill/>
          <a:ln/>
        </p:spPr>
        <p:txBody>
          <a:bodyPr wrap="square" lIns="0" tIns="0" rIns="0" bIns="0" rtlCol="0" anchor="ctr"/>
          <a:lstStyle/>
          <a:p>
            <a:pPr indent="0" marL="0">
              <a:buNone/>
            </a:pPr>
            <a:r>
              <a:rPr lang="en-US" sz="1600" b="1" dirty="0">
                <a:solidFill>
                  <a:srgbClr val="8A5A05"/>
                </a:solidFill>
                <a:latin typeface="Calibri" pitchFamily="34" charset="0"/>
                <a:ea typeface="Calibri" pitchFamily="34" charset="-122"/>
                <a:cs typeface="Calibri" pitchFamily="34" charset="-120"/>
              </a:rPr>
              <a:t>COPY  ·  Definition of a conditional + the if / else code above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EXPLICIT EXPLANATION</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The Condition Is a Comparison</a:t>
            </a:r>
            <a:endParaRPr lang="en-US" sz="3200" dirty="0"/>
          </a:p>
        </p:txBody>
      </p:sp>
      <p:sp>
        <p:nvSpPr>
          <p:cNvPr id="4" name="Shape 2"/>
          <p:cNvSpPr/>
          <p:nvPr/>
        </p:nvSpPr>
        <p:spPr>
          <a:xfrm>
            <a:off x="9646920" y="384048"/>
            <a:ext cx="1874520" cy="402336"/>
          </a:xfrm>
          <a:prstGeom prst="roundRect">
            <a:avLst>
              <a:gd name="adj" fmla="val 18182"/>
            </a:avLst>
          </a:prstGeom>
          <a:solidFill>
            <a:srgbClr val="F59E0B"/>
          </a:solidFill>
          <a:ln w="12700">
            <a:solidFill>
              <a:srgbClr val="F59E0B"/>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REFERENCE</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Text 6"/>
          <p:cNvSpPr/>
          <p:nvPr/>
        </p:nvSpPr>
        <p:spPr>
          <a:xfrm>
            <a:off x="640080" y="1371600"/>
            <a:ext cx="10881360" cy="365760"/>
          </a:xfrm>
          <a:prstGeom prst="rect">
            <a:avLst/>
          </a:prstGeom>
          <a:noFill/>
          <a:ln/>
        </p:spPr>
        <p:txBody>
          <a:bodyPr wrap="square" lIns="0" tIns="0" rIns="0" bIns="0" rtlCol="0" anchor="ctr"/>
          <a:lstStyle/>
          <a:p>
            <a:pPr indent="0" marL="0">
              <a:buNone/>
            </a:pPr>
            <a:r>
              <a:rPr lang="en-US" sz="1900" dirty="0">
                <a:solidFill>
                  <a:srgbClr val="374151"/>
                </a:solidFill>
                <a:latin typeface="Calibri" pitchFamily="34" charset="0"/>
                <a:ea typeface="Calibri" pitchFamily="34" charset="-122"/>
                <a:cs typeface="Calibri" pitchFamily="34" charset="-120"/>
              </a:rPr>
              <a:t>Almost every condition compares two values. These blocks live in the Logic category.</a:t>
            </a:r>
            <a:endParaRPr lang="en-US" sz="1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914400"/>
        </p:xfrm>
        <a:graphic>
          <a:graphicData uri="http://schemas.openxmlformats.org/drawingml/2006/table">
            <a:tbl>
              <a:tblPr/>
              <a:tblGrid>
                <a:gridCol w="1737360"/>
                <a:gridCol w="5120640"/>
                <a:gridCol w="4023360"/>
              </a:tblGrid>
              <a:tr h="420624">
                <a:tc>
                  <a:txBody>
                    <a:bodyPr/>
                    <a:lstStyle/>
                    <a:p>
                      <a:pPr indent="0" marL="0">
                        <a:buNone/>
                      </a:pPr>
                      <a:r>
                        <a:rPr lang="en-US" sz="1800" b="1" dirty="0">
                          <a:solidFill>
                            <a:srgbClr val="374151"/>
                          </a:solidFill>
                          <a:latin typeface="Calibri" pitchFamily="34" charset="0"/>
                          <a:ea typeface="Calibri" pitchFamily="34" charset="-122"/>
                          <a:cs typeface="Calibri" pitchFamily="34" charset="-120"/>
                        </a:rPr>
                        <a:t>Operator</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b="1" dirty="0">
                          <a:solidFill>
                            <a:srgbClr val="374151"/>
                          </a:solidFill>
                          <a:latin typeface="Calibri" pitchFamily="34" charset="0"/>
                          <a:ea typeface="Calibri" pitchFamily="34" charset="-122"/>
                          <a:cs typeface="Calibri" pitchFamily="34" charset="-120"/>
                        </a:rPr>
                        <a:t>True when…</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b="1" dirty="0">
                          <a:solidFill>
                            <a:srgbClr val="374151"/>
                          </a:solidFill>
                          <a:latin typeface="Calibri" pitchFamily="34" charset="0"/>
                          <a:ea typeface="Calibri" pitchFamily="34" charset="-122"/>
                          <a:cs typeface="Calibri" pitchFamily="34" charset="-120"/>
                        </a:rPr>
                        <a:t>Game example</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420624">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The two values are exactly equal</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if life = 0</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420624">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&lt;</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The left value is smaller</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if score &lt; 5</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420624">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&gt;</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The left value is bigger</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if enemies &gt; 10</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420624">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&lt;=</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The left value is smaller, or equal</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if life &lt;= 1</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420624">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&gt;=</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The left value is bigger, or equal</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if score &gt;= 5</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bl>
          </a:graphicData>
        </a:graphic>
      </p:graphicFrame>
      <p:sp>
        <p:nvSpPr>
          <p:cNvPr id="10" name="Shape 7"/>
          <p:cNvSpPr/>
          <p:nvPr/>
        </p:nvSpPr>
        <p:spPr>
          <a:xfrm>
            <a:off x="640080" y="4709160"/>
            <a:ext cx="10881360" cy="960120"/>
          </a:xfrm>
          <a:prstGeom prst="roundRect">
            <a:avLst>
              <a:gd name="adj" fmla="val 4762"/>
            </a:avLst>
          </a:prstGeom>
          <a:solidFill>
            <a:srgbClr val="F4F6FA"/>
          </a:solidFill>
          <a:ln w="19050">
            <a:solidFill>
              <a:srgbClr val="EF4444"/>
            </a:solidFill>
            <a:prstDash val="solid"/>
          </a:ln>
          <a:effectLst>
            <a:outerShdw sx="100000" sy="100000" kx="0" ky="0" algn="bl" rotWithShape="0" blurRad="76200" dist="12700" dir="5400000">
              <a:srgbClr val="9AA4B2">
                <a:alpha val="18000"/>
              </a:srgbClr>
            </a:outerShdw>
          </a:effectLst>
        </p:spPr>
      </p:sp>
      <p:sp>
        <p:nvSpPr>
          <p:cNvPr id="11" name="Text 8"/>
          <p:cNvSpPr/>
          <p:nvPr/>
        </p:nvSpPr>
        <p:spPr>
          <a:xfrm>
            <a:off x="914400" y="4709160"/>
            <a:ext cx="10332720" cy="960120"/>
          </a:xfrm>
          <a:prstGeom prst="rect">
            <a:avLst/>
          </a:prstGeom>
          <a:noFill/>
          <a:ln/>
        </p:spPr>
        <p:txBody>
          <a:bodyPr wrap="square" lIns="0" tIns="0" rIns="0" bIns="0" rtlCol="0" anchor="ctr"/>
          <a:lstStyle/>
          <a:p>
            <a:pPr indent="0" marL="0">
              <a:lnSpc>
                <a:spcPts val="2300"/>
              </a:lnSpc>
              <a:buNone/>
            </a:pPr>
            <a:r>
              <a:rPr lang="en-US" sz="1800" dirty="0">
                <a:solidFill>
                  <a:srgbClr val="374151"/>
                </a:solidFill>
                <a:latin typeface="Calibri" pitchFamily="34" charset="0"/>
                <a:ea typeface="Calibri" pitchFamily="34" charset="-122"/>
                <a:cs typeface="Calibri" pitchFamily="34" charset="-120"/>
              </a:rPr>
              <a:t>The classic off-by-one bug:  if score &gt; 5  needs SIX points to fire.  if score &gt;= 5  fires on the FIFTH. Picking the wrong one is not an error — the game just quietly follows the wrong rule.</a:t>
            </a:r>
            <a:endParaRPr lang="en-US" sz="1800" dirty="0"/>
          </a:p>
        </p:txBody>
      </p:sp>
      <p:sp>
        <p:nvSpPr>
          <p:cNvPr id="12" name="Shape 9"/>
          <p:cNvSpPr/>
          <p:nvPr/>
        </p:nvSpPr>
        <p:spPr>
          <a:xfrm>
            <a:off x="640080" y="5797296"/>
            <a:ext cx="10881360" cy="384048"/>
          </a:xfrm>
          <a:prstGeom prst="roundRect">
            <a:avLst>
              <a:gd name="adj" fmla="val 11905"/>
            </a:avLst>
          </a:prstGeom>
          <a:solidFill>
            <a:srgbClr val="FEF6E7"/>
          </a:solidFill>
          <a:ln w="12700">
            <a:solidFill>
              <a:srgbClr val="F59E0B"/>
            </a:solidFill>
            <a:prstDash val="solid"/>
          </a:ln>
        </p:spPr>
      </p:sp>
      <p:sp>
        <p:nvSpPr>
          <p:cNvPr id="13" name="Text 10"/>
          <p:cNvSpPr/>
          <p:nvPr/>
        </p:nvSpPr>
        <p:spPr>
          <a:xfrm>
            <a:off x="841248" y="5797296"/>
            <a:ext cx="10515600" cy="384048"/>
          </a:xfrm>
          <a:prstGeom prst="rect">
            <a:avLst/>
          </a:prstGeom>
          <a:noFill/>
          <a:ln/>
        </p:spPr>
        <p:txBody>
          <a:bodyPr wrap="square" lIns="0" tIns="0" rIns="0" bIns="0" rtlCol="0" anchor="ctr"/>
          <a:lstStyle/>
          <a:p>
            <a:pPr indent="0" marL="0">
              <a:buNone/>
            </a:pPr>
            <a:r>
              <a:rPr lang="en-US" sz="1600" b="1" dirty="0">
                <a:solidFill>
                  <a:srgbClr val="8A5A05"/>
                </a:solidFill>
                <a:latin typeface="Calibri" pitchFamily="34" charset="0"/>
                <a:ea typeface="Calibri" pitchFamily="34" charset="-122"/>
                <a:cs typeface="Calibri" pitchFamily="34" charset="-120"/>
              </a:rPr>
              <a:t>COPY  ·  The operator table — you will need it constantly in the build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EXPLICIT EXPLANATION</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Loops — Repeat, Forever, While</a:t>
            </a:r>
            <a:endParaRPr lang="en-US" sz="3200" dirty="0"/>
          </a:p>
        </p:txBody>
      </p:sp>
      <p:sp>
        <p:nvSpPr>
          <p:cNvPr id="4" name="Shape 2"/>
          <p:cNvSpPr/>
          <p:nvPr/>
        </p:nvSpPr>
        <p:spPr>
          <a:xfrm>
            <a:off x="9646920" y="384048"/>
            <a:ext cx="1874520" cy="402336"/>
          </a:xfrm>
          <a:prstGeom prst="roundRect">
            <a:avLst>
              <a:gd name="adj" fmla="val 18182"/>
            </a:avLst>
          </a:prstGeom>
          <a:solidFill>
            <a:srgbClr val="F59E0B"/>
          </a:solidFill>
          <a:ln w="12700">
            <a:solidFill>
              <a:srgbClr val="F59E0B"/>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EXPLANATION</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Shape 6"/>
          <p:cNvSpPr/>
          <p:nvPr/>
        </p:nvSpPr>
        <p:spPr>
          <a:xfrm>
            <a:off x="640080" y="1371600"/>
            <a:ext cx="10881360" cy="731520"/>
          </a:xfrm>
          <a:prstGeom prst="roundRect">
            <a:avLst>
              <a:gd name="adj" fmla="val 6250"/>
            </a:avLst>
          </a:prstGeom>
          <a:solidFill>
            <a:srgbClr val="F4F6FA"/>
          </a:solidFill>
          <a:ln w="19050">
            <a:solidFill>
              <a:srgbClr val="4361EE"/>
            </a:solidFill>
            <a:prstDash val="solid"/>
          </a:ln>
          <a:effectLst>
            <a:outerShdw sx="100000" sy="100000" kx="0" ky="0" algn="bl" rotWithShape="0" blurRad="76200" dist="12700" dir="5400000">
              <a:srgbClr val="9AA4B2">
                <a:alpha val="18000"/>
              </a:srgbClr>
            </a:outerShdw>
          </a:effectLst>
        </p:spPr>
      </p:sp>
      <p:sp>
        <p:nvSpPr>
          <p:cNvPr id="9" name="Text 7"/>
          <p:cNvSpPr/>
          <p:nvPr/>
        </p:nvSpPr>
        <p:spPr>
          <a:xfrm>
            <a:off x="914400" y="1371600"/>
            <a:ext cx="10332720" cy="73152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A loop repeats a block of code — either a set number of times, or until the game ends.</a:t>
            </a:r>
            <a:endParaRPr lang="en-US" sz="2000" dirty="0"/>
          </a:p>
        </p:txBody>
      </p:sp>
      <p:sp>
        <p:nvSpPr>
          <p:cNvPr id="10" name="Shape 8"/>
          <p:cNvSpPr/>
          <p:nvPr/>
        </p:nvSpPr>
        <p:spPr>
          <a:xfrm>
            <a:off x="640080" y="2331720"/>
            <a:ext cx="3383280" cy="2286000"/>
          </a:xfrm>
          <a:prstGeom prst="roundRect">
            <a:avLst>
              <a:gd name="adj" fmla="val 2000"/>
            </a:avLst>
          </a:prstGeom>
          <a:solidFill>
            <a:srgbClr val="F4F6FA"/>
          </a:solidFill>
          <a:ln w="19050">
            <a:solidFill>
              <a:srgbClr val="10B981"/>
            </a:solidFill>
            <a:prstDash val="solid"/>
          </a:ln>
          <a:effectLst>
            <a:outerShdw sx="100000" sy="100000" kx="0" ky="0" algn="bl" rotWithShape="0" blurRad="76200" dist="12700" dir="5400000">
              <a:srgbClr val="9AA4B2">
                <a:alpha val="18000"/>
              </a:srgbClr>
            </a:outerShdw>
          </a:effectLst>
        </p:spPr>
      </p:sp>
      <p:sp>
        <p:nvSpPr>
          <p:cNvPr id="11" name="Text 9"/>
          <p:cNvSpPr/>
          <p:nvPr/>
        </p:nvSpPr>
        <p:spPr>
          <a:xfrm>
            <a:off x="841248" y="2514600"/>
            <a:ext cx="2980944" cy="384048"/>
          </a:xfrm>
          <a:prstGeom prst="rect">
            <a:avLst/>
          </a:prstGeom>
          <a:noFill/>
          <a:ln/>
        </p:spPr>
        <p:txBody>
          <a:bodyPr wrap="square" lIns="0" tIns="0" rIns="0" bIns="0" rtlCol="0" anchor="ctr"/>
          <a:lstStyle/>
          <a:p>
            <a:pPr indent="0" marL="0">
              <a:buNone/>
            </a:pPr>
            <a:r>
              <a:rPr lang="en-US" sz="1700" b="1" dirty="0">
                <a:solidFill>
                  <a:srgbClr val="10B981"/>
                </a:solidFill>
                <a:latin typeface="Courier New" pitchFamily="34" charset="0"/>
                <a:ea typeface="Courier New" pitchFamily="34" charset="-122"/>
                <a:cs typeface="Courier New" pitchFamily="34" charset="-120"/>
              </a:rPr>
              <a:t>repeat (4) times</a:t>
            </a:r>
            <a:endParaRPr lang="en-US" sz="1700" dirty="0"/>
          </a:p>
        </p:txBody>
      </p:sp>
      <p:sp>
        <p:nvSpPr>
          <p:cNvPr id="12" name="Text 10"/>
          <p:cNvSpPr/>
          <p:nvPr/>
        </p:nvSpPr>
        <p:spPr>
          <a:xfrm>
            <a:off x="841248" y="2944368"/>
            <a:ext cx="2980944" cy="822960"/>
          </a:xfrm>
          <a:prstGeom prst="rect">
            <a:avLst/>
          </a:prstGeom>
          <a:noFill/>
          <a:ln/>
        </p:spPr>
        <p:txBody>
          <a:bodyPr wrap="square" lIns="0" tIns="0" rIns="0" bIns="0" rtlCol="0" anchor="ctr"/>
          <a:lstStyle/>
          <a:p>
            <a:pPr indent="0" marL="0">
              <a:lnSpc>
                <a:spcPts val="2200"/>
              </a:lnSpc>
              <a:buNone/>
            </a:pPr>
            <a:r>
              <a:rPr lang="en-US" sz="1700" dirty="0">
                <a:solidFill>
                  <a:srgbClr val="374151"/>
                </a:solidFill>
                <a:latin typeface="Calibri" pitchFamily="34" charset="0"/>
                <a:ea typeface="Calibri" pitchFamily="34" charset="-122"/>
                <a:cs typeface="Calibri" pitchFamily="34" charset="-120"/>
              </a:rPr>
              <a:t>Runs exactly 4 times, then stops.</a:t>
            </a:r>
            <a:endParaRPr lang="en-US" sz="1700" dirty="0"/>
          </a:p>
        </p:txBody>
      </p:sp>
      <p:sp>
        <p:nvSpPr>
          <p:cNvPr id="13" name="Text 11"/>
          <p:cNvSpPr/>
          <p:nvPr/>
        </p:nvSpPr>
        <p:spPr>
          <a:xfrm>
            <a:off x="841248" y="3794760"/>
            <a:ext cx="2980944" cy="731520"/>
          </a:xfrm>
          <a:prstGeom prst="rect">
            <a:avLst/>
          </a:prstGeom>
          <a:noFill/>
          <a:ln/>
        </p:spPr>
        <p:txBody>
          <a:bodyPr wrap="square" lIns="0" tIns="0" rIns="0" bIns="0" rtlCol="0" anchor="ctr"/>
          <a:lstStyle/>
          <a:p>
            <a:pPr indent="0" marL="0">
              <a:lnSpc>
                <a:spcPts val="2000"/>
              </a:lnSpc>
              <a:buNone/>
            </a:pPr>
            <a:r>
              <a:rPr lang="en-US" sz="1600" i="1" dirty="0">
                <a:solidFill>
                  <a:srgbClr val="6B7280"/>
                </a:solidFill>
                <a:latin typeface="Calibri" pitchFamily="34" charset="0"/>
                <a:ea typeface="Calibri" pitchFamily="34" charset="-122"/>
                <a:cs typeface="Calibri" pitchFamily="34" charset="-120"/>
              </a:rPr>
              <a:t>Setting up a starting wave of coins or enemies</a:t>
            </a:r>
            <a:endParaRPr lang="en-US" sz="1600" dirty="0"/>
          </a:p>
        </p:txBody>
      </p:sp>
      <p:sp>
        <p:nvSpPr>
          <p:cNvPr id="14" name="Shape 12"/>
          <p:cNvSpPr/>
          <p:nvPr/>
        </p:nvSpPr>
        <p:spPr>
          <a:xfrm>
            <a:off x="4297680" y="2331720"/>
            <a:ext cx="3383280" cy="2286000"/>
          </a:xfrm>
          <a:prstGeom prst="roundRect">
            <a:avLst>
              <a:gd name="adj" fmla="val 2000"/>
            </a:avLst>
          </a:prstGeom>
          <a:solidFill>
            <a:srgbClr val="F4F6FA"/>
          </a:solidFill>
          <a:ln w="19050">
            <a:solidFill>
              <a:srgbClr val="4361EE"/>
            </a:solidFill>
            <a:prstDash val="solid"/>
          </a:ln>
          <a:effectLst>
            <a:outerShdw sx="100000" sy="100000" kx="0" ky="0" algn="bl" rotWithShape="0" blurRad="76200" dist="12700" dir="5400000">
              <a:srgbClr val="9AA4B2">
                <a:alpha val="18000"/>
              </a:srgbClr>
            </a:outerShdw>
          </a:effectLst>
        </p:spPr>
      </p:sp>
      <p:sp>
        <p:nvSpPr>
          <p:cNvPr id="15" name="Text 13"/>
          <p:cNvSpPr/>
          <p:nvPr/>
        </p:nvSpPr>
        <p:spPr>
          <a:xfrm>
            <a:off x="4498848" y="2514600"/>
            <a:ext cx="2980944" cy="384048"/>
          </a:xfrm>
          <a:prstGeom prst="rect">
            <a:avLst/>
          </a:prstGeom>
          <a:noFill/>
          <a:ln/>
        </p:spPr>
        <p:txBody>
          <a:bodyPr wrap="square" lIns="0" tIns="0" rIns="0" bIns="0" rtlCol="0" anchor="ctr"/>
          <a:lstStyle/>
          <a:p>
            <a:pPr indent="0" marL="0">
              <a:buNone/>
            </a:pPr>
            <a:r>
              <a:rPr lang="en-US" sz="1700" b="1" dirty="0">
                <a:solidFill>
                  <a:srgbClr val="4361EE"/>
                </a:solidFill>
                <a:latin typeface="Courier New" pitchFamily="34" charset="0"/>
                <a:ea typeface="Courier New" pitchFamily="34" charset="-122"/>
                <a:cs typeface="Courier New" pitchFamily="34" charset="-120"/>
              </a:rPr>
              <a:t>forever</a:t>
            </a:r>
            <a:endParaRPr lang="en-US" sz="1700" dirty="0"/>
          </a:p>
        </p:txBody>
      </p:sp>
      <p:sp>
        <p:nvSpPr>
          <p:cNvPr id="16" name="Text 14"/>
          <p:cNvSpPr/>
          <p:nvPr/>
        </p:nvSpPr>
        <p:spPr>
          <a:xfrm>
            <a:off x="4498848" y="2944368"/>
            <a:ext cx="2980944" cy="822960"/>
          </a:xfrm>
          <a:prstGeom prst="rect">
            <a:avLst/>
          </a:prstGeom>
          <a:noFill/>
          <a:ln/>
        </p:spPr>
        <p:txBody>
          <a:bodyPr wrap="square" lIns="0" tIns="0" rIns="0" bIns="0" rtlCol="0" anchor="ctr"/>
          <a:lstStyle/>
          <a:p>
            <a:pPr indent="0" marL="0">
              <a:lnSpc>
                <a:spcPts val="2200"/>
              </a:lnSpc>
              <a:buNone/>
            </a:pPr>
            <a:r>
              <a:rPr lang="en-US" sz="1700" dirty="0">
                <a:solidFill>
                  <a:srgbClr val="374151"/>
                </a:solidFill>
                <a:latin typeface="Calibri" pitchFamily="34" charset="0"/>
                <a:ea typeface="Calibri" pitchFamily="34" charset="-122"/>
                <a:cs typeface="Calibri" pitchFamily="34" charset="-120"/>
              </a:rPr>
              <a:t>Runs over and over until the game ends.</a:t>
            </a:r>
            <a:endParaRPr lang="en-US" sz="1700" dirty="0"/>
          </a:p>
        </p:txBody>
      </p:sp>
      <p:sp>
        <p:nvSpPr>
          <p:cNvPr id="17" name="Text 15"/>
          <p:cNvSpPr/>
          <p:nvPr/>
        </p:nvSpPr>
        <p:spPr>
          <a:xfrm>
            <a:off x="4498848" y="3794760"/>
            <a:ext cx="2980944" cy="731520"/>
          </a:xfrm>
          <a:prstGeom prst="rect">
            <a:avLst/>
          </a:prstGeom>
          <a:noFill/>
          <a:ln/>
        </p:spPr>
        <p:txBody>
          <a:bodyPr wrap="square" lIns="0" tIns="0" rIns="0" bIns="0" rtlCol="0" anchor="ctr"/>
          <a:lstStyle/>
          <a:p>
            <a:pPr indent="0" marL="0">
              <a:lnSpc>
                <a:spcPts val="2000"/>
              </a:lnSpc>
              <a:buNone/>
            </a:pPr>
            <a:r>
              <a:rPr lang="en-US" sz="1600" i="1" dirty="0">
                <a:solidFill>
                  <a:srgbClr val="6B7280"/>
                </a:solidFill>
                <a:latin typeface="Calibri" pitchFamily="34" charset="0"/>
                <a:ea typeface="Calibri" pitchFamily="34" charset="-122"/>
                <a:cs typeface="Calibri" pitchFamily="34" charset="-120"/>
              </a:rPr>
              <a:t>Spawning enemies, music, continuous checks</a:t>
            </a:r>
            <a:endParaRPr lang="en-US" sz="1600" dirty="0"/>
          </a:p>
        </p:txBody>
      </p:sp>
      <p:sp>
        <p:nvSpPr>
          <p:cNvPr id="18" name="Shape 16"/>
          <p:cNvSpPr/>
          <p:nvPr/>
        </p:nvSpPr>
        <p:spPr>
          <a:xfrm>
            <a:off x="7955280" y="2331720"/>
            <a:ext cx="3383280" cy="2286000"/>
          </a:xfrm>
          <a:prstGeom prst="roundRect">
            <a:avLst>
              <a:gd name="adj" fmla="val 2000"/>
            </a:avLst>
          </a:prstGeom>
          <a:solidFill>
            <a:srgbClr val="F4F6FA"/>
          </a:solidFill>
          <a:ln w="19050">
            <a:solidFill>
              <a:srgbClr val="8B5CF6"/>
            </a:solidFill>
            <a:prstDash val="solid"/>
          </a:ln>
          <a:effectLst>
            <a:outerShdw sx="100000" sy="100000" kx="0" ky="0" algn="bl" rotWithShape="0" blurRad="76200" dist="12700" dir="5400000">
              <a:srgbClr val="9AA4B2">
                <a:alpha val="18000"/>
              </a:srgbClr>
            </a:outerShdw>
          </a:effectLst>
        </p:spPr>
      </p:sp>
      <p:sp>
        <p:nvSpPr>
          <p:cNvPr id="19" name="Text 17"/>
          <p:cNvSpPr/>
          <p:nvPr/>
        </p:nvSpPr>
        <p:spPr>
          <a:xfrm>
            <a:off x="8156448" y="2514600"/>
            <a:ext cx="2980944" cy="384048"/>
          </a:xfrm>
          <a:prstGeom prst="rect">
            <a:avLst/>
          </a:prstGeom>
          <a:noFill/>
          <a:ln/>
        </p:spPr>
        <p:txBody>
          <a:bodyPr wrap="square" lIns="0" tIns="0" rIns="0" bIns="0" rtlCol="0" anchor="ctr"/>
          <a:lstStyle/>
          <a:p>
            <a:pPr indent="0" marL="0">
              <a:buNone/>
            </a:pPr>
            <a:r>
              <a:rPr lang="en-US" sz="1700" b="1" dirty="0">
                <a:solidFill>
                  <a:srgbClr val="8B5CF6"/>
                </a:solidFill>
                <a:latin typeface="Courier New" pitchFamily="34" charset="0"/>
                <a:ea typeface="Courier New" pitchFamily="34" charset="-122"/>
                <a:cs typeface="Courier New" pitchFamily="34" charset="-120"/>
              </a:rPr>
              <a:t>while &lt;condition&gt;</a:t>
            </a:r>
            <a:endParaRPr lang="en-US" sz="1700" dirty="0"/>
          </a:p>
        </p:txBody>
      </p:sp>
      <p:sp>
        <p:nvSpPr>
          <p:cNvPr id="20" name="Text 18"/>
          <p:cNvSpPr/>
          <p:nvPr/>
        </p:nvSpPr>
        <p:spPr>
          <a:xfrm>
            <a:off x="8156448" y="2944368"/>
            <a:ext cx="2980944" cy="822960"/>
          </a:xfrm>
          <a:prstGeom prst="rect">
            <a:avLst/>
          </a:prstGeom>
          <a:noFill/>
          <a:ln/>
        </p:spPr>
        <p:txBody>
          <a:bodyPr wrap="square" lIns="0" tIns="0" rIns="0" bIns="0" rtlCol="0" anchor="ctr"/>
          <a:lstStyle/>
          <a:p>
            <a:pPr indent="0" marL="0">
              <a:lnSpc>
                <a:spcPts val="2200"/>
              </a:lnSpc>
              <a:buNone/>
            </a:pPr>
            <a:r>
              <a:rPr lang="en-US" sz="1700" dirty="0">
                <a:solidFill>
                  <a:srgbClr val="374151"/>
                </a:solidFill>
                <a:latin typeface="Calibri" pitchFamily="34" charset="0"/>
                <a:ea typeface="Calibri" pitchFamily="34" charset="-122"/>
                <a:cs typeface="Calibri" pitchFamily="34" charset="-120"/>
              </a:rPr>
              <a:t>Repeats only while the condition stays true.</a:t>
            </a:r>
            <a:endParaRPr lang="en-US" sz="1700" dirty="0"/>
          </a:p>
        </p:txBody>
      </p:sp>
      <p:sp>
        <p:nvSpPr>
          <p:cNvPr id="21" name="Text 19"/>
          <p:cNvSpPr/>
          <p:nvPr/>
        </p:nvSpPr>
        <p:spPr>
          <a:xfrm>
            <a:off x="8156448" y="3794760"/>
            <a:ext cx="2980944" cy="731520"/>
          </a:xfrm>
          <a:prstGeom prst="rect">
            <a:avLst/>
          </a:prstGeom>
          <a:noFill/>
          <a:ln/>
        </p:spPr>
        <p:txBody>
          <a:bodyPr wrap="square" lIns="0" tIns="0" rIns="0" bIns="0" rtlCol="0" anchor="ctr"/>
          <a:lstStyle/>
          <a:p>
            <a:pPr indent="0" marL="0">
              <a:lnSpc>
                <a:spcPts val="2000"/>
              </a:lnSpc>
              <a:buNone/>
            </a:pPr>
            <a:r>
              <a:rPr lang="en-US" sz="1600" i="1" dirty="0">
                <a:solidFill>
                  <a:srgbClr val="6B7280"/>
                </a:solidFill>
                <a:latin typeface="Calibri" pitchFamily="34" charset="0"/>
                <a:ea typeface="Calibri" pitchFamily="34" charset="-122"/>
                <a:cs typeface="Calibri" pitchFamily="34" charset="-120"/>
              </a:rPr>
              <a:t>Behaviour that should stop when something changes</a:t>
            </a:r>
            <a:endParaRPr lang="en-US" sz="1600" dirty="0"/>
          </a:p>
        </p:txBody>
      </p:sp>
      <p:sp>
        <p:nvSpPr>
          <p:cNvPr id="22" name="Shape 20"/>
          <p:cNvSpPr/>
          <p:nvPr/>
        </p:nvSpPr>
        <p:spPr>
          <a:xfrm>
            <a:off x="640080" y="4800600"/>
            <a:ext cx="10881360" cy="868680"/>
          </a:xfrm>
          <a:prstGeom prst="roundRect">
            <a:avLst>
              <a:gd name="adj" fmla="val 5263"/>
            </a:avLst>
          </a:prstGeom>
          <a:solidFill>
            <a:srgbClr val="F4F6FA"/>
          </a:solidFill>
          <a:ln w="19050">
            <a:solidFill>
              <a:srgbClr val="EF4444"/>
            </a:solidFill>
            <a:prstDash val="solid"/>
          </a:ln>
          <a:effectLst>
            <a:outerShdw sx="100000" sy="100000" kx="0" ky="0" algn="bl" rotWithShape="0" blurRad="76200" dist="12700" dir="5400000">
              <a:srgbClr val="9AA4B2">
                <a:alpha val="18000"/>
              </a:srgbClr>
            </a:outerShdw>
          </a:effectLst>
        </p:spPr>
      </p:sp>
      <p:sp>
        <p:nvSpPr>
          <p:cNvPr id="23" name="Text 21"/>
          <p:cNvSpPr/>
          <p:nvPr/>
        </p:nvSpPr>
        <p:spPr>
          <a:xfrm>
            <a:off x="914400" y="4800600"/>
            <a:ext cx="10332720" cy="868680"/>
          </a:xfrm>
          <a:prstGeom prst="rect">
            <a:avLst/>
          </a:prstGeom>
          <a:noFill/>
          <a:ln/>
        </p:spPr>
        <p:txBody>
          <a:bodyPr wrap="square" lIns="0" tIns="0" rIns="0" bIns="0" rtlCol="0" anchor="ctr"/>
          <a:lstStyle/>
          <a:p>
            <a:pPr indent="0" marL="0">
              <a:lnSpc>
                <a:spcPts val="2300"/>
              </a:lnSpc>
              <a:buNone/>
            </a:pPr>
            <a:r>
              <a:rPr lang="en-US" sz="1800" dirty="0">
                <a:solidFill>
                  <a:srgbClr val="374151"/>
                </a:solidFill>
                <a:latin typeface="Calibri" pitchFamily="34" charset="0"/>
                <a:ea typeface="Calibri" pitchFamily="34" charset="-122"/>
                <a:cs typeface="Calibri" pitchFamily="34" charset="-120"/>
              </a:rPr>
              <a:t>Every forever loop needs a pause inside it. Without one it repeats hundreds of times a second — the game floods and freezes. You'll cause this on purpose in Step 6.</a:t>
            </a:r>
            <a:endParaRPr lang="en-US" sz="1800" dirty="0"/>
          </a:p>
        </p:txBody>
      </p:sp>
      <p:sp>
        <p:nvSpPr>
          <p:cNvPr id="24" name="Shape 22"/>
          <p:cNvSpPr/>
          <p:nvPr/>
        </p:nvSpPr>
        <p:spPr>
          <a:xfrm>
            <a:off x="640080" y="5797296"/>
            <a:ext cx="10881360" cy="384048"/>
          </a:xfrm>
          <a:prstGeom prst="roundRect">
            <a:avLst>
              <a:gd name="adj" fmla="val 11905"/>
            </a:avLst>
          </a:prstGeom>
          <a:solidFill>
            <a:srgbClr val="FEF6E7"/>
          </a:solidFill>
          <a:ln w="12700">
            <a:solidFill>
              <a:srgbClr val="F59E0B"/>
            </a:solidFill>
            <a:prstDash val="solid"/>
          </a:ln>
        </p:spPr>
      </p:sp>
      <p:sp>
        <p:nvSpPr>
          <p:cNvPr id="25" name="Text 23"/>
          <p:cNvSpPr/>
          <p:nvPr/>
        </p:nvSpPr>
        <p:spPr>
          <a:xfrm>
            <a:off x="841248" y="5797296"/>
            <a:ext cx="10515600" cy="384048"/>
          </a:xfrm>
          <a:prstGeom prst="rect">
            <a:avLst/>
          </a:prstGeom>
          <a:noFill/>
          <a:ln/>
        </p:spPr>
        <p:txBody>
          <a:bodyPr wrap="square" lIns="0" tIns="0" rIns="0" bIns="0" rtlCol="0" anchor="ctr"/>
          <a:lstStyle/>
          <a:p>
            <a:pPr indent="0" marL="0">
              <a:buNone/>
            </a:pPr>
            <a:r>
              <a:rPr lang="en-US" sz="1600" b="1" dirty="0">
                <a:solidFill>
                  <a:srgbClr val="8A5A05"/>
                </a:solidFill>
                <a:latin typeface="Calibri" pitchFamily="34" charset="0"/>
                <a:ea typeface="Calibri" pitchFamily="34" charset="-122"/>
                <a:cs typeface="Calibri" pitchFamily="34" charset="-120"/>
              </a:rPr>
              <a:t>COPY  ·  The three loop types and what each is for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WORKED EXAMPLE</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A Conditional Inside a Loop</a:t>
            </a:r>
            <a:endParaRPr lang="en-US" sz="3200" dirty="0"/>
          </a:p>
        </p:txBody>
      </p:sp>
      <p:sp>
        <p:nvSpPr>
          <p:cNvPr id="4" name="Shape 2"/>
          <p:cNvSpPr/>
          <p:nvPr/>
        </p:nvSpPr>
        <p:spPr>
          <a:xfrm>
            <a:off x="9646920" y="384048"/>
            <a:ext cx="1874520" cy="402336"/>
          </a:xfrm>
          <a:prstGeom prst="roundRect">
            <a:avLst>
              <a:gd name="adj" fmla="val 18182"/>
            </a:avLst>
          </a:prstGeom>
          <a:solidFill>
            <a:srgbClr val="F59E0B"/>
          </a:solidFill>
          <a:ln w="12700">
            <a:solidFill>
              <a:srgbClr val="F59E0B"/>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MODELLING</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Text 6"/>
          <p:cNvSpPr/>
          <p:nvPr/>
        </p:nvSpPr>
        <p:spPr>
          <a:xfrm>
            <a:off x="640080" y="1325880"/>
            <a:ext cx="10881360" cy="411480"/>
          </a:xfrm>
          <a:prstGeom prst="rect">
            <a:avLst/>
          </a:prstGeom>
          <a:noFill/>
          <a:ln/>
        </p:spPr>
        <p:txBody>
          <a:bodyPr wrap="square" lIns="0" tIns="0" rIns="0" bIns="0" rtlCol="0" anchor="ctr"/>
          <a:lstStyle/>
          <a:p>
            <a:pPr indent="0" marL="0">
              <a:buNone/>
            </a:pPr>
            <a:r>
              <a:rPr lang="en-US" sz="1900" dirty="0">
                <a:solidFill>
                  <a:srgbClr val="374151"/>
                </a:solidFill>
                <a:latin typeface="Calibri" pitchFamily="34" charset="0"/>
                <a:ea typeface="Calibri" pitchFamily="34" charset="-122"/>
                <a:cs typeface="Calibri" pitchFamily="34" charset="-120"/>
              </a:rPr>
              <a:t>The loop asks "do this again". The conditional inside it asks "…but should I do it the same way this time?"</a:t>
            </a:r>
            <a:endParaRPr lang="en-US" sz="1900" dirty="0"/>
          </a:p>
        </p:txBody>
      </p:sp>
      <p:sp>
        <p:nvSpPr>
          <p:cNvPr id="9" name="Shape 7"/>
          <p:cNvSpPr/>
          <p:nvPr/>
        </p:nvSpPr>
        <p:spPr>
          <a:xfrm>
            <a:off x="640080" y="1828800"/>
            <a:ext cx="6309360" cy="2651760"/>
          </a:xfrm>
          <a:prstGeom prst="roundRect">
            <a:avLst>
              <a:gd name="adj" fmla="val 1724"/>
            </a:avLst>
          </a:prstGeom>
          <a:solidFill>
            <a:srgbClr val="111827"/>
          </a:solidFill>
          <a:ln w="12700">
            <a:solidFill>
              <a:srgbClr val="111827"/>
            </a:solidFill>
            <a:prstDash val="solid"/>
          </a:ln>
        </p:spPr>
      </p:sp>
      <p:sp>
        <p:nvSpPr>
          <p:cNvPr id="10" name="Text 8"/>
          <p:cNvSpPr/>
          <p:nvPr/>
        </p:nvSpPr>
        <p:spPr>
          <a:xfrm>
            <a:off x="896112" y="1975104"/>
            <a:ext cx="5852160" cy="2359152"/>
          </a:xfrm>
          <a:prstGeom prst="rect">
            <a:avLst/>
          </a:prstGeom>
          <a:noFill/>
          <a:ln/>
        </p:spPr>
        <p:txBody>
          <a:bodyPr wrap="square" lIns="0" tIns="0" rIns="0" bIns="0" rtlCol="0" anchor="t"/>
          <a:lstStyle/>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forever</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spawn an enemy</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if score &gt;= 3 then</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pause (700) ms</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else</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pause (1500) ms</a:t>
            </a:r>
            <a:endParaRPr lang="en-US" sz="1800" dirty="0"/>
          </a:p>
        </p:txBody>
      </p:sp>
      <p:sp>
        <p:nvSpPr>
          <p:cNvPr id="11" name="Shape 9"/>
          <p:cNvSpPr/>
          <p:nvPr/>
        </p:nvSpPr>
        <p:spPr>
          <a:xfrm>
            <a:off x="7223760" y="1828800"/>
            <a:ext cx="4297680" cy="2651760"/>
          </a:xfrm>
          <a:prstGeom prst="roundRect">
            <a:avLst>
              <a:gd name="adj" fmla="val 1724"/>
            </a:avLst>
          </a:prstGeom>
          <a:solidFill>
            <a:srgbClr val="F4F6FA"/>
          </a:solidFill>
          <a:ln w="19050">
            <a:solidFill>
              <a:srgbClr val="4361EE"/>
            </a:solidFill>
            <a:prstDash val="solid"/>
          </a:ln>
          <a:effectLst>
            <a:outerShdw sx="100000" sy="100000" kx="0" ky="0" algn="bl" rotWithShape="0" blurRad="76200" dist="12700" dir="5400000">
              <a:srgbClr val="9AA4B2">
                <a:alpha val="18000"/>
              </a:srgbClr>
            </a:outerShdw>
          </a:effectLst>
        </p:spPr>
      </p:sp>
      <p:sp>
        <p:nvSpPr>
          <p:cNvPr id="12" name="Text 10"/>
          <p:cNvSpPr/>
          <p:nvPr/>
        </p:nvSpPr>
        <p:spPr>
          <a:xfrm>
            <a:off x="7452360" y="2011680"/>
            <a:ext cx="3840480" cy="2286000"/>
          </a:xfrm>
          <a:prstGeom prst="rect">
            <a:avLst/>
          </a:prstGeom>
          <a:noFill/>
          <a:ln/>
        </p:spPr>
        <p:txBody>
          <a:bodyPr wrap="square" lIns="0" tIns="0" rIns="0" bIns="0" rtlCol="0" anchor="ctr"/>
          <a:lstStyle/>
          <a:p>
            <a:pPr indent="0" marL="0">
              <a:lnSpc>
                <a:spcPts val="2300"/>
              </a:lnSpc>
              <a:buNone/>
            </a:pPr>
            <a:r>
              <a:rPr lang="en-US" sz="1800" b="1" dirty="0">
                <a:solidFill>
                  <a:srgbClr val="374151"/>
                </a:solidFill>
                <a:latin typeface="Calibri" pitchFamily="34" charset="0"/>
                <a:ea typeface="Calibri" pitchFamily="34" charset="-122"/>
                <a:cs typeface="Calibri" pitchFamily="34" charset="-120"/>
              </a:rPr>
              <a:t>What the code does</a:t>
            </a:r>
            <a:endParaRPr lang="en-US" sz="1800" dirty="0"/>
          </a:p>
          <a:p>
            <a:pPr indent="0" marL="0">
              <a:lnSpc>
                <a:spcPts val="2300"/>
              </a:lnSpc>
              <a:buNone/>
            </a:pPr>
            <a:r>
              <a:rPr lang="en-US" sz="1800" dirty="0">
                <a:solidFill>
                  <a:srgbClr val="374151"/>
                </a:solidFill>
                <a:latin typeface="Calibri" pitchFamily="34" charset="0"/>
                <a:ea typeface="Calibri" pitchFamily="34" charset="-122"/>
                <a:cs typeface="Calibri" pitchFamily="34" charset="-120"/>
              </a:rPr>
              <a:t>The loop always spawns.</a:t>
            </a:r>
            <a:endParaRPr lang="en-US" sz="1800" dirty="0"/>
          </a:p>
          <a:p>
            <a:pPr indent="0" marL="0">
              <a:lnSpc>
                <a:spcPts val="2300"/>
              </a:lnSpc>
              <a:buNone/>
            </a:pPr>
            <a:r>
              <a:rPr lang="en-US" sz="1800" dirty="0">
                <a:solidFill>
                  <a:srgbClr val="374151"/>
                </a:solidFill>
                <a:latin typeface="Calibri" pitchFamily="34" charset="0"/>
                <a:ea typeface="Calibri" pitchFamily="34" charset="-122"/>
                <a:cs typeface="Calibri" pitchFamily="34" charset="-120"/>
              </a:rPr>
              <a:t>The conditional decides how long to wait before the next one.</a:t>
            </a:r>
            <a:endParaRPr lang="en-US" sz="1800" dirty="0"/>
          </a:p>
          <a:p>
            <a:pPr indent="0" marL="0">
              <a:lnSpc>
                <a:spcPts val="2300"/>
              </a:lnSpc>
              <a:buNone/>
            </a:pPr>
            <a:r>
              <a:rPr lang="en-US" sz="1800" dirty="0">
                <a:solidFill>
                  <a:srgbClr val="374151"/>
                </a:solidFill>
                <a:latin typeface="Calibri" pitchFamily="34" charset="0"/>
                <a:ea typeface="Calibri" pitchFamily="34" charset="-122"/>
                <a:cs typeface="Calibri" pitchFamily="34" charset="-120"/>
              </a:rPr>
              <a:t> </a:t>
            </a:r>
            <a:endParaRPr lang="en-US" sz="1800" dirty="0"/>
          </a:p>
          <a:p>
            <a:pPr indent="0" marL="0">
              <a:lnSpc>
                <a:spcPts val="2300"/>
              </a:lnSpc>
              <a:buNone/>
            </a:pPr>
            <a:r>
              <a:rPr lang="en-US" sz="1800" b="1" dirty="0">
                <a:solidFill>
                  <a:srgbClr val="374151"/>
                </a:solidFill>
                <a:latin typeface="Calibri" pitchFamily="34" charset="0"/>
                <a:ea typeface="Calibri" pitchFamily="34" charset="-122"/>
                <a:cs typeface="Calibri" pitchFamily="34" charset="-120"/>
              </a:rPr>
              <a:t>What the player feels</a:t>
            </a:r>
            <a:endParaRPr lang="en-US" sz="1800" dirty="0"/>
          </a:p>
          <a:p>
            <a:pPr indent="0" marL="0">
              <a:lnSpc>
                <a:spcPts val="2300"/>
              </a:lnSpc>
              <a:buNone/>
            </a:pPr>
            <a:r>
              <a:rPr lang="en-US" sz="1800" dirty="0">
                <a:solidFill>
                  <a:srgbClr val="374151"/>
                </a:solidFill>
                <a:latin typeface="Calibri" pitchFamily="34" charset="0"/>
                <a:ea typeface="Calibri" pitchFamily="34" charset="-122"/>
                <a:cs typeface="Calibri" pitchFamily="34" charset="-120"/>
              </a:rPr>
              <a:t>Early on, enemies trickle in. After three coins, the pressure builds.</a:t>
            </a:r>
            <a:endParaRPr lang="en-US" sz="1800" dirty="0"/>
          </a:p>
        </p:txBody>
      </p:sp>
      <p:sp>
        <p:nvSpPr>
          <p:cNvPr id="13" name="Shape 11"/>
          <p:cNvSpPr/>
          <p:nvPr/>
        </p:nvSpPr>
        <p:spPr>
          <a:xfrm>
            <a:off x="640080" y="4663440"/>
            <a:ext cx="10881360" cy="1005840"/>
          </a:xfrm>
          <a:prstGeom prst="roundRect">
            <a:avLst>
              <a:gd name="adj" fmla="val 4545"/>
            </a:avLst>
          </a:prstGeom>
          <a:solidFill>
            <a:srgbClr val="F4F6FA"/>
          </a:solidFill>
          <a:ln w="19050">
            <a:solidFill>
              <a:srgbClr val="10B981"/>
            </a:solidFill>
            <a:prstDash val="solid"/>
          </a:ln>
          <a:effectLst>
            <a:outerShdw sx="100000" sy="100000" kx="0" ky="0" algn="bl" rotWithShape="0" blurRad="76200" dist="12700" dir="5400000">
              <a:srgbClr val="9AA4B2">
                <a:alpha val="18000"/>
              </a:srgbClr>
            </a:outerShdw>
          </a:effectLst>
        </p:spPr>
      </p:sp>
      <p:sp>
        <p:nvSpPr>
          <p:cNvPr id="14" name="Text 12"/>
          <p:cNvSpPr/>
          <p:nvPr/>
        </p:nvSpPr>
        <p:spPr>
          <a:xfrm>
            <a:off x="914400" y="4663440"/>
            <a:ext cx="10332720" cy="1005840"/>
          </a:xfrm>
          <a:prstGeom prst="rect">
            <a:avLst/>
          </a:prstGeom>
          <a:noFill/>
          <a:ln/>
        </p:spPr>
        <p:txBody>
          <a:bodyPr wrap="square" lIns="0" tIns="0" rIns="0" bIns="0" rtlCol="0" anchor="ctr"/>
          <a:lstStyle/>
          <a:p>
            <a:pPr indent="0" marL="0">
              <a:buNone/>
            </a:pPr>
            <a:r>
              <a:rPr lang="en-US" sz="1900" b="1" dirty="0">
                <a:solidFill>
                  <a:srgbClr val="374151"/>
                </a:solidFill>
                <a:latin typeface="Calibri" pitchFamily="34" charset="0"/>
                <a:ea typeface="Calibri" pitchFamily="34" charset="-122"/>
                <a:cs typeface="Calibri" pitchFamily="34" charset="-120"/>
              </a:rPr>
              <a:t>That is a difficulty ramp — the thing that makes a game feel like it's building — written in five blocks.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APPLICATION OF LEARNING</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Guided Build: Survive the Swarm</a:t>
            </a:r>
            <a:endParaRPr lang="en-US" sz="3200" dirty="0"/>
          </a:p>
        </p:txBody>
      </p:sp>
      <p:sp>
        <p:nvSpPr>
          <p:cNvPr id="4" name="Shape 2"/>
          <p:cNvSpPr/>
          <p:nvPr/>
        </p:nvSpPr>
        <p:spPr>
          <a:xfrm>
            <a:off x="9646920" y="384048"/>
            <a:ext cx="1874520" cy="402336"/>
          </a:xfrm>
          <a:prstGeom prst="roundRect">
            <a:avLst>
              <a:gd name="adj" fmla="val 18182"/>
            </a:avLst>
          </a:prstGeom>
          <a:solidFill>
            <a:srgbClr val="10B981"/>
          </a:solidFill>
          <a:ln w="12700">
            <a:solidFill>
              <a:srgbClr val="10B981"/>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BUILD</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Text 6"/>
          <p:cNvSpPr/>
          <p:nvPr/>
        </p:nvSpPr>
        <p:spPr>
          <a:xfrm>
            <a:off x="640080" y="1371600"/>
            <a:ext cx="10881360" cy="411480"/>
          </a:xfrm>
          <a:prstGeom prst="rect">
            <a:avLst/>
          </a:prstGeom>
          <a:noFill/>
          <a:ln/>
        </p:spPr>
        <p:txBody>
          <a:bodyPr wrap="square" lIns="0" tIns="0" rIns="0" bIns="0" rtlCol="0" anchor="ctr"/>
          <a:lstStyle/>
          <a:p>
            <a:pPr indent="0" marL="0">
              <a:buNone/>
            </a:pPr>
            <a:r>
              <a:rPr lang="en-US" sz="1900" dirty="0">
                <a:solidFill>
                  <a:srgbClr val="374151"/>
                </a:solidFill>
                <a:latin typeface="Calibri" pitchFamily="34" charset="0"/>
                <a:ea typeface="Calibri" pitchFamily="34" charset="-122"/>
                <a:cs typeface="Calibri" pitchFamily="34" charset="-120"/>
              </a:rPr>
              <a:t>Open your Lesson 4 project. Six steps, in order — run the simulator and check the result after every single one.</a:t>
            </a:r>
            <a:endParaRPr lang="en-US" sz="1900" dirty="0"/>
          </a:p>
        </p:txBody>
      </p:sp>
      <p:sp>
        <p:nvSpPr>
          <p:cNvPr id="9" name="Shape 7"/>
          <p:cNvSpPr/>
          <p:nvPr/>
        </p:nvSpPr>
        <p:spPr>
          <a:xfrm>
            <a:off x="640080" y="1965960"/>
            <a:ext cx="3383280" cy="1463040"/>
          </a:xfrm>
          <a:prstGeom prst="roundRect">
            <a:avLst>
              <a:gd name="adj" fmla="val 3125"/>
            </a:avLst>
          </a:prstGeom>
          <a:solidFill>
            <a:srgbClr val="F4F6FA"/>
          </a:solidFill>
          <a:ln w="19050">
            <a:solidFill>
              <a:srgbClr val="6B7280"/>
            </a:solidFill>
            <a:prstDash val="solid"/>
          </a:ln>
          <a:effectLst>
            <a:outerShdw sx="100000" sy="100000" kx="0" ky="0" algn="bl" rotWithShape="0" blurRad="76200" dist="12700" dir="5400000">
              <a:srgbClr val="9AA4B2">
                <a:alpha val="18000"/>
              </a:srgbClr>
            </a:outerShdw>
          </a:effectLst>
        </p:spPr>
      </p:sp>
      <p:sp>
        <p:nvSpPr>
          <p:cNvPr id="10" name="Shape 8"/>
          <p:cNvSpPr/>
          <p:nvPr/>
        </p:nvSpPr>
        <p:spPr>
          <a:xfrm>
            <a:off x="841248" y="2167128"/>
            <a:ext cx="384048" cy="384048"/>
          </a:xfrm>
          <a:prstGeom prst="ellipse">
            <a:avLst/>
          </a:prstGeom>
          <a:solidFill>
            <a:srgbClr val="6B7280"/>
          </a:solidFill>
          <a:ln w="12700">
            <a:solidFill>
              <a:srgbClr val="6B7280"/>
            </a:solidFill>
            <a:prstDash val="solid"/>
          </a:ln>
        </p:spPr>
      </p:sp>
      <p:sp>
        <p:nvSpPr>
          <p:cNvPr id="11" name="Text 9"/>
          <p:cNvSpPr/>
          <p:nvPr/>
        </p:nvSpPr>
        <p:spPr>
          <a:xfrm>
            <a:off x="841248" y="216712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Text 10"/>
          <p:cNvSpPr/>
          <p:nvPr/>
        </p:nvSpPr>
        <p:spPr>
          <a:xfrm>
            <a:off x="1353312" y="2148840"/>
            <a:ext cx="2468880" cy="41148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Set the starting state</a:t>
            </a:r>
            <a:endParaRPr lang="en-US" sz="1800" dirty="0"/>
          </a:p>
        </p:txBody>
      </p:sp>
      <p:sp>
        <p:nvSpPr>
          <p:cNvPr id="13" name="Text 11"/>
          <p:cNvSpPr/>
          <p:nvPr/>
        </p:nvSpPr>
        <p:spPr>
          <a:xfrm>
            <a:off x="1353312" y="2587752"/>
            <a:ext cx="2468880" cy="365760"/>
          </a:xfrm>
          <a:prstGeom prst="rect">
            <a:avLst/>
          </a:prstGeom>
          <a:noFill/>
          <a:ln/>
        </p:spPr>
        <p:txBody>
          <a:bodyPr wrap="square" lIns="0" tIns="0" rIns="0" bIns="0" rtlCol="0" anchor="ctr"/>
          <a:lstStyle/>
          <a:p>
            <a:pPr indent="0" marL="0">
              <a:buNone/>
            </a:pPr>
            <a:r>
              <a:rPr lang="en-US" sz="1600" dirty="0">
                <a:solidFill>
                  <a:srgbClr val="6B7280"/>
                </a:solidFill>
                <a:latin typeface="Courier New" pitchFamily="34" charset="0"/>
                <a:ea typeface="Courier New" pitchFamily="34" charset="-122"/>
                <a:cs typeface="Courier New" pitchFamily="34" charset="-120"/>
              </a:rPr>
              <a:t>score 0, life 3</a:t>
            </a:r>
            <a:endParaRPr lang="en-US" sz="1600" dirty="0"/>
          </a:p>
        </p:txBody>
      </p:sp>
      <p:sp>
        <p:nvSpPr>
          <p:cNvPr id="14" name="Shape 12"/>
          <p:cNvSpPr/>
          <p:nvPr/>
        </p:nvSpPr>
        <p:spPr>
          <a:xfrm>
            <a:off x="4297680" y="1965960"/>
            <a:ext cx="3383280" cy="1463040"/>
          </a:xfrm>
          <a:prstGeom prst="roundRect">
            <a:avLst>
              <a:gd name="adj" fmla="val 3125"/>
            </a:avLst>
          </a:prstGeom>
          <a:solidFill>
            <a:srgbClr val="F4F6FA"/>
          </a:solidFill>
          <a:ln w="19050">
            <a:solidFill>
              <a:srgbClr val="10B981"/>
            </a:solidFill>
            <a:prstDash val="solid"/>
          </a:ln>
          <a:effectLst>
            <a:outerShdw sx="100000" sy="100000" kx="0" ky="0" algn="bl" rotWithShape="0" blurRad="76200" dist="12700" dir="5400000">
              <a:srgbClr val="9AA4B2">
                <a:alpha val="18000"/>
              </a:srgbClr>
            </a:outerShdw>
          </a:effectLst>
        </p:spPr>
      </p:sp>
      <p:sp>
        <p:nvSpPr>
          <p:cNvPr id="15" name="Shape 13"/>
          <p:cNvSpPr/>
          <p:nvPr/>
        </p:nvSpPr>
        <p:spPr>
          <a:xfrm>
            <a:off x="4498848" y="2167128"/>
            <a:ext cx="384048" cy="384048"/>
          </a:xfrm>
          <a:prstGeom prst="ellipse">
            <a:avLst/>
          </a:prstGeom>
          <a:solidFill>
            <a:srgbClr val="10B981"/>
          </a:solidFill>
          <a:ln w="12700">
            <a:solidFill>
              <a:srgbClr val="10B981"/>
            </a:solidFill>
            <a:prstDash val="solid"/>
          </a:ln>
        </p:spPr>
      </p:sp>
      <p:sp>
        <p:nvSpPr>
          <p:cNvPr id="16" name="Text 14"/>
          <p:cNvSpPr/>
          <p:nvPr/>
        </p:nvSpPr>
        <p:spPr>
          <a:xfrm>
            <a:off x="4498848" y="216712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5"/>
          <p:cNvSpPr/>
          <p:nvPr/>
        </p:nvSpPr>
        <p:spPr>
          <a:xfrm>
            <a:off x="5010912" y="2148840"/>
            <a:ext cx="2468880" cy="41148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Spawn enemies</a:t>
            </a:r>
            <a:endParaRPr lang="en-US" sz="1800" dirty="0"/>
          </a:p>
        </p:txBody>
      </p:sp>
      <p:sp>
        <p:nvSpPr>
          <p:cNvPr id="18" name="Text 16"/>
          <p:cNvSpPr/>
          <p:nvPr/>
        </p:nvSpPr>
        <p:spPr>
          <a:xfrm>
            <a:off x="5010912" y="2587752"/>
            <a:ext cx="2468880" cy="365760"/>
          </a:xfrm>
          <a:prstGeom prst="rect">
            <a:avLst/>
          </a:prstGeom>
          <a:noFill/>
          <a:ln/>
        </p:spPr>
        <p:txBody>
          <a:bodyPr wrap="square" lIns="0" tIns="0" rIns="0" bIns="0" rtlCol="0" anchor="ctr"/>
          <a:lstStyle/>
          <a:p>
            <a:pPr indent="0" marL="0">
              <a:buNone/>
            </a:pPr>
            <a:r>
              <a:rPr lang="en-US" sz="1600" dirty="0">
                <a:solidFill>
                  <a:srgbClr val="10B981"/>
                </a:solidFill>
                <a:latin typeface="Courier New" pitchFamily="34" charset="0"/>
                <a:ea typeface="Courier New" pitchFamily="34" charset="-122"/>
                <a:cs typeface="Courier New" pitchFamily="34" charset="-120"/>
              </a:rPr>
              <a:t>forever loop</a:t>
            </a:r>
            <a:endParaRPr lang="en-US" sz="1600" dirty="0"/>
          </a:p>
        </p:txBody>
      </p:sp>
      <p:sp>
        <p:nvSpPr>
          <p:cNvPr id="19" name="Shape 17"/>
          <p:cNvSpPr/>
          <p:nvPr/>
        </p:nvSpPr>
        <p:spPr>
          <a:xfrm>
            <a:off x="7955280" y="1965960"/>
            <a:ext cx="3383280" cy="1463040"/>
          </a:xfrm>
          <a:prstGeom prst="roundRect">
            <a:avLst>
              <a:gd name="adj" fmla="val 3125"/>
            </a:avLst>
          </a:prstGeom>
          <a:solidFill>
            <a:srgbClr val="F4F6FA"/>
          </a:solidFill>
          <a:ln w="19050">
            <a:solidFill>
              <a:srgbClr val="4361EE"/>
            </a:solidFill>
            <a:prstDash val="solid"/>
          </a:ln>
          <a:effectLst>
            <a:outerShdw sx="100000" sy="100000" kx="0" ky="0" algn="bl" rotWithShape="0" blurRad="76200" dist="12700" dir="5400000">
              <a:srgbClr val="9AA4B2">
                <a:alpha val="18000"/>
              </a:srgbClr>
            </a:outerShdw>
          </a:effectLst>
        </p:spPr>
      </p:sp>
      <p:sp>
        <p:nvSpPr>
          <p:cNvPr id="20" name="Shape 18"/>
          <p:cNvSpPr/>
          <p:nvPr/>
        </p:nvSpPr>
        <p:spPr>
          <a:xfrm>
            <a:off x="8156448" y="2167128"/>
            <a:ext cx="384048" cy="384048"/>
          </a:xfrm>
          <a:prstGeom prst="ellipse">
            <a:avLst/>
          </a:prstGeom>
          <a:solidFill>
            <a:srgbClr val="4361EE"/>
          </a:solidFill>
          <a:ln w="12700">
            <a:solidFill>
              <a:srgbClr val="4361EE"/>
            </a:solidFill>
            <a:prstDash val="solid"/>
          </a:ln>
        </p:spPr>
      </p:sp>
      <p:sp>
        <p:nvSpPr>
          <p:cNvPr id="21" name="Text 19"/>
          <p:cNvSpPr/>
          <p:nvPr/>
        </p:nvSpPr>
        <p:spPr>
          <a:xfrm>
            <a:off x="8156448" y="216712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2" name="Text 20"/>
          <p:cNvSpPr/>
          <p:nvPr/>
        </p:nvSpPr>
        <p:spPr>
          <a:xfrm>
            <a:off x="8668512" y="2148840"/>
            <a:ext cx="2468880" cy="41148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Lose a life</a:t>
            </a:r>
            <a:endParaRPr lang="en-US" sz="1800" dirty="0"/>
          </a:p>
        </p:txBody>
      </p:sp>
      <p:sp>
        <p:nvSpPr>
          <p:cNvPr id="23" name="Text 21"/>
          <p:cNvSpPr/>
          <p:nvPr/>
        </p:nvSpPr>
        <p:spPr>
          <a:xfrm>
            <a:off x="8668512" y="2587752"/>
            <a:ext cx="2468880" cy="365760"/>
          </a:xfrm>
          <a:prstGeom prst="rect">
            <a:avLst/>
          </a:prstGeom>
          <a:noFill/>
          <a:ln/>
        </p:spPr>
        <p:txBody>
          <a:bodyPr wrap="square" lIns="0" tIns="0" rIns="0" bIns="0" rtlCol="0" anchor="ctr"/>
          <a:lstStyle/>
          <a:p>
            <a:pPr indent="0" marL="0">
              <a:buNone/>
            </a:pPr>
            <a:r>
              <a:rPr lang="en-US" sz="1600" dirty="0">
                <a:solidFill>
                  <a:srgbClr val="4361EE"/>
                </a:solidFill>
                <a:latin typeface="Courier New" pitchFamily="34" charset="0"/>
                <a:ea typeface="Courier New" pitchFamily="34" charset="-122"/>
                <a:cs typeface="Courier New" pitchFamily="34" charset="-120"/>
              </a:rPr>
              <a:t>if / else</a:t>
            </a:r>
            <a:endParaRPr lang="en-US" sz="1600" dirty="0"/>
          </a:p>
        </p:txBody>
      </p:sp>
      <p:sp>
        <p:nvSpPr>
          <p:cNvPr id="24" name="Shape 22"/>
          <p:cNvSpPr/>
          <p:nvPr/>
        </p:nvSpPr>
        <p:spPr>
          <a:xfrm>
            <a:off x="640080" y="3703320"/>
            <a:ext cx="3383280" cy="1463040"/>
          </a:xfrm>
          <a:prstGeom prst="roundRect">
            <a:avLst>
              <a:gd name="adj" fmla="val 3125"/>
            </a:avLst>
          </a:prstGeom>
          <a:solidFill>
            <a:srgbClr val="F4F6FA"/>
          </a:solidFill>
          <a:ln w="19050">
            <a:solidFill>
              <a:srgbClr val="8B5CF6"/>
            </a:solidFill>
            <a:prstDash val="solid"/>
          </a:ln>
          <a:effectLst>
            <a:outerShdw sx="100000" sy="100000" kx="0" ky="0" algn="bl" rotWithShape="0" blurRad="76200" dist="12700" dir="5400000">
              <a:srgbClr val="9AA4B2">
                <a:alpha val="18000"/>
              </a:srgbClr>
            </a:outerShdw>
          </a:effectLst>
        </p:spPr>
      </p:sp>
      <p:sp>
        <p:nvSpPr>
          <p:cNvPr id="25" name="Shape 23"/>
          <p:cNvSpPr/>
          <p:nvPr/>
        </p:nvSpPr>
        <p:spPr>
          <a:xfrm>
            <a:off x="841248" y="3904488"/>
            <a:ext cx="384048" cy="384048"/>
          </a:xfrm>
          <a:prstGeom prst="ellipse">
            <a:avLst/>
          </a:prstGeom>
          <a:solidFill>
            <a:srgbClr val="8B5CF6"/>
          </a:solidFill>
          <a:ln w="12700">
            <a:solidFill>
              <a:srgbClr val="8B5CF6"/>
            </a:solidFill>
            <a:prstDash val="solid"/>
          </a:ln>
        </p:spPr>
      </p:sp>
      <p:sp>
        <p:nvSpPr>
          <p:cNvPr id="26" name="Text 24"/>
          <p:cNvSpPr/>
          <p:nvPr/>
        </p:nvSpPr>
        <p:spPr>
          <a:xfrm>
            <a:off x="841248" y="39044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1353312" y="3886200"/>
            <a:ext cx="2468880" cy="41148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Add a win condition</a:t>
            </a:r>
            <a:endParaRPr lang="en-US" sz="1800" dirty="0"/>
          </a:p>
        </p:txBody>
      </p:sp>
      <p:sp>
        <p:nvSpPr>
          <p:cNvPr id="28" name="Text 26"/>
          <p:cNvSpPr/>
          <p:nvPr/>
        </p:nvSpPr>
        <p:spPr>
          <a:xfrm>
            <a:off x="1353312" y="4325112"/>
            <a:ext cx="2468880" cy="365760"/>
          </a:xfrm>
          <a:prstGeom prst="rect">
            <a:avLst/>
          </a:prstGeom>
          <a:noFill/>
          <a:ln/>
        </p:spPr>
        <p:txBody>
          <a:bodyPr wrap="square" lIns="0" tIns="0" rIns="0" bIns="0" rtlCol="0" anchor="ctr"/>
          <a:lstStyle/>
          <a:p>
            <a:pPr indent="0" marL="0">
              <a:buNone/>
            </a:pPr>
            <a:r>
              <a:rPr lang="en-US" sz="1600" dirty="0">
                <a:solidFill>
                  <a:srgbClr val="8B5CF6"/>
                </a:solidFill>
                <a:latin typeface="Courier New" pitchFamily="34" charset="0"/>
                <a:ea typeface="Courier New" pitchFamily="34" charset="-122"/>
                <a:cs typeface="Courier New" pitchFamily="34" charset="-120"/>
              </a:rPr>
              <a:t>repeat + if</a:t>
            </a:r>
            <a:endParaRPr lang="en-US" sz="1600" dirty="0"/>
          </a:p>
        </p:txBody>
      </p:sp>
      <p:sp>
        <p:nvSpPr>
          <p:cNvPr id="29" name="Shape 27"/>
          <p:cNvSpPr/>
          <p:nvPr/>
        </p:nvSpPr>
        <p:spPr>
          <a:xfrm>
            <a:off x="4297680" y="3703320"/>
            <a:ext cx="3383280" cy="1463040"/>
          </a:xfrm>
          <a:prstGeom prst="roundRect">
            <a:avLst>
              <a:gd name="adj" fmla="val 3125"/>
            </a:avLst>
          </a:prstGeom>
          <a:solidFill>
            <a:srgbClr val="F4F6FA"/>
          </a:solidFill>
          <a:ln w="19050">
            <a:solidFill>
              <a:srgbClr val="8B5CF6"/>
            </a:solidFill>
            <a:prstDash val="solid"/>
          </a:ln>
          <a:effectLst>
            <a:outerShdw sx="100000" sy="100000" kx="0" ky="0" algn="bl" rotWithShape="0" blurRad="76200" dist="12700" dir="5400000">
              <a:srgbClr val="9AA4B2">
                <a:alpha val="18000"/>
              </a:srgbClr>
            </a:outerShdw>
          </a:effectLst>
        </p:spPr>
      </p:sp>
      <p:sp>
        <p:nvSpPr>
          <p:cNvPr id="30" name="Shape 28"/>
          <p:cNvSpPr/>
          <p:nvPr/>
        </p:nvSpPr>
        <p:spPr>
          <a:xfrm>
            <a:off x="4498848" y="3904488"/>
            <a:ext cx="384048" cy="384048"/>
          </a:xfrm>
          <a:prstGeom prst="ellipse">
            <a:avLst/>
          </a:prstGeom>
          <a:solidFill>
            <a:srgbClr val="8B5CF6"/>
          </a:solidFill>
          <a:ln w="12700">
            <a:solidFill>
              <a:srgbClr val="8B5CF6"/>
            </a:solidFill>
            <a:prstDash val="solid"/>
          </a:ln>
        </p:spPr>
      </p:sp>
      <p:sp>
        <p:nvSpPr>
          <p:cNvPr id="31" name="Text 29"/>
          <p:cNvSpPr/>
          <p:nvPr/>
        </p:nvSpPr>
        <p:spPr>
          <a:xfrm>
            <a:off x="4498848" y="39044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2" name="Text 30"/>
          <p:cNvSpPr/>
          <p:nvPr/>
        </p:nvSpPr>
        <p:spPr>
          <a:xfrm>
            <a:off x="5010912" y="3886200"/>
            <a:ext cx="2468880" cy="41148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Make it get harder</a:t>
            </a:r>
            <a:endParaRPr lang="en-US" sz="1800" dirty="0"/>
          </a:p>
        </p:txBody>
      </p:sp>
      <p:sp>
        <p:nvSpPr>
          <p:cNvPr id="33" name="Text 31"/>
          <p:cNvSpPr/>
          <p:nvPr/>
        </p:nvSpPr>
        <p:spPr>
          <a:xfrm>
            <a:off x="5010912" y="4325112"/>
            <a:ext cx="2468880" cy="365760"/>
          </a:xfrm>
          <a:prstGeom prst="rect">
            <a:avLst/>
          </a:prstGeom>
          <a:noFill/>
          <a:ln/>
        </p:spPr>
        <p:txBody>
          <a:bodyPr wrap="square" lIns="0" tIns="0" rIns="0" bIns="0" rtlCol="0" anchor="ctr"/>
          <a:lstStyle/>
          <a:p>
            <a:pPr indent="0" marL="0">
              <a:buNone/>
            </a:pPr>
            <a:r>
              <a:rPr lang="en-US" sz="1600" dirty="0">
                <a:solidFill>
                  <a:srgbClr val="8B5CF6"/>
                </a:solidFill>
                <a:latin typeface="Courier New" pitchFamily="34" charset="0"/>
                <a:ea typeface="Courier New" pitchFamily="34" charset="-122"/>
                <a:cs typeface="Courier New" pitchFamily="34" charset="-120"/>
              </a:rPr>
              <a:t>if inside forever</a:t>
            </a:r>
            <a:endParaRPr lang="en-US" sz="1600" dirty="0"/>
          </a:p>
        </p:txBody>
      </p:sp>
      <p:sp>
        <p:nvSpPr>
          <p:cNvPr id="34" name="Shape 32"/>
          <p:cNvSpPr/>
          <p:nvPr/>
        </p:nvSpPr>
        <p:spPr>
          <a:xfrm>
            <a:off x="7955280" y="3703320"/>
            <a:ext cx="3383280" cy="1463040"/>
          </a:xfrm>
          <a:prstGeom prst="roundRect">
            <a:avLst>
              <a:gd name="adj" fmla="val 3125"/>
            </a:avLst>
          </a:prstGeom>
          <a:solidFill>
            <a:srgbClr val="F4F6FA"/>
          </a:solidFill>
          <a:ln w="19050">
            <a:solidFill>
              <a:srgbClr val="EF4444"/>
            </a:solidFill>
            <a:prstDash val="solid"/>
          </a:ln>
          <a:effectLst>
            <a:outerShdw sx="100000" sy="100000" kx="0" ky="0" algn="bl" rotWithShape="0" blurRad="76200" dist="12700" dir="5400000">
              <a:srgbClr val="9AA4B2">
                <a:alpha val="18000"/>
              </a:srgbClr>
            </a:outerShdw>
          </a:effectLst>
        </p:spPr>
      </p:sp>
      <p:sp>
        <p:nvSpPr>
          <p:cNvPr id="35" name="Shape 33"/>
          <p:cNvSpPr/>
          <p:nvPr/>
        </p:nvSpPr>
        <p:spPr>
          <a:xfrm>
            <a:off x="8156448" y="3904488"/>
            <a:ext cx="384048" cy="384048"/>
          </a:xfrm>
          <a:prstGeom prst="ellipse">
            <a:avLst/>
          </a:prstGeom>
          <a:solidFill>
            <a:srgbClr val="EF4444"/>
          </a:solidFill>
          <a:ln w="12700">
            <a:solidFill>
              <a:srgbClr val="EF4444"/>
            </a:solidFill>
            <a:prstDash val="solid"/>
          </a:ln>
        </p:spPr>
      </p:sp>
      <p:sp>
        <p:nvSpPr>
          <p:cNvPr id="36" name="Text 34"/>
          <p:cNvSpPr/>
          <p:nvPr/>
        </p:nvSpPr>
        <p:spPr>
          <a:xfrm>
            <a:off x="8156448" y="390448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7" name="Text 35"/>
          <p:cNvSpPr/>
          <p:nvPr/>
        </p:nvSpPr>
        <p:spPr>
          <a:xfrm>
            <a:off x="8668512" y="3886200"/>
            <a:ext cx="2468880" cy="41148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Break it, then fix it</a:t>
            </a:r>
            <a:endParaRPr lang="en-US" sz="1800" dirty="0"/>
          </a:p>
        </p:txBody>
      </p:sp>
      <p:sp>
        <p:nvSpPr>
          <p:cNvPr id="38" name="Text 36"/>
          <p:cNvSpPr/>
          <p:nvPr/>
        </p:nvSpPr>
        <p:spPr>
          <a:xfrm>
            <a:off x="8668512" y="4325112"/>
            <a:ext cx="2468880" cy="365760"/>
          </a:xfrm>
          <a:prstGeom prst="rect">
            <a:avLst/>
          </a:prstGeom>
          <a:noFill/>
          <a:ln/>
        </p:spPr>
        <p:txBody>
          <a:bodyPr wrap="square" lIns="0" tIns="0" rIns="0" bIns="0" rtlCol="0" anchor="ctr"/>
          <a:lstStyle/>
          <a:p>
            <a:pPr indent="0" marL="0">
              <a:buNone/>
            </a:pPr>
            <a:r>
              <a:rPr lang="en-US" sz="1600" dirty="0">
                <a:solidFill>
                  <a:srgbClr val="EF4444"/>
                </a:solidFill>
                <a:latin typeface="Courier New" pitchFamily="34" charset="0"/>
                <a:ea typeface="Courier New" pitchFamily="34" charset="-122"/>
                <a:cs typeface="Courier New" pitchFamily="34" charset="-120"/>
              </a:rPr>
              <a:t>debugging</a:t>
            </a:r>
            <a:endParaRPr lang="en-US" sz="1600" dirty="0"/>
          </a:p>
        </p:txBody>
      </p:sp>
      <p:sp>
        <p:nvSpPr>
          <p:cNvPr id="39" name="Text 37"/>
          <p:cNvSpPr/>
          <p:nvPr/>
        </p:nvSpPr>
        <p:spPr>
          <a:xfrm>
            <a:off x="640080" y="5577840"/>
            <a:ext cx="7863840" cy="457200"/>
          </a:xfrm>
          <a:prstGeom prst="rect">
            <a:avLst/>
          </a:prstGeom>
          <a:noFill/>
          <a:ln/>
        </p:spPr>
        <p:txBody>
          <a:bodyPr wrap="square" lIns="0" tIns="0" rIns="0" bIns="0" rtlCol="0" anchor="ctr"/>
          <a:lstStyle/>
          <a:p>
            <a:pPr indent="0" marL="0">
              <a:buNone/>
            </a:pPr>
            <a:r>
              <a:rPr lang="en-US" sz="1800" b="1" dirty="0">
                <a:solidFill>
                  <a:srgbClr val="4361EE"/>
                </a:solidFill>
                <a:latin typeface="Calibri" pitchFamily="34" charset="0"/>
                <a:ea typeface="Calibri" pitchFamily="34" charset="-122"/>
                <a:cs typeface="Calibri" pitchFamily="34" charset="-120"/>
              </a:rPr>
              <a:t>➜  Open your workbook — Section 4. Tick each checkpoint as you get it working.</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GUIDED BUILD  ·  STEPS 1 &amp; 2</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Starting State, Then the Spawn Loop</a:t>
            </a:r>
            <a:endParaRPr lang="en-US" sz="3200" dirty="0"/>
          </a:p>
        </p:txBody>
      </p:sp>
      <p:sp>
        <p:nvSpPr>
          <p:cNvPr id="4" name="Shape 2"/>
          <p:cNvSpPr/>
          <p:nvPr/>
        </p:nvSpPr>
        <p:spPr>
          <a:xfrm>
            <a:off x="9646920" y="384048"/>
            <a:ext cx="1874520" cy="402336"/>
          </a:xfrm>
          <a:prstGeom prst="roundRect">
            <a:avLst>
              <a:gd name="adj" fmla="val 18182"/>
            </a:avLst>
          </a:prstGeom>
          <a:solidFill>
            <a:srgbClr val="10B981"/>
          </a:solidFill>
          <a:ln w="12700">
            <a:solidFill>
              <a:srgbClr val="10B981"/>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BUILD</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Text 6"/>
          <p:cNvSpPr/>
          <p:nvPr/>
        </p:nvSpPr>
        <p:spPr>
          <a:xfrm>
            <a:off x="640080" y="1325880"/>
            <a:ext cx="5303520" cy="320040"/>
          </a:xfrm>
          <a:prstGeom prst="rect">
            <a:avLst/>
          </a:prstGeom>
          <a:noFill/>
          <a:ln/>
        </p:spPr>
        <p:txBody>
          <a:bodyPr wrap="square" lIns="0" tIns="0" rIns="0" bIns="0" rtlCol="0" anchor="ctr"/>
          <a:lstStyle/>
          <a:p>
            <a:pPr indent="0" marL="0">
              <a:buNone/>
            </a:pPr>
            <a:r>
              <a:rPr lang="en-US" sz="1700" b="1" spc="100" kern="0" dirty="0">
                <a:solidFill>
                  <a:srgbClr val="6B7280"/>
                </a:solidFill>
                <a:latin typeface="Calibri" pitchFamily="34" charset="0"/>
                <a:ea typeface="Calibri" pitchFamily="34" charset="-122"/>
                <a:cs typeface="Calibri" pitchFamily="34" charset="-120"/>
              </a:rPr>
              <a:t>STEP 1  ·  Set the starting state</a:t>
            </a:r>
            <a:endParaRPr lang="en-US" sz="1700" dirty="0"/>
          </a:p>
        </p:txBody>
      </p:sp>
      <p:sp>
        <p:nvSpPr>
          <p:cNvPr id="9" name="Shape 7"/>
          <p:cNvSpPr/>
          <p:nvPr/>
        </p:nvSpPr>
        <p:spPr>
          <a:xfrm>
            <a:off x="640080" y="1691640"/>
            <a:ext cx="5303520" cy="1371600"/>
          </a:xfrm>
          <a:prstGeom prst="roundRect">
            <a:avLst>
              <a:gd name="adj" fmla="val 3333"/>
            </a:avLst>
          </a:prstGeom>
          <a:solidFill>
            <a:srgbClr val="111827"/>
          </a:solidFill>
          <a:ln w="12700">
            <a:solidFill>
              <a:srgbClr val="111827"/>
            </a:solidFill>
            <a:prstDash val="solid"/>
          </a:ln>
        </p:spPr>
      </p:sp>
      <p:sp>
        <p:nvSpPr>
          <p:cNvPr id="10" name="Text 8"/>
          <p:cNvSpPr/>
          <p:nvPr/>
        </p:nvSpPr>
        <p:spPr>
          <a:xfrm>
            <a:off x="896112" y="1837944"/>
            <a:ext cx="4846320" cy="1078992"/>
          </a:xfrm>
          <a:prstGeom prst="rect">
            <a:avLst/>
          </a:prstGeom>
          <a:noFill/>
          <a:ln/>
        </p:spPr>
        <p:txBody>
          <a:bodyPr wrap="square" lIns="0" tIns="0" rIns="0" bIns="0" rtlCol="0" anchor="t"/>
          <a:lstStyle/>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on start</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set score to 0</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set life to 3</a:t>
            </a:r>
            <a:endParaRPr lang="en-US" sz="1800" dirty="0"/>
          </a:p>
        </p:txBody>
      </p:sp>
      <p:sp>
        <p:nvSpPr>
          <p:cNvPr id="11" name="Text 9"/>
          <p:cNvSpPr/>
          <p:nvPr/>
        </p:nvSpPr>
        <p:spPr>
          <a:xfrm>
            <a:off x="640080" y="3154680"/>
            <a:ext cx="5303520" cy="320040"/>
          </a:xfrm>
          <a:prstGeom prst="rect">
            <a:avLst/>
          </a:prstGeom>
          <a:noFill/>
          <a:ln/>
        </p:spPr>
        <p:txBody>
          <a:bodyPr wrap="square" lIns="0" tIns="0" rIns="0" bIns="0" rtlCol="0" anchor="ctr"/>
          <a:lstStyle/>
          <a:p>
            <a:pPr indent="0" marL="0">
              <a:buNone/>
            </a:pPr>
            <a:r>
              <a:rPr lang="en-US" sz="1700" b="1" dirty="0">
                <a:solidFill>
                  <a:srgbClr val="10B981"/>
                </a:solidFill>
                <a:latin typeface="Calibri" pitchFamily="34" charset="0"/>
                <a:ea typeface="Calibri" pitchFamily="34" charset="-122"/>
                <a:cs typeface="Calibri" pitchFamily="34" charset="-120"/>
              </a:rPr>
              <a:t>Check: score 0 and three hearts on screen.</a:t>
            </a:r>
            <a:endParaRPr lang="en-US" sz="1700" dirty="0"/>
          </a:p>
        </p:txBody>
      </p:sp>
      <p:sp>
        <p:nvSpPr>
          <p:cNvPr id="12" name="Text 10"/>
          <p:cNvSpPr/>
          <p:nvPr/>
        </p:nvSpPr>
        <p:spPr>
          <a:xfrm>
            <a:off x="6217920" y="1325880"/>
            <a:ext cx="5303520" cy="320040"/>
          </a:xfrm>
          <a:prstGeom prst="rect">
            <a:avLst/>
          </a:prstGeom>
          <a:noFill/>
          <a:ln/>
        </p:spPr>
        <p:txBody>
          <a:bodyPr wrap="square" lIns="0" tIns="0" rIns="0" bIns="0" rtlCol="0" anchor="ctr"/>
          <a:lstStyle/>
          <a:p>
            <a:pPr indent="0" marL="0">
              <a:buNone/>
            </a:pPr>
            <a:r>
              <a:rPr lang="en-US" sz="1700" b="1" spc="100" kern="0" dirty="0">
                <a:solidFill>
                  <a:srgbClr val="6B7280"/>
                </a:solidFill>
                <a:latin typeface="Calibri" pitchFamily="34" charset="0"/>
                <a:ea typeface="Calibri" pitchFamily="34" charset="-122"/>
                <a:cs typeface="Calibri" pitchFamily="34" charset="-120"/>
              </a:rPr>
              <a:t>STEP 2  ·  Spawn enemies with a loop</a:t>
            </a:r>
            <a:endParaRPr lang="en-US" sz="1700" dirty="0"/>
          </a:p>
        </p:txBody>
      </p:sp>
      <p:sp>
        <p:nvSpPr>
          <p:cNvPr id="13" name="Shape 11"/>
          <p:cNvSpPr/>
          <p:nvPr/>
        </p:nvSpPr>
        <p:spPr>
          <a:xfrm>
            <a:off x="6217920" y="1691640"/>
            <a:ext cx="5303520" cy="2651760"/>
          </a:xfrm>
          <a:prstGeom prst="roundRect">
            <a:avLst>
              <a:gd name="adj" fmla="val 1724"/>
            </a:avLst>
          </a:prstGeom>
          <a:solidFill>
            <a:srgbClr val="111827"/>
          </a:solidFill>
          <a:ln w="12700">
            <a:solidFill>
              <a:srgbClr val="111827"/>
            </a:solidFill>
            <a:prstDash val="solid"/>
          </a:ln>
        </p:spPr>
      </p:sp>
      <p:sp>
        <p:nvSpPr>
          <p:cNvPr id="14" name="Text 12"/>
          <p:cNvSpPr/>
          <p:nvPr/>
        </p:nvSpPr>
        <p:spPr>
          <a:xfrm>
            <a:off x="6473952" y="1837944"/>
            <a:ext cx="4846320" cy="2359152"/>
          </a:xfrm>
          <a:prstGeom prst="rect">
            <a:avLst/>
          </a:prstGeom>
          <a:noFill/>
          <a:ln/>
        </p:spPr>
        <p:txBody>
          <a:bodyPr wrap="square" lIns="0" tIns="0" rIns="0" bIns="0" rtlCol="0" anchor="t"/>
          <a:lstStyle/>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forever</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set enemy to sprite</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of kind Enemy</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set position x: random</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0 to 155   y: 0</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set velocity vy: 40</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pause (1500) ms</a:t>
            </a:r>
            <a:endParaRPr lang="en-US" sz="1800" dirty="0"/>
          </a:p>
        </p:txBody>
      </p:sp>
      <p:sp>
        <p:nvSpPr>
          <p:cNvPr id="15" name="Text 13"/>
          <p:cNvSpPr/>
          <p:nvPr/>
        </p:nvSpPr>
        <p:spPr>
          <a:xfrm>
            <a:off x="6217920" y="4434840"/>
            <a:ext cx="5303520" cy="320040"/>
          </a:xfrm>
          <a:prstGeom prst="rect">
            <a:avLst/>
          </a:prstGeom>
          <a:noFill/>
          <a:ln/>
        </p:spPr>
        <p:txBody>
          <a:bodyPr wrap="square" lIns="0" tIns="0" rIns="0" bIns="0" rtlCol="0" anchor="ctr"/>
          <a:lstStyle/>
          <a:p>
            <a:pPr indent="0" marL="0">
              <a:buNone/>
            </a:pPr>
            <a:r>
              <a:rPr lang="en-US" sz="1700" b="1" dirty="0">
                <a:solidFill>
                  <a:srgbClr val="10B981"/>
                </a:solidFill>
                <a:latin typeface="Calibri" pitchFamily="34" charset="0"/>
                <a:ea typeface="Calibri" pitchFamily="34" charset="-122"/>
                <a:cs typeface="Calibri" pitchFamily="34" charset="-120"/>
              </a:rPr>
              <a:t>Check: an enemy drops every 1.5 seconds.</a:t>
            </a:r>
            <a:endParaRPr lang="en-US" sz="1700" dirty="0"/>
          </a:p>
        </p:txBody>
      </p:sp>
      <p:sp>
        <p:nvSpPr>
          <p:cNvPr id="16" name="Shape 14"/>
          <p:cNvSpPr/>
          <p:nvPr/>
        </p:nvSpPr>
        <p:spPr>
          <a:xfrm>
            <a:off x="640080" y="4892040"/>
            <a:ext cx="5303520" cy="777240"/>
          </a:xfrm>
          <a:prstGeom prst="roundRect">
            <a:avLst>
              <a:gd name="adj" fmla="val 5882"/>
            </a:avLst>
          </a:prstGeom>
          <a:solidFill>
            <a:srgbClr val="F4F6FA"/>
          </a:solidFill>
          <a:ln w="19050">
            <a:solidFill>
              <a:srgbClr val="F59E0B"/>
            </a:solidFill>
            <a:prstDash val="solid"/>
          </a:ln>
          <a:effectLst>
            <a:outerShdw sx="100000" sy="100000" kx="0" ky="0" algn="bl" rotWithShape="0" blurRad="76200" dist="12700" dir="5400000">
              <a:srgbClr val="9AA4B2">
                <a:alpha val="18000"/>
              </a:srgbClr>
            </a:outerShdw>
          </a:effectLst>
        </p:spPr>
      </p:sp>
      <p:sp>
        <p:nvSpPr>
          <p:cNvPr id="17" name="Text 15"/>
          <p:cNvSpPr/>
          <p:nvPr/>
        </p:nvSpPr>
        <p:spPr>
          <a:xfrm>
            <a:off x="868680" y="4892040"/>
            <a:ext cx="4846320" cy="777240"/>
          </a:xfrm>
          <a:prstGeom prst="rect">
            <a:avLst/>
          </a:prstGeom>
          <a:noFill/>
          <a:ln/>
        </p:spPr>
        <p:txBody>
          <a:bodyPr wrap="square" lIns="0" tIns="0" rIns="0" bIns="0" rtlCol="0" anchor="ctr"/>
          <a:lstStyle/>
          <a:p>
            <a:pPr indent="0" marL="0">
              <a:buNone/>
            </a:pPr>
            <a:r>
              <a:rPr lang="en-US" sz="1700" b="1" dirty="0">
                <a:solidFill>
                  <a:srgbClr val="374151"/>
                </a:solidFill>
                <a:latin typeface="Calibri" pitchFamily="34" charset="0"/>
                <a:ea typeface="Calibri" pitchFamily="34" charset="-122"/>
                <a:cs typeface="Calibri" pitchFamily="34" charset="-120"/>
              </a:rPr>
              <a:t>PREDICT before you press run — write what you expect in your workbook first.</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GUIDED BUILD  ·  STEPS 3 &amp; 4</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Lose a Life, Then Win the Game</a:t>
            </a:r>
            <a:endParaRPr lang="en-US" sz="3200" dirty="0"/>
          </a:p>
        </p:txBody>
      </p:sp>
      <p:sp>
        <p:nvSpPr>
          <p:cNvPr id="4" name="Shape 2"/>
          <p:cNvSpPr/>
          <p:nvPr/>
        </p:nvSpPr>
        <p:spPr>
          <a:xfrm>
            <a:off x="9646920" y="384048"/>
            <a:ext cx="1874520" cy="402336"/>
          </a:xfrm>
          <a:prstGeom prst="roundRect">
            <a:avLst>
              <a:gd name="adj" fmla="val 18182"/>
            </a:avLst>
          </a:prstGeom>
          <a:solidFill>
            <a:srgbClr val="10B981"/>
          </a:solidFill>
          <a:ln w="12700">
            <a:solidFill>
              <a:srgbClr val="10B981"/>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BUILD</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Text 6"/>
          <p:cNvSpPr/>
          <p:nvPr/>
        </p:nvSpPr>
        <p:spPr>
          <a:xfrm>
            <a:off x="640080" y="1325880"/>
            <a:ext cx="5303520" cy="320040"/>
          </a:xfrm>
          <a:prstGeom prst="rect">
            <a:avLst/>
          </a:prstGeom>
          <a:noFill/>
          <a:ln/>
        </p:spPr>
        <p:txBody>
          <a:bodyPr wrap="square" lIns="0" tIns="0" rIns="0" bIns="0" rtlCol="0" anchor="ctr"/>
          <a:lstStyle/>
          <a:p>
            <a:pPr indent="0" marL="0">
              <a:buNone/>
            </a:pPr>
            <a:r>
              <a:rPr lang="en-US" sz="1700" b="1" spc="100" kern="0" dirty="0">
                <a:solidFill>
                  <a:srgbClr val="6B7280"/>
                </a:solidFill>
                <a:latin typeface="Calibri" pitchFamily="34" charset="0"/>
                <a:ea typeface="Calibri" pitchFamily="34" charset="-122"/>
                <a:cs typeface="Calibri" pitchFamily="34" charset="-120"/>
              </a:rPr>
              <a:t>STEP 3  ·  if / else on collision</a:t>
            </a:r>
            <a:endParaRPr lang="en-US" sz="1700" dirty="0"/>
          </a:p>
        </p:txBody>
      </p:sp>
      <p:sp>
        <p:nvSpPr>
          <p:cNvPr id="9" name="Shape 7"/>
          <p:cNvSpPr/>
          <p:nvPr/>
        </p:nvSpPr>
        <p:spPr>
          <a:xfrm>
            <a:off x="640080" y="1691640"/>
            <a:ext cx="5303520" cy="2788920"/>
          </a:xfrm>
          <a:prstGeom prst="roundRect">
            <a:avLst>
              <a:gd name="adj" fmla="val 1639"/>
            </a:avLst>
          </a:prstGeom>
          <a:solidFill>
            <a:srgbClr val="111827"/>
          </a:solidFill>
          <a:ln w="12700">
            <a:solidFill>
              <a:srgbClr val="111827"/>
            </a:solidFill>
            <a:prstDash val="solid"/>
          </a:ln>
        </p:spPr>
      </p:sp>
      <p:sp>
        <p:nvSpPr>
          <p:cNvPr id="10" name="Text 8"/>
          <p:cNvSpPr/>
          <p:nvPr/>
        </p:nvSpPr>
        <p:spPr>
          <a:xfrm>
            <a:off x="896112" y="1837944"/>
            <a:ext cx="4846320" cy="2496312"/>
          </a:xfrm>
          <a:prstGeom prst="rect">
            <a:avLst/>
          </a:prstGeom>
          <a:noFill/>
          <a:ln/>
        </p:spPr>
        <p:txBody>
          <a:bodyPr wrap="square" lIns="0" tIns="0" rIns="0" bIns="0" rtlCol="0" anchor="t"/>
          <a:lstStyle/>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on Player overlaps Enemy</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destroy otherSprite</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if life &lt;= 1 then</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game over LOSE</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else</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change life by -1</a:t>
            </a:r>
            <a:endParaRPr lang="en-US" sz="1800" dirty="0"/>
          </a:p>
        </p:txBody>
      </p:sp>
      <p:sp>
        <p:nvSpPr>
          <p:cNvPr id="11" name="Text 9"/>
          <p:cNvSpPr/>
          <p:nvPr/>
        </p:nvSpPr>
        <p:spPr>
          <a:xfrm>
            <a:off x="640080" y="4572000"/>
            <a:ext cx="5303520" cy="320040"/>
          </a:xfrm>
          <a:prstGeom prst="rect">
            <a:avLst/>
          </a:prstGeom>
          <a:noFill/>
          <a:ln/>
        </p:spPr>
        <p:txBody>
          <a:bodyPr wrap="square" lIns="0" tIns="0" rIns="0" bIns="0" rtlCol="0" anchor="ctr"/>
          <a:lstStyle/>
          <a:p>
            <a:pPr indent="0" marL="0">
              <a:buNone/>
            </a:pPr>
            <a:r>
              <a:rPr lang="en-US" sz="1700" b="1" dirty="0">
                <a:solidFill>
                  <a:srgbClr val="10B981"/>
                </a:solidFill>
                <a:latin typeface="Calibri" pitchFamily="34" charset="0"/>
                <a:ea typeface="Calibri" pitchFamily="34" charset="-122"/>
                <a:cs typeface="Calibri" pitchFamily="34" charset="-120"/>
              </a:rPr>
              <a:t>Check: third hit ends the game.</a:t>
            </a:r>
            <a:endParaRPr lang="en-US" sz="1700" dirty="0"/>
          </a:p>
        </p:txBody>
      </p:sp>
      <p:sp>
        <p:nvSpPr>
          <p:cNvPr id="12" name="Text 10"/>
          <p:cNvSpPr/>
          <p:nvPr/>
        </p:nvSpPr>
        <p:spPr>
          <a:xfrm>
            <a:off x="6217920" y="1325880"/>
            <a:ext cx="5303520" cy="320040"/>
          </a:xfrm>
          <a:prstGeom prst="rect">
            <a:avLst/>
          </a:prstGeom>
          <a:noFill/>
          <a:ln/>
        </p:spPr>
        <p:txBody>
          <a:bodyPr wrap="square" lIns="0" tIns="0" rIns="0" bIns="0" rtlCol="0" anchor="ctr"/>
          <a:lstStyle/>
          <a:p>
            <a:pPr indent="0" marL="0">
              <a:buNone/>
            </a:pPr>
            <a:r>
              <a:rPr lang="en-US" sz="1700" b="1" spc="100" kern="0" dirty="0">
                <a:solidFill>
                  <a:srgbClr val="6B7280"/>
                </a:solidFill>
                <a:latin typeface="Calibri" pitchFamily="34" charset="0"/>
                <a:ea typeface="Calibri" pitchFamily="34" charset="-122"/>
                <a:cs typeface="Calibri" pitchFamily="34" charset="-120"/>
              </a:rPr>
              <a:t>STEP 4  ·  repeat loop + win condition</a:t>
            </a:r>
            <a:endParaRPr lang="en-US" sz="1700" dirty="0"/>
          </a:p>
        </p:txBody>
      </p:sp>
      <p:sp>
        <p:nvSpPr>
          <p:cNvPr id="13" name="Shape 11"/>
          <p:cNvSpPr/>
          <p:nvPr/>
        </p:nvSpPr>
        <p:spPr>
          <a:xfrm>
            <a:off x="6217920" y="1691640"/>
            <a:ext cx="5303520" cy="2788920"/>
          </a:xfrm>
          <a:prstGeom prst="roundRect">
            <a:avLst>
              <a:gd name="adj" fmla="val 1639"/>
            </a:avLst>
          </a:prstGeom>
          <a:solidFill>
            <a:srgbClr val="111827"/>
          </a:solidFill>
          <a:ln w="12700">
            <a:solidFill>
              <a:srgbClr val="111827"/>
            </a:solidFill>
            <a:prstDash val="solid"/>
          </a:ln>
        </p:spPr>
      </p:sp>
      <p:sp>
        <p:nvSpPr>
          <p:cNvPr id="14" name="Text 12"/>
          <p:cNvSpPr/>
          <p:nvPr/>
        </p:nvSpPr>
        <p:spPr>
          <a:xfrm>
            <a:off x="6473952" y="1837944"/>
            <a:ext cx="4846320" cy="2496312"/>
          </a:xfrm>
          <a:prstGeom prst="rect">
            <a:avLst/>
          </a:prstGeom>
          <a:noFill/>
          <a:ln/>
        </p:spPr>
        <p:txBody>
          <a:bodyPr wrap="square" lIns="0" tIns="0" rIns="0" bIns="0" rtlCol="0" anchor="t"/>
          <a:lstStyle/>
          <a:p>
            <a:pPr indent="0" marL="0">
              <a:lnSpc>
                <a:spcPts val="2400"/>
              </a:lnSpc>
              <a:buNone/>
            </a:pPr>
            <a:r>
              <a:rPr lang="en-US" sz="1800" dirty="0">
                <a:solidFill>
                  <a:srgbClr val="7DF3C4"/>
                </a:solidFill>
                <a:latin typeface="Courier New" pitchFamily="34" charset="0"/>
                <a:ea typeface="Courier New" pitchFamily="34" charset="-122"/>
                <a:cs typeface="Courier New" pitchFamily="34" charset="-120"/>
              </a:rPr>
              <a:t>on start</a:t>
            </a:r>
            <a:endParaRPr lang="en-US" sz="1800" dirty="0"/>
          </a:p>
          <a:p>
            <a:pPr indent="0" marL="0">
              <a:lnSpc>
                <a:spcPts val="2400"/>
              </a:lnSpc>
              <a:buNone/>
            </a:pPr>
            <a:r>
              <a:rPr lang="en-US" sz="1800" dirty="0">
                <a:solidFill>
                  <a:srgbClr val="7DF3C4"/>
                </a:solidFill>
                <a:latin typeface="Courier New" pitchFamily="34" charset="0"/>
                <a:ea typeface="Courier New" pitchFamily="34" charset="-122"/>
                <a:cs typeface="Courier New" pitchFamily="34" charset="-120"/>
              </a:rPr>
              <a:t>  repeat (5) times</a:t>
            </a:r>
            <a:endParaRPr lang="en-US" sz="1800" dirty="0"/>
          </a:p>
          <a:p>
            <a:pPr indent="0" marL="0">
              <a:lnSpc>
                <a:spcPts val="2400"/>
              </a:lnSpc>
              <a:buNone/>
            </a:pPr>
            <a:r>
              <a:rPr lang="en-US" sz="1800" dirty="0">
                <a:solidFill>
                  <a:srgbClr val="7DF3C4"/>
                </a:solidFill>
                <a:latin typeface="Courier New" pitchFamily="34" charset="0"/>
                <a:ea typeface="Courier New" pitchFamily="34" charset="-122"/>
                <a:cs typeface="Courier New" pitchFamily="34" charset="-120"/>
              </a:rPr>
              <a:t>     place a coin at a</a:t>
            </a:r>
            <a:endParaRPr lang="en-US" sz="1800" dirty="0"/>
          </a:p>
          <a:p>
            <a:pPr indent="0" marL="0">
              <a:lnSpc>
                <a:spcPts val="2400"/>
              </a:lnSpc>
              <a:buNone/>
            </a:pPr>
            <a:r>
              <a:rPr lang="en-US" sz="1800" dirty="0">
                <a:solidFill>
                  <a:srgbClr val="7DF3C4"/>
                </a:solidFill>
                <a:latin typeface="Courier New" pitchFamily="34" charset="0"/>
                <a:ea typeface="Courier New" pitchFamily="34" charset="-122"/>
                <a:cs typeface="Courier New" pitchFamily="34" charset="-120"/>
              </a:rPr>
              <a:t>     random position</a:t>
            </a:r>
            <a:endParaRPr lang="en-US" sz="1800" dirty="0"/>
          </a:p>
          <a:p>
            <a:pPr indent="0" marL="0">
              <a:lnSpc>
                <a:spcPts val="2400"/>
              </a:lnSpc>
              <a:buNone/>
            </a:pPr>
            <a:r>
              <a:rPr lang="en-US" sz="1800" dirty="0">
                <a:solidFill>
                  <a:srgbClr val="7DF3C4"/>
                </a:solidFill>
                <a:latin typeface="Courier New" pitchFamily="34" charset="0"/>
                <a:ea typeface="Courier New" pitchFamily="34" charset="-122"/>
                <a:cs typeface="Courier New" pitchFamily="34" charset="-120"/>
              </a:rPr>
              <a:t>on Player overlaps Food</a:t>
            </a:r>
            <a:endParaRPr lang="en-US" sz="1800" dirty="0"/>
          </a:p>
          <a:p>
            <a:pPr indent="0" marL="0">
              <a:lnSpc>
                <a:spcPts val="2400"/>
              </a:lnSpc>
              <a:buNone/>
            </a:pPr>
            <a:r>
              <a:rPr lang="en-US" sz="1800" dirty="0">
                <a:solidFill>
                  <a:srgbClr val="7DF3C4"/>
                </a:solidFill>
                <a:latin typeface="Courier New" pitchFamily="34" charset="0"/>
                <a:ea typeface="Courier New" pitchFamily="34" charset="-122"/>
                <a:cs typeface="Courier New" pitchFamily="34" charset="-120"/>
              </a:rPr>
              <a:t>  change score by 1</a:t>
            </a:r>
            <a:endParaRPr lang="en-US" sz="1800" dirty="0"/>
          </a:p>
          <a:p>
            <a:pPr indent="0" marL="0">
              <a:lnSpc>
                <a:spcPts val="2400"/>
              </a:lnSpc>
              <a:buNone/>
            </a:pPr>
            <a:r>
              <a:rPr lang="en-US" sz="1800" dirty="0">
                <a:solidFill>
                  <a:srgbClr val="7DF3C4"/>
                </a:solidFill>
                <a:latin typeface="Courier New" pitchFamily="34" charset="0"/>
                <a:ea typeface="Courier New" pitchFamily="34" charset="-122"/>
                <a:cs typeface="Courier New" pitchFamily="34" charset="-120"/>
              </a:rPr>
              <a:t>  if score &gt;= 5 then</a:t>
            </a:r>
            <a:endParaRPr lang="en-US" sz="1800" dirty="0"/>
          </a:p>
          <a:p>
            <a:pPr indent="0" marL="0">
              <a:lnSpc>
                <a:spcPts val="2400"/>
              </a:lnSpc>
              <a:buNone/>
            </a:pPr>
            <a:r>
              <a:rPr lang="en-US" sz="1800" dirty="0">
                <a:solidFill>
                  <a:srgbClr val="7DF3C4"/>
                </a:solidFill>
                <a:latin typeface="Courier New" pitchFamily="34" charset="0"/>
                <a:ea typeface="Courier New" pitchFamily="34" charset="-122"/>
                <a:cs typeface="Courier New" pitchFamily="34" charset="-120"/>
              </a:rPr>
              <a:t>     game over WIN</a:t>
            </a:r>
            <a:endParaRPr lang="en-US" sz="1800" dirty="0"/>
          </a:p>
        </p:txBody>
      </p:sp>
      <p:sp>
        <p:nvSpPr>
          <p:cNvPr id="15" name="Text 13"/>
          <p:cNvSpPr/>
          <p:nvPr/>
        </p:nvSpPr>
        <p:spPr>
          <a:xfrm>
            <a:off x="6217920" y="4572000"/>
            <a:ext cx="5303520" cy="320040"/>
          </a:xfrm>
          <a:prstGeom prst="rect">
            <a:avLst/>
          </a:prstGeom>
          <a:noFill/>
          <a:ln/>
        </p:spPr>
        <p:txBody>
          <a:bodyPr wrap="square" lIns="0" tIns="0" rIns="0" bIns="0" rtlCol="0" anchor="ctr"/>
          <a:lstStyle/>
          <a:p>
            <a:pPr indent="0" marL="0">
              <a:buNone/>
            </a:pPr>
            <a:r>
              <a:rPr lang="en-US" sz="1700" b="1" dirty="0">
                <a:solidFill>
                  <a:srgbClr val="10B981"/>
                </a:solidFill>
                <a:latin typeface="Calibri" pitchFamily="34" charset="0"/>
                <a:ea typeface="Calibri" pitchFamily="34" charset="-122"/>
                <a:cs typeface="Calibri" pitchFamily="34" charset="-120"/>
              </a:rPr>
              <a:t>Check: the fifth coin wins it — not the sixth.</a:t>
            </a:r>
            <a:endParaRPr lang="en-US" sz="1700" dirty="0"/>
          </a:p>
        </p:txBody>
      </p:sp>
      <p:sp>
        <p:nvSpPr>
          <p:cNvPr id="16" name="Shape 14"/>
          <p:cNvSpPr/>
          <p:nvPr/>
        </p:nvSpPr>
        <p:spPr>
          <a:xfrm>
            <a:off x="640080" y="5029200"/>
            <a:ext cx="10881360" cy="868680"/>
          </a:xfrm>
          <a:prstGeom prst="roundRect">
            <a:avLst>
              <a:gd name="adj" fmla="val 5263"/>
            </a:avLst>
          </a:prstGeom>
          <a:solidFill>
            <a:srgbClr val="F4F6FA"/>
          </a:solidFill>
          <a:ln w="19050">
            <a:solidFill>
              <a:srgbClr val="4361EE"/>
            </a:solidFill>
            <a:prstDash val="solid"/>
          </a:ln>
          <a:effectLst>
            <a:outerShdw sx="100000" sy="100000" kx="0" ky="0" algn="bl" rotWithShape="0" blurRad="76200" dist="12700" dir="5400000">
              <a:srgbClr val="9AA4B2">
                <a:alpha val="18000"/>
              </a:srgbClr>
            </a:outerShdw>
          </a:effectLst>
        </p:spPr>
      </p:sp>
      <p:sp>
        <p:nvSpPr>
          <p:cNvPr id="17" name="Text 15"/>
          <p:cNvSpPr/>
          <p:nvPr/>
        </p:nvSpPr>
        <p:spPr>
          <a:xfrm>
            <a:off x="914400" y="5029200"/>
            <a:ext cx="10332720" cy="868680"/>
          </a:xfrm>
          <a:prstGeom prst="rect">
            <a:avLst/>
          </a:prstGeom>
          <a:noFill/>
          <a:ln/>
        </p:spPr>
        <p:txBody>
          <a:bodyPr wrap="square" lIns="0" tIns="0" rIns="0" bIns="0" rtlCol="0" anchor="ctr"/>
          <a:lstStyle/>
          <a:p>
            <a:pPr indent="0" marL="0">
              <a:lnSpc>
                <a:spcPts val="2400"/>
              </a:lnSpc>
              <a:buNone/>
            </a:pPr>
            <a:r>
              <a:rPr lang="en-US" sz="1800" dirty="0">
                <a:solidFill>
                  <a:srgbClr val="374151"/>
                </a:solidFill>
                <a:latin typeface="Calibri" pitchFamily="34" charset="0"/>
                <a:ea typeface="Calibri" pitchFamily="34" charset="-122"/>
                <a:cs typeface="Calibri" pitchFamily="34" charset="-120"/>
              </a:rPr>
              <a:t>Notice what Step 4 does: a repeat loop sets the level up once, and a conditional decides when the game is won. Two different loops, two different jobs.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GUIDED BUILD  ·  STEP 5</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Put the Conditional Inside the Loop</a:t>
            </a:r>
            <a:endParaRPr lang="en-US" sz="3200" dirty="0"/>
          </a:p>
        </p:txBody>
      </p:sp>
      <p:sp>
        <p:nvSpPr>
          <p:cNvPr id="4" name="Shape 2"/>
          <p:cNvSpPr/>
          <p:nvPr/>
        </p:nvSpPr>
        <p:spPr>
          <a:xfrm>
            <a:off x="9646920" y="384048"/>
            <a:ext cx="1874520" cy="402336"/>
          </a:xfrm>
          <a:prstGeom prst="roundRect">
            <a:avLst>
              <a:gd name="adj" fmla="val 18182"/>
            </a:avLst>
          </a:prstGeom>
          <a:solidFill>
            <a:srgbClr val="10B981"/>
          </a:solidFill>
          <a:ln w="12700">
            <a:solidFill>
              <a:srgbClr val="10B981"/>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BUILD</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Text 6"/>
          <p:cNvSpPr/>
          <p:nvPr/>
        </p:nvSpPr>
        <p:spPr>
          <a:xfrm>
            <a:off x="640080" y="1325880"/>
            <a:ext cx="10881360" cy="365760"/>
          </a:xfrm>
          <a:prstGeom prst="rect">
            <a:avLst/>
          </a:prstGeom>
          <a:noFill/>
          <a:ln/>
        </p:spPr>
        <p:txBody>
          <a:bodyPr wrap="square" lIns="0" tIns="0" rIns="0" bIns="0" rtlCol="0" anchor="ctr"/>
          <a:lstStyle/>
          <a:p>
            <a:pPr indent="0" marL="0">
              <a:buNone/>
            </a:pPr>
            <a:r>
              <a:rPr lang="en-US" sz="1900" dirty="0">
                <a:solidFill>
                  <a:srgbClr val="374151"/>
                </a:solidFill>
                <a:latin typeface="Calibri" pitchFamily="34" charset="0"/>
                <a:ea typeface="Calibri" pitchFamily="34" charset="-122"/>
                <a:cs typeface="Calibri" pitchFamily="34" charset="-120"/>
              </a:rPr>
              <a:t>Go back to your forever loop and replace the single pause with a decision.</a:t>
            </a:r>
            <a:endParaRPr lang="en-US" sz="1900" dirty="0"/>
          </a:p>
        </p:txBody>
      </p:sp>
      <p:sp>
        <p:nvSpPr>
          <p:cNvPr id="9" name="Shape 7"/>
          <p:cNvSpPr/>
          <p:nvPr/>
        </p:nvSpPr>
        <p:spPr>
          <a:xfrm>
            <a:off x="640080" y="1783080"/>
            <a:ext cx="6035040" cy="2834640"/>
          </a:xfrm>
          <a:prstGeom prst="roundRect">
            <a:avLst>
              <a:gd name="adj" fmla="val 1613"/>
            </a:avLst>
          </a:prstGeom>
          <a:solidFill>
            <a:srgbClr val="111827"/>
          </a:solidFill>
          <a:ln w="12700">
            <a:solidFill>
              <a:srgbClr val="111827"/>
            </a:solidFill>
            <a:prstDash val="solid"/>
          </a:ln>
        </p:spPr>
      </p:sp>
      <p:sp>
        <p:nvSpPr>
          <p:cNvPr id="10" name="Text 8"/>
          <p:cNvSpPr/>
          <p:nvPr/>
        </p:nvSpPr>
        <p:spPr>
          <a:xfrm>
            <a:off x="896112" y="1929384"/>
            <a:ext cx="5577840" cy="2542032"/>
          </a:xfrm>
          <a:prstGeom prst="rect">
            <a:avLst/>
          </a:prstGeom>
          <a:noFill/>
          <a:ln/>
        </p:spPr>
        <p:txBody>
          <a:bodyPr wrap="square" lIns="0" tIns="0" rIns="0" bIns="0" rtlCol="0" anchor="t"/>
          <a:lstStyle/>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forever</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spawn an enemy</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if score &gt;= 3 then</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pause (700) ms</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else</a:t>
            </a:r>
            <a:endParaRPr lang="en-US" sz="1800" dirty="0"/>
          </a:p>
          <a:p>
            <a:pPr indent="0" marL="0">
              <a:lnSpc>
                <a:spcPts val="2600"/>
              </a:lnSpc>
              <a:buNone/>
            </a:pPr>
            <a:r>
              <a:rPr lang="en-US" sz="1800" dirty="0">
                <a:solidFill>
                  <a:srgbClr val="7DF3C4"/>
                </a:solidFill>
                <a:latin typeface="Courier New" pitchFamily="34" charset="0"/>
                <a:ea typeface="Courier New" pitchFamily="34" charset="-122"/>
                <a:cs typeface="Courier New" pitchFamily="34" charset="-120"/>
              </a:rPr>
              <a:t>        pause (1500) ms</a:t>
            </a:r>
            <a:endParaRPr lang="en-US" sz="1800" dirty="0"/>
          </a:p>
        </p:txBody>
      </p:sp>
      <p:sp>
        <p:nvSpPr>
          <p:cNvPr id="11" name="Shape 9"/>
          <p:cNvSpPr/>
          <p:nvPr/>
        </p:nvSpPr>
        <p:spPr>
          <a:xfrm>
            <a:off x="6949440" y="1783080"/>
            <a:ext cx="4572000" cy="2834640"/>
          </a:xfrm>
          <a:prstGeom prst="roundRect">
            <a:avLst>
              <a:gd name="adj" fmla="val 1613"/>
            </a:avLst>
          </a:prstGeom>
          <a:solidFill>
            <a:srgbClr val="F4F6FA"/>
          </a:solidFill>
          <a:ln w="19050">
            <a:solidFill>
              <a:srgbClr val="8B5CF6"/>
            </a:solidFill>
            <a:prstDash val="solid"/>
          </a:ln>
          <a:effectLst>
            <a:outerShdw sx="100000" sy="100000" kx="0" ky="0" algn="bl" rotWithShape="0" blurRad="76200" dist="12700" dir="5400000">
              <a:srgbClr val="9AA4B2">
                <a:alpha val="18000"/>
              </a:srgbClr>
            </a:outerShdw>
          </a:effectLst>
        </p:spPr>
      </p:sp>
      <p:sp>
        <p:nvSpPr>
          <p:cNvPr id="12" name="Text 10"/>
          <p:cNvSpPr/>
          <p:nvPr/>
        </p:nvSpPr>
        <p:spPr>
          <a:xfrm>
            <a:off x="7178040" y="1965960"/>
            <a:ext cx="4114800" cy="2468880"/>
          </a:xfrm>
          <a:prstGeom prst="rect">
            <a:avLst/>
          </a:prstGeom>
          <a:noFill/>
          <a:ln/>
        </p:spPr>
        <p:txBody>
          <a:bodyPr wrap="square" lIns="0" tIns="0" rIns="0" bIns="0" rtlCol="0" anchor="ctr"/>
          <a:lstStyle/>
          <a:p>
            <a:pPr indent="0" marL="0">
              <a:lnSpc>
                <a:spcPts val="2400"/>
              </a:lnSpc>
              <a:buNone/>
            </a:pPr>
            <a:r>
              <a:rPr lang="en-US" sz="1800" b="1" dirty="0">
                <a:solidFill>
                  <a:srgbClr val="374151"/>
                </a:solidFill>
                <a:latin typeface="Calibri" pitchFamily="34" charset="0"/>
                <a:ea typeface="Calibri" pitchFamily="34" charset="-122"/>
                <a:cs typeface="Calibri" pitchFamily="34" charset="-120"/>
              </a:rPr>
              <a:t>Check before moving on</a:t>
            </a:r>
            <a:endParaRPr lang="en-US" sz="1800" dirty="0"/>
          </a:p>
          <a:p>
            <a:pPr indent="0" marL="0">
              <a:lnSpc>
                <a:spcPts val="2400"/>
              </a:lnSpc>
              <a:buNone/>
            </a:pPr>
            <a:r>
              <a:rPr lang="en-US" sz="1800" dirty="0">
                <a:solidFill>
                  <a:srgbClr val="374151"/>
                </a:solidFill>
                <a:latin typeface="Calibri" pitchFamily="34" charset="0"/>
                <a:ea typeface="Calibri" pitchFamily="34" charset="-122"/>
                <a:cs typeface="Calibri" pitchFamily="34" charset="-120"/>
              </a:rPr>
              <a:t>Enemies trickle in at first, then noticeably speed up once you have three coins.</a:t>
            </a:r>
            <a:endParaRPr lang="en-US" sz="1800" dirty="0"/>
          </a:p>
          <a:p>
            <a:pPr indent="0" marL="0">
              <a:lnSpc>
                <a:spcPts val="2400"/>
              </a:lnSpc>
              <a:buNone/>
            </a:pPr>
            <a:r>
              <a:rPr lang="en-US" sz="1800" dirty="0">
                <a:solidFill>
                  <a:srgbClr val="374151"/>
                </a:solidFill>
                <a:latin typeface="Calibri" pitchFamily="34" charset="0"/>
                <a:ea typeface="Calibri" pitchFamily="34" charset="-122"/>
                <a:cs typeface="Calibri" pitchFamily="34" charset="-120"/>
              </a:rPr>
              <a:t> </a:t>
            </a:r>
            <a:endParaRPr lang="en-US" sz="1800" dirty="0"/>
          </a:p>
          <a:p>
            <a:pPr indent="0" marL="0">
              <a:lnSpc>
                <a:spcPts val="2400"/>
              </a:lnSpc>
              <a:buNone/>
            </a:pPr>
            <a:r>
              <a:rPr lang="en-US" sz="1800" dirty="0">
                <a:solidFill>
                  <a:srgbClr val="374151"/>
                </a:solidFill>
                <a:latin typeface="Calibri" pitchFamily="34" charset="0"/>
                <a:ea typeface="Calibri" pitchFamily="34" charset="-122"/>
                <a:cs typeface="Calibri" pitchFamily="34" charset="-120"/>
              </a:rPr>
              <a:t>In your workbook: what is the loop repeating, and what is the conditional deciding?</a:t>
            </a:r>
            <a:endParaRPr lang="en-US" sz="1800" dirty="0"/>
          </a:p>
        </p:txBody>
      </p:sp>
      <p:sp>
        <p:nvSpPr>
          <p:cNvPr id="13" name="Shape 11"/>
          <p:cNvSpPr/>
          <p:nvPr/>
        </p:nvSpPr>
        <p:spPr>
          <a:xfrm>
            <a:off x="640080" y="4800600"/>
            <a:ext cx="10881360" cy="868680"/>
          </a:xfrm>
          <a:prstGeom prst="roundRect">
            <a:avLst>
              <a:gd name="adj" fmla="val 5263"/>
            </a:avLst>
          </a:prstGeom>
          <a:solidFill>
            <a:srgbClr val="F4F6FA"/>
          </a:solidFill>
          <a:ln w="19050">
            <a:solidFill>
              <a:srgbClr val="8B5CF6"/>
            </a:solidFill>
            <a:prstDash val="solid"/>
          </a:ln>
          <a:effectLst>
            <a:outerShdw sx="100000" sy="100000" kx="0" ky="0" algn="bl" rotWithShape="0" blurRad="76200" dist="12700" dir="5400000">
              <a:srgbClr val="9AA4B2">
                <a:alpha val="18000"/>
              </a:srgbClr>
            </a:outerShdw>
          </a:effectLst>
        </p:spPr>
      </p:sp>
      <p:sp>
        <p:nvSpPr>
          <p:cNvPr id="14" name="Text 12"/>
          <p:cNvSpPr/>
          <p:nvPr/>
        </p:nvSpPr>
        <p:spPr>
          <a:xfrm>
            <a:off x="914400" y="4800600"/>
            <a:ext cx="10332720" cy="868680"/>
          </a:xfrm>
          <a:prstGeom prst="rect">
            <a:avLst/>
          </a:prstGeom>
          <a:noFill/>
          <a:ln/>
        </p:spPr>
        <p:txBody>
          <a:bodyPr wrap="square" lIns="0" tIns="0" rIns="0" bIns="0" rtlCol="0" anchor="ctr"/>
          <a:lstStyle/>
          <a:p>
            <a:pPr indent="0" marL="0">
              <a:buNone/>
            </a:pPr>
            <a:r>
              <a:rPr lang="en-US" sz="1700" b="1" dirty="0">
                <a:solidFill>
                  <a:srgbClr val="374151"/>
                </a:solidFill>
                <a:latin typeface="Calibri" pitchFamily="34" charset="0"/>
                <a:ea typeface="Calibri" pitchFamily="34" charset="-122"/>
                <a:cs typeface="Calibri" pitchFamily="34" charset="-120"/>
              </a:rPr>
              <a:t>🟣 EXTENDING — design your own: only spawn while score &lt; 5  ·  a rare fast enemy at score &gt;= 4  ·  a bonus life at a score you choose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BRAIN BREAK</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Two Minutes — Screens Down</a:t>
            </a:r>
            <a:endParaRPr lang="en-US" sz="3200" dirty="0"/>
          </a:p>
        </p:txBody>
      </p:sp>
      <p:sp>
        <p:nvSpPr>
          <p:cNvPr id="4" name="Shape 2"/>
          <p:cNvSpPr/>
          <p:nvPr/>
        </p:nvSpPr>
        <p:spPr>
          <a:xfrm>
            <a:off x="9646920" y="384048"/>
            <a:ext cx="1874520" cy="402336"/>
          </a:xfrm>
          <a:prstGeom prst="roundRect">
            <a:avLst>
              <a:gd name="adj" fmla="val 18182"/>
            </a:avLst>
          </a:prstGeom>
          <a:solidFill>
            <a:srgbClr val="6B7280"/>
          </a:solidFill>
          <a:ln w="12700">
            <a:solidFill>
              <a:srgbClr val="6B7280"/>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RESET</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Shape 6"/>
          <p:cNvSpPr/>
          <p:nvPr/>
        </p:nvSpPr>
        <p:spPr>
          <a:xfrm>
            <a:off x="640080" y="1737360"/>
            <a:ext cx="10881360" cy="3108960"/>
          </a:xfrm>
          <a:prstGeom prst="roundRect">
            <a:avLst>
              <a:gd name="adj" fmla="val 1471"/>
            </a:avLst>
          </a:prstGeom>
          <a:solidFill>
            <a:srgbClr val="F4F6FA"/>
          </a:solidFill>
          <a:ln w="19050">
            <a:solidFill>
              <a:srgbClr val="4361EE"/>
            </a:solidFill>
            <a:prstDash val="solid"/>
          </a:ln>
          <a:effectLst>
            <a:outerShdw sx="100000" sy="100000" kx="0" ky="0" algn="bl" rotWithShape="0" blurRad="76200" dist="12700" dir="5400000">
              <a:srgbClr val="9AA4B2">
                <a:alpha val="18000"/>
              </a:srgbClr>
            </a:outerShdw>
          </a:effectLst>
        </p:spPr>
      </p:sp>
      <p:sp>
        <p:nvSpPr>
          <p:cNvPr id="9" name="Text 7"/>
          <p:cNvSpPr/>
          <p:nvPr/>
        </p:nvSpPr>
        <p:spPr>
          <a:xfrm>
            <a:off x="1005840" y="2011680"/>
            <a:ext cx="10149840" cy="640080"/>
          </a:xfrm>
          <a:prstGeom prst="rect">
            <a:avLst/>
          </a:prstGeom>
          <a:noFill/>
          <a:ln/>
        </p:spPr>
        <p:txBody>
          <a:bodyPr wrap="square" lIns="0" tIns="0" rIns="0" bIns="0" rtlCol="0" anchor="ctr"/>
          <a:lstStyle/>
          <a:p>
            <a:pPr indent="0" marL="0">
              <a:buNone/>
            </a:pPr>
            <a:r>
              <a:rPr lang="en-US" sz="3000" dirty="0">
                <a:solidFill>
                  <a:srgbClr val="111827"/>
                </a:solidFill>
                <a:latin typeface="Bookman Old Style" pitchFamily="34" charset="0"/>
                <a:ea typeface="Bookman Old Style" pitchFamily="34" charset="-122"/>
                <a:cs typeface="Bookman Old Style" pitchFamily="34" charset="-120"/>
              </a:rPr>
              <a:t>Stand up. Stretch.</a:t>
            </a:r>
            <a:endParaRPr lang="en-US" sz="3000" dirty="0"/>
          </a:p>
        </p:txBody>
      </p:sp>
      <p:sp>
        <p:nvSpPr>
          <p:cNvPr id="10" name="Text 8"/>
          <p:cNvSpPr/>
          <p:nvPr/>
        </p:nvSpPr>
        <p:spPr>
          <a:xfrm>
            <a:off x="1005840" y="2834640"/>
            <a:ext cx="10149840" cy="1737360"/>
          </a:xfrm>
          <a:prstGeom prst="rect">
            <a:avLst/>
          </a:prstGeom>
          <a:noFill/>
          <a:ln/>
        </p:spPr>
        <p:txBody>
          <a:bodyPr wrap="square" lIns="0" tIns="0" rIns="0" bIns="0" rtlCol="0" anchor="ctr"/>
          <a:lstStyle/>
          <a:p>
            <a:pPr indent="0" marL="0">
              <a:lnSpc>
                <a:spcPts val="3000"/>
              </a:lnSpc>
              <a:buNone/>
            </a:pPr>
            <a:r>
              <a:rPr lang="en-US" sz="2100" dirty="0">
                <a:solidFill>
                  <a:srgbClr val="374151"/>
                </a:solidFill>
                <a:latin typeface="Calibri" pitchFamily="34" charset="0"/>
                <a:ea typeface="Calibri" pitchFamily="34" charset="-122"/>
                <a:cs typeface="Calibri" pitchFamily="34" charset="-120"/>
              </a:rPr>
              <a:t>Then, sitting back down — one sentence to the person next to you:</a:t>
            </a:r>
            <a:endParaRPr lang="en-US" sz="2100" dirty="0"/>
          </a:p>
          <a:p>
            <a:pPr indent="0" marL="0">
              <a:lnSpc>
                <a:spcPts val="3000"/>
              </a:lnSpc>
              <a:buNone/>
            </a:pPr>
            <a:r>
              <a:rPr lang="en-US" sz="2100" dirty="0">
                <a:solidFill>
                  <a:srgbClr val="374151"/>
                </a:solidFill>
                <a:latin typeface="Calibri" pitchFamily="34" charset="0"/>
                <a:ea typeface="Calibri" pitchFamily="34" charset="-122"/>
                <a:cs typeface="Calibri" pitchFamily="34" charset="-120"/>
              </a:rPr>
              <a:t> </a:t>
            </a:r>
            <a:endParaRPr lang="en-US" sz="2100" dirty="0"/>
          </a:p>
          <a:p>
            <a:pPr indent="0" marL="0">
              <a:lnSpc>
                <a:spcPts val="3000"/>
              </a:lnSpc>
              <a:buNone/>
            </a:pPr>
            <a:r>
              <a:rPr lang="en-US" sz="2100" b="1" dirty="0">
                <a:solidFill>
                  <a:srgbClr val="374151"/>
                </a:solidFill>
                <a:latin typeface="Calibri" pitchFamily="34" charset="0"/>
                <a:ea typeface="Calibri" pitchFamily="34" charset="-122"/>
                <a:cs typeface="Calibri" pitchFamily="34" charset="-120"/>
              </a:rPr>
              <a:t>"The thing my game does now that it couldn't do at the start of the lesson is…"</a:t>
            </a:r>
            <a:endParaRPr lang="en-US" sz="2100" dirty="0"/>
          </a:p>
        </p:txBody>
      </p:sp>
      <p:sp>
        <p:nvSpPr>
          <p:cNvPr id="11" name="Text 9"/>
          <p:cNvSpPr/>
          <p:nvPr/>
        </p:nvSpPr>
        <p:spPr>
          <a:xfrm>
            <a:off x="640080" y="5120640"/>
            <a:ext cx="10881360" cy="457200"/>
          </a:xfrm>
          <a:prstGeom prst="rect">
            <a:avLst/>
          </a:prstGeom>
          <a:noFill/>
          <a:ln/>
        </p:spPr>
        <p:txBody>
          <a:bodyPr wrap="square" lIns="0" tIns="0" rIns="0" bIns="0" rtlCol="0" anchor="ctr"/>
          <a:lstStyle/>
          <a:p>
            <a:pPr indent="0" marL="0">
              <a:buNone/>
            </a:pPr>
            <a:r>
              <a:rPr lang="en-US" sz="1900" i="1" dirty="0">
                <a:solidFill>
                  <a:srgbClr val="6B7280"/>
                </a:solidFill>
                <a:latin typeface="Calibri" pitchFamily="34" charset="0"/>
                <a:ea typeface="Calibri" pitchFamily="34" charset="-122"/>
                <a:cs typeface="Calibri" pitchFamily="34" charset="-120"/>
              </a:rPr>
              <a:t>Back on task in 2 minutes — Step 6 is the last one.</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GUIDED BUILD  ·  STEP 6</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The Four-Step Debugging Method</a:t>
            </a:r>
            <a:endParaRPr lang="en-US" sz="3200" dirty="0"/>
          </a:p>
        </p:txBody>
      </p:sp>
      <p:sp>
        <p:nvSpPr>
          <p:cNvPr id="4" name="Shape 2"/>
          <p:cNvSpPr/>
          <p:nvPr/>
        </p:nvSpPr>
        <p:spPr>
          <a:xfrm>
            <a:off x="9646920" y="384048"/>
            <a:ext cx="1874520" cy="402336"/>
          </a:xfrm>
          <a:prstGeom prst="roundRect">
            <a:avLst>
              <a:gd name="adj" fmla="val 18182"/>
            </a:avLst>
          </a:prstGeom>
          <a:solidFill>
            <a:srgbClr val="EF4444"/>
          </a:solidFill>
          <a:ln w="12700">
            <a:solidFill>
              <a:srgbClr val="EF4444"/>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DEBUGGING</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Text 6"/>
          <p:cNvSpPr/>
          <p:nvPr/>
        </p:nvSpPr>
        <p:spPr>
          <a:xfrm>
            <a:off x="640080" y="1325880"/>
            <a:ext cx="10881360" cy="365760"/>
          </a:xfrm>
          <a:prstGeom prst="rect">
            <a:avLst/>
          </a:prstGeom>
          <a:noFill/>
          <a:ln/>
        </p:spPr>
        <p:txBody>
          <a:bodyPr wrap="square" lIns="0" tIns="0" rIns="0" bIns="0" rtlCol="0" anchor="ctr"/>
          <a:lstStyle/>
          <a:p>
            <a:pPr indent="0" marL="0">
              <a:buNone/>
            </a:pPr>
            <a:r>
              <a:rPr lang="en-US" sz="1900" dirty="0">
                <a:solidFill>
                  <a:srgbClr val="374151"/>
                </a:solidFill>
                <a:latin typeface="Calibri" pitchFamily="34" charset="0"/>
                <a:ea typeface="Calibri" pitchFamily="34" charset="-122"/>
                <a:cs typeface="Calibri" pitchFamily="34" charset="-120"/>
              </a:rPr>
              <a:t>Delete the pause blocks from your forever loop. Run it. Watch. Put them back. Then write it up properly.</a:t>
            </a:r>
            <a:endParaRPr lang="en-US" sz="1900" dirty="0"/>
          </a:p>
        </p:txBody>
      </p:sp>
      <p:sp>
        <p:nvSpPr>
          <p:cNvPr id="9" name="Shape 7"/>
          <p:cNvSpPr/>
          <p:nvPr/>
        </p:nvSpPr>
        <p:spPr>
          <a:xfrm>
            <a:off x="640080" y="1874520"/>
            <a:ext cx="10881360" cy="713232"/>
          </a:xfrm>
          <a:prstGeom prst="roundRect">
            <a:avLst>
              <a:gd name="adj" fmla="val 6410"/>
            </a:avLst>
          </a:prstGeom>
          <a:solidFill>
            <a:srgbClr val="F4F6FA"/>
          </a:solidFill>
          <a:ln w="19050">
            <a:solidFill>
              <a:srgbClr val="EF4444"/>
            </a:solidFill>
            <a:prstDash val="solid"/>
          </a:ln>
          <a:effectLst>
            <a:outerShdw sx="100000" sy="100000" kx="0" ky="0" algn="bl" rotWithShape="0" blurRad="76200" dist="12700" dir="5400000">
              <a:srgbClr val="9AA4B2">
                <a:alpha val="18000"/>
              </a:srgbClr>
            </a:outerShdw>
          </a:effectLst>
        </p:spPr>
      </p:sp>
      <p:sp>
        <p:nvSpPr>
          <p:cNvPr id="10" name="Shape 8"/>
          <p:cNvSpPr/>
          <p:nvPr/>
        </p:nvSpPr>
        <p:spPr>
          <a:xfrm>
            <a:off x="841248" y="2011680"/>
            <a:ext cx="438912" cy="438912"/>
          </a:xfrm>
          <a:prstGeom prst="ellipse">
            <a:avLst/>
          </a:prstGeom>
          <a:solidFill>
            <a:srgbClr val="EF4444"/>
          </a:solidFill>
          <a:ln w="12700">
            <a:solidFill>
              <a:srgbClr val="EF4444"/>
            </a:solidFill>
            <a:prstDash val="solid"/>
          </a:ln>
        </p:spPr>
      </p:sp>
      <p:sp>
        <p:nvSpPr>
          <p:cNvPr id="11" name="Text 9"/>
          <p:cNvSpPr/>
          <p:nvPr/>
        </p:nvSpPr>
        <p:spPr>
          <a:xfrm>
            <a:off x="841248" y="201168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2" name="Text 10"/>
          <p:cNvSpPr/>
          <p:nvPr/>
        </p:nvSpPr>
        <p:spPr>
          <a:xfrm>
            <a:off x="1463040" y="1874520"/>
            <a:ext cx="9784080" cy="713232"/>
          </a:xfrm>
          <a:prstGeom prst="rect">
            <a:avLst/>
          </a:prstGeom>
          <a:noFill/>
          <a:ln/>
        </p:spPr>
        <p:txBody>
          <a:bodyPr wrap="square" lIns="0" tIns="0" rIns="0" bIns="0" rtlCol="0" anchor="ctr"/>
          <a:lstStyle/>
          <a:p>
            <a:pPr indent="0" marL="0">
              <a:buNone/>
            </a:pPr>
            <a:r>
              <a:rPr lang="en-US" sz="2000" dirty="0">
                <a:solidFill>
                  <a:srgbClr val="374151"/>
                </a:solidFill>
                <a:latin typeface="Calibri" pitchFamily="34" charset="0"/>
                <a:ea typeface="Calibri" pitchFamily="34" charset="-122"/>
                <a:cs typeface="Calibri" pitchFamily="34" charset="-120"/>
              </a:rPr>
              <a:t>What did you expect to happen?</a:t>
            </a:r>
            <a:endParaRPr lang="en-US" sz="2000" dirty="0"/>
          </a:p>
        </p:txBody>
      </p:sp>
      <p:sp>
        <p:nvSpPr>
          <p:cNvPr id="13" name="Shape 11"/>
          <p:cNvSpPr/>
          <p:nvPr/>
        </p:nvSpPr>
        <p:spPr>
          <a:xfrm>
            <a:off x="640080" y="2743200"/>
            <a:ext cx="10881360" cy="713232"/>
          </a:xfrm>
          <a:prstGeom prst="roundRect">
            <a:avLst>
              <a:gd name="adj" fmla="val 6410"/>
            </a:avLst>
          </a:prstGeom>
          <a:solidFill>
            <a:srgbClr val="F4F6FA"/>
          </a:solidFill>
          <a:ln w="19050">
            <a:solidFill>
              <a:srgbClr val="EF4444"/>
            </a:solidFill>
            <a:prstDash val="solid"/>
          </a:ln>
          <a:effectLst>
            <a:outerShdw sx="100000" sy="100000" kx="0" ky="0" algn="bl" rotWithShape="0" blurRad="76200" dist="12700" dir="5400000">
              <a:srgbClr val="9AA4B2">
                <a:alpha val="18000"/>
              </a:srgbClr>
            </a:outerShdw>
          </a:effectLst>
        </p:spPr>
      </p:sp>
      <p:sp>
        <p:nvSpPr>
          <p:cNvPr id="14" name="Shape 12"/>
          <p:cNvSpPr/>
          <p:nvPr/>
        </p:nvSpPr>
        <p:spPr>
          <a:xfrm>
            <a:off x="841248" y="2880360"/>
            <a:ext cx="438912" cy="438912"/>
          </a:xfrm>
          <a:prstGeom prst="ellipse">
            <a:avLst/>
          </a:prstGeom>
          <a:solidFill>
            <a:srgbClr val="EF4444"/>
          </a:solidFill>
          <a:ln w="12700">
            <a:solidFill>
              <a:srgbClr val="EF4444"/>
            </a:solidFill>
            <a:prstDash val="solid"/>
          </a:ln>
        </p:spPr>
      </p:sp>
      <p:sp>
        <p:nvSpPr>
          <p:cNvPr id="15" name="Text 13"/>
          <p:cNvSpPr/>
          <p:nvPr/>
        </p:nvSpPr>
        <p:spPr>
          <a:xfrm>
            <a:off x="841248" y="28803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6" name="Text 14"/>
          <p:cNvSpPr/>
          <p:nvPr/>
        </p:nvSpPr>
        <p:spPr>
          <a:xfrm>
            <a:off x="1463040" y="2743200"/>
            <a:ext cx="9784080" cy="713232"/>
          </a:xfrm>
          <a:prstGeom prst="rect">
            <a:avLst/>
          </a:prstGeom>
          <a:noFill/>
          <a:ln/>
        </p:spPr>
        <p:txBody>
          <a:bodyPr wrap="square" lIns="0" tIns="0" rIns="0" bIns="0" rtlCol="0" anchor="ctr"/>
          <a:lstStyle/>
          <a:p>
            <a:pPr indent="0" marL="0">
              <a:buNone/>
            </a:pPr>
            <a:r>
              <a:rPr lang="en-US" sz="2000" dirty="0">
                <a:solidFill>
                  <a:srgbClr val="374151"/>
                </a:solidFill>
                <a:latin typeface="Calibri" pitchFamily="34" charset="0"/>
                <a:ea typeface="Calibri" pitchFamily="34" charset="-122"/>
                <a:cs typeface="Calibri" pitchFamily="34" charset="-120"/>
              </a:rPr>
              <a:t>What actually happened?</a:t>
            </a:r>
            <a:endParaRPr lang="en-US" sz="2000" dirty="0"/>
          </a:p>
        </p:txBody>
      </p:sp>
      <p:sp>
        <p:nvSpPr>
          <p:cNvPr id="17" name="Shape 15"/>
          <p:cNvSpPr/>
          <p:nvPr/>
        </p:nvSpPr>
        <p:spPr>
          <a:xfrm>
            <a:off x="640080" y="3611880"/>
            <a:ext cx="10881360" cy="713232"/>
          </a:xfrm>
          <a:prstGeom prst="roundRect">
            <a:avLst>
              <a:gd name="adj" fmla="val 6410"/>
            </a:avLst>
          </a:prstGeom>
          <a:solidFill>
            <a:srgbClr val="F4F6FA"/>
          </a:solidFill>
          <a:ln w="19050">
            <a:solidFill>
              <a:srgbClr val="EF4444"/>
            </a:solidFill>
            <a:prstDash val="solid"/>
          </a:ln>
          <a:effectLst>
            <a:outerShdw sx="100000" sy="100000" kx="0" ky="0" algn="bl" rotWithShape="0" blurRad="76200" dist="12700" dir="5400000">
              <a:srgbClr val="9AA4B2">
                <a:alpha val="18000"/>
              </a:srgbClr>
            </a:outerShdw>
          </a:effectLst>
        </p:spPr>
      </p:sp>
      <p:sp>
        <p:nvSpPr>
          <p:cNvPr id="18" name="Shape 16"/>
          <p:cNvSpPr/>
          <p:nvPr/>
        </p:nvSpPr>
        <p:spPr>
          <a:xfrm>
            <a:off x="841248" y="3749040"/>
            <a:ext cx="438912" cy="438912"/>
          </a:xfrm>
          <a:prstGeom prst="ellipse">
            <a:avLst/>
          </a:prstGeom>
          <a:solidFill>
            <a:srgbClr val="EF4444"/>
          </a:solidFill>
          <a:ln w="12700">
            <a:solidFill>
              <a:srgbClr val="EF4444"/>
            </a:solidFill>
            <a:prstDash val="solid"/>
          </a:ln>
        </p:spPr>
      </p:sp>
      <p:sp>
        <p:nvSpPr>
          <p:cNvPr id="19" name="Text 17"/>
          <p:cNvSpPr/>
          <p:nvPr/>
        </p:nvSpPr>
        <p:spPr>
          <a:xfrm>
            <a:off x="841248" y="374904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0" name="Text 18"/>
          <p:cNvSpPr/>
          <p:nvPr/>
        </p:nvSpPr>
        <p:spPr>
          <a:xfrm>
            <a:off x="1463040" y="3611880"/>
            <a:ext cx="9784080" cy="713232"/>
          </a:xfrm>
          <a:prstGeom prst="rect">
            <a:avLst/>
          </a:prstGeom>
          <a:noFill/>
          <a:ln/>
        </p:spPr>
        <p:txBody>
          <a:bodyPr wrap="square" lIns="0" tIns="0" rIns="0" bIns="0" rtlCol="0" anchor="ctr"/>
          <a:lstStyle/>
          <a:p>
            <a:pPr indent="0" marL="0">
              <a:buNone/>
            </a:pPr>
            <a:r>
              <a:rPr lang="en-US" sz="2000" dirty="0">
                <a:solidFill>
                  <a:srgbClr val="374151"/>
                </a:solidFill>
                <a:latin typeface="Calibri" pitchFamily="34" charset="0"/>
                <a:ea typeface="Calibri" pitchFamily="34" charset="-122"/>
                <a:cs typeface="Calibri" pitchFamily="34" charset="-120"/>
              </a:rPr>
              <a:t>Which block runs right before the problem shows up?</a:t>
            </a:r>
            <a:endParaRPr lang="en-US" sz="2000" dirty="0"/>
          </a:p>
        </p:txBody>
      </p:sp>
      <p:sp>
        <p:nvSpPr>
          <p:cNvPr id="21" name="Shape 19"/>
          <p:cNvSpPr/>
          <p:nvPr/>
        </p:nvSpPr>
        <p:spPr>
          <a:xfrm>
            <a:off x="640080" y="4480560"/>
            <a:ext cx="10881360" cy="713232"/>
          </a:xfrm>
          <a:prstGeom prst="roundRect">
            <a:avLst>
              <a:gd name="adj" fmla="val 6410"/>
            </a:avLst>
          </a:prstGeom>
          <a:solidFill>
            <a:srgbClr val="F4F6FA"/>
          </a:solidFill>
          <a:ln w="19050">
            <a:solidFill>
              <a:srgbClr val="EF4444"/>
            </a:solidFill>
            <a:prstDash val="solid"/>
          </a:ln>
          <a:effectLst>
            <a:outerShdw sx="100000" sy="100000" kx="0" ky="0" algn="bl" rotWithShape="0" blurRad="76200" dist="12700" dir="5400000">
              <a:srgbClr val="9AA4B2">
                <a:alpha val="18000"/>
              </a:srgbClr>
            </a:outerShdw>
          </a:effectLst>
        </p:spPr>
      </p:sp>
      <p:sp>
        <p:nvSpPr>
          <p:cNvPr id="22" name="Shape 20"/>
          <p:cNvSpPr/>
          <p:nvPr/>
        </p:nvSpPr>
        <p:spPr>
          <a:xfrm>
            <a:off x="841248" y="4617720"/>
            <a:ext cx="438912" cy="438912"/>
          </a:xfrm>
          <a:prstGeom prst="ellipse">
            <a:avLst/>
          </a:prstGeom>
          <a:solidFill>
            <a:srgbClr val="EF4444"/>
          </a:solidFill>
          <a:ln w="12700">
            <a:solidFill>
              <a:srgbClr val="EF4444"/>
            </a:solidFill>
            <a:prstDash val="solid"/>
          </a:ln>
        </p:spPr>
      </p:sp>
      <p:sp>
        <p:nvSpPr>
          <p:cNvPr id="23" name="Text 21"/>
          <p:cNvSpPr/>
          <p:nvPr/>
        </p:nvSpPr>
        <p:spPr>
          <a:xfrm>
            <a:off x="841248" y="461772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4" name="Text 22"/>
          <p:cNvSpPr/>
          <p:nvPr/>
        </p:nvSpPr>
        <p:spPr>
          <a:xfrm>
            <a:off x="1463040" y="4480560"/>
            <a:ext cx="9784080" cy="713232"/>
          </a:xfrm>
          <a:prstGeom prst="rect">
            <a:avLst/>
          </a:prstGeom>
          <a:noFill/>
          <a:ln/>
        </p:spPr>
        <p:txBody>
          <a:bodyPr wrap="square" lIns="0" tIns="0" rIns="0" bIns="0" rtlCol="0" anchor="ctr"/>
          <a:lstStyle/>
          <a:p>
            <a:pPr indent="0" marL="0">
              <a:buNone/>
            </a:pPr>
            <a:r>
              <a:rPr lang="en-US" sz="2000" dirty="0">
                <a:solidFill>
                  <a:srgbClr val="374151"/>
                </a:solidFill>
                <a:latin typeface="Calibri" pitchFamily="34" charset="0"/>
                <a:ea typeface="Calibri" pitchFamily="34" charset="-122"/>
                <a:cs typeface="Calibri" pitchFamily="34" charset="-120"/>
              </a:rPr>
              <a:t>Test one change at a time.</a:t>
            </a:r>
            <a:endParaRPr lang="en-US" sz="2000" dirty="0"/>
          </a:p>
        </p:txBody>
      </p:sp>
      <p:sp>
        <p:nvSpPr>
          <p:cNvPr id="25" name="Shape 23"/>
          <p:cNvSpPr/>
          <p:nvPr/>
        </p:nvSpPr>
        <p:spPr>
          <a:xfrm>
            <a:off x="640080" y="5797296"/>
            <a:ext cx="10881360" cy="384048"/>
          </a:xfrm>
          <a:prstGeom prst="roundRect">
            <a:avLst>
              <a:gd name="adj" fmla="val 11905"/>
            </a:avLst>
          </a:prstGeom>
          <a:solidFill>
            <a:srgbClr val="FEF6E7"/>
          </a:solidFill>
          <a:ln w="12700">
            <a:solidFill>
              <a:srgbClr val="F59E0B"/>
            </a:solidFill>
            <a:prstDash val="solid"/>
          </a:ln>
        </p:spPr>
      </p:sp>
      <p:sp>
        <p:nvSpPr>
          <p:cNvPr id="26" name="Text 24"/>
          <p:cNvSpPr/>
          <p:nvPr/>
        </p:nvSpPr>
        <p:spPr>
          <a:xfrm>
            <a:off x="841248" y="5797296"/>
            <a:ext cx="10515600" cy="384048"/>
          </a:xfrm>
          <a:prstGeom prst="rect">
            <a:avLst/>
          </a:prstGeom>
          <a:noFill/>
          <a:ln/>
        </p:spPr>
        <p:txBody>
          <a:bodyPr wrap="square" lIns="0" tIns="0" rIns="0" bIns="0" rtlCol="0" anchor="ctr"/>
          <a:lstStyle/>
          <a:p>
            <a:pPr indent="0" marL="0">
              <a:buNone/>
            </a:pPr>
            <a:r>
              <a:rPr lang="en-US" sz="1600" b="1" dirty="0">
                <a:solidFill>
                  <a:srgbClr val="8A5A05"/>
                </a:solidFill>
                <a:latin typeface="Calibri" pitchFamily="34" charset="0"/>
                <a:ea typeface="Calibri" pitchFamily="34" charset="-122"/>
                <a:cs typeface="Calibri" pitchFamily="34" charset="-120"/>
              </a:rPr>
              <a:t>COPY  ·  All four steps — this is the format your CAT documentation uses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RESPONSIVE TEACHING</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Bug Hunt — Three Broken Games</a:t>
            </a:r>
            <a:endParaRPr lang="en-US" sz="3200" dirty="0"/>
          </a:p>
        </p:txBody>
      </p:sp>
      <p:sp>
        <p:nvSpPr>
          <p:cNvPr id="4" name="Shape 2"/>
          <p:cNvSpPr/>
          <p:nvPr/>
        </p:nvSpPr>
        <p:spPr>
          <a:xfrm>
            <a:off x="9646920" y="384048"/>
            <a:ext cx="1874520" cy="402336"/>
          </a:xfrm>
          <a:prstGeom prst="roundRect">
            <a:avLst>
              <a:gd name="adj" fmla="val 18182"/>
            </a:avLst>
          </a:prstGeom>
          <a:solidFill>
            <a:srgbClr val="8B5CF6"/>
          </a:solidFill>
          <a:ln w="12700">
            <a:solidFill>
              <a:srgbClr val="8B5CF6"/>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CHECK</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Text 6"/>
          <p:cNvSpPr/>
          <p:nvPr/>
        </p:nvSpPr>
        <p:spPr>
          <a:xfrm>
            <a:off x="640080" y="1325880"/>
            <a:ext cx="10881360" cy="365760"/>
          </a:xfrm>
          <a:prstGeom prst="rect">
            <a:avLst/>
          </a:prstGeom>
          <a:noFill/>
          <a:ln/>
        </p:spPr>
        <p:txBody>
          <a:bodyPr wrap="square" lIns="0" tIns="0" rIns="0" bIns="0" rtlCol="0" anchor="ctr"/>
          <a:lstStyle/>
          <a:p>
            <a:pPr indent="0" marL="0">
              <a:buNone/>
            </a:pPr>
            <a:r>
              <a:rPr lang="en-US" sz="1900" dirty="0">
                <a:solidFill>
                  <a:srgbClr val="374151"/>
                </a:solidFill>
                <a:latin typeface="Calibri" pitchFamily="34" charset="0"/>
                <a:ea typeface="Calibri" pitchFamily="34" charset="-122"/>
                <a:cs typeface="Calibri" pitchFamily="34" charset="-120"/>
              </a:rPr>
              <a:t>None of these shows an error message. Each one quietly does the wrong thing. Name the single block at fault.</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914400"/>
        </p:xfrm>
        <a:graphic>
          <a:graphicData uri="http://schemas.openxmlformats.org/drawingml/2006/table">
            <a:tbl>
              <a:tblPr/>
              <a:tblGrid>
                <a:gridCol w="640080"/>
                <a:gridCol w="4846320"/>
                <a:gridCol w="5394960"/>
              </a:tblGrid>
              <a:tr h="777240">
                <a:tc>
                  <a:txBody>
                    <a:bodyPr/>
                    <a:lstStyle/>
                    <a:p>
                      <a:pPr indent="0" marL="0">
                        <a:buNone/>
                      </a:pP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b="1" dirty="0">
                          <a:solidFill>
                            <a:srgbClr val="374151"/>
                          </a:solidFill>
                          <a:latin typeface="Calibri" pitchFamily="34" charset="0"/>
                          <a:ea typeface="Calibri" pitchFamily="34" charset="-122"/>
                          <a:cs typeface="Calibri" pitchFamily="34" charset="-120"/>
                        </a:rPr>
                        <a:t>What the code says</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b="1" dirty="0">
                          <a:solidFill>
                            <a:srgbClr val="374151"/>
                          </a:solidFill>
                          <a:latin typeface="Calibri" pitchFamily="34" charset="0"/>
                          <a:ea typeface="Calibri" pitchFamily="34" charset="-122"/>
                          <a:cs typeface="Calibri" pitchFamily="34" charset="-120"/>
                        </a:rPr>
                        <a:t>What the player reports</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777240">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A</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on overlap  →  set score to 1</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"My score is stuck on 1 however many coins I get."</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777240">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B</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forever  →  create enemy</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"The game freezes the second I press start."</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r h="777240">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C</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if score &gt; 5 then game over WIN</a:t>
                      </a:r>
                      <a:endParaRPr lang="en-US" sz="1800" dirty="0">
                        <a:latin typeface="Calibri" charset="0"/>
                        <a:ea typeface="Calibri" charset="0"/>
                        <a:cs typeface="Calibri" charset="0"/>
                      </a:endParaRPr>
                    </a:p>
                    <a:p>
                      <a:pPr indent="0" marL="0">
                        <a:buNone/>
                      </a:pPr>
                      <a:r>
                        <a:rPr lang="en-US" sz="1800" dirty="0">
                          <a:solidFill>
                            <a:srgbClr val="374151"/>
                          </a:solidFill>
                          <a:latin typeface="Calibri" pitchFamily="34" charset="0"/>
                          <a:ea typeface="Calibri" pitchFamily="34" charset="-122"/>
                          <a:cs typeface="Calibri" pitchFamily="34" charset="-120"/>
                        </a:rPr>
                        <a:t>(there are only 5 coins)</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800" dirty="0">
                          <a:solidFill>
                            <a:srgbClr val="374151"/>
                          </a:solidFill>
                          <a:latin typeface="Calibri" pitchFamily="34" charset="0"/>
                          <a:ea typeface="Calibri" pitchFamily="34" charset="-122"/>
                          <a:cs typeface="Calibri" pitchFamily="34" charset="-120"/>
                        </a:rPr>
                        <a:t>"I collected everything and never won."</a:t>
                      </a:r>
                      <a:endParaRPr lang="en-US" sz="1800" dirty="0">
                        <a:latin typeface="Calibri" charset="0"/>
                        <a:ea typeface="Calibri" charset="0"/>
                        <a:cs typeface="Calibri" charset="0"/>
                      </a:endParaRPr>
                    </a:p>
                  </a:txBody>
                  <a:tcPr marL="91440" marR="91440" marT="45720" marB="45720" anchor="ctr">
                    <a:lnL w="12700" cap="flat" cmpd="sng" algn="ctr">
                      <a:solidFill>
                        <a:srgbClr val="D9DEE7"/>
                      </a:solidFill>
                      <a:prstDash val="solid"/>
                      <a:round/>
                      <a:headEnd type="none" w="med" len="med"/>
                      <a:tailEnd type="none" w="med" len="med"/>
                    </a:lnL>
                    <a:lnR w="12700" cap="flat" cmpd="sng" algn="ctr">
                      <a:solidFill>
                        <a:srgbClr val="D9DEE7"/>
                      </a:solidFill>
                      <a:prstDash val="solid"/>
                      <a:round/>
                      <a:headEnd type="none" w="med" len="med"/>
                      <a:tailEnd type="none" w="med" len="med"/>
                    </a:lnR>
                    <a:lnT w="12700" cap="flat" cmpd="sng" algn="ctr">
                      <a:solidFill>
                        <a:srgbClr val="D9DEE7"/>
                      </a:solidFill>
                      <a:prstDash val="solid"/>
                      <a:round/>
                      <a:headEnd type="none" w="med" len="med"/>
                      <a:tailEnd type="none" w="med" len="med"/>
                    </a:lnT>
                    <a:lnB w="12700" cap="flat" cmpd="sng" algn="ctr">
                      <a:solidFill>
                        <a:srgbClr val="D9DEE7"/>
                      </a:solidFill>
                      <a:prstDash val="solid"/>
                      <a:round/>
                      <a:headEnd type="none" w="med" len="med"/>
                      <a:tailEnd type="none" w="med" len="med"/>
                    </a:lnB>
                    <a:solidFill>
                      <a:srgbClr val="FFFFFF"/>
                    </a:solidFill>
                  </a:tcPr>
                </a:tc>
              </a:tr>
            </a:tbl>
          </a:graphicData>
        </a:graphic>
      </p:graphicFrame>
      <p:sp>
        <p:nvSpPr>
          <p:cNvPr id="10" name="Text 7"/>
          <p:cNvSpPr/>
          <p:nvPr/>
        </p:nvSpPr>
        <p:spPr>
          <a:xfrm>
            <a:off x="640080" y="5029200"/>
            <a:ext cx="10881360" cy="457200"/>
          </a:xfrm>
          <a:prstGeom prst="rect">
            <a:avLst/>
          </a:prstGeom>
          <a:noFill/>
          <a:ln/>
        </p:spPr>
        <p:txBody>
          <a:bodyPr wrap="square" lIns="0" tIns="0" rIns="0" bIns="0" rtlCol="0" anchor="ctr"/>
          <a:lstStyle/>
          <a:p>
            <a:pPr indent="0" marL="0">
              <a:buNone/>
            </a:pPr>
            <a:r>
              <a:rPr lang="en-US" sz="1800" b="1" dirty="0">
                <a:solidFill>
                  <a:srgbClr val="4361EE"/>
                </a:solidFill>
                <a:latin typeface="Calibri" pitchFamily="34" charset="0"/>
                <a:ea typeface="Calibri" pitchFamily="34" charset="-122"/>
                <a:cs typeface="Calibri" pitchFamily="34" charset="-120"/>
              </a:rPr>
              <a:t>➜  Open your workbook — Section 5. Choose the faulty block, then check your answers.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APPLICATION OF LEARNING</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Choose Your Challenge</a:t>
            </a:r>
            <a:endParaRPr lang="en-US" sz="3200" dirty="0"/>
          </a:p>
        </p:txBody>
      </p:sp>
      <p:sp>
        <p:nvSpPr>
          <p:cNvPr id="4" name="Shape 2"/>
          <p:cNvSpPr/>
          <p:nvPr/>
        </p:nvSpPr>
        <p:spPr>
          <a:xfrm>
            <a:off x="9646920" y="384048"/>
            <a:ext cx="1874520" cy="402336"/>
          </a:xfrm>
          <a:prstGeom prst="roundRect">
            <a:avLst>
              <a:gd name="adj" fmla="val 18182"/>
            </a:avLst>
          </a:prstGeom>
          <a:solidFill>
            <a:srgbClr val="10B981"/>
          </a:solidFill>
          <a:ln w="12700">
            <a:solidFill>
              <a:srgbClr val="10B981"/>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TASK</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Text 6"/>
          <p:cNvSpPr/>
          <p:nvPr/>
        </p:nvSpPr>
        <p:spPr>
          <a:xfrm>
            <a:off x="640080" y="1325880"/>
            <a:ext cx="10881360" cy="365760"/>
          </a:xfrm>
          <a:prstGeom prst="rect">
            <a:avLst/>
          </a:prstGeom>
          <a:noFill/>
          <a:ln/>
        </p:spPr>
        <p:txBody>
          <a:bodyPr wrap="square" lIns="0" tIns="0" rIns="0" bIns="0" rtlCol="0" anchor="ctr"/>
          <a:lstStyle/>
          <a:p>
            <a:pPr indent="0" marL="0">
              <a:buNone/>
            </a:pPr>
            <a:r>
              <a:rPr lang="en-US" sz="1900" dirty="0">
                <a:solidFill>
                  <a:srgbClr val="374151"/>
                </a:solidFill>
                <a:latin typeface="Calibri" pitchFamily="34" charset="0"/>
                <a:ea typeface="Calibri" pitchFamily="34" charset="-122"/>
                <a:cs typeface="Calibri" pitchFamily="34" charset="-120"/>
              </a:rPr>
              <a:t>Finished the six steps? Pick one — you may do more than one.</a:t>
            </a:r>
            <a:endParaRPr lang="en-US" sz="1900" dirty="0"/>
          </a:p>
        </p:txBody>
      </p:sp>
      <p:sp>
        <p:nvSpPr>
          <p:cNvPr id="9" name="Shape 7"/>
          <p:cNvSpPr/>
          <p:nvPr/>
        </p:nvSpPr>
        <p:spPr>
          <a:xfrm>
            <a:off x="640080" y="1828800"/>
            <a:ext cx="3383280" cy="2926080"/>
          </a:xfrm>
          <a:prstGeom prst="roundRect">
            <a:avLst>
              <a:gd name="adj" fmla="val 1563"/>
            </a:avLst>
          </a:prstGeom>
          <a:solidFill>
            <a:srgbClr val="F4F6FA"/>
          </a:solidFill>
          <a:ln w="19050">
            <a:solidFill>
              <a:srgbClr val="10B981"/>
            </a:solidFill>
            <a:prstDash val="solid"/>
          </a:ln>
          <a:effectLst>
            <a:outerShdw sx="100000" sy="100000" kx="0" ky="0" algn="bl" rotWithShape="0" blurRad="76200" dist="12700" dir="5400000">
              <a:srgbClr val="9AA4B2">
                <a:alpha val="18000"/>
              </a:srgbClr>
            </a:outerShdw>
          </a:effectLst>
        </p:spPr>
      </p:sp>
      <p:sp>
        <p:nvSpPr>
          <p:cNvPr id="10" name="Text 8"/>
          <p:cNvSpPr/>
          <p:nvPr/>
        </p:nvSpPr>
        <p:spPr>
          <a:xfrm>
            <a:off x="868680" y="2011680"/>
            <a:ext cx="2926080" cy="365760"/>
          </a:xfrm>
          <a:prstGeom prst="rect">
            <a:avLst/>
          </a:prstGeom>
          <a:noFill/>
          <a:ln/>
        </p:spPr>
        <p:txBody>
          <a:bodyPr wrap="square" lIns="0" tIns="0" rIns="0" bIns="0" rtlCol="0" anchor="ctr"/>
          <a:lstStyle/>
          <a:p>
            <a:pPr indent="0" marL="0">
              <a:buNone/>
            </a:pPr>
            <a:r>
              <a:rPr lang="en-US" sz="1700" b="1" dirty="0">
                <a:solidFill>
                  <a:srgbClr val="10B981"/>
                </a:solidFill>
                <a:latin typeface="Calibri" pitchFamily="34" charset="0"/>
                <a:ea typeface="Calibri" pitchFamily="34" charset="-122"/>
                <a:cs typeface="Calibri" pitchFamily="34" charset="-120"/>
              </a:rPr>
              <a:t>🟢 Foundation</a:t>
            </a:r>
            <a:endParaRPr lang="en-US" sz="1700" dirty="0"/>
          </a:p>
        </p:txBody>
      </p:sp>
      <p:sp>
        <p:nvSpPr>
          <p:cNvPr id="11" name="Text 9"/>
          <p:cNvSpPr/>
          <p:nvPr/>
        </p:nvSpPr>
        <p:spPr>
          <a:xfrm>
            <a:off x="868680" y="2450592"/>
            <a:ext cx="2926080" cy="1371600"/>
          </a:xfrm>
          <a:prstGeom prst="rect">
            <a:avLst/>
          </a:prstGeom>
          <a:noFill/>
          <a:ln/>
        </p:spPr>
        <p:txBody>
          <a:bodyPr wrap="square" lIns="0" tIns="0" rIns="0" bIns="0" rtlCol="0" anchor="ctr"/>
          <a:lstStyle/>
          <a:p>
            <a:pPr indent="0" marL="0">
              <a:lnSpc>
                <a:spcPts val="2300"/>
              </a:lnSpc>
              <a:buNone/>
            </a:pPr>
            <a:r>
              <a:rPr lang="en-US" sz="1800" dirty="0">
                <a:solidFill>
                  <a:srgbClr val="374151"/>
                </a:solidFill>
                <a:latin typeface="Calibri" pitchFamily="34" charset="0"/>
                <a:ea typeface="Calibri" pitchFamily="34" charset="-122"/>
                <a:cs typeface="Calibri" pitchFamily="34" charset="-120"/>
              </a:rPr>
              <a:t>Add a second enemy type using the same spawn loop.</a:t>
            </a:r>
            <a:endParaRPr lang="en-US" sz="1800" dirty="0"/>
          </a:p>
        </p:txBody>
      </p:sp>
      <p:sp>
        <p:nvSpPr>
          <p:cNvPr id="12" name="Text 10"/>
          <p:cNvSpPr/>
          <p:nvPr/>
        </p:nvSpPr>
        <p:spPr>
          <a:xfrm>
            <a:off x="868680" y="3886200"/>
            <a:ext cx="2926080" cy="731520"/>
          </a:xfrm>
          <a:prstGeom prst="rect">
            <a:avLst/>
          </a:prstGeom>
          <a:noFill/>
          <a:ln/>
        </p:spPr>
        <p:txBody>
          <a:bodyPr wrap="square" lIns="0" tIns="0" rIns="0" bIns="0" rtlCol="0" anchor="ctr"/>
          <a:lstStyle/>
          <a:p>
            <a:pPr indent="0" marL="0">
              <a:lnSpc>
                <a:spcPts val="2000"/>
              </a:lnSpc>
              <a:buNone/>
            </a:pPr>
            <a:r>
              <a:rPr lang="en-US" sz="1600" i="1" dirty="0">
                <a:solidFill>
                  <a:srgbClr val="6B7280"/>
                </a:solidFill>
                <a:latin typeface="Calibri" pitchFamily="34" charset="0"/>
                <a:ea typeface="Calibri" pitchFamily="34" charset="-122"/>
                <a:cs typeface="Calibri" pitchFamily="34" charset="-120"/>
              </a:rPr>
              <a:t>Does the loop itself need to change?</a:t>
            </a:r>
            <a:endParaRPr lang="en-US" sz="1600" dirty="0"/>
          </a:p>
        </p:txBody>
      </p:sp>
      <p:sp>
        <p:nvSpPr>
          <p:cNvPr id="13" name="Shape 11"/>
          <p:cNvSpPr/>
          <p:nvPr/>
        </p:nvSpPr>
        <p:spPr>
          <a:xfrm>
            <a:off x="4297680" y="1828800"/>
            <a:ext cx="3383280" cy="2926080"/>
          </a:xfrm>
          <a:prstGeom prst="roundRect">
            <a:avLst>
              <a:gd name="adj" fmla="val 1563"/>
            </a:avLst>
          </a:prstGeom>
          <a:solidFill>
            <a:srgbClr val="F4F6FA"/>
          </a:solidFill>
          <a:ln w="19050">
            <a:solidFill>
              <a:srgbClr val="F59E0B"/>
            </a:solidFill>
            <a:prstDash val="solid"/>
          </a:ln>
          <a:effectLst>
            <a:outerShdw sx="100000" sy="100000" kx="0" ky="0" algn="bl" rotWithShape="0" blurRad="76200" dist="12700" dir="5400000">
              <a:srgbClr val="9AA4B2">
                <a:alpha val="18000"/>
              </a:srgbClr>
            </a:outerShdw>
          </a:effectLst>
        </p:spPr>
      </p:sp>
      <p:sp>
        <p:nvSpPr>
          <p:cNvPr id="14" name="Text 12"/>
          <p:cNvSpPr/>
          <p:nvPr/>
        </p:nvSpPr>
        <p:spPr>
          <a:xfrm>
            <a:off x="4526280" y="2011680"/>
            <a:ext cx="2926080" cy="365760"/>
          </a:xfrm>
          <a:prstGeom prst="rect">
            <a:avLst/>
          </a:prstGeom>
          <a:noFill/>
          <a:ln/>
        </p:spPr>
        <p:txBody>
          <a:bodyPr wrap="square" lIns="0" tIns="0" rIns="0" bIns="0" rtlCol="0" anchor="ctr"/>
          <a:lstStyle/>
          <a:p>
            <a:pPr indent="0" marL="0">
              <a:buNone/>
            </a:pPr>
            <a:r>
              <a:rPr lang="en-US" sz="1700" b="1" dirty="0">
                <a:solidFill>
                  <a:srgbClr val="F59E0B"/>
                </a:solidFill>
                <a:latin typeface="Calibri" pitchFamily="34" charset="0"/>
                <a:ea typeface="Calibri" pitchFamily="34" charset="-122"/>
                <a:cs typeface="Calibri" pitchFamily="34" charset="-120"/>
              </a:rPr>
              <a:t>🟡 Developing</a:t>
            </a:r>
            <a:endParaRPr lang="en-US" sz="1700" dirty="0"/>
          </a:p>
        </p:txBody>
      </p:sp>
      <p:sp>
        <p:nvSpPr>
          <p:cNvPr id="15" name="Text 13"/>
          <p:cNvSpPr/>
          <p:nvPr/>
        </p:nvSpPr>
        <p:spPr>
          <a:xfrm>
            <a:off x="4526280" y="2450592"/>
            <a:ext cx="2926080" cy="1371600"/>
          </a:xfrm>
          <a:prstGeom prst="rect">
            <a:avLst/>
          </a:prstGeom>
          <a:noFill/>
          <a:ln/>
        </p:spPr>
        <p:txBody>
          <a:bodyPr wrap="square" lIns="0" tIns="0" rIns="0" bIns="0" rtlCol="0" anchor="ctr"/>
          <a:lstStyle/>
          <a:p>
            <a:pPr indent="0" marL="0">
              <a:lnSpc>
                <a:spcPts val="2300"/>
              </a:lnSpc>
              <a:buNone/>
            </a:pPr>
            <a:r>
              <a:rPr lang="en-US" sz="1800" dirty="0">
                <a:solidFill>
                  <a:srgbClr val="374151"/>
                </a:solidFill>
                <a:latin typeface="Calibri" pitchFamily="34" charset="0"/>
                <a:ea typeface="Calibri" pitchFamily="34" charset="-122"/>
                <a:cs typeface="Calibri" pitchFamily="34" charset="-120"/>
              </a:rPr>
              <a:t>Give a bonus life when the score reaches a number you choose.</a:t>
            </a:r>
            <a:endParaRPr lang="en-US" sz="1800" dirty="0"/>
          </a:p>
        </p:txBody>
      </p:sp>
      <p:sp>
        <p:nvSpPr>
          <p:cNvPr id="16" name="Text 14"/>
          <p:cNvSpPr/>
          <p:nvPr/>
        </p:nvSpPr>
        <p:spPr>
          <a:xfrm>
            <a:off x="4526280" y="3886200"/>
            <a:ext cx="2926080" cy="731520"/>
          </a:xfrm>
          <a:prstGeom prst="rect">
            <a:avLst/>
          </a:prstGeom>
          <a:noFill/>
          <a:ln/>
        </p:spPr>
        <p:txBody>
          <a:bodyPr wrap="square" lIns="0" tIns="0" rIns="0" bIns="0" rtlCol="0" anchor="ctr"/>
          <a:lstStyle/>
          <a:p>
            <a:pPr indent="0" marL="0">
              <a:lnSpc>
                <a:spcPts val="2000"/>
              </a:lnSpc>
              <a:buNone/>
            </a:pPr>
            <a:r>
              <a:rPr lang="en-US" sz="1600" i="1" dirty="0">
                <a:solidFill>
                  <a:srgbClr val="6B7280"/>
                </a:solidFill>
                <a:latin typeface="Calibri" pitchFamily="34" charset="0"/>
                <a:ea typeface="Calibri" pitchFamily="34" charset="-122"/>
                <a:cs typeface="Calibri" pitchFamily="34" charset="-120"/>
              </a:rPr>
              <a:t>Where does that condition belong?</a:t>
            </a:r>
            <a:endParaRPr lang="en-US" sz="1600" dirty="0"/>
          </a:p>
        </p:txBody>
      </p:sp>
      <p:sp>
        <p:nvSpPr>
          <p:cNvPr id="17" name="Shape 15"/>
          <p:cNvSpPr/>
          <p:nvPr/>
        </p:nvSpPr>
        <p:spPr>
          <a:xfrm>
            <a:off x="7955280" y="1828800"/>
            <a:ext cx="3383280" cy="2926080"/>
          </a:xfrm>
          <a:prstGeom prst="roundRect">
            <a:avLst>
              <a:gd name="adj" fmla="val 1563"/>
            </a:avLst>
          </a:prstGeom>
          <a:solidFill>
            <a:srgbClr val="F4F6FA"/>
          </a:solidFill>
          <a:ln w="19050">
            <a:solidFill>
              <a:srgbClr val="8B5CF6"/>
            </a:solidFill>
            <a:prstDash val="solid"/>
          </a:ln>
          <a:effectLst>
            <a:outerShdw sx="100000" sy="100000" kx="0" ky="0" algn="bl" rotWithShape="0" blurRad="76200" dist="12700" dir="5400000">
              <a:srgbClr val="9AA4B2">
                <a:alpha val="18000"/>
              </a:srgbClr>
            </a:outerShdw>
          </a:effectLst>
        </p:spPr>
      </p:sp>
      <p:sp>
        <p:nvSpPr>
          <p:cNvPr id="18" name="Text 16"/>
          <p:cNvSpPr/>
          <p:nvPr/>
        </p:nvSpPr>
        <p:spPr>
          <a:xfrm>
            <a:off x="8183880" y="2011680"/>
            <a:ext cx="2926080" cy="365760"/>
          </a:xfrm>
          <a:prstGeom prst="rect">
            <a:avLst/>
          </a:prstGeom>
          <a:noFill/>
          <a:ln/>
        </p:spPr>
        <p:txBody>
          <a:bodyPr wrap="square" lIns="0" tIns="0" rIns="0" bIns="0" rtlCol="0" anchor="ctr"/>
          <a:lstStyle/>
          <a:p>
            <a:pPr indent="0" marL="0">
              <a:buNone/>
            </a:pPr>
            <a:r>
              <a:rPr lang="en-US" sz="1700" b="1" dirty="0">
                <a:solidFill>
                  <a:srgbClr val="8B5CF6"/>
                </a:solidFill>
                <a:latin typeface="Calibri" pitchFamily="34" charset="0"/>
                <a:ea typeface="Calibri" pitchFamily="34" charset="-122"/>
                <a:cs typeface="Calibri" pitchFamily="34" charset="-120"/>
              </a:rPr>
              <a:t>🟣 Extending</a:t>
            </a:r>
            <a:endParaRPr lang="en-US" sz="1700" dirty="0"/>
          </a:p>
        </p:txBody>
      </p:sp>
      <p:sp>
        <p:nvSpPr>
          <p:cNvPr id="19" name="Text 17"/>
          <p:cNvSpPr/>
          <p:nvPr/>
        </p:nvSpPr>
        <p:spPr>
          <a:xfrm>
            <a:off x="8183880" y="2450592"/>
            <a:ext cx="2926080" cy="1371600"/>
          </a:xfrm>
          <a:prstGeom prst="rect">
            <a:avLst/>
          </a:prstGeom>
          <a:noFill/>
          <a:ln/>
        </p:spPr>
        <p:txBody>
          <a:bodyPr wrap="square" lIns="0" tIns="0" rIns="0" bIns="0" rtlCol="0" anchor="ctr"/>
          <a:lstStyle/>
          <a:p>
            <a:pPr indent="0" marL="0">
              <a:lnSpc>
                <a:spcPts val="2300"/>
              </a:lnSpc>
              <a:buNone/>
            </a:pPr>
            <a:r>
              <a:rPr lang="en-US" sz="1800" dirty="0">
                <a:solidFill>
                  <a:srgbClr val="374151"/>
                </a:solidFill>
                <a:latin typeface="Calibri" pitchFamily="34" charset="0"/>
                <a:ea typeface="Calibri" pitchFamily="34" charset="-122"/>
                <a:cs typeface="Calibri" pitchFamily="34" charset="-120"/>
              </a:rPr>
              <a:t>Stop the spawn loop entirely once the player has won.</a:t>
            </a:r>
            <a:endParaRPr lang="en-US" sz="1800" dirty="0"/>
          </a:p>
        </p:txBody>
      </p:sp>
      <p:sp>
        <p:nvSpPr>
          <p:cNvPr id="20" name="Text 18"/>
          <p:cNvSpPr/>
          <p:nvPr/>
        </p:nvSpPr>
        <p:spPr>
          <a:xfrm>
            <a:off x="8183880" y="3886200"/>
            <a:ext cx="2926080" cy="731520"/>
          </a:xfrm>
          <a:prstGeom prst="rect">
            <a:avLst/>
          </a:prstGeom>
          <a:noFill/>
          <a:ln/>
        </p:spPr>
        <p:txBody>
          <a:bodyPr wrap="square" lIns="0" tIns="0" rIns="0" bIns="0" rtlCol="0" anchor="ctr"/>
          <a:lstStyle/>
          <a:p>
            <a:pPr indent="0" marL="0">
              <a:lnSpc>
                <a:spcPts val="2000"/>
              </a:lnSpc>
              <a:buNone/>
            </a:pPr>
            <a:r>
              <a:rPr lang="en-US" sz="1600" i="1" dirty="0">
                <a:solidFill>
                  <a:srgbClr val="6B7280"/>
                </a:solidFill>
                <a:latin typeface="Calibri" pitchFamily="34" charset="0"/>
                <a:ea typeface="Calibri" pitchFamily="34" charset="-122"/>
                <a:cs typeface="Calibri" pitchFamily="34" charset="-120"/>
              </a:rPr>
              <a:t>How do you make a forever loop stop?</a:t>
            </a:r>
            <a:endParaRPr lang="en-US" sz="1600" dirty="0"/>
          </a:p>
        </p:txBody>
      </p:sp>
      <p:sp>
        <p:nvSpPr>
          <p:cNvPr id="21" name="Shape 19"/>
          <p:cNvSpPr/>
          <p:nvPr/>
        </p:nvSpPr>
        <p:spPr>
          <a:xfrm>
            <a:off x="640080" y="4937760"/>
            <a:ext cx="10881360" cy="731520"/>
          </a:xfrm>
          <a:prstGeom prst="roundRect">
            <a:avLst>
              <a:gd name="adj" fmla="val 6250"/>
            </a:avLst>
          </a:prstGeom>
          <a:solidFill>
            <a:srgbClr val="F4F6FA"/>
          </a:solidFill>
          <a:ln w="19050">
            <a:solidFill>
              <a:srgbClr val="4361EE"/>
            </a:solidFill>
            <a:prstDash val="solid"/>
          </a:ln>
          <a:effectLst>
            <a:outerShdw sx="100000" sy="100000" kx="0" ky="0" algn="bl" rotWithShape="0" blurRad="76200" dist="12700" dir="5400000">
              <a:srgbClr val="9AA4B2">
                <a:alpha val="18000"/>
              </a:srgbClr>
            </a:outerShdw>
          </a:effectLst>
        </p:spPr>
      </p:sp>
      <p:sp>
        <p:nvSpPr>
          <p:cNvPr id="22" name="Text 20"/>
          <p:cNvSpPr/>
          <p:nvPr/>
        </p:nvSpPr>
        <p:spPr>
          <a:xfrm>
            <a:off x="914400" y="4937760"/>
            <a:ext cx="10332720" cy="731520"/>
          </a:xfrm>
          <a:prstGeom prst="rect">
            <a:avLst/>
          </a:prstGeom>
          <a:noFill/>
          <a:ln/>
        </p:spPr>
        <p:txBody>
          <a:bodyPr wrap="square" lIns="0" tIns="0" rIns="0" bIns="0" rtlCol="0" anchor="ctr"/>
          <a:lstStyle/>
          <a:p>
            <a:pPr indent="0" marL="0">
              <a:buNone/>
            </a:pPr>
            <a:r>
              <a:rPr lang="en-US" sz="1800" b="1" dirty="0">
                <a:solidFill>
                  <a:srgbClr val="374151"/>
                </a:solidFill>
                <a:latin typeface="Calibri" pitchFamily="34" charset="0"/>
                <a:ea typeface="Calibri" pitchFamily="34" charset="-122"/>
                <a:cs typeface="Calibri" pitchFamily="34" charset="-120"/>
              </a:rPr>
              <a:t>Save your project under a new name before you pack up. This file is the base you build your CAT on.</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NEXT STEPS</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Exit Ticket</a:t>
            </a:r>
            <a:endParaRPr lang="en-US" sz="3200" dirty="0"/>
          </a:p>
        </p:txBody>
      </p:sp>
      <p:sp>
        <p:nvSpPr>
          <p:cNvPr id="4" name="Shape 2"/>
          <p:cNvSpPr/>
          <p:nvPr/>
        </p:nvSpPr>
        <p:spPr>
          <a:xfrm>
            <a:off x="9646920" y="384048"/>
            <a:ext cx="1874520" cy="402336"/>
          </a:xfrm>
          <a:prstGeom prst="roundRect">
            <a:avLst>
              <a:gd name="adj" fmla="val 18182"/>
            </a:avLst>
          </a:prstGeom>
          <a:solidFill>
            <a:srgbClr val="EF4444"/>
          </a:solidFill>
          <a:ln w="12700">
            <a:solidFill>
              <a:srgbClr val="EF4444"/>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EXIT</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10B981"/>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10B981"/>
                </a:solidFill>
                <a:latin typeface="Calibri" pitchFamily="34" charset="0"/>
                <a:ea typeface="Calibri" pitchFamily="34" charset="-122"/>
                <a:cs typeface="Calibri" pitchFamily="34" charset="-120"/>
              </a:rPr>
              <a:t>LAPTOPS OPEN</a:t>
            </a:r>
            <a:endParaRPr lang="en-US" sz="1100" dirty="0"/>
          </a:p>
        </p:txBody>
      </p:sp>
      <p:sp>
        <p:nvSpPr>
          <p:cNvPr id="8" name="Text 6"/>
          <p:cNvSpPr/>
          <p:nvPr/>
        </p:nvSpPr>
        <p:spPr>
          <a:xfrm>
            <a:off x="640080" y="1325880"/>
            <a:ext cx="10881360" cy="365760"/>
          </a:xfrm>
          <a:prstGeom prst="rect">
            <a:avLst/>
          </a:prstGeom>
          <a:noFill/>
          <a:ln/>
        </p:spPr>
        <p:txBody>
          <a:bodyPr wrap="square" lIns="0" tIns="0" rIns="0" bIns="0" rtlCol="0" anchor="ctr"/>
          <a:lstStyle/>
          <a:p>
            <a:pPr indent="0" marL="0">
              <a:buNone/>
            </a:pPr>
            <a:r>
              <a:rPr lang="en-US" sz="1900" dirty="0">
                <a:solidFill>
                  <a:srgbClr val="374151"/>
                </a:solidFill>
                <a:latin typeface="Calibri" pitchFamily="34" charset="0"/>
                <a:ea typeface="Calibri" pitchFamily="34" charset="-122"/>
                <a:cs typeface="Calibri" pitchFamily="34" charset="-120"/>
              </a:rPr>
              <a:t>Close the unit site. Answer from memory — workbook Section 8.</a:t>
            </a:r>
            <a:endParaRPr lang="en-US" sz="1900" dirty="0"/>
          </a:p>
        </p:txBody>
      </p:sp>
      <p:sp>
        <p:nvSpPr>
          <p:cNvPr id="9" name="Shape 7"/>
          <p:cNvSpPr/>
          <p:nvPr/>
        </p:nvSpPr>
        <p:spPr>
          <a:xfrm>
            <a:off x="640080" y="1874520"/>
            <a:ext cx="10881360" cy="868680"/>
          </a:xfrm>
          <a:prstGeom prst="roundRect">
            <a:avLst>
              <a:gd name="adj" fmla="val 5263"/>
            </a:avLst>
          </a:prstGeom>
          <a:solidFill>
            <a:srgbClr val="F4F6FA"/>
          </a:solidFill>
          <a:ln w="19050">
            <a:solidFill>
              <a:srgbClr val="EF4444"/>
            </a:solidFill>
            <a:prstDash val="solid"/>
          </a:ln>
          <a:effectLst>
            <a:outerShdw sx="100000" sy="100000" kx="0" ky="0" algn="bl" rotWithShape="0" blurRad="76200" dist="12700" dir="5400000">
              <a:srgbClr val="9AA4B2">
                <a:alpha val="18000"/>
              </a:srgbClr>
            </a:outerShdw>
          </a:effectLst>
        </p:spPr>
      </p:sp>
      <p:sp>
        <p:nvSpPr>
          <p:cNvPr id="10" name="Text 8"/>
          <p:cNvSpPr/>
          <p:nvPr/>
        </p:nvSpPr>
        <p:spPr>
          <a:xfrm>
            <a:off x="960120" y="1874520"/>
            <a:ext cx="10241280" cy="868680"/>
          </a:xfrm>
          <a:prstGeom prst="rect">
            <a:avLst/>
          </a:prstGeom>
          <a:noFill/>
          <a:ln/>
        </p:spPr>
        <p:txBody>
          <a:bodyPr wrap="square" lIns="0" tIns="0" rIns="0" bIns="0" rtlCol="0" anchor="ctr"/>
          <a:lstStyle/>
          <a:p>
            <a:pPr indent="0" marL="0">
              <a:buNone/>
            </a:pPr>
            <a:r>
              <a:rPr lang="en-US" sz="2000" dirty="0">
                <a:solidFill>
                  <a:srgbClr val="374151"/>
                </a:solidFill>
                <a:latin typeface="Calibri" pitchFamily="34" charset="0"/>
                <a:ea typeface="Calibri" pitchFamily="34" charset="-122"/>
                <a:cs typeface="Calibri" pitchFamily="34" charset="-120"/>
              </a:rPr>
              <a:t>1.  Describe one if/else rule AND one repeating behaviour in your game, in plain English.</a:t>
            </a:r>
            <a:endParaRPr lang="en-US" sz="2000" dirty="0"/>
          </a:p>
        </p:txBody>
      </p:sp>
      <p:sp>
        <p:nvSpPr>
          <p:cNvPr id="11" name="Shape 9"/>
          <p:cNvSpPr/>
          <p:nvPr/>
        </p:nvSpPr>
        <p:spPr>
          <a:xfrm>
            <a:off x="640080" y="2926080"/>
            <a:ext cx="10881360" cy="868680"/>
          </a:xfrm>
          <a:prstGeom prst="roundRect">
            <a:avLst>
              <a:gd name="adj" fmla="val 5263"/>
            </a:avLst>
          </a:prstGeom>
          <a:solidFill>
            <a:srgbClr val="F4F6FA"/>
          </a:solidFill>
          <a:ln w="19050">
            <a:solidFill>
              <a:srgbClr val="EF4444"/>
            </a:solidFill>
            <a:prstDash val="solid"/>
          </a:ln>
          <a:effectLst>
            <a:outerShdw sx="100000" sy="100000" kx="0" ky="0" algn="bl" rotWithShape="0" blurRad="76200" dist="12700" dir="5400000">
              <a:srgbClr val="9AA4B2">
                <a:alpha val="18000"/>
              </a:srgbClr>
            </a:outerShdw>
          </a:effectLst>
        </p:spPr>
      </p:sp>
      <p:sp>
        <p:nvSpPr>
          <p:cNvPr id="12" name="Text 10"/>
          <p:cNvSpPr/>
          <p:nvPr/>
        </p:nvSpPr>
        <p:spPr>
          <a:xfrm>
            <a:off x="960120" y="2926080"/>
            <a:ext cx="10241280" cy="868680"/>
          </a:xfrm>
          <a:prstGeom prst="rect">
            <a:avLst/>
          </a:prstGeom>
          <a:noFill/>
          <a:ln/>
        </p:spPr>
        <p:txBody>
          <a:bodyPr wrap="square" lIns="0" tIns="0" rIns="0" bIns="0" rtlCol="0" anchor="ctr"/>
          <a:lstStyle/>
          <a:p>
            <a:pPr indent="0" marL="0">
              <a:buNone/>
            </a:pPr>
            <a:r>
              <a:rPr lang="en-US" sz="2000" dirty="0">
                <a:solidFill>
                  <a:srgbClr val="374151"/>
                </a:solidFill>
                <a:latin typeface="Calibri" pitchFamily="34" charset="0"/>
                <a:ea typeface="Calibri" pitchFamily="34" charset="-122"/>
                <a:cs typeface="Calibri" pitchFamily="34" charset="-120"/>
              </a:rPr>
              <a:t>2.  What are the four steps of the debugging method?</a:t>
            </a:r>
            <a:endParaRPr lang="en-US" sz="2000" dirty="0"/>
          </a:p>
        </p:txBody>
      </p:sp>
      <p:sp>
        <p:nvSpPr>
          <p:cNvPr id="13" name="Shape 11"/>
          <p:cNvSpPr/>
          <p:nvPr/>
        </p:nvSpPr>
        <p:spPr>
          <a:xfrm>
            <a:off x="640080" y="3977640"/>
            <a:ext cx="10881360" cy="868680"/>
          </a:xfrm>
          <a:prstGeom prst="roundRect">
            <a:avLst>
              <a:gd name="adj" fmla="val 5263"/>
            </a:avLst>
          </a:prstGeom>
          <a:solidFill>
            <a:srgbClr val="F4F6FA"/>
          </a:solidFill>
          <a:ln w="19050">
            <a:solidFill>
              <a:srgbClr val="EF4444"/>
            </a:solidFill>
            <a:prstDash val="solid"/>
          </a:ln>
          <a:effectLst>
            <a:outerShdw sx="100000" sy="100000" kx="0" ky="0" algn="bl" rotWithShape="0" blurRad="76200" dist="12700" dir="5400000">
              <a:srgbClr val="9AA4B2">
                <a:alpha val="18000"/>
              </a:srgbClr>
            </a:outerShdw>
          </a:effectLst>
        </p:spPr>
      </p:sp>
      <p:sp>
        <p:nvSpPr>
          <p:cNvPr id="14" name="Text 12"/>
          <p:cNvSpPr/>
          <p:nvPr/>
        </p:nvSpPr>
        <p:spPr>
          <a:xfrm>
            <a:off x="960120" y="3977640"/>
            <a:ext cx="10241280" cy="868680"/>
          </a:xfrm>
          <a:prstGeom prst="rect">
            <a:avLst/>
          </a:prstGeom>
          <a:noFill/>
          <a:ln/>
        </p:spPr>
        <p:txBody>
          <a:bodyPr wrap="square" lIns="0" tIns="0" rIns="0" bIns="0" rtlCol="0" anchor="ctr"/>
          <a:lstStyle/>
          <a:p>
            <a:pPr indent="0" marL="0">
              <a:buNone/>
            </a:pPr>
            <a:r>
              <a:rPr lang="en-US" sz="2000" dirty="0">
                <a:solidFill>
                  <a:srgbClr val="374151"/>
                </a:solidFill>
                <a:latin typeface="Calibri" pitchFamily="34" charset="0"/>
                <a:ea typeface="Calibri" pitchFamily="34" charset="-122"/>
                <a:cs typeface="Calibri" pitchFamily="34" charset="-120"/>
              </a:rPr>
              <a:t>3.  What is one thing about conditionals or loops you'd still like explained again?</a:t>
            </a:r>
            <a:endParaRPr lang="en-US" sz="2000" dirty="0"/>
          </a:p>
        </p:txBody>
      </p:sp>
      <p:sp>
        <p:nvSpPr>
          <p:cNvPr id="15" name="Text 13"/>
          <p:cNvSpPr/>
          <p:nvPr/>
        </p:nvSpPr>
        <p:spPr>
          <a:xfrm>
            <a:off x="640080" y="5212080"/>
            <a:ext cx="10881360" cy="457200"/>
          </a:xfrm>
          <a:prstGeom prst="rect">
            <a:avLst/>
          </a:prstGeom>
          <a:noFill/>
          <a:ln/>
        </p:spPr>
        <p:txBody>
          <a:bodyPr wrap="square" lIns="0" tIns="0" rIns="0" bIns="0" rtlCol="0" anchor="ctr"/>
          <a:lstStyle/>
          <a:p>
            <a:pPr indent="0" marL="0">
              <a:buNone/>
            </a:pPr>
            <a:r>
              <a:rPr lang="en-US" sz="1900" b="1" dirty="0">
                <a:solidFill>
                  <a:srgbClr val="4361EE"/>
                </a:solidFill>
                <a:latin typeface="Calibri" pitchFamily="34" charset="0"/>
                <a:ea typeface="Calibri" pitchFamily="34" charset="-122"/>
                <a:cs typeface="Calibri" pitchFamily="34" charset="-120"/>
              </a:rPr>
              <a:t>Then submit your workbook before you log off.</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92608"/>
            <a:ext cx="7498080" cy="274320"/>
          </a:xfrm>
          <a:prstGeom prst="rect">
            <a:avLst/>
          </a:prstGeom>
          <a:noFill/>
          <a:ln/>
        </p:spPr>
        <p:txBody>
          <a:bodyPr wrap="square" lIns="0" tIns="0" rIns="0" bIns="0" rtlCol="0" anchor="ctr"/>
          <a:lstStyle/>
          <a:p>
            <a:pPr indent="0" marL="0">
              <a:buNone/>
            </a:pPr>
            <a:r>
              <a:rPr lang="en-US" sz="1200" b="1" spc="160" kern="0" dirty="0">
                <a:solidFill>
                  <a:srgbClr val="6B7280"/>
                </a:solidFill>
                <a:latin typeface="Calibri" pitchFamily="34" charset="0"/>
                <a:ea typeface="Calibri" pitchFamily="34" charset="-122"/>
                <a:cs typeface="Calibri" pitchFamily="34" charset="-120"/>
              </a:rPr>
              <a:t>NEXT STEPS</a:t>
            </a:r>
            <a:endParaRPr lang="en-US" sz="1200" dirty="0"/>
          </a:p>
        </p:txBody>
      </p:sp>
      <p:sp>
        <p:nvSpPr>
          <p:cNvPr id="3" name="Text 1"/>
          <p:cNvSpPr/>
          <p:nvPr/>
        </p:nvSpPr>
        <p:spPr>
          <a:xfrm>
            <a:off x="640080" y="530352"/>
            <a:ext cx="8595360" cy="713232"/>
          </a:xfrm>
          <a:prstGeom prst="rect">
            <a:avLst/>
          </a:prstGeom>
          <a:noFill/>
          <a:ln/>
        </p:spPr>
        <p:txBody>
          <a:bodyPr wrap="square" lIns="0" tIns="0" rIns="0" bIns="0" rtlCol="0" anchor="t"/>
          <a:lstStyle/>
          <a:p>
            <a:pPr indent="0" marL="0">
              <a:buNone/>
            </a:pPr>
            <a:r>
              <a:rPr lang="en-US" sz="3200" dirty="0">
                <a:solidFill>
                  <a:srgbClr val="111827"/>
                </a:solidFill>
                <a:latin typeface="Bookman Old Style" pitchFamily="34" charset="0"/>
                <a:ea typeface="Bookman Old Style" pitchFamily="34" charset="-122"/>
                <a:cs typeface="Bookman Old Style" pitchFamily="34" charset="-120"/>
              </a:rPr>
              <a:t>Where This Is Going</a:t>
            </a:r>
            <a:endParaRPr lang="en-US" sz="3200" dirty="0"/>
          </a:p>
        </p:txBody>
      </p:sp>
      <p:sp>
        <p:nvSpPr>
          <p:cNvPr id="4" name="Shape 2"/>
          <p:cNvSpPr/>
          <p:nvPr/>
        </p:nvSpPr>
        <p:spPr>
          <a:xfrm>
            <a:off x="9646920" y="384048"/>
            <a:ext cx="1874520" cy="402336"/>
          </a:xfrm>
          <a:prstGeom prst="roundRect">
            <a:avLst>
              <a:gd name="adj" fmla="val 18182"/>
            </a:avLst>
          </a:prstGeom>
          <a:solidFill>
            <a:srgbClr val="6B7280"/>
          </a:solidFill>
          <a:ln w="12700">
            <a:solidFill>
              <a:srgbClr val="6B7280"/>
            </a:solidFill>
            <a:prstDash val="solid"/>
          </a:ln>
        </p:spPr>
      </p:sp>
      <p:sp>
        <p:nvSpPr>
          <p:cNvPr id="5" name="Text 3"/>
          <p:cNvSpPr/>
          <p:nvPr/>
        </p:nvSpPr>
        <p:spPr>
          <a:xfrm>
            <a:off x="9646920" y="384048"/>
            <a:ext cx="1874520" cy="402336"/>
          </a:xfrm>
          <a:prstGeom prst="rect">
            <a:avLst/>
          </a:prstGeom>
          <a:noFill/>
          <a:ln/>
        </p:spPr>
        <p:txBody>
          <a:bodyPr wrap="square" lIns="0" tIns="0" rIns="0" bIns="0" rtlCol="0" anchor="ctr"/>
          <a:lstStyle/>
          <a:p>
            <a:pPr algn="ctr" indent="0" marL="0">
              <a:buNone/>
            </a:pPr>
            <a:r>
              <a:rPr lang="en-US" sz="1200" b="1" spc="120" kern="0" dirty="0">
                <a:solidFill>
                  <a:srgbClr val="FFFFFF"/>
                </a:solidFill>
                <a:latin typeface="Calibri" pitchFamily="34" charset="0"/>
                <a:ea typeface="Calibri" pitchFamily="34" charset="-122"/>
                <a:cs typeface="Calibri" pitchFamily="34" charset="-120"/>
              </a:rPr>
              <a:t>WRAP UP</a:t>
            </a:r>
            <a:endParaRPr lang="en-US" sz="1200" dirty="0"/>
          </a:p>
        </p:txBody>
      </p:sp>
      <p:sp>
        <p:nvSpPr>
          <p:cNvPr id="6" name="Shape 4"/>
          <p:cNvSpPr/>
          <p:nvPr/>
        </p:nvSpPr>
        <p:spPr>
          <a:xfrm>
            <a:off x="640080" y="6272784"/>
            <a:ext cx="2240280" cy="329184"/>
          </a:xfrm>
          <a:prstGeom prst="roundRect">
            <a:avLst>
              <a:gd name="adj" fmla="val 16667"/>
            </a:avLst>
          </a:prstGeom>
          <a:solidFill>
            <a:srgbClr val="FFFFFF"/>
          </a:solidFill>
          <a:ln w="15875">
            <a:solidFill>
              <a:srgbClr val="EF4444"/>
            </a:solidFill>
            <a:prstDash val="solid"/>
          </a:ln>
        </p:spPr>
      </p:sp>
      <p:sp>
        <p:nvSpPr>
          <p:cNvPr id="7" name="Text 5"/>
          <p:cNvSpPr/>
          <p:nvPr/>
        </p:nvSpPr>
        <p:spPr>
          <a:xfrm>
            <a:off x="640080" y="6272784"/>
            <a:ext cx="2240280" cy="329184"/>
          </a:xfrm>
          <a:prstGeom prst="rect">
            <a:avLst/>
          </a:prstGeom>
          <a:noFill/>
          <a:ln/>
        </p:spPr>
        <p:txBody>
          <a:bodyPr wrap="square" lIns="0" tIns="0" rIns="0" bIns="0" rtlCol="0" anchor="ctr"/>
          <a:lstStyle/>
          <a:p>
            <a:pPr algn="ctr" indent="0" marL="0">
              <a:buNone/>
            </a:pPr>
            <a:r>
              <a:rPr lang="en-US" sz="1100" b="1" spc="100" kern="0" dirty="0">
                <a:solidFill>
                  <a:srgbClr val="EF4444"/>
                </a:solidFill>
                <a:latin typeface="Calibri" pitchFamily="34" charset="0"/>
                <a:ea typeface="Calibri" pitchFamily="34" charset="-122"/>
                <a:cs typeface="Calibri" pitchFamily="34" charset="-120"/>
              </a:rPr>
              <a:t>LAPTOPS CLOSED</a:t>
            </a:r>
            <a:endParaRPr lang="en-US" sz="1100" dirty="0"/>
          </a:p>
        </p:txBody>
      </p:sp>
      <p:sp>
        <p:nvSpPr>
          <p:cNvPr id="8" name="Shape 6"/>
          <p:cNvSpPr/>
          <p:nvPr/>
        </p:nvSpPr>
        <p:spPr>
          <a:xfrm>
            <a:off x="640080" y="1371600"/>
            <a:ext cx="5577840" cy="2377440"/>
          </a:xfrm>
          <a:prstGeom prst="roundRect">
            <a:avLst>
              <a:gd name="adj" fmla="val 1923"/>
            </a:avLst>
          </a:prstGeom>
          <a:solidFill>
            <a:srgbClr val="F4F6FA"/>
          </a:solidFill>
          <a:ln w="19050">
            <a:solidFill>
              <a:srgbClr val="10B981"/>
            </a:solidFill>
            <a:prstDash val="solid"/>
          </a:ln>
          <a:effectLst>
            <a:outerShdw sx="100000" sy="100000" kx="0" ky="0" algn="bl" rotWithShape="0" blurRad="76200" dist="12700" dir="5400000">
              <a:srgbClr val="9AA4B2">
                <a:alpha val="18000"/>
              </a:srgbClr>
            </a:outerShdw>
          </a:effectLst>
        </p:spPr>
      </p:sp>
      <p:sp>
        <p:nvSpPr>
          <p:cNvPr id="9" name="Text 7"/>
          <p:cNvSpPr/>
          <p:nvPr/>
        </p:nvSpPr>
        <p:spPr>
          <a:xfrm>
            <a:off x="914400" y="1554480"/>
            <a:ext cx="5029200" cy="365760"/>
          </a:xfrm>
          <a:prstGeom prst="rect">
            <a:avLst/>
          </a:prstGeom>
          <a:noFill/>
          <a:ln/>
        </p:spPr>
        <p:txBody>
          <a:bodyPr wrap="square" lIns="0" tIns="0" rIns="0" bIns="0" rtlCol="0" anchor="ctr"/>
          <a:lstStyle/>
          <a:p>
            <a:pPr indent="0" marL="0">
              <a:buNone/>
            </a:pPr>
            <a:r>
              <a:rPr lang="en-US" sz="2000" dirty="0">
                <a:solidFill>
                  <a:srgbClr val="10B981"/>
                </a:solidFill>
                <a:latin typeface="Bookman Old Style" pitchFamily="34" charset="0"/>
                <a:ea typeface="Bookman Old Style" pitchFamily="34" charset="-122"/>
                <a:cs typeface="Bookman Old Style" pitchFamily="34" charset="-120"/>
              </a:rPr>
              <a:t>Today you learned</a:t>
            </a:r>
            <a:endParaRPr lang="en-US" sz="2000" dirty="0"/>
          </a:p>
        </p:txBody>
      </p:sp>
      <p:sp>
        <p:nvSpPr>
          <p:cNvPr id="10" name="Text 8"/>
          <p:cNvSpPr/>
          <p:nvPr/>
        </p:nvSpPr>
        <p:spPr>
          <a:xfrm>
            <a:off x="914400" y="2011680"/>
            <a:ext cx="5029200" cy="1645920"/>
          </a:xfrm>
          <a:prstGeom prst="rect">
            <a:avLst/>
          </a:prstGeom>
          <a:noFill/>
          <a:ln/>
        </p:spPr>
        <p:txBody>
          <a:bodyPr wrap="square" lIns="0" tIns="0" rIns="0" bIns="0" rtlCol="0" anchor="ctr"/>
          <a:lstStyle/>
          <a:p>
            <a:pPr marL="342900" indent="-342900">
              <a:spcAft>
                <a:spcPts val="600"/>
              </a:spcAft>
              <a:buSzPct val="100000"/>
              <a:buChar char="•"/>
            </a:pPr>
            <a:r>
              <a:rPr lang="en-US" sz="1800" dirty="0">
                <a:solidFill>
                  <a:srgbClr val="374151"/>
                </a:solidFill>
                <a:latin typeface="Calibri" pitchFamily="34" charset="0"/>
                <a:ea typeface="Calibri" pitchFamily="34" charset="-122"/>
                <a:cs typeface="Calibri" pitchFamily="34" charset="-120"/>
              </a:rPr>
              <a:t>How if / else makes a game decide</a:t>
            </a:r>
            <a:endParaRPr lang="en-US" sz="1800" dirty="0"/>
          </a:p>
          <a:p>
            <a:pPr marL="342900" indent="-342900">
              <a:spcAft>
                <a:spcPts val="600"/>
              </a:spcAft>
              <a:buSzPct val="100000"/>
              <a:buChar char="•"/>
            </a:pPr>
            <a:r>
              <a:rPr lang="en-US" sz="1800" dirty="0">
                <a:solidFill>
                  <a:srgbClr val="374151"/>
                </a:solidFill>
                <a:latin typeface="Calibri" pitchFamily="34" charset="0"/>
                <a:ea typeface="Calibri" pitchFamily="34" charset="-122"/>
                <a:cs typeface="Calibri" pitchFamily="34" charset="-120"/>
              </a:rPr>
              <a:t>How loops create repeating behaviour</a:t>
            </a:r>
            <a:endParaRPr lang="en-US" sz="1800" dirty="0"/>
          </a:p>
          <a:p>
            <a:pPr marL="342900" indent="-342900">
              <a:spcAft>
                <a:spcPts val="600"/>
              </a:spcAft>
              <a:buSzPct val="100000"/>
              <a:buChar char="•"/>
            </a:pPr>
            <a:r>
              <a:rPr lang="en-US" sz="1800" dirty="0">
                <a:solidFill>
                  <a:srgbClr val="374151"/>
                </a:solidFill>
                <a:latin typeface="Calibri" pitchFamily="34" charset="0"/>
                <a:ea typeface="Calibri" pitchFamily="34" charset="-122"/>
                <a:cs typeface="Calibri" pitchFamily="34" charset="-120"/>
              </a:rPr>
              <a:t>How to put one inside the other</a:t>
            </a:r>
            <a:endParaRPr lang="en-US" sz="1800" dirty="0"/>
          </a:p>
          <a:p>
            <a:pPr marL="342900" indent="-342900">
              <a:spcAft>
                <a:spcPts val="600"/>
              </a:spcAft>
              <a:buSzPct val="100000"/>
              <a:buChar char="•"/>
            </a:pPr>
            <a:r>
              <a:rPr lang="en-US" sz="1800" dirty="0">
                <a:solidFill>
                  <a:srgbClr val="374151"/>
                </a:solidFill>
                <a:latin typeface="Calibri" pitchFamily="34" charset="0"/>
                <a:ea typeface="Calibri" pitchFamily="34" charset="-122"/>
                <a:cs typeface="Calibri" pitchFamily="34" charset="-120"/>
              </a:rPr>
              <a:t>A four-step method for fixing bugs</a:t>
            </a:r>
            <a:endParaRPr lang="en-US" sz="1800" dirty="0"/>
          </a:p>
        </p:txBody>
      </p:sp>
      <p:sp>
        <p:nvSpPr>
          <p:cNvPr id="11" name="Shape 9"/>
          <p:cNvSpPr/>
          <p:nvPr/>
        </p:nvSpPr>
        <p:spPr>
          <a:xfrm>
            <a:off x="6400800" y="1371600"/>
            <a:ext cx="5120640" cy="2377440"/>
          </a:xfrm>
          <a:prstGeom prst="roundRect">
            <a:avLst>
              <a:gd name="adj" fmla="val 1923"/>
            </a:avLst>
          </a:prstGeom>
          <a:solidFill>
            <a:srgbClr val="F4F6FA"/>
          </a:solidFill>
          <a:ln w="19050">
            <a:solidFill>
              <a:srgbClr val="4361EE"/>
            </a:solidFill>
            <a:prstDash val="solid"/>
          </a:ln>
          <a:effectLst>
            <a:outerShdw sx="100000" sy="100000" kx="0" ky="0" algn="bl" rotWithShape="0" blurRad="76200" dist="12700" dir="5400000">
              <a:srgbClr val="9AA4B2">
                <a:alpha val="18000"/>
              </a:srgbClr>
            </a:outerShdw>
          </a:effectLst>
        </p:spPr>
      </p:sp>
      <p:sp>
        <p:nvSpPr>
          <p:cNvPr id="12" name="Text 10"/>
          <p:cNvSpPr/>
          <p:nvPr/>
        </p:nvSpPr>
        <p:spPr>
          <a:xfrm>
            <a:off x="6675120" y="1554480"/>
            <a:ext cx="4572000" cy="365760"/>
          </a:xfrm>
          <a:prstGeom prst="rect">
            <a:avLst/>
          </a:prstGeom>
          <a:noFill/>
          <a:ln/>
        </p:spPr>
        <p:txBody>
          <a:bodyPr wrap="square" lIns="0" tIns="0" rIns="0" bIns="0" rtlCol="0" anchor="ctr"/>
          <a:lstStyle/>
          <a:p>
            <a:pPr indent="0" marL="0">
              <a:buNone/>
            </a:pPr>
            <a:r>
              <a:rPr lang="en-US" sz="2000" dirty="0">
                <a:solidFill>
                  <a:srgbClr val="4361EE"/>
                </a:solidFill>
                <a:latin typeface="Bookman Old Style" pitchFamily="34" charset="0"/>
                <a:ea typeface="Bookman Old Style" pitchFamily="34" charset="-122"/>
                <a:cs typeface="Bookman Old Style" pitchFamily="34" charset="-120"/>
              </a:rPr>
              <a:t>Next lesson</a:t>
            </a:r>
            <a:endParaRPr lang="en-US" sz="2000" dirty="0"/>
          </a:p>
        </p:txBody>
      </p:sp>
      <p:sp>
        <p:nvSpPr>
          <p:cNvPr id="13" name="Text 11"/>
          <p:cNvSpPr/>
          <p:nvPr/>
        </p:nvSpPr>
        <p:spPr>
          <a:xfrm>
            <a:off x="6675120" y="2011680"/>
            <a:ext cx="4572000" cy="1645920"/>
          </a:xfrm>
          <a:prstGeom prst="rect">
            <a:avLst/>
          </a:prstGeom>
          <a:noFill/>
          <a:ln/>
        </p:spPr>
        <p:txBody>
          <a:bodyPr wrap="square" lIns="0" tIns="0" rIns="0" bIns="0" rtlCol="0" anchor="ctr"/>
          <a:lstStyle/>
          <a:p>
            <a:pPr indent="0" marL="0">
              <a:lnSpc>
                <a:spcPts val="2400"/>
              </a:lnSpc>
              <a:buNone/>
            </a:pPr>
            <a:r>
              <a:rPr lang="en-US" sz="1800" dirty="0">
                <a:solidFill>
                  <a:srgbClr val="374151"/>
                </a:solidFill>
                <a:latin typeface="Calibri" pitchFamily="34" charset="0"/>
                <a:ea typeface="Calibri" pitchFamily="34" charset="-122"/>
                <a:cs typeface="Calibri" pitchFamily="34" charset="-120"/>
              </a:rPr>
              <a:t>Lesson 6 — Making Our Game</a:t>
            </a:r>
            <a:endParaRPr lang="en-US" sz="1800" dirty="0"/>
          </a:p>
          <a:p>
            <a:pPr indent="0" marL="0">
              <a:lnSpc>
                <a:spcPts val="2400"/>
              </a:lnSpc>
              <a:buNone/>
            </a:pPr>
            <a:endParaRPr lang="en-US" sz="1800" dirty="0"/>
          </a:p>
          <a:p>
            <a:pPr indent="0" marL="0">
              <a:lnSpc>
                <a:spcPts val="2400"/>
              </a:lnSpc>
              <a:buNone/>
            </a:pPr>
            <a:r>
              <a:rPr lang="en-US" sz="1800" dirty="0">
                <a:solidFill>
                  <a:srgbClr val="374151"/>
                </a:solidFill>
                <a:latin typeface="Calibri" pitchFamily="34" charset="0"/>
                <a:ea typeface="Calibri" pitchFamily="34" charset="-122"/>
                <a:cs typeface="Calibri" pitchFamily="34" charset="-120"/>
              </a:rPr>
              <a:t>You'll critique the game you just built against real criteria, choose a modification — then assessed CAT build time starts.</a:t>
            </a:r>
            <a:endParaRPr lang="en-US" sz="1800" dirty="0"/>
          </a:p>
        </p:txBody>
      </p:sp>
      <p:sp>
        <p:nvSpPr>
          <p:cNvPr id="14" name="Shape 12"/>
          <p:cNvSpPr/>
          <p:nvPr/>
        </p:nvSpPr>
        <p:spPr>
          <a:xfrm>
            <a:off x="640080" y="3977640"/>
            <a:ext cx="10881360" cy="1691640"/>
          </a:xfrm>
          <a:prstGeom prst="roundRect">
            <a:avLst>
              <a:gd name="adj" fmla="val 2703"/>
            </a:avLst>
          </a:prstGeom>
          <a:solidFill>
            <a:srgbClr val="F4F6FA"/>
          </a:solidFill>
          <a:ln w="19050">
            <a:solidFill>
              <a:srgbClr val="F59E0B"/>
            </a:solidFill>
            <a:prstDash val="solid"/>
          </a:ln>
          <a:effectLst>
            <a:outerShdw sx="100000" sy="100000" kx="0" ky="0" algn="bl" rotWithShape="0" blurRad="76200" dist="12700" dir="5400000">
              <a:srgbClr val="9AA4B2">
                <a:alpha val="18000"/>
              </a:srgbClr>
            </a:outerShdw>
          </a:effectLst>
        </p:spPr>
      </p:sp>
      <p:sp>
        <p:nvSpPr>
          <p:cNvPr id="15" name="Text 13"/>
          <p:cNvSpPr/>
          <p:nvPr/>
        </p:nvSpPr>
        <p:spPr>
          <a:xfrm>
            <a:off x="914400" y="4114800"/>
            <a:ext cx="10332720" cy="365760"/>
          </a:xfrm>
          <a:prstGeom prst="rect">
            <a:avLst/>
          </a:prstGeom>
          <a:noFill/>
          <a:ln/>
        </p:spPr>
        <p:txBody>
          <a:bodyPr wrap="square" lIns="0" tIns="0" rIns="0" bIns="0" rtlCol="0" anchor="ctr"/>
          <a:lstStyle/>
          <a:p>
            <a:pPr indent="0" marL="0">
              <a:buNone/>
            </a:pPr>
            <a:r>
              <a:rPr lang="en-US" sz="1800" b="1" dirty="0">
                <a:solidFill>
                  <a:srgbClr val="8A5A05"/>
                </a:solidFill>
                <a:latin typeface="Calibri" pitchFamily="34" charset="0"/>
                <a:ea typeface="Calibri" pitchFamily="34" charset="-122"/>
                <a:cs typeface="Calibri" pitchFamily="34" charset="-120"/>
              </a:rPr>
              <a:t>CAT progress check — you should now have</a:t>
            </a:r>
            <a:endParaRPr lang="en-US" sz="1800" dirty="0"/>
          </a:p>
        </p:txBody>
      </p:sp>
      <p:sp>
        <p:nvSpPr>
          <p:cNvPr id="16" name="Text 14"/>
          <p:cNvSpPr/>
          <p:nvPr/>
        </p:nvSpPr>
        <p:spPr>
          <a:xfrm>
            <a:off x="914400" y="4526280"/>
            <a:ext cx="10332720" cy="548640"/>
          </a:xfrm>
          <a:prstGeom prst="rect">
            <a:avLst/>
          </a:prstGeom>
          <a:noFill/>
          <a:ln/>
        </p:spPr>
        <p:txBody>
          <a:bodyPr wrap="square" lIns="0" tIns="0" rIns="0" bIns="0" rtlCol="0" anchor="ctr"/>
          <a:lstStyle/>
          <a:p>
            <a:pPr indent="0" marL="0">
              <a:buNone/>
            </a:pPr>
            <a:r>
              <a:rPr lang="en-US" sz="1800" dirty="0">
                <a:solidFill>
                  <a:srgbClr val="374151"/>
                </a:solidFill>
                <a:latin typeface="Calibri" pitchFamily="34" charset="0"/>
                <a:ea typeface="Calibri" pitchFamily="34" charset="-122"/>
                <a:cs typeface="Calibri" pitchFamily="34" charset="-120"/>
              </a:rPr>
              <a:t>Sprite art (L2)   ·   A flowchart (L3)   ·   A working game with score and lives (L4)   ·   Win and lose conditions plus a spawn loop (today)</a:t>
            </a:r>
            <a:endParaRPr lang="en-US" sz="1800" dirty="0"/>
          </a:p>
        </p:txBody>
      </p:sp>
      <p:sp>
        <p:nvSpPr>
          <p:cNvPr id="17" name="Text 15"/>
          <p:cNvSpPr/>
          <p:nvPr/>
        </p:nvSpPr>
        <p:spPr>
          <a:xfrm>
            <a:off x="914400" y="5074920"/>
            <a:ext cx="10332720" cy="457200"/>
          </a:xfrm>
          <a:prstGeom prst="rect">
            <a:avLst/>
          </a:prstGeom>
          <a:noFill/>
          <a:ln/>
        </p:spPr>
        <p:txBody>
          <a:bodyPr wrap="square" lIns="0" tIns="0" rIns="0" bIns="0" rtlCol="0" anchor="ctr"/>
          <a:lstStyle/>
          <a:p>
            <a:pPr indent="0" marL="0">
              <a:buNone/>
            </a:pPr>
            <a:r>
              <a:rPr lang="en-US" sz="1700" i="1" dirty="0">
                <a:solidFill>
                  <a:srgbClr val="374151"/>
                </a:solidFill>
                <a:latin typeface="Calibri" pitchFamily="34" charset="0"/>
                <a:ea typeface="Calibri" pitchFamily="34" charset="-122"/>
                <a:cs typeface="Calibri" pitchFamily="34" charset="-120"/>
              </a:rPr>
              <a:t>Anything missing is homework before Lesson 6 — that's when assessed build time starts.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L5 Conditionals &amp; Loops</dc:title>
  <dc:subject>PptxGenJS Presentation</dc:subject>
  <dc:creator>EduPortal</dc:creator>
  <cp:lastModifiedBy>EduPortal</cp:lastModifiedBy>
  <cp:revision>1</cp:revision>
  <dcterms:created xsi:type="dcterms:W3CDTF">2026-08-11T00:36:17Z</dcterms:created>
  <dcterms:modified xsi:type="dcterms:W3CDTF">2026-08-11T00:36:17Z</dcterms:modified>
</cp:coreProperties>
</file>