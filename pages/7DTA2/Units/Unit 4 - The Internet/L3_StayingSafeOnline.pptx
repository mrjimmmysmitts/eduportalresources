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Frame today as the final lesson in the internet unit: we've covered networks (L1) and how data travels (L2) — today is about protecting yourself while you use it. Cold-call: ask one student to recap one idea from Lesson 2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fast-paced thumbs up/down — don't pause to explain each scenario yet, that happens during Learning. Time-box to 4 minutes total. Differentiation: Hussein may want to call out answers — redirect to thumbs only; give Rana extra processing time before each reveal by pausing 2 seconds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LO aloud, then read all three success criteria. Emphasise students only need Foundation to pass today, but should push further. Keep this slide brief — students dislike copying long text; the workbook captures it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teaching — read through the OK to share / keep private split. Use the 'shops test' analogy at the end as a memorable anchor. Think-pair-share: ask students to mentally audit their own most recent post against this list (no need to share specifics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teaching on passwords. Read out the three example passwords and ask students to guess which is strongest BEFORE revealing the colour coding — this creates a small prediction moment. Reinforce that 'long and random' beats 'short and complex'.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teaching on phishing. If time allows, read out one of the warm-up scenarios again now and map it explicitly onto the red flags list. Emphasise the four-step response on the right — this is the actionable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teaching on malware — keep this light touch and behavioural, not technical. Avoid going into how malware is built or distributed; focus only on recognising signs and protective habits. If a student asks about anti-virus software by name, keep it general (e.g. 'built-in protection that many devices include').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Brain break — let students physically stand and move. The partner challenge doubles as an informal check of retention from the lesson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 gate: this is the point where students open their devices and the workbook. Read out the three tier descriptions before releasing them to start, so students choose deliberately. Circulate to support Rana with one-on-one check-ins and to keep Hussein focused during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formative check — pose verbally and cold-call rather than expecting written answers here. Use to identify any students who need a Foundation-level recap before the exit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complete the exit ticket in the workbook in the final minutes. Collect or check progress bars before dismissal. The self-rating gives you a fast view of who may need follow-up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consolidate the three-lesson arc as a unit, not three disconnected topics. Good moment for students to reflect on how the lessons connect: networks carry data, data travels in packets, and safety habits protect that journey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this is the final lesson in the unit, so reframe 'next lesson' as moving into a new topic. Remind students their network project should now include a short safety section. Briefly preview where the course goes next if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10F"/>
        </a:solidFill>
      </p:bgPr>
    </p:bg>
    <p:spTree>
      <p:nvGrpSpPr>
        <p:cNvPr id="1" name=""/>
        <p:cNvGrpSpPr/>
        <p:nvPr/>
      </p:nvGrpSpPr>
      <p:grpSpPr>
        <a:xfrm>
          <a:off x="0" y="0"/>
          <a:ext cx="0" cy="0"/>
          <a:chOff x="0" y="0"/>
          <a:chExt cx="0" cy="0"/>
        </a:xfrm>
      </p:grpSpPr>
      <p:sp>
        <p:nvSpPr>
          <p:cNvPr id="2" name="Text 0"/>
          <p:cNvSpPr/>
          <p:nvPr/>
        </p:nvSpPr>
        <p:spPr>
          <a:xfrm>
            <a:off x="640080" y="640080"/>
            <a:ext cx="10058400" cy="365760"/>
          </a:xfrm>
          <a:prstGeom prst="rect">
            <a:avLst/>
          </a:prstGeom>
          <a:noFill/>
          <a:ln/>
        </p:spPr>
        <p:txBody>
          <a:bodyPr wrap="square" lIns="0" tIns="0" rIns="0" bIns="0" rtlCol="0" anchor="ctr"/>
          <a:lstStyle/>
          <a:p>
            <a:pPr indent="0" marL="0">
              <a:buNone/>
            </a:pPr>
            <a:r>
              <a:rPr lang="en-US" sz="1300" spc="200" kern="0" dirty="0">
                <a:solidFill>
                  <a:srgbClr val="B7AE9F"/>
                </a:solidFill>
                <a:latin typeface="Courier New" pitchFamily="34" charset="0"/>
                <a:ea typeface="Courier New" pitchFamily="34" charset="-122"/>
                <a:cs typeface="Courier New" pitchFamily="34" charset="-120"/>
              </a:rPr>
              <a:t>YEAR 7 DIGITAL TECHNOLOGIES   ·   UNIT: THE INTERNET</a:t>
            </a:r>
            <a:endParaRPr lang="en-US" sz="1300" dirty="0"/>
          </a:p>
        </p:txBody>
      </p:sp>
      <p:sp>
        <p:nvSpPr>
          <p:cNvPr id="3" name="Text 1"/>
          <p:cNvSpPr/>
          <p:nvPr/>
        </p:nvSpPr>
        <p:spPr>
          <a:xfrm>
            <a:off x="640080" y="1371600"/>
            <a:ext cx="10515600" cy="1463040"/>
          </a:xfrm>
          <a:prstGeom prst="rect">
            <a:avLst/>
          </a:prstGeom>
          <a:noFill/>
          <a:ln/>
        </p:spPr>
        <p:txBody>
          <a:bodyPr wrap="square" lIns="0" tIns="0" rIns="0" bIns="0" rtlCol="0" anchor="ctr"/>
          <a:lstStyle/>
          <a:p>
            <a:pPr indent="0" marL="0">
              <a:buNone/>
            </a:pPr>
            <a:r>
              <a:rPr lang="en-US" sz="5600" b="1" dirty="0">
                <a:solidFill>
                  <a:srgbClr val="FFFFFF"/>
                </a:solidFill>
                <a:latin typeface="Bookman Old Style" pitchFamily="34" charset="0"/>
                <a:ea typeface="Bookman Old Style" pitchFamily="34" charset="-122"/>
                <a:cs typeface="Bookman Old Style" pitchFamily="34" charset="-120"/>
              </a:rPr>
              <a:t>Staying Safe Online</a:t>
            </a:r>
            <a:endParaRPr lang="en-US" sz="5600" dirty="0"/>
          </a:p>
        </p:txBody>
      </p:sp>
      <p:sp>
        <p:nvSpPr>
          <p:cNvPr id="4" name="Text 2"/>
          <p:cNvSpPr/>
          <p:nvPr/>
        </p:nvSpPr>
        <p:spPr>
          <a:xfrm>
            <a:off x="640080" y="2697480"/>
            <a:ext cx="10058400" cy="457200"/>
          </a:xfrm>
          <a:prstGeom prst="rect">
            <a:avLst/>
          </a:prstGeom>
          <a:noFill/>
          <a:ln/>
        </p:spPr>
        <p:txBody>
          <a:bodyPr wrap="square" lIns="0" tIns="0" rIns="0" bIns="0" rtlCol="0" anchor="ctr"/>
          <a:lstStyle/>
          <a:p>
            <a:pPr indent="0" marL="0">
              <a:buNone/>
            </a:pPr>
            <a:r>
              <a:rPr lang="en-US" sz="1800" dirty="0">
                <a:solidFill>
                  <a:srgbClr val="D8D3CA"/>
                </a:solidFill>
                <a:latin typeface="Calibri" pitchFamily="34" charset="0"/>
                <a:ea typeface="Calibri" pitchFamily="34" charset="-122"/>
                <a:cs typeface="Calibri" pitchFamily="34" charset="-120"/>
              </a:rPr>
              <a:t>Lesson 3 of 3 — Protecting yourself, your data, and your devices</a:t>
            </a:r>
            <a:endParaRPr lang="en-US" sz="1800" dirty="0"/>
          </a:p>
        </p:txBody>
      </p:sp>
      <p:pic>
        <p:nvPicPr>
          <p:cNvPr id="5" name="Image 0" descr="preencoded.png">    </p:cNvPr>
          <p:cNvPicPr>
            <a:picLocks noChangeAspect="1"/>
          </p:cNvPicPr>
          <p:nvPr/>
        </p:nvPicPr>
        <p:blipFill>
          <a:blip r:embed="rId1"/>
          <a:stretch>
            <a:fillRect/>
          </a:stretch>
        </p:blipFill>
        <p:spPr>
          <a:xfrm>
            <a:off x="640080" y="3611880"/>
            <a:ext cx="310896" cy="310896"/>
          </a:xfrm>
          <a:prstGeom prst="rect">
            <a:avLst/>
          </a:prstGeom>
        </p:spPr>
      </p:pic>
      <p:sp>
        <p:nvSpPr>
          <p:cNvPr id="6" name="Text 3"/>
          <p:cNvSpPr/>
          <p:nvPr/>
        </p:nvSpPr>
        <p:spPr>
          <a:xfrm>
            <a:off x="1097280" y="3557016"/>
            <a:ext cx="5486400" cy="420624"/>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Your digital footprint</a:t>
            </a:r>
            <a:endParaRPr lang="en-US" sz="1600" dirty="0"/>
          </a:p>
        </p:txBody>
      </p:sp>
      <p:pic>
        <p:nvPicPr>
          <p:cNvPr id="7" name="Image 1" descr="preencoded.png">    </p:cNvPr>
          <p:cNvPicPr>
            <a:picLocks noChangeAspect="1"/>
          </p:cNvPicPr>
          <p:nvPr/>
        </p:nvPicPr>
        <p:blipFill>
          <a:blip r:embed="rId2"/>
          <a:stretch>
            <a:fillRect/>
          </a:stretch>
        </p:blipFill>
        <p:spPr>
          <a:xfrm>
            <a:off x="640080" y="4178808"/>
            <a:ext cx="310896" cy="310896"/>
          </a:xfrm>
          <a:prstGeom prst="rect">
            <a:avLst/>
          </a:prstGeom>
        </p:spPr>
      </p:pic>
      <p:sp>
        <p:nvSpPr>
          <p:cNvPr id="8" name="Text 4"/>
          <p:cNvSpPr/>
          <p:nvPr/>
        </p:nvSpPr>
        <p:spPr>
          <a:xfrm>
            <a:off x="1097280" y="4123944"/>
            <a:ext cx="5486400" cy="420624"/>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Strong passwords</a:t>
            </a:r>
            <a:endParaRPr lang="en-US" sz="1600" dirty="0"/>
          </a:p>
        </p:txBody>
      </p:sp>
      <p:pic>
        <p:nvPicPr>
          <p:cNvPr id="9" name="Image 2" descr="preencoded.png">    </p:cNvPr>
          <p:cNvPicPr>
            <a:picLocks noChangeAspect="1"/>
          </p:cNvPicPr>
          <p:nvPr/>
        </p:nvPicPr>
        <p:blipFill>
          <a:blip r:embed="rId3"/>
          <a:stretch>
            <a:fillRect/>
          </a:stretch>
        </p:blipFill>
        <p:spPr>
          <a:xfrm>
            <a:off x="640080" y="4745736"/>
            <a:ext cx="310896" cy="310896"/>
          </a:xfrm>
          <a:prstGeom prst="rect">
            <a:avLst/>
          </a:prstGeom>
        </p:spPr>
      </p:pic>
      <p:sp>
        <p:nvSpPr>
          <p:cNvPr id="10" name="Text 5"/>
          <p:cNvSpPr/>
          <p:nvPr/>
        </p:nvSpPr>
        <p:spPr>
          <a:xfrm>
            <a:off x="1097280" y="4690872"/>
            <a:ext cx="5486400" cy="420624"/>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Spotting scams</a:t>
            </a:r>
            <a:endParaRPr lang="en-US" sz="1600" dirty="0"/>
          </a:p>
        </p:txBody>
      </p:sp>
      <p:pic>
        <p:nvPicPr>
          <p:cNvPr id="11" name="Image 3" descr="preencoded.png">    </p:cNvPr>
          <p:cNvPicPr>
            <a:picLocks noChangeAspect="1"/>
          </p:cNvPicPr>
          <p:nvPr/>
        </p:nvPicPr>
        <p:blipFill>
          <a:blip r:embed="rId4"/>
          <a:stretch>
            <a:fillRect/>
          </a:stretch>
        </p:blipFill>
        <p:spPr>
          <a:xfrm>
            <a:off x="640080" y="5312664"/>
            <a:ext cx="310896" cy="310896"/>
          </a:xfrm>
          <a:prstGeom prst="rect">
            <a:avLst/>
          </a:prstGeom>
        </p:spPr>
      </p:pic>
      <p:sp>
        <p:nvSpPr>
          <p:cNvPr id="12" name="Text 6"/>
          <p:cNvSpPr/>
          <p:nvPr/>
        </p:nvSpPr>
        <p:spPr>
          <a:xfrm>
            <a:off x="1097280" y="5257800"/>
            <a:ext cx="5486400" cy="420624"/>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Protecting your devices</a:t>
            </a:r>
            <a:endParaRPr lang="en-US" sz="1600" dirty="0"/>
          </a:p>
        </p:txBody>
      </p:sp>
      <p:sp>
        <p:nvSpPr>
          <p:cNvPr id="13" name="Text 7"/>
          <p:cNvSpPr/>
          <p:nvPr/>
        </p:nvSpPr>
        <p:spPr>
          <a:xfrm>
            <a:off x="640080" y="6080760"/>
            <a:ext cx="3657600" cy="365760"/>
          </a:xfrm>
          <a:prstGeom prst="rect">
            <a:avLst/>
          </a:prstGeom>
          <a:noFill/>
          <a:ln/>
        </p:spPr>
        <p:txBody>
          <a:bodyPr wrap="square" lIns="0" tIns="0" rIns="0" bIns="0" rtlCol="0" anchor="ctr"/>
          <a:lstStyle/>
          <a:p>
            <a:pPr indent="0" marL="0">
              <a:buNone/>
            </a:pPr>
            <a:r>
              <a:rPr lang="en-US" sz="1400" dirty="0">
                <a:solidFill>
                  <a:srgbClr val="8C857A"/>
                </a:solidFill>
                <a:latin typeface="Courier New" pitchFamily="34" charset="0"/>
                <a:ea typeface="Courier New" pitchFamily="34" charset="-122"/>
                <a:cs typeface="Courier New" pitchFamily="34" charset="-120"/>
              </a:rPr>
              <a:t>Mr Smith</a:t>
            </a:r>
            <a:endParaRPr lang="en-US" sz="1400" dirty="0"/>
          </a:p>
        </p:txBody>
      </p:sp>
      <p:sp>
        <p:nvSpPr>
          <p:cNvPr id="14" name="Text 8"/>
          <p:cNvSpPr/>
          <p:nvPr/>
        </p:nvSpPr>
        <p:spPr>
          <a:xfrm>
            <a:off x="6248095" y="6080760"/>
            <a:ext cx="5303520" cy="365760"/>
          </a:xfrm>
          <a:prstGeom prst="rect">
            <a:avLst/>
          </a:prstGeom>
          <a:noFill/>
          <a:ln/>
        </p:spPr>
        <p:txBody>
          <a:bodyPr wrap="square" lIns="0" tIns="0" rIns="0" bIns="0" rtlCol="0" anchor="ctr"/>
          <a:lstStyle/>
          <a:p>
            <a:pPr algn="r" indent="0" marL="0">
              <a:buNone/>
            </a:pPr>
            <a:r>
              <a:rPr lang="en-US" sz="1000" dirty="0">
                <a:solidFill>
                  <a:srgbClr val="6B6762"/>
                </a:solidFill>
                <a:latin typeface="Calibri" pitchFamily="34" charset="0"/>
                <a:ea typeface="Calibri" pitchFamily="34" charset="-122"/>
                <a:cs typeface="Calibri" pitchFamily="34" charset="-120"/>
              </a:rPr>
              <a:t>Staying Safe Online  ·  Lesson 3 of 3  ·  Year 7 Digital Technologies</a:t>
            </a:r>
            <a:endParaRPr lang="en-US" sz="1000" dirty="0"/>
          </a:p>
        </p:txBody>
      </p:sp>
      <p:sp>
        <p:nvSpPr>
          <p:cNvPr id="15" name="Text 9"/>
          <p:cNvSpPr/>
          <p:nvPr/>
        </p:nvSpPr>
        <p:spPr>
          <a:xfrm>
            <a:off x="11368735" y="365760"/>
            <a:ext cx="365760" cy="274320"/>
          </a:xfrm>
          <a:prstGeom prst="rect">
            <a:avLst/>
          </a:prstGeom>
          <a:noFill/>
          <a:ln/>
        </p:spPr>
        <p:txBody>
          <a:bodyPr wrap="square" lIns="0" tIns="0" rIns="0" bIns="0" rtlCol="0" anchor="ctr"/>
          <a:lstStyle/>
          <a:p>
            <a:pPr algn="r" indent="0" marL="0">
              <a:buNone/>
            </a:pPr>
            <a:r>
              <a:rPr lang="en-US" sz="1000" dirty="0">
                <a:solidFill>
                  <a:srgbClr val="6B6762"/>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365760"/>
            <a:ext cx="1554480" cy="329184"/>
          </a:xfrm>
          <a:prstGeom prst="roundRect">
            <a:avLst>
              <a:gd name="adj" fmla="val 50000"/>
            </a:avLst>
          </a:prstGeom>
          <a:solidFill>
            <a:srgbClr val="B8620A"/>
          </a:solidFill>
          <a:ln/>
        </p:spPr>
      </p:sp>
      <p:sp>
        <p:nvSpPr>
          <p:cNvPr id="3" name="Text 1"/>
          <p:cNvSpPr/>
          <p:nvPr/>
        </p:nvSpPr>
        <p:spPr>
          <a:xfrm>
            <a:off x="457200" y="365760"/>
            <a:ext cx="155448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WARM UP</a:t>
            </a:r>
            <a:endParaRPr lang="en-US" sz="1100" dirty="0"/>
          </a:p>
        </p:txBody>
      </p:sp>
      <p:sp>
        <p:nvSpPr>
          <p:cNvPr id="4" name="Shape 2"/>
          <p:cNvSpPr/>
          <p:nvPr/>
        </p:nvSpPr>
        <p:spPr>
          <a:xfrm>
            <a:off x="10042855" y="365760"/>
            <a:ext cx="1691640" cy="329184"/>
          </a:xfrm>
          <a:prstGeom prst="roundRect">
            <a:avLst>
              <a:gd name="adj" fmla="val 50000"/>
            </a:avLst>
          </a:prstGeom>
          <a:solidFill>
            <a:srgbClr val="5C1419"/>
          </a:solidFill>
          <a:ln/>
        </p:spPr>
      </p:sp>
      <p:sp>
        <p:nvSpPr>
          <p:cNvPr id="5" name="Text 3"/>
          <p:cNvSpPr/>
          <p:nvPr/>
        </p:nvSpPr>
        <p:spPr>
          <a:xfrm>
            <a:off x="10042855" y="365760"/>
            <a:ext cx="1691640" cy="329184"/>
          </a:xfrm>
          <a:prstGeom prst="rect">
            <a:avLst/>
          </a:prstGeom>
          <a:noFill/>
          <a:ln/>
        </p:spPr>
        <p:txBody>
          <a:bodyPr wrap="square" lIns="0" tIns="0" rIns="0" bIns="0"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DEVICES: AWAY</a:t>
            </a:r>
            <a:endParaRPr lang="en-US" sz="1100" dirty="0"/>
          </a:p>
        </p:txBody>
      </p:sp>
      <p:sp>
        <p:nvSpPr>
          <p:cNvPr id="6" name="Text 4"/>
          <p:cNvSpPr/>
          <p:nvPr/>
        </p:nvSpPr>
        <p:spPr>
          <a:xfrm>
            <a:off x="457200" y="868680"/>
            <a:ext cx="11277295" cy="685800"/>
          </a:xfrm>
          <a:prstGeom prst="rect">
            <a:avLst/>
          </a:prstGeom>
          <a:noFill/>
          <a:ln/>
        </p:spPr>
        <p:txBody>
          <a:bodyPr wrap="square" lIns="0" tIns="0" rIns="0" bIns="0" rtlCol="0" anchor="ctr"/>
          <a:lstStyle/>
          <a:p>
            <a:pPr indent="0" marL="0">
              <a:buNone/>
            </a:pPr>
            <a:r>
              <a:rPr lang="en-US" sz="3200" b="1" dirty="0">
                <a:solidFill>
                  <a:srgbClr val="14110F"/>
                </a:solidFill>
                <a:latin typeface="Bookman Old Style" pitchFamily="34" charset="0"/>
                <a:ea typeface="Bookman Old Style" pitchFamily="34" charset="-122"/>
                <a:cs typeface="Bookman Old Style" pitchFamily="34" charset="-120"/>
              </a:rPr>
              <a:t>Warm-Up: Spot the Red Flag</a:t>
            </a:r>
            <a:endParaRPr lang="en-US" sz="3200" dirty="0"/>
          </a:p>
        </p:txBody>
      </p:sp>
      <p:sp>
        <p:nvSpPr>
          <p:cNvPr id="7" name="Shape 5"/>
          <p:cNvSpPr/>
          <p:nvPr/>
        </p:nvSpPr>
        <p:spPr>
          <a:xfrm>
            <a:off x="457200" y="1691640"/>
            <a:ext cx="6949440" cy="4206240"/>
          </a:xfrm>
          <a:prstGeom prst="roundRect">
            <a:avLst>
              <a:gd name="adj" fmla="val 1739"/>
            </a:avLst>
          </a:prstGeom>
          <a:solidFill>
            <a:srgbClr val="FFFFFF"/>
          </a:solidFill>
          <a:ln w="12700">
            <a:solidFill>
              <a:srgbClr val="D8D3CA"/>
            </a:solidFill>
            <a:prstDash val="solid"/>
          </a:ln>
          <a:effectLst>
            <a:outerShdw sx="100000" sy="100000" kx="0" ky="0" algn="bl" rotWithShape="0" blurRad="101600" dist="25400" dir="5400000">
              <a:srgbClr val="000000">
                <a:alpha val="8000"/>
              </a:srgbClr>
            </a:outerShdw>
          </a:effectLst>
        </p:spPr>
      </p:sp>
      <p:sp>
        <p:nvSpPr>
          <p:cNvPr id="8" name="Text 6"/>
          <p:cNvSpPr/>
          <p:nvPr/>
        </p:nvSpPr>
        <p:spPr>
          <a:xfrm>
            <a:off x="777240" y="1874520"/>
            <a:ext cx="6400800" cy="365760"/>
          </a:xfrm>
          <a:prstGeom prst="rect">
            <a:avLst/>
          </a:prstGeom>
          <a:noFill/>
          <a:ln/>
        </p:spPr>
        <p:txBody>
          <a:bodyPr wrap="square" lIns="0" tIns="0" rIns="0" bIns="0" rtlCol="0" anchor="ctr"/>
          <a:lstStyle/>
          <a:p>
            <a:pPr indent="0" marL="0">
              <a:buNone/>
            </a:pPr>
            <a:r>
              <a:rPr lang="en-US" sz="1600" b="1" dirty="0">
                <a:solidFill>
                  <a:srgbClr val="14110F"/>
                </a:solidFill>
                <a:latin typeface="Calibri" pitchFamily="34" charset="0"/>
                <a:ea typeface="Calibri" pitchFamily="34" charset="-122"/>
                <a:cs typeface="Calibri" pitchFamily="34" charset="-120"/>
              </a:rPr>
              <a:t>Quick fire — thumbs up or thumbs down</a:t>
            </a:r>
            <a:endParaRPr lang="en-US" sz="1600" dirty="0"/>
          </a:p>
        </p:txBody>
      </p:sp>
      <p:sp>
        <p:nvSpPr>
          <p:cNvPr id="9" name="Text 7"/>
          <p:cNvSpPr/>
          <p:nvPr/>
        </p:nvSpPr>
        <p:spPr>
          <a:xfrm>
            <a:off x="777240" y="2286000"/>
            <a:ext cx="6400800" cy="548640"/>
          </a:xfrm>
          <a:prstGeom prst="rect">
            <a:avLst/>
          </a:prstGeom>
          <a:noFill/>
          <a:ln/>
        </p:spPr>
        <p:txBody>
          <a:bodyPr wrap="square" lIns="0" tIns="0" rIns="0" bIns="0" rtlCol="0" anchor="ctr"/>
          <a:lstStyle/>
          <a:p>
            <a:pPr indent="0" marL="0">
              <a:buNone/>
            </a:pPr>
            <a:r>
              <a:rPr lang="en-US" sz="1350" i="1" dirty="0">
                <a:solidFill>
                  <a:srgbClr val="2C2A28"/>
                </a:solidFill>
                <a:latin typeface="Calibri" pitchFamily="34" charset="0"/>
                <a:ea typeface="Calibri" pitchFamily="34" charset="-122"/>
                <a:cs typeface="Calibri" pitchFamily="34" charset="-120"/>
              </a:rPr>
              <a:t>On the count of three: thumbs UP if this message seems safe, thumbs DOWN if it's a red flag. No talking — just commit.</a:t>
            </a:r>
            <a:endParaRPr lang="en-US" sz="1350" dirty="0"/>
          </a:p>
        </p:txBody>
      </p:sp>
      <p:sp>
        <p:nvSpPr>
          <p:cNvPr id="10" name="Text 8"/>
          <p:cNvSpPr/>
          <p:nvPr/>
        </p:nvSpPr>
        <p:spPr>
          <a:xfrm>
            <a:off x="777240" y="2880360"/>
            <a:ext cx="6400800" cy="457200"/>
          </a:xfrm>
          <a:prstGeom prst="rect">
            <a:avLst/>
          </a:prstGeom>
          <a:noFill/>
          <a:ln/>
        </p:spPr>
        <p:txBody>
          <a:bodyPr wrap="square" lIns="0" tIns="0" rIns="0" bIns="0" rtlCol="0" anchor="ctr"/>
          <a:lstStyle/>
          <a:p>
            <a:pPr indent="0" marL="0">
              <a:buNone/>
            </a:pPr>
            <a:r>
              <a:rPr lang="en-US" sz="1350" dirty="0">
                <a:solidFill>
                  <a:srgbClr val="2C2A28"/>
                </a:solidFill>
                <a:latin typeface="Calibri" pitchFamily="34" charset="0"/>
                <a:ea typeface="Calibri" pitchFamily="34" charset="-122"/>
                <a:cs typeface="Calibri" pitchFamily="34" charset="-120"/>
              </a:rPr>
              <a:t>1.  “You've won a free iPhone! Click here in the next 5 minutes.”</a:t>
            </a:r>
            <a:endParaRPr lang="en-US" sz="1350" dirty="0"/>
          </a:p>
        </p:txBody>
      </p:sp>
      <p:sp>
        <p:nvSpPr>
          <p:cNvPr id="11" name="Text 9"/>
          <p:cNvSpPr/>
          <p:nvPr/>
        </p:nvSpPr>
        <p:spPr>
          <a:xfrm>
            <a:off x="777240" y="3337560"/>
            <a:ext cx="6400800" cy="457200"/>
          </a:xfrm>
          <a:prstGeom prst="rect">
            <a:avLst/>
          </a:prstGeom>
          <a:noFill/>
          <a:ln/>
        </p:spPr>
        <p:txBody>
          <a:bodyPr wrap="square" lIns="0" tIns="0" rIns="0" bIns="0" rtlCol="0" anchor="ctr"/>
          <a:lstStyle/>
          <a:p>
            <a:pPr indent="0" marL="0">
              <a:buNone/>
            </a:pPr>
            <a:r>
              <a:rPr lang="en-US" sz="1350" dirty="0">
                <a:solidFill>
                  <a:srgbClr val="2C2A28"/>
                </a:solidFill>
                <a:latin typeface="Calibri" pitchFamily="34" charset="0"/>
                <a:ea typeface="Calibri" pitchFamily="34" charset="-122"/>
                <a:cs typeface="Calibri" pitchFamily="34" charset="-120"/>
              </a:rPr>
              <a:t>2.  A friend's message says “hey is this you in this video??” with a strange link.</a:t>
            </a:r>
            <a:endParaRPr lang="en-US" sz="1350" dirty="0"/>
          </a:p>
        </p:txBody>
      </p:sp>
      <p:sp>
        <p:nvSpPr>
          <p:cNvPr id="12" name="Text 10"/>
          <p:cNvSpPr/>
          <p:nvPr/>
        </p:nvSpPr>
        <p:spPr>
          <a:xfrm>
            <a:off x="777240" y="3794760"/>
            <a:ext cx="6400800" cy="457200"/>
          </a:xfrm>
          <a:prstGeom prst="rect">
            <a:avLst/>
          </a:prstGeom>
          <a:noFill/>
          <a:ln/>
        </p:spPr>
        <p:txBody>
          <a:bodyPr wrap="square" lIns="0" tIns="0" rIns="0" bIns="0" rtlCol="0" anchor="ctr"/>
          <a:lstStyle/>
          <a:p>
            <a:pPr indent="0" marL="0">
              <a:buNone/>
            </a:pPr>
            <a:r>
              <a:rPr lang="en-US" sz="1350" dirty="0">
                <a:solidFill>
                  <a:srgbClr val="2C2A28"/>
                </a:solidFill>
                <a:latin typeface="Calibri" pitchFamily="34" charset="0"/>
                <a:ea typeface="Calibri" pitchFamily="34" charset="-122"/>
                <a:cs typeface="Calibri" pitchFamily="34" charset="-120"/>
              </a:rPr>
              <a:t>3.  Your school's portal asks for your login when you click its normal bookmark.</a:t>
            </a:r>
            <a:endParaRPr lang="en-US" sz="1350" dirty="0"/>
          </a:p>
        </p:txBody>
      </p:sp>
      <p:sp>
        <p:nvSpPr>
          <p:cNvPr id="13" name="Text 11"/>
          <p:cNvSpPr/>
          <p:nvPr/>
        </p:nvSpPr>
        <p:spPr>
          <a:xfrm>
            <a:off x="777240" y="4251960"/>
            <a:ext cx="6400800" cy="457200"/>
          </a:xfrm>
          <a:prstGeom prst="rect">
            <a:avLst/>
          </a:prstGeom>
          <a:noFill/>
          <a:ln/>
        </p:spPr>
        <p:txBody>
          <a:bodyPr wrap="square" lIns="0" tIns="0" rIns="0" bIns="0" rtlCol="0" anchor="ctr"/>
          <a:lstStyle/>
          <a:p>
            <a:pPr indent="0" marL="0">
              <a:buNone/>
            </a:pPr>
            <a:r>
              <a:rPr lang="en-US" sz="1350" dirty="0">
                <a:solidFill>
                  <a:srgbClr val="2C2A28"/>
                </a:solidFill>
                <a:latin typeface="Calibri" pitchFamily="34" charset="0"/>
                <a:ea typeface="Calibri" pitchFamily="34" charset="-122"/>
                <a:cs typeface="Calibri" pitchFamily="34" charset="-120"/>
              </a:rPr>
              <a:t>4.  A stranger online asks for your home address “just to send you a gift.”</a:t>
            </a:r>
            <a:endParaRPr lang="en-US" sz="1350" dirty="0"/>
          </a:p>
        </p:txBody>
      </p:sp>
      <p:sp>
        <p:nvSpPr>
          <p:cNvPr id="14" name="Text 12"/>
          <p:cNvSpPr/>
          <p:nvPr/>
        </p:nvSpPr>
        <p:spPr>
          <a:xfrm>
            <a:off x="777240" y="4709160"/>
            <a:ext cx="6400800" cy="457200"/>
          </a:xfrm>
          <a:prstGeom prst="rect">
            <a:avLst/>
          </a:prstGeom>
          <a:noFill/>
          <a:ln/>
        </p:spPr>
        <p:txBody>
          <a:bodyPr wrap="square" lIns="0" tIns="0" rIns="0" bIns="0" rtlCol="0" anchor="ctr"/>
          <a:lstStyle/>
          <a:p>
            <a:pPr indent="0" marL="0">
              <a:buNone/>
            </a:pPr>
            <a:r>
              <a:rPr lang="en-US" sz="1350" dirty="0">
                <a:solidFill>
                  <a:srgbClr val="2C2A28"/>
                </a:solidFill>
                <a:latin typeface="Calibri" pitchFamily="34" charset="0"/>
                <a:ea typeface="Calibri" pitchFamily="34" charset="-122"/>
                <a:cs typeface="Calibri" pitchFamily="34" charset="-120"/>
              </a:rPr>
              <a:t>5.  An app update notification appears from the app store you already use.</a:t>
            </a:r>
            <a:endParaRPr lang="en-US" sz="1350" dirty="0"/>
          </a:p>
        </p:txBody>
      </p:sp>
      <p:sp>
        <p:nvSpPr>
          <p:cNvPr id="15" name="Shape 13"/>
          <p:cNvSpPr/>
          <p:nvPr/>
        </p:nvSpPr>
        <p:spPr>
          <a:xfrm>
            <a:off x="7635240" y="1691640"/>
            <a:ext cx="4069080" cy="4206240"/>
          </a:xfrm>
          <a:prstGeom prst="roundRect">
            <a:avLst>
              <a:gd name="adj" fmla="val 1798"/>
            </a:avLst>
          </a:prstGeom>
          <a:solidFill>
            <a:srgbClr val="EAF0EC"/>
          </a:solidFill>
          <a:ln w="12700">
            <a:solidFill>
              <a:srgbClr val="1B5E47"/>
            </a:solidFill>
            <a:prstDash val="solid"/>
          </a:ln>
        </p:spPr>
      </p:sp>
      <p:pic>
        <p:nvPicPr>
          <p:cNvPr id="16" name="Image 0" descr="preencoded.png">    </p:cNvPr>
          <p:cNvPicPr>
            <a:picLocks noChangeAspect="1"/>
          </p:cNvPicPr>
          <p:nvPr/>
        </p:nvPicPr>
        <p:blipFill>
          <a:blip r:embed="rId1"/>
          <a:stretch>
            <a:fillRect/>
          </a:stretch>
        </p:blipFill>
        <p:spPr>
          <a:xfrm>
            <a:off x="7909560" y="1920240"/>
            <a:ext cx="365760" cy="365760"/>
          </a:xfrm>
          <a:prstGeom prst="rect">
            <a:avLst/>
          </a:prstGeom>
        </p:spPr>
      </p:pic>
      <p:sp>
        <p:nvSpPr>
          <p:cNvPr id="17" name="Text 14"/>
          <p:cNvSpPr/>
          <p:nvPr/>
        </p:nvSpPr>
        <p:spPr>
          <a:xfrm>
            <a:off x="8366760" y="1920240"/>
            <a:ext cx="3200400" cy="365760"/>
          </a:xfrm>
          <a:prstGeom prst="rect">
            <a:avLst/>
          </a:prstGeom>
          <a:noFill/>
          <a:ln/>
        </p:spPr>
        <p:txBody>
          <a:bodyPr wrap="square" lIns="0" tIns="0" rIns="0" bIns="0" rtlCol="0" anchor="ctr"/>
          <a:lstStyle/>
          <a:p>
            <a:pPr indent="0" marL="0">
              <a:buNone/>
            </a:pPr>
            <a:r>
              <a:rPr lang="en-US" sz="1600" b="1" dirty="0">
                <a:solidFill>
                  <a:srgbClr val="1B5E47"/>
                </a:solidFill>
                <a:latin typeface="Calibri" pitchFamily="34" charset="0"/>
                <a:ea typeface="Calibri" pitchFamily="34" charset="-122"/>
                <a:cs typeface="Calibri" pitchFamily="34" charset="-120"/>
              </a:rPr>
              <a:t>Then discuss</a:t>
            </a:r>
            <a:endParaRPr lang="en-US" sz="1600" dirty="0"/>
          </a:p>
        </p:txBody>
      </p:sp>
      <p:sp>
        <p:nvSpPr>
          <p:cNvPr id="18" name="Text 15"/>
          <p:cNvSpPr/>
          <p:nvPr/>
        </p:nvSpPr>
        <p:spPr>
          <a:xfrm>
            <a:off x="7909560" y="2468880"/>
            <a:ext cx="3566160" cy="777240"/>
          </a:xfrm>
          <a:prstGeom prst="rect">
            <a:avLst/>
          </a:prstGeom>
          <a:noFill/>
          <a:ln/>
        </p:spPr>
        <p:txBody>
          <a:bodyPr wrap="square" lIns="0" tIns="0" rIns="0" bIns="0" rtlCol="0" anchor="ctr"/>
          <a:lstStyle/>
          <a:p>
            <a:pPr indent="0" marL="0">
              <a:buNone/>
            </a:pPr>
            <a:r>
              <a:rPr lang="en-US" sz="1300" dirty="0">
                <a:solidFill>
                  <a:srgbClr val="2C2A28"/>
                </a:solidFill>
                <a:latin typeface="Calibri" pitchFamily="34" charset="0"/>
                <a:ea typeface="Calibri" pitchFamily="34" charset="-122"/>
                <a:cs typeface="Calibri" pitchFamily="34" charset="-120"/>
              </a:rPr>
              <a:t>Which one was the easiest to spot? Which was trickiest?</a:t>
            </a:r>
            <a:endParaRPr lang="en-US" sz="1300" dirty="0"/>
          </a:p>
        </p:txBody>
      </p:sp>
      <p:sp>
        <p:nvSpPr>
          <p:cNvPr id="19" name="Text 16"/>
          <p:cNvSpPr/>
          <p:nvPr/>
        </p:nvSpPr>
        <p:spPr>
          <a:xfrm>
            <a:off x="7909560" y="3337560"/>
            <a:ext cx="3566160" cy="777240"/>
          </a:xfrm>
          <a:prstGeom prst="rect">
            <a:avLst/>
          </a:prstGeom>
          <a:noFill/>
          <a:ln/>
        </p:spPr>
        <p:txBody>
          <a:bodyPr wrap="square" lIns="0" tIns="0" rIns="0" bIns="0" rtlCol="0" anchor="ctr"/>
          <a:lstStyle/>
          <a:p>
            <a:pPr indent="0" marL="0">
              <a:buNone/>
            </a:pPr>
            <a:r>
              <a:rPr lang="en-US" sz="1300" dirty="0">
                <a:solidFill>
                  <a:srgbClr val="2C2A28"/>
                </a:solidFill>
                <a:latin typeface="Calibri" pitchFamily="34" charset="0"/>
                <a:ea typeface="Calibri" pitchFamily="34" charset="-122"/>
                <a:cs typeface="Calibri" pitchFamily="34" charset="-120"/>
              </a:rPr>
              <a:t>What gave it away — was it a feeling, or something specific?</a:t>
            </a:r>
            <a:endParaRPr lang="en-US" sz="1300" dirty="0"/>
          </a:p>
        </p:txBody>
      </p:sp>
      <p:sp>
        <p:nvSpPr>
          <p:cNvPr id="20" name="Text 17"/>
          <p:cNvSpPr/>
          <p:nvPr/>
        </p:nvSpPr>
        <p:spPr>
          <a:xfrm>
            <a:off x="7909560" y="4206240"/>
            <a:ext cx="3566160" cy="777240"/>
          </a:xfrm>
          <a:prstGeom prst="rect">
            <a:avLst/>
          </a:prstGeom>
          <a:noFill/>
          <a:ln/>
        </p:spPr>
        <p:txBody>
          <a:bodyPr wrap="square" lIns="0" tIns="0" rIns="0" bIns="0" rtlCol="0" anchor="ctr"/>
          <a:lstStyle/>
          <a:p>
            <a:pPr indent="0" marL="0">
              <a:buNone/>
            </a:pPr>
            <a:r>
              <a:rPr lang="en-US" sz="1300" dirty="0">
                <a:solidFill>
                  <a:srgbClr val="2C2A28"/>
                </a:solidFill>
                <a:latin typeface="Calibri" pitchFamily="34" charset="0"/>
                <a:ea typeface="Calibri" pitchFamily="34" charset="-122"/>
                <a:cs typeface="Calibri" pitchFamily="34" charset="-120"/>
              </a:rPr>
              <a:t>Has something like this ever popped up for you or someone you know?</a:t>
            </a:r>
            <a:endParaRPr lang="en-US" sz="1300" dirty="0"/>
          </a:p>
        </p:txBody>
      </p:sp>
      <p:sp>
        <p:nvSpPr>
          <p:cNvPr id="21" name="Text 18"/>
          <p:cNvSpPr/>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8C857A"/>
                </a:solidFill>
                <a:latin typeface="Calibri" pitchFamily="34" charset="0"/>
                <a:ea typeface="Calibri" pitchFamily="34" charset="-122"/>
                <a:cs typeface="Calibri" pitchFamily="34" charset="-120"/>
              </a:rPr>
              <a:t>Staying Safe Online  ·  Lesson 3 of 3  ·  Year 7 Digital Technologies</a:t>
            </a:r>
            <a:endParaRPr lang="en-US" sz="1000" dirty="0"/>
          </a:p>
        </p:txBody>
      </p:sp>
      <p:sp>
        <p:nvSpPr>
          <p:cNvPr id="22"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8C857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365760"/>
            <a:ext cx="1554480" cy="329184"/>
          </a:xfrm>
          <a:prstGeom prst="roundRect">
            <a:avLst>
              <a:gd name="adj" fmla="val 50000"/>
            </a:avLst>
          </a:prstGeom>
          <a:solidFill>
            <a:srgbClr val="2B3A8C"/>
          </a:solidFill>
          <a:ln/>
        </p:spPr>
      </p:sp>
      <p:sp>
        <p:nvSpPr>
          <p:cNvPr id="3" name="Text 1"/>
          <p:cNvSpPr/>
          <p:nvPr/>
        </p:nvSpPr>
        <p:spPr>
          <a:xfrm>
            <a:off x="457200" y="365760"/>
            <a:ext cx="155448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OBJECTIVE</a:t>
            </a:r>
            <a:endParaRPr lang="en-US" sz="1100" dirty="0"/>
          </a:p>
        </p:txBody>
      </p:sp>
      <p:sp>
        <p:nvSpPr>
          <p:cNvPr id="4" name="Shape 2"/>
          <p:cNvSpPr/>
          <p:nvPr/>
        </p:nvSpPr>
        <p:spPr>
          <a:xfrm>
            <a:off x="10042855" y="365760"/>
            <a:ext cx="1691640" cy="329184"/>
          </a:xfrm>
          <a:prstGeom prst="roundRect">
            <a:avLst>
              <a:gd name="adj" fmla="val 50000"/>
            </a:avLst>
          </a:prstGeom>
          <a:solidFill>
            <a:srgbClr val="5C1419"/>
          </a:solidFill>
          <a:ln/>
        </p:spPr>
      </p:sp>
      <p:sp>
        <p:nvSpPr>
          <p:cNvPr id="5" name="Text 3"/>
          <p:cNvSpPr/>
          <p:nvPr/>
        </p:nvSpPr>
        <p:spPr>
          <a:xfrm>
            <a:off x="10042855" y="365760"/>
            <a:ext cx="1691640" cy="329184"/>
          </a:xfrm>
          <a:prstGeom prst="rect">
            <a:avLst/>
          </a:prstGeom>
          <a:noFill/>
          <a:ln/>
        </p:spPr>
        <p:txBody>
          <a:bodyPr wrap="square" lIns="0" tIns="0" rIns="0" bIns="0"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DEVICES: AWAY</a:t>
            </a:r>
            <a:endParaRPr lang="en-US" sz="1100" dirty="0"/>
          </a:p>
        </p:txBody>
      </p:sp>
      <p:sp>
        <p:nvSpPr>
          <p:cNvPr id="6" name="Text 4"/>
          <p:cNvSpPr/>
          <p:nvPr/>
        </p:nvSpPr>
        <p:spPr>
          <a:xfrm>
            <a:off x="457200" y="868680"/>
            <a:ext cx="11277295" cy="685800"/>
          </a:xfrm>
          <a:prstGeom prst="rect">
            <a:avLst/>
          </a:prstGeom>
          <a:noFill/>
          <a:ln/>
        </p:spPr>
        <p:txBody>
          <a:bodyPr wrap="square" lIns="0" tIns="0" rIns="0" bIns="0" rtlCol="0" anchor="ctr"/>
          <a:lstStyle/>
          <a:p>
            <a:pPr indent="0" marL="0">
              <a:buNone/>
            </a:pPr>
            <a:r>
              <a:rPr lang="en-US" sz="3200" b="1" dirty="0">
                <a:solidFill>
                  <a:srgbClr val="14110F"/>
                </a:solidFill>
                <a:latin typeface="Bookman Old Style" pitchFamily="34" charset="0"/>
                <a:ea typeface="Bookman Old Style" pitchFamily="34" charset="-122"/>
                <a:cs typeface="Bookman Old Style" pitchFamily="34" charset="-120"/>
              </a:rPr>
              <a:t>What We're Learning Today</a:t>
            </a:r>
            <a:endParaRPr lang="en-US" sz="3200" dirty="0"/>
          </a:p>
        </p:txBody>
      </p:sp>
      <p:sp>
        <p:nvSpPr>
          <p:cNvPr id="7" name="Shape 5"/>
          <p:cNvSpPr/>
          <p:nvPr/>
        </p:nvSpPr>
        <p:spPr>
          <a:xfrm>
            <a:off x="457200" y="1691640"/>
            <a:ext cx="11247120" cy="1051560"/>
          </a:xfrm>
          <a:prstGeom prst="roundRect">
            <a:avLst>
              <a:gd name="adj" fmla="val 6957"/>
            </a:avLst>
          </a:prstGeom>
          <a:solidFill>
            <a:srgbClr val="EEF0F8"/>
          </a:solidFill>
          <a:ln w="12700">
            <a:solidFill>
              <a:srgbClr val="2B3A8C"/>
            </a:solidFill>
            <a:prstDash val="solid"/>
          </a:ln>
        </p:spPr>
      </p:sp>
      <p:sp>
        <p:nvSpPr>
          <p:cNvPr id="8" name="Text 6"/>
          <p:cNvSpPr/>
          <p:nvPr/>
        </p:nvSpPr>
        <p:spPr>
          <a:xfrm>
            <a:off x="731520" y="1828800"/>
            <a:ext cx="4572000" cy="274320"/>
          </a:xfrm>
          <a:prstGeom prst="rect">
            <a:avLst/>
          </a:prstGeom>
          <a:noFill/>
          <a:ln/>
        </p:spPr>
        <p:txBody>
          <a:bodyPr wrap="square" lIns="0" tIns="0" rIns="0" bIns="0" rtlCol="0" anchor="ctr"/>
          <a:lstStyle/>
          <a:p>
            <a:pPr indent="0" marL="0">
              <a:buNone/>
            </a:pPr>
            <a:r>
              <a:rPr lang="en-US" sz="1100" b="1" spc="100" kern="0" dirty="0">
                <a:solidFill>
                  <a:srgbClr val="2B3A8C"/>
                </a:solidFill>
                <a:latin typeface="Calibri" pitchFamily="34" charset="0"/>
                <a:ea typeface="Calibri" pitchFamily="34" charset="-122"/>
                <a:cs typeface="Calibri" pitchFamily="34" charset="-120"/>
              </a:rPr>
              <a:t>LEARNING OBJECTIVE</a:t>
            </a:r>
            <a:endParaRPr lang="en-US" sz="1100" dirty="0"/>
          </a:p>
        </p:txBody>
      </p:sp>
      <p:sp>
        <p:nvSpPr>
          <p:cNvPr id="9" name="Text 7"/>
          <p:cNvSpPr/>
          <p:nvPr/>
        </p:nvSpPr>
        <p:spPr>
          <a:xfrm>
            <a:off x="731520" y="2121408"/>
            <a:ext cx="10698480" cy="548640"/>
          </a:xfrm>
          <a:prstGeom prst="rect">
            <a:avLst/>
          </a:prstGeom>
          <a:noFill/>
          <a:ln/>
        </p:spPr>
        <p:txBody>
          <a:bodyPr wrap="square" lIns="0" tIns="0" rIns="0" bIns="0" rtlCol="0" anchor="ctr"/>
          <a:lstStyle/>
          <a:p>
            <a:pPr indent="0" marL="0">
              <a:buNone/>
            </a:pPr>
            <a:r>
              <a:rPr lang="en-US" sz="1700" dirty="0">
                <a:solidFill>
                  <a:srgbClr val="14110F"/>
                </a:solidFill>
                <a:latin typeface="Calibri" pitchFamily="34" charset="0"/>
                <a:ea typeface="Calibri" pitchFamily="34" charset="-122"/>
                <a:cs typeface="Calibri" pitchFamily="34" charset="-120"/>
              </a:rPr>
              <a:t>To be able to identify risks to your safety and privacy online, and apply habits that protect you, your data, and your devices.</a:t>
            </a:r>
            <a:endParaRPr lang="en-US" sz="1700" dirty="0"/>
          </a:p>
        </p:txBody>
      </p:sp>
      <p:sp>
        <p:nvSpPr>
          <p:cNvPr id="10" name="Text 8"/>
          <p:cNvSpPr/>
          <p:nvPr/>
        </p:nvSpPr>
        <p:spPr>
          <a:xfrm>
            <a:off x="457200" y="2971800"/>
            <a:ext cx="4572000" cy="274320"/>
          </a:xfrm>
          <a:prstGeom prst="rect">
            <a:avLst/>
          </a:prstGeom>
          <a:noFill/>
          <a:ln/>
        </p:spPr>
        <p:txBody>
          <a:bodyPr wrap="square" lIns="0" tIns="0" rIns="0" bIns="0" rtlCol="0" anchor="ctr"/>
          <a:lstStyle/>
          <a:p>
            <a:pPr indent="0" marL="0">
              <a:buNone/>
            </a:pPr>
            <a:r>
              <a:rPr lang="en-US" sz="1100" b="1" spc="100" kern="0" dirty="0">
                <a:solidFill>
                  <a:srgbClr val="6B6762"/>
                </a:solidFill>
                <a:latin typeface="Calibri" pitchFamily="34" charset="0"/>
                <a:ea typeface="Calibri" pitchFamily="34" charset="-122"/>
                <a:cs typeface="Calibri" pitchFamily="34" charset="-120"/>
              </a:rPr>
              <a:t>SUCCESS CRITERIA</a:t>
            </a:r>
            <a:endParaRPr lang="en-US" sz="1100" dirty="0"/>
          </a:p>
        </p:txBody>
      </p:sp>
      <p:sp>
        <p:nvSpPr>
          <p:cNvPr id="11" name="Shape 9"/>
          <p:cNvSpPr/>
          <p:nvPr/>
        </p:nvSpPr>
        <p:spPr>
          <a:xfrm>
            <a:off x="457200" y="3337560"/>
            <a:ext cx="3703320" cy="2606040"/>
          </a:xfrm>
          <a:prstGeom prst="roundRect">
            <a:avLst>
              <a:gd name="adj" fmla="val 2807"/>
            </a:avLst>
          </a:prstGeom>
          <a:solidFill>
            <a:srgbClr val="EAF0EC"/>
          </a:solidFill>
          <a:ln w="12700">
            <a:solidFill>
              <a:srgbClr val="1B5E47"/>
            </a:solidFill>
            <a:prstDash val="solid"/>
          </a:ln>
        </p:spPr>
      </p:sp>
      <p:sp>
        <p:nvSpPr>
          <p:cNvPr id="12" name="Text 10"/>
          <p:cNvSpPr/>
          <p:nvPr/>
        </p:nvSpPr>
        <p:spPr>
          <a:xfrm>
            <a:off x="685800" y="3520440"/>
            <a:ext cx="3246120" cy="365760"/>
          </a:xfrm>
          <a:prstGeom prst="rect">
            <a:avLst/>
          </a:prstGeom>
          <a:noFill/>
          <a:ln/>
        </p:spPr>
        <p:txBody>
          <a:bodyPr wrap="square" lIns="0" tIns="0" rIns="0" bIns="0" rtlCol="0" anchor="ctr"/>
          <a:lstStyle/>
          <a:p>
            <a:pPr indent="0" marL="0">
              <a:buNone/>
            </a:pPr>
            <a:r>
              <a:rPr lang="en-US" sz="1600" b="1" dirty="0">
                <a:solidFill>
                  <a:srgbClr val="1B5E47"/>
                </a:solidFill>
                <a:latin typeface="Calibri" pitchFamily="34" charset="0"/>
                <a:ea typeface="Calibri" pitchFamily="34" charset="-122"/>
                <a:cs typeface="Calibri" pitchFamily="34" charset="-120"/>
              </a:rPr>
              <a:t>Foundation</a:t>
            </a:r>
            <a:endParaRPr lang="en-US" sz="1600" dirty="0"/>
          </a:p>
        </p:txBody>
      </p:sp>
      <p:sp>
        <p:nvSpPr>
          <p:cNvPr id="13" name="Text 11"/>
          <p:cNvSpPr/>
          <p:nvPr/>
        </p:nvSpPr>
        <p:spPr>
          <a:xfrm>
            <a:off x="685800" y="3931920"/>
            <a:ext cx="3246120" cy="1874520"/>
          </a:xfrm>
          <a:prstGeom prst="rect">
            <a:avLst/>
          </a:prstGeom>
          <a:noFill/>
          <a:ln/>
        </p:spPr>
        <p:txBody>
          <a:bodyPr wrap="square" lIns="0" tIns="0" rIns="0" bIns="0" rtlCol="0" anchor="ctr"/>
          <a:lstStyle/>
          <a:p>
            <a:pPr indent="0" marL="0">
              <a:buNone/>
            </a:pPr>
            <a:r>
              <a:rPr lang="en-US" sz="1400" i="1" dirty="0">
                <a:solidFill>
                  <a:srgbClr val="2C2A28"/>
                </a:solidFill>
                <a:latin typeface="Calibri" pitchFamily="34" charset="0"/>
                <a:ea typeface="Calibri" pitchFamily="34" charset="-122"/>
                <a:cs typeface="Calibri" pitchFamily="34" charset="-120"/>
              </a:rPr>
              <a:t>“I can identify personal information that should stay private, and describe one online scam warning sign.”</a:t>
            </a:r>
            <a:endParaRPr lang="en-US" sz="1400" dirty="0"/>
          </a:p>
        </p:txBody>
      </p:sp>
      <p:sp>
        <p:nvSpPr>
          <p:cNvPr id="14" name="Shape 12"/>
          <p:cNvSpPr/>
          <p:nvPr/>
        </p:nvSpPr>
        <p:spPr>
          <a:xfrm>
            <a:off x="4297680" y="3337560"/>
            <a:ext cx="3703320" cy="2606040"/>
          </a:xfrm>
          <a:prstGeom prst="roundRect">
            <a:avLst>
              <a:gd name="adj" fmla="val 2807"/>
            </a:avLst>
          </a:prstGeom>
          <a:solidFill>
            <a:srgbClr val="FBF1E6"/>
          </a:solidFill>
          <a:ln w="12700">
            <a:solidFill>
              <a:srgbClr val="B8620A"/>
            </a:solidFill>
            <a:prstDash val="solid"/>
          </a:ln>
        </p:spPr>
      </p:sp>
      <p:sp>
        <p:nvSpPr>
          <p:cNvPr id="15" name="Text 13"/>
          <p:cNvSpPr/>
          <p:nvPr/>
        </p:nvSpPr>
        <p:spPr>
          <a:xfrm>
            <a:off x="4526280" y="3520440"/>
            <a:ext cx="3246120" cy="365760"/>
          </a:xfrm>
          <a:prstGeom prst="rect">
            <a:avLst/>
          </a:prstGeom>
          <a:noFill/>
          <a:ln/>
        </p:spPr>
        <p:txBody>
          <a:bodyPr wrap="square" lIns="0" tIns="0" rIns="0" bIns="0" rtlCol="0" anchor="ctr"/>
          <a:lstStyle/>
          <a:p>
            <a:pPr indent="0" marL="0">
              <a:buNone/>
            </a:pPr>
            <a:r>
              <a:rPr lang="en-US" sz="1600" b="1" dirty="0">
                <a:solidFill>
                  <a:srgbClr val="B8620A"/>
                </a:solidFill>
                <a:latin typeface="Calibri" pitchFamily="34" charset="0"/>
                <a:ea typeface="Calibri" pitchFamily="34" charset="-122"/>
                <a:cs typeface="Calibri" pitchFamily="34" charset="-120"/>
              </a:rPr>
              <a:t>Developing</a:t>
            </a:r>
            <a:endParaRPr lang="en-US" sz="1600" dirty="0"/>
          </a:p>
        </p:txBody>
      </p:sp>
      <p:sp>
        <p:nvSpPr>
          <p:cNvPr id="16" name="Text 14"/>
          <p:cNvSpPr/>
          <p:nvPr/>
        </p:nvSpPr>
        <p:spPr>
          <a:xfrm>
            <a:off x="4526280" y="3931920"/>
            <a:ext cx="3246120" cy="1874520"/>
          </a:xfrm>
          <a:prstGeom prst="rect">
            <a:avLst/>
          </a:prstGeom>
          <a:noFill/>
          <a:ln/>
        </p:spPr>
        <p:txBody>
          <a:bodyPr wrap="square" lIns="0" tIns="0" rIns="0" bIns="0" rtlCol="0" anchor="ctr"/>
          <a:lstStyle/>
          <a:p>
            <a:pPr indent="0" marL="0">
              <a:buNone/>
            </a:pPr>
            <a:r>
              <a:rPr lang="en-US" sz="1400" i="1" dirty="0">
                <a:solidFill>
                  <a:srgbClr val="2C2A28"/>
                </a:solidFill>
                <a:latin typeface="Calibri" pitchFamily="34" charset="0"/>
                <a:ea typeface="Calibri" pitchFamily="34" charset="-122"/>
                <a:cs typeface="Calibri" pitchFamily="34" charset="-120"/>
              </a:rPr>
              <a:t>“I can explain what makes a password strong and describe how to spot a phishing message.”</a:t>
            </a:r>
            <a:endParaRPr lang="en-US" sz="1400" dirty="0"/>
          </a:p>
        </p:txBody>
      </p:sp>
      <p:sp>
        <p:nvSpPr>
          <p:cNvPr id="17" name="Shape 15"/>
          <p:cNvSpPr/>
          <p:nvPr/>
        </p:nvSpPr>
        <p:spPr>
          <a:xfrm>
            <a:off x="8138160" y="3337560"/>
            <a:ext cx="3703320" cy="2606040"/>
          </a:xfrm>
          <a:prstGeom prst="roundRect">
            <a:avLst>
              <a:gd name="adj" fmla="val 2807"/>
            </a:avLst>
          </a:prstGeom>
          <a:solidFill>
            <a:srgbClr val="EEF0F8"/>
          </a:solidFill>
          <a:ln w="12700">
            <a:solidFill>
              <a:srgbClr val="2B3A8C"/>
            </a:solidFill>
            <a:prstDash val="solid"/>
          </a:ln>
        </p:spPr>
      </p:sp>
      <p:sp>
        <p:nvSpPr>
          <p:cNvPr id="18" name="Text 16"/>
          <p:cNvSpPr/>
          <p:nvPr/>
        </p:nvSpPr>
        <p:spPr>
          <a:xfrm>
            <a:off x="8366760" y="3520440"/>
            <a:ext cx="3246120" cy="365760"/>
          </a:xfrm>
          <a:prstGeom prst="rect">
            <a:avLst/>
          </a:prstGeom>
          <a:noFill/>
          <a:ln/>
        </p:spPr>
        <p:txBody>
          <a:bodyPr wrap="square" lIns="0" tIns="0" rIns="0" bIns="0" rtlCol="0" anchor="ctr"/>
          <a:lstStyle/>
          <a:p>
            <a:pPr indent="0" marL="0">
              <a:buNone/>
            </a:pPr>
            <a:r>
              <a:rPr lang="en-US" sz="1600" b="1" dirty="0">
                <a:solidFill>
                  <a:srgbClr val="2B3A8C"/>
                </a:solidFill>
                <a:latin typeface="Calibri" pitchFamily="34" charset="0"/>
                <a:ea typeface="Calibri" pitchFamily="34" charset="-122"/>
                <a:cs typeface="Calibri" pitchFamily="34" charset="-120"/>
              </a:rPr>
              <a:t>Extending</a:t>
            </a:r>
            <a:endParaRPr lang="en-US" sz="1600" dirty="0"/>
          </a:p>
        </p:txBody>
      </p:sp>
      <p:sp>
        <p:nvSpPr>
          <p:cNvPr id="19" name="Text 17"/>
          <p:cNvSpPr/>
          <p:nvPr/>
        </p:nvSpPr>
        <p:spPr>
          <a:xfrm>
            <a:off x="8366760" y="3931920"/>
            <a:ext cx="3246120" cy="1874520"/>
          </a:xfrm>
          <a:prstGeom prst="rect">
            <a:avLst/>
          </a:prstGeom>
          <a:noFill/>
          <a:ln/>
        </p:spPr>
        <p:txBody>
          <a:bodyPr wrap="square" lIns="0" tIns="0" rIns="0" bIns="0" rtlCol="0" anchor="ctr"/>
          <a:lstStyle/>
          <a:p>
            <a:pPr indent="0" marL="0">
              <a:buNone/>
            </a:pPr>
            <a:r>
              <a:rPr lang="en-US" sz="1400" i="1" dirty="0">
                <a:solidFill>
                  <a:srgbClr val="2C2A28"/>
                </a:solidFill>
                <a:latin typeface="Calibri" pitchFamily="34" charset="0"/>
                <a:ea typeface="Calibri" pitchFamily="34" charset="-122"/>
                <a:cs typeface="Calibri" pitchFamily="34" charset="-120"/>
              </a:rPr>
              <a:t>“I can explain how malware can affect a device, and justify a set of safety habits a Year 7 student should follow.”</a:t>
            </a:r>
            <a:endParaRPr lang="en-US" sz="1400" dirty="0"/>
          </a:p>
        </p:txBody>
      </p:sp>
      <p:sp>
        <p:nvSpPr>
          <p:cNvPr id="20" name="Text 18"/>
          <p:cNvSpPr/>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8C857A"/>
                </a:solidFill>
                <a:latin typeface="Calibri" pitchFamily="34" charset="0"/>
                <a:ea typeface="Calibri" pitchFamily="34" charset="-122"/>
                <a:cs typeface="Calibri" pitchFamily="34" charset="-120"/>
              </a:rPr>
              <a:t>Staying Safe Online  ·  Lesson 3 of 3  ·  Year 7 Digital Technologies</a:t>
            </a:r>
            <a:endParaRPr lang="en-US" sz="1000" dirty="0"/>
          </a:p>
        </p:txBody>
      </p:sp>
      <p:sp>
        <p:nvSpPr>
          <p:cNvPr id="21"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8C857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365760"/>
            <a:ext cx="1554480" cy="329184"/>
          </a:xfrm>
          <a:prstGeom prst="roundRect">
            <a:avLst>
              <a:gd name="adj" fmla="val 50000"/>
            </a:avLst>
          </a:prstGeom>
          <a:solidFill>
            <a:srgbClr val="1B5E47"/>
          </a:solidFill>
          <a:ln/>
        </p:spPr>
      </p:sp>
      <p:sp>
        <p:nvSpPr>
          <p:cNvPr id="3" name="Text 1"/>
          <p:cNvSpPr/>
          <p:nvPr/>
        </p:nvSpPr>
        <p:spPr>
          <a:xfrm>
            <a:off x="457200" y="365760"/>
            <a:ext cx="155448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LEARNING</a:t>
            </a:r>
            <a:endParaRPr lang="en-US" sz="1100" dirty="0"/>
          </a:p>
        </p:txBody>
      </p:sp>
      <p:sp>
        <p:nvSpPr>
          <p:cNvPr id="4" name="Shape 2"/>
          <p:cNvSpPr/>
          <p:nvPr/>
        </p:nvSpPr>
        <p:spPr>
          <a:xfrm>
            <a:off x="10042855" y="365760"/>
            <a:ext cx="1691640" cy="329184"/>
          </a:xfrm>
          <a:prstGeom prst="roundRect">
            <a:avLst>
              <a:gd name="adj" fmla="val 50000"/>
            </a:avLst>
          </a:prstGeom>
          <a:solidFill>
            <a:srgbClr val="5C1419"/>
          </a:solidFill>
          <a:ln/>
        </p:spPr>
      </p:sp>
      <p:sp>
        <p:nvSpPr>
          <p:cNvPr id="5" name="Text 3"/>
          <p:cNvSpPr/>
          <p:nvPr/>
        </p:nvSpPr>
        <p:spPr>
          <a:xfrm>
            <a:off x="10042855" y="365760"/>
            <a:ext cx="1691640" cy="329184"/>
          </a:xfrm>
          <a:prstGeom prst="rect">
            <a:avLst/>
          </a:prstGeom>
          <a:noFill/>
          <a:ln/>
        </p:spPr>
        <p:txBody>
          <a:bodyPr wrap="square" lIns="0" tIns="0" rIns="0" bIns="0"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DEVICES: AWAY</a:t>
            </a:r>
            <a:endParaRPr lang="en-US" sz="1100" dirty="0"/>
          </a:p>
        </p:txBody>
      </p:sp>
      <p:sp>
        <p:nvSpPr>
          <p:cNvPr id="6" name="Text 4"/>
          <p:cNvSpPr/>
          <p:nvPr/>
        </p:nvSpPr>
        <p:spPr>
          <a:xfrm>
            <a:off x="457200" y="868680"/>
            <a:ext cx="11277295" cy="685800"/>
          </a:xfrm>
          <a:prstGeom prst="rect">
            <a:avLst/>
          </a:prstGeom>
          <a:noFill/>
          <a:ln/>
        </p:spPr>
        <p:txBody>
          <a:bodyPr wrap="square" lIns="0" tIns="0" rIns="0" bIns="0" rtlCol="0" anchor="ctr"/>
          <a:lstStyle/>
          <a:p>
            <a:pPr indent="0" marL="0">
              <a:buNone/>
            </a:pPr>
            <a:r>
              <a:rPr lang="en-US" sz="3200" b="1" dirty="0">
                <a:solidFill>
                  <a:srgbClr val="14110F"/>
                </a:solidFill>
                <a:latin typeface="Bookman Old Style" pitchFamily="34" charset="0"/>
                <a:ea typeface="Bookman Old Style" pitchFamily="34" charset="-122"/>
                <a:cs typeface="Bookman Old Style" pitchFamily="34" charset="-120"/>
              </a:rPr>
              <a:t>What's Safe to Share?</a:t>
            </a:r>
            <a:endParaRPr lang="en-US" sz="3200" dirty="0"/>
          </a:p>
        </p:txBody>
      </p:sp>
      <p:sp>
        <p:nvSpPr>
          <p:cNvPr id="7" name="Shape 5"/>
          <p:cNvSpPr/>
          <p:nvPr/>
        </p:nvSpPr>
        <p:spPr>
          <a:xfrm>
            <a:off x="457200" y="1645920"/>
            <a:ext cx="2377440" cy="384048"/>
          </a:xfrm>
          <a:prstGeom prst="roundRect">
            <a:avLst>
              <a:gd name="adj" fmla="val 50000"/>
            </a:avLst>
          </a:prstGeom>
          <a:solidFill>
            <a:srgbClr val="B8620A"/>
          </a:solidFill>
          <a:ln/>
        </p:spPr>
      </p:sp>
      <p:sp>
        <p:nvSpPr>
          <p:cNvPr id="8" name="Text 6"/>
          <p:cNvSpPr/>
          <p:nvPr/>
        </p:nvSpPr>
        <p:spPr>
          <a:xfrm>
            <a:off x="457200" y="1645920"/>
            <a:ext cx="2377440" cy="384048"/>
          </a:xfrm>
          <a:prstGeom prst="rect">
            <a:avLst/>
          </a:prstGeom>
          <a:noFill/>
          <a:ln/>
        </p:spPr>
        <p:txBody>
          <a:bodyPr wrap="square" lIns="0" tIns="0" rIns="0" bIns="0"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COPY TO WORKBOOK</a:t>
            </a:r>
            <a:endParaRPr lang="en-US" sz="1100" dirty="0"/>
          </a:p>
        </p:txBody>
      </p:sp>
      <p:sp>
        <p:nvSpPr>
          <p:cNvPr id="9" name="Text 7"/>
          <p:cNvSpPr/>
          <p:nvPr/>
        </p:nvSpPr>
        <p:spPr>
          <a:xfrm>
            <a:off x="457200" y="2240280"/>
            <a:ext cx="6858000" cy="411480"/>
          </a:xfrm>
          <a:prstGeom prst="rect">
            <a:avLst/>
          </a:prstGeom>
          <a:noFill/>
          <a:ln/>
        </p:spPr>
        <p:txBody>
          <a:bodyPr wrap="square" lIns="0" tIns="0" rIns="0" bIns="0" rtlCol="0" anchor="ctr"/>
          <a:lstStyle/>
          <a:p>
            <a:pPr indent="0" marL="0">
              <a:buNone/>
            </a:pPr>
            <a:r>
              <a:rPr lang="en-US" sz="1900" b="1" dirty="0">
                <a:solidFill>
                  <a:srgbClr val="14110F"/>
                </a:solidFill>
                <a:latin typeface="Calibri" pitchFamily="34" charset="0"/>
                <a:ea typeface="Calibri" pitchFamily="34" charset="-122"/>
                <a:cs typeface="Calibri" pitchFamily="34" charset="-120"/>
              </a:rPr>
              <a:t>Your digital footprint</a:t>
            </a:r>
            <a:endParaRPr lang="en-US" sz="1900" dirty="0"/>
          </a:p>
        </p:txBody>
      </p:sp>
      <p:sp>
        <p:nvSpPr>
          <p:cNvPr id="10" name="Text 8"/>
          <p:cNvSpPr/>
          <p:nvPr/>
        </p:nvSpPr>
        <p:spPr>
          <a:xfrm>
            <a:off x="457200" y="2651760"/>
            <a:ext cx="6858000" cy="1188720"/>
          </a:xfrm>
          <a:prstGeom prst="rect">
            <a:avLst/>
          </a:prstGeom>
          <a:noFill/>
          <a:ln/>
        </p:spPr>
        <p:txBody>
          <a:bodyPr wrap="square" lIns="0" tIns="0" rIns="0" bIns="0" rtlCol="0" anchor="ctr"/>
          <a:lstStyle/>
          <a:p>
            <a:pPr indent="0" marL="0">
              <a:lnSpc>
                <a:spcPct val="115000"/>
              </a:lnSpc>
              <a:buNone/>
            </a:pPr>
            <a:r>
              <a:rPr lang="en-US" sz="1400" dirty="0">
                <a:solidFill>
                  <a:srgbClr val="2C2A28"/>
                </a:solidFill>
                <a:latin typeface="Calibri" pitchFamily="34" charset="0"/>
                <a:ea typeface="Calibri" pitchFamily="34" charset="-122"/>
                <a:cs typeface="Calibri" pitchFamily="34" charset="-120"/>
              </a:rPr>
              <a:t>Everything you post, share or search online leaves a trace — your digital footprint. Some information is fine to share publicly. Other information, once posted, is very hard to take back and can be used to find you, impersonate you, or target you with scams.</a:t>
            </a:r>
            <a:endParaRPr lang="en-US" sz="1400" dirty="0"/>
          </a:p>
        </p:txBody>
      </p:sp>
      <p:sp>
        <p:nvSpPr>
          <p:cNvPr id="11" name="Shape 9"/>
          <p:cNvSpPr/>
          <p:nvPr/>
        </p:nvSpPr>
        <p:spPr>
          <a:xfrm>
            <a:off x="457200" y="3931920"/>
            <a:ext cx="3337560" cy="2240280"/>
          </a:xfrm>
          <a:prstGeom prst="roundRect">
            <a:avLst>
              <a:gd name="adj" fmla="val 3265"/>
            </a:avLst>
          </a:prstGeom>
          <a:solidFill>
            <a:srgbClr val="EAF0EC"/>
          </a:solidFill>
          <a:ln w="12700">
            <a:solidFill>
              <a:srgbClr val="1B5E47"/>
            </a:solidFill>
            <a:prstDash val="solid"/>
          </a:ln>
        </p:spPr>
      </p:sp>
      <p:pic>
        <p:nvPicPr>
          <p:cNvPr id="12" name="Image 0" descr="preencoded.png">    </p:cNvPr>
          <p:cNvPicPr>
            <a:picLocks noChangeAspect="1"/>
          </p:cNvPicPr>
          <p:nvPr/>
        </p:nvPicPr>
        <p:blipFill>
          <a:blip r:embed="rId1"/>
          <a:stretch>
            <a:fillRect/>
          </a:stretch>
        </p:blipFill>
        <p:spPr>
          <a:xfrm>
            <a:off x="685800" y="4114800"/>
            <a:ext cx="292608" cy="292608"/>
          </a:xfrm>
          <a:prstGeom prst="rect">
            <a:avLst/>
          </a:prstGeom>
        </p:spPr>
      </p:pic>
      <p:sp>
        <p:nvSpPr>
          <p:cNvPr id="13" name="Text 10"/>
          <p:cNvSpPr/>
          <p:nvPr/>
        </p:nvSpPr>
        <p:spPr>
          <a:xfrm>
            <a:off x="1097280" y="4096512"/>
            <a:ext cx="2560320" cy="320040"/>
          </a:xfrm>
          <a:prstGeom prst="rect">
            <a:avLst/>
          </a:prstGeom>
          <a:noFill/>
          <a:ln/>
        </p:spPr>
        <p:txBody>
          <a:bodyPr wrap="square" lIns="0" tIns="0" rIns="0" bIns="0" rtlCol="0" anchor="ctr"/>
          <a:lstStyle/>
          <a:p>
            <a:pPr indent="0" marL="0">
              <a:buNone/>
            </a:pPr>
            <a:r>
              <a:rPr lang="en-US" sz="1400" b="1" dirty="0">
                <a:solidFill>
                  <a:srgbClr val="1B5E47"/>
                </a:solidFill>
                <a:latin typeface="Calibri" pitchFamily="34" charset="0"/>
                <a:ea typeface="Calibri" pitchFamily="34" charset="-122"/>
                <a:cs typeface="Calibri" pitchFamily="34" charset="-120"/>
              </a:rPr>
              <a:t>Usually OK to share</a:t>
            </a:r>
            <a:endParaRPr lang="en-US" sz="1400" dirty="0"/>
          </a:p>
        </p:txBody>
      </p:sp>
      <p:sp>
        <p:nvSpPr>
          <p:cNvPr id="14" name="Text 11"/>
          <p:cNvSpPr/>
          <p:nvPr/>
        </p:nvSpPr>
        <p:spPr>
          <a:xfrm>
            <a:off x="685800" y="4526280"/>
            <a:ext cx="2880360" cy="1508760"/>
          </a:xfrm>
          <a:prstGeom prst="rect">
            <a:avLst/>
          </a:prstGeom>
          <a:noFill/>
          <a:ln/>
        </p:spPr>
        <p:txBody>
          <a:bodyPr wrap="square" lIns="0" tIns="0" rIns="0" bIns="0" rtlCol="0" anchor="ctr"/>
          <a:lstStyle/>
          <a:p>
            <a:pPr indent="0" marL="0">
              <a:lnSpc>
                <a:spcPct val="120000"/>
              </a:lnSpc>
              <a:buNone/>
            </a:pPr>
            <a:r>
              <a:rPr lang="en-US" sz="1250" dirty="0">
                <a:solidFill>
                  <a:srgbClr val="2C2A28"/>
                </a:solidFill>
                <a:latin typeface="Calibri" pitchFamily="34" charset="0"/>
                <a:ea typeface="Calibri" pitchFamily="34" charset="-122"/>
                <a:cs typeface="Calibri" pitchFamily="34" charset="-120"/>
              </a:rPr>
              <a:t>Your first name · a hobby or interest · your favourite game or show · general opinions</a:t>
            </a:r>
            <a:endParaRPr lang="en-US" sz="1250" dirty="0"/>
          </a:p>
        </p:txBody>
      </p:sp>
      <p:sp>
        <p:nvSpPr>
          <p:cNvPr id="15" name="Shape 12"/>
          <p:cNvSpPr/>
          <p:nvPr/>
        </p:nvSpPr>
        <p:spPr>
          <a:xfrm>
            <a:off x="3977640" y="3931920"/>
            <a:ext cx="3337560" cy="2240280"/>
          </a:xfrm>
          <a:prstGeom prst="roundRect">
            <a:avLst>
              <a:gd name="adj" fmla="val 3265"/>
            </a:avLst>
          </a:prstGeom>
          <a:solidFill>
            <a:srgbClr val="F6ECEC"/>
          </a:solidFill>
          <a:ln w="12700">
            <a:solidFill>
              <a:srgbClr val="8C1F28"/>
            </a:solidFill>
            <a:prstDash val="solid"/>
          </a:ln>
        </p:spPr>
      </p:sp>
      <p:pic>
        <p:nvPicPr>
          <p:cNvPr id="16" name="Image 1" descr="preencoded.png">    </p:cNvPr>
          <p:cNvPicPr>
            <a:picLocks noChangeAspect="1"/>
          </p:cNvPicPr>
          <p:nvPr/>
        </p:nvPicPr>
        <p:blipFill>
          <a:blip r:embed="rId2"/>
          <a:stretch>
            <a:fillRect/>
          </a:stretch>
        </p:blipFill>
        <p:spPr>
          <a:xfrm>
            <a:off x="4206240" y="4114800"/>
            <a:ext cx="292608" cy="292608"/>
          </a:xfrm>
          <a:prstGeom prst="rect">
            <a:avLst/>
          </a:prstGeom>
        </p:spPr>
      </p:pic>
      <p:sp>
        <p:nvSpPr>
          <p:cNvPr id="17" name="Text 13"/>
          <p:cNvSpPr/>
          <p:nvPr/>
        </p:nvSpPr>
        <p:spPr>
          <a:xfrm>
            <a:off x="4617720" y="4096512"/>
            <a:ext cx="2560320" cy="320040"/>
          </a:xfrm>
          <a:prstGeom prst="rect">
            <a:avLst/>
          </a:prstGeom>
          <a:noFill/>
          <a:ln/>
        </p:spPr>
        <p:txBody>
          <a:bodyPr wrap="square" lIns="0" tIns="0" rIns="0" bIns="0" rtlCol="0" anchor="ctr"/>
          <a:lstStyle/>
          <a:p>
            <a:pPr indent="0" marL="0">
              <a:buNone/>
            </a:pPr>
            <a:r>
              <a:rPr lang="en-US" sz="1400" b="1" dirty="0">
                <a:solidFill>
                  <a:srgbClr val="8C1F28"/>
                </a:solidFill>
                <a:latin typeface="Calibri" pitchFamily="34" charset="0"/>
                <a:ea typeface="Calibri" pitchFamily="34" charset="-122"/>
                <a:cs typeface="Calibri" pitchFamily="34" charset="-120"/>
              </a:rPr>
              <a:t>Keep private</a:t>
            </a:r>
            <a:endParaRPr lang="en-US" sz="1400" dirty="0"/>
          </a:p>
        </p:txBody>
      </p:sp>
      <p:sp>
        <p:nvSpPr>
          <p:cNvPr id="18" name="Text 14"/>
          <p:cNvSpPr/>
          <p:nvPr/>
        </p:nvSpPr>
        <p:spPr>
          <a:xfrm>
            <a:off x="4206240" y="4526280"/>
            <a:ext cx="2880360" cy="1508760"/>
          </a:xfrm>
          <a:prstGeom prst="rect">
            <a:avLst/>
          </a:prstGeom>
          <a:noFill/>
          <a:ln/>
        </p:spPr>
        <p:txBody>
          <a:bodyPr wrap="square" lIns="0" tIns="0" rIns="0" bIns="0" rtlCol="0" anchor="ctr"/>
          <a:lstStyle/>
          <a:p>
            <a:pPr indent="0" marL="0">
              <a:lnSpc>
                <a:spcPct val="120000"/>
              </a:lnSpc>
              <a:buNone/>
            </a:pPr>
            <a:r>
              <a:rPr lang="en-US" sz="1250" dirty="0">
                <a:solidFill>
                  <a:srgbClr val="2C2A28"/>
                </a:solidFill>
                <a:latin typeface="Calibri" pitchFamily="34" charset="0"/>
                <a:ea typeface="Calibri" pitchFamily="34" charset="-122"/>
                <a:cs typeface="Calibri" pitchFamily="34" charset="-120"/>
              </a:rPr>
              <a:t>Full name + address · school name · phone number · passwords · real-time location · daily routine</a:t>
            </a:r>
            <a:endParaRPr lang="en-US" sz="1250" dirty="0"/>
          </a:p>
        </p:txBody>
      </p:sp>
      <p:sp>
        <p:nvSpPr>
          <p:cNvPr id="19" name="Shape 15"/>
          <p:cNvSpPr/>
          <p:nvPr/>
        </p:nvSpPr>
        <p:spPr>
          <a:xfrm>
            <a:off x="7635240" y="1645920"/>
            <a:ext cx="4069080" cy="4526280"/>
          </a:xfrm>
          <a:prstGeom prst="roundRect">
            <a:avLst>
              <a:gd name="adj" fmla="val 1798"/>
            </a:avLst>
          </a:prstGeom>
          <a:solidFill>
            <a:srgbClr val="FFFFFF"/>
          </a:solidFill>
          <a:ln w="12700">
            <a:solidFill>
              <a:srgbClr val="D8D3CA"/>
            </a:solidFill>
            <a:prstDash val="solid"/>
          </a:ln>
        </p:spPr>
      </p:sp>
      <p:pic>
        <p:nvPicPr>
          <p:cNvPr id="20" name="Image 2" descr="preencoded.png">    </p:cNvPr>
          <p:cNvPicPr>
            <a:picLocks noChangeAspect="1"/>
          </p:cNvPicPr>
          <p:nvPr/>
        </p:nvPicPr>
        <p:blipFill>
          <a:blip r:embed="rId3"/>
          <a:stretch>
            <a:fillRect/>
          </a:stretch>
        </p:blipFill>
        <p:spPr>
          <a:xfrm>
            <a:off x="7863840" y="1828800"/>
            <a:ext cx="347472" cy="347472"/>
          </a:xfrm>
          <a:prstGeom prst="rect">
            <a:avLst/>
          </a:prstGeom>
        </p:spPr>
      </p:pic>
      <p:sp>
        <p:nvSpPr>
          <p:cNvPr id="21" name="Text 16"/>
          <p:cNvSpPr/>
          <p:nvPr/>
        </p:nvSpPr>
        <p:spPr>
          <a:xfrm>
            <a:off x="8321040" y="1810512"/>
            <a:ext cx="3200400" cy="365760"/>
          </a:xfrm>
          <a:prstGeom prst="rect">
            <a:avLst/>
          </a:prstGeom>
          <a:noFill/>
          <a:ln/>
        </p:spPr>
        <p:txBody>
          <a:bodyPr wrap="square" lIns="0" tIns="0" rIns="0" bIns="0" rtlCol="0" anchor="ctr"/>
          <a:lstStyle/>
          <a:p>
            <a:pPr indent="0" marL="0">
              <a:buNone/>
            </a:pPr>
            <a:r>
              <a:rPr lang="en-US" sz="1500" b="1" dirty="0">
                <a:solidFill>
                  <a:srgbClr val="2B3A8C"/>
                </a:solidFill>
                <a:latin typeface="Calibri" pitchFamily="34" charset="0"/>
                <a:ea typeface="Calibri" pitchFamily="34" charset="-122"/>
                <a:cs typeface="Calibri" pitchFamily="34" charset="-120"/>
              </a:rPr>
              <a:t>Think about it</a:t>
            </a:r>
            <a:endParaRPr lang="en-US" sz="1500" dirty="0"/>
          </a:p>
        </p:txBody>
      </p:sp>
      <p:sp>
        <p:nvSpPr>
          <p:cNvPr id="22" name="Text 17"/>
          <p:cNvSpPr/>
          <p:nvPr/>
        </p:nvSpPr>
        <p:spPr>
          <a:xfrm>
            <a:off x="7863840" y="2286000"/>
            <a:ext cx="3611880" cy="1005840"/>
          </a:xfrm>
          <a:prstGeom prst="rect">
            <a:avLst/>
          </a:prstGeom>
          <a:noFill/>
          <a:ln/>
        </p:spPr>
        <p:txBody>
          <a:bodyPr wrap="square" lIns="0" tIns="0" rIns="0" bIns="0" rtlCol="0" anchor="ctr"/>
          <a:lstStyle/>
          <a:p>
            <a:pPr indent="0" marL="0">
              <a:buNone/>
            </a:pPr>
            <a:r>
              <a:rPr lang="en-US" sz="1350" i="1" dirty="0">
                <a:solidFill>
                  <a:srgbClr val="2C2A28"/>
                </a:solidFill>
                <a:latin typeface="Calibri" pitchFamily="34" charset="0"/>
                <a:ea typeface="Calibri" pitchFamily="34" charset="-122"/>
                <a:cs typeface="Calibri" pitchFamily="34" charset="-120"/>
              </a:rPr>
              <a:t>If a stranger collected everything you've posted this year, what could they figure out about you — your school, your street, your routine?</a:t>
            </a:r>
            <a:endParaRPr lang="en-US" sz="1350" dirty="0"/>
          </a:p>
        </p:txBody>
      </p:sp>
      <p:sp>
        <p:nvSpPr>
          <p:cNvPr id="23" name="Shape 18"/>
          <p:cNvSpPr/>
          <p:nvPr/>
        </p:nvSpPr>
        <p:spPr>
          <a:xfrm>
            <a:off x="7863840" y="3429000"/>
            <a:ext cx="3611880" cy="0"/>
          </a:xfrm>
          <a:prstGeom prst="line">
            <a:avLst/>
          </a:prstGeom>
          <a:noFill/>
          <a:ln w="12700">
            <a:solidFill>
              <a:srgbClr val="D8D3CA"/>
            </a:solidFill>
            <a:prstDash val="solid"/>
          </a:ln>
        </p:spPr>
      </p:sp>
      <p:sp>
        <p:nvSpPr>
          <p:cNvPr id="24" name="Text 19"/>
          <p:cNvSpPr/>
          <p:nvPr/>
        </p:nvSpPr>
        <p:spPr>
          <a:xfrm>
            <a:off x="7863840" y="3611880"/>
            <a:ext cx="3611880" cy="914400"/>
          </a:xfrm>
          <a:prstGeom prst="rect">
            <a:avLst/>
          </a:prstGeom>
          <a:noFill/>
          <a:ln/>
        </p:spPr>
        <p:txBody>
          <a:bodyPr wrap="square" lIns="0" tIns="0" rIns="0" bIns="0" rtlCol="0" anchor="ctr"/>
          <a:lstStyle/>
          <a:p>
            <a:pPr indent="0" marL="0">
              <a:buNone/>
            </a:pPr>
            <a:r>
              <a:rPr lang="en-US" sz="1350" dirty="0">
                <a:solidFill>
                  <a:srgbClr val="2C2A28"/>
                </a:solidFill>
                <a:latin typeface="Calibri" pitchFamily="34" charset="0"/>
                <a:ea typeface="Calibri" pitchFamily="34" charset="-122"/>
                <a:cs typeface="Calibri" pitchFamily="34" charset="-120"/>
              </a:rPr>
              <a:t>Rule of thumb: if you wouldn't say it to a stranger's face at the shops, don't post it where strangers can see it.</a:t>
            </a:r>
            <a:endParaRPr lang="en-US" sz="1350" dirty="0"/>
          </a:p>
        </p:txBody>
      </p:sp>
      <p:sp>
        <p:nvSpPr>
          <p:cNvPr id="25" name="Text 20"/>
          <p:cNvSpPr/>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8C857A"/>
                </a:solidFill>
                <a:latin typeface="Calibri" pitchFamily="34" charset="0"/>
                <a:ea typeface="Calibri" pitchFamily="34" charset="-122"/>
                <a:cs typeface="Calibri" pitchFamily="34" charset="-120"/>
              </a:rPr>
              <a:t>Staying Safe Online  ·  Lesson 3 of 3  ·  Year 7 Digital Technologies</a:t>
            </a:r>
            <a:endParaRPr lang="en-US" sz="1000" dirty="0"/>
          </a:p>
        </p:txBody>
      </p:sp>
      <p:sp>
        <p:nvSpPr>
          <p:cNvPr id="26" name="Text 2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8C857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365760"/>
            <a:ext cx="1554480" cy="329184"/>
          </a:xfrm>
          <a:prstGeom prst="roundRect">
            <a:avLst>
              <a:gd name="adj" fmla="val 50000"/>
            </a:avLst>
          </a:prstGeom>
          <a:solidFill>
            <a:srgbClr val="1B5E47"/>
          </a:solidFill>
          <a:ln/>
        </p:spPr>
      </p:sp>
      <p:sp>
        <p:nvSpPr>
          <p:cNvPr id="3" name="Text 1"/>
          <p:cNvSpPr/>
          <p:nvPr/>
        </p:nvSpPr>
        <p:spPr>
          <a:xfrm>
            <a:off x="457200" y="365760"/>
            <a:ext cx="155448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LEARNING</a:t>
            </a:r>
            <a:endParaRPr lang="en-US" sz="1100" dirty="0"/>
          </a:p>
        </p:txBody>
      </p:sp>
      <p:sp>
        <p:nvSpPr>
          <p:cNvPr id="4" name="Shape 2"/>
          <p:cNvSpPr/>
          <p:nvPr/>
        </p:nvSpPr>
        <p:spPr>
          <a:xfrm>
            <a:off x="10042855" y="365760"/>
            <a:ext cx="1691640" cy="329184"/>
          </a:xfrm>
          <a:prstGeom prst="roundRect">
            <a:avLst>
              <a:gd name="adj" fmla="val 50000"/>
            </a:avLst>
          </a:prstGeom>
          <a:solidFill>
            <a:srgbClr val="5C1419"/>
          </a:solidFill>
          <a:ln/>
        </p:spPr>
      </p:sp>
      <p:sp>
        <p:nvSpPr>
          <p:cNvPr id="5" name="Text 3"/>
          <p:cNvSpPr/>
          <p:nvPr/>
        </p:nvSpPr>
        <p:spPr>
          <a:xfrm>
            <a:off x="10042855" y="365760"/>
            <a:ext cx="1691640" cy="329184"/>
          </a:xfrm>
          <a:prstGeom prst="rect">
            <a:avLst/>
          </a:prstGeom>
          <a:noFill/>
          <a:ln/>
        </p:spPr>
        <p:txBody>
          <a:bodyPr wrap="square" lIns="0" tIns="0" rIns="0" bIns="0"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DEVICES: AWAY</a:t>
            </a:r>
            <a:endParaRPr lang="en-US" sz="1100" dirty="0"/>
          </a:p>
        </p:txBody>
      </p:sp>
      <p:sp>
        <p:nvSpPr>
          <p:cNvPr id="6" name="Text 4"/>
          <p:cNvSpPr/>
          <p:nvPr/>
        </p:nvSpPr>
        <p:spPr>
          <a:xfrm>
            <a:off x="457200" y="868680"/>
            <a:ext cx="11277295" cy="685800"/>
          </a:xfrm>
          <a:prstGeom prst="rect">
            <a:avLst/>
          </a:prstGeom>
          <a:noFill/>
          <a:ln/>
        </p:spPr>
        <p:txBody>
          <a:bodyPr wrap="square" lIns="0" tIns="0" rIns="0" bIns="0" rtlCol="0" anchor="ctr"/>
          <a:lstStyle/>
          <a:p>
            <a:pPr indent="0" marL="0">
              <a:buNone/>
            </a:pPr>
            <a:r>
              <a:rPr lang="en-US" sz="3200" b="1" dirty="0">
                <a:solidFill>
                  <a:srgbClr val="14110F"/>
                </a:solidFill>
                <a:latin typeface="Bookman Old Style" pitchFamily="34" charset="0"/>
                <a:ea typeface="Bookman Old Style" pitchFamily="34" charset="-122"/>
                <a:cs typeface="Bookman Old Style" pitchFamily="34" charset="-120"/>
              </a:rPr>
              <a:t>Building a Strong Password</a:t>
            </a:r>
            <a:endParaRPr lang="en-US" sz="3200" dirty="0"/>
          </a:p>
        </p:txBody>
      </p:sp>
      <p:sp>
        <p:nvSpPr>
          <p:cNvPr id="7" name="Shape 5"/>
          <p:cNvSpPr/>
          <p:nvPr/>
        </p:nvSpPr>
        <p:spPr>
          <a:xfrm>
            <a:off x="457200" y="1645920"/>
            <a:ext cx="2377440" cy="384048"/>
          </a:xfrm>
          <a:prstGeom prst="roundRect">
            <a:avLst>
              <a:gd name="adj" fmla="val 50000"/>
            </a:avLst>
          </a:prstGeom>
          <a:solidFill>
            <a:srgbClr val="B8620A"/>
          </a:solidFill>
          <a:ln/>
        </p:spPr>
      </p:sp>
      <p:sp>
        <p:nvSpPr>
          <p:cNvPr id="8" name="Text 6"/>
          <p:cNvSpPr/>
          <p:nvPr/>
        </p:nvSpPr>
        <p:spPr>
          <a:xfrm>
            <a:off x="457200" y="1645920"/>
            <a:ext cx="2377440" cy="384048"/>
          </a:xfrm>
          <a:prstGeom prst="rect">
            <a:avLst/>
          </a:prstGeom>
          <a:noFill/>
          <a:ln/>
        </p:spPr>
        <p:txBody>
          <a:bodyPr wrap="square" lIns="0" tIns="0" rIns="0" bIns="0"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COPY TO WORKBOOK</a:t>
            </a:r>
            <a:endParaRPr lang="en-US" sz="1100" dirty="0"/>
          </a:p>
        </p:txBody>
      </p:sp>
      <p:pic>
        <p:nvPicPr>
          <p:cNvPr id="9" name="Image 0" descr="preencoded.png">    </p:cNvPr>
          <p:cNvPicPr>
            <a:picLocks noChangeAspect="1"/>
          </p:cNvPicPr>
          <p:nvPr/>
        </p:nvPicPr>
        <p:blipFill>
          <a:blip r:embed="rId1"/>
          <a:stretch>
            <a:fillRect/>
          </a:stretch>
        </p:blipFill>
        <p:spPr>
          <a:xfrm>
            <a:off x="457200" y="2240280"/>
            <a:ext cx="365760" cy="365760"/>
          </a:xfrm>
          <a:prstGeom prst="rect">
            <a:avLst/>
          </a:prstGeom>
        </p:spPr>
      </p:pic>
      <p:sp>
        <p:nvSpPr>
          <p:cNvPr id="10" name="Text 7"/>
          <p:cNvSpPr/>
          <p:nvPr/>
        </p:nvSpPr>
        <p:spPr>
          <a:xfrm>
            <a:off x="914400" y="2221992"/>
            <a:ext cx="6400800" cy="411480"/>
          </a:xfrm>
          <a:prstGeom prst="rect">
            <a:avLst/>
          </a:prstGeom>
          <a:noFill/>
          <a:ln/>
        </p:spPr>
        <p:txBody>
          <a:bodyPr wrap="square" lIns="0" tIns="0" rIns="0" bIns="0" rtlCol="0" anchor="ctr"/>
          <a:lstStyle/>
          <a:p>
            <a:pPr indent="0" marL="0">
              <a:buNone/>
            </a:pPr>
            <a:r>
              <a:rPr lang="en-US" sz="1700" b="1" dirty="0">
                <a:solidFill>
                  <a:srgbClr val="14110F"/>
                </a:solidFill>
                <a:latin typeface="Calibri" pitchFamily="34" charset="0"/>
                <a:ea typeface="Calibri" pitchFamily="34" charset="-122"/>
                <a:cs typeface="Calibri" pitchFamily="34" charset="-120"/>
              </a:rPr>
              <a:t>A password is a key — make it hard to copy</a:t>
            </a:r>
            <a:endParaRPr lang="en-US" sz="1700" dirty="0"/>
          </a:p>
        </p:txBody>
      </p:sp>
      <p:sp>
        <p:nvSpPr>
          <p:cNvPr id="11" name="Text 8"/>
          <p:cNvSpPr/>
          <p:nvPr/>
        </p:nvSpPr>
        <p:spPr>
          <a:xfrm>
            <a:off x="457200" y="2697480"/>
            <a:ext cx="6858000" cy="1051560"/>
          </a:xfrm>
          <a:prstGeom prst="rect">
            <a:avLst/>
          </a:prstGeom>
          <a:noFill/>
          <a:ln/>
        </p:spPr>
        <p:txBody>
          <a:bodyPr wrap="square" lIns="0" tIns="0" rIns="0" bIns="0" rtlCol="0" anchor="ctr"/>
          <a:lstStyle/>
          <a:p>
            <a:pPr indent="0" marL="0">
              <a:lnSpc>
                <a:spcPct val="115000"/>
              </a:lnSpc>
              <a:buNone/>
            </a:pPr>
            <a:r>
              <a:rPr lang="en-US" sz="1400" dirty="0">
                <a:solidFill>
                  <a:srgbClr val="2C2A28"/>
                </a:solidFill>
                <a:latin typeface="Calibri" pitchFamily="34" charset="0"/>
                <a:ea typeface="Calibri" pitchFamily="34" charset="-122"/>
                <a:cs typeface="Calibri" pitchFamily="34" charset="-120"/>
              </a:rPr>
              <a:t>A weak password is like leaving your front door key under the mat — easy for someone to find. A strong password is long, unique to each account, and not something easy to guess from your profile (no names, birthdays, or pet names).</a:t>
            </a:r>
            <a:endParaRPr lang="en-US" sz="1400" dirty="0"/>
          </a:p>
        </p:txBody>
      </p:sp>
      <p:sp>
        <p:nvSpPr>
          <p:cNvPr id="12" name="Shape 9"/>
          <p:cNvSpPr/>
          <p:nvPr/>
        </p:nvSpPr>
        <p:spPr>
          <a:xfrm>
            <a:off x="457200" y="3840480"/>
            <a:ext cx="6858000" cy="548640"/>
          </a:xfrm>
          <a:prstGeom prst="roundRect">
            <a:avLst>
              <a:gd name="adj" fmla="val 10000"/>
            </a:avLst>
          </a:prstGeom>
          <a:solidFill>
            <a:srgbClr val="F6ECEC"/>
          </a:solidFill>
          <a:ln w="12700">
            <a:solidFill>
              <a:srgbClr val="8C1F28"/>
            </a:solidFill>
            <a:prstDash val="solid"/>
          </a:ln>
        </p:spPr>
      </p:sp>
      <p:pic>
        <p:nvPicPr>
          <p:cNvPr id="13" name="Image 1" descr="preencoded.png">    </p:cNvPr>
          <p:cNvPicPr>
            <a:picLocks noChangeAspect="1"/>
          </p:cNvPicPr>
          <p:nvPr/>
        </p:nvPicPr>
        <p:blipFill>
          <a:blip r:embed="rId2"/>
          <a:stretch>
            <a:fillRect/>
          </a:stretch>
        </p:blipFill>
        <p:spPr>
          <a:xfrm>
            <a:off x="640080" y="3959352"/>
            <a:ext cx="310896" cy="310896"/>
          </a:xfrm>
          <a:prstGeom prst="rect">
            <a:avLst/>
          </a:prstGeom>
        </p:spPr>
      </p:pic>
      <p:sp>
        <p:nvSpPr>
          <p:cNvPr id="14" name="Text 10"/>
          <p:cNvSpPr/>
          <p:nvPr/>
        </p:nvSpPr>
        <p:spPr>
          <a:xfrm>
            <a:off x="1097280" y="3840480"/>
            <a:ext cx="6126480" cy="548640"/>
          </a:xfrm>
          <a:prstGeom prst="rect">
            <a:avLst/>
          </a:prstGeom>
          <a:noFill/>
          <a:ln/>
        </p:spPr>
        <p:txBody>
          <a:bodyPr wrap="square" lIns="0" tIns="0" rIns="0" bIns="0" rtlCol="0" anchor="ctr"/>
          <a:lstStyle/>
          <a:p>
            <a:pPr indent="0" marL="0">
              <a:buNone/>
            </a:pPr>
            <a:r>
              <a:rPr lang="en-US" sz="1250" dirty="0">
                <a:solidFill>
                  <a:srgbClr val="2C2A28"/>
                </a:solidFill>
                <a:latin typeface="Courier New" pitchFamily="34" charset="0"/>
                <a:ea typeface="Courier New" pitchFamily="34" charset="-122"/>
                <a:cs typeface="Courier New" pitchFamily="34" charset="-120"/>
              </a:rPr>
              <a:t>tyler2012  — short, predictable, uses a real name + year</a:t>
            </a:r>
            <a:endParaRPr lang="en-US" sz="1250" dirty="0"/>
          </a:p>
        </p:txBody>
      </p:sp>
      <p:sp>
        <p:nvSpPr>
          <p:cNvPr id="15" name="Shape 11"/>
          <p:cNvSpPr/>
          <p:nvPr/>
        </p:nvSpPr>
        <p:spPr>
          <a:xfrm>
            <a:off x="457200" y="4498848"/>
            <a:ext cx="6858000" cy="548640"/>
          </a:xfrm>
          <a:prstGeom prst="roundRect">
            <a:avLst>
              <a:gd name="adj" fmla="val 10000"/>
            </a:avLst>
          </a:prstGeom>
          <a:solidFill>
            <a:srgbClr val="F6ECEC"/>
          </a:solidFill>
          <a:ln w="12700">
            <a:solidFill>
              <a:srgbClr val="8C1F28"/>
            </a:solidFill>
            <a:prstDash val="solid"/>
          </a:ln>
        </p:spPr>
      </p:sp>
      <p:pic>
        <p:nvPicPr>
          <p:cNvPr id="16" name="Image 2" descr="preencoded.png">    </p:cNvPr>
          <p:cNvPicPr>
            <a:picLocks noChangeAspect="1"/>
          </p:cNvPicPr>
          <p:nvPr/>
        </p:nvPicPr>
        <p:blipFill>
          <a:blip r:embed="rId3"/>
          <a:stretch>
            <a:fillRect/>
          </a:stretch>
        </p:blipFill>
        <p:spPr>
          <a:xfrm>
            <a:off x="640080" y="4617720"/>
            <a:ext cx="310896" cy="310896"/>
          </a:xfrm>
          <a:prstGeom prst="rect">
            <a:avLst/>
          </a:prstGeom>
        </p:spPr>
      </p:pic>
      <p:sp>
        <p:nvSpPr>
          <p:cNvPr id="17" name="Text 12"/>
          <p:cNvSpPr/>
          <p:nvPr/>
        </p:nvSpPr>
        <p:spPr>
          <a:xfrm>
            <a:off x="1097280" y="4498848"/>
            <a:ext cx="6126480" cy="548640"/>
          </a:xfrm>
          <a:prstGeom prst="rect">
            <a:avLst/>
          </a:prstGeom>
          <a:noFill/>
          <a:ln/>
        </p:spPr>
        <p:txBody>
          <a:bodyPr wrap="square" lIns="0" tIns="0" rIns="0" bIns="0" rtlCol="0" anchor="ctr"/>
          <a:lstStyle/>
          <a:p>
            <a:pPr indent="0" marL="0">
              <a:buNone/>
            </a:pPr>
            <a:r>
              <a:rPr lang="en-US" sz="1250" dirty="0">
                <a:solidFill>
                  <a:srgbClr val="2C2A28"/>
                </a:solidFill>
                <a:latin typeface="Courier New" pitchFamily="34" charset="0"/>
                <a:ea typeface="Courier New" pitchFamily="34" charset="-122"/>
                <a:cs typeface="Courier New" pitchFamily="34" charset="-120"/>
              </a:rPr>
              <a:t>password123  — one of the most-guessed passwords in the world</a:t>
            </a:r>
            <a:endParaRPr lang="en-US" sz="1250" dirty="0"/>
          </a:p>
        </p:txBody>
      </p:sp>
      <p:sp>
        <p:nvSpPr>
          <p:cNvPr id="18" name="Shape 13"/>
          <p:cNvSpPr/>
          <p:nvPr/>
        </p:nvSpPr>
        <p:spPr>
          <a:xfrm>
            <a:off x="457200" y="5157216"/>
            <a:ext cx="6858000" cy="713232"/>
          </a:xfrm>
          <a:prstGeom prst="roundRect">
            <a:avLst>
              <a:gd name="adj" fmla="val 7692"/>
            </a:avLst>
          </a:prstGeom>
          <a:solidFill>
            <a:srgbClr val="EAF0EC"/>
          </a:solidFill>
          <a:ln w="12700">
            <a:solidFill>
              <a:srgbClr val="1B5E47"/>
            </a:solidFill>
            <a:prstDash val="solid"/>
          </a:ln>
        </p:spPr>
      </p:sp>
      <p:pic>
        <p:nvPicPr>
          <p:cNvPr id="19" name="Image 3" descr="preencoded.png">    </p:cNvPr>
          <p:cNvPicPr>
            <a:picLocks noChangeAspect="1"/>
          </p:cNvPicPr>
          <p:nvPr/>
        </p:nvPicPr>
        <p:blipFill>
          <a:blip r:embed="rId4"/>
          <a:stretch>
            <a:fillRect/>
          </a:stretch>
        </p:blipFill>
        <p:spPr>
          <a:xfrm>
            <a:off x="640080" y="5358384"/>
            <a:ext cx="310896" cy="310896"/>
          </a:xfrm>
          <a:prstGeom prst="rect">
            <a:avLst/>
          </a:prstGeom>
        </p:spPr>
      </p:pic>
      <p:sp>
        <p:nvSpPr>
          <p:cNvPr id="20" name="Text 14"/>
          <p:cNvSpPr/>
          <p:nvPr/>
        </p:nvSpPr>
        <p:spPr>
          <a:xfrm>
            <a:off x="1097280" y="5157216"/>
            <a:ext cx="6126480" cy="713232"/>
          </a:xfrm>
          <a:prstGeom prst="rect">
            <a:avLst/>
          </a:prstGeom>
          <a:noFill/>
          <a:ln/>
        </p:spPr>
        <p:txBody>
          <a:bodyPr wrap="square" lIns="0" tIns="0" rIns="0" bIns="0" rtlCol="0" anchor="ctr"/>
          <a:lstStyle/>
          <a:p>
            <a:pPr indent="0" marL="0">
              <a:buNone/>
            </a:pPr>
            <a:r>
              <a:rPr lang="en-US" sz="1250" dirty="0">
                <a:solidFill>
                  <a:srgbClr val="2C2A28"/>
                </a:solidFill>
                <a:latin typeface="Courier New" pitchFamily="34" charset="0"/>
                <a:ea typeface="Courier New" pitchFamily="34" charset="-122"/>
                <a:cs typeface="Courier New" pitchFamily="34" charset="-120"/>
              </a:rPr>
              <a:t>PurpleLamp$Jumping47!  — long, unrelated words, mixed characters</a:t>
            </a:r>
            <a:endParaRPr lang="en-US" sz="1250" dirty="0"/>
          </a:p>
        </p:txBody>
      </p:sp>
      <p:sp>
        <p:nvSpPr>
          <p:cNvPr id="21" name="Shape 15"/>
          <p:cNvSpPr/>
          <p:nvPr/>
        </p:nvSpPr>
        <p:spPr>
          <a:xfrm>
            <a:off x="7635240" y="1645920"/>
            <a:ext cx="4069080" cy="4526280"/>
          </a:xfrm>
          <a:prstGeom prst="roundRect">
            <a:avLst>
              <a:gd name="adj" fmla="val 1798"/>
            </a:avLst>
          </a:prstGeom>
          <a:solidFill>
            <a:srgbClr val="FFFFFF"/>
          </a:solidFill>
          <a:ln w="12700">
            <a:solidFill>
              <a:srgbClr val="D8D3CA"/>
            </a:solidFill>
            <a:prstDash val="solid"/>
          </a:ln>
        </p:spPr>
      </p:sp>
      <p:pic>
        <p:nvPicPr>
          <p:cNvPr id="22" name="Image 4" descr="preencoded.png">    </p:cNvPr>
          <p:cNvPicPr>
            <a:picLocks noChangeAspect="1"/>
          </p:cNvPicPr>
          <p:nvPr/>
        </p:nvPicPr>
        <p:blipFill>
          <a:blip r:embed="rId5"/>
          <a:stretch>
            <a:fillRect/>
          </a:stretch>
        </p:blipFill>
        <p:spPr>
          <a:xfrm>
            <a:off x="7863840" y="1828800"/>
            <a:ext cx="329184" cy="329184"/>
          </a:xfrm>
          <a:prstGeom prst="rect">
            <a:avLst/>
          </a:prstGeom>
        </p:spPr>
      </p:pic>
      <p:sp>
        <p:nvSpPr>
          <p:cNvPr id="23" name="Text 16"/>
          <p:cNvSpPr/>
          <p:nvPr/>
        </p:nvSpPr>
        <p:spPr>
          <a:xfrm>
            <a:off x="8275320" y="1810512"/>
            <a:ext cx="3200400" cy="365760"/>
          </a:xfrm>
          <a:prstGeom prst="rect">
            <a:avLst/>
          </a:prstGeom>
          <a:noFill/>
          <a:ln/>
        </p:spPr>
        <p:txBody>
          <a:bodyPr wrap="square" lIns="0" tIns="0" rIns="0" bIns="0" rtlCol="0" anchor="ctr"/>
          <a:lstStyle/>
          <a:p>
            <a:pPr indent="0" marL="0">
              <a:buNone/>
            </a:pPr>
            <a:r>
              <a:rPr lang="en-US" sz="1500" b="1" dirty="0">
                <a:solidFill>
                  <a:srgbClr val="B8620A"/>
                </a:solidFill>
                <a:latin typeface="Calibri" pitchFamily="34" charset="0"/>
                <a:ea typeface="Calibri" pitchFamily="34" charset="-122"/>
                <a:cs typeface="Calibri" pitchFamily="34" charset="-120"/>
              </a:rPr>
              <a:t>Three habits</a:t>
            </a:r>
            <a:endParaRPr lang="en-US" sz="1500" dirty="0"/>
          </a:p>
        </p:txBody>
      </p:sp>
      <p:sp>
        <p:nvSpPr>
          <p:cNvPr id="24" name="Shape 17"/>
          <p:cNvSpPr/>
          <p:nvPr/>
        </p:nvSpPr>
        <p:spPr>
          <a:xfrm>
            <a:off x="7863840" y="2331720"/>
            <a:ext cx="365760" cy="365760"/>
          </a:xfrm>
          <a:prstGeom prst="ellipse">
            <a:avLst/>
          </a:prstGeom>
          <a:solidFill>
            <a:srgbClr val="B8620A"/>
          </a:solidFill>
          <a:ln/>
        </p:spPr>
      </p:sp>
      <p:sp>
        <p:nvSpPr>
          <p:cNvPr id="25" name="Text 18"/>
          <p:cNvSpPr/>
          <p:nvPr/>
        </p:nvSpPr>
        <p:spPr>
          <a:xfrm>
            <a:off x="7863840" y="2331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6" name="Text 19"/>
          <p:cNvSpPr/>
          <p:nvPr/>
        </p:nvSpPr>
        <p:spPr>
          <a:xfrm>
            <a:off x="8366760" y="2295144"/>
            <a:ext cx="3108960" cy="292608"/>
          </a:xfrm>
          <a:prstGeom prst="rect">
            <a:avLst/>
          </a:prstGeom>
          <a:noFill/>
          <a:ln/>
        </p:spPr>
        <p:txBody>
          <a:bodyPr wrap="square" lIns="0" tIns="0" rIns="0" bIns="0" rtlCol="0" anchor="ctr"/>
          <a:lstStyle/>
          <a:p>
            <a:pPr indent="0" marL="0">
              <a:buNone/>
            </a:pPr>
            <a:r>
              <a:rPr lang="en-US" sz="1400" b="1" dirty="0">
                <a:solidFill>
                  <a:srgbClr val="14110F"/>
                </a:solidFill>
                <a:latin typeface="Calibri" pitchFamily="34" charset="0"/>
                <a:ea typeface="Calibri" pitchFamily="34" charset="-122"/>
                <a:cs typeface="Calibri" pitchFamily="34" charset="-120"/>
              </a:rPr>
              <a:t>Make it long</a:t>
            </a:r>
            <a:endParaRPr lang="en-US" sz="1400" dirty="0"/>
          </a:p>
        </p:txBody>
      </p:sp>
      <p:sp>
        <p:nvSpPr>
          <p:cNvPr id="27" name="Text 20"/>
          <p:cNvSpPr/>
          <p:nvPr/>
        </p:nvSpPr>
        <p:spPr>
          <a:xfrm>
            <a:off x="8366760" y="2587752"/>
            <a:ext cx="3108960" cy="594360"/>
          </a:xfrm>
          <a:prstGeom prst="rect">
            <a:avLst/>
          </a:prstGeom>
          <a:noFill/>
          <a:ln/>
        </p:spPr>
        <p:txBody>
          <a:bodyPr wrap="square" lIns="0" tIns="0" rIns="0" bIns="0" rtlCol="0" anchor="ctr"/>
          <a:lstStyle/>
          <a:p>
            <a:pPr indent="0" marL="0">
              <a:buNone/>
            </a:pPr>
            <a:r>
              <a:rPr lang="en-US" sz="1200" dirty="0">
                <a:solidFill>
                  <a:srgbClr val="2C2A28"/>
                </a:solidFill>
                <a:latin typeface="Calibri" pitchFamily="34" charset="0"/>
                <a:ea typeface="Calibri" pitchFamily="34" charset="-122"/>
                <a:cs typeface="Calibri" pitchFamily="34" charset="-120"/>
              </a:rPr>
              <a:t>Longer beats complicated — aim for 12+ characters.</a:t>
            </a:r>
            <a:endParaRPr lang="en-US" sz="1200" dirty="0"/>
          </a:p>
        </p:txBody>
      </p:sp>
      <p:sp>
        <p:nvSpPr>
          <p:cNvPr id="28" name="Shape 21"/>
          <p:cNvSpPr/>
          <p:nvPr/>
        </p:nvSpPr>
        <p:spPr>
          <a:xfrm>
            <a:off x="7863840" y="3291840"/>
            <a:ext cx="365760" cy="365760"/>
          </a:xfrm>
          <a:prstGeom prst="ellipse">
            <a:avLst/>
          </a:prstGeom>
          <a:solidFill>
            <a:srgbClr val="B8620A"/>
          </a:solidFill>
          <a:ln/>
        </p:spPr>
      </p:sp>
      <p:sp>
        <p:nvSpPr>
          <p:cNvPr id="29" name="Text 22"/>
          <p:cNvSpPr/>
          <p:nvPr/>
        </p:nvSpPr>
        <p:spPr>
          <a:xfrm>
            <a:off x="7863840" y="3291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0" name="Text 23"/>
          <p:cNvSpPr/>
          <p:nvPr/>
        </p:nvSpPr>
        <p:spPr>
          <a:xfrm>
            <a:off x="8366760" y="3255264"/>
            <a:ext cx="3108960" cy="292608"/>
          </a:xfrm>
          <a:prstGeom prst="rect">
            <a:avLst/>
          </a:prstGeom>
          <a:noFill/>
          <a:ln/>
        </p:spPr>
        <p:txBody>
          <a:bodyPr wrap="square" lIns="0" tIns="0" rIns="0" bIns="0" rtlCol="0" anchor="ctr"/>
          <a:lstStyle/>
          <a:p>
            <a:pPr indent="0" marL="0">
              <a:buNone/>
            </a:pPr>
            <a:r>
              <a:rPr lang="en-US" sz="1400" b="1" dirty="0">
                <a:solidFill>
                  <a:srgbClr val="14110F"/>
                </a:solidFill>
                <a:latin typeface="Calibri" pitchFamily="34" charset="0"/>
                <a:ea typeface="Calibri" pitchFamily="34" charset="-122"/>
                <a:cs typeface="Calibri" pitchFamily="34" charset="-120"/>
              </a:rPr>
              <a:t>Make it unique</a:t>
            </a:r>
            <a:endParaRPr lang="en-US" sz="1400" dirty="0"/>
          </a:p>
        </p:txBody>
      </p:sp>
      <p:sp>
        <p:nvSpPr>
          <p:cNvPr id="31" name="Text 24"/>
          <p:cNvSpPr/>
          <p:nvPr/>
        </p:nvSpPr>
        <p:spPr>
          <a:xfrm>
            <a:off x="8366760" y="3547872"/>
            <a:ext cx="3108960" cy="594360"/>
          </a:xfrm>
          <a:prstGeom prst="rect">
            <a:avLst/>
          </a:prstGeom>
          <a:noFill/>
          <a:ln/>
        </p:spPr>
        <p:txBody>
          <a:bodyPr wrap="square" lIns="0" tIns="0" rIns="0" bIns="0" rtlCol="0" anchor="ctr"/>
          <a:lstStyle/>
          <a:p>
            <a:pPr indent="0" marL="0">
              <a:buNone/>
            </a:pPr>
            <a:r>
              <a:rPr lang="en-US" sz="1200" dirty="0">
                <a:solidFill>
                  <a:srgbClr val="2C2A28"/>
                </a:solidFill>
                <a:latin typeface="Calibri" pitchFamily="34" charset="0"/>
                <a:ea typeface="Calibri" pitchFamily="34" charset="-122"/>
                <a:cs typeface="Calibri" pitchFamily="34" charset="-120"/>
              </a:rPr>
              <a:t>A different password for each important account.</a:t>
            </a:r>
            <a:endParaRPr lang="en-US" sz="1200" dirty="0"/>
          </a:p>
        </p:txBody>
      </p:sp>
      <p:sp>
        <p:nvSpPr>
          <p:cNvPr id="32" name="Shape 25"/>
          <p:cNvSpPr/>
          <p:nvPr/>
        </p:nvSpPr>
        <p:spPr>
          <a:xfrm>
            <a:off x="7863840" y="4251960"/>
            <a:ext cx="365760" cy="365760"/>
          </a:xfrm>
          <a:prstGeom prst="ellipse">
            <a:avLst/>
          </a:prstGeom>
          <a:solidFill>
            <a:srgbClr val="B8620A"/>
          </a:solidFill>
          <a:ln/>
        </p:spPr>
      </p:sp>
      <p:sp>
        <p:nvSpPr>
          <p:cNvPr id="33" name="Text 26"/>
          <p:cNvSpPr/>
          <p:nvPr/>
        </p:nvSpPr>
        <p:spPr>
          <a:xfrm>
            <a:off x="7863840" y="42519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4" name="Text 27"/>
          <p:cNvSpPr/>
          <p:nvPr/>
        </p:nvSpPr>
        <p:spPr>
          <a:xfrm>
            <a:off x="8366760" y="4215384"/>
            <a:ext cx="3108960" cy="292608"/>
          </a:xfrm>
          <a:prstGeom prst="rect">
            <a:avLst/>
          </a:prstGeom>
          <a:noFill/>
          <a:ln/>
        </p:spPr>
        <p:txBody>
          <a:bodyPr wrap="square" lIns="0" tIns="0" rIns="0" bIns="0" rtlCol="0" anchor="ctr"/>
          <a:lstStyle/>
          <a:p>
            <a:pPr indent="0" marL="0">
              <a:buNone/>
            </a:pPr>
            <a:r>
              <a:rPr lang="en-US" sz="1400" b="1" dirty="0">
                <a:solidFill>
                  <a:srgbClr val="14110F"/>
                </a:solidFill>
                <a:latin typeface="Calibri" pitchFamily="34" charset="0"/>
                <a:ea typeface="Calibri" pitchFamily="34" charset="-122"/>
                <a:cs typeface="Calibri" pitchFamily="34" charset="-120"/>
              </a:rPr>
              <a:t>Never share it</a:t>
            </a:r>
            <a:endParaRPr lang="en-US" sz="1400" dirty="0"/>
          </a:p>
        </p:txBody>
      </p:sp>
      <p:sp>
        <p:nvSpPr>
          <p:cNvPr id="35" name="Text 28"/>
          <p:cNvSpPr/>
          <p:nvPr/>
        </p:nvSpPr>
        <p:spPr>
          <a:xfrm>
            <a:off x="8366760" y="4507992"/>
            <a:ext cx="3108960" cy="594360"/>
          </a:xfrm>
          <a:prstGeom prst="rect">
            <a:avLst/>
          </a:prstGeom>
          <a:noFill/>
          <a:ln/>
        </p:spPr>
        <p:txBody>
          <a:bodyPr wrap="square" lIns="0" tIns="0" rIns="0" bIns="0" rtlCol="0" anchor="ctr"/>
          <a:lstStyle/>
          <a:p>
            <a:pPr indent="0" marL="0">
              <a:buNone/>
            </a:pPr>
            <a:r>
              <a:rPr lang="en-US" sz="1200" dirty="0">
                <a:solidFill>
                  <a:srgbClr val="2C2A28"/>
                </a:solidFill>
                <a:latin typeface="Calibri" pitchFamily="34" charset="0"/>
                <a:ea typeface="Calibri" pitchFamily="34" charset="-122"/>
                <a:cs typeface="Calibri" pitchFamily="34" charset="-120"/>
              </a:rPr>
              <a:t>Not with friends, not over chat — not even with someone claiming to be from a company.</a:t>
            </a:r>
            <a:endParaRPr lang="en-US" sz="1200" dirty="0"/>
          </a:p>
        </p:txBody>
      </p:sp>
      <p:sp>
        <p:nvSpPr>
          <p:cNvPr id="36" name="Text 29"/>
          <p:cNvSpPr/>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8C857A"/>
                </a:solidFill>
                <a:latin typeface="Calibri" pitchFamily="34" charset="0"/>
                <a:ea typeface="Calibri" pitchFamily="34" charset="-122"/>
                <a:cs typeface="Calibri" pitchFamily="34" charset="-120"/>
              </a:rPr>
              <a:t>Staying Safe Online  ·  Lesson 3 of 3  ·  Year 7 Digital Technologies</a:t>
            </a:r>
            <a:endParaRPr lang="en-US" sz="1000" dirty="0"/>
          </a:p>
        </p:txBody>
      </p:sp>
      <p:sp>
        <p:nvSpPr>
          <p:cNvPr id="37" name="Text 3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8C857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365760"/>
            <a:ext cx="1554480" cy="329184"/>
          </a:xfrm>
          <a:prstGeom prst="roundRect">
            <a:avLst>
              <a:gd name="adj" fmla="val 50000"/>
            </a:avLst>
          </a:prstGeom>
          <a:solidFill>
            <a:srgbClr val="1B5E47"/>
          </a:solidFill>
          <a:ln/>
        </p:spPr>
      </p:sp>
      <p:sp>
        <p:nvSpPr>
          <p:cNvPr id="3" name="Text 1"/>
          <p:cNvSpPr/>
          <p:nvPr/>
        </p:nvSpPr>
        <p:spPr>
          <a:xfrm>
            <a:off x="457200" y="365760"/>
            <a:ext cx="155448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LEARNING</a:t>
            </a:r>
            <a:endParaRPr lang="en-US" sz="1100" dirty="0"/>
          </a:p>
        </p:txBody>
      </p:sp>
      <p:sp>
        <p:nvSpPr>
          <p:cNvPr id="4" name="Shape 2"/>
          <p:cNvSpPr/>
          <p:nvPr/>
        </p:nvSpPr>
        <p:spPr>
          <a:xfrm>
            <a:off x="10042855" y="365760"/>
            <a:ext cx="1691640" cy="329184"/>
          </a:xfrm>
          <a:prstGeom prst="roundRect">
            <a:avLst>
              <a:gd name="adj" fmla="val 50000"/>
            </a:avLst>
          </a:prstGeom>
          <a:solidFill>
            <a:srgbClr val="5C1419"/>
          </a:solidFill>
          <a:ln/>
        </p:spPr>
      </p:sp>
      <p:sp>
        <p:nvSpPr>
          <p:cNvPr id="5" name="Text 3"/>
          <p:cNvSpPr/>
          <p:nvPr/>
        </p:nvSpPr>
        <p:spPr>
          <a:xfrm>
            <a:off x="10042855" y="365760"/>
            <a:ext cx="1691640" cy="329184"/>
          </a:xfrm>
          <a:prstGeom prst="rect">
            <a:avLst/>
          </a:prstGeom>
          <a:noFill/>
          <a:ln/>
        </p:spPr>
        <p:txBody>
          <a:bodyPr wrap="square" lIns="0" tIns="0" rIns="0" bIns="0"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DEVICES: AWAY</a:t>
            </a:r>
            <a:endParaRPr lang="en-US" sz="1100" dirty="0"/>
          </a:p>
        </p:txBody>
      </p:sp>
      <p:sp>
        <p:nvSpPr>
          <p:cNvPr id="6" name="Text 4"/>
          <p:cNvSpPr/>
          <p:nvPr/>
        </p:nvSpPr>
        <p:spPr>
          <a:xfrm>
            <a:off x="457200" y="868680"/>
            <a:ext cx="11277295" cy="685800"/>
          </a:xfrm>
          <a:prstGeom prst="rect">
            <a:avLst/>
          </a:prstGeom>
          <a:noFill/>
          <a:ln/>
        </p:spPr>
        <p:txBody>
          <a:bodyPr wrap="square" lIns="0" tIns="0" rIns="0" bIns="0" rtlCol="0" anchor="ctr"/>
          <a:lstStyle/>
          <a:p>
            <a:pPr indent="0" marL="0">
              <a:buNone/>
            </a:pPr>
            <a:r>
              <a:rPr lang="en-US" sz="3200" b="1" dirty="0">
                <a:solidFill>
                  <a:srgbClr val="14110F"/>
                </a:solidFill>
                <a:latin typeface="Bookman Old Style" pitchFamily="34" charset="0"/>
                <a:ea typeface="Bookman Old Style" pitchFamily="34" charset="-122"/>
                <a:cs typeface="Bookman Old Style" pitchFamily="34" charset="-120"/>
              </a:rPr>
              <a:t>Spotting a Phishing Message</a:t>
            </a:r>
            <a:endParaRPr lang="en-US" sz="3200" dirty="0"/>
          </a:p>
        </p:txBody>
      </p:sp>
      <p:sp>
        <p:nvSpPr>
          <p:cNvPr id="7" name="Shape 5"/>
          <p:cNvSpPr/>
          <p:nvPr/>
        </p:nvSpPr>
        <p:spPr>
          <a:xfrm>
            <a:off x="457200" y="1645920"/>
            <a:ext cx="2377440" cy="384048"/>
          </a:xfrm>
          <a:prstGeom prst="roundRect">
            <a:avLst>
              <a:gd name="adj" fmla="val 50000"/>
            </a:avLst>
          </a:prstGeom>
          <a:solidFill>
            <a:srgbClr val="B8620A"/>
          </a:solidFill>
          <a:ln/>
        </p:spPr>
      </p:sp>
      <p:sp>
        <p:nvSpPr>
          <p:cNvPr id="8" name="Text 6"/>
          <p:cNvSpPr/>
          <p:nvPr/>
        </p:nvSpPr>
        <p:spPr>
          <a:xfrm>
            <a:off x="457200" y="1645920"/>
            <a:ext cx="2377440" cy="384048"/>
          </a:xfrm>
          <a:prstGeom prst="rect">
            <a:avLst/>
          </a:prstGeom>
          <a:noFill/>
          <a:ln/>
        </p:spPr>
        <p:txBody>
          <a:bodyPr wrap="square" lIns="0" tIns="0" rIns="0" bIns="0"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COPY TO WORKBOOK</a:t>
            </a:r>
            <a:endParaRPr lang="en-US" sz="1100" dirty="0"/>
          </a:p>
        </p:txBody>
      </p:sp>
      <p:pic>
        <p:nvPicPr>
          <p:cNvPr id="9" name="Image 0" descr="preencoded.png">    </p:cNvPr>
          <p:cNvPicPr>
            <a:picLocks noChangeAspect="1"/>
          </p:cNvPicPr>
          <p:nvPr/>
        </p:nvPicPr>
        <p:blipFill>
          <a:blip r:embed="rId1"/>
          <a:stretch>
            <a:fillRect/>
          </a:stretch>
        </p:blipFill>
        <p:spPr>
          <a:xfrm>
            <a:off x="457200" y="2240280"/>
            <a:ext cx="365760" cy="365760"/>
          </a:xfrm>
          <a:prstGeom prst="rect">
            <a:avLst/>
          </a:prstGeom>
        </p:spPr>
      </p:pic>
      <p:sp>
        <p:nvSpPr>
          <p:cNvPr id="10" name="Text 7"/>
          <p:cNvSpPr/>
          <p:nvPr/>
        </p:nvSpPr>
        <p:spPr>
          <a:xfrm>
            <a:off x="914400" y="2221992"/>
            <a:ext cx="6400800" cy="411480"/>
          </a:xfrm>
          <a:prstGeom prst="rect">
            <a:avLst/>
          </a:prstGeom>
          <a:noFill/>
          <a:ln/>
        </p:spPr>
        <p:txBody>
          <a:bodyPr wrap="square" lIns="0" tIns="0" rIns="0" bIns="0" rtlCol="0" anchor="ctr"/>
          <a:lstStyle/>
          <a:p>
            <a:pPr indent="0" marL="0">
              <a:buNone/>
            </a:pPr>
            <a:r>
              <a:rPr lang="en-US" sz="1900" b="1" dirty="0">
                <a:solidFill>
                  <a:srgbClr val="14110F"/>
                </a:solidFill>
                <a:latin typeface="Calibri" pitchFamily="34" charset="0"/>
                <a:ea typeface="Calibri" pitchFamily="34" charset="-122"/>
                <a:cs typeface="Calibri" pitchFamily="34" charset="-120"/>
              </a:rPr>
              <a:t>What is phishing?</a:t>
            </a:r>
            <a:endParaRPr lang="en-US" sz="1900" dirty="0"/>
          </a:p>
        </p:txBody>
      </p:sp>
      <p:sp>
        <p:nvSpPr>
          <p:cNvPr id="11" name="Text 8"/>
          <p:cNvSpPr/>
          <p:nvPr/>
        </p:nvSpPr>
        <p:spPr>
          <a:xfrm>
            <a:off x="457200" y="2697480"/>
            <a:ext cx="6858000" cy="914400"/>
          </a:xfrm>
          <a:prstGeom prst="rect">
            <a:avLst/>
          </a:prstGeom>
          <a:noFill/>
          <a:ln/>
        </p:spPr>
        <p:txBody>
          <a:bodyPr wrap="square" lIns="0" tIns="0" rIns="0" bIns="0" rtlCol="0" anchor="ctr"/>
          <a:lstStyle/>
          <a:p>
            <a:pPr indent="0" marL="0">
              <a:lnSpc>
                <a:spcPct val="115000"/>
              </a:lnSpc>
              <a:buNone/>
            </a:pPr>
            <a:r>
              <a:rPr lang="en-US" sz="1400" dirty="0">
                <a:solidFill>
                  <a:srgbClr val="2C2A28"/>
                </a:solidFill>
                <a:latin typeface="Calibri" pitchFamily="34" charset="0"/>
                <a:ea typeface="Calibri" pitchFamily="34" charset="-122"/>
                <a:cs typeface="Calibri" pitchFamily="34" charset="-120"/>
              </a:rPr>
              <a:t>Phishing is a fake message — email, text, or DM — designed to trick you into clicking a bad link, downloading something harmful, or handing over personal information by pretending to be someone trustworthy.</a:t>
            </a:r>
            <a:endParaRPr lang="en-US" sz="1400" dirty="0"/>
          </a:p>
        </p:txBody>
      </p:sp>
      <p:sp>
        <p:nvSpPr>
          <p:cNvPr id="12" name="Text 9"/>
          <p:cNvSpPr/>
          <p:nvPr/>
        </p:nvSpPr>
        <p:spPr>
          <a:xfrm>
            <a:off x="457200" y="3657600"/>
            <a:ext cx="4572000" cy="320040"/>
          </a:xfrm>
          <a:prstGeom prst="rect">
            <a:avLst/>
          </a:prstGeom>
          <a:noFill/>
          <a:ln/>
        </p:spPr>
        <p:txBody>
          <a:bodyPr wrap="square" lIns="0" tIns="0" rIns="0" bIns="0" rtlCol="0" anchor="ctr"/>
          <a:lstStyle/>
          <a:p>
            <a:pPr indent="0" marL="0">
              <a:buNone/>
            </a:pPr>
            <a:r>
              <a:rPr lang="en-US" sz="1400" b="1" dirty="0">
                <a:solidFill>
                  <a:srgbClr val="14110F"/>
                </a:solidFill>
                <a:latin typeface="Calibri" pitchFamily="34" charset="0"/>
                <a:ea typeface="Calibri" pitchFamily="34" charset="-122"/>
                <a:cs typeface="Calibri" pitchFamily="34" charset="-120"/>
              </a:rPr>
              <a:t>Common red flags</a:t>
            </a:r>
            <a:endParaRPr lang="en-US" sz="1400" dirty="0"/>
          </a:p>
        </p:txBody>
      </p:sp>
      <p:sp>
        <p:nvSpPr>
          <p:cNvPr id="13" name="Text 10"/>
          <p:cNvSpPr/>
          <p:nvPr/>
        </p:nvSpPr>
        <p:spPr>
          <a:xfrm>
            <a:off x="457200" y="4023360"/>
            <a:ext cx="6858000" cy="365760"/>
          </a:xfrm>
          <a:prstGeom prst="rect">
            <a:avLst/>
          </a:prstGeom>
          <a:noFill/>
          <a:ln/>
        </p:spPr>
        <p:txBody>
          <a:bodyPr wrap="square" lIns="0" tIns="0" rIns="0" bIns="0" rtlCol="0" anchor="ctr"/>
          <a:lstStyle/>
          <a:p>
            <a:pPr indent="0" marL="0">
              <a:buNone/>
            </a:pPr>
            <a:r>
              <a:rPr lang="en-US" sz="1350" dirty="0">
                <a:solidFill>
                  <a:srgbClr val="2C2A28"/>
                </a:solidFill>
                <a:latin typeface="Calibri" pitchFamily="34" charset="0"/>
                <a:ea typeface="Calibri" pitchFamily="34" charset="-122"/>
                <a:cs typeface="Calibri" pitchFamily="34" charset="-120"/>
              </a:rPr>
              <a:t>•  Urgency or pressure — “act now or lose your account!”</a:t>
            </a:r>
            <a:endParaRPr lang="en-US" sz="1350" dirty="0"/>
          </a:p>
        </p:txBody>
      </p:sp>
      <p:sp>
        <p:nvSpPr>
          <p:cNvPr id="14" name="Text 11"/>
          <p:cNvSpPr/>
          <p:nvPr/>
        </p:nvSpPr>
        <p:spPr>
          <a:xfrm>
            <a:off x="457200" y="4407408"/>
            <a:ext cx="6858000" cy="365760"/>
          </a:xfrm>
          <a:prstGeom prst="rect">
            <a:avLst/>
          </a:prstGeom>
          <a:noFill/>
          <a:ln/>
        </p:spPr>
        <p:txBody>
          <a:bodyPr wrap="square" lIns="0" tIns="0" rIns="0" bIns="0" rtlCol="0" anchor="ctr"/>
          <a:lstStyle/>
          <a:p>
            <a:pPr indent="0" marL="0">
              <a:buNone/>
            </a:pPr>
            <a:r>
              <a:rPr lang="en-US" sz="1350" dirty="0">
                <a:solidFill>
                  <a:srgbClr val="2C2A28"/>
                </a:solidFill>
                <a:latin typeface="Calibri" pitchFamily="34" charset="0"/>
                <a:ea typeface="Calibri" pitchFamily="34" charset="-122"/>
                <a:cs typeface="Calibri" pitchFamily="34" charset="-120"/>
              </a:rPr>
              <a:t>•  Asking for a password, code, or personal details</a:t>
            </a:r>
            <a:endParaRPr lang="en-US" sz="1350" dirty="0"/>
          </a:p>
        </p:txBody>
      </p:sp>
      <p:sp>
        <p:nvSpPr>
          <p:cNvPr id="15" name="Text 12"/>
          <p:cNvSpPr/>
          <p:nvPr/>
        </p:nvSpPr>
        <p:spPr>
          <a:xfrm>
            <a:off x="457200" y="4791456"/>
            <a:ext cx="6858000" cy="365760"/>
          </a:xfrm>
          <a:prstGeom prst="rect">
            <a:avLst/>
          </a:prstGeom>
          <a:noFill/>
          <a:ln/>
        </p:spPr>
        <p:txBody>
          <a:bodyPr wrap="square" lIns="0" tIns="0" rIns="0" bIns="0" rtlCol="0" anchor="ctr"/>
          <a:lstStyle/>
          <a:p>
            <a:pPr indent="0" marL="0">
              <a:buNone/>
            </a:pPr>
            <a:r>
              <a:rPr lang="en-US" sz="1350" dirty="0">
                <a:solidFill>
                  <a:srgbClr val="2C2A28"/>
                </a:solidFill>
                <a:latin typeface="Calibri" pitchFamily="34" charset="0"/>
                <a:ea typeface="Calibri" pitchFamily="34" charset="-122"/>
                <a:cs typeface="Calibri" pitchFamily="34" charset="-120"/>
              </a:rPr>
              <a:t>•  A link or sender that looks almost right, but slightly off</a:t>
            </a:r>
            <a:endParaRPr lang="en-US" sz="1350" dirty="0"/>
          </a:p>
        </p:txBody>
      </p:sp>
      <p:sp>
        <p:nvSpPr>
          <p:cNvPr id="16" name="Text 13"/>
          <p:cNvSpPr/>
          <p:nvPr/>
        </p:nvSpPr>
        <p:spPr>
          <a:xfrm>
            <a:off x="457200" y="5175504"/>
            <a:ext cx="6858000" cy="365760"/>
          </a:xfrm>
          <a:prstGeom prst="rect">
            <a:avLst/>
          </a:prstGeom>
          <a:noFill/>
          <a:ln/>
        </p:spPr>
        <p:txBody>
          <a:bodyPr wrap="square" lIns="0" tIns="0" rIns="0" bIns="0" rtlCol="0" anchor="ctr"/>
          <a:lstStyle/>
          <a:p>
            <a:pPr indent="0" marL="0">
              <a:buNone/>
            </a:pPr>
            <a:r>
              <a:rPr lang="en-US" sz="1350" dirty="0">
                <a:solidFill>
                  <a:srgbClr val="2C2A28"/>
                </a:solidFill>
                <a:latin typeface="Calibri" pitchFamily="34" charset="0"/>
                <a:ea typeface="Calibri" pitchFamily="34" charset="-122"/>
                <a:cs typeface="Calibri" pitchFamily="34" charset="-120"/>
              </a:rPr>
              <a:t>•  An offer that seems too good to be true</a:t>
            </a:r>
            <a:endParaRPr lang="en-US" sz="1350" dirty="0"/>
          </a:p>
        </p:txBody>
      </p:sp>
      <p:sp>
        <p:nvSpPr>
          <p:cNvPr id="17" name="Shape 14"/>
          <p:cNvSpPr/>
          <p:nvPr/>
        </p:nvSpPr>
        <p:spPr>
          <a:xfrm>
            <a:off x="7635240" y="1645920"/>
            <a:ext cx="4069080" cy="4526280"/>
          </a:xfrm>
          <a:prstGeom prst="roundRect">
            <a:avLst>
              <a:gd name="adj" fmla="val 1798"/>
            </a:avLst>
          </a:prstGeom>
          <a:solidFill>
            <a:srgbClr val="EAF0EC"/>
          </a:solidFill>
          <a:ln w="12700">
            <a:solidFill>
              <a:srgbClr val="1B5E47"/>
            </a:solidFill>
            <a:prstDash val="solid"/>
          </a:ln>
        </p:spPr>
      </p:sp>
      <p:pic>
        <p:nvPicPr>
          <p:cNvPr id="18" name="Image 1" descr="preencoded.png">    </p:cNvPr>
          <p:cNvPicPr>
            <a:picLocks noChangeAspect="1"/>
          </p:cNvPicPr>
          <p:nvPr/>
        </p:nvPicPr>
        <p:blipFill>
          <a:blip r:embed="rId2"/>
          <a:stretch>
            <a:fillRect/>
          </a:stretch>
        </p:blipFill>
        <p:spPr>
          <a:xfrm>
            <a:off x="7863840" y="1828800"/>
            <a:ext cx="329184" cy="329184"/>
          </a:xfrm>
          <a:prstGeom prst="rect">
            <a:avLst/>
          </a:prstGeom>
        </p:spPr>
      </p:pic>
      <p:sp>
        <p:nvSpPr>
          <p:cNvPr id="19" name="Text 15"/>
          <p:cNvSpPr/>
          <p:nvPr/>
        </p:nvSpPr>
        <p:spPr>
          <a:xfrm>
            <a:off x="8275320" y="1810512"/>
            <a:ext cx="3200400" cy="365760"/>
          </a:xfrm>
          <a:prstGeom prst="rect">
            <a:avLst/>
          </a:prstGeom>
          <a:noFill/>
          <a:ln/>
        </p:spPr>
        <p:txBody>
          <a:bodyPr wrap="square" lIns="0" tIns="0" rIns="0" bIns="0" rtlCol="0" anchor="ctr"/>
          <a:lstStyle/>
          <a:p>
            <a:pPr indent="0" marL="0">
              <a:buNone/>
            </a:pPr>
            <a:r>
              <a:rPr lang="en-US" sz="1500" b="1" dirty="0">
                <a:solidFill>
                  <a:srgbClr val="1B5E47"/>
                </a:solidFill>
                <a:latin typeface="Calibri" pitchFamily="34" charset="0"/>
                <a:ea typeface="Calibri" pitchFamily="34" charset="-122"/>
                <a:cs typeface="Calibri" pitchFamily="34" charset="-120"/>
              </a:rPr>
              <a:t>If you spot one</a:t>
            </a:r>
            <a:endParaRPr lang="en-US" sz="1500" dirty="0"/>
          </a:p>
        </p:txBody>
      </p:sp>
      <p:sp>
        <p:nvSpPr>
          <p:cNvPr id="20" name="Shape 16"/>
          <p:cNvSpPr/>
          <p:nvPr/>
        </p:nvSpPr>
        <p:spPr>
          <a:xfrm>
            <a:off x="7863840" y="2331720"/>
            <a:ext cx="329184" cy="329184"/>
          </a:xfrm>
          <a:prstGeom prst="ellipse">
            <a:avLst/>
          </a:prstGeom>
          <a:solidFill>
            <a:srgbClr val="1B5E47"/>
          </a:solidFill>
          <a:ln/>
        </p:spPr>
      </p:sp>
      <p:sp>
        <p:nvSpPr>
          <p:cNvPr id="21" name="Text 17"/>
          <p:cNvSpPr/>
          <p:nvPr/>
        </p:nvSpPr>
        <p:spPr>
          <a:xfrm>
            <a:off x="7863840" y="23317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 18"/>
          <p:cNvSpPr/>
          <p:nvPr/>
        </p:nvSpPr>
        <p:spPr>
          <a:xfrm>
            <a:off x="8321040" y="2304288"/>
            <a:ext cx="3200400" cy="777240"/>
          </a:xfrm>
          <a:prstGeom prst="rect">
            <a:avLst/>
          </a:prstGeom>
          <a:noFill/>
          <a:ln/>
        </p:spPr>
        <p:txBody>
          <a:bodyPr wrap="square" lIns="0" tIns="0" rIns="0" bIns="0" rtlCol="0" anchor="ctr"/>
          <a:lstStyle/>
          <a:p>
            <a:pPr indent="0" marL="0">
              <a:buNone/>
            </a:pPr>
            <a:r>
              <a:rPr lang="en-US" sz="1250" dirty="0">
                <a:solidFill>
                  <a:srgbClr val="2C2A28"/>
                </a:solidFill>
                <a:latin typeface="Calibri" pitchFamily="34" charset="0"/>
                <a:ea typeface="Calibri" pitchFamily="34" charset="-122"/>
                <a:cs typeface="Calibri" pitchFamily="34" charset="-120"/>
              </a:rPr>
              <a:t>Don't click the link or download anything.</a:t>
            </a:r>
            <a:endParaRPr lang="en-US" sz="1250" dirty="0"/>
          </a:p>
        </p:txBody>
      </p:sp>
      <p:sp>
        <p:nvSpPr>
          <p:cNvPr id="23" name="Shape 19"/>
          <p:cNvSpPr/>
          <p:nvPr/>
        </p:nvSpPr>
        <p:spPr>
          <a:xfrm>
            <a:off x="7863840" y="3200400"/>
            <a:ext cx="329184" cy="329184"/>
          </a:xfrm>
          <a:prstGeom prst="ellipse">
            <a:avLst/>
          </a:prstGeom>
          <a:solidFill>
            <a:srgbClr val="1B5E47"/>
          </a:solidFill>
          <a:ln/>
        </p:spPr>
      </p:sp>
      <p:sp>
        <p:nvSpPr>
          <p:cNvPr id="24" name="Text 20"/>
          <p:cNvSpPr/>
          <p:nvPr/>
        </p:nvSpPr>
        <p:spPr>
          <a:xfrm>
            <a:off x="7863840" y="32004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 21"/>
          <p:cNvSpPr/>
          <p:nvPr/>
        </p:nvSpPr>
        <p:spPr>
          <a:xfrm>
            <a:off x="8321040" y="3172968"/>
            <a:ext cx="3200400" cy="777240"/>
          </a:xfrm>
          <a:prstGeom prst="rect">
            <a:avLst/>
          </a:prstGeom>
          <a:noFill/>
          <a:ln/>
        </p:spPr>
        <p:txBody>
          <a:bodyPr wrap="square" lIns="0" tIns="0" rIns="0" bIns="0" rtlCol="0" anchor="ctr"/>
          <a:lstStyle/>
          <a:p>
            <a:pPr indent="0" marL="0">
              <a:buNone/>
            </a:pPr>
            <a:r>
              <a:rPr lang="en-US" sz="1250" dirty="0">
                <a:solidFill>
                  <a:srgbClr val="2C2A28"/>
                </a:solidFill>
                <a:latin typeface="Calibri" pitchFamily="34" charset="0"/>
                <a:ea typeface="Calibri" pitchFamily="34" charset="-122"/>
                <a:cs typeface="Calibri" pitchFamily="34" charset="-120"/>
              </a:rPr>
              <a:t>Don't reply or enter any details.</a:t>
            </a:r>
            <a:endParaRPr lang="en-US" sz="1250" dirty="0"/>
          </a:p>
        </p:txBody>
      </p:sp>
      <p:sp>
        <p:nvSpPr>
          <p:cNvPr id="26" name="Shape 22"/>
          <p:cNvSpPr/>
          <p:nvPr/>
        </p:nvSpPr>
        <p:spPr>
          <a:xfrm>
            <a:off x="7863840" y="4069080"/>
            <a:ext cx="329184" cy="329184"/>
          </a:xfrm>
          <a:prstGeom prst="ellipse">
            <a:avLst/>
          </a:prstGeom>
          <a:solidFill>
            <a:srgbClr val="1B5E47"/>
          </a:solidFill>
          <a:ln/>
        </p:spPr>
      </p:sp>
      <p:sp>
        <p:nvSpPr>
          <p:cNvPr id="27" name="Text 23"/>
          <p:cNvSpPr/>
          <p:nvPr/>
        </p:nvSpPr>
        <p:spPr>
          <a:xfrm>
            <a:off x="7863840" y="40690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4"/>
          <p:cNvSpPr/>
          <p:nvPr/>
        </p:nvSpPr>
        <p:spPr>
          <a:xfrm>
            <a:off x="8321040" y="4041648"/>
            <a:ext cx="3200400" cy="777240"/>
          </a:xfrm>
          <a:prstGeom prst="rect">
            <a:avLst/>
          </a:prstGeom>
          <a:noFill/>
          <a:ln/>
        </p:spPr>
        <p:txBody>
          <a:bodyPr wrap="square" lIns="0" tIns="0" rIns="0" bIns="0" rtlCol="0" anchor="ctr"/>
          <a:lstStyle/>
          <a:p>
            <a:pPr indent="0" marL="0">
              <a:buNone/>
            </a:pPr>
            <a:r>
              <a:rPr lang="en-US" sz="1250" dirty="0">
                <a:solidFill>
                  <a:srgbClr val="2C2A28"/>
                </a:solidFill>
                <a:latin typeface="Calibri" pitchFamily="34" charset="0"/>
                <a:ea typeface="Calibri" pitchFamily="34" charset="-122"/>
                <a:cs typeface="Calibri" pitchFamily="34" charset="-120"/>
              </a:rPr>
              <a:t>Check with the real source another way (e.g. go to the website directly, not via the link).</a:t>
            </a:r>
            <a:endParaRPr lang="en-US" sz="1250" dirty="0"/>
          </a:p>
        </p:txBody>
      </p:sp>
      <p:sp>
        <p:nvSpPr>
          <p:cNvPr id="29" name="Shape 25"/>
          <p:cNvSpPr/>
          <p:nvPr/>
        </p:nvSpPr>
        <p:spPr>
          <a:xfrm>
            <a:off x="7863840" y="4937760"/>
            <a:ext cx="329184" cy="329184"/>
          </a:xfrm>
          <a:prstGeom prst="ellipse">
            <a:avLst/>
          </a:prstGeom>
          <a:solidFill>
            <a:srgbClr val="1B5E47"/>
          </a:solidFill>
          <a:ln/>
        </p:spPr>
      </p:sp>
      <p:sp>
        <p:nvSpPr>
          <p:cNvPr id="30" name="Text 26"/>
          <p:cNvSpPr/>
          <p:nvPr/>
        </p:nvSpPr>
        <p:spPr>
          <a:xfrm>
            <a:off x="7863840" y="49377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7"/>
          <p:cNvSpPr/>
          <p:nvPr/>
        </p:nvSpPr>
        <p:spPr>
          <a:xfrm>
            <a:off x="8321040" y="4910328"/>
            <a:ext cx="3200400" cy="777240"/>
          </a:xfrm>
          <a:prstGeom prst="rect">
            <a:avLst/>
          </a:prstGeom>
          <a:noFill/>
          <a:ln/>
        </p:spPr>
        <p:txBody>
          <a:bodyPr wrap="square" lIns="0" tIns="0" rIns="0" bIns="0" rtlCol="0" anchor="ctr"/>
          <a:lstStyle/>
          <a:p>
            <a:pPr indent="0" marL="0">
              <a:buNone/>
            </a:pPr>
            <a:r>
              <a:rPr lang="en-US" sz="1250" dirty="0">
                <a:solidFill>
                  <a:srgbClr val="2C2A28"/>
                </a:solidFill>
                <a:latin typeface="Calibri" pitchFamily="34" charset="0"/>
                <a:ea typeface="Calibri" pitchFamily="34" charset="-122"/>
                <a:cs typeface="Calibri" pitchFamily="34" charset="-120"/>
              </a:rPr>
              <a:t>Tell a trusted adult or report it in the app.</a:t>
            </a:r>
            <a:endParaRPr lang="en-US" sz="1250" dirty="0"/>
          </a:p>
        </p:txBody>
      </p:sp>
      <p:sp>
        <p:nvSpPr>
          <p:cNvPr id="32" name="Text 28"/>
          <p:cNvSpPr/>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8C857A"/>
                </a:solidFill>
                <a:latin typeface="Calibri" pitchFamily="34" charset="0"/>
                <a:ea typeface="Calibri" pitchFamily="34" charset="-122"/>
                <a:cs typeface="Calibri" pitchFamily="34" charset="-120"/>
              </a:rPr>
              <a:t>Staying Safe Online  ·  Lesson 3 of 3  ·  Year 7 Digital Technologies</a:t>
            </a:r>
            <a:endParaRPr lang="en-US" sz="1000" dirty="0"/>
          </a:p>
        </p:txBody>
      </p:sp>
      <p:sp>
        <p:nvSpPr>
          <p:cNvPr id="33" name="Text 2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8C857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365760"/>
            <a:ext cx="1554480" cy="329184"/>
          </a:xfrm>
          <a:prstGeom prst="roundRect">
            <a:avLst>
              <a:gd name="adj" fmla="val 50000"/>
            </a:avLst>
          </a:prstGeom>
          <a:solidFill>
            <a:srgbClr val="1B5E47"/>
          </a:solidFill>
          <a:ln/>
        </p:spPr>
      </p:sp>
      <p:sp>
        <p:nvSpPr>
          <p:cNvPr id="3" name="Text 1"/>
          <p:cNvSpPr/>
          <p:nvPr/>
        </p:nvSpPr>
        <p:spPr>
          <a:xfrm>
            <a:off x="457200" y="365760"/>
            <a:ext cx="155448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LEARNING</a:t>
            </a:r>
            <a:endParaRPr lang="en-US" sz="1100" dirty="0"/>
          </a:p>
        </p:txBody>
      </p:sp>
      <p:sp>
        <p:nvSpPr>
          <p:cNvPr id="4" name="Shape 2"/>
          <p:cNvSpPr/>
          <p:nvPr/>
        </p:nvSpPr>
        <p:spPr>
          <a:xfrm>
            <a:off x="10042855" y="365760"/>
            <a:ext cx="1691640" cy="329184"/>
          </a:xfrm>
          <a:prstGeom prst="roundRect">
            <a:avLst>
              <a:gd name="adj" fmla="val 50000"/>
            </a:avLst>
          </a:prstGeom>
          <a:solidFill>
            <a:srgbClr val="5C1419"/>
          </a:solidFill>
          <a:ln/>
        </p:spPr>
      </p:sp>
      <p:sp>
        <p:nvSpPr>
          <p:cNvPr id="5" name="Text 3"/>
          <p:cNvSpPr/>
          <p:nvPr/>
        </p:nvSpPr>
        <p:spPr>
          <a:xfrm>
            <a:off x="10042855" y="365760"/>
            <a:ext cx="1691640" cy="329184"/>
          </a:xfrm>
          <a:prstGeom prst="rect">
            <a:avLst/>
          </a:prstGeom>
          <a:noFill/>
          <a:ln/>
        </p:spPr>
        <p:txBody>
          <a:bodyPr wrap="square" lIns="0" tIns="0" rIns="0" bIns="0"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DEVICES: AWAY</a:t>
            </a:r>
            <a:endParaRPr lang="en-US" sz="1100" dirty="0"/>
          </a:p>
        </p:txBody>
      </p:sp>
      <p:sp>
        <p:nvSpPr>
          <p:cNvPr id="6" name="Text 4"/>
          <p:cNvSpPr/>
          <p:nvPr/>
        </p:nvSpPr>
        <p:spPr>
          <a:xfrm>
            <a:off x="457200" y="868680"/>
            <a:ext cx="11277295" cy="685800"/>
          </a:xfrm>
          <a:prstGeom prst="rect">
            <a:avLst/>
          </a:prstGeom>
          <a:noFill/>
          <a:ln/>
        </p:spPr>
        <p:txBody>
          <a:bodyPr wrap="square" lIns="0" tIns="0" rIns="0" bIns="0" rtlCol="0" anchor="ctr"/>
          <a:lstStyle/>
          <a:p>
            <a:pPr indent="0" marL="0">
              <a:buNone/>
            </a:pPr>
            <a:r>
              <a:rPr lang="en-US" sz="3200" b="1" dirty="0">
                <a:solidFill>
                  <a:srgbClr val="14110F"/>
                </a:solidFill>
                <a:latin typeface="Bookman Old Style" pitchFamily="34" charset="0"/>
                <a:ea typeface="Bookman Old Style" pitchFamily="34" charset="-122"/>
                <a:cs typeface="Bookman Old Style" pitchFamily="34" charset="-120"/>
              </a:rPr>
              <a:t>Protecting Your Devices</a:t>
            </a:r>
            <a:endParaRPr lang="en-US" sz="3200" dirty="0"/>
          </a:p>
        </p:txBody>
      </p:sp>
      <p:sp>
        <p:nvSpPr>
          <p:cNvPr id="7" name="Shape 5"/>
          <p:cNvSpPr/>
          <p:nvPr/>
        </p:nvSpPr>
        <p:spPr>
          <a:xfrm>
            <a:off x="457200" y="1645920"/>
            <a:ext cx="2377440" cy="384048"/>
          </a:xfrm>
          <a:prstGeom prst="roundRect">
            <a:avLst>
              <a:gd name="adj" fmla="val 50000"/>
            </a:avLst>
          </a:prstGeom>
          <a:solidFill>
            <a:srgbClr val="B8620A"/>
          </a:solidFill>
          <a:ln/>
        </p:spPr>
      </p:sp>
      <p:sp>
        <p:nvSpPr>
          <p:cNvPr id="8" name="Text 6"/>
          <p:cNvSpPr/>
          <p:nvPr/>
        </p:nvSpPr>
        <p:spPr>
          <a:xfrm>
            <a:off x="457200" y="1645920"/>
            <a:ext cx="2377440" cy="384048"/>
          </a:xfrm>
          <a:prstGeom prst="rect">
            <a:avLst/>
          </a:prstGeom>
          <a:noFill/>
          <a:ln/>
        </p:spPr>
        <p:txBody>
          <a:bodyPr wrap="square" lIns="0" tIns="0" rIns="0" bIns="0"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COPY TO WORKBOOK</a:t>
            </a:r>
            <a:endParaRPr lang="en-US" sz="1100" dirty="0"/>
          </a:p>
        </p:txBody>
      </p:sp>
      <p:pic>
        <p:nvPicPr>
          <p:cNvPr id="9" name="Image 0" descr="preencoded.png">    </p:cNvPr>
          <p:cNvPicPr>
            <a:picLocks noChangeAspect="1"/>
          </p:cNvPicPr>
          <p:nvPr/>
        </p:nvPicPr>
        <p:blipFill>
          <a:blip r:embed="rId1"/>
          <a:stretch>
            <a:fillRect/>
          </a:stretch>
        </p:blipFill>
        <p:spPr>
          <a:xfrm>
            <a:off x="457200" y="2240280"/>
            <a:ext cx="365760" cy="365760"/>
          </a:xfrm>
          <a:prstGeom prst="rect">
            <a:avLst/>
          </a:prstGeom>
        </p:spPr>
      </p:pic>
      <p:sp>
        <p:nvSpPr>
          <p:cNvPr id="10" name="Text 7"/>
          <p:cNvSpPr/>
          <p:nvPr/>
        </p:nvSpPr>
        <p:spPr>
          <a:xfrm>
            <a:off x="914400" y="2221992"/>
            <a:ext cx="6400800" cy="411480"/>
          </a:xfrm>
          <a:prstGeom prst="rect">
            <a:avLst/>
          </a:prstGeom>
          <a:noFill/>
          <a:ln/>
        </p:spPr>
        <p:txBody>
          <a:bodyPr wrap="square" lIns="0" tIns="0" rIns="0" bIns="0" rtlCol="0" anchor="ctr"/>
          <a:lstStyle/>
          <a:p>
            <a:pPr indent="0" marL="0">
              <a:buNone/>
            </a:pPr>
            <a:r>
              <a:rPr lang="en-US" sz="1900" b="1" dirty="0">
                <a:solidFill>
                  <a:srgbClr val="14110F"/>
                </a:solidFill>
                <a:latin typeface="Calibri" pitchFamily="34" charset="0"/>
                <a:ea typeface="Calibri" pitchFamily="34" charset="-122"/>
                <a:cs typeface="Calibri" pitchFamily="34" charset="-120"/>
              </a:rPr>
              <a:t>What is malware?</a:t>
            </a:r>
            <a:endParaRPr lang="en-US" sz="1900" dirty="0"/>
          </a:p>
        </p:txBody>
      </p:sp>
      <p:sp>
        <p:nvSpPr>
          <p:cNvPr id="11" name="Text 8"/>
          <p:cNvSpPr/>
          <p:nvPr/>
        </p:nvSpPr>
        <p:spPr>
          <a:xfrm>
            <a:off x="457200" y="2697480"/>
            <a:ext cx="6858000" cy="1051560"/>
          </a:xfrm>
          <a:prstGeom prst="rect">
            <a:avLst/>
          </a:prstGeom>
          <a:noFill/>
          <a:ln/>
        </p:spPr>
        <p:txBody>
          <a:bodyPr wrap="square" lIns="0" tIns="0" rIns="0" bIns="0" rtlCol="0" anchor="ctr"/>
          <a:lstStyle/>
          <a:p>
            <a:pPr indent="0" marL="0">
              <a:lnSpc>
                <a:spcPct val="115000"/>
              </a:lnSpc>
              <a:buNone/>
            </a:pPr>
            <a:r>
              <a:rPr lang="en-US" sz="1400" dirty="0">
                <a:solidFill>
                  <a:srgbClr val="2C2A28"/>
                </a:solidFill>
                <a:latin typeface="Calibri" pitchFamily="34" charset="0"/>
                <a:ea typeface="Calibri" pitchFamily="34" charset="-122"/>
                <a:cs typeface="Calibri" pitchFamily="34" charset="-120"/>
              </a:rPr>
              <a:t>Malware (“malicious software”) is software designed to damage a device, steal information, or let someone else control it without permission. It usually sneaks in through a dodgy download, a phishing link, or an out-of-date app.</a:t>
            </a:r>
            <a:endParaRPr lang="en-US" sz="1400" dirty="0"/>
          </a:p>
        </p:txBody>
      </p:sp>
      <p:sp>
        <p:nvSpPr>
          <p:cNvPr id="12" name="Text 9"/>
          <p:cNvSpPr/>
          <p:nvPr/>
        </p:nvSpPr>
        <p:spPr>
          <a:xfrm>
            <a:off x="457200" y="3749040"/>
            <a:ext cx="5486400" cy="320040"/>
          </a:xfrm>
          <a:prstGeom prst="rect">
            <a:avLst/>
          </a:prstGeom>
          <a:noFill/>
          <a:ln/>
        </p:spPr>
        <p:txBody>
          <a:bodyPr wrap="square" lIns="0" tIns="0" rIns="0" bIns="0" rtlCol="0" anchor="ctr"/>
          <a:lstStyle/>
          <a:p>
            <a:pPr indent="0" marL="0">
              <a:buNone/>
            </a:pPr>
            <a:r>
              <a:rPr lang="en-US" sz="1400" b="1" dirty="0">
                <a:solidFill>
                  <a:srgbClr val="14110F"/>
                </a:solidFill>
                <a:latin typeface="Calibri" pitchFamily="34" charset="0"/>
                <a:ea typeface="Calibri" pitchFamily="34" charset="-122"/>
                <a:cs typeface="Calibri" pitchFamily="34" charset="-120"/>
              </a:rPr>
              <a:t>How everyday habits reduce risk</a:t>
            </a:r>
            <a:endParaRPr lang="en-US" sz="1400" dirty="0"/>
          </a:p>
        </p:txBody>
      </p:sp>
      <p:sp>
        <p:nvSpPr>
          <p:cNvPr id="13" name="Shape 10"/>
          <p:cNvSpPr/>
          <p:nvPr/>
        </p:nvSpPr>
        <p:spPr>
          <a:xfrm>
            <a:off x="457200" y="4160520"/>
            <a:ext cx="3337560" cy="1783080"/>
          </a:xfrm>
          <a:prstGeom prst="roundRect">
            <a:avLst>
              <a:gd name="adj" fmla="val 4103"/>
            </a:avLst>
          </a:prstGeom>
          <a:solidFill>
            <a:srgbClr val="FFFFFF"/>
          </a:solidFill>
          <a:ln w="12700">
            <a:solidFill>
              <a:srgbClr val="D8D3CA"/>
            </a:solidFill>
            <a:prstDash val="solid"/>
          </a:ln>
        </p:spPr>
      </p:sp>
      <p:pic>
        <p:nvPicPr>
          <p:cNvPr id="14" name="Image 1" descr="preencoded.png">    </p:cNvPr>
          <p:cNvPicPr>
            <a:picLocks noChangeAspect="1"/>
          </p:cNvPicPr>
          <p:nvPr/>
        </p:nvPicPr>
        <p:blipFill>
          <a:blip r:embed="rId2"/>
          <a:stretch>
            <a:fillRect/>
          </a:stretch>
        </p:blipFill>
        <p:spPr>
          <a:xfrm>
            <a:off x="685800" y="4343400"/>
            <a:ext cx="292608" cy="292608"/>
          </a:xfrm>
          <a:prstGeom prst="rect">
            <a:avLst/>
          </a:prstGeom>
        </p:spPr>
      </p:pic>
      <p:sp>
        <p:nvSpPr>
          <p:cNvPr id="15" name="Text 11"/>
          <p:cNvSpPr/>
          <p:nvPr/>
        </p:nvSpPr>
        <p:spPr>
          <a:xfrm>
            <a:off x="1097280" y="4325112"/>
            <a:ext cx="2468880" cy="411480"/>
          </a:xfrm>
          <a:prstGeom prst="rect">
            <a:avLst/>
          </a:prstGeom>
          <a:noFill/>
          <a:ln/>
        </p:spPr>
        <p:txBody>
          <a:bodyPr wrap="square" lIns="0" tIns="0" rIns="0" bIns="0" rtlCol="0" anchor="ctr"/>
          <a:lstStyle/>
          <a:p>
            <a:pPr indent="0" marL="0">
              <a:buNone/>
            </a:pPr>
            <a:r>
              <a:rPr lang="en-US" sz="1300" b="1" dirty="0">
                <a:solidFill>
                  <a:srgbClr val="14110F"/>
                </a:solidFill>
                <a:latin typeface="Calibri" pitchFamily="34" charset="0"/>
                <a:ea typeface="Calibri" pitchFamily="34" charset="-122"/>
                <a:cs typeface="Calibri" pitchFamily="34" charset="-120"/>
              </a:rPr>
              <a:t>Only install from trusted stores</a:t>
            </a:r>
            <a:endParaRPr lang="en-US" sz="1300" dirty="0"/>
          </a:p>
        </p:txBody>
      </p:sp>
      <p:sp>
        <p:nvSpPr>
          <p:cNvPr id="16" name="Text 12"/>
          <p:cNvSpPr/>
          <p:nvPr/>
        </p:nvSpPr>
        <p:spPr>
          <a:xfrm>
            <a:off x="685800" y="4800600"/>
            <a:ext cx="2880360" cy="1005840"/>
          </a:xfrm>
          <a:prstGeom prst="rect">
            <a:avLst/>
          </a:prstGeom>
          <a:noFill/>
          <a:ln/>
        </p:spPr>
        <p:txBody>
          <a:bodyPr wrap="square" lIns="0" tIns="0" rIns="0" bIns="0" rtlCol="0" anchor="ctr"/>
          <a:lstStyle/>
          <a:p>
            <a:pPr indent="0" marL="0">
              <a:buNone/>
            </a:pPr>
            <a:r>
              <a:rPr lang="en-US" sz="1200" dirty="0">
                <a:solidFill>
                  <a:srgbClr val="2C2A28"/>
                </a:solidFill>
                <a:latin typeface="Calibri" pitchFamily="34" charset="0"/>
                <a:ea typeface="Calibri" pitchFamily="34" charset="-122"/>
                <a:cs typeface="Calibri" pitchFamily="34" charset="-120"/>
              </a:rPr>
              <a:t>Official app stores check apps before they're listed.</a:t>
            </a:r>
            <a:endParaRPr lang="en-US" sz="1200" dirty="0"/>
          </a:p>
        </p:txBody>
      </p:sp>
      <p:sp>
        <p:nvSpPr>
          <p:cNvPr id="17" name="Shape 13"/>
          <p:cNvSpPr/>
          <p:nvPr/>
        </p:nvSpPr>
        <p:spPr>
          <a:xfrm>
            <a:off x="3931920" y="4160520"/>
            <a:ext cx="3337560" cy="1783080"/>
          </a:xfrm>
          <a:prstGeom prst="roundRect">
            <a:avLst>
              <a:gd name="adj" fmla="val 4103"/>
            </a:avLst>
          </a:prstGeom>
          <a:solidFill>
            <a:srgbClr val="FFFFFF"/>
          </a:solidFill>
          <a:ln w="12700">
            <a:solidFill>
              <a:srgbClr val="D8D3CA"/>
            </a:solidFill>
            <a:prstDash val="solid"/>
          </a:ln>
        </p:spPr>
      </p:sp>
      <p:pic>
        <p:nvPicPr>
          <p:cNvPr id="18" name="Image 2" descr="preencoded.png">    </p:cNvPr>
          <p:cNvPicPr>
            <a:picLocks noChangeAspect="1"/>
          </p:cNvPicPr>
          <p:nvPr/>
        </p:nvPicPr>
        <p:blipFill>
          <a:blip r:embed="rId3"/>
          <a:stretch>
            <a:fillRect/>
          </a:stretch>
        </p:blipFill>
        <p:spPr>
          <a:xfrm>
            <a:off x="4160520" y="4343400"/>
            <a:ext cx="292608" cy="292608"/>
          </a:xfrm>
          <a:prstGeom prst="rect">
            <a:avLst/>
          </a:prstGeom>
        </p:spPr>
      </p:pic>
      <p:sp>
        <p:nvSpPr>
          <p:cNvPr id="19" name="Text 14"/>
          <p:cNvSpPr/>
          <p:nvPr/>
        </p:nvSpPr>
        <p:spPr>
          <a:xfrm>
            <a:off x="4572000" y="4325112"/>
            <a:ext cx="2468880" cy="411480"/>
          </a:xfrm>
          <a:prstGeom prst="rect">
            <a:avLst/>
          </a:prstGeom>
          <a:noFill/>
          <a:ln/>
        </p:spPr>
        <p:txBody>
          <a:bodyPr wrap="square" lIns="0" tIns="0" rIns="0" bIns="0" rtlCol="0" anchor="ctr"/>
          <a:lstStyle/>
          <a:p>
            <a:pPr indent="0" marL="0">
              <a:buNone/>
            </a:pPr>
            <a:r>
              <a:rPr lang="en-US" sz="1300" b="1" dirty="0">
                <a:solidFill>
                  <a:srgbClr val="14110F"/>
                </a:solidFill>
                <a:latin typeface="Calibri" pitchFamily="34" charset="0"/>
                <a:ea typeface="Calibri" pitchFamily="34" charset="-122"/>
                <a:cs typeface="Calibri" pitchFamily="34" charset="-120"/>
              </a:rPr>
              <a:t>Keep apps and devices updated</a:t>
            </a:r>
            <a:endParaRPr lang="en-US" sz="1300" dirty="0"/>
          </a:p>
        </p:txBody>
      </p:sp>
      <p:sp>
        <p:nvSpPr>
          <p:cNvPr id="20" name="Text 15"/>
          <p:cNvSpPr/>
          <p:nvPr/>
        </p:nvSpPr>
        <p:spPr>
          <a:xfrm>
            <a:off x="4160520" y="4800600"/>
            <a:ext cx="2880360" cy="1005840"/>
          </a:xfrm>
          <a:prstGeom prst="rect">
            <a:avLst/>
          </a:prstGeom>
          <a:noFill/>
          <a:ln/>
        </p:spPr>
        <p:txBody>
          <a:bodyPr wrap="square" lIns="0" tIns="0" rIns="0" bIns="0" rtlCol="0" anchor="ctr"/>
          <a:lstStyle/>
          <a:p>
            <a:pPr indent="0" marL="0">
              <a:buNone/>
            </a:pPr>
            <a:r>
              <a:rPr lang="en-US" sz="1200" dirty="0">
                <a:solidFill>
                  <a:srgbClr val="2C2A28"/>
                </a:solidFill>
                <a:latin typeface="Calibri" pitchFamily="34" charset="0"/>
                <a:ea typeface="Calibri" pitchFamily="34" charset="-122"/>
                <a:cs typeface="Calibri" pitchFamily="34" charset="-120"/>
              </a:rPr>
              <a:t>Updates often fix security weaknesses.</a:t>
            </a:r>
            <a:endParaRPr lang="en-US" sz="1200" dirty="0"/>
          </a:p>
        </p:txBody>
      </p:sp>
      <p:sp>
        <p:nvSpPr>
          <p:cNvPr id="21" name="Shape 16"/>
          <p:cNvSpPr/>
          <p:nvPr/>
        </p:nvSpPr>
        <p:spPr>
          <a:xfrm>
            <a:off x="7635240" y="1645920"/>
            <a:ext cx="4069080" cy="4526280"/>
          </a:xfrm>
          <a:prstGeom prst="roundRect">
            <a:avLst>
              <a:gd name="adj" fmla="val 1798"/>
            </a:avLst>
          </a:prstGeom>
          <a:solidFill>
            <a:srgbClr val="FBF1E6"/>
          </a:solidFill>
          <a:ln w="12700">
            <a:solidFill>
              <a:srgbClr val="B8620A"/>
            </a:solidFill>
            <a:prstDash val="solid"/>
          </a:ln>
        </p:spPr>
      </p:sp>
      <p:pic>
        <p:nvPicPr>
          <p:cNvPr id="22" name="Image 3" descr="preencoded.png">    </p:cNvPr>
          <p:cNvPicPr>
            <a:picLocks noChangeAspect="1"/>
          </p:cNvPicPr>
          <p:nvPr/>
        </p:nvPicPr>
        <p:blipFill>
          <a:blip r:embed="rId4"/>
          <a:stretch>
            <a:fillRect/>
          </a:stretch>
        </p:blipFill>
        <p:spPr>
          <a:xfrm>
            <a:off x="7863840" y="1828800"/>
            <a:ext cx="310896" cy="310896"/>
          </a:xfrm>
          <a:prstGeom prst="rect">
            <a:avLst/>
          </a:prstGeom>
        </p:spPr>
      </p:pic>
      <p:sp>
        <p:nvSpPr>
          <p:cNvPr id="23" name="Text 17"/>
          <p:cNvSpPr/>
          <p:nvPr/>
        </p:nvSpPr>
        <p:spPr>
          <a:xfrm>
            <a:off x="8275320" y="1810512"/>
            <a:ext cx="3383280" cy="365760"/>
          </a:xfrm>
          <a:prstGeom prst="rect">
            <a:avLst/>
          </a:prstGeom>
          <a:noFill/>
          <a:ln/>
        </p:spPr>
        <p:txBody>
          <a:bodyPr wrap="square" lIns="0" tIns="0" rIns="0" bIns="0" rtlCol="0" anchor="ctr"/>
          <a:lstStyle/>
          <a:p>
            <a:pPr indent="0" marL="0">
              <a:buNone/>
            </a:pPr>
            <a:r>
              <a:rPr lang="en-US" sz="1450" b="1" dirty="0">
                <a:solidFill>
                  <a:srgbClr val="B8620A"/>
                </a:solidFill>
                <a:latin typeface="Calibri" pitchFamily="34" charset="0"/>
                <a:ea typeface="Calibri" pitchFamily="34" charset="-122"/>
                <a:cs typeface="Calibri" pitchFamily="34" charset="-120"/>
              </a:rPr>
              <a:t>Signs something's wrong</a:t>
            </a:r>
            <a:endParaRPr lang="en-US" sz="1450" dirty="0"/>
          </a:p>
        </p:txBody>
      </p:sp>
      <p:sp>
        <p:nvSpPr>
          <p:cNvPr id="24" name="Text 18"/>
          <p:cNvSpPr/>
          <p:nvPr/>
        </p:nvSpPr>
        <p:spPr>
          <a:xfrm>
            <a:off x="7863840" y="2331720"/>
            <a:ext cx="3611880" cy="548640"/>
          </a:xfrm>
          <a:prstGeom prst="rect">
            <a:avLst/>
          </a:prstGeom>
          <a:noFill/>
          <a:ln/>
        </p:spPr>
        <p:txBody>
          <a:bodyPr wrap="square" lIns="0" tIns="0" rIns="0" bIns="0" rtlCol="0" anchor="ctr"/>
          <a:lstStyle/>
          <a:p>
            <a:pPr indent="0" marL="0">
              <a:buNone/>
            </a:pPr>
            <a:r>
              <a:rPr lang="en-US" sz="1300" dirty="0">
                <a:solidFill>
                  <a:srgbClr val="2C2A28"/>
                </a:solidFill>
                <a:latin typeface="Calibri" pitchFamily="34" charset="0"/>
                <a:ea typeface="Calibri" pitchFamily="34" charset="-122"/>
                <a:cs typeface="Calibri" pitchFamily="34" charset="-120"/>
              </a:rPr>
              <a:t>•  The device suddenly runs much slower than usual.</a:t>
            </a:r>
            <a:endParaRPr lang="en-US" sz="1300" dirty="0"/>
          </a:p>
        </p:txBody>
      </p:sp>
      <p:sp>
        <p:nvSpPr>
          <p:cNvPr id="25" name="Text 19"/>
          <p:cNvSpPr/>
          <p:nvPr/>
        </p:nvSpPr>
        <p:spPr>
          <a:xfrm>
            <a:off x="7863840" y="2926080"/>
            <a:ext cx="3611880" cy="548640"/>
          </a:xfrm>
          <a:prstGeom prst="rect">
            <a:avLst/>
          </a:prstGeom>
          <a:noFill/>
          <a:ln/>
        </p:spPr>
        <p:txBody>
          <a:bodyPr wrap="square" lIns="0" tIns="0" rIns="0" bIns="0" rtlCol="0" anchor="ctr"/>
          <a:lstStyle/>
          <a:p>
            <a:pPr indent="0" marL="0">
              <a:buNone/>
            </a:pPr>
            <a:r>
              <a:rPr lang="en-US" sz="1300" dirty="0">
                <a:solidFill>
                  <a:srgbClr val="2C2A28"/>
                </a:solidFill>
                <a:latin typeface="Calibri" pitchFamily="34" charset="0"/>
                <a:ea typeface="Calibri" pitchFamily="34" charset="-122"/>
                <a:cs typeface="Calibri" pitchFamily="34" charset="-120"/>
              </a:rPr>
              <a:t>•  Pop-ups appear constantly, even when you're not browsing.</a:t>
            </a:r>
            <a:endParaRPr lang="en-US" sz="1300" dirty="0"/>
          </a:p>
        </p:txBody>
      </p:sp>
      <p:sp>
        <p:nvSpPr>
          <p:cNvPr id="26" name="Text 20"/>
          <p:cNvSpPr/>
          <p:nvPr/>
        </p:nvSpPr>
        <p:spPr>
          <a:xfrm>
            <a:off x="7863840" y="3520440"/>
            <a:ext cx="3611880" cy="548640"/>
          </a:xfrm>
          <a:prstGeom prst="rect">
            <a:avLst/>
          </a:prstGeom>
          <a:noFill/>
          <a:ln/>
        </p:spPr>
        <p:txBody>
          <a:bodyPr wrap="square" lIns="0" tIns="0" rIns="0" bIns="0" rtlCol="0" anchor="ctr"/>
          <a:lstStyle/>
          <a:p>
            <a:pPr indent="0" marL="0">
              <a:buNone/>
            </a:pPr>
            <a:r>
              <a:rPr lang="en-US" sz="1300" dirty="0">
                <a:solidFill>
                  <a:srgbClr val="2C2A28"/>
                </a:solidFill>
                <a:latin typeface="Calibri" pitchFamily="34" charset="0"/>
                <a:ea typeface="Calibri" pitchFamily="34" charset="-122"/>
                <a:cs typeface="Calibri" pitchFamily="34" charset="-120"/>
              </a:rPr>
              <a:t>•  Apps appear that you don't remember installing.</a:t>
            </a:r>
            <a:endParaRPr lang="en-US" sz="1300" dirty="0"/>
          </a:p>
        </p:txBody>
      </p:sp>
      <p:sp>
        <p:nvSpPr>
          <p:cNvPr id="27" name="Text 21"/>
          <p:cNvSpPr/>
          <p:nvPr/>
        </p:nvSpPr>
        <p:spPr>
          <a:xfrm>
            <a:off x="7863840" y="4114800"/>
            <a:ext cx="3611880" cy="548640"/>
          </a:xfrm>
          <a:prstGeom prst="rect">
            <a:avLst/>
          </a:prstGeom>
          <a:noFill/>
          <a:ln/>
        </p:spPr>
        <p:txBody>
          <a:bodyPr wrap="square" lIns="0" tIns="0" rIns="0" bIns="0" rtlCol="0" anchor="ctr"/>
          <a:lstStyle/>
          <a:p>
            <a:pPr indent="0" marL="0">
              <a:buNone/>
            </a:pPr>
            <a:r>
              <a:rPr lang="en-US" sz="1300" dirty="0">
                <a:solidFill>
                  <a:srgbClr val="2C2A28"/>
                </a:solidFill>
                <a:latin typeface="Calibri" pitchFamily="34" charset="0"/>
                <a:ea typeface="Calibri" pitchFamily="34" charset="-122"/>
                <a:cs typeface="Calibri" pitchFamily="34" charset="-120"/>
              </a:rPr>
              <a:t>•  Friends say they're getting strange messages “from you.”</a:t>
            </a:r>
            <a:endParaRPr lang="en-US" sz="1300" dirty="0"/>
          </a:p>
        </p:txBody>
      </p:sp>
      <p:sp>
        <p:nvSpPr>
          <p:cNvPr id="28" name="Shape 22"/>
          <p:cNvSpPr/>
          <p:nvPr/>
        </p:nvSpPr>
        <p:spPr>
          <a:xfrm>
            <a:off x="7863840" y="4754880"/>
            <a:ext cx="3611880" cy="0"/>
          </a:xfrm>
          <a:prstGeom prst="line">
            <a:avLst/>
          </a:prstGeom>
          <a:noFill/>
          <a:ln w="12700">
            <a:solidFill>
              <a:srgbClr val="B8620A"/>
            </a:solidFill>
            <a:prstDash val="dash"/>
          </a:ln>
        </p:spPr>
      </p:sp>
      <p:sp>
        <p:nvSpPr>
          <p:cNvPr id="29" name="Text 23"/>
          <p:cNvSpPr/>
          <p:nvPr/>
        </p:nvSpPr>
        <p:spPr>
          <a:xfrm>
            <a:off x="7863840" y="4892040"/>
            <a:ext cx="3611880" cy="548640"/>
          </a:xfrm>
          <a:prstGeom prst="rect">
            <a:avLst/>
          </a:prstGeom>
          <a:noFill/>
          <a:ln/>
        </p:spPr>
        <p:txBody>
          <a:bodyPr wrap="square" lIns="0" tIns="0" rIns="0" bIns="0" rtlCol="0" anchor="ctr"/>
          <a:lstStyle/>
          <a:p>
            <a:pPr indent="0" marL="0">
              <a:buNone/>
            </a:pPr>
            <a:r>
              <a:rPr lang="en-US" sz="1250" i="1" dirty="0">
                <a:solidFill>
                  <a:srgbClr val="2C2A28"/>
                </a:solidFill>
                <a:latin typeface="Calibri" pitchFamily="34" charset="0"/>
                <a:ea typeface="Calibri" pitchFamily="34" charset="-122"/>
                <a:cs typeface="Calibri" pitchFamily="34" charset="-120"/>
              </a:rPr>
              <a:t>If you notice these, tell a trusted adult before doing anything else.</a:t>
            </a:r>
            <a:endParaRPr lang="en-US" sz="1250" dirty="0"/>
          </a:p>
        </p:txBody>
      </p:sp>
      <p:sp>
        <p:nvSpPr>
          <p:cNvPr id="30" name="Text 24"/>
          <p:cNvSpPr/>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8C857A"/>
                </a:solidFill>
                <a:latin typeface="Calibri" pitchFamily="34" charset="0"/>
                <a:ea typeface="Calibri" pitchFamily="34" charset="-122"/>
                <a:cs typeface="Calibri" pitchFamily="34" charset="-120"/>
              </a:rPr>
              <a:t>Staying Safe Online  ·  Lesson 3 of 3  ·  Year 7 Digital Technologies</a:t>
            </a:r>
            <a:endParaRPr lang="en-US" sz="1000" dirty="0"/>
          </a:p>
        </p:txBody>
      </p:sp>
      <p:sp>
        <p:nvSpPr>
          <p:cNvPr id="31" name="Text 2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8C857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10F"/>
        </a:solidFill>
      </p:bgPr>
    </p:bg>
    <p:spTree>
      <p:nvGrpSpPr>
        <p:cNvPr id="1" name=""/>
        <p:cNvGrpSpPr/>
        <p:nvPr/>
      </p:nvGrpSpPr>
      <p:grpSpPr>
        <a:xfrm>
          <a:off x="0" y="0"/>
          <a:ext cx="0" cy="0"/>
          <a:chOff x="0" y="0"/>
          <a:chExt cx="0" cy="0"/>
        </a:xfrm>
      </p:grpSpPr>
      <p:sp>
        <p:nvSpPr>
          <p:cNvPr id="2" name="Text 0"/>
          <p:cNvSpPr/>
          <p:nvPr/>
        </p:nvSpPr>
        <p:spPr>
          <a:xfrm>
            <a:off x="0" y="2286000"/>
            <a:ext cx="12191695" cy="640080"/>
          </a:xfrm>
          <a:prstGeom prst="rect">
            <a:avLst/>
          </a:prstGeom>
          <a:noFill/>
          <a:ln/>
        </p:spPr>
        <p:txBody>
          <a:bodyPr wrap="square" lIns="0" tIns="0" rIns="0" bIns="0" rtlCol="0" anchor="ctr"/>
          <a:lstStyle/>
          <a:p>
            <a:pPr algn="ctr" indent="0" marL="0">
              <a:buNone/>
            </a:pPr>
            <a:r>
              <a:rPr lang="en-US" sz="2000" b="1" spc="300" kern="0" dirty="0">
                <a:solidFill>
                  <a:srgbClr val="B8620A"/>
                </a:solidFill>
                <a:latin typeface="Calibri" pitchFamily="34" charset="0"/>
                <a:ea typeface="Calibri" pitchFamily="34" charset="-122"/>
                <a:cs typeface="Calibri" pitchFamily="34" charset="-120"/>
              </a:rPr>
              <a:t>BRAIN BREAK</a:t>
            </a:r>
            <a:endParaRPr lang="en-US" sz="2000" dirty="0"/>
          </a:p>
        </p:txBody>
      </p:sp>
      <p:sp>
        <p:nvSpPr>
          <p:cNvPr id="3" name="Text 1"/>
          <p:cNvSpPr/>
          <p:nvPr/>
        </p:nvSpPr>
        <p:spPr>
          <a:xfrm>
            <a:off x="0" y="2926080"/>
            <a:ext cx="12191695"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Bookman Old Style" pitchFamily="34" charset="0"/>
                <a:ea typeface="Bookman Old Style" pitchFamily="34" charset="-122"/>
                <a:cs typeface="Bookman Old Style" pitchFamily="34" charset="-120"/>
              </a:rPr>
              <a:t>60 seconds. Stand, stretch, reset.</a:t>
            </a:r>
            <a:endParaRPr lang="en-US" sz="3600" dirty="0"/>
          </a:p>
        </p:txBody>
      </p:sp>
      <p:sp>
        <p:nvSpPr>
          <p:cNvPr id="4" name="Text 2"/>
          <p:cNvSpPr/>
          <p:nvPr/>
        </p:nvSpPr>
        <p:spPr>
          <a:xfrm>
            <a:off x="1371600" y="3840480"/>
            <a:ext cx="9448495" cy="640080"/>
          </a:xfrm>
          <a:prstGeom prst="rect">
            <a:avLst/>
          </a:prstGeom>
          <a:noFill/>
          <a:ln/>
        </p:spPr>
        <p:txBody>
          <a:bodyPr wrap="square" lIns="0" tIns="0" rIns="0" bIns="0" rtlCol="0" anchor="ctr"/>
          <a:lstStyle/>
          <a:p>
            <a:pPr algn="ctr" indent="0" marL="0">
              <a:buNone/>
            </a:pPr>
            <a:r>
              <a:rPr lang="en-US" sz="1600" i="1" dirty="0">
                <a:solidFill>
                  <a:srgbClr val="D8D3CA"/>
                </a:solidFill>
                <a:latin typeface="Calibri" pitchFamily="34" charset="0"/>
                <a:ea typeface="Calibri" pitchFamily="34" charset="-122"/>
                <a:cs typeface="Calibri" pitchFamily="34" charset="-120"/>
              </a:rPr>
              <a:t>Quick challenge: tell your partner one rule you'd give a younger sibling for staying safe online.</a:t>
            </a:r>
            <a:endParaRPr lang="en-US" sz="1600" dirty="0"/>
          </a:p>
        </p:txBody>
      </p:sp>
      <p:sp>
        <p:nvSpPr>
          <p:cNvPr id="5" name="Text 3"/>
          <p:cNvSpPr/>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8C857A"/>
                </a:solidFill>
                <a:latin typeface="Calibri" pitchFamily="34" charset="0"/>
                <a:ea typeface="Calibri" pitchFamily="34" charset="-122"/>
                <a:cs typeface="Calibri" pitchFamily="34" charset="-120"/>
              </a:rPr>
              <a:t>Staying Safe Online  ·  Lesson 3 of 3  ·  Year 7 Digital Technologies</a:t>
            </a:r>
            <a:endParaRPr lang="en-US" sz="1000" dirty="0"/>
          </a:p>
        </p:txBody>
      </p:sp>
      <p:sp>
        <p:nvSpPr>
          <p:cNvPr id="6" name="Text 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8C857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365760"/>
            <a:ext cx="1554480" cy="329184"/>
          </a:xfrm>
          <a:prstGeom prst="roundRect">
            <a:avLst>
              <a:gd name="adj" fmla="val 50000"/>
            </a:avLst>
          </a:prstGeom>
          <a:solidFill>
            <a:srgbClr val="2B3A8C"/>
          </a:solidFill>
          <a:ln/>
        </p:spPr>
      </p:sp>
      <p:sp>
        <p:nvSpPr>
          <p:cNvPr id="3" name="Text 1"/>
          <p:cNvSpPr/>
          <p:nvPr/>
        </p:nvSpPr>
        <p:spPr>
          <a:xfrm>
            <a:off x="457200" y="365760"/>
            <a:ext cx="155448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APPLYING</a:t>
            </a:r>
            <a:endParaRPr lang="en-US" sz="1100" dirty="0"/>
          </a:p>
        </p:txBody>
      </p:sp>
      <p:sp>
        <p:nvSpPr>
          <p:cNvPr id="4" name="Shape 2"/>
          <p:cNvSpPr/>
          <p:nvPr/>
        </p:nvSpPr>
        <p:spPr>
          <a:xfrm>
            <a:off x="10042855" y="365760"/>
            <a:ext cx="1691640" cy="329184"/>
          </a:xfrm>
          <a:prstGeom prst="roundRect">
            <a:avLst>
              <a:gd name="adj" fmla="val 50000"/>
            </a:avLst>
          </a:prstGeom>
          <a:solidFill>
            <a:srgbClr val="0F3D2D"/>
          </a:solidFill>
          <a:ln/>
        </p:spPr>
      </p:sp>
      <p:sp>
        <p:nvSpPr>
          <p:cNvPr id="5" name="Text 3"/>
          <p:cNvSpPr/>
          <p:nvPr/>
        </p:nvSpPr>
        <p:spPr>
          <a:xfrm>
            <a:off x="10042855" y="365760"/>
            <a:ext cx="1691640" cy="329184"/>
          </a:xfrm>
          <a:prstGeom prst="rect">
            <a:avLst/>
          </a:prstGeom>
          <a:noFill/>
          <a:ln/>
        </p:spPr>
        <p:txBody>
          <a:bodyPr wrap="square" lIns="0" tIns="0" rIns="0" bIns="0"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DEVICES: ON</a:t>
            </a:r>
            <a:endParaRPr lang="en-US" sz="1100" dirty="0"/>
          </a:p>
        </p:txBody>
      </p:sp>
      <p:sp>
        <p:nvSpPr>
          <p:cNvPr id="6" name="Text 4"/>
          <p:cNvSpPr/>
          <p:nvPr/>
        </p:nvSpPr>
        <p:spPr>
          <a:xfrm>
            <a:off x="457200" y="868680"/>
            <a:ext cx="11277295" cy="685800"/>
          </a:xfrm>
          <a:prstGeom prst="rect">
            <a:avLst/>
          </a:prstGeom>
          <a:noFill/>
          <a:ln/>
        </p:spPr>
        <p:txBody>
          <a:bodyPr wrap="square" lIns="0" tIns="0" rIns="0" bIns="0" rtlCol="0" anchor="ctr"/>
          <a:lstStyle/>
          <a:p>
            <a:pPr indent="0" marL="0">
              <a:buNone/>
            </a:pPr>
            <a:r>
              <a:rPr lang="en-US" sz="3200" b="1" dirty="0">
                <a:solidFill>
                  <a:srgbClr val="14110F"/>
                </a:solidFill>
                <a:latin typeface="Bookman Old Style" pitchFamily="34" charset="0"/>
                <a:ea typeface="Bookman Old Style" pitchFamily="34" charset="-122"/>
                <a:cs typeface="Bookman Old Style" pitchFamily="34" charset="-120"/>
              </a:rPr>
              <a:t>Your Turn: Stay Safe, Stay Sharp</a:t>
            </a:r>
            <a:endParaRPr lang="en-US" sz="3200" dirty="0"/>
          </a:p>
        </p:txBody>
      </p:sp>
      <p:sp>
        <p:nvSpPr>
          <p:cNvPr id="7" name="Shape 5"/>
          <p:cNvSpPr/>
          <p:nvPr/>
        </p:nvSpPr>
        <p:spPr>
          <a:xfrm>
            <a:off x="457200" y="1691640"/>
            <a:ext cx="11247120" cy="594360"/>
          </a:xfrm>
          <a:prstGeom prst="roundRect">
            <a:avLst>
              <a:gd name="adj" fmla="val 12308"/>
            </a:avLst>
          </a:prstGeom>
          <a:solidFill>
            <a:srgbClr val="EEF0F8"/>
          </a:solidFill>
          <a:ln w="12700">
            <a:solidFill>
              <a:srgbClr val="2B3A8C"/>
            </a:solidFill>
            <a:prstDash val="solid"/>
          </a:ln>
        </p:spPr>
      </p:sp>
      <p:pic>
        <p:nvPicPr>
          <p:cNvPr id="8" name="Image 0" descr="preencoded.png">    </p:cNvPr>
          <p:cNvPicPr>
            <a:picLocks noChangeAspect="1"/>
          </p:cNvPicPr>
          <p:nvPr/>
        </p:nvPicPr>
        <p:blipFill>
          <a:blip r:embed="rId1"/>
          <a:stretch>
            <a:fillRect/>
          </a:stretch>
        </p:blipFill>
        <p:spPr>
          <a:xfrm>
            <a:off x="685800" y="1828800"/>
            <a:ext cx="274320" cy="274320"/>
          </a:xfrm>
          <a:prstGeom prst="rect">
            <a:avLst/>
          </a:prstGeom>
        </p:spPr>
      </p:pic>
      <p:sp>
        <p:nvSpPr>
          <p:cNvPr id="9" name="Text 6"/>
          <p:cNvSpPr/>
          <p:nvPr/>
        </p:nvSpPr>
        <p:spPr>
          <a:xfrm>
            <a:off x="1097280" y="1691640"/>
            <a:ext cx="10424160" cy="594360"/>
          </a:xfrm>
          <a:prstGeom prst="rect">
            <a:avLst/>
          </a:prstGeom>
          <a:noFill/>
          <a:ln/>
        </p:spPr>
        <p:txBody>
          <a:bodyPr wrap="square" lIns="0" tIns="0" rIns="0" bIns="0" rtlCol="0" anchor="ctr"/>
          <a:lstStyle/>
          <a:p>
            <a:pPr indent="0" marL="0">
              <a:buNone/>
            </a:pPr>
            <a:r>
              <a:rPr lang="en-US" sz="1400" dirty="0">
                <a:solidFill>
                  <a:srgbClr val="14110F"/>
                </a:solidFill>
                <a:latin typeface="Calibri" pitchFamily="34" charset="0"/>
                <a:ea typeface="Calibri" pitchFamily="34" charset="-122"/>
                <a:cs typeface="Calibri" pitchFamily="34" charset="-120"/>
              </a:rPr>
              <a:t>Open your workbook — “Lesson 3: Staying Safe Online”. Work through the sections and pick the tier that challenges you.</a:t>
            </a:r>
            <a:endParaRPr lang="en-US" sz="1400" dirty="0"/>
          </a:p>
        </p:txBody>
      </p:sp>
      <p:sp>
        <p:nvSpPr>
          <p:cNvPr id="10" name="Shape 7"/>
          <p:cNvSpPr/>
          <p:nvPr/>
        </p:nvSpPr>
        <p:spPr>
          <a:xfrm>
            <a:off x="457200" y="2514600"/>
            <a:ext cx="3703320" cy="3611880"/>
          </a:xfrm>
          <a:prstGeom prst="roundRect">
            <a:avLst>
              <a:gd name="adj" fmla="val 2025"/>
            </a:avLst>
          </a:prstGeom>
          <a:solidFill>
            <a:srgbClr val="EAF0EC"/>
          </a:solidFill>
          <a:ln w="12700">
            <a:solidFill>
              <a:srgbClr val="1B5E47"/>
            </a:solidFill>
            <a:prstDash val="solid"/>
          </a:ln>
        </p:spPr>
      </p:sp>
      <p:sp>
        <p:nvSpPr>
          <p:cNvPr id="11" name="Text 8"/>
          <p:cNvSpPr/>
          <p:nvPr/>
        </p:nvSpPr>
        <p:spPr>
          <a:xfrm>
            <a:off x="685800" y="2697480"/>
            <a:ext cx="3246120" cy="365760"/>
          </a:xfrm>
          <a:prstGeom prst="rect">
            <a:avLst/>
          </a:prstGeom>
          <a:noFill/>
          <a:ln/>
        </p:spPr>
        <p:txBody>
          <a:bodyPr wrap="square" lIns="0" tIns="0" rIns="0" bIns="0" rtlCol="0" anchor="ctr"/>
          <a:lstStyle/>
          <a:p>
            <a:pPr indent="0" marL="0">
              <a:buNone/>
            </a:pPr>
            <a:r>
              <a:rPr lang="en-US" sz="1600" b="1" dirty="0">
                <a:solidFill>
                  <a:srgbClr val="1B5E47"/>
                </a:solidFill>
                <a:latin typeface="Calibri" pitchFamily="34" charset="0"/>
                <a:ea typeface="Calibri" pitchFamily="34" charset="-122"/>
                <a:cs typeface="Calibri" pitchFamily="34" charset="-120"/>
              </a:rPr>
              <a:t>Foundation</a:t>
            </a:r>
            <a:endParaRPr lang="en-US" sz="1600" dirty="0"/>
          </a:p>
        </p:txBody>
      </p:sp>
      <p:sp>
        <p:nvSpPr>
          <p:cNvPr id="12" name="Text 9"/>
          <p:cNvSpPr/>
          <p:nvPr/>
        </p:nvSpPr>
        <p:spPr>
          <a:xfrm>
            <a:off x="685800" y="3108960"/>
            <a:ext cx="3246120" cy="2834640"/>
          </a:xfrm>
          <a:prstGeom prst="rect">
            <a:avLst/>
          </a:prstGeom>
          <a:noFill/>
          <a:ln/>
        </p:spPr>
        <p:txBody>
          <a:bodyPr wrap="square" lIns="0" tIns="0" rIns="0" bIns="0" rtlCol="0" anchor="ctr"/>
          <a:lstStyle/>
          <a:p>
            <a:pPr indent="0" marL="0">
              <a:lnSpc>
                <a:spcPct val="120000"/>
              </a:lnSpc>
              <a:buNone/>
            </a:pPr>
            <a:r>
              <a:rPr lang="en-US" sz="1350" dirty="0">
                <a:solidFill>
                  <a:srgbClr val="2C2A28"/>
                </a:solidFill>
                <a:latin typeface="Calibri" pitchFamily="34" charset="0"/>
                <a:ea typeface="Calibri" pitchFamily="34" charset="-122"/>
                <a:cs typeface="Calibri" pitchFamily="34" charset="-120"/>
              </a:rPr>
              <a:t>Sort information into “OK to share” and “keep private,” and identify red flags in example messages.</a:t>
            </a:r>
            <a:endParaRPr lang="en-US" sz="1350" dirty="0"/>
          </a:p>
        </p:txBody>
      </p:sp>
      <p:sp>
        <p:nvSpPr>
          <p:cNvPr id="13" name="Shape 10"/>
          <p:cNvSpPr/>
          <p:nvPr/>
        </p:nvSpPr>
        <p:spPr>
          <a:xfrm>
            <a:off x="4297680" y="2514600"/>
            <a:ext cx="3703320" cy="3611880"/>
          </a:xfrm>
          <a:prstGeom prst="roundRect">
            <a:avLst>
              <a:gd name="adj" fmla="val 2025"/>
            </a:avLst>
          </a:prstGeom>
          <a:solidFill>
            <a:srgbClr val="FBF1E6"/>
          </a:solidFill>
          <a:ln w="12700">
            <a:solidFill>
              <a:srgbClr val="B8620A"/>
            </a:solidFill>
            <a:prstDash val="solid"/>
          </a:ln>
        </p:spPr>
      </p:sp>
      <p:sp>
        <p:nvSpPr>
          <p:cNvPr id="14" name="Text 11"/>
          <p:cNvSpPr/>
          <p:nvPr/>
        </p:nvSpPr>
        <p:spPr>
          <a:xfrm>
            <a:off x="4526280" y="2697480"/>
            <a:ext cx="3246120" cy="365760"/>
          </a:xfrm>
          <a:prstGeom prst="rect">
            <a:avLst/>
          </a:prstGeom>
          <a:noFill/>
          <a:ln/>
        </p:spPr>
        <p:txBody>
          <a:bodyPr wrap="square" lIns="0" tIns="0" rIns="0" bIns="0" rtlCol="0" anchor="ctr"/>
          <a:lstStyle/>
          <a:p>
            <a:pPr indent="0" marL="0">
              <a:buNone/>
            </a:pPr>
            <a:r>
              <a:rPr lang="en-US" sz="1600" b="1" dirty="0">
                <a:solidFill>
                  <a:srgbClr val="B8620A"/>
                </a:solidFill>
                <a:latin typeface="Calibri" pitchFamily="34" charset="0"/>
                <a:ea typeface="Calibri" pitchFamily="34" charset="-122"/>
                <a:cs typeface="Calibri" pitchFamily="34" charset="-120"/>
              </a:rPr>
              <a:t>Developing</a:t>
            </a:r>
            <a:endParaRPr lang="en-US" sz="1600" dirty="0"/>
          </a:p>
        </p:txBody>
      </p:sp>
      <p:sp>
        <p:nvSpPr>
          <p:cNvPr id="15" name="Text 12"/>
          <p:cNvSpPr/>
          <p:nvPr/>
        </p:nvSpPr>
        <p:spPr>
          <a:xfrm>
            <a:off x="4526280" y="3108960"/>
            <a:ext cx="3246120" cy="2834640"/>
          </a:xfrm>
          <a:prstGeom prst="rect">
            <a:avLst/>
          </a:prstGeom>
          <a:noFill/>
          <a:ln/>
        </p:spPr>
        <p:txBody>
          <a:bodyPr wrap="square" lIns="0" tIns="0" rIns="0" bIns="0" rtlCol="0" anchor="ctr"/>
          <a:lstStyle/>
          <a:p>
            <a:pPr indent="0" marL="0">
              <a:lnSpc>
                <a:spcPct val="120000"/>
              </a:lnSpc>
              <a:buNone/>
            </a:pPr>
            <a:r>
              <a:rPr lang="en-US" sz="1350" dirty="0">
                <a:solidFill>
                  <a:srgbClr val="2C2A28"/>
                </a:solidFill>
                <a:latin typeface="Calibri" pitchFamily="34" charset="0"/>
                <a:ea typeface="Calibri" pitchFamily="34" charset="-122"/>
                <a:cs typeface="Calibri" pitchFamily="34" charset="-120"/>
              </a:rPr>
              <a:t>Rate example passwords and explain why each is weak or strong, then spot the phishing tricks in a sample message.</a:t>
            </a:r>
            <a:endParaRPr lang="en-US" sz="1350" dirty="0"/>
          </a:p>
        </p:txBody>
      </p:sp>
      <p:sp>
        <p:nvSpPr>
          <p:cNvPr id="16" name="Shape 13"/>
          <p:cNvSpPr/>
          <p:nvPr/>
        </p:nvSpPr>
        <p:spPr>
          <a:xfrm>
            <a:off x="8138160" y="2514600"/>
            <a:ext cx="3703320" cy="3611880"/>
          </a:xfrm>
          <a:prstGeom prst="roundRect">
            <a:avLst>
              <a:gd name="adj" fmla="val 2025"/>
            </a:avLst>
          </a:prstGeom>
          <a:solidFill>
            <a:srgbClr val="EEF0F8"/>
          </a:solidFill>
          <a:ln w="12700">
            <a:solidFill>
              <a:srgbClr val="2B3A8C"/>
            </a:solidFill>
            <a:prstDash val="solid"/>
          </a:ln>
        </p:spPr>
      </p:sp>
      <p:sp>
        <p:nvSpPr>
          <p:cNvPr id="17" name="Text 14"/>
          <p:cNvSpPr/>
          <p:nvPr/>
        </p:nvSpPr>
        <p:spPr>
          <a:xfrm>
            <a:off x="8366760" y="2697480"/>
            <a:ext cx="3246120" cy="365760"/>
          </a:xfrm>
          <a:prstGeom prst="rect">
            <a:avLst/>
          </a:prstGeom>
          <a:noFill/>
          <a:ln/>
        </p:spPr>
        <p:txBody>
          <a:bodyPr wrap="square" lIns="0" tIns="0" rIns="0" bIns="0" rtlCol="0" anchor="ctr"/>
          <a:lstStyle/>
          <a:p>
            <a:pPr indent="0" marL="0">
              <a:buNone/>
            </a:pPr>
            <a:r>
              <a:rPr lang="en-US" sz="1600" b="1" dirty="0">
                <a:solidFill>
                  <a:srgbClr val="2B3A8C"/>
                </a:solidFill>
                <a:latin typeface="Calibri" pitchFamily="34" charset="0"/>
                <a:ea typeface="Calibri" pitchFamily="34" charset="-122"/>
                <a:cs typeface="Calibri" pitchFamily="34" charset="-120"/>
              </a:rPr>
              <a:t>Extending</a:t>
            </a:r>
            <a:endParaRPr lang="en-US" sz="1600" dirty="0"/>
          </a:p>
        </p:txBody>
      </p:sp>
      <p:sp>
        <p:nvSpPr>
          <p:cNvPr id="18" name="Text 15"/>
          <p:cNvSpPr/>
          <p:nvPr/>
        </p:nvSpPr>
        <p:spPr>
          <a:xfrm>
            <a:off x="8366760" y="3108960"/>
            <a:ext cx="3246120" cy="2834640"/>
          </a:xfrm>
          <a:prstGeom prst="rect">
            <a:avLst/>
          </a:prstGeom>
          <a:noFill/>
          <a:ln/>
        </p:spPr>
        <p:txBody>
          <a:bodyPr wrap="square" lIns="0" tIns="0" rIns="0" bIns="0" rtlCol="0" anchor="ctr"/>
          <a:lstStyle/>
          <a:p>
            <a:pPr indent="0" marL="0">
              <a:lnSpc>
                <a:spcPct val="120000"/>
              </a:lnSpc>
              <a:buNone/>
            </a:pPr>
            <a:r>
              <a:rPr lang="en-US" sz="1350" dirty="0">
                <a:solidFill>
                  <a:srgbClr val="2C2A28"/>
                </a:solidFill>
                <a:latin typeface="Calibri" pitchFamily="34" charset="0"/>
                <a:ea typeface="Calibri" pitchFamily="34" charset="-122"/>
                <a:cs typeface="Calibri" pitchFamily="34" charset="-120"/>
              </a:rPr>
              <a:t>Write a short “safety guide” for a younger student covering passwords, scams, and device protection.</a:t>
            </a:r>
            <a:endParaRPr lang="en-US" sz="1350" dirty="0"/>
          </a:p>
        </p:txBody>
      </p:sp>
      <p:sp>
        <p:nvSpPr>
          <p:cNvPr id="19" name="Text 16"/>
          <p:cNvSpPr/>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8C857A"/>
                </a:solidFill>
                <a:latin typeface="Calibri" pitchFamily="34" charset="0"/>
                <a:ea typeface="Calibri" pitchFamily="34" charset="-122"/>
                <a:cs typeface="Calibri" pitchFamily="34" charset="-120"/>
              </a:rPr>
              <a:t>Staying Safe Online  ·  Lesson 3 of 3  ·  Year 7 Digital Technologies</a:t>
            </a:r>
            <a:endParaRPr lang="en-US" sz="1000" dirty="0"/>
          </a:p>
        </p:txBody>
      </p:sp>
      <p:sp>
        <p:nvSpPr>
          <p:cNvPr id="20" name="Text 1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8C857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365760"/>
            <a:ext cx="1554480" cy="329184"/>
          </a:xfrm>
          <a:prstGeom prst="roundRect">
            <a:avLst>
              <a:gd name="adj" fmla="val 50000"/>
            </a:avLst>
          </a:prstGeom>
          <a:solidFill>
            <a:srgbClr val="8C1F28"/>
          </a:solidFill>
          <a:ln/>
        </p:spPr>
      </p:sp>
      <p:sp>
        <p:nvSpPr>
          <p:cNvPr id="3" name="Text 1"/>
          <p:cNvSpPr/>
          <p:nvPr/>
        </p:nvSpPr>
        <p:spPr>
          <a:xfrm>
            <a:off x="457200" y="365760"/>
            <a:ext cx="155448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REFLECTING</a:t>
            </a:r>
            <a:endParaRPr lang="en-US" sz="1100" dirty="0"/>
          </a:p>
        </p:txBody>
      </p:sp>
      <p:sp>
        <p:nvSpPr>
          <p:cNvPr id="4" name="Shape 2"/>
          <p:cNvSpPr/>
          <p:nvPr/>
        </p:nvSpPr>
        <p:spPr>
          <a:xfrm>
            <a:off x="10042855" y="365760"/>
            <a:ext cx="1691640" cy="329184"/>
          </a:xfrm>
          <a:prstGeom prst="roundRect">
            <a:avLst>
              <a:gd name="adj" fmla="val 50000"/>
            </a:avLst>
          </a:prstGeom>
          <a:solidFill>
            <a:srgbClr val="5C1419"/>
          </a:solidFill>
          <a:ln/>
        </p:spPr>
      </p:sp>
      <p:sp>
        <p:nvSpPr>
          <p:cNvPr id="5" name="Text 3"/>
          <p:cNvSpPr/>
          <p:nvPr/>
        </p:nvSpPr>
        <p:spPr>
          <a:xfrm>
            <a:off x="10042855" y="365760"/>
            <a:ext cx="1691640" cy="329184"/>
          </a:xfrm>
          <a:prstGeom prst="rect">
            <a:avLst/>
          </a:prstGeom>
          <a:noFill/>
          <a:ln/>
        </p:spPr>
        <p:txBody>
          <a:bodyPr wrap="square" lIns="0" tIns="0" rIns="0" bIns="0"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DEVICES: AWAY</a:t>
            </a:r>
            <a:endParaRPr lang="en-US" sz="1100" dirty="0"/>
          </a:p>
        </p:txBody>
      </p:sp>
      <p:sp>
        <p:nvSpPr>
          <p:cNvPr id="6" name="Text 4"/>
          <p:cNvSpPr/>
          <p:nvPr/>
        </p:nvSpPr>
        <p:spPr>
          <a:xfrm>
            <a:off x="457200" y="868680"/>
            <a:ext cx="11277295" cy="685800"/>
          </a:xfrm>
          <a:prstGeom prst="rect">
            <a:avLst/>
          </a:prstGeom>
          <a:noFill/>
          <a:ln/>
        </p:spPr>
        <p:txBody>
          <a:bodyPr wrap="square" lIns="0" tIns="0" rIns="0" bIns="0" rtlCol="0" anchor="ctr"/>
          <a:lstStyle/>
          <a:p>
            <a:pPr indent="0" marL="0">
              <a:buNone/>
            </a:pPr>
            <a:r>
              <a:rPr lang="en-US" sz="3200" b="1" dirty="0">
                <a:solidFill>
                  <a:srgbClr val="14110F"/>
                </a:solidFill>
                <a:latin typeface="Bookman Old Style" pitchFamily="34" charset="0"/>
                <a:ea typeface="Bookman Old Style" pitchFamily="34" charset="-122"/>
                <a:cs typeface="Bookman Old Style" pitchFamily="34" charset="-120"/>
              </a:rPr>
              <a:t>Quick Check: Did It Stick?</a:t>
            </a:r>
            <a:endParaRPr lang="en-US" sz="3200" dirty="0"/>
          </a:p>
        </p:txBody>
      </p:sp>
      <p:sp>
        <p:nvSpPr>
          <p:cNvPr id="7" name="Shape 5"/>
          <p:cNvSpPr/>
          <p:nvPr/>
        </p:nvSpPr>
        <p:spPr>
          <a:xfrm>
            <a:off x="548640" y="1828800"/>
            <a:ext cx="502920" cy="502920"/>
          </a:xfrm>
          <a:prstGeom prst="ellipse">
            <a:avLst/>
          </a:prstGeom>
          <a:solidFill>
            <a:srgbClr val="14110F"/>
          </a:solidFill>
          <a:ln/>
        </p:spPr>
      </p:sp>
      <p:sp>
        <p:nvSpPr>
          <p:cNvPr id="8" name="Text 6"/>
          <p:cNvSpPr/>
          <p:nvPr/>
        </p:nvSpPr>
        <p:spPr>
          <a:xfrm>
            <a:off x="548640" y="18288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Bookman Old Style" pitchFamily="34" charset="0"/>
                <a:ea typeface="Bookman Old Style" pitchFamily="34" charset="-122"/>
                <a:cs typeface="Bookman Old Style" pitchFamily="34" charset="-120"/>
              </a:rPr>
              <a:t>1</a:t>
            </a:r>
            <a:endParaRPr lang="en-US" sz="2000" dirty="0"/>
          </a:p>
        </p:txBody>
      </p:sp>
      <p:sp>
        <p:nvSpPr>
          <p:cNvPr id="9" name="Text 7"/>
          <p:cNvSpPr/>
          <p:nvPr/>
        </p:nvSpPr>
        <p:spPr>
          <a:xfrm>
            <a:off x="1234440" y="1847088"/>
            <a:ext cx="10058400" cy="502920"/>
          </a:xfrm>
          <a:prstGeom prst="rect">
            <a:avLst/>
          </a:prstGeom>
          <a:noFill/>
          <a:ln/>
        </p:spPr>
        <p:txBody>
          <a:bodyPr wrap="square" lIns="0" tIns="0" rIns="0" bIns="0" rtlCol="0" anchor="ctr"/>
          <a:lstStyle/>
          <a:p>
            <a:pPr indent="0" marL="0">
              <a:buNone/>
            </a:pPr>
            <a:r>
              <a:rPr lang="en-US" sz="1700" dirty="0">
                <a:solidFill>
                  <a:srgbClr val="2C2A28"/>
                </a:solidFill>
                <a:latin typeface="Calibri" pitchFamily="34" charset="0"/>
                <a:ea typeface="Calibri" pitchFamily="34" charset="-122"/>
                <a:cs typeface="Calibri" pitchFamily="34" charset="-120"/>
              </a:rPr>
              <a:t>What is a digital footprint, and why does it matter what you post?</a:t>
            </a:r>
            <a:endParaRPr lang="en-US" sz="1700" dirty="0"/>
          </a:p>
        </p:txBody>
      </p:sp>
      <p:sp>
        <p:nvSpPr>
          <p:cNvPr id="10" name="Shape 8"/>
          <p:cNvSpPr/>
          <p:nvPr/>
        </p:nvSpPr>
        <p:spPr>
          <a:xfrm>
            <a:off x="548640" y="2880360"/>
            <a:ext cx="502920" cy="502920"/>
          </a:xfrm>
          <a:prstGeom prst="ellipse">
            <a:avLst/>
          </a:prstGeom>
          <a:solidFill>
            <a:srgbClr val="14110F"/>
          </a:solidFill>
          <a:ln/>
        </p:spPr>
      </p:sp>
      <p:sp>
        <p:nvSpPr>
          <p:cNvPr id="11" name="Text 9"/>
          <p:cNvSpPr/>
          <p:nvPr/>
        </p:nvSpPr>
        <p:spPr>
          <a:xfrm>
            <a:off x="548640" y="28803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Bookman Old Style" pitchFamily="34" charset="0"/>
                <a:ea typeface="Bookman Old Style" pitchFamily="34" charset="-122"/>
                <a:cs typeface="Bookman Old Style" pitchFamily="34" charset="-120"/>
              </a:rPr>
              <a:t>2</a:t>
            </a:r>
            <a:endParaRPr lang="en-US" sz="2000" dirty="0"/>
          </a:p>
        </p:txBody>
      </p:sp>
      <p:sp>
        <p:nvSpPr>
          <p:cNvPr id="12" name="Text 10"/>
          <p:cNvSpPr/>
          <p:nvPr/>
        </p:nvSpPr>
        <p:spPr>
          <a:xfrm>
            <a:off x="1234440" y="2898648"/>
            <a:ext cx="10058400" cy="502920"/>
          </a:xfrm>
          <a:prstGeom prst="rect">
            <a:avLst/>
          </a:prstGeom>
          <a:noFill/>
          <a:ln/>
        </p:spPr>
        <p:txBody>
          <a:bodyPr wrap="square" lIns="0" tIns="0" rIns="0" bIns="0" rtlCol="0" anchor="ctr"/>
          <a:lstStyle/>
          <a:p>
            <a:pPr indent="0" marL="0">
              <a:buNone/>
            </a:pPr>
            <a:r>
              <a:rPr lang="en-US" sz="1700" dirty="0">
                <a:solidFill>
                  <a:srgbClr val="2C2A28"/>
                </a:solidFill>
                <a:latin typeface="Calibri" pitchFamily="34" charset="0"/>
                <a:ea typeface="Calibri" pitchFamily="34" charset="-122"/>
                <a:cs typeface="Calibri" pitchFamily="34" charset="-120"/>
              </a:rPr>
              <a:t>Name two habits that make a password strong.</a:t>
            </a:r>
            <a:endParaRPr lang="en-US" sz="1700" dirty="0"/>
          </a:p>
        </p:txBody>
      </p:sp>
      <p:sp>
        <p:nvSpPr>
          <p:cNvPr id="13" name="Shape 11"/>
          <p:cNvSpPr/>
          <p:nvPr/>
        </p:nvSpPr>
        <p:spPr>
          <a:xfrm>
            <a:off x="548640" y="3931920"/>
            <a:ext cx="502920" cy="502920"/>
          </a:xfrm>
          <a:prstGeom prst="ellipse">
            <a:avLst/>
          </a:prstGeom>
          <a:solidFill>
            <a:srgbClr val="14110F"/>
          </a:solidFill>
          <a:ln/>
        </p:spPr>
      </p:sp>
      <p:sp>
        <p:nvSpPr>
          <p:cNvPr id="14" name="Text 12"/>
          <p:cNvSpPr/>
          <p:nvPr/>
        </p:nvSpPr>
        <p:spPr>
          <a:xfrm>
            <a:off x="548640" y="39319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Bookman Old Style" pitchFamily="34" charset="0"/>
                <a:ea typeface="Bookman Old Style" pitchFamily="34" charset="-122"/>
                <a:cs typeface="Bookman Old Style" pitchFamily="34" charset="-120"/>
              </a:rPr>
              <a:t>3</a:t>
            </a:r>
            <a:endParaRPr lang="en-US" sz="2000" dirty="0"/>
          </a:p>
        </p:txBody>
      </p:sp>
      <p:sp>
        <p:nvSpPr>
          <p:cNvPr id="15" name="Text 13"/>
          <p:cNvSpPr/>
          <p:nvPr/>
        </p:nvSpPr>
        <p:spPr>
          <a:xfrm>
            <a:off x="1234440" y="3950208"/>
            <a:ext cx="10058400" cy="502920"/>
          </a:xfrm>
          <a:prstGeom prst="rect">
            <a:avLst/>
          </a:prstGeom>
          <a:noFill/>
          <a:ln/>
        </p:spPr>
        <p:txBody>
          <a:bodyPr wrap="square" lIns="0" tIns="0" rIns="0" bIns="0" rtlCol="0" anchor="ctr"/>
          <a:lstStyle/>
          <a:p>
            <a:pPr indent="0" marL="0">
              <a:buNone/>
            </a:pPr>
            <a:r>
              <a:rPr lang="en-US" sz="1700" dirty="0">
                <a:solidFill>
                  <a:srgbClr val="2C2A28"/>
                </a:solidFill>
                <a:latin typeface="Calibri" pitchFamily="34" charset="0"/>
                <a:ea typeface="Calibri" pitchFamily="34" charset="-122"/>
                <a:cs typeface="Calibri" pitchFamily="34" charset="-120"/>
              </a:rPr>
              <a:t>Give one red flag that a message might be a phishing attempt.</a:t>
            </a:r>
            <a:endParaRPr lang="en-US" sz="1700" dirty="0"/>
          </a:p>
        </p:txBody>
      </p:sp>
      <p:sp>
        <p:nvSpPr>
          <p:cNvPr id="16" name="Shape 14"/>
          <p:cNvSpPr/>
          <p:nvPr/>
        </p:nvSpPr>
        <p:spPr>
          <a:xfrm>
            <a:off x="548640" y="4983480"/>
            <a:ext cx="502920" cy="502920"/>
          </a:xfrm>
          <a:prstGeom prst="ellipse">
            <a:avLst/>
          </a:prstGeom>
          <a:solidFill>
            <a:srgbClr val="14110F"/>
          </a:solidFill>
          <a:ln/>
        </p:spPr>
      </p:sp>
      <p:sp>
        <p:nvSpPr>
          <p:cNvPr id="17" name="Text 15"/>
          <p:cNvSpPr/>
          <p:nvPr/>
        </p:nvSpPr>
        <p:spPr>
          <a:xfrm>
            <a:off x="548640" y="49834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Bookman Old Style" pitchFamily="34" charset="0"/>
                <a:ea typeface="Bookman Old Style" pitchFamily="34" charset="-122"/>
                <a:cs typeface="Bookman Old Style" pitchFamily="34" charset="-120"/>
              </a:rPr>
              <a:t>4</a:t>
            </a:r>
            <a:endParaRPr lang="en-US" sz="2000" dirty="0"/>
          </a:p>
        </p:txBody>
      </p:sp>
      <p:sp>
        <p:nvSpPr>
          <p:cNvPr id="18" name="Text 16"/>
          <p:cNvSpPr/>
          <p:nvPr/>
        </p:nvSpPr>
        <p:spPr>
          <a:xfrm>
            <a:off x="1234440" y="5001768"/>
            <a:ext cx="10058400" cy="502920"/>
          </a:xfrm>
          <a:prstGeom prst="rect">
            <a:avLst/>
          </a:prstGeom>
          <a:noFill/>
          <a:ln/>
        </p:spPr>
        <p:txBody>
          <a:bodyPr wrap="square" lIns="0" tIns="0" rIns="0" bIns="0" rtlCol="0" anchor="ctr"/>
          <a:lstStyle/>
          <a:p>
            <a:pPr indent="0" marL="0">
              <a:buNone/>
            </a:pPr>
            <a:r>
              <a:rPr lang="en-US" sz="1700" dirty="0">
                <a:solidFill>
                  <a:srgbClr val="2C2A28"/>
                </a:solidFill>
                <a:latin typeface="Calibri" pitchFamily="34" charset="0"/>
                <a:ea typeface="Calibri" pitchFamily="34" charset="-122"/>
                <a:cs typeface="Calibri" pitchFamily="34" charset="-120"/>
              </a:rPr>
              <a:t>What is malware, and name one habit that helps protect a device from it?</a:t>
            </a:r>
            <a:endParaRPr lang="en-US" sz="1700" dirty="0"/>
          </a:p>
        </p:txBody>
      </p:sp>
      <p:sp>
        <p:nvSpPr>
          <p:cNvPr id="19" name="Text 17"/>
          <p:cNvSpPr/>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8C857A"/>
                </a:solidFill>
                <a:latin typeface="Calibri" pitchFamily="34" charset="0"/>
                <a:ea typeface="Calibri" pitchFamily="34" charset="-122"/>
                <a:cs typeface="Calibri" pitchFamily="34" charset="-120"/>
              </a:rPr>
              <a:t>Staying Safe Online  ·  Lesson 3 of 3  ·  Year 7 Digital Technologies</a:t>
            </a:r>
            <a:endParaRPr lang="en-US" sz="1000" dirty="0"/>
          </a:p>
        </p:txBody>
      </p:sp>
      <p:sp>
        <p:nvSpPr>
          <p:cNvPr id="20" name="Text 1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8C857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365760"/>
            <a:ext cx="1554480" cy="329184"/>
          </a:xfrm>
          <a:prstGeom prst="roundRect">
            <a:avLst>
              <a:gd name="adj" fmla="val 50000"/>
            </a:avLst>
          </a:prstGeom>
          <a:solidFill>
            <a:srgbClr val="8C1F28"/>
          </a:solidFill>
          <a:ln/>
        </p:spPr>
      </p:sp>
      <p:sp>
        <p:nvSpPr>
          <p:cNvPr id="3" name="Text 1"/>
          <p:cNvSpPr/>
          <p:nvPr/>
        </p:nvSpPr>
        <p:spPr>
          <a:xfrm>
            <a:off x="457200" y="365760"/>
            <a:ext cx="155448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REFLECTING</a:t>
            </a:r>
            <a:endParaRPr lang="en-US" sz="1100" dirty="0"/>
          </a:p>
        </p:txBody>
      </p:sp>
      <p:sp>
        <p:nvSpPr>
          <p:cNvPr id="4" name="Shape 2"/>
          <p:cNvSpPr/>
          <p:nvPr/>
        </p:nvSpPr>
        <p:spPr>
          <a:xfrm>
            <a:off x="10042855" y="365760"/>
            <a:ext cx="1691640" cy="329184"/>
          </a:xfrm>
          <a:prstGeom prst="roundRect">
            <a:avLst>
              <a:gd name="adj" fmla="val 50000"/>
            </a:avLst>
          </a:prstGeom>
          <a:solidFill>
            <a:srgbClr val="5C1419"/>
          </a:solidFill>
          <a:ln/>
        </p:spPr>
      </p:sp>
      <p:sp>
        <p:nvSpPr>
          <p:cNvPr id="5" name="Text 3"/>
          <p:cNvSpPr/>
          <p:nvPr/>
        </p:nvSpPr>
        <p:spPr>
          <a:xfrm>
            <a:off x="10042855" y="365760"/>
            <a:ext cx="1691640" cy="329184"/>
          </a:xfrm>
          <a:prstGeom prst="rect">
            <a:avLst/>
          </a:prstGeom>
          <a:noFill/>
          <a:ln/>
        </p:spPr>
        <p:txBody>
          <a:bodyPr wrap="square" lIns="0" tIns="0" rIns="0" bIns="0"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DEVICES: AWAY</a:t>
            </a:r>
            <a:endParaRPr lang="en-US" sz="1100" dirty="0"/>
          </a:p>
        </p:txBody>
      </p:sp>
      <p:sp>
        <p:nvSpPr>
          <p:cNvPr id="6" name="Text 4"/>
          <p:cNvSpPr/>
          <p:nvPr/>
        </p:nvSpPr>
        <p:spPr>
          <a:xfrm>
            <a:off x="457200" y="868680"/>
            <a:ext cx="11277295" cy="685800"/>
          </a:xfrm>
          <a:prstGeom prst="rect">
            <a:avLst/>
          </a:prstGeom>
          <a:noFill/>
          <a:ln/>
        </p:spPr>
        <p:txBody>
          <a:bodyPr wrap="square" lIns="0" tIns="0" rIns="0" bIns="0" rtlCol="0" anchor="ctr"/>
          <a:lstStyle/>
          <a:p>
            <a:pPr indent="0" marL="0">
              <a:buNone/>
            </a:pPr>
            <a:r>
              <a:rPr lang="en-US" sz="3200" b="1" dirty="0">
                <a:solidFill>
                  <a:srgbClr val="14110F"/>
                </a:solidFill>
                <a:latin typeface="Bookman Old Style" pitchFamily="34" charset="0"/>
                <a:ea typeface="Bookman Old Style" pitchFamily="34" charset="-122"/>
                <a:cs typeface="Bookman Old Style" pitchFamily="34" charset="-120"/>
              </a:rPr>
              <a:t>Exit Ticket</a:t>
            </a:r>
            <a:endParaRPr lang="en-US" sz="3200" dirty="0"/>
          </a:p>
        </p:txBody>
      </p:sp>
      <p:sp>
        <p:nvSpPr>
          <p:cNvPr id="7" name="Shape 5"/>
          <p:cNvSpPr/>
          <p:nvPr/>
        </p:nvSpPr>
        <p:spPr>
          <a:xfrm>
            <a:off x="457200" y="1645920"/>
            <a:ext cx="1280160" cy="384048"/>
          </a:xfrm>
          <a:prstGeom prst="roundRect">
            <a:avLst>
              <a:gd name="adj" fmla="val 50000"/>
            </a:avLst>
          </a:prstGeom>
          <a:solidFill>
            <a:srgbClr val="8C1F28"/>
          </a:solidFill>
          <a:ln/>
        </p:spPr>
      </p:sp>
      <p:sp>
        <p:nvSpPr>
          <p:cNvPr id="8" name="Text 6"/>
          <p:cNvSpPr/>
          <p:nvPr/>
        </p:nvSpPr>
        <p:spPr>
          <a:xfrm>
            <a:off x="457200" y="1645920"/>
            <a:ext cx="128016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EXIT</a:t>
            </a:r>
            <a:endParaRPr lang="en-US" sz="1200" dirty="0"/>
          </a:p>
        </p:txBody>
      </p:sp>
      <p:sp>
        <p:nvSpPr>
          <p:cNvPr id="9" name="Text 7"/>
          <p:cNvSpPr/>
          <p:nvPr/>
        </p:nvSpPr>
        <p:spPr>
          <a:xfrm>
            <a:off x="457200" y="2194560"/>
            <a:ext cx="6858000" cy="365760"/>
          </a:xfrm>
          <a:prstGeom prst="rect">
            <a:avLst/>
          </a:prstGeom>
          <a:noFill/>
          <a:ln/>
        </p:spPr>
        <p:txBody>
          <a:bodyPr wrap="square" lIns="0" tIns="0" rIns="0" bIns="0" rtlCol="0" anchor="ctr"/>
          <a:lstStyle/>
          <a:p>
            <a:pPr indent="0" marL="0">
              <a:buNone/>
            </a:pPr>
            <a:r>
              <a:rPr lang="en-US" sz="1450" b="1" dirty="0">
                <a:solidFill>
                  <a:srgbClr val="14110F"/>
                </a:solidFill>
                <a:latin typeface="Calibri" pitchFamily="34" charset="0"/>
                <a:ea typeface="Calibri" pitchFamily="34" charset="-122"/>
                <a:cs typeface="Calibri" pitchFamily="34" charset="-120"/>
              </a:rPr>
              <a:t>Complete the exit ticket in the last section of your workbook:</a:t>
            </a:r>
            <a:endParaRPr lang="en-US" sz="1450" dirty="0"/>
          </a:p>
        </p:txBody>
      </p:sp>
      <p:sp>
        <p:nvSpPr>
          <p:cNvPr id="10" name="Text 8"/>
          <p:cNvSpPr/>
          <p:nvPr/>
        </p:nvSpPr>
        <p:spPr>
          <a:xfrm>
            <a:off x="457200" y="2697480"/>
            <a:ext cx="6858000" cy="502920"/>
          </a:xfrm>
          <a:prstGeom prst="rect">
            <a:avLst/>
          </a:prstGeom>
          <a:noFill/>
          <a:ln/>
        </p:spPr>
        <p:txBody>
          <a:bodyPr wrap="square" lIns="0" tIns="0" rIns="0" bIns="0" rtlCol="0" anchor="ctr"/>
          <a:lstStyle/>
          <a:p>
            <a:pPr indent="0" marL="0">
              <a:buNone/>
            </a:pPr>
            <a:r>
              <a:rPr lang="en-US" sz="1400" dirty="0">
                <a:solidFill>
                  <a:srgbClr val="2C2A28"/>
                </a:solidFill>
                <a:latin typeface="Calibri" pitchFamily="34" charset="0"/>
                <a:ea typeface="Calibri" pitchFamily="34" charset="-122"/>
                <a:cs typeface="Calibri" pitchFamily="34" charset="-120"/>
              </a:rPr>
              <a:t>•  Explain, in your own words, why your digital footprint matters.</a:t>
            </a:r>
            <a:endParaRPr lang="en-US" sz="1400" dirty="0"/>
          </a:p>
        </p:txBody>
      </p:sp>
      <p:sp>
        <p:nvSpPr>
          <p:cNvPr id="11" name="Text 9"/>
          <p:cNvSpPr/>
          <p:nvPr/>
        </p:nvSpPr>
        <p:spPr>
          <a:xfrm>
            <a:off x="457200" y="3227832"/>
            <a:ext cx="6858000" cy="502920"/>
          </a:xfrm>
          <a:prstGeom prst="rect">
            <a:avLst/>
          </a:prstGeom>
          <a:noFill/>
          <a:ln/>
        </p:spPr>
        <p:txBody>
          <a:bodyPr wrap="square" lIns="0" tIns="0" rIns="0" bIns="0" rtlCol="0" anchor="ctr"/>
          <a:lstStyle/>
          <a:p>
            <a:pPr indent="0" marL="0">
              <a:buNone/>
            </a:pPr>
            <a:r>
              <a:rPr lang="en-US" sz="1400" dirty="0">
                <a:solidFill>
                  <a:srgbClr val="2C2A28"/>
                </a:solidFill>
                <a:latin typeface="Calibri" pitchFamily="34" charset="0"/>
                <a:ea typeface="Calibri" pitchFamily="34" charset="-122"/>
                <a:cs typeface="Calibri" pitchFamily="34" charset="-120"/>
              </a:rPr>
              <a:t>•  Write one strong password habit and one phishing red flag you'll remember.</a:t>
            </a:r>
            <a:endParaRPr lang="en-US" sz="1400" dirty="0"/>
          </a:p>
        </p:txBody>
      </p:sp>
      <p:sp>
        <p:nvSpPr>
          <p:cNvPr id="12" name="Text 10"/>
          <p:cNvSpPr/>
          <p:nvPr/>
        </p:nvSpPr>
        <p:spPr>
          <a:xfrm>
            <a:off x="457200" y="3758184"/>
            <a:ext cx="6858000" cy="502920"/>
          </a:xfrm>
          <a:prstGeom prst="rect">
            <a:avLst/>
          </a:prstGeom>
          <a:noFill/>
          <a:ln/>
        </p:spPr>
        <p:txBody>
          <a:bodyPr wrap="square" lIns="0" tIns="0" rIns="0" bIns="0" rtlCol="0" anchor="ctr"/>
          <a:lstStyle/>
          <a:p>
            <a:pPr indent="0" marL="0">
              <a:buNone/>
            </a:pPr>
            <a:r>
              <a:rPr lang="en-US" sz="1400" dirty="0">
                <a:solidFill>
                  <a:srgbClr val="2C2A28"/>
                </a:solidFill>
                <a:latin typeface="Calibri" pitchFamily="34" charset="0"/>
                <a:ea typeface="Calibri" pitchFamily="34" charset="-122"/>
                <a:cs typeface="Calibri" pitchFamily="34" charset="-120"/>
              </a:rPr>
              <a:t>•  Rate yourself on each success criterion: Foundation / Developing / Extending.</a:t>
            </a:r>
            <a:endParaRPr lang="en-US" sz="1400" dirty="0"/>
          </a:p>
        </p:txBody>
      </p:sp>
      <p:sp>
        <p:nvSpPr>
          <p:cNvPr id="13" name="Shape 11"/>
          <p:cNvSpPr/>
          <p:nvPr/>
        </p:nvSpPr>
        <p:spPr>
          <a:xfrm>
            <a:off x="7635240" y="1645920"/>
            <a:ext cx="4069080" cy="4526280"/>
          </a:xfrm>
          <a:prstGeom prst="roundRect">
            <a:avLst>
              <a:gd name="adj" fmla="val 1798"/>
            </a:avLst>
          </a:prstGeom>
          <a:solidFill>
            <a:srgbClr val="FFFFFF"/>
          </a:solidFill>
          <a:ln w="12700">
            <a:solidFill>
              <a:srgbClr val="D8D3CA"/>
            </a:solidFill>
            <a:prstDash val="solid"/>
          </a:ln>
        </p:spPr>
      </p:sp>
      <p:sp>
        <p:nvSpPr>
          <p:cNvPr id="14" name="Text 12"/>
          <p:cNvSpPr/>
          <p:nvPr/>
        </p:nvSpPr>
        <p:spPr>
          <a:xfrm>
            <a:off x="7863840" y="1828800"/>
            <a:ext cx="3611880" cy="365760"/>
          </a:xfrm>
          <a:prstGeom prst="rect">
            <a:avLst/>
          </a:prstGeom>
          <a:noFill/>
          <a:ln/>
        </p:spPr>
        <p:txBody>
          <a:bodyPr wrap="square" lIns="0" tIns="0" rIns="0" bIns="0" rtlCol="0" anchor="ctr"/>
          <a:lstStyle/>
          <a:p>
            <a:pPr indent="0" marL="0">
              <a:buNone/>
            </a:pPr>
            <a:r>
              <a:rPr lang="en-US" sz="1450" b="1" dirty="0">
                <a:solidFill>
                  <a:srgbClr val="14110F"/>
                </a:solidFill>
                <a:latin typeface="Calibri" pitchFamily="34" charset="0"/>
                <a:ea typeface="Calibri" pitchFamily="34" charset="-122"/>
                <a:cs typeface="Calibri" pitchFamily="34" charset="-120"/>
              </a:rPr>
              <a:t>Self-rate against today's criteria</a:t>
            </a:r>
            <a:endParaRPr lang="en-US" sz="1450" dirty="0"/>
          </a:p>
        </p:txBody>
      </p:sp>
      <p:sp>
        <p:nvSpPr>
          <p:cNvPr id="15" name="Shape 13"/>
          <p:cNvSpPr/>
          <p:nvPr/>
        </p:nvSpPr>
        <p:spPr>
          <a:xfrm>
            <a:off x="7863840" y="2286000"/>
            <a:ext cx="3611880" cy="777240"/>
          </a:xfrm>
          <a:prstGeom prst="roundRect">
            <a:avLst>
              <a:gd name="adj" fmla="val 7059"/>
            </a:avLst>
          </a:prstGeom>
          <a:solidFill>
            <a:srgbClr val="FFFFFF"/>
          </a:solidFill>
          <a:ln w="15875">
            <a:solidFill>
              <a:srgbClr val="1B5E47"/>
            </a:solidFill>
            <a:prstDash val="solid"/>
          </a:ln>
        </p:spPr>
      </p:sp>
      <p:sp>
        <p:nvSpPr>
          <p:cNvPr id="16" name="Text 14"/>
          <p:cNvSpPr/>
          <p:nvPr/>
        </p:nvSpPr>
        <p:spPr>
          <a:xfrm>
            <a:off x="8028432" y="2359152"/>
            <a:ext cx="3291840" cy="274320"/>
          </a:xfrm>
          <a:prstGeom prst="rect">
            <a:avLst/>
          </a:prstGeom>
          <a:noFill/>
          <a:ln/>
        </p:spPr>
        <p:txBody>
          <a:bodyPr wrap="square" lIns="0" tIns="0" rIns="0" bIns="0" rtlCol="0" anchor="ctr"/>
          <a:lstStyle/>
          <a:p>
            <a:pPr indent="0" marL="0">
              <a:buNone/>
            </a:pPr>
            <a:r>
              <a:rPr lang="en-US" sz="1250" b="1" dirty="0">
                <a:solidFill>
                  <a:srgbClr val="1B5E47"/>
                </a:solidFill>
                <a:latin typeface="Calibri" pitchFamily="34" charset="0"/>
                <a:ea typeface="Calibri" pitchFamily="34" charset="-122"/>
                <a:cs typeface="Calibri" pitchFamily="34" charset="-120"/>
              </a:rPr>
              <a:t>Foundation</a:t>
            </a:r>
            <a:endParaRPr lang="en-US" sz="1250" dirty="0"/>
          </a:p>
        </p:txBody>
      </p:sp>
      <p:sp>
        <p:nvSpPr>
          <p:cNvPr id="17" name="Text 15"/>
          <p:cNvSpPr/>
          <p:nvPr/>
        </p:nvSpPr>
        <p:spPr>
          <a:xfrm>
            <a:off x="8028432" y="2615184"/>
            <a:ext cx="3291840" cy="411480"/>
          </a:xfrm>
          <a:prstGeom prst="rect">
            <a:avLst/>
          </a:prstGeom>
          <a:noFill/>
          <a:ln/>
        </p:spPr>
        <p:txBody>
          <a:bodyPr wrap="square" lIns="0" tIns="0" rIns="0" bIns="0" rtlCol="0" anchor="ctr"/>
          <a:lstStyle/>
          <a:p>
            <a:pPr indent="0" marL="0">
              <a:buNone/>
            </a:pPr>
            <a:r>
              <a:rPr lang="en-US" sz="1150" dirty="0">
                <a:solidFill>
                  <a:srgbClr val="2C2A28"/>
                </a:solidFill>
                <a:latin typeface="Calibri" pitchFamily="34" charset="0"/>
                <a:ea typeface="Calibri" pitchFamily="34" charset="-122"/>
                <a:cs typeface="Calibri" pitchFamily="34" charset="-120"/>
              </a:rPr>
              <a:t>I can identify private information and one scam warning sign.</a:t>
            </a:r>
            <a:endParaRPr lang="en-US" sz="1150" dirty="0"/>
          </a:p>
        </p:txBody>
      </p:sp>
      <p:sp>
        <p:nvSpPr>
          <p:cNvPr id="18" name="Shape 16"/>
          <p:cNvSpPr/>
          <p:nvPr/>
        </p:nvSpPr>
        <p:spPr>
          <a:xfrm>
            <a:off x="7863840" y="3246120"/>
            <a:ext cx="3611880" cy="777240"/>
          </a:xfrm>
          <a:prstGeom prst="roundRect">
            <a:avLst>
              <a:gd name="adj" fmla="val 7059"/>
            </a:avLst>
          </a:prstGeom>
          <a:solidFill>
            <a:srgbClr val="FFFFFF"/>
          </a:solidFill>
          <a:ln w="15875">
            <a:solidFill>
              <a:srgbClr val="B8620A"/>
            </a:solidFill>
            <a:prstDash val="solid"/>
          </a:ln>
        </p:spPr>
      </p:sp>
      <p:sp>
        <p:nvSpPr>
          <p:cNvPr id="19" name="Text 17"/>
          <p:cNvSpPr/>
          <p:nvPr/>
        </p:nvSpPr>
        <p:spPr>
          <a:xfrm>
            <a:off x="8028432" y="3319272"/>
            <a:ext cx="3291840" cy="274320"/>
          </a:xfrm>
          <a:prstGeom prst="rect">
            <a:avLst/>
          </a:prstGeom>
          <a:noFill/>
          <a:ln/>
        </p:spPr>
        <p:txBody>
          <a:bodyPr wrap="square" lIns="0" tIns="0" rIns="0" bIns="0" rtlCol="0" anchor="ctr"/>
          <a:lstStyle/>
          <a:p>
            <a:pPr indent="0" marL="0">
              <a:buNone/>
            </a:pPr>
            <a:r>
              <a:rPr lang="en-US" sz="1250" b="1" dirty="0">
                <a:solidFill>
                  <a:srgbClr val="B8620A"/>
                </a:solidFill>
                <a:latin typeface="Calibri" pitchFamily="34" charset="0"/>
                <a:ea typeface="Calibri" pitchFamily="34" charset="-122"/>
                <a:cs typeface="Calibri" pitchFamily="34" charset="-120"/>
              </a:rPr>
              <a:t>Developing</a:t>
            </a:r>
            <a:endParaRPr lang="en-US" sz="1250" dirty="0"/>
          </a:p>
        </p:txBody>
      </p:sp>
      <p:sp>
        <p:nvSpPr>
          <p:cNvPr id="20" name="Text 18"/>
          <p:cNvSpPr/>
          <p:nvPr/>
        </p:nvSpPr>
        <p:spPr>
          <a:xfrm>
            <a:off x="8028432" y="3575304"/>
            <a:ext cx="3291840" cy="411480"/>
          </a:xfrm>
          <a:prstGeom prst="rect">
            <a:avLst/>
          </a:prstGeom>
          <a:noFill/>
          <a:ln/>
        </p:spPr>
        <p:txBody>
          <a:bodyPr wrap="square" lIns="0" tIns="0" rIns="0" bIns="0" rtlCol="0" anchor="ctr"/>
          <a:lstStyle/>
          <a:p>
            <a:pPr indent="0" marL="0">
              <a:buNone/>
            </a:pPr>
            <a:r>
              <a:rPr lang="en-US" sz="1150" dirty="0">
                <a:solidFill>
                  <a:srgbClr val="2C2A28"/>
                </a:solidFill>
                <a:latin typeface="Calibri" pitchFamily="34" charset="0"/>
                <a:ea typeface="Calibri" pitchFamily="34" charset="-122"/>
                <a:cs typeface="Calibri" pitchFamily="34" charset="-120"/>
              </a:rPr>
              <a:t>I can explain strong passwords and spot phishing tricks.</a:t>
            </a:r>
            <a:endParaRPr lang="en-US" sz="1150" dirty="0"/>
          </a:p>
        </p:txBody>
      </p:sp>
      <p:sp>
        <p:nvSpPr>
          <p:cNvPr id="21" name="Shape 19"/>
          <p:cNvSpPr/>
          <p:nvPr/>
        </p:nvSpPr>
        <p:spPr>
          <a:xfrm>
            <a:off x="7863840" y="4206240"/>
            <a:ext cx="3611880" cy="777240"/>
          </a:xfrm>
          <a:prstGeom prst="roundRect">
            <a:avLst>
              <a:gd name="adj" fmla="val 7059"/>
            </a:avLst>
          </a:prstGeom>
          <a:solidFill>
            <a:srgbClr val="FFFFFF"/>
          </a:solidFill>
          <a:ln w="15875">
            <a:solidFill>
              <a:srgbClr val="2B3A8C"/>
            </a:solidFill>
            <a:prstDash val="solid"/>
          </a:ln>
        </p:spPr>
      </p:sp>
      <p:sp>
        <p:nvSpPr>
          <p:cNvPr id="22" name="Text 20"/>
          <p:cNvSpPr/>
          <p:nvPr/>
        </p:nvSpPr>
        <p:spPr>
          <a:xfrm>
            <a:off x="8028432" y="4279392"/>
            <a:ext cx="3291840" cy="274320"/>
          </a:xfrm>
          <a:prstGeom prst="rect">
            <a:avLst/>
          </a:prstGeom>
          <a:noFill/>
          <a:ln/>
        </p:spPr>
        <p:txBody>
          <a:bodyPr wrap="square" lIns="0" tIns="0" rIns="0" bIns="0" rtlCol="0" anchor="ctr"/>
          <a:lstStyle/>
          <a:p>
            <a:pPr indent="0" marL="0">
              <a:buNone/>
            </a:pPr>
            <a:r>
              <a:rPr lang="en-US" sz="1250" b="1" dirty="0">
                <a:solidFill>
                  <a:srgbClr val="2B3A8C"/>
                </a:solidFill>
                <a:latin typeface="Calibri" pitchFamily="34" charset="0"/>
                <a:ea typeface="Calibri" pitchFamily="34" charset="-122"/>
                <a:cs typeface="Calibri" pitchFamily="34" charset="-120"/>
              </a:rPr>
              <a:t>Extending</a:t>
            </a:r>
            <a:endParaRPr lang="en-US" sz="1250" dirty="0"/>
          </a:p>
        </p:txBody>
      </p:sp>
      <p:sp>
        <p:nvSpPr>
          <p:cNvPr id="23" name="Text 21"/>
          <p:cNvSpPr/>
          <p:nvPr/>
        </p:nvSpPr>
        <p:spPr>
          <a:xfrm>
            <a:off x="8028432" y="4535424"/>
            <a:ext cx="3291840" cy="411480"/>
          </a:xfrm>
          <a:prstGeom prst="rect">
            <a:avLst/>
          </a:prstGeom>
          <a:noFill/>
          <a:ln/>
        </p:spPr>
        <p:txBody>
          <a:bodyPr wrap="square" lIns="0" tIns="0" rIns="0" bIns="0" rtlCol="0" anchor="ctr"/>
          <a:lstStyle/>
          <a:p>
            <a:pPr indent="0" marL="0">
              <a:buNone/>
            </a:pPr>
            <a:r>
              <a:rPr lang="en-US" sz="1150" dirty="0">
                <a:solidFill>
                  <a:srgbClr val="2C2A28"/>
                </a:solidFill>
                <a:latin typeface="Calibri" pitchFamily="34" charset="0"/>
                <a:ea typeface="Calibri" pitchFamily="34" charset="-122"/>
                <a:cs typeface="Calibri" pitchFamily="34" charset="-120"/>
              </a:rPr>
              <a:t>I can explain malware and justify a set of safety habits.</a:t>
            </a:r>
            <a:endParaRPr lang="en-US" sz="1150" dirty="0"/>
          </a:p>
        </p:txBody>
      </p:sp>
      <p:sp>
        <p:nvSpPr>
          <p:cNvPr id="24" name="Text 22"/>
          <p:cNvSpPr/>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8C857A"/>
                </a:solidFill>
                <a:latin typeface="Calibri" pitchFamily="34" charset="0"/>
                <a:ea typeface="Calibri" pitchFamily="34" charset="-122"/>
                <a:cs typeface="Calibri" pitchFamily="34" charset="-120"/>
              </a:rPr>
              <a:t>Staying Safe Online  ·  Lesson 3 of 3  ·  Year 7 Digital Technologies</a:t>
            </a:r>
            <a:endParaRPr lang="en-US" sz="1000" dirty="0"/>
          </a:p>
        </p:txBody>
      </p:sp>
      <p:sp>
        <p:nvSpPr>
          <p:cNvPr id="25" name="Text 2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8C857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365760"/>
            <a:ext cx="1554480" cy="329184"/>
          </a:xfrm>
          <a:prstGeom prst="roundRect">
            <a:avLst>
              <a:gd name="adj" fmla="val 50000"/>
            </a:avLst>
          </a:prstGeom>
          <a:solidFill>
            <a:srgbClr val="8C1F28"/>
          </a:solidFill>
          <a:ln/>
        </p:spPr>
      </p:sp>
      <p:sp>
        <p:nvSpPr>
          <p:cNvPr id="3" name="Text 1"/>
          <p:cNvSpPr/>
          <p:nvPr/>
        </p:nvSpPr>
        <p:spPr>
          <a:xfrm>
            <a:off x="457200" y="365760"/>
            <a:ext cx="155448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REFLECTING</a:t>
            </a:r>
            <a:endParaRPr lang="en-US" sz="1100" dirty="0"/>
          </a:p>
        </p:txBody>
      </p:sp>
      <p:sp>
        <p:nvSpPr>
          <p:cNvPr id="4" name="Shape 2"/>
          <p:cNvSpPr/>
          <p:nvPr/>
        </p:nvSpPr>
        <p:spPr>
          <a:xfrm>
            <a:off x="10042855" y="365760"/>
            <a:ext cx="1691640" cy="329184"/>
          </a:xfrm>
          <a:prstGeom prst="roundRect">
            <a:avLst>
              <a:gd name="adj" fmla="val 50000"/>
            </a:avLst>
          </a:prstGeom>
          <a:solidFill>
            <a:srgbClr val="5C1419"/>
          </a:solidFill>
          <a:ln/>
        </p:spPr>
      </p:sp>
      <p:sp>
        <p:nvSpPr>
          <p:cNvPr id="5" name="Text 3"/>
          <p:cNvSpPr/>
          <p:nvPr/>
        </p:nvSpPr>
        <p:spPr>
          <a:xfrm>
            <a:off x="10042855" y="365760"/>
            <a:ext cx="1691640" cy="329184"/>
          </a:xfrm>
          <a:prstGeom prst="rect">
            <a:avLst/>
          </a:prstGeom>
          <a:noFill/>
          <a:ln/>
        </p:spPr>
        <p:txBody>
          <a:bodyPr wrap="square" lIns="0" tIns="0" rIns="0" bIns="0"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DEVICES: AWAY</a:t>
            </a:r>
            <a:endParaRPr lang="en-US" sz="1100" dirty="0"/>
          </a:p>
        </p:txBody>
      </p:sp>
      <p:sp>
        <p:nvSpPr>
          <p:cNvPr id="6" name="Text 4"/>
          <p:cNvSpPr/>
          <p:nvPr/>
        </p:nvSpPr>
        <p:spPr>
          <a:xfrm>
            <a:off x="457200" y="868680"/>
            <a:ext cx="11277295" cy="685800"/>
          </a:xfrm>
          <a:prstGeom prst="rect">
            <a:avLst/>
          </a:prstGeom>
          <a:noFill/>
          <a:ln/>
        </p:spPr>
        <p:txBody>
          <a:bodyPr wrap="square" lIns="0" tIns="0" rIns="0" bIns="0" rtlCol="0" anchor="ctr"/>
          <a:lstStyle/>
          <a:p>
            <a:pPr indent="0" marL="0">
              <a:buNone/>
            </a:pPr>
            <a:r>
              <a:rPr lang="en-US" sz="3200" b="1" dirty="0">
                <a:solidFill>
                  <a:srgbClr val="14110F"/>
                </a:solidFill>
                <a:latin typeface="Bookman Old Style" pitchFamily="34" charset="0"/>
                <a:ea typeface="Bookman Old Style" pitchFamily="34" charset="-122"/>
                <a:cs typeface="Bookman Old Style" pitchFamily="34" charset="-120"/>
              </a:rPr>
              <a:t>The Internet Unit: What We've Covered</a:t>
            </a:r>
            <a:endParaRPr lang="en-US" sz="3200" dirty="0"/>
          </a:p>
        </p:txBody>
      </p:sp>
      <p:sp>
        <p:nvSpPr>
          <p:cNvPr id="7" name="Shape 5"/>
          <p:cNvSpPr/>
          <p:nvPr/>
        </p:nvSpPr>
        <p:spPr>
          <a:xfrm>
            <a:off x="457200" y="1828800"/>
            <a:ext cx="3703320" cy="2377440"/>
          </a:xfrm>
          <a:prstGeom prst="roundRect">
            <a:avLst>
              <a:gd name="adj" fmla="val 3077"/>
            </a:avLst>
          </a:prstGeom>
          <a:solidFill>
            <a:srgbClr val="FFFFFF"/>
          </a:solidFill>
          <a:ln w="12700">
            <a:solidFill>
              <a:srgbClr val="D8D3CA"/>
            </a:solidFill>
            <a:prstDash val="solid"/>
          </a:ln>
        </p:spPr>
      </p:sp>
      <p:sp>
        <p:nvSpPr>
          <p:cNvPr id="8" name="Shape 6"/>
          <p:cNvSpPr/>
          <p:nvPr/>
        </p:nvSpPr>
        <p:spPr>
          <a:xfrm>
            <a:off x="685800" y="2057400"/>
            <a:ext cx="457200" cy="457200"/>
          </a:xfrm>
          <a:prstGeom prst="ellipse">
            <a:avLst/>
          </a:prstGeom>
          <a:solidFill>
            <a:srgbClr val="14110F"/>
          </a:solidFill>
          <a:ln/>
        </p:spPr>
      </p:sp>
      <p:sp>
        <p:nvSpPr>
          <p:cNvPr id="9" name="Text 7"/>
          <p:cNvSpPr/>
          <p:nvPr/>
        </p:nvSpPr>
        <p:spPr>
          <a:xfrm>
            <a:off x="685800" y="20574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1</a:t>
            </a:r>
            <a:endParaRPr lang="en-US" sz="1800" dirty="0"/>
          </a:p>
        </p:txBody>
      </p:sp>
      <p:sp>
        <p:nvSpPr>
          <p:cNvPr id="10" name="Text 8"/>
          <p:cNvSpPr/>
          <p:nvPr/>
        </p:nvSpPr>
        <p:spPr>
          <a:xfrm>
            <a:off x="685800" y="2606040"/>
            <a:ext cx="3246120" cy="502920"/>
          </a:xfrm>
          <a:prstGeom prst="rect">
            <a:avLst/>
          </a:prstGeom>
          <a:noFill/>
          <a:ln/>
        </p:spPr>
        <p:txBody>
          <a:bodyPr wrap="square" lIns="0" tIns="0" rIns="0" bIns="0" rtlCol="0" anchor="ctr"/>
          <a:lstStyle/>
          <a:p>
            <a:pPr indent="0" marL="0">
              <a:buNone/>
            </a:pPr>
            <a:r>
              <a:rPr lang="en-US" sz="1500" b="1" dirty="0">
                <a:solidFill>
                  <a:srgbClr val="14110F"/>
                </a:solidFill>
                <a:latin typeface="Calibri" pitchFamily="34" charset="0"/>
                <a:ea typeface="Calibri" pitchFamily="34" charset="-122"/>
                <a:cs typeface="Calibri" pitchFamily="34" charset="-120"/>
              </a:rPr>
              <a:t>How the Internet Works</a:t>
            </a:r>
            <a:endParaRPr lang="en-US" sz="1500" dirty="0"/>
          </a:p>
        </p:txBody>
      </p:sp>
      <p:sp>
        <p:nvSpPr>
          <p:cNvPr id="11" name="Text 9"/>
          <p:cNvSpPr/>
          <p:nvPr/>
        </p:nvSpPr>
        <p:spPr>
          <a:xfrm>
            <a:off x="685800" y="3108960"/>
            <a:ext cx="3246120" cy="1005840"/>
          </a:xfrm>
          <a:prstGeom prst="rect">
            <a:avLst/>
          </a:prstGeom>
          <a:noFill/>
          <a:ln/>
        </p:spPr>
        <p:txBody>
          <a:bodyPr wrap="square" lIns="0" tIns="0" rIns="0" bIns="0" rtlCol="0" anchor="ctr"/>
          <a:lstStyle/>
          <a:p>
            <a:pPr indent="0" marL="0">
              <a:lnSpc>
                <a:spcPct val="115000"/>
              </a:lnSpc>
              <a:buNone/>
            </a:pPr>
            <a:r>
              <a:rPr lang="en-US" sz="1250" dirty="0">
                <a:solidFill>
                  <a:srgbClr val="2C2A28"/>
                </a:solidFill>
                <a:latin typeface="Calibri" pitchFamily="34" charset="0"/>
                <a:ea typeface="Calibri" pitchFamily="34" charset="-122"/>
                <a:cs typeface="Calibri" pitchFamily="34" charset="-120"/>
              </a:rPr>
              <a:t>Networks, the history of the internet, wired vs wireless connections.</a:t>
            </a:r>
            <a:endParaRPr lang="en-US" sz="1250" dirty="0"/>
          </a:p>
        </p:txBody>
      </p:sp>
      <p:sp>
        <p:nvSpPr>
          <p:cNvPr id="12" name="Shape 10"/>
          <p:cNvSpPr/>
          <p:nvPr/>
        </p:nvSpPr>
        <p:spPr>
          <a:xfrm>
            <a:off x="4297680" y="1828800"/>
            <a:ext cx="3703320" cy="2377440"/>
          </a:xfrm>
          <a:prstGeom prst="roundRect">
            <a:avLst>
              <a:gd name="adj" fmla="val 3077"/>
            </a:avLst>
          </a:prstGeom>
          <a:solidFill>
            <a:srgbClr val="FFFFFF"/>
          </a:solidFill>
          <a:ln w="12700">
            <a:solidFill>
              <a:srgbClr val="D8D3CA"/>
            </a:solidFill>
            <a:prstDash val="solid"/>
          </a:ln>
        </p:spPr>
      </p:sp>
      <p:sp>
        <p:nvSpPr>
          <p:cNvPr id="13" name="Shape 11"/>
          <p:cNvSpPr/>
          <p:nvPr/>
        </p:nvSpPr>
        <p:spPr>
          <a:xfrm>
            <a:off x="4526280" y="2057400"/>
            <a:ext cx="457200" cy="457200"/>
          </a:xfrm>
          <a:prstGeom prst="ellipse">
            <a:avLst/>
          </a:prstGeom>
          <a:solidFill>
            <a:srgbClr val="14110F"/>
          </a:solidFill>
          <a:ln/>
        </p:spPr>
      </p:sp>
      <p:sp>
        <p:nvSpPr>
          <p:cNvPr id="14" name="Text 12"/>
          <p:cNvSpPr/>
          <p:nvPr/>
        </p:nvSpPr>
        <p:spPr>
          <a:xfrm>
            <a:off x="4526280" y="20574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2</a:t>
            </a:r>
            <a:endParaRPr lang="en-US" sz="1800" dirty="0"/>
          </a:p>
        </p:txBody>
      </p:sp>
      <p:sp>
        <p:nvSpPr>
          <p:cNvPr id="15" name="Text 13"/>
          <p:cNvSpPr/>
          <p:nvPr/>
        </p:nvSpPr>
        <p:spPr>
          <a:xfrm>
            <a:off x="4526280" y="2606040"/>
            <a:ext cx="3246120" cy="502920"/>
          </a:xfrm>
          <a:prstGeom prst="rect">
            <a:avLst/>
          </a:prstGeom>
          <a:noFill/>
          <a:ln/>
        </p:spPr>
        <p:txBody>
          <a:bodyPr wrap="square" lIns="0" tIns="0" rIns="0" bIns="0" rtlCol="0" anchor="ctr"/>
          <a:lstStyle/>
          <a:p>
            <a:pPr indent="0" marL="0">
              <a:buNone/>
            </a:pPr>
            <a:r>
              <a:rPr lang="en-US" sz="1500" b="1" dirty="0">
                <a:solidFill>
                  <a:srgbClr val="14110F"/>
                </a:solidFill>
                <a:latin typeface="Calibri" pitchFamily="34" charset="0"/>
                <a:ea typeface="Calibri" pitchFamily="34" charset="-122"/>
                <a:cs typeface="Calibri" pitchFamily="34" charset="-120"/>
              </a:rPr>
              <a:t>How Data Travels</a:t>
            </a:r>
            <a:endParaRPr lang="en-US" sz="1500" dirty="0"/>
          </a:p>
        </p:txBody>
      </p:sp>
      <p:sp>
        <p:nvSpPr>
          <p:cNvPr id="16" name="Text 14"/>
          <p:cNvSpPr/>
          <p:nvPr/>
        </p:nvSpPr>
        <p:spPr>
          <a:xfrm>
            <a:off x="4526280" y="3108960"/>
            <a:ext cx="3246120" cy="1005840"/>
          </a:xfrm>
          <a:prstGeom prst="rect">
            <a:avLst/>
          </a:prstGeom>
          <a:noFill/>
          <a:ln/>
        </p:spPr>
        <p:txBody>
          <a:bodyPr wrap="square" lIns="0" tIns="0" rIns="0" bIns="0" rtlCol="0" anchor="ctr"/>
          <a:lstStyle/>
          <a:p>
            <a:pPr indent="0" marL="0">
              <a:lnSpc>
                <a:spcPct val="115000"/>
              </a:lnSpc>
              <a:buNone/>
            </a:pPr>
            <a:r>
              <a:rPr lang="en-US" sz="1250" dirty="0">
                <a:solidFill>
                  <a:srgbClr val="2C2A28"/>
                </a:solidFill>
                <a:latin typeface="Calibri" pitchFamily="34" charset="0"/>
                <a:ea typeface="Calibri" pitchFamily="34" charset="-122"/>
                <a:cs typeface="Calibri" pitchFamily="34" charset="-120"/>
              </a:rPr>
              <a:t>Packets, routing, IP addressing, and why the internet stays reliable.</a:t>
            </a:r>
            <a:endParaRPr lang="en-US" sz="1250" dirty="0"/>
          </a:p>
        </p:txBody>
      </p:sp>
      <p:sp>
        <p:nvSpPr>
          <p:cNvPr id="17" name="Shape 15"/>
          <p:cNvSpPr/>
          <p:nvPr/>
        </p:nvSpPr>
        <p:spPr>
          <a:xfrm>
            <a:off x="8138160" y="1828800"/>
            <a:ext cx="3703320" cy="2377440"/>
          </a:xfrm>
          <a:prstGeom prst="roundRect">
            <a:avLst>
              <a:gd name="adj" fmla="val 3077"/>
            </a:avLst>
          </a:prstGeom>
          <a:solidFill>
            <a:srgbClr val="F6ECEC"/>
          </a:solidFill>
          <a:ln w="19050">
            <a:solidFill>
              <a:srgbClr val="8C1F28"/>
            </a:solidFill>
            <a:prstDash val="solid"/>
          </a:ln>
        </p:spPr>
      </p:sp>
      <p:sp>
        <p:nvSpPr>
          <p:cNvPr id="18" name="Shape 16"/>
          <p:cNvSpPr/>
          <p:nvPr/>
        </p:nvSpPr>
        <p:spPr>
          <a:xfrm>
            <a:off x="8366760" y="2057400"/>
            <a:ext cx="457200" cy="457200"/>
          </a:xfrm>
          <a:prstGeom prst="ellipse">
            <a:avLst/>
          </a:prstGeom>
          <a:solidFill>
            <a:srgbClr val="8C1F28"/>
          </a:solidFill>
          <a:ln/>
        </p:spPr>
      </p:sp>
      <p:sp>
        <p:nvSpPr>
          <p:cNvPr id="19" name="Text 17"/>
          <p:cNvSpPr/>
          <p:nvPr/>
        </p:nvSpPr>
        <p:spPr>
          <a:xfrm>
            <a:off x="8366760" y="20574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3</a:t>
            </a:r>
            <a:endParaRPr lang="en-US" sz="1800" dirty="0"/>
          </a:p>
        </p:txBody>
      </p:sp>
      <p:sp>
        <p:nvSpPr>
          <p:cNvPr id="20" name="Text 18"/>
          <p:cNvSpPr/>
          <p:nvPr/>
        </p:nvSpPr>
        <p:spPr>
          <a:xfrm>
            <a:off x="8366760" y="2606040"/>
            <a:ext cx="3246120" cy="502920"/>
          </a:xfrm>
          <a:prstGeom prst="rect">
            <a:avLst/>
          </a:prstGeom>
          <a:noFill/>
          <a:ln/>
        </p:spPr>
        <p:txBody>
          <a:bodyPr wrap="square" lIns="0" tIns="0" rIns="0" bIns="0" rtlCol="0" anchor="ctr"/>
          <a:lstStyle/>
          <a:p>
            <a:pPr indent="0" marL="0">
              <a:buNone/>
            </a:pPr>
            <a:r>
              <a:rPr lang="en-US" sz="1500" b="1" dirty="0">
                <a:solidFill>
                  <a:srgbClr val="14110F"/>
                </a:solidFill>
                <a:latin typeface="Calibri" pitchFamily="34" charset="0"/>
                <a:ea typeface="Calibri" pitchFamily="34" charset="-122"/>
                <a:cs typeface="Calibri" pitchFamily="34" charset="-120"/>
              </a:rPr>
              <a:t>Staying Safe Online</a:t>
            </a:r>
            <a:endParaRPr lang="en-US" sz="1500" dirty="0"/>
          </a:p>
        </p:txBody>
      </p:sp>
      <p:sp>
        <p:nvSpPr>
          <p:cNvPr id="21" name="Text 19"/>
          <p:cNvSpPr/>
          <p:nvPr/>
        </p:nvSpPr>
        <p:spPr>
          <a:xfrm>
            <a:off x="8366760" y="3108960"/>
            <a:ext cx="3246120" cy="1005840"/>
          </a:xfrm>
          <a:prstGeom prst="rect">
            <a:avLst/>
          </a:prstGeom>
          <a:noFill/>
          <a:ln/>
        </p:spPr>
        <p:txBody>
          <a:bodyPr wrap="square" lIns="0" tIns="0" rIns="0" bIns="0" rtlCol="0" anchor="ctr"/>
          <a:lstStyle/>
          <a:p>
            <a:pPr indent="0" marL="0">
              <a:lnSpc>
                <a:spcPct val="115000"/>
              </a:lnSpc>
              <a:buNone/>
            </a:pPr>
            <a:r>
              <a:rPr lang="en-US" sz="1250" dirty="0">
                <a:solidFill>
                  <a:srgbClr val="2C2A28"/>
                </a:solidFill>
                <a:latin typeface="Calibri" pitchFamily="34" charset="0"/>
                <a:ea typeface="Calibri" pitchFamily="34" charset="-122"/>
                <a:cs typeface="Calibri" pitchFamily="34" charset="-120"/>
              </a:rPr>
              <a:t>Digital footprint, passwords, phishing, and protecting your devices.</a:t>
            </a:r>
            <a:endParaRPr lang="en-US" sz="1250" dirty="0"/>
          </a:p>
        </p:txBody>
      </p:sp>
      <p:sp>
        <p:nvSpPr>
          <p:cNvPr id="22" name="Text 20"/>
          <p:cNvSpPr/>
          <p:nvPr/>
        </p:nvSpPr>
        <p:spPr>
          <a:xfrm>
            <a:off x="8366760" y="3977640"/>
            <a:ext cx="3246120" cy="274320"/>
          </a:xfrm>
          <a:prstGeom prst="rect">
            <a:avLst/>
          </a:prstGeom>
          <a:noFill/>
          <a:ln/>
        </p:spPr>
        <p:txBody>
          <a:bodyPr wrap="square" lIns="0" tIns="0" rIns="0" bIns="0" rtlCol="0" anchor="ctr"/>
          <a:lstStyle/>
          <a:p>
            <a:pPr indent="0" marL="0">
              <a:buNone/>
            </a:pPr>
            <a:r>
              <a:rPr lang="en-US" sz="1100" b="1" spc="50" kern="0" dirty="0">
                <a:solidFill>
                  <a:srgbClr val="8C1F28"/>
                </a:solidFill>
                <a:latin typeface="Calibri" pitchFamily="34" charset="0"/>
                <a:ea typeface="Calibri" pitchFamily="34" charset="-122"/>
                <a:cs typeface="Calibri" pitchFamily="34" charset="-120"/>
              </a:rPr>
              <a:t>▸ TODAY</a:t>
            </a:r>
            <a:endParaRPr lang="en-US" sz="1100" dirty="0"/>
          </a:p>
        </p:txBody>
      </p:sp>
      <p:sp>
        <p:nvSpPr>
          <p:cNvPr id="23" name="Text 21"/>
          <p:cNvSpPr/>
          <p:nvPr/>
        </p:nvSpPr>
        <p:spPr>
          <a:xfrm>
            <a:off x="457200" y="4572000"/>
            <a:ext cx="11247120" cy="457200"/>
          </a:xfrm>
          <a:prstGeom prst="rect">
            <a:avLst/>
          </a:prstGeom>
          <a:noFill/>
          <a:ln/>
        </p:spPr>
        <p:txBody>
          <a:bodyPr wrap="square" lIns="0" tIns="0" rIns="0" bIns="0" rtlCol="0" anchor="ctr"/>
          <a:lstStyle/>
          <a:p>
            <a:pPr algn="ctr" indent="0" marL="0">
              <a:buNone/>
            </a:pPr>
            <a:r>
              <a:rPr lang="en-US" sz="1400" i="1" dirty="0">
                <a:solidFill>
                  <a:srgbClr val="6B6762"/>
                </a:solidFill>
                <a:latin typeface="Calibri" pitchFamily="34" charset="0"/>
                <a:ea typeface="Calibri" pitchFamily="34" charset="-122"/>
                <a:cs typeface="Calibri" pitchFamily="34" charset="-120"/>
              </a:rPr>
              <a:t>Together: how networks connect us, how data physically moves, and how to keep yourself safe while using it.</a:t>
            </a:r>
            <a:endParaRPr lang="en-US" sz="1400" dirty="0"/>
          </a:p>
        </p:txBody>
      </p:sp>
      <p:sp>
        <p:nvSpPr>
          <p:cNvPr id="24" name="Text 22"/>
          <p:cNvSpPr/>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8C857A"/>
                </a:solidFill>
                <a:latin typeface="Calibri" pitchFamily="34" charset="0"/>
                <a:ea typeface="Calibri" pitchFamily="34" charset="-122"/>
                <a:cs typeface="Calibri" pitchFamily="34" charset="-120"/>
              </a:rPr>
              <a:t>Staying Safe Online  ·  Lesson 3 of 3  ·  Year 7 Digital Technologies</a:t>
            </a:r>
            <a:endParaRPr lang="en-US" sz="1000" dirty="0"/>
          </a:p>
        </p:txBody>
      </p:sp>
      <p:sp>
        <p:nvSpPr>
          <p:cNvPr id="25" name="Text 2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8C857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10F"/>
        </a:solidFill>
      </p:bgPr>
    </p:bg>
    <p:spTree>
      <p:nvGrpSpPr>
        <p:cNvPr id="1" name=""/>
        <p:cNvGrpSpPr/>
        <p:nvPr/>
      </p:nvGrpSpPr>
      <p:grpSpPr>
        <a:xfrm>
          <a:off x="0" y="0"/>
          <a:ext cx="0" cy="0"/>
          <a:chOff x="0" y="0"/>
          <a:chExt cx="0" cy="0"/>
        </a:xfrm>
      </p:grpSpPr>
      <p:sp>
        <p:nvSpPr>
          <p:cNvPr id="2" name="Text 0"/>
          <p:cNvSpPr/>
          <p:nvPr/>
        </p:nvSpPr>
        <p:spPr>
          <a:xfrm>
            <a:off x="640080" y="548640"/>
            <a:ext cx="5486400" cy="365760"/>
          </a:xfrm>
          <a:prstGeom prst="rect">
            <a:avLst/>
          </a:prstGeom>
          <a:noFill/>
          <a:ln/>
        </p:spPr>
        <p:txBody>
          <a:bodyPr wrap="square" lIns="0" tIns="0" rIns="0" bIns="0" rtlCol="0" anchor="ctr"/>
          <a:lstStyle/>
          <a:p>
            <a:pPr indent="0" marL="0">
              <a:buNone/>
            </a:pPr>
            <a:r>
              <a:rPr lang="en-US" sz="1300" b="1" spc="200" kern="0" dirty="0">
                <a:solidFill>
                  <a:srgbClr val="B8620A"/>
                </a:solidFill>
                <a:latin typeface="Calibri" pitchFamily="34" charset="0"/>
                <a:ea typeface="Calibri" pitchFamily="34" charset="-122"/>
                <a:cs typeface="Calibri" pitchFamily="34" charset="-120"/>
              </a:rPr>
              <a:t>NEXT STEPS</a:t>
            </a:r>
            <a:endParaRPr lang="en-US" sz="1300" dirty="0"/>
          </a:p>
        </p:txBody>
      </p:sp>
      <p:sp>
        <p:nvSpPr>
          <p:cNvPr id="3" name="Text 1"/>
          <p:cNvSpPr/>
          <p:nvPr/>
        </p:nvSpPr>
        <p:spPr>
          <a:xfrm>
            <a:off x="640080" y="914400"/>
            <a:ext cx="9144000" cy="731520"/>
          </a:xfrm>
          <a:prstGeom prst="rect">
            <a:avLst/>
          </a:prstGeom>
          <a:noFill/>
          <a:ln/>
        </p:spPr>
        <p:txBody>
          <a:bodyPr wrap="square" lIns="0" tIns="0" rIns="0" bIns="0" rtlCol="0" anchor="ctr"/>
          <a:lstStyle/>
          <a:p>
            <a:pPr indent="0" marL="0">
              <a:buNone/>
            </a:pPr>
            <a:r>
              <a:rPr lang="en-US" sz="3600" b="1" dirty="0">
                <a:solidFill>
                  <a:srgbClr val="FFFFFF"/>
                </a:solidFill>
                <a:latin typeface="Bookman Old Style" pitchFamily="34" charset="0"/>
                <a:ea typeface="Bookman Old Style" pitchFamily="34" charset="-122"/>
                <a:cs typeface="Bookman Old Style" pitchFamily="34" charset="-120"/>
              </a:rPr>
              <a:t>Where We're Headed</a:t>
            </a:r>
            <a:endParaRPr lang="en-US" sz="3600" dirty="0"/>
          </a:p>
        </p:txBody>
      </p:sp>
      <p:sp>
        <p:nvSpPr>
          <p:cNvPr id="4" name="Shape 2"/>
          <p:cNvSpPr/>
          <p:nvPr/>
        </p:nvSpPr>
        <p:spPr>
          <a:xfrm>
            <a:off x="640080" y="1965960"/>
            <a:ext cx="10881360" cy="1143000"/>
          </a:xfrm>
          <a:prstGeom prst="roundRect">
            <a:avLst>
              <a:gd name="adj" fmla="val 6400"/>
            </a:avLst>
          </a:prstGeom>
          <a:solidFill>
            <a:srgbClr val="1E1B18"/>
          </a:solidFill>
          <a:ln w="12700">
            <a:solidFill>
              <a:srgbClr val="36322C"/>
            </a:solidFill>
            <a:prstDash val="solid"/>
          </a:ln>
        </p:spPr>
      </p:sp>
      <p:sp>
        <p:nvSpPr>
          <p:cNvPr id="5" name="Text 3"/>
          <p:cNvSpPr/>
          <p:nvPr/>
        </p:nvSpPr>
        <p:spPr>
          <a:xfrm>
            <a:off x="914400" y="2103120"/>
            <a:ext cx="2743200" cy="320040"/>
          </a:xfrm>
          <a:prstGeom prst="rect">
            <a:avLst/>
          </a:prstGeom>
          <a:noFill/>
          <a:ln/>
        </p:spPr>
        <p:txBody>
          <a:bodyPr wrap="square" lIns="0" tIns="0" rIns="0" bIns="0" rtlCol="0" anchor="ctr"/>
          <a:lstStyle/>
          <a:p>
            <a:pPr indent="0" marL="0">
              <a:buNone/>
            </a:pPr>
            <a:r>
              <a:rPr lang="en-US" sz="1200" b="1" spc="100" kern="0" dirty="0">
                <a:solidFill>
                  <a:srgbClr val="B8620A"/>
                </a:solidFill>
                <a:latin typeface="Calibri" pitchFamily="34" charset="0"/>
                <a:ea typeface="Calibri" pitchFamily="34" charset="-122"/>
                <a:cs typeface="Calibri" pitchFamily="34" charset="-120"/>
              </a:rPr>
              <a:t>NEXT LESSON</a:t>
            </a:r>
            <a:endParaRPr lang="en-US" sz="1200" dirty="0"/>
          </a:p>
        </p:txBody>
      </p:sp>
      <p:sp>
        <p:nvSpPr>
          <p:cNvPr id="6" name="Text 4"/>
          <p:cNvSpPr/>
          <p:nvPr/>
        </p:nvSpPr>
        <p:spPr>
          <a:xfrm>
            <a:off x="914400" y="2404872"/>
            <a:ext cx="10332720" cy="594360"/>
          </a:xfrm>
          <a:prstGeom prst="rect">
            <a:avLst/>
          </a:prstGeom>
          <a:noFill/>
          <a:ln/>
        </p:spPr>
        <p:txBody>
          <a:bodyPr wrap="square" lIns="0" tIns="0" rIns="0" bIns="0" rtlCol="0" anchor="ctr"/>
          <a:lstStyle/>
          <a:p>
            <a:pPr indent="0" marL="0">
              <a:buNone/>
            </a:pPr>
            <a:r>
              <a:rPr lang="en-US" sz="1350" dirty="0">
                <a:solidFill>
                  <a:srgbClr val="D8D3CA"/>
                </a:solidFill>
                <a:latin typeface="Calibri" pitchFamily="34" charset="0"/>
                <a:ea typeface="Calibri" pitchFamily="34" charset="-122"/>
                <a:cs typeface="Calibri" pitchFamily="34" charset="-120"/>
              </a:rPr>
              <a:t>This wraps up our internet unit. Next, we move into a new Digital Technologies topic — your teacher will introduce it next class.</a:t>
            </a:r>
            <a:endParaRPr lang="en-US" sz="1350" dirty="0"/>
          </a:p>
        </p:txBody>
      </p:sp>
      <p:sp>
        <p:nvSpPr>
          <p:cNvPr id="7" name="Shape 5"/>
          <p:cNvSpPr/>
          <p:nvPr/>
        </p:nvSpPr>
        <p:spPr>
          <a:xfrm>
            <a:off x="640080" y="3291840"/>
            <a:ext cx="10881360" cy="1143000"/>
          </a:xfrm>
          <a:prstGeom prst="roundRect">
            <a:avLst>
              <a:gd name="adj" fmla="val 6400"/>
            </a:avLst>
          </a:prstGeom>
          <a:solidFill>
            <a:srgbClr val="1E1B18"/>
          </a:solidFill>
          <a:ln w="12700">
            <a:solidFill>
              <a:srgbClr val="36322C"/>
            </a:solidFill>
            <a:prstDash val="solid"/>
          </a:ln>
        </p:spPr>
      </p:sp>
      <p:sp>
        <p:nvSpPr>
          <p:cNvPr id="8" name="Text 6"/>
          <p:cNvSpPr/>
          <p:nvPr/>
        </p:nvSpPr>
        <p:spPr>
          <a:xfrm>
            <a:off x="914400" y="3429000"/>
            <a:ext cx="2743200" cy="320040"/>
          </a:xfrm>
          <a:prstGeom prst="rect">
            <a:avLst/>
          </a:prstGeom>
          <a:noFill/>
          <a:ln/>
        </p:spPr>
        <p:txBody>
          <a:bodyPr wrap="square" lIns="0" tIns="0" rIns="0" bIns="0" rtlCol="0" anchor="ctr"/>
          <a:lstStyle/>
          <a:p>
            <a:pPr indent="0" marL="0">
              <a:buNone/>
            </a:pPr>
            <a:r>
              <a:rPr lang="en-US" sz="1200" b="1" spc="100" kern="0" dirty="0">
                <a:solidFill>
                  <a:srgbClr val="B8620A"/>
                </a:solidFill>
                <a:latin typeface="Calibri" pitchFamily="34" charset="0"/>
                <a:ea typeface="Calibri" pitchFamily="34" charset="-122"/>
                <a:cs typeface="Calibri" pitchFamily="34" charset="-120"/>
              </a:rPr>
              <a:t>UNIT ASSESSMENT</a:t>
            </a:r>
            <a:endParaRPr lang="en-US" sz="1200" dirty="0"/>
          </a:p>
        </p:txBody>
      </p:sp>
      <p:sp>
        <p:nvSpPr>
          <p:cNvPr id="9" name="Text 7"/>
          <p:cNvSpPr/>
          <p:nvPr/>
        </p:nvSpPr>
        <p:spPr>
          <a:xfrm>
            <a:off x="914400" y="3730752"/>
            <a:ext cx="10332720" cy="594360"/>
          </a:xfrm>
          <a:prstGeom prst="rect">
            <a:avLst/>
          </a:prstGeom>
          <a:noFill/>
          <a:ln/>
        </p:spPr>
        <p:txBody>
          <a:bodyPr wrap="square" lIns="0" tIns="0" rIns="0" bIns="0" rtlCol="0" anchor="ctr"/>
          <a:lstStyle/>
          <a:p>
            <a:pPr indent="0" marL="0">
              <a:buNone/>
            </a:pPr>
            <a:r>
              <a:rPr lang="en-US" sz="1350" dirty="0">
                <a:solidFill>
                  <a:srgbClr val="D8D3CA"/>
                </a:solidFill>
                <a:latin typeface="Calibri" pitchFamily="34" charset="0"/>
                <a:ea typeface="Calibri" pitchFamily="34" charset="-122"/>
                <a:cs typeface="Calibri" pitchFamily="34" charset="-120"/>
              </a:rPr>
              <a:t>Finish your network project: add a short section on how you'd keep your network and its users safe.</a:t>
            </a:r>
            <a:endParaRPr lang="en-US" sz="1350" dirty="0"/>
          </a:p>
        </p:txBody>
      </p:sp>
      <p:sp>
        <p:nvSpPr>
          <p:cNvPr id="10" name="Shape 8"/>
          <p:cNvSpPr/>
          <p:nvPr/>
        </p:nvSpPr>
        <p:spPr>
          <a:xfrm>
            <a:off x="640080" y="4617720"/>
            <a:ext cx="10881360" cy="1143000"/>
          </a:xfrm>
          <a:prstGeom prst="roundRect">
            <a:avLst>
              <a:gd name="adj" fmla="val 6400"/>
            </a:avLst>
          </a:prstGeom>
          <a:solidFill>
            <a:srgbClr val="1E1B18"/>
          </a:solidFill>
          <a:ln w="12700">
            <a:solidFill>
              <a:srgbClr val="36322C"/>
            </a:solidFill>
            <a:prstDash val="solid"/>
          </a:ln>
        </p:spPr>
      </p:sp>
      <p:sp>
        <p:nvSpPr>
          <p:cNvPr id="11" name="Text 9"/>
          <p:cNvSpPr/>
          <p:nvPr/>
        </p:nvSpPr>
        <p:spPr>
          <a:xfrm>
            <a:off x="914400" y="4754880"/>
            <a:ext cx="2743200" cy="320040"/>
          </a:xfrm>
          <a:prstGeom prst="rect">
            <a:avLst/>
          </a:prstGeom>
          <a:noFill/>
          <a:ln/>
        </p:spPr>
        <p:txBody>
          <a:bodyPr wrap="square" lIns="0" tIns="0" rIns="0" bIns="0" rtlCol="0" anchor="ctr"/>
          <a:lstStyle/>
          <a:p>
            <a:pPr indent="0" marL="0">
              <a:buNone/>
            </a:pPr>
            <a:r>
              <a:rPr lang="en-US" sz="1200" b="1" spc="100" kern="0" dirty="0">
                <a:solidFill>
                  <a:srgbClr val="B8620A"/>
                </a:solidFill>
                <a:latin typeface="Calibri" pitchFamily="34" charset="0"/>
                <a:ea typeface="Calibri" pitchFamily="34" charset="-122"/>
                <a:cs typeface="Calibri" pitchFamily="34" charset="-120"/>
              </a:rPr>
              <a:t>HOMEWORK</a:t>
            </a:r>
            <a:endParaRPr lang="en-US" sz="1200" dirty="0"/>
          </a:p>
        </p:txBody>
      </p:sp>
      <p:sp>
        <p:nvSpPr>
          <p:cNvPr id="12" name="Text 10"/>
          <p:cNvSpPr/>
          <p:nvPr/>
        </p:nvSpPr>
        <p:spPr>
          <a:xfrm>
            <a:off x="914400" y="5056632"/>
            <a:ext cx="10332720" cy="594360"/>
          </a:xfrm>
          <a:prstGeom prst="rect">
            <a:avLst/>
          </a:prstGeom>
          <a:noFill/>
          <a:ln/>
        </p:spPr>
        <p:txBody>
          <a:bodyPr wrap="square" lIns="0" tIns="0" rIns="0" bIns="0" rtlCol="0" anchor="ctr"/>
          <a:lstStyle/>
          <a:p>
            <a:pPr indent="0" marL="0">
              <a:buNone/>
            </a:pPr>
            <a:r>
              <a:rPr lang="en-US" sz="1350" dirty="0">
                <a:solidFill>
                  <a:srgbClr val="D8D3CA"/>
                </a:solidFill>
                <a:latin typeface="Calibri" pitchFamily="34" charset="0"/>
                <a:ea typeface="Calibri" pitchFamily="34" charset="-122"/>
                <a:cs typeface="Calibri" pitchFamily="34" charset="-120"/>
              </a:rPr>
              <a:t>In one paragraph, explain to someone at home one thing you'll do differently to stay safer online.</a:t>
            </a:r>
            <a:endParaRPr lang="en-US" sz="1350" dirty="0"/>
          </a:p>
        </p:txBody>
      </p:sp>
      <p:sp>
        <p:nvSpPr>
          <p:cNvPr id="13" name="Text 11"/>
          <p:cNvSpPr/>
          <p:nvPr/>
        </p:nvSpPr>
        <p:spPr>
          <a:xfrm>
            <a:off x="640080" y="6035040"/>
            <a:ext cx="10515600" cy="365760"/>
          </a:xfrm>
          <a:prstGeom prst="rect">
            <a:avLst/>
          </a:prstGeom>
          <a:noFill/>
          <a:ln/>
        </p:spPr>
        <p:txBody>
          <a:bodyPr wrap="square" lIns="0" tIns="0" rIns="0" bIns="0" rtlCol="0" anchor="ctr"/>
          <a:lstStyle/>
          <a:p>
            <a:pPr indent="0" marL="0">
              <a:buNone/>
            </a:pPr>
            <a:r>
              <a:rPr lang="en-US" sz="1300" i="1" dirty="0">
                <a:solidFill>
                  <a:srgbClr val="8C857A"/>
                </a:solidFill>
                <a:latin typeface="Calibri" pitchFamily="34" charset="0"/>
                <a:ea typeface="Calibri" pitchFamily="34" charset="-122"/>
                <a:cs typeface="Calibri" pitchFamily="34" charset="-120"/>
              </a:rPr>
              <a:t>Need help?  Re-read the lesson website, or see Mr Smith before next class.</a:t>
            </a:r>
            <a:endParaRPr lang="en-US" sz="1300" dirty="0"/>
          </a:p>
        </p:txBody>
      </p:sp>
      <p:sp>
        <p:nvSpPr>
          <p:cNvPr id="14" name="Text 12"/>
          <p:cNvSpPr/>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8C857A"/>
                </a:solidFill>
                <a:latin typeface="Calibri" pitchFamily="34" charset="0"/>
                <a:ea typeface="Calibri" pitchFamily="34" charset="-122"/>
                <a:cs typeface="Calibri" pitchFamily="34" charset="-120"/>
              </a:rPr>
              <a:t>Staying Safe Online  ·  Lesson 3 of 3  ·  Year 7 Digital Technologies</a:t>
            </a:r>
            <a:endParaRPr lang="en-US" sz="1000" dirty="0"/>
          </a:p>
        </p:txBody>
      </p:sp>
      <p:sp>
        <p:nvSpPr>
          <p:cNvPr id="15" name="Text 1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8C857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Staying Safe Online</dc:title>
  <dc:subject>PptxGenJS Presentation</dc:subject>
  <dc:creator>Mr Smith</dc:creator>
  <cp:lastModifiedBy>Mr Smith</cp:lastModifiedBy>
  <cp:revision>1</cp:revision>
  <dcterms:created xsi:type="dcterms:W3CDTF">2026-06-19T00:26:56Z</dcterms:created>
  <dcterms:modified xsi:type="dcterms:W3CDTF">2026-06-19T00:26:56Z</dcterms:modified>
</cp:coreProperties>
</file>