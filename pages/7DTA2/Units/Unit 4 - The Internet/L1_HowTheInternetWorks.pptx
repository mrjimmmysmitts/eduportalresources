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8599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of a 3-lesson Internet unit. Double period (~100 min). Today is conceptual and mostly off-device: the story of the internet, the parts of a network, types of network and how data travels. Set expectations: there will be note-taking into workbooks (flagged), discussion, and a device-on application block later. Safety/cyber is deliberately NOT in this lesson — it comes later in the unit. Welcome students, read the three chips as a roadmap.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6-7 min. Run the point up/down quickly to wake the class up and surface intuitions. Do NOT confirm answers yet — the 'downloaded game offline' and 'saving a Word file locally' ones are the productive arguments; hold them. This is a cold-call friendly warm-up: no hints on the slide on purpose. Use think-pair-share for the discussion prompts, then take 2-3 cold-called responses on 'what is the internet'. Capture a few student definitions on the board to revisit after the explicit teaching.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Read the LO aloud. Explain the criteria are tiered: everyone aims for Foundation today, most will hit Developing, and Extending is the stretch. We'll come back to these at the exit ticket so students self-rate. Note these are 'I can' statements — students don't need to copy them now, but the LO goes on the board all lesson.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 This is the core definition. Emphasise 'network of networks' — write it on the board. The Internet vs Web distinction is the #1 misconception at this level: the internet is the infrastructure, the Web is one service (others: email, online gaming, streaming). The road-network analogy will be reused on the transmission slide. COPY flag: students write the 'network of networks' definition and the Internet-vs-Web line into Section 2 of their workbook. Cold-call: 'Name something that uses the internet but isn't a website.' (email, games, Spotify, app updates).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Keep this light and fast — it's context, not content to memorise. Two names worth remembering: ARPANET (the start) and Tim Berners-Lee (invented the Web in 1989, note again Web != internet). Ask the class: 'How many connected devices do you personally use in a day?' to land the 'everywhere' point. No copy required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 Think-pair-share: give pairs 90 seconds to add ONE more item to each column from their own lives, then cold-call to fill the board. Keep it balanced — the internet is neither all good nor all bad. This is a values/impact discussion, not assessed content, so no copy flag. (Online safety is a later lesson — if students raise scams/strangers, acknowledge and park it: 'great point, that's exactly lesson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 min. This is the heaviest copy slide. Go part by part. Build the mental picture: your DEVICE asks -&gt; the request goes through the ROUTER/MODEM -&gt; out via the ISP -&gt; to a SERVER -&gt; the data comes back. SWITCH is the only one that may be new/abstract — keep it simple ('joins devices in ONE room/building'). COPY flag: students complete the parts-of-a-network table in Section 3 of their workbook. Note the icon colours in their circles match the network-type tiers used later. Cold-call: 'Which part stores the website you're visiting?' (server).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Trace the arrow flow with your finger/pointer twice: request out, data back. Reinforce that the server is just another computer somewhere in the world. Tie back to the road analogy from slide 4. This consolidates the parts slide before we move to network TYPES.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The key organising idea is SIZE/REACH: PAN (around you) -&gt; LAN (a room/building) -&gt; WLAN (a wireless room/building) -&gt; WAN (cities/world). The single most useful takeaway: the internet is the biggest WAN. Common confusion: LAN vs WLAN is ONLY about wired vs wireless, same size. COPY flag: students fill the network-types comparison table in Section 4 of their workbook, with their OWN example for each. Cold-call: 'What type of network is the school Wi-Fi?' (WLAN). 'And the whole internet?' (WAN).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 The headline distinction: wired = through a cable, wireless = through the air. Fibre optic is the 'wow' fact — data as LIGHT through glass; this is what the NBN uses. Stress the trade-off pattern: wired is faster/more reliable but fixed; wireless is convenient but slower and degrades with distance/walls. COPY flag: students complete the wired vs wireless comparison in Section 5 of the workbook. This is the Extending criterion in action — justifying a choice. Cold-call: 'Best connection for a gaming PC that never moves?' (wired/fibre) vs 'for a phone on the bus?' (mobile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 min. Genuine reset before the device-on application block. The 'count network devices' challenge keeps it on-topic and primes them for the workbook. Bring them back crisply.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25-30 min (the main work block). Devices ON — note the indicator. Circulate. Foundation students must complete the matching/labelling before attempting Developing. Push confident students straight to the cafe design (Extending) — it's where the 'justify your choice' criterion lives. Workbook auto-saves. Look for the common confusion (LAN vs WLAN) and the Internet-vs-Web slip while marking on the move.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Whole-class, cold-call, no devices. These mirror the success criteria directly. Deliberately no hints on screen — this is a genuine gauge of where the class is. If Q3 (LAN vs WLAN) or Q1 (definition) is shaky, reteach briefly before the exit ticket. Use no-hands cold calling so you sample the whole room, not just volunteers.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 The exit ticket is the formative checkpoint — it goes into the workbook and auto-saves, so you can review the class's self-ratings and definitions afterwards to plan Lesson 2. The 'definition from memory' question is the single best signal of whether the core idea landed. Collect devices after submission.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Preview Lesson 2 (packets/routing) so today's 'data travels' idea has somewhere to go. Connect today to the unit assessment so students see the throughline. State homework clearly and point to the website as the support resource. Wrap 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00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94960" y="1051560"/>
            <a:ext cx="1371600" cy="1371600"/>
          </a:xfrm>
          <a:prstGeom prst="rect">
            <a:avLst/>
          </a:prstGeom>
        </p:spPr>
      </p:pic>
      <p:sp>
        <p:nvSpPr>
          <p:cNvPr id="3" name="Text 0"/>
          <p:cNvSpPr/>
          <p:nvPr/>
        </p:nvSpPr>
        <p:spPr>
          <a:xfrm>
            <a:off x="457200" y="2697480"/>
            <a:ext cx="11247120" cy="365760"/>
          </a:xfrm>
          <a:prstGeom prst="rect">
            <a:avLst/>
          </a:prstGeom>
          <a:noFill/>
          <a:ln/>
        </p:spPr>
        <p:txBody>
          <a:bodyPr wrap="square" lIns="0" tIns="0" rIns="0" bIns="0" rtlCol="0" anchor="ctr"/>
          <a:lstStyle/>
          <a:p>
            <a:pPr marL="0" indent="0" algn="ctr">
              <a:buNone/>
            </a:pPr>
            <a:r>
              <a:rPr lang="en-US" sz="1300" kern="0" spc="200" dirty="0">
                <a:solidFill>
                  <a:srgbClr val="B7AE9F"/>
                </a:solidFill>
                <a:latin typeface="Courier New" pitchFamily="34" charset="0"/>
                <a:ea typeface="Courier New" pitchFamily="34" charset="-122"/>
                <a:cs typeface="Courier New" pitchFamily="34" charset="-120"/>
              </a:rPr>
              <a:t>YEAR 7 DIGITAL TECHNOLOGIES  ·  UNIT: THE INTERNET</a:t>
            </a:r>
            <a:endParaRPr lang="en-US" sz="1300" dirty="0"/>
          </a:p>
        </p:txBody>
      </p:sp>
      <p:sp>
        <p:nvSpPr>
          <p:cNvPr id="4" name="Text 1"/>
          <p:cNvSpPr/>
          <p:nvPr/>
        </p:nvSpPr>
        <p:spPr>
          <a:xfrm>
            <a:off x="457200" y="3063240"/>
            <a:ext cx="11247120" cy="1005840"/>
          </a:xfrm>
          <a:prstGeom prst="rect">
            <a:avLst/>
          </a:prstGeom>
          <a:noFill/>
          <a:ln/>
        </p:spPr>
        <p:txBody>
          <a:bodyPr wrap="square" lIns="0" tIns="0" rIns="0" bIns="0" rtlCol="0" anchor="ctr"/>
          <a:lstStyle/>
          <a:p>
            <a:pPr marL="0" indent="0" algn="ctr">
              <a:buNone/>
            </a:pPr>
            <a:r>
              <a:rPr lang="en-US" sz="5000" b="1" dirty="0">
                <a:solidFill>
                  <a:srgbClr val="FFFFFF"/>
                </a:solidFill>
                <a:latin typeface="Bookman Old Style" pitchFamily="34" charset="0"/>
                <a:ea typeface="Bookman Old Style" pitchFamily="34" charset="-122"/>
                <a:cs typeface="Bookman Old Style" pitchFamily="34" charset="-120"/>
              </a:rPr>
              <a:t>How the Internet Works</a:t>
            </a:r>
            <a:endParaRPr lang="en-US" sz="5000" dirty="0"/>
          </a:p>
        </p:txBody>
      </p:sp>
      <p:sp>
        <p:nvSpPr>
          <p:cNvPr id="5" name="Text 2"/>
          <p:cNvSpPr/>
          <p:nvPr/>
        </p:nvSpPr>
        <p:spPr>
          <a:xfrm>
            <a:off x="457200" y="4114800"/>
            <a:ext cx="11247120" cy="457200"/>
          </a:xfrm>
          <a:prstGeom prst="rect">
            <a:avLst/>
          </a:prstGeom>
          <a:noFill/>
          <a:ln/>
        </p:spPr>
        <p:txBody>
          <a:bodyPr wrap="square" lIns="0" tIns="0" rIns="0" bIns="0" rtlCol="0" anchor="ctr"/>
          <a:lstStyle/>
          <a:p>
            <a:pPr marL="0" indent="0" algn="ctr">
              <a:buNone/>
            </a:pPr>
            <a:r>
              <a:rPr lang="en-US" sz="1800" dirty="0">
                <a:solidFill>
                  <a:srgbClr val="D8D3CA"/>
                </a:solidFill>
                <a:latin typeface="Calibri" pitchFamily="34" charset="0"/>
                <a:ea typeface="Calibri" pitchFamily="34" charset="-122"/>
                <a:cs typeface="Calibri" pitchFamily="34" charset="-120"/>
              </a:rPr>
              <a:t>Lesson 1 of 3  —  Networks, connections &amp; the story of the internet</a:t>
            </a:r>
            <a:endParaRPr lang="en-US" sz="1800" dirty="0"/>
          </a:p>
        </p:txBody>
      </p:sp>
      <p:sp>
        <p:nvSpPr>
          <p:cNvPr id="6" name="Shape 3"/>
          <p:cNvSpPr/>
          <p:nvPr/>
        </p:nvSpPr>
        <p:spPr>
          <a:xfrm>
            <a:off x="2788920" y="4892040"/>
            <a:ext cx="2194560" cy="502920"/>
          </a:xfrm>
          <a:prstGeom prst="roundRect">
            <a:avLst>
              <a:gd name="adj" fmla="val 49091"/>
            </a:avLst>
          </a:prstGeom>
          <a:solidFill>
            <a:srgbClr val="B8620A"/>
          </a:solidFill>
          <a:ln/>
        </p:spPr>
        <p:txBody>
          <a:bodyPr/>
          <a:lstStyle/>
          <a:p>
            <a:endParaRPr lang="en-AU"/>
          </a:p>
        </p:txBody>
      </p:sp>
      <p:sp>
        <p:nvSpPr>
          <p:cNvPr id="7" name="Text 4"/>
          <p:cNvSpPr/>
          <p:nvPr/>
        </p:nvSpPr>
        <p:spPr>
          <a:xfrm>
            <a:off x="2788920" y="4892040"/>
            <a:ext cx="21945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The story so far</a:t>
            </a:r>
            <a:endParaRPr lang="en-US" sz="1300" dirty="0"/>
          </a:p>
        </p:txBody>
      </p:sp>
      <p:sp>
        <p:nvSpPr>
          <p:cNvPr id="8" name="Shape 5"/>
          <p:cNvSpPr/>
          <p:nvPr/>
        </p:nvSpPr>
        <p:spPr>
          <a:xfrm>
            <a:off x="5120640" y="4892040"/>
            <a:ext cx="2194560" cy="502920"/>
          </a:xfrm>
          <a:prstGeom prst="roundRect">
            <a:avLst>
              <a:gd name="adj" fmla="val 49091"/>
            </a:avLst>
          </a:prstGeom>
          <a:solidFill>
            <a:srgbClr val="1B5E47"/>
          </a:solidFill>
          <a:ln/>
        </p:spPr>
        <p:txBody>
          <a:bodyPr/>
          <a:lstStyle/>
          <a:p>
            <a:endParaRPr lang="en-AU"/>
          </a:p>
        </p:txBody>
      </p:sp>
      <p:sp>
        <p:nvSpPr>
          <p:cNvPr id="9" name="Text 6"/>
          <p:cNvSpPr/>
          <p:nvPr/>
        </p:nvSpPr>
        <p:spPr>
          <a:xfrm>
            <a:off x="5120640" y="4892040"/>
            <a:ext cx="21945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Parts of a network</a:t>
            </a:r>
            <a:endParaRPr lang="en-US" sz="1300" dirty="0"/>
          </a:p>
        </p:txBody>
      </p:sp>
      <p:sp>
        <p:nvSpPr>
          <p:cNvPr id="10" name="Shape 7"/>
          <p:cNvSpPr/>
          <p:nvPr/>
        </p:nvSpPr>
        <p:spPr>
          <a:xfrm>
            <a:off x="7452360" y="4892040"/>
            <a:ext cx="2194560" cy="502920"/>
          </a:xfrm>
          <a:prstGeom prst="roundRect">
            <a:avLst>
              <a:gd name="adj" fmla="val 49091"/>
            </a:avLst>
          </a:prstGeom>
          <a:solidFill>
            <a:srgbClr val="2B3A8C"/>
          </a:solidFill>
          <a:ln/>
        </p:spPr>
        <p:txBody>
          <a:bodyPr/>
          <a:lstStyle/>
          <a:p>
            <a:endParaRPr lang="en-AU"/>
          </a:p>
        </p:txBody>
      </p:sp>
      <p:sp>
        <p:nvSpPr>
          <p:cNvPr id="11" name="Text 8"/>
          <p:cNvSpPr/>
          <p:nvPr/>
        </p:nvSpPr>
        <p:spPr>
          <a:xfrm>
            <a:off x="7452360" y="4892040"/>
            <a:ext cx="21945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Wired vs wireless</a:t>
            </a:r>
            <a:endParaRPr lang="en-US" sz="1300" dirty="0"/>
          </a:p>
        </p:txBody>
      </p:sp>
      <p:sp>
        <p:nvSpPr>
          <p:cNvPr id="12" name="Text 9"/>
          <p:cNvSpPr/>
          <p:nvPr/>
        </p:nvSpPr>
        <p:spPr>
          <a:xfrm>
            <a:off x="457200" y="6126480"/>
            <a:ext cx="11247120" cy="274320"/>
          </a:xfrm>
          <a:prstGeom prst="rect">
            <a:avLst/>
          </a:prstGeom>
          <a:noFill/>
          <a:ln/>
        </p:spPr>
        <p:txBody>
          <a:bodyPr wrap="square" lIns="0" tIns="0" rIns="0" bIns="0" rtlCol="0" anchor="ctr"/>
          <a:lstStyle/>
          <a:p>
            <a:pPr marL="0" indent="0" algn="ctr">
              <a:buNone/>
            </a:pPr>
            <a:r>
              <a:rPr lang="en-US" sz="1100" dirty="0">
                <a:solidFill>
                  <a:srgbClr val="8C857A"/>
                </a:solidFill>
                <a:latin typeface="Courier New" pitchFamily="34" charset="0"/>
                <a:ea typeface="Courier New" pitchFamily="34" charset="-122"/>
                <a:cs typeface="Courier New" pitchFamily="34" charset="-120"/>
              </a:rPr>
              <a:t>Mr Smith</a:t>
            </a:r>
            <a:endParaRPr lang="en-US" sz="1100" dirty="0"/>
          </a:p>
        </p:txBody>
      </p:sp>
      <p:sp>
        <p:nvSpPr>
          <p:cNvPr id="14" name="Text 10"/>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15" name="Text 11"/>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B8620A"/>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WARM UP</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Warm-Up: Internet or Not?</a:t>
            </a:r>
            <a:endParaRPr lang="en-US" sz="3200" dirty="0"/>
          </a:p>
        </p:txBody>
      </p:sp>
      <p:pic>
        <p:nvPicPr>
          <p:cNvPr id="8" name="Image 0" descr="preencoded.png"/>
          <p:cNvPicPr>
            <a:picLocks noChangeAspect="1"/>
          </p:cNvPicPr>
          <p:nvPr/>
        </p:nvPicPr>
        <p:blipFill>
          <a:blip r:embed="rId3"/>
          <a:stretch>
            <a:fillRect/>
          </a:stretch>
        </p:blipFill>
        <p:spPr>
          <a:xfrm>
            <a:off x="10698480" y="1005840"/>
            <a:ext cx="731520" cy="731520"/>
          </a:xfrm>
          <a:prstGeom prst="rect">
            <a:avLst/>
          </a:prstGeom>
        </p:spPr>
      </p:pic>
      <p:sp>
        <p:nvSpPr>
          <p:cNvPr id="9" name="Shape 6"/>
          <p:cNvSpPr/>
          <p:nvPr/>
        </p:nvSpPr>
        <p:spPr>
          <a:xfrm>
            <a:off x="457200" y="1874520"/>
            <a:ext cx="11247120" cy="1965960"/>
          </a:xfrm>
          <a:prstGeom prst="roundRect">
            <a:avLst>
              <a:gd name="adj" fmla="val 37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0" name="Text 7"/>
          <p:cNvSpPr/>
          <p:nvPr/>
        </p:nvSpPr>
        <p:spPr>
          <a:xfrm>
            <a:off x="777240" y="2011680"/>
            <a:ext cx="10607040" cy="640080"/>
          </a:xfrm>
          <a:prstGeom prst="rect">
            <a:avLst/>
          </a:prstGeom>
          <a:noFill/>
          <a:ln/>
        </p:spPr>
        <p:txBody>
          <a:bodyPr wrap="square" lIns="0" tIns="0" rIns="0" bIns="0" rtlCol="0" anchor="t"/>
          <a:lstStyle/>
          <a:p>
            <a:pPr marL="0" indent="0">
              <a:buNone/>
            </a:pPr>
            <a:r>
              <a:rPr lang="en-US" sz="1600" dirty="0">
                <a:solidFill>
                  <a:srgbClr val="2C2A28"/>
                </a:solidFill>
                <a:latin typeface="Calibri" pitchFamily="34" charset="0"/>
                <a:ea typeface="Calibri" pitchFamily="34" charset="-122"/>
                <a:cs typeface="Calibri" pitchFamily="34" charset="-120"/>
              </a:rPr>
              <a:t>On the count of three, point UP if the activity needs the internet, point DOWN if it does not. No talking — just commit to an answer.</a:t>
            </a:r>
            <a:endParaRPr lang="en-US" sz="1600" dirty="0"/>
          </a:p>
        </p:txBody>
      </p:sp>
      <p:sp>
        <p:nvSpPr>
          <p:cNvPr id="11" name="Shape 8"/>
          <p:cNvSpPr/>
          <p:nvPr/>
        </p:nvSpPr>
        <p:spPr>
          <a:xfrm>
            <a:off x="868680" y="2788920"/>
            <a:ext cx="3456432" cy="457200"/>
          </a:xfrm>
          <a:prstGeom prst="roundRect">
            <a:avLst>
              <a:gd name="adj" fmla="val 20000"/>
            </a:avLst>
          </a:prstGeom>
          <a:solidFill>
            <a:srgbClr val="EDE8DF"/>
          </a:solidFill>
          <a:ln w="12700">
            <a:solidFill>
              <a:srgbClr val="D8D3CA"/>
            </a:solidFill>
            <a:prstDash val="solid"/>
          </a:ln>
        </p:spPr>
        <p:txBody>
          <a:bodyPr/>
          <a:lstStyle/>
          <a:p>
            <a:endParaRPr lang="en-AU"/>
          </a:p>
        </p:txBody>
      </p:sp>
      <p:sp>
        <p:nvSpPr>
          <p:cNvPr id="12" name="Text 9"/>
          <p:cNvSpPr/>
          <p:nvPr/>
        </p:nvSpPr>
        <p:spPr>
          <a:xfrm>
            <a:off x="1005840" y="2788920"/>
            <a:ext cx="3227832" cy="457200"/>
          </a:xfrm>
          <a:prstGeom prst="rect">
            <a:avLst/>
          </a:prstGeom>
          <a:noFill/>
          <a:ln/>
        </p:spPr>
        <p:txBody>
          <a:bodyPr wrap="square" lIns="0" tIns="0" rIns="0" bIns="0" rtlCol="0" anchor="ctr"/>
          <a:lstStyle/>
          <a:p>
            <a:pPr marL="0" indent="0">
              <a:buNone/>
            </a:pPr>
            <a:r>
              <a:rPr lang="en-US" sz="1250" dirty="0">
                <a:solidFill>
                  <a:srgbClr val="2C2A28"/>
                </a:solidFill>
                <a:latin typeface="Calibri" pitchFamily="34" charset="0"/>
                <a:ea typeface="Calibri" pitchFamily="34" charset="-122"/>
                <a:cs typeface="Calibri" pitchFamily="34" charset="-120"/>
              </a:rPr>
              <a:t>1.  Sending a Snapchat</a:t>
            </a:r>
            <a:endParaRPr lang="en-US" sz="1250" dirty="0"/>
          </a:p>
        </p:txBody>
      </p:sp>
      <p:sp>
        <p:nvSpPr>
          <p:cNvPr id="13" name="Shape 10"/>
          <p:cNvSpPr/>
          <p:nvPr/>
        </p:nvSpPr>
        <p:spPr>
          <a:xfrm>
            <a:off x="4370832" y="2788920"/>
            <a:ext cx="3456432" cy="457200"/>
          </a:xfrm>
          <a:prstGeom prst="roundRect">
            <a:avLst>
              <a:gd name="adj" fmla="val 20000"/>
            </a:avLst>
          </a:prstGeom>
          <a:solidFill>
            <a:srgbClr val="EDE8DF"/>
          </a:solidFill>
          <a:ln w="12700">
            <a:solidFill>
              <a:srgbClr val="D8D3CA"/>
            </a:solidFill>
            <a:prstDash val="solid"/>
          </a:ln>
        </p:spPr>
        <p:txBody>
          <a:bodyPr/>
          <a:lstStyle/>
          <a:p>
            <a:endParaRPr lang="en-AU"/>
          </a:p>
        </p:txBody>
      </p:sp>
      <p:sp>
        <p:nvSpPr>
          <p:cNvPr id="14" name="Text 11"/>
          <p:cNvSpPr/>
          <p:nvPr/>
        </p:nvSpPr>
        <p:spPr>
          <a:xfrm>
            <a:off x="4507992" y="2788920"/>
            <a:ext cx="3227832" cy="457200"/>
          </a:xfrm>
          <a:prstGeom prst="rect">
            <a:avLst/>
          </a:prstGeom>
          <a:noFill/>
          <a:ln/>
        </p:spPr>
        <p:txBody>
          <a:bodyPr wrap="square" lIns="0" tIns="0" rIns="0" bIns="0" rtlCol="0" anchor="ctr"/>
          <a:lstStyle/>
          <a:p>
            <a:pPr marL="0" indent="0">
              <a:buNone/>
            </a:pPr>
            <a:r>
              <a:rPr lang="en-US" sz="1250" dirty="0">
                <a:solidFill>
                  <a:srgbClr val="2C2A28"/>
                </a:solidFill>
                <a:latin typeface="Calibri" pitchFamily="34" charset="0"/>
                <a:ea typeface="Calibri" pitchFamily="34" charset="-122"/>
                <a:cs typeface="Calibri" pitchFamily="34" charset="-120"/>
              </a:rPr>
              <a:t>2.  Using a calculator app</a:t>
            </a:r>
            <a:endParaRPr lang="en-US" sz="1250" dirty="0"/>
          </a:p>
        </p:txBody>
      </p:sp>
      <p:sp>
        <p:nvSpPr>
          <p:cNvPr id="15" name="Shape 12"/>
          <p:cNvSpPr/>
          <p:nvPr/>
        </p:nvSpPr>
        <p:spPr>
          <a:xfrm>
            <a:off x="7872984" y="2788920"/>
            <a:ext cx="3456432" cy="457200"/>
          </a:xfrm>
          <a:prstGeom prst="roundRect">
            <a:avLst>
              <a:gd name="adj" fmla="val 20000"/>
            </a:avLst>
          </a:prstGeom>
          <a:solidFill>
            <a:srgbClr val="EDE8DF"/>
          </a:solidFill>
          <a:ln w="12700">
            <a:solidFill>
              <a:srgbClr val="D8D3CA"/>
            </a:solidFill>
            <a:prstDash val="solid"/>
          </a:ln>
        </p:spPr>
        <p:txBody>
          <a:bodyPr/>
          <a:lstStyle/>
          <a:p>
            <a:endParaRPr lang="en-AU"/>
          </a:p>
        </p:txBody>
      </p:sp>
      <p:sp>
        <p:nvSpPr>
          <p:cNvPr id="16" name="Text 13"/>
          <p:cNvSpPr/>
          <p:nvPr/>
        </p:nvSpPr>
        <p:spPr>
          <a:xfrm>
            <a:off x="8010144" y="2788920"/>
            <a:ext cx="3227832" cy="457200"/>
          </a:xfrm>
          <a:prstGeom prst="rect">
            <a:avLst/>
          </a:prstGeom>
          <a:noFill/>
          <a:ln/>
        </p:spPr>
        <p:txBody>
          <a:bodyPr wrap="square" lIns="0" tIns="0" rIns="0" bIns="0" rtlCol="0" anchor="ctr"/>
          <a:lstStyle/>
          <a:p>
            <a:pPr marL="0" indent="0">
              <a:buNone/>
            </a:pPr>
            <a:r>
              <a:rPr lang="en-US" sz="1250" dirty="0">
                <a:solidFill>
                  <a:srgbClr val="2C2A28"/>
                </a:solidFill>
                <a:latin typeface="Calibri" pitchFamily="34" charset="0"/>
                <a:ea typeface="Calibri" pitchFamily="34" charset="-122"/>
                <a:cs typeface="Calibri" pitchFamily="34" charset="-120"/>
              </a:rPr>
              <a:t>3.  Watching Netflix</a:t>
            </a:r>
            <a:endParaRPr lang="en-US" sz="1250" dirty="0"/>
          </a:p>
        </p:txBody>
      </p:sp>
      <p:sp>
        <p:nvSpPr>
          <p:cNvPr id="17" name="Shape 14"/>
          <p:cNvSpPr/>
          <p:nvPr/>
        </p:nvSpPr>
        <p:spPr>
          <a:xfrm>
            <a:off x="868680" y="3337560"/>
            <a:ext cx="3456432" cy="457200"/>
          </a:xfrm>
          <a:prstGeom prst="roundRect">
            <a:avLst>
              <a:gd name="adj" fmla="val 20000"/>
            </a:avLst>
          </a:prstGeom>
          <a:solidFill>
            <a:srgbClr val="EDE8DF"/>
          </a:solidFill>
          <a:ln w="12700">
            <a:solidFill>
              <a:srgbClr val="D8D3CA"/>
            </a:solidFill>
            <a:prstDash val="solid"/>
          </a:ln>
        </p:spPr>
        <p:txBody>
          <a:bodyPr/>
          <a:lstStyle/>
          <a:p>
            <a:endParaRPr lang="en-AU"/>
          </a:p>
        </p:txBody>
      </p:sp>
      <p:sp>
        <p:nvSpPr>
          <p:cNvPr id="18" name="Text 15"/>
          <p:cNvSpPr/>
          <p:nvPr/>
        </p:nvSpPr>
        <p:spPr>
          <a:xfrm>
            <a:off x="1005840" y="3337560"/>
            <a:ext cx="3227832" cy="457200"/>
          </a:xfrm>
          <a:prstGeom prst="rect">
            <a:avLst/>
          </a:prstGeom>
          <a:noFill/>
          <a:ln/>
        </p:spPr>
        <p:txBody>
          <a:bodyPr wrap="square" lIns="0" tIns="0" rIns="0" bIns="0" rtlCol="0" anchor="ctr"/>
          <a:lstStyle/>
          <a:p>
            <a:pPr marL="0" indent="0">
              <a:buNone/>
            </a:pPr>
            <a:r>
              <a:rPr lang="en-US" sz="1250" dirty="0">
                <a:solidFill>
                  <a:srgbClr val="2C2A28"/>
                </a:solidFill>
                <a:latin typeface="Calibri" pitchFamily="34" charset="0"/>
                <a:ea typeface="Calibri" pitchFamily="34" charset="-122"/>
                <a:cs typeface="Calibri" pitchFamily="34" charset="-120"/>
              </a:rPr>
              <a:t>4.  Playing a downloaded game offline</a:t>
            </a:r>
            <a:endParaRPr lang="en-US" sz="1250" dirty="0"/>
          </a:p>
        </p:txBody>
      </p:sp>
      <p:sp>
        <p:nvSpPr>
          <p:cNvPr id="19" name="Shape 16"/>
          <p:cNvSpPr/>
          <p:nvPr/>
        </p:nvSpPr>
        <p:spPr>
          <a:xfrm>
            <a:off x="4370832" y="3337560"/>
            <a:ext cx="3456432" cy="457200"/>
          </a:xfrm>
          <a:prstGeom prst="roundRect">
            <a:avLst>
              <a:gd name="adj" fmla="val 20000"/>
            </a:avLst>
          </a:prstGeom>
          <a:solidFill>
            <a:srgbClr val="EDE8DF"/>
          </a:solidFill>
          <a:ln w="12700">
            <a:solidFill>
              <a:srgbClr val="D8D3CA"/>
            </a:solidFill>
            <a:prstDash val="solid"/>
          </a:ln>
        </p:spPr>
        <p:txBody>
          <a:bodyPr/>
          <a:lstStyle/>
          <a:p>
            <a:endParaRPr lang="en-AU"/>
          </a:p>
        </p:txBody>
      </p:sp>
      <p:sp>
        <p:nvSpPr>
          <p:cNvPr id="20" name="Text 17"/>
          <p:cNvSpPr/>
          <p:nvPr/>
        </p:nvSpPr>
        <p:spPr>
          <a:xfrm>
            <a:off x="4507992" y="3337560"/>
            <a:ext cx="3227832" cy="457200"/>
          </a:xfrm>
          <a:prstGeom prst="rect">
            <a:avLst/>
          </a:prstGeom>
          <a:noFill/>
          <a:ln/>
        </p:spPr>
        <p:txBody>
          <a:bodyPr wrap="square" lIns="0" tIns="0" rIns="0" bIns="0" rtlCol="0" anchor="ctr"/>
          <a:lstStyle/>
          <a:p>
            <a:pPr marL="0" indent="0">
              <a:buNone/>
            </a:pPr>
            <a:r>
              <a:rPr lang="en-US" sz="1250" dirty="0">
                <a:solidFill>
                  <a:srgbClr val="2C2A28"/>
                </a:solidFill>
                <a:latin typeface="Calibri" pitchFamily="34" charset="0"/>
                <a:ea typeface="Calibri" pitchFamily="34" charset="-122"/>
                <a:cs typeface="Calibri" pitchFamily="34" charset="-120"/>
              </a:rPr>
              <a:t>5.  Searching Google</a:t>
            </a:r>
            <a:endParaRPr lang="en-US" sz="1250" dirty="0"/>
          </a:p>
        </p:txBody>
      </p:sp>
      <p:sp>
        <p:nvSpPr>
          <p:cNvPr id="21" name="Shape 18"/>
          <p:cNvSpPr/>
          <p:nvPr/>
        </p:nvSpPr>
        <p:spPr>
          <a:xfrm>
            <a:off x="7872984" y="3337560"/>
            <a:ext cx="3456432" cy="457200"/>
          </a:xfrm>
          <a:prstGeom prst="roundRect">
            <a:avLst>
              <a:gd name="adj" fmla="val 20000"/>
            </a:avLst>
          </a:prstGeom>
          <a:solidFill>
            <a:srgbClr val="EDE8DF"/>
          </a:solidFill>
          <a:ln w="12700">
            <a:solidFill>
              <a:srgbClr val="D8D3CA"/>
            </a:solidFill>
            <a:prstDash val="solid"/>
          </a:ln>
        </p:spPr>
        <p:txBody>
          <a:bodyPr/>
          <a:lstStyle/>
          <a:p>
            <a:endParaRPr lang="en-AU"/>
          </a:p>
        </p:txBody>
      </p:sp>
      <p:sp>
        <p:nvSpPr>
          <p:cNvPr id="22" name="Text 19"/>
          <p:cNvSpPr/>
          <p:nvPr/>
        </p:nvSpPr>
        <p:spPr>
          <a:xfrm>
            <a:off x="8010144" y="3337560"/>
            <a:ext cx="3227832" cy="457200"/>
          </a:xfrm>
          <a:prstGeom prst="rect">
            <a:avLst/>
          </a:prstGeom>
          <a:noFill/>
          <a:ln/>
        </p:spPr>
        <p:txBody>
          <a:bodyPr wrap="square" lIns="0" tIns="0" rIns="0" bIns="0" rtlCol="0" anchor="ctr"/>
          <a:lstStyle/>
          <a:p>
            <a:pPr marL="0" indent="0">
              <a:buNone/>
            </a:pPr>
            <a:r>
              <a:rPr lang="en-US" sz="1250" dirty="0">
                <a:solidFill>
                  <a:srgbClr val="2C2A28"/>
                </a:solidFill>
                <a:latin typeface="Calibri" pitchFamily="34" charset="0"/>
                <a:ea typeface="Calibri" pitchFamily="34" charset="-122"/>
                <a:cs typeface="Calibri" pitchFamily="34" charset="-120"/>
              </a:rPr>
              <a:t>6.  Saving a Word file to the laptop</a:t>
            </a:r>
            <a:endParaRPr lang="en-US" sz="1250" dirty="0"/>
          </a:p>
        </p:txBody>
      </p:sp>
      <p:sp>
        <p:nvSpPr>
          <p:cNvPr id="23" name="Shape 20"/>
          <p:cNvSpPr/>
          <p:nvPr/>
        </p:nvSpPr>
        <p:spPr>
          <a:xfrm>
            <a:off x="457200" y="3886200"/>
            <a:ext cx="11247120" cy="2331720"/>
          </a:xfrm>
          <a:prstGeom prst="roundRect">
            <a:avLst>
              <a:gd name="adj" fmla="val 3137"/>
            </a:avLst>
          </a:prstGeom>
          <a:solidFill>
            <a:srgbClr val="F1ECE3"/>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4" name="Text 21"/>
          <p:cNvSpPr/>
          <p:nvPr/>
        </p:nvSpPr>
        <p:spPr>
          <a:xfrm>
            <a:off x="777240" y="4069080"/>
            <a:ext cx="10607040" cy="365760"/>
          </a:xfrm>
          <a:prstGeom prst="rect">
            <a:avLst/>
          </a:prstGeom>
          <a:noFill/>
          <a:ln/>
        </p:spPr>
        <p:txBody>
          <a:bodyPr wrap="square" lIns="0" tIns="0" rIns="0" bIns="0" rtlCol="0" anchor="ctr"/>
          <a:lstStyle/>
          <a:p>
            <a:pPr marL="0" indent="0">
              <a:buNone/>
            </a:pPr>
            <a:r>
              <a:rPr lang="en-US" sz="1600" b="1" dirty="0">
                <a:solidFill>
                  <a:srgbClr val="2B3A8C"/>
                </a:solidFill>
                <a:latin typeface="Calibri" pitchFamily="34" charset="0"/>
                <a:ea typeface="Calibri" pitchFamily="34" charset="-122"/>
                <a:cs typeface="Calibri" pitchFamily="34" charset="-120"/>
              </a:rPr>
              <a:t>Then discuss with the person next to you:</a:t>
            </a:r>
            <a:endParaRPr lang="en-US" sz="1600" dirty="0"/>
          </a:p>
        </p:txBody>
      </p:sp>
      <p:sp>
        <p:nvSpPr>
          <p:cNvPr id="25" name="Text 22"/>
          <p:cNvSpPr/>
          <p:nvPr/>
        </p:nvSpPr>
        <p:spPr>
          <a:xfrm>
            <a:off x="868680" y="4526280"/>
            <a:ext cx="10424160" cy="1463040"/>
          </a:xfrm>
          <a:prstGeom prst="rect">
            <a:avLst/>
          </a:prstGeom>
          <a:noFill/>
          <a:ln/>
        </p:spPr>
        <p:txBody>
          <a:bodyPr wrap="square" lIns="0" tIns="0" rIns="0" bIns="0" rtlCol="0" anchor="ctr"/>
          <a:lstStyle/>
          <a:p>
            <a:pPr marL="342900" indent="-342900">
              <a:spcAft>
                <a:spcPts val="800"/>
              </a:spcAft>
              <a:buSzPct val="100000"/>
              <a:buChar char="•"/>
            </a:pPr>
            <a:r>
              <a:rPr lang="en-US" sz="1600" dirty="0">
                <a:solidFill>
                  <a:srgbClr val="2C2A28"/>
                </a:solidFill>
                <a:latin typeface="Calibri" pitchFamily="34" charset="0"/>
                <a:ea typeface="Calibri" pitchFamily="34" charset="-122"/>
                <a:cs typeface="Calibri" pitchFamily="34" charset="-120"/>
              </a:rPr>
              <a:t>What was the trickiest one to decide? Why?</a:t>
            </a:r>
            <a:endParaRPr lang="en-US" sz="1600" dirty="0"/>
          </a:p>
          <a:p>
            <a:pPr marL="342900" indent="-342900">
              <a:spcAft>
                <a:spcPts val="800"/>
              </a:spcAft>
              <a:buSzPct val="100000"/>
              <a:buChar char="•"/>
            </a:pPr>
            <a:r>
              <a:rPr lang="en-US" sz="1600" dirty="0">
                <a:solidFill>
                  <a:srgbClr val="2C2A28"/>
                </a:solidFill>
                <a:latin typeface="Calibri" pitchFamily="34" charset="0"/>
                <a:ea typeface="Calibri" pitchFamily="34" charset="-122"/>
                <a:cs typeface="Calibri" pitchFamily="34" charset="-120"/>
              </a:rPr>
              <a:t>Could you still use the internet if your home Wi-Fi went down? How?</a:t>
            </a:r>
            <a:endParaRPr lang="en-US" sz="1600" dirty="0"/>
          </a:p>
          <a:p>
            <a:pPr marL="342900" indent="-342900">
              <a:spcAft>
                <a:spcPts val="800"/>
              </a:spcAft>
              <a:buSzPct val="100000"/>
              <a:buChar char="•"/>
            </a:pPr>
            <a:r>
              <a:rPr lang="en-US" sz="1600" dirty="0">
                <a:solidFill>
                  <a:srgbClr val="2C2A28"/>
                </a:solidFill>
                <a:latin typeface="Calibri" pitchFamily="34" charset="0"/>
                <a:ea typeface="Calibri" pitchFamily="34" charset="-122"/>
                <a:cs typeface="Calibri" pitchFamily="34" charset="-120"/>
              </a:rPr>
              <a:t>In your own words: what do you think “the internet” actually IS?</a:t>
            </a:r>
            <a:endParaRPr lang="en-US" sz="1600" dirty="0"/>
          </a:p>
        </p:txBody>
      </p:sp>
      <p:sp>
        <p:nvSpPr>
          <p:cNvPr id="27" name="Text 23"/>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8" name="Text 24"/>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2B3A8C"/>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OBJECTIVE</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What We're Learning Today</a:t>
            </a:r>
            <a:endParaRPr lang="en-US" sz="3200" dirty="0"/>
          </a:p>
        </p:txBody>
      </p:sp>
      <p:pic>
        <p:nvPicPr>
          <p:cNvPr id="8" name="Image 0" descr="preencoded.png"/>
          <p:cNvPicPr>
            <a:picLocks noChangeAspect="1"/>
          </p:cNvPicPr>
          <p:nvPr/>
        </p:nvPicPr>
        <p:blipFill>
          <a:blip r:embed="rId3"/>
          <a:stretch>
            <a:fillRect/>
          </a:stretch>
        </p:blipFill>
        <p:spPr>
          <a:xfrm>
            <a:off x="10698480" y="960120"/>
            <a:ext cx="777240" cy="777240"/>
          </a:xfrm>
          <a:prstGeom prst="rect">
            <a:avLst/>
          </a:prstGeom>
        </p:spPr>
      </p:pic>
      <p:sp>
        <p:nvSpPr>
          <p:cNvPr id="9" name="Shape 6"/>
          <p:cNvSpPr/>
          <p:nvPr/>
        </p:nvSpPr>
        <p:spPr>
          <a:xfrm>
            <a:off x="457200" y="1828800"/>
            <a:ext cx="11247120" cy="1051560"/>
          </a:xfrm>
          <a:prstGeom prst="roundRect">
            <a:avLst>
              <a:gd name="adj" fmla="val 6957"/>
            </a:avLst>
          </a:prstGeom>
          <a:solidFill>
            <a:srgbClr val="12100E"/>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0" name="Text 7"/>
          <p:cNvSpPr/>
          <p:nvPr/>
        </p:nvSpPr>
        <p:spPr>
          <a:xfrm>
            <a:off x="777240" y="1965960"/>
            <a:ext cx="10058400" cy="274320"/>
          </a:xfrm>
          <a:prstGeom prst="rect">
            <a:avLst/>
          </a:prstGeom>
          <a:noFill/>
          <a:ln/>
        </p:spPr>
        <p:txBody>
          <a:bodyPr wrap="square" lIns="0" tIns="0" rIns="0" bIns="0" rtlCol="0" anchor="ctr"/>
          <a:lstStyle/>
          <a:p>
            <a:pPr marL="0" indent="0">
              <a:buNone/>
            </a:pPr>
            <a:r>
              <a:rPr lang="en-US" sz="1200" kern="0" spc="100" dirty="0">
                <a:solidFill>
                  <a:srgbClr val="B7AE9F"/>
                </a:solidFill>
                <a:latin typeface="Courier New" pitchFamily="34" charset="0"/>
                <a:ea typeface="Courier New" pitchFamily="34" charset="-122"/>
                <a:cs typeface="Courier New" pitchFamily="34" charset="-120"/>
              </a:rPr>
              <a:t>LEARNING OBJECTIVE</a:t>
            </a:r>
            <a:endParaRPr lang="en-US" sz="1200" dirty="0"/>
          </a:p>
        </p:txBody>
      </p:sp>
      <p:sp>
        <p:nvSpPr>
          <p:cNvPr id="11" name="Text 8"/>
          <p:cNvSpPr/>
          <p:nvPr/>
        </p:nvSpPr>
        <p:spPr>
          <a:xfrm>
            <a:off x="777240" y="2240280"/>
            <a:ext cx="10607040" cy="548640"/>
          </a:xfrm>
          <a:prstGeom prst="rect">
            <a:avLst/>
          </a:prstGeom>
          <a:noFill/>
          <a:ln/>
        </p:spPr>
        <p:txBody>
          <a:bodyPr wrap="square" lIns="0" tIns="0" rIns="0" bIns="0" rtlCol="0" anchor="ctr"/>
          <a:lstStyle/>
          <a:p>
            <a:pPr marL="0" indent="0">
              <a:buNone/>
            </a:pPr>
            <a:r>
              <a:rPr lang="en-US" sz="1900" b="1" dirty="0">
                <a:solidFill>
                  <a:srgbClr val="FFFFFF"/>
                </a:solidFill>
                <a:latin typeface="Bookman Old Style" pitchFamily="34" charset="0"/>
                <a:ea typeface="Bookman Old Style" pitchFamily="34" charset="-122"/>
                <a:cs typeface="Bookman Old Style" pitchFamily="34" charset="-120"/>
              </a:rPr>
              <a:t>To be able to explain what the internet is, how it grew, and how networks connect devices to share data.</a:t>
            </a:r>
            <a:endParaRPr lang="en-US" sz="1900" dirty="0"/>
          </a:p>
        </p:txBody>
      </p:sp>
      <p:sp>
        <p:nvSpPr>
          <p:cNvPr id="12" name="Text 9"/>
          <p:cNvSpPr/>
          <p:nvPr/>
        </p:nvSpPr>
        <p:spPr>
          <a:xfrm>
            <a:off x="457200" y="3063240"/>
            <a:ext cx="10058400" cy="320040"/>
          </a:xfrm>
          <a:prstGeom prst="rect">
            <a:avLst/>
          </a:prstGeom>
          <a:noFill/>
          <a:ln/>
        </p:spPr>
        <p:txBody>
          <a:bodyPr wrap="square" lIns="0" tIns="0" rIns="0" bIns="0" rtlCol="0" anchor="ctr"/>
          <a:lstStyle/>
          <a:p>
            <a:pPr marL="0" indent="0">
              <a:buNone/>
            </a:pPr>
            <a:r>
              <a:rPr lang="en-US" sz="1200" kern="0" spc="100" dirty="0">
                <a:solidFill>
                  <a:srgbClr val="6B6762"/>
                </a:solidFill>
                <a:latin typeface="Courier New" pitchFamily="34" charset="0"/>
                <a:ea typeface="Courier New" pitchFamily="34" charset="-122"/>
                <a:cs typeface="Courier New" pitchFamily="34" charset="-120"/>
              </a:rPr>
              <a:t>SUCCESS CRITERIA</a:t>
            </a:r>
            <a:endParaRPr lang="en-US" sz="1200" dirty="0"/>
          </a:p>
        </p:txBody>
      </p:sp>
      <p:sp>
        <p:nvSpPr>
          <p:cNvPr id="13" name="Shape 10"/>
          <p:cNvSpPr/>
          <p:nvPr/>
        </p:nvSpPr>
        <p:spPr>
          <a:xfrm>
            <a:off x="457200" y="3429000"/>
            <a:ext cx="11247120" cy="841248"/>
          </a:xfrm>
          <a:prstGeom prst="roundRect">
            <a:avLst>
              <a:gd name="adj" fmla="val 869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4" name="Shape 11"/>
          <p:cNvSpPr/>
          <p:nvPr/>
        </p:nvSpPr>
        <p:spPr>
          <a:xfrm>
            <a:off x="685800" y="3621024"/>
            <a:ext cx="1874520" cy="457200"/>
          </a:xfrm>
          <a:prstGeom prst="roundRect">
            <a:avLst>
              <a:gd name="adj" fmla="val 50000"/>
            </a:avLst>
          </a:prstGeom>
          <a:solidFill>
            <a:srgbClr val="1B5E47"/>
          </a:solidFill>
          <a:ln/>
        </p:spPr>
        <p:txBody>
          <a:bodyPr/>
          <a:lstStyle/>
          <a:p>
            <a:endParaRPr lang="en-AU"/>
          </a:p>
        </p:txBody>
      </p:sp>
      <p:sp>
        <p:nvSpPr>
          <p:cNvPr id="15" name="Text 12"/>
          <p:cNvSpPr/>
          <p:nvPr/>
        </p:nvSpPr>
        <p:spPr>
          <a:xfrm>
            <a:off x="685800" y="3621024"/>
            <a:ext cx="1874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Foundation</a:t>
            </a:r>
            <a:endParaRPr lang="en-US" sz="1300" dirty="0"/>
          </a:p>
        </p:txBody>
      </p:sp>
      <p:sp>
        <p:nvSpPr>
          <p:cNvPr id="16" name="Text 13"/>
          <p:cNvSpPr/>
          <p:nvPr/>
        </p:nvSpPr>
        <p:spPr>
          <a:xfrm>
            <a:off x="2743200" y="3429000"/>
            <a:ext cx="8686800" cy="841248"/>
          </a:xfrm>
          <a:prstGeom prst="rect">
            <a:avLst/>
          </a:prstGeom>
          <a:noFill/>
          <a:ln/>
        </p:spPr>
        <p:txBody>
          <a:bodyPr wrap="square" lIns="0" tIns="0" rIns="0" bIns="0" rtlCol="0" anchor="ctr"/>
          <a:lstStyle/>
          <a:p>
            <a:pPr marL="0" indent="0">
              <a:buNone/>
            </a:pPr>
            <a:r>
              <a:rPr lang="en-US" sz="1450" i="1" dirty="0">
                <a:solidFill>
                  <a:srgbClr val="2C2A28"/>
                </a:solidFill>
                <a:latin typeface="Calibri" pitchFamily="34" charset="0"/>
                <a:ea typeface="Calibri" pitchFamily="34" charset="-122"/>
                <a:cs typeface="Calibri" pitchFamily="34" charset="-120"/>
              </a:rPr>
              <a:t>“I can describe what the internet is and name the main parts of a network (device, server, router, modem).”</a:t>
            </a:r>
            <a:endParaRPr lang="en-US" sz="1450" dirty="0"/>
          </a:p>
        </p:txBody>
      </p:sp>
      <p:sp>
        <p:nvSpPr>
          <p:cNvPr id="17" name="Shape 14"/>
          <p:cNvSpPr/>
          <p:nvPr/>
        </p:nvSpPr>
        <p:spPr>
          <a:xfrm>
            <a:off x="457200" y="4361688"/>
            <a:ext cx="11247120" cy="841248"/>
          </a:xfrm>
          <a:prstGeom prst="roundRect">
            <a:avLst>
              <a:gd name="adj" fmla="val 869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8" name="Shape 15"/>
          <p:cNvSpPr/>
          <p:nvPr/>
        </p:nvSpPr>
        <p:spPr>
          <a:xfrm>
            <a:off x="685800" y="4553712"/>
            <a:ext cx="1874520" cy="457200"/>
          </a:xfrm>
          <a:prstGeom prst="roundRect">
            <a:avLst>
              <a:gd name="adj" fmla="val 50000"/>
            </a:avLst>
          </a:prstGeom>
          <a:solidFill>
            <a:srgbClr val="B8620A"/>
          </a:solidFill>
          <a:ln/>
        </p:spPr>
        <p:txBody>
          <a:bodyPr/>
          <a:lstStyle/>
          <a:p>
            <a:endParaRPr lang="en-AU"/>
          </a:p>
        </p:txBody>
      </p:sp>
      <p:sp>
        <p:nvSpPr>
          <p:cNvPr id="19" name="Text 16"/>
          <p:cNvSpPr/>
          <p:nvPr/>
        </p:nvSpPr>
        <p:spPr>
          <a:xfrm>
            <a:off x="685800" y="4553712"/>
            <a:ext cx="1874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Developing</a:t>
            </a:r>
            <a:endParaRPr lang="en-US" sz="1300" dirty="0"/>
          </a:p>
        </p:txBody>
      </p:sp>
      <p:sp>
        <p:nvSpPr>
          <p:cNvPr id="20" name="Text 17"/>
          <p:cNvSpPr/>
          <p:nvPr/>
        </p:nvSpPr>
        <p:spPr>
          <a:xfrm>
            <a:off x="2743200" y="4361688"/>
            <a:ext cx="8686800" cy="841248"/>
          </a:xfrm>
          <a:prstGeom prst="rect">
            <a:avLst/>
          </a:prstGeom>
          <a:noFill/>
          <a:ln/>
        </p:spPr>
        <p:txBody>
          <a:bodyPr wrap="square" lIns="0" tIns="0" rIns="0" bIns="0" rtlCol="0" anchor="ctr"/>
          <a:lstStyle/>
          <a:p>
            <a:pPr marL="0" indent="0">
              <a:buNone/>
            </a:pPr>
            <a:r>
              <a:rPr lang="en-US" sz="1450" i="1" dirty="0">
                <a:solidFill>
                  <a:srgbClr val="2C2A28"/>
                </a:solidFill>
                <a:latin typeface="Calibri" pitchFamily="34" charset="0"/>
                <a:ea typeface="Calibri" pitchFamily="34" charset="-122"/>
                <a:cs typeface="Calibri" pitchFamily="34" charset="-120"/>
              </a:rPr>
              <a:t>“I can compare the types of network (PAN, LAN, WLAN, WAN) and explain what each part of a network does.”</a:t>
            </a:r>
            <a:endParaRPr lang="en-US" sz="1450" dirty="0"/>
          </a:p>
        </p:txBody>
      </p:sp>
      <p:sp>
        <p:nvSpPr>
          <p:cNvPr id="21" name="Shape 18"/>
          <p:cNvSpPr/>
          <p:nvPr/>
        </p:nvSpPr>
        <p:spPr>
          <a:xfrm>
            <a:off x="457200" y="5294376"/>
            <a:ext cx="11247120" cy="841248"/>
          </a:xfrm>
          <a:prstGeom prst="roundRect">
            <a:avLst>
              <a:gd name="adj" fmla="val 869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2" name="Shape 19"/>
          <p:cNvSpPr/>
          <p:nvPr/>
        </p:nvSpPr>
        <p:spPr>
          <a:xfrm>
            <a:off x="685800" y="5486400"/>
            <a:ext cx="1874520" cy="457200"/>
          </a:xfrm>
          <a:prstGeom prst="roundRect">
            <a:avLst>
              <a:gd name="adj" fmla="val 50000"/>
            </a:avLst>
          </a:prstGeom>
          <a:solidFill>
            <a:srgbClr val="2B3A8C"/>
          </a:solidFill>
          <a:ln/>
        </p:spPr>
        <p:txBody>
          <a:bodyPr/>
          <a:lstStyle/>
          <a:p>
            <a:endParaRPr lang="en-AU"/>
          </a:p>
        </p:txBody>
      </p:sp>
      <p:sp>
        <p:nvSpPr>
          <p:cNvPr id="23" name="Text 20"/>
          <p:cNvSpPr/>
          <p:nvPr/>
        </p:nvSpPr>
        <p:spPr>
          <a:xfrm>
            <a:off x="685800" y="5486400"/>
            <a:ext cx="1874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Extending</a:t>
            </a:r>
            <a:endParaRPr lang="en-US" sz="1300" dirty="0"/>
          </a:p>
        </p:txBody>
      </p:sp>
      <p:sp>
        <p:nvSpPr>
          <p:cNvPr id="24" name="Text 21"/>
          <p:cNvSpPr/>
          <p:nvPr/>
        </p:nvSpPr>
        <p:spPr>
          <a:xfrm>
            <a:off x="2743200" y="5294376"/>
            <a:ext cx="8686800" cy="841248"/>
          </a:xfrm>
          <a:prstGeom prst="rect">
            <a:avLst/>
          </a:prstGeom>
          <a:noFill/>
          <a:ln/>
        </p:spPr>
        <p:txBody>
          <a:bodyPr wrap="square" lIns="0" tIns="0" rIns="0" bIns="0" rtlCol="0" anchor="ctr"/>
          <a:lstStyle/>
          <a:p>
            <a:pPr marL="0" indent="0">
              <a:buNone/>
            </a:pPr>
            <a:r>
              <a:rPr lang="en-US" sz="1450" i="1" dirty="0">
                <a:solidFill>
                  <a:srgbClr val="2C2A28"/>
                </a:solidFill>
                <a:latin typeface="Calibri" pitchFamily="34" charset="0"/>
                <a:ea typeface="Calibri" pitchFamily="34" charset="-122"/>
                <a:cs typeface="Calibri" pitchFamily="34" charset="-120"/>
              </a:rPr>
              <a:t>“I can explain how data travels (wired vs wireless) and justify which connection suits a given situation.”</a:t>
            </a:r>
            <a:endParaRPr lang="en-US" sz="1450" dirty="0"/>
          </a:p>
        </p:txBody>
      </p:sp>
      <p:sp>
        <p:nvSpPr>
          <p:cNvPr id="26" name="Text 2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7" name="Text 23"/>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So… What Actually Is the Internet?</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txBody>
          <a:bodyPr/>
          <a:lstStyle/>
          <a:p>
            <a:endParaRPr lang="en-AU"/>
          </a:p>
        </p:txBody>
      </p:sp>
      <p:sp>
        <p:nvSpPr>
          <p:cNvPr id="9" name="Text 7"/>
          <p:cNvSpPr/>
          <p:nvPr/>
        </p:nvSpPr>
        <p:spPr>
          <a:xfrm>
            <a:off x="9601200" y="1078992"/>
            <a:ext cx="210312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874520"/>
            <a:ext cx="6766560" cy="4160520"/>
          </a:xfrm>
          <a:prstGeom prst="roundRect">
            <a:avLst>
              <a:gd name="adj" fmla="val 1758"/>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pic>
        <p:nvPicPr>
          <p:cNvPr id="11" name="Image 0" descr="preencoded.png"/>
          <p:cNvPicPr>
            <a:picLocks noChangeAspect="1"/>
          </p:cNvPicPr>
          <p:nvPr/>
        </p:nvPicPr>
        <p:blipFill>
          <a:blip r:embed="rId3"/>
          <a:stretch>
            <a:fillRect/>
          </a:stretch>
        </p:blipFill>
        <p:spPr>
          <a:xfrm>
            <a:off x="777240" y="2148840"/>
            <a:ext cx="640080" cy="640080"/>
          </a:xfrm>
          <a:prstGeom prst="rect">
            <a:avLst/>
          </a:prstGeom>
        </p:spPr>
      </p:pic>
      <p:sp>
        <p:nvSpPr>
          <p:cNvPr id="12" name="Text 9"/>
          <p:cNvSpPr/>
          <p:nvPr/>
        </p:nvSpPr>
        <p:spPr>
          <a:xfrm>
            <a:off x="1554480" y="2194560"/>
            <a:ext cx="5303520" cy="457200"/>
          </a:xfrm>
          <a:prstGeom prst="rect">
            <a:avLst/>
          </a:prstGeom>
          <a:noFill/>
          <a:ln/>
        </p:spPr>
        <p:txBody>
          <a:bodyPr wrap="square" lIns="0" tIns="0" rIns="0" bIns="0" rtlCol="0" anchor="ctr"/>
          <a:lstStyle/>
          <a:p>
            <a:pPr marL="0" indent="0">
              <a:buNone/>
            </a:pPr>
            <a:r>
              <a:rPr lang="en-US" sz="2000" b="1" dirty="0">
                <a:solidFill>
                  <a:srgbClr val="12100E"/>
                </a:solidFill>
                <a:latin typeface="Bookman Old Style" pitchFamily="34" charset="0"/>
                <a:ea typeface="Bookman Old Style" pitchFamily="34" charset="-122"/>
                <a:cs typeface="Bookman Old Style" pitchFamily="34" charset="-120"/>
              </a:rPr>
              <a:t>The big idea</a:t>
            </a:r>
            <a:endParaRPr lang="en-US" sz="2000" dirty="0"/>
          </a:p>
        </p:txBody>
      </p:sp>
      <p:sp>
        <p:nvSpPr>
          <p:cNvPr id="13" name="Text 10"/>
          <p:cNvSpPr/>
          <p:nvPr/>
        </p:nvSpPr>
        <p:spPr>
          <a:xfrm>
            <a:off x="777240" y="2926080"/>
            <a:ext cx="6126480" cy="1828800"/>
          </a:xfrm>
          <a:prstGeom prst="rect">
            <a:avLst/>
          </a:prstGeom>
          <a:noFill/>
          <a:ln/>
        </p:spPr>
        <p:txBody>
          <a:bodyPr wrap="square" lIns="0" tIns="0" rIns="0" bIns="0" rtlCol="0" anchor="t"/>
          <a:lstStyle/>
          <a:p>
            <a:pPr marL="0" indent="0">
              <a:spcAft>
                <a:spcPts val="600"/>
              </a:spcAft>
              <a:buNone/>
            </a:pPr>
            <a:r>
              <a:rPr lang="en-US" sz="1600" dirty="0">
                <a:solidFill>
                  <a:srgbClr val="2C2A28"/>
                </a:solidFill>
                <a:latin typeface="Calibri" pitchFamily="34" charset="0"/>
                <a:ea typeface="Calibri" pitchFamily="34" charset="-122"/>
                <a:cs typeface="Calibri" pitchFamily="34" charset="-120"/>
              </a:rPr>
              <a:t>The internet is a giant network of networks — millions of computers and devices around the world, all connected so they can share data.</a:t>
            </a:r>
            <a:endParaRPr lang="en-US" sz="1600" dirty="0"/>
          </a:p>
          <a:p>
            <a:pPr marL="0" indent="0">
              <a:spcAft>
                <a:spcPts val="600"/>
              </a:spcAft>
              <a:buNone/>
            </a:pPr>
            <a:endParaRPr lang="en-US" sz="1600" dirty="0"/>
          </a:p>
          <a:p>
            <a:pPr marL="0" indent="0">
              <a:spcAft>
                <a:spcPts val="600"/>
              </a:spcAft>
              <a:buNone/>
            </a:pPr>
            <a:r>
              <a:rPr lang="en-US" sz="1600" dirty="0">
                <a:solidFill>
                  <a:srgbClr val="2C2A28"/>
                </a:solidFill>
                <a:latin typeface="Calibri" pitchFamily="34" charset="0"/>
                <a:ea typeface="Calibri" pitchFamily="34" charset="-122"/>
                <a:cs typeface="Calibri" pitchFamily="34" charset="-120"/>
              </a:rPr>
              <a:t>No single computer 'is' the internet. It works because devices agree on shared rules for sending information to each other.</a:t>
            </a:r>
            <a:endParaRPr lang="en-US" sz="1600" dirty="0"/>
          </a:p>
        </p:txBody>
      </p:sp>
      <p:sp>
        <p:nvSpPr>
          <p:cNvPr id="14" name="Shape 11"/>
          <p:cNvSpPr/>
          <p:nvPr/>
        </p:nvSpPr>
        <p:spPr>
          <a:xfrm>
            <a:off x="777240" y="4983480"/>
            <a:ext cx="6126480" cy="868680"/>
          </a:xfrm>
          <a:prstGeom prst="roundRect">
            <a:avLst>
              <a:gd name="adj" fmla="val 8421"/>
            </a:avLst>
          </a:prstGeom>
          <a:solidFill>
            <a:srgbClr val="EAF0EC"/>
          </a:solidFill>
          <a:ln w="12700">
            <a:solidFill>
              <a:srgbClr val="1B5E47"/>
            </a:solidFill>
            <a:prstDash val="solid"/>
          </a:ln>
        </p:spPr>
        <p:txBody>
          <a:bodyPr/>
          <a:lstStyle/>
          <a:p>
            <a:endParaRPr lang="en-AU"/>
          </a:p>
        </p:txBody>
      </p:sp>
      <p:sp>
        <p:nvSpPr>
          <p:cNvPr id="15" name="Text 12"/>
          <p:cNvSpPr/>
          <p:nvPr/>
        </p:nvSpPr>
        <p:spPr>
          <a:xfrm>
            <a:off x="960120" y="5029200"/>
            <a:ext cx="5760720" cy="777240"/>
          </a:xfrm>
          <a:prstGeom prst="rect">
            <a:avLst/>
          </a:prstGeom>
          <a:noFill/>
          <a:ln/>
        </p:spPr>
        <p:txBody>
          <a:bodyPr wrap="square" lIns="0" tIns="0" rIns="0" bIns="0" rtlCol="0" anchor="ctr"/>
          <a:lstStyle/>
          <a:p>
            <a:pPr marL="0" indent="0">
              <a:buNone/>
            </a:pPr>
            <a:r>
              <a:rPr lang="en-US" sz="1350" b="1" dirty="0">
                <a:solidFill>
                  <a:srgbClr val="1B5E47"/>
                </a:solidFill>
                <a:latin typeface="Calibri" pitchFamily="34" charset="0"/>
                <a:ea typeface="Calibri" pitchFamily="34" charset="-122"/>
                <a:cs typeface="Calibri" pitchFamily="34" charset="-120"/>
              </a:rPr>
              <a:t>Watch the wording! </a:t>
            </a:r>
            <a:r>
              <a:rPr lang="en-US" sz="1350" dirty="0">
                <a:solidFill>
                  <a:srgbClr val="2C2A28"/>
                </a:solidFill>
                <a:latin typeface="Calibri" pitchFamily="34" charset="0"/>
                <a:ea typeface="Calibri" pitchFamily="34" charset="-122"/>
                <a:cs typeface="Calibri" pitchFamily="34" charset="-120"/>
              </a:rPr>
              <a:t>The Internet and the World Wide Web are NOT the same thing. The Web (websites you visit) is just one thing that runs ON the internet.</a:t>
            </a:r>
            <a:endParaRPr lang="en-US" sz="1350" dirty="0"/>
          </a:p>
        </p:txBody>
      </p:sp>
      <p:sp>
        <p:nvSpPr>
          <p:cNvPr id="16" name="Shape 13"/>
          <p:cNvSpPr/>
          <p:nvPr/>
        </p:nvSpPr>
        <p:spPr>
          <a:xfrm>
            <a:off x="7406640" y="1874520"/>
            <a:ext cx="4297680" cy="4160520"/>
          </a:xfrm>
          <a:prstGeom prst="roundRect">
            <a:avLst>
              <a:gd name="adj" fmla="val 1758"/>
            </a:avLst>
          </a:prstGeom>
          <a:solidFill>
            <a:srgbClr val="F1ECE3"/>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7" name="Text 14"/>
          <p:cNvSpPr/>
          <p:nvPr/>
        </p:nvSpPr>
        <p:spPr>
          <a:xfrm>
            <a:off x="7680960" y="2103120"/>
            <a:ext cx="3749040" cy="640080"/>
          </a:xfrm>
          <a:prstGeom prst="rect">
            <a:avLst/>
          </a:prstGeom>
          <a:noFill/>
          <a:ln/>
        </p:spPr>
        <p:txBody>
          <a:bodyPr wrap="square" lIns="0" tIns="0" rIns="0" bIns="0" rtlCol="0" anchor="ctr"/>
          <a:lstStyle/>
          <a:p>
            <a:pPr marL="0" indent="0">
              <a:buNone/>
            </a:pPr>
            <a:r>
              <a:rPr lang="en-US" sz="1800" b="1" dirty="0">
                <a:solidFill>
                  <a:srgbClr val="B8620A"/>
                </a:solidFill>
                <a:latin typeface="Bookman Old Style" pitchFamily="34" charset="0"/>
                <a:ea typeface="Bookman Old Style" pitchFamily="34" charset="-122"/>
                <a:cs typeface="Bookman Old Style" pitchFamily="34" charset="-120"/>
              </a:rPr>
              <a:t>Think of it like a road network</a:t>
            </a:r>
            <a:endParaRPr lang="en-US" sz="1800" dirty="0"/>
          </a:p>
        </p:txBody>
      </p:sp>
      <p:sp>
        <p:nvSpPr>
          <p:cNvPr id="18" name="Text 15"/>
          <p:cNvSpPr/>
          <p:nvPr/>
        </p:nvSpPr>
        <p:spPr>
          <a:xfrm>
            <a:off x="7726680" y="2834640"/>
            <a:ext cx="3749040" cy="27432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2C2A28"/>
                </a:solidFill>
                <a:latin typeface="Calibri" pitchFamily="34" charset="0"/>
                <a:ea typeface="Calibri" pitchFamily="34" charset="-122"/>
                <a:cs typeface="Calibri" pitchFamily="34" charset="-120"/>
              </a:rPr>
              <a:t>Roads = the cables &amp; wireless signals</a:t>
            </a:r>
            <a:endParaRPr lang="en-US" sz="1450" dirty="0"/>
          </a:p>
          <a:p>
            <a:pPr marL="342900" indent="-342900">
              <a:spcAft>
                <a:spcPts val="1000"/>
              </a:spcAft>
              <a:buSzPct val="100000"/>
              <a:buChar char="•"/>
            </a:pPr>
            <a:r>
              <a:rPr lang="en-US" sz="1450" dirty="0">
                <a:solidFill>
                  <a:srgbClr val="2C2A28"/>
                </a:solidFill>
                <a:latin typeface="Calibri" pitchFamily="34" charset="0"/>
                <a:ea typeface="Calibri" pitchFamily="34" charset="-122"/>
                <a:cs typeface="Calibri" pitchFamily="34" charset="-120"/>
              </a:rPr>
              <a:t>Houses = devices (your laptop, a phone)</a:t>
            </a:r>
            <a:endParaRPr lang="en-US" sz="1450" dirty="0"/>
          </a:p>
          <a:p>
            <a:pPr marL="342900" indent="-342900">
              <a:spcAft>
                <a:spcPts val="1000"/>
              </a:spcAft>
              <a:buSzPct val="100000"/>
              <a:buChar char="•"/>
            </a:pPr>
            <a:r>
              <a:rPr lang="en-US" sz="1450" dirty="0">
                <a:solidFill>
                  <a:srgbClr val="2C2A28"/>
                </a:solidFill>
                <a:latin typeface="Calibri" pitchFamily="34" charset="0"/>
                <a:ea typeface="Calibri" pitchFamily="34" charset="-122"/>
                <a:cs typeface="Calibri" pitchFamily="34" charset="-120"/>
              </a:rPr>
              <a:t>Cars = the data being delivered</a:t>
            </a:r>
            <a:endParaRPr lang="en-US" sz="1450" dirty="0"/>
          </a:p>
          <a:p>
            <a:pPr marL="342900" indent="-342900">
              <a:spcAft>
                <a:spcPts val="1000"/>
              </a:spcAft>
              <a:buSzPct val="100000"/>
              <a:buChar char="•"/>
            </a:pPr>
            <a:r>
              <a:rPr lang="en-US" sz="1450" dirty="0">
                <a:solidFill>
                  <a:srgbClr val="2C2A28"/>
                </a:solidFill>
                <a:latin typeface="Calibri" pitchFamily="34" charset="0"/>
                <a:ea typeface="Calibri" pitchFamily="34" charset="-122"/>
                <a:cs typeface="Calibri" pitchFamily="34" charset="-120"/>
              </a:rPr>
              <a:t>Traffic rules = the shared rules that keep data going to the right place</a:t>
            </a:r>
            <a:endParaRPr lang="en-US" sz="1450" dirty="0"/>
          </a:p>
        </p:txBody>
      </p:sp>
      <p:sp>
        <p:nvSpPr>
          <p:cNvPr id="20" name="Text 1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1" name="Text 17"/>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A Very Short History</a:t>
            </a:r>
            <a:endParaRPr lang="en-US" sz="3200" dirty="0"/>
          </a:p>
        </p:txBody>
      </p:sp>
      <p:pic>
        <p:nvPicPr>
          <p:cNvPr id="8" name="Image 0" descr="preencoded.png"/>
          <p:cNvPicPr>
            <a:picLocks noChangeAspect="1"/>
          </p:cNvPicPr>
          <p:nvPr/>
        </p:nvPicPr>
        <p:blipFill>
          <a:blip r:embed="rId3"/>
          <a:stretch>
            <a:fillRect/>
          </a:stretch>
        </p:blipFill>
        <p:spPr>
          <a:xfrm>
            <a:off x="10789920" y="960120"/>
            <a:ext cx="777240" cy="777240"/>
          </a:xfrm>
          <a:prstGeom prst="rect">
            <a:avLst/>
          </a:prstGeom>
        </p:spPr>
      </p:pic>
      <p:sp>
        <p:nvSpPr>
          <p:cNvPr id="9" name="Shape 6"/>
          <p:cNvSpPr/>
          <p:nvPr/>
        </p:nvSpPr>
        <p:spPr>
          <a:xfrm>
            <a:off x="457200" y="2011680"/>
            <a:ext cx="2697480" cy="384048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0" name="Shape 7"/>
          <p:cNvSpPr/>
          <p:nvPr/>
        </p:nvSpPr>
        <p:spPr>
          <a:xfrm>
            <a:off x="685800" y="2240280"/>
            <a:ext cx="2240280" cy="640080"/>
          </a:xfrm>
          <a:prstGeom prst="roundRect">
            <a:avLst>
              <a:gd name="adj" fmla="val 11429"/>
            </a:avLst>
          </a:prstGeom>
          <a:solidFill>
            <a:srgbClr val="B8620A"/>
          </a:solidFill>
          <a:ln/>
        </p:spPr>
        <p:txBody>
          <a:bodyPr/>
          <a:lstStyle/>
          <a:p>
            <a:endParaRPr lang="en-AU"/>
          </a:p>
        </p:txBody>
      </p:sp>
      <p:sp>
        <p:nvSpPr>
          <p:cNvPr id="11" name="Text 8"/>
          <p:cNvSpPr/>
          <p:nvPr/>
        </p:nvSpPr>
        <p:spPr>
          <a:xfrm>
            <a:off x="685800" y="2240280"/>
            <a:ext cx="22402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1969</a:t>
            </a:r>
            <a:endParaRPr lang="en-US" sz="2200" dirty="0"/>
          </a:p>
        </p:txBody>
      </p:sp>
      <p:sp>
        <p:nvSpPr>
          <p:cNvPr id="12" name="Text 9"/>
          <p:cNvSpPr/>
          <p:nvPr/>
        </p:nvSpPr>
        <p:spPr>
          <a:xfrm>
            <a:off x="685800" y="3017520"/>
            <a:ext cx="2240280" cy="777240"/>
          </a:xfrm>
          <a:prstGeom prst="rect">
            <a:avLst/>
          </a:prstGeom>
          <a:noFill/>
          <a:ln/>
        </p:spPr>
        <p:txBody>
          <a:bodyPr wrap="square" lIns="0" tIns="0" rIns="0" bIns="0" rtlCol="0" anchor="t"/>
          <a:lstStyle/>
          <a:p>
            <a:pPr marL="0" indent="0">
              <a:buNone/>
            </a:pPr>
            <a:r>
              <a:rPr lang="en-US" sz="1600" b="1" dirty="0">
                <a:solidFill>
                  <a:srgbClr val="12100E"/>
                </a:solidFill>
                <a:latin typeface="Calibri" pitchFamily="34" charset="0"/>
                <a:ea typeface="Calibri" pitchFamily="34" charset="-122"/>
                <a:cs typeface="Calibri" pitchFamily="34" charset="-120"/>
              </a:rPr>
              <a:t>ARPANET</a:t>
            </a:r>
            <a:endParaRPr lang="en-US" sz="1600" dirty="0"/>
          </a:p>
        </p:txBody>
      </p:sp>
      <p:sp>
        <p:nvSpPr>
          <p:cNvPr id="13" name="Text 10"/>
          <p:cNvSpPr/>
          <p:nvPr/>
        </p:nvSpPr>
        <p:spPr>
          <a:xfrm>
            <a:off x="685800" y="3794760"/>
            <a:ext cx="2240280" cy="1920240"/>
          </a:xfrm>
          <a:prstGeom prst="rect">
            <a:avLst/>
          </a:prstGeom>
          <a:noFill/>
          <a:ln/>
        </p:spPr>
        <p:txBody>
          <a:bodyPr wrap="square" lIns="0" tIns="0" rIns="0" bIns="0" rtlCol="0" anchor="t"/>
          <a:lstStyle/>
          <a:p>
            <a:pPr marL="0" indent="0">
              <a:buNone/>
            </a:pPr>
            <a:r>
              <a:rPr lang="en-US" sz="1300" dirty="0">
                <a:solidFill>
                  <a:srgbClr val="2C2A28"/>
                </a:solidFill>
                <a:latin typeface="Calibri" pitchFamily="34" charset="0"/>
                <a:ea typeface="Calibri" pitchFamily="34" charset="-122"/>
                <a:cs typeface="Calibri" pitchFamily="34" charset="-120"/>
              </a:rPr>
              <a:t>The first version — a small US research network links a few university computers for the first time.</a:t>
            </a:r>
            <a:endParaRPr lang="en-US" sz="1300" dirty="0"/>
          </a:p>
        </p:txBody>
      </p:sp>
      <p:sp>
        <p:nvSpPr>
          <p:cNvPr id="14" name="Shape 11"/>
          <p:cNvSpPr/>
          <p:nvPr/>
        </p:nvSpPr>
        <p:spPr>
          <a:xfrm>
            <a:off x="3319272" y="2011680"/>
            <a:ext cx="2697480" cy="384048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5" name="Shape 12"/>
          <p:cNvSpPr/>
          <p:nvPr/>
        </p:nvSpPr>
        <p:spPr>
          <a:xfrm>
            <a:off x="3547872" y="2240280"/>
            <a:ext cx="2240280" cy="640080"/>
          </a:xfrm>
          <a:prstGeom prst="roundRect">
            <a:avLst>
              <a:gd name="adj" fmla="val 11429"/>
            </a:avLst>
          </a:prstGeom>
          <a:solidFill>
            <a:srgbClr val="2B3A8C"/>
          </a:solidFill>
          <a:ln/>
        </p:spPr>
        <p:txBody>
          <a:bodyPr/>
          <a:lstStyle/>
          <a:p>
            <a:endParaRPr lang="en-AU"/>
          </a:p>
        </p:txBody>
      </p:sp>
      <p:sp>
        <p:nvSpPr>
          <p:cNvPr id="16" name="Text 13"/>
          <p:cNvSpPr/>
          <p:nvPr/>
        </p:nvSpPr>
        <p:spPr>
          <a:xfrm>
            <a:off x="3547872" y="2240280"/>
            <a:ext cx="22402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1989</a:t>
            </a:r>
            <a:endParaRPr lang="en-US" sz="2200" dirty="0"/>
          </a:p>
        </p:txBody>
      </p:sp>
      <p:sp>
        <p:nvSpPr>
          <p:cNvPr id="17" name="Text 14"/>
          <p:cNvSpPr/>
          <p:nvPr/>
        </p:nvSpPr>
        <p:spPr>
          <a:xfrm>
            <a:off x="3547872" y="3017520"/>
            <a:ext cx="2240280" cy="777240"/>
          </a:xfrm>
          <a:prstGeom prst="rect">
            <a:avLst/>
          </a:prstGeom>
          <a:noFill/>
          <a:ln/>
        </p:spPr>
        <p:txBody>
          <a:bodyPr wrap="square" lIns="0" tIns="0" rIns="0" bIns="0" rtlCol="0" anchor="t"/>
          <a:lstStyle/>
          <a:p>
            <a:pPr marL="0" indent="0">
              <a:buNone/>
            </a:pPr>
            <a:r>
              <a:rPr lang="en-US" sz="1600" b="1" dirty="0">
                <a:solidFill>
                  <a:srgbClr val="12100E"/>
                </a:solidFill>
                <a:latin typeface="Calibri" pitchFamily="34" charset="0"/>
                <a:ea typeface="Calibri" pitchFamily="34" charset="-122"/>
                <a:cs typeface="Calibri" pitchFamily="34" charset="-120"/>
              </a:rPr>
              <a:t>The Web is invented</a:t>
            </a:r>
            <a:endParaRPr lang="en-US" sz="1600" dirty="0"/>
          </a:p>
        </p:txBody>
      </p:sp>
      <p:sp>
        <p:nvSpPr>
          <p:cNvPr id="18" name="Text 15"/>
          <p:cNvSpPr/>
          <p:nvPr/>
        </p:nvSpPr>
        <p:spPr>
          <a:xfrm>
            <a:off x="3547872" y="3794760"/>
            <a:ext cx="2240280" cy="1920240"/>
          </a:xfrm>
          <a:prstGeom prst="rect">
            <a:avLst/>
          </a:prstGeom>
          <a:noFill/>
          <a:ln/>
        </p:spPr>
        <p:txBody>
          <a:bodyPr wrap="square" lIns="0" tIns="0" rIns="0" bIns="0" rtlCol="0" anchor="t"/>
          <a:lstStyle/>
          <a:p>
            <a:pPr marL="0" indent="0">
              <a:buNone/>
            </a:pPr>
            <a:r>
              <a:rPr lang="en-US" sz="1300" dirty="0">
                <a:solidFill>
                  <a:srgbClr val="2C2A28"/>
                </a:solidFill>
                <a:latin typeface="Calibri" pitchFamily="34" charset="0"/>
                <a:ea typeface="Calibri" pitchFamily="34" charset="-122"/>
                <a:cs typeface="Calibri" pitchFamily="34" charset="-120"/>
              </a:rPr>
              <a:t>Tim Berners-Lee designs the World Wide Web: web pages and links you can click.</a:t>
            </a:r>
            <a:endParaRPr lang="en-US" sz="1300" dirty="0"/>
          </a:p>
        </p:txBody>
      </p:sp>
      <p:sp>
        <p:nvSpPr>
          <p:cNvPr id="19" name="Shape 16"/>
          <p:cNvSpPr/>
          <p:nvPr/>
        </p:nvSpPr>
        <p:spPr>
          <a:xfrm>
            <a:off x="6181344" y="2011680"/>
            <a:ext cx="2697480" cy="384048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0" name="Shape 17"/>
          <p:cNvSpPr/>
          <p:nvPr/>
        </p:nvSpPr>
        <p:spPr>
          <a:xfrm>
            <a:off x="6409944" y="2240280"/>
            <a:ext cx="2240280" cy="640080"/>
          </a:xfrm>
          <a:prstGeom prst="roundRect">
            <a:avLst>
              <a:gd name="adj" fmla="val 11429"/>
            </a:avLst>
          </a:prstGeom>
          <a:solidFill>
            <a:srgbClr val="1B5E47"/>
          </a:solidFill>
          <a:ln/>
        </p:spPr>
        <p:txBody>
          <a:bodyPr/>
          <a:lstStyle/>
          <a:p>
            <a:endParaRPr lang="en-AU"/>
          </a:p>
        </p:txBody>
      </p:sp>
      <p:sp>
        <p:nvSpPr>
          <p:cNvPr id="21" name="Text 18"/>
          <p:cNvSpPr/>
          <p:nvPr/>
        </p:nvSpPr>
        <p:spPr>
          <a:xfrm>
            <a:off x="6409944" y="2240280"/>
            <a:ext cx="22402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1990s</a:t>
            </a:r>
            <a:endParaRPr lang="en-US" sz="2200" dirty="0"/>
          </a:p>
        </p:txBody>
      </p:sp>
      <p:sp>
        <p:nvSpPr>
          <p:cNvPr id="22" name="Text 19"/>
          <p:cNvSpPr/>
          <p:nvPr/>
        </p:nvSpPr>
        <p:spPr>
          <a:xfrm>
            <a:off x="6409944" y="3017520"/>
            <a:ext cx="2240280" cy="777240"/>
          </a:xfrm>
          <a:prstGeom prst="rect">
            <a:avLst/>
          </a:prstGeom>
          <a:noFill/>
          <a:ln/>
        </p:spPr>
        <p:txBody>
          <a:bodyPr wrap="square" lIns="0" tIns="0" rIns="0" bIns="0" rtlCol="0" anchor="t"/>
          <a:lstStyle/>
          <a:p>
            <a:pPr marL="0" indent="0">
              <a:buNone/>
            </a:pPr>
            <a:r>
              <a:rPr lang="en-US" sz="1600" b="1" dirty="0">
                <a:solidFill>
                  <a:srgbClr val="12100E"/>
                </a:solidFill>
                <a:latin typeface="Calibri" pitchFamily="34" charset="0"/>
                <a:ea typeface="Calibri" pitchFamily="34" charset="-122"/>
                <a:cs typeface="Calibri" pitchFamily="34" charset="-120"/>
              </a:rPr>
              <a:t>The internet goes public</a:t>
            </a:r>
            <a:endParaRPr lang="en-US" sz="1600" dirty="0"/>
          </a:p>
        </p:txBody>
      </p:sp>
      <p:sp>
        <p:nvSpPr>
          <p:cNvPr id="23" name="Text 20"/>
          <p:cNvSpPr/>
          <p:nvPr/>
        </p:nvSpPr>
        <p:spPr>
          <a:xfrm>
            <a:off x="6409944" y="3794760"/>
            <a:ext cx="2240280" cy="1920240"/>
          </a:xfrm>
          <a:prstGeom prst="rect">
            <a:avLst/>
          </a:prstGeom>
          <a:noFill/>
          <a:ln/>
        </p:spPr>
        <p:txBody>
          <a:bodyPr wrap="square" lIns="0" tIns="0" rIns="0" bIns="0" rtlCol="0" anchor="t"/>
          <a:lstStyle/>
          <a:p>
            <a:pPr marL="0" indent="0">
              <a:buNone/>
            </a:pPr>
            <a:r>
              <a:rPr lang="en-US" sz="1300" dirty="0">
                <a:solidFill>
                  <a:srgbClr val="2C2A28"/>
                </a:solidFill>
                <a:latin typeface="Calibri" pitchFamily="34" charset="0"/>
                <a:ea typeface="Calibri" pitchFamily="34" charset="-122"/>
                <a:cs typeface="Calibri" pitchFamily="34" charset="-120"/>
              </a:rPr>
              <a:t>Home computers, dial-up modems and the first popular browsers bring it to ordinary households.</a:t>
            </a:r>
            <a:endParaRPr lang="en-US" sz="1300" dirty="0"/>
          </a:p>
        </p:txBody>
      </p:sp>
      <p:sp>
        <p:nvSpPr>
          <p:cNvPr id="24" name="Shape 21"/>
          <p:cNvSpPr/>
          <p:nvPr/>
        </p:nvSpPr>
        <p:spPr>
          <a:xfrm>
            <a:off x="9043416" y="2011680"/>
            <a:ext cx="2697480" cy="384048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5" name="Shape 22"/>
          <p:cNvSpPr/>
          <p:nvPr/>
        </p:nvSpPr>
        <p:spPr>
          <a:xfrm>
            <a:off x="9272016" y="2240280"/>
            <a:ext cx="2240280" cy="640080"/>
          </a:xfrm>
          <a:prstGeom prst="roundRect">
            <a:avLst>
              <a:gd name="adj" fmla="val 11429"/>
            </a:avLst>
          </a:prstGeom>
          <a:solidFill>
            <a:srgbClr val="8C1F28"/>
          </a:solidFill>
          <a:ln/>
        </p:spPr>
        <p:txBody>
          <a:bodyPr/>
          <a:lstStyle/>
          <a:p>
            <a:endParaRPr lang="en-AU"/>
          </a:p>
        </p:txBody>
      </p:sp>
      <p:sp>
        <p:nvSpPr>
          <p:cNvPr id="26" name="Text 23"/>
          <p:cNvSpPr/>
          <p:nvPr/>
        </p:nvSpPr>
        <p:spPr>
          <a:xfrm>
            <a:off x="9272016" y="2240280"/>
            <a:ext cx="22402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Bookman Old Style" pitchFamily="34" charset="0"/>
                <a:ea typeface="Bookman Old Style" pitchFamily="34" charset="-122"/>
                <a:cs typeface="Bookman Old Style" pitchFamily="34" charset="-120"/>
              </a:rPr>
              <a:t>Today</a:t>
            </a:r>
            <a:endParaRPr lang="en-US" sz="2200" dirty="0"/>
          </a:p>
        </p:txBody>
      </p:sp>
      <p:sp>
        <p:nvSpPr>
          <p:cNvPr id="27" name="Text 24"/>
          <p:cNvSpPr/>
          <p:nvPr/>
        </p:nvSpPr>
        <p:spPr>
          <a:xfrm>
            <a:off x="9272016" y="3017520"/>
            <a:ext cx="2240280" cy="777240"/>
          </a:xfrm>
          <a:prstGeom prst="rect">
            <a:avLst/>
          </a:prstGeom>
          <a:noFill/>
          <a:ln/>
        </p:spPr>
        <p:txBody>
          <a:bodyPr wrap="square" lIns="0" tIns="0" rIns="0" bIns="0" rtlCol="0" anchor="t"/>
          <a:lstStyle/>
          <a:p>
            <a:pPr marL="0" indent="0">
              <a:buNone/>
            </a:pPr>
            <a:r>
              <a:rPr lang="en-US" sz="1600" b="1" dirty="0">
                <a:solidFill>
                  <a:srgbClr val="12100E"/>
                </a:solidFill>
                <a:latin typeface="Calibri" pitchFamily="34" charset="0"/>
                <a:ea typeface="Calibri" pitchFamily="34" charset="-122"/>
                <a:cs typeface="Calibri" pitchFamily="34" charset="-120"/>
              </a:rPr>
              <a:t>Always-on &amp; everywhere</a:t>
            </a:r>
            <a:endParaRPr lang="en-US" sz="1600" dirty="0"/>
          </a:p>
        </p:txBody>
      </p:sp>
      <p:sp>
        <p:nvSpPr>
          <p:cNvPr id="28" name="Text 25"/>
          <p:cNvSpPr/>
          <p:nvPr/>
        </p:nvSpPr>
        <p:spPr>
          <a:xfrm>
            <a:off x="9272016" y="3794760"/>
            <a:ext cx="2240280" cy="1920240"/>
          </a:xfrm>
          <a:prstGeom prst="rect">
            <a:avLst/>
          </a:prstGeom>
          <a:noFill/>
          <a:ln/>
        </p:spPr>
        <p:txBody>
          <a:bodyPr wrap="square" lIns="0" tIns="0" rIns="0" bIns="0" rtlCol="0" anchor="t"/>
          <a:lstStyle/>
          <a:p>
            <a:pPr marL="0" indent="0">
              <a:buNone/>
            </a:pPr>
            <a:r>
              <a:rPr lang="en-US" sz="1300" dirty="0">
                <a:solidFill>
                  <a:srgbClr val="2C2A28"/>
                </a:solidFill>
                <a:latin typeface="Calibri" pitchFamily="34" charset="0"/>
                <a:ea typeface="Calibri" pitchFamily="34" charset="-122"/>
                <a:cs typeface="Calibri" pitchFamily="34" charset="-120"/>
              </a:rPr>
              <a:t>Phones, watches, TVs, fridges, cars — billions of devices connected, mostly wirelessly.</a:t>
            </a:r>
            <a:endParaRPr lang="en-US" sz="1300" dirty="0"/>
          </a:p>
        </p:txBody>
      </p:sp>
      <p:sp>
        <p:nvSpPr>
          <p:cNvPr id="30" name="Text 2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31" name="Text 27"/>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How the Internet Changed Daily Life</a:t>
            </a:r>
            <a:endParaRPr lang="en-US" sz="3200" dirty="0"/>
          </a:p>
        </p:txBody>
      </p:sp>
      <p:pic>
        <p:nvPicPr>
          <p:cNvPr id="8" name="Image 0" descr="preencoded.png"/>
          <p:cNvPicPr>
            <a:picLocks noChangeAspect="1"/>
          </p:cNvPicPr>
          <p:nvPr/>
        </p:nvPicPr>
        <p:blipFill>
          <a:blip r:embed="rId3"/>
          <a:stretch>
            <a:fillRect/>
          </a:stretch>
        </p:blipFill>
        <p:spPr>
          <a:xfrm>
            <a:off x="10789920" y="960120"/>
            <a:ext cx="777240" cy="777240"/>
          </a:xfrm>
          <a:prstGeom prst="rect">
            <a:avLst/>
          </a:prstGeom>
        </p:spPr>
      </p:pic>
      <p:sp>
        <p:nvSpPr>
          <p:cNvPr id="9" name="Shape 6"/>
          <p:cNvSpPr/>
          <p:nvPr/>
        </p:nvSpPr>
        <p:spPr>
          <a:xfrm>
            <a:off x="457200" y="1874520"/>
            <a:ext cx="5486400" cy="4206240"/>
          </a:xfrm>
          <a:prstGeom prst="roundRect">
            <a:avLst>
              <a:gd name="adj" fmla="val 1739"/>
            </a:avLst>
          </a:prstGeom>
          <a:solidFill>
            <a:srgbClr val="EAF0EC"/>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0" name="Text 7"/>
          <p:cNvSpPr/>
          <p:nvPr/>
        </p:nvSpPr>
        <p:spPr>
          <a:xfrm>
            <a:off x="731520" y="2057400"/>
            <a:ext cx="4937760" cy="457200"/>
          </a:xfrm>
          <a:prstGeom prst="rect">
            <a:avLst/>
          </a:prstGeom>
          <a:noFill/>
          <a:ln/>
        </p:spPr>
        <p:txBody>
          <a:bodyPr wrap="square" lIns="0" tIns="0" rIns="0" bIns="0" rtlCol="0" anchor="ctr"/>
          <a:lstStyle/>
          <a:p>
            <a:pPr marL="0" indent="0">
              <a:buNone/>
            </a:pPr>
            <a:r>
              <a:rPr lang="en-US" sz="1900" b="1" dirty="0">
                <a:solidFill>
                  <a:srgbClr val="1B5E47"/>
                </a:solidFill>
                <a:latin typeface="Bookman Old Style" pitchFamily="34" charset="0"/>
                <a:ea typeface="Bookman Old Style" pitchFamily="34" charset="-122"/>
                <a:cs typeface="Bookman Old Style" pitchFamily="34" charset="-120"/>
              </a:rPr>
              <a:t>The good</a:t>
            </a:r>
            <a:endParaRPr lang="en-US" sz="1900" dirty="0"/>
          </a:p>
        </p:txBody>
      </p:sp>
      <p:sp>
        <p:nvSpPr>
          <p:cNvPr id="11" name="Text 8"/>
          <p:cNvSpPr/>
          <p:nvPr/>
        </p:nvSpPr>
        <p:spPr>
          <a:xfrm>
            <a:off x="731520" y="2606040"/>
            <a:ext cx="4937760" cy="1005840"/>
          </a:xfrm>
          <a:prstGeom prst="rect">
            <a:avLst/>
          </a:prstGeom>
          <a:noFill/>
          <a:ln/>
        </p:spPr>
        <p:txBody>
          <a:bodyPr wrap="square" lIns="0" tIns="0" rIns="0" bIns="0" rtlCol="0" anchor="t"/>
          <a:lstStyle/>
          <a:p>
            <a:pPr marL="0" indent="0">
              <a:buNone/>
            </a:pPr>
            <a:r>
              <a:rPr lang="en-US" sz="1400" b="1" dirty="0">
                <a:solidFill>
                  <a:srgbClr val="12100E"/>
                </a:solidFill>
                <a:latin typeface="Calibri" pitchFamily="34" charset="0"/>
                <a:ea typeface="Calibri" pitchFamily="34" charset="-122"/>
                <a:cs typeface="Calibri" pitchFamily="34" charset="-120"/>
              </a:rPr>
              <a:t>Connect — </a:t>
            </a:r>
            <a:r>
              <a:rPr lang="en-US" sz="1400" dirty="0">
                <a:solidFill>
                  <a:srgbClr val="2C2A28"/>
                </a:solidFill>
                <a:latin typeface="Calibri" pitchFamily="34" charset="0"/>
                <a:ea typeface="Calibri" pitchFamily="34" charset="-122"/>
                <a:cs typeface="Calibri" pitchFamily="34" charset="-120"/>
              </a:rPr>
              <a:t>Message family overseas instantly; group chats with friends.</a:t>
            </a:r>
            <a:endParaRPr lang="en-US" sz="1400" dirty="0"/>
          </a:p>
        </p:txBody>
      </p:sp>
      <p:sp>
        <p:nvSpPr>
          <p:cNvPr id="12" name="Text 9"/>
          <p:cNvSpPr/>
          <p:nvPr/>
        </p:nvSpPr>
        <p:spPr>
          <a:xfrm>
            <a:off x="731520" y="3685032"/>
            <a:ext cx="4937760" cy="1005840"/>
          </a:xfrm>
          <a:prstGeom prst="rect">
            <a:avLst/>
          </a:prstGeom>
          <a:noFill/>
          <a:ln/>
        </p:spPr>
        <p:txBody>
          <a:bodyPr wrap="square" lIns="0" tIns="0" rIns="0" bIns="0" rtlCol="0" anchor="t"/>
          <a:lstStyle/>
          <a:p>
            <a:pPr marL="0" indent="0">
              <a:buNone/>
            </a:pPr>
            <a:r>
              <a:rPr lang="en-US" sz="1400" b="1" dirty="0">
                <a:solidFill>
                  <a:srgbClr val="12100E"/>
                </a:solidFill>
                <a:latin typeface="Calibri" pitchFamily="34" charset="0"/>
                <a:ea typeface="Calibri" pitchFamily="34" charset="-122"/>
                <a:cs typeface="Calibri" pitchFamily="34" charset="-120"/>
              </a:rPr>
              <a:t>Learn — </a:t>
            </a:r>
            <a:r>
              <a:rPr lang="en-US" sz="1400" dirty="0">
                <a:solidFill>
                  <a:srgbClr val="2C2A28"/>
                </a:solidFill>
                <a:latin typeface="Calibri" pitchFamily="34" charset="0"/>
                <a:ea typeface="Calibri" pitchFamily="34" charset="-122"/>
                <a:cs typeface="Calibri" pitchFamily="34" charset="-120"/>
              </a:rPr>
              <a:t>Look up anything; watch tutorials; online classes.</a:t>
            </a:r>
            <a:endParaRPr lang="en-US" sz="1400" dirty="0"/>
          </a:p>
        </p:txBody>
      </p:sp>
      <p:sp>
        <p:nvSpPr>
          <p:cNvPr id="13" name="Text 10"/>
          <p:cNvSpPr/>
          <p:nvPr/>
        </p:nvSpPr>
        <p:spPr>
          <a:xfrm>
            <a:off x="731520" y="4764024"/>
            <a:ext cx="4937760" cy="1005840"/>
          </a:xfrm>
          <a:prstGeom prst="rect">
            <a:avLst/>
          </a:prstGeom>
          <a:noFill/>
          <a:ln/>
        </p:spPr>
        <p:txBody>
          <a:bodyPr wrap="square" lIns="0" tIns="0" rIns="0" bIns="0" rtlCol="0" anchor="t"/>
          <a:lstStyle/>
          <a:p>
            <a:pPr marL="0" indent="0">
              <a:buNone/>
            </a:pPr>
            <a:r>
              <a:rPr lang="en-US" sz="1400" b="1" dirty="0">
                <a:solidFill>
                  <a:srgbClr val="12100E"/>
                </a:solidFill>
                <a:latin typeface="Calibri" pitchFamily="34" charset="0"/>
                <a:ea typeface="Calibri" pitchFamily="34" charset="-122"/>
                <a:cs typeface="Calibri" pitchFamily="34" charset="-120"/>
              </a:rPr>
              <a:t>Create &amp; share — </a:t>
            </a:r>
            <a:r>
              <a:rPr lang="en-US" sz="1400" dirty="0">
                <a:solidFill>
                  <a:srgbClr val="2C2A28"/>
                </a:solidFill>
                <a:latin typeface="Calibri" pitchFamily="34" charset="0"/>
                <a:ea typeface="Calibri" pitchFamily="34" charset="-122"/>
                <a:cs typeface="Calibri" pitchFamily="34" charset="-120"/>
              </a:rPr>
              <a:t>Post videos, art and music to a global audience.</a:t>
            </a:r>
            <a:endParaRPr lang="en-US" sz="1400" dirty="0"/>
          </a:p>
        </p:txBody>
      </p:sp>
      <p:sp>
        <p:nvSpPr>
          <p:cNvPr id="14" name="Shape 11"/>
          <p:cNvSpPr/>
          <p:nvPr/>
        </p:nvSpPr>
        <p:spPr>
          <a:xfrm>
            <a:off x="6217920" y="1874520"/>
            <a:ext cx="5486400" cy="4206240"/>
          </a:xfrm>
          <a:prstGeom prst="roundRect">
            <a:avLst>
              <a:gd name="adj" fmla="val 1739"/>
            </a:avLst>
          </a:prstGeom>
          <a:solidFill>
            <a:srgbClr val="F6ECEC"/>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5" name="Text 12"/>
          <p:cNvSpPr/>
          <p:nvPr/>
        </p:nvSpPr>
        <p:spPr>
          <a:xfrm>
            <a:off x="6492240" y="2057400"/>
            <a:ext cx="4937760" cy="457200"/>
          </a:xfrm>
          <a:prstGeom prst="rect">
            <a:avLst/>
          </a:prstGeom>
          <a:noFill/>
          <a:ln/>
        </p:spPr>
        <p:txBody>
          <a:bodyPr wrap="square" lIns="0" tIns="0" rIns="0" bIns="0" rtlCol="0" anchor="ctr"/>
          <a:lstStyle/>
          <a:p>
            <a:pPr marL="0" indent="0">
              <a:buNone/>
            </a:pPr>
            <a:r>
              <a:rPr lang="en-US" sz="1900" b="1" dirty="0">
                <a:solidFill>
                  <a:srgbClr val="8C1F28"/>
                </a:solidFill>
                <a:latin typeface="Bookman Old Style" pitchFamily="34" charset="0"/>
                <a:ea typeface="Bookman Old Style" pitchFamily="34" charset="-122"/>
                <a:cs typeface="Bookman Old Style" pitchFamily="34" charset="-120"/>
              </a:rPr>
              <a:t>The trade-offs</a:t>
            </a:r>
            <a:endParaRPr lang="en-US" sz="1900" dirty="0"/>
          </a:p>
        </p:txBody>
      </p:sp>
      <p:sp>
        <p:nvSpPr>
          <p:cNvPr id="16" name="Text 13"/>
          <p:cNvSpPr/>
          <p:nvPr/>
        </p:nvSpPr>
        <p:spPr>
          <a:xfrm>
            <a:off x="6492240" y="2606040"/>
            <a:ext cx="4937760" cy="1005840"/>
          </a:xfrm>
          <a:prstGeom prst="rect">
            <a:avLst/>
          </a:prstGeom>
          <a:noFill/>
          <a:ln/>
        </p:spPr>
        <p:txBody>
          <a:bodyPr wrap="square" lIns="0" tIns="0" rIns="0" bIns="0" rtlCol="0" anchor="t"/>
          <a:lstStyle/>
          <a:p>
            <a:pPr marL="0" indent="0">
              <a:buNone/>
            </a:pPr>
            <a:r>
              <a:rPr lang="en-US" sz="1400" b="1" dirty="0">
                <a:solidFill>
                  <a:srgbClr val="12100E"/>
                </a:solidFill>
                <a:latin typeface="Calibri" pitchFamily="34" charset="0"/>
                <a:ea typeface="Calibri" pitchFamily="34" charset="-122"/>
                <a:cs typeface="Calibri" pitchFamily="34" charset="-120"/>
              </a:rPr>
              <a:t>Too much screen time — </a:t>
            </a:r>
            <a:r>
              <a:rPr lang="en-US" sz="1400" dirty="0">
                <a:solidFill>
                  <a:srgbClr val="2C2A28"/>
                </a:solidFill>
                <a:latin typeface="Calibri" pitchFamily="34" charset="0"/>
                <a:ea typeface="Calibri" pitchFamily="34" charset="-122"/>
                <a:cs typeface="Calibri" pitchFamily="34" charset="-120"/>
              </a:rPr>
              <a:t>Easy to lose hours; affects sleep and focus.</a:t>
            </a:r>
            <a:endParaRPr lang="en-US" sz="1400" dirty="0"/>
          </a:p>
        </p:txBody>
      </p:sp>
      <p:sp>
        <p:nvSpPr>
          <p:cNvPr id="17" name="Text 14"/>
          <p:cNvSpPr/>
          <p:nvPr/>
        </p:nvSpPr>
        <p:spPr>
          <a:xfrm>
            <a:off x="6492240" y="3685032"/>
            <a:ext cx="4937760" cy="1005840"/>
          </a:xfrm>
          <a:prstGeom prst="rect">
            <a:avLst/>
          </a:prstGeom>
          <a:noFill/>
          <a:ln/>
        </p:spPr>
        <p:txBody>
          <a:bodyPr wrap="square" lIns="0" tIns="0" rIns="0" bIns="0" rtlCol="0" anchor="t"/>
          <a:lstStyle/>
          <a:p>
            <a:pPr marL="0" indent="0">
              <a:buNone/>
            </a:pPr>
            <a:r>
              <a:rPr lang="en-US" sz="1400" b="1" dirty="0">
                <a:solidFill>
                  <a:srgbClr val="12100E"/>
                </a:solidFill>
                <a:latin typeface="Calibri" pitchFamily="34" charset="0"/>
                <a:ea typeface="Calibri" pitchFamily="34" charset="-122"/>
                <a:cs typeface="Calibri" pitchFamily="34" charset="-120"/>
              </a:rPr>
              <a:t>Not always true — </a:t>
            </a:r>
            <a:r>
              <a:rPr lang="en-US" sz="1400" dirty="0">
                <a:solidFill>
                  <a:srgbClr val="2C2A28"/>
                </a:solidFill>
                <a:latin typeface="Calibri" pitchFamily="34" charset="0"/>
                <a:ea typeface="Calibri" pitchFamily="34" charset="-122"/>
                <a:cs typeface="Calibri" pitchFamily="34" charset="-120"/>
              </a:rPr>
              <a:t>Anyone can post anything — misinformation spreads.</a:t>
            </a:r>
            <a:endParaRPr lang="en-US" sz="1400" dirty="0"/>
          </a:p>
        </p:txBody>
      </p:sp>
      <p:sp>
        <p:nvSpPr>
          <p:cNvPr id="18" name="Text 15"/>
          <p:cNvSpPr/>
          <p:nvPr/>
        </p:nvSpPr>
        <p:spPr>
          <a:xfrm>
            <a:off x="6492240" y="4764024"/>
            <a:ext cx="4937760" cy="1005840"/>
          </a:xfrm>
          <a:prstGeom prst="rect">
            <a:avLst/>
          </a:prstGeom>
          <a:noFill/>
          <a:ln/>
        </p:spPr>
        <p:txBody>
          <a:bodyPr wrap="square" lIns="0" tIns="0" rIns="0" bIns="0" rtlCol="0" anchor="t"/>
          <a:lstStyle/>
          <a:p>
            <a:pPr marL="0" indent="0">
              <a:buNone/>
            </a:pPr>
            <a:r>
              <a:rPr lang="en-US" sz="1400" b="1" dirty="0">
                <a:solidFill>
                  <a:srgbClr val="12100E"/>
                </a:solidFill>
                <a:latin typeface="Calibri" pitchFamily="34" charset="0"/>
                <a:ea typeface="Calibri" pitchFamily="34" charset="-122"/>
                <a:cs typeface="Calibri" pitchFamily="34" charset="-120"/>
              </a:rPr>
              <a:t>Always reachable — </a:t>
            </a:r>
            <a:r>
              <a:rPr lang="en-US" sz="1400" dirty="0">
                <a:solidFill>
                  <a:srgbClr val="2C2A28"/>
                </a:solidFill>
                <a:latin typeface="Calibri" pitchFamily="34" charset="0"/>
                <a:ea typeface="Calibri" pitchFamily="34" charset="-122"/>
                <a:cs typeface="Calibri" pitchFamily="34" charset="-120"/>
              </a:rPr>
              <a:t>Hard to switch off; pressure to reply instantly.</a:t>
            </a:r>
            <a:endParaRPr lang="en-US" sz="1400" dirty="0"/>
          </a:p>
        </p:txBody>
      </p:sp>
      <p:sp>
        <p:nvSpPr>
          <p:cNvPr id="20" name="Text 1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1" name="Text 17"/>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The Parts of a Network</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txBody>
          <a:bodyPr/>
          <a:lstStyle/>
          <a:p>
            <a:endParaRPr lang="en-AU"/>
          </a:p>
        </p:txBody>
      </p:sp>
      <p:sp>
        <p:nvSpPr>
          <p:cNvPr id="9" name="Text 7"/>
          <p:cNvSpPr/>
          <p:nvPr/>
        </p:nvSpPr>
        <p:spPr>
          <a:xfrm>
            <a:off x="9601200" y="1078992"/>
            <a:ext cx="210312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920240"/>
            <a:ext cx="3657600" cy="1965960"/>
          </a:xfrm>
          <a:prstGeom prst="roundRect">
            <a:avLst>
              <a:gd name="adj" fmla="val 37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1" name="Shape 9"/>
          <p:cNvSpPr/>
          <p:nvPr/>
        </p:nvSpPr>
        <p:spPr>
          <a:xfrm>
            <a:off x="685800" y="2176272"/>
            <a:ext cx="777240" cy="777240"/>
          </a:xfrm>
          <a:prstGeom prst="ellipse">
            <a:avLst/>
          </a:prstGeom>
          <a:solidFill>
            <a:srgbClr val="1B5E47"/>
          </a:solidFill>
          <a:ln/>
        </p:spPr>
        <p:txBody>
          <a:bodyPr/>
          <a:lstStyle/>
          <a:p>
            <a:endParaRPr lang="en-AU"/>
          </a:p>
        </p:txBody>
      </p:sp>
      <p:pic>
        <p:nvPicPr>
          <p:cNvPr id="12" name="Image 0" descr="preencoded.png"/>
          <p:cNvPicPr>
            <a:picLocks noChangeAspect="1"/>
          </p:cNvPicPr>
          <p:nvPr/>
        </p:nvPicPr>
        <p:blipFill>
          <a:blip r:embed="rId3"/>
          <a:stretch>
            <a:fillRect/>
          </a:stretch>
        </p:blipFill>
        <p:spPr>
          <a:xfrm>
            <a:off x="841248" y="2331720"/>
            <a:ext cx="457200" cy="457200"/>
          </a:xfrm>
          <a:prstGeom prst="rect">
            <a:avLst/>
          </a:prstGeom>
        </p:spPr>
      </p:pic>
      <p:sp>
        <p:nvSpPr>
          <p:cNvPr id="13" name="Text 10"/>
          <p:cNvSpPr/>
          <p:nvPr/>
        </p:nvSpPr>
        <p:spPr>
          <a:xfrm>
            <a:off x="1600200" y="2176272"/>
            <a:ext cx="2331720" cy="777240"/>
          </a:xfrm>
          <a:prstGeom prst="rect">
            <a:avLst/>
          </a:prstGeom>
          <a:noFill/>
          <a:ln/>
        </p:spPr>
        <p:txBody>
          <a:bodyPr wrap="square" lIns="0" tIns="0" rIns="0" bIns="0" rtlCol="0" anchor="ctr"/>
          <a:lstStyle/>
          <a:p>
            <a:pPr marL="0" indent="0">
              <a:buNone/>
            </a:pPr>
            <a:r>
              <a:rPr lang="en-US" sz="1700" b="1" dirty="0">
                <a:solidFill>
                  <a:srgbClr val="1B5E47"/>
                </a:solidFill>
                <a:latin typeface="Bookman Old Style" pitchFamily="34" charset="0"/>
                <a:ea typeface="Bookman Old Style" pitchFamily="34" charset="-122"/>
                <a:cs typeface="Bookman Old Style" pitchFamily="34" charset="-120"/>
              </a:rPr>
              <a:t>Device (Client)</a:t>
            </a:r>
            <a:endParaRPr lang="en-US" sz="1700" dirty="0"/>
          </a:p>
        </p:txBody>
      </p:sp>
      <p:sp>
        <p:nvSpPr>
          <p:cNvPr id="14" name="Text 11"/>
          <p:cNvSpPr/>
          <p:nvPr/>
        </p:nvSpPr>
        <p:spPr>
          <a:xfrm>
            <a:off x="731520" y="3017520"/>
            <a:ext cx="3154680" cy="777240"/>
          </a:xfrm>
          <a:prstGeom prst="rect">
            <a:avLst/>
          </a:prstGeom>
          <a:noFill/>
          <a:ln/>
        </p:spPr>
        <p:txBody>
          <a:bodyPr wrap="square" lIns="0" tIns="0" rIns="0" bIns="0" rtlCol="0" anchor="t"/>
          <a:lstStyle/>
          <a:p>
            <a:pPr marL="0" indent="0">
              <a:buNone/>
            </a:pPr>
            <a:r>
              <a:rPr lang="en-US" sz="1600" dirty="0">
                <a:solidFill>
                  <a:srgbClr val="2C2A28"/>
                </a:solidFill>
                <a:latin typeface="Calibri" pitchFamily="34" charset="0"/>
                <a:ea typeface="Calibri" pitchFamily="34" charset="-122"/>
                <a:cs typeface="Calibri" pitchFamily="34" charset="-120"/>
              </a:rPr>
              <a:t>Anything a person uses — laptop, phone, tablet, smart TV. It asks for data.</a:t>
            </a:r>
            <a:endParaRPr lang="en-US" sz="1600" dirty="0"/>
          </a:p>
        </p:txBody>
      </p:sp>
      <p:sp>
        <p:nvSpPr>
          <p:cNvPr id="15" name="Shape 12"/>
          <p:cNvSpPr/>
          <p:nvPr/>
        </p:nvSpPr>
        <p:spPr>
          <a:xfrm>
            <a:off x="4251960" y="1920240"/>
            <a:ext cx="3657600" cy="1965960"/>
          </a:xfrm>
          <a:prstGeom prst="roundRect">
            <a:avLst>
              <a:gd name="adj" fmla="val 37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6" name="Shape 13"/>
          <p:cNvSpPr/>
          <p:nvPr/>
        </p:nvSpPr>
        <p:spPr>
          <a:xfrm>
            <a:off x="4480560" y="2176272"/>
            <a:ext cx="777240" cy="777240"/>
          </a:xfrm>
          <a:prstGeom prst="ellipse">
            <a:avLst/>
          </a:prstGeom>
          <a:solidFill>
            <a:srgbClr val="2B3A8C"/>
          </a:solidFill>
          <a:ln/>
        </p:spPr>
        <p:txBody>
          <a:bodyPr/>
          <a:lstStyle/>
          <a:p>
            <a:endParaRPr lang="en-AU"/>
          </a:p>
        </p:txBody>
      </p:sp>
      <p:pic>
        <p:nvPicPr>
          <p:cNvPr id="17" name="Image 1" descr="preencoded.png"/>
          <p:cNvPicPr>
            <a:picLocks noChangeAspect="1"/>
          </p:cNvPicPr>
          <p:nvPr/>
        </p:nvPicPr>
        <p:blipFill>
          <a:blip r:embed="rId4"/>
          <a:stretch>
            <a:fillRect/>
          </a:stretch>
        </p:blipFill>
        <p:spPr>
          <a:xfrm>
            <a:off x="4636008" y="2331720"/>
            <a:ext cx="457200" cy="457200"/>
          </a:xfrm>
          <a:prstGeom prst="rect">
            <a:avLst/>
          </a:prstGeom>
        </p:spPr>
      </p:pic>
      <p:sp>
        <p:nvSpPr>
          <p:cNvPr id="18" name="Text 14"/>
          <p:cNvSpPr/>
          <p:nvPr/>
        </p:nvSpPr>
        <p:spPr>
          <a:xfrm>
            <a:off x="5394960" y="2176272"/>
            <a:ext cx="2331720" cy="777240"/>
          </a:xfrm>
          <a:prstGeom prst="rect">
            <a:avLst/>
          </a:prstGeom>
          <a:noFill/>
          <a:ln/>
        </p:spPr>
        <p:txBody>
          <a:bodyPr wrap="square" lIns="0" tIns="0" rIns="0" bIns="0" rtlCol="0" anchor="ctr"/>
          <a:lstStyle/>
          <a:p>
            <a:pPr marL="0" indent="0">
              <a:buNone/>
            </a:pPr>
            <a:r>
              <a:rPr lang="en-US" sz="1700" b="1" dirty="0">
                <a:solidFill>
                  <a:srgbClr val="2B3A8C"/>
                </a:solidFill>
                <a:latin typeface="Bookman Old Style" pitchFamily="34" charset="0"/>
                <a:ea typeface="Bookman Old Style" pitchFamily="34" charset="-122"/>
                <a:cs typeface="Bookman Old Style" pitchFamily="34" charset="-120"/>
              </a:rPr>
              <a:t>Server</a:t>
            </a:r>
            <a:endParaRPr lang="en-US" sz="1700" dirty="0"/>
          </a:p>
        </p:txBody>
      </p:sp>
      <p:sp>
        <p:nvSpPr>
          <p:cNvPr id="19" name="Text 15"/>
          <p:cNvSpPr/>
          <p:nvPr/>
        </p:nvSpPr>
        <p:spPr>
          <a:xfrm>
            <a:off x="4526280" y="3017520"/>
            <a:ext cx="3154680" cy="777240"/>
          </a:xfrm>
          <a:prstGeom prst="rect">
            <a:avLst/>
          </a:prstGeom>
          <a:noFill/>
          <a:ln/>
        </p:spPr>
        <p:txBody>
          <a:bodyPr wrap="square" lIns="0" tIns="0" rIns="0" bIns="0" rtlCol="0" anchor="t"/>
          <a:lstStyle/>
          <a:p>
            <a:pPr marL="0" indent="0">
              <a:buNone/>
            </a:pPr>
            <a:r>
              <a:rPr lang="en-US" sz="1600" dirty="0">
                <a:solidFill>
                  <a:srgbClr val="2C2A28"/>
                </a:solidFill>
                <a:latin typeface="Calibri" pitchFamily="34" charset="0"/>
                <a:ea typeface="Calibri" pitchFamily="34" charset="-122"/>
                <a:cs typeface="Calibri" pitchFamily="34" charset="-120"/>
              </a:rPr>
              <a:t>A powerful computer that stores data and sends it out when devices ask. Websites live on servers.</a:t>
            </a:r>
            <a:endParaRPr lang="en-US" sz="1600" dirty="0"/>
          </a:p>
        </p:txBody>
      </p:sp>
      <p:sp>
        <p:nvSpPr>
          <p:cNvPr id="20" name="Shape 16"/>
          <p:cNvSpPr/>
          <p:nvPr/>
        </p:nvSpPr>
        <p:spPr>
          <a:xfrm>
            <a:off x="8046720" y="1920240"/>
            <a:ext cx="3657600" cy="1965960"/>
          </a:xfrm>
          <a:prstGeom prst="roundRect">
            <a:avLst>
              <a:gd name="adj" fmla="val 37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1" name="Shape 17"/>
          <p:cNvSpPr/>
          <p:nvPr/>
        </p:nvSpPr>
        <p:spPr>
          <a:xfrm>
            <a:off x="8275320" y="2176272"/>
            <a:ext cx="777240" cy="777240"/>
          </a:xfrm>
          <a:prstGeom prst="ellipse">
            <a:avLst/>
          </a:prstGeom>
          <a:solidFill>
            <a:srgbClr val="B8620A"/>
          </a:solidFill>
          <a:ln/>
        </p:spPr>
        <p:txBody>
          <a:bodyPr/>
          <a:lstStyle/>
          <a:p>
            <a:endParaRPr lang="en-AU"/>
          </a:p>
        </p:txBody>
      </p:sp>
      <p:pic>
        <p:nvPicPr>
          <p:cNvPr id="22" name="Image 2" descr="preencoded.png"/>
          <p:cNvPicPr>
            <a:picLocks noChangeAspect="1"/>
          </p:cNvPicPr>
          <p:nvPr/>
        </p:nvPicPr>
        <p:blipFill>
          <a:blip r:embed="rId5"/>
          <a:stretch>
            <a:fillRect/>
          </a:stretch>
        </p:blipFill>
        <p:spPr>
          <a:xfrm>
            <a:off x="8430768" y="2331720"/>
            <a:ext cx="457200" cy="457200"/>
          </a:xfrm>
          <a:prstGeom prst="rect">
            <a:avLst/>
          </a:prstGeom>
        </p:spPr>
      </p:pic>
      <p:sp>
        <p:nvSpPr>
          <p:cNvPr id="23" name="Text 18"/>
          <p:cNvSpPr/>
          <p:nvPr/>
        </p:nvSpPr>
        <p:spPr>
          <a:xfrm>
            <a:off x="9189720" y="2176272"/>
            <a:ext cx="2331720" cy="777240"/>
          </a:xfrm>
          <a:prstGeom prst="rect">
            <a:avLst/>
          </a:prstGeom>
          <a:noFill/>
          <a:ln/>
        </p:spPr>
        <p:txBody>
          <a:bodyPr wrap="square" lIns="0" tIns="0" rIns="0" bIns="0" rtlCol="0" anchor="ctr"/>
          <a:lstStyle/>
          <a:p>
            <a:pPr marL="0" indent="0">
              <a:buNone/>
            </a:pPr>
            <a:r>
              <a:rPr lang="en-US" sz="1700" b="1" dirty="0">
                <a:solidFill>
                  <a:srgbClr val="B8620A"/>
                </a:solidFill>
                <a:latin typeface="Bookman Old Style" pitchFamily="34" charset="0"/>
                <a:ea typeface="Bookman Old Style" pitchFamily="34" charset="-122"/>
                <a:cs typeface="Bookman Old Style" pitchFamily="34" charset="-120"/>
              </a:rPr>
              <a:t>Router</a:t>
            </a:r>
            <a:endParaRPr lang="en-US" sz="1700" dirty="0"/>
          </a:p>
        </p:txBody>
      </p:sp>
      <p:sp>
        <p:nvSpPr>
          <p:cNvPr id="24" name="Text 19"/>
          <p:cNvSpPr/>
          <p:nvPr/>
        </p:nvSpPr>
        <p:spPr>
          <a:xfrm>
            <a:off x="8321040" y="3017520"/>
            <a:ext cx="3154680" cy="777240"/>
          </a:xfrm>
          <a:prstGeom prst="rect">
            <a:avLst/>
          </a:prstGeom>
          <a:noFill/>
          <a:ln/>
        </p:spPr>
        <p:txBody>
          <a:bodyPr wrap="square" lIns="0" tIns="0" rIns="0" bIns="0" rtlCol="0" anchor="t"/>
          <a:lstStyle/>
          <a:p>
            <a:pPr marL="0" indent="0">
              <a:buNone/>
            </a:pPr>
            <a:r>
              <a:rPr lang="en-US" sz="1600" dirty="0">
                <a:solidFill>
                  <a:srgbClr val="2C2A28"/>
                </a:solidFill>
                <a:latin typeface="Calibri" pitchFamily="34" charset="0"/>
                <a:ea typeface="Calibri" pitchFamily="34" charset="-122"/>
                <a:cs typeface="Calibri" pitchFamily="34" charset="-120"/>
              </a:rPr>
              <a:t>Directs data between networks and sends it to the right device. The 'traffic controller'.</a:t>
            </a:r>
            <a:endParaRPr lang="en-US" sz="1600" dirty="0"/>
          </a:p>
        </p:txBody>
      </p:sp>
      <p:sp>
        <p:nvSpPr>
          <p:cNvPr id="25" name="Shape 20"/>
          <p:cNvSpPr/>
          <p:nvPr/>
        </p:nvSpPr>
        <p:spPr>
          <a:xfrm>
            <a:off x="457200" y="4023360"/>
            <a:ext cx="3657600" cy="1965960"/>
          </a:xfrm>
          <a:prstGeom prst="roundRect">
            <a:avLst>
              <a:gd name="adj" fmla="val 37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6" name="Shape 21"/>
          <p:cNvSpPr/>
          <p:nvPr/>
        </p:nvSpPr>
        <p:spPr>
          <a:xfrm>
            <a:off x="685800" y="4279392"/>
            <a:ext cx="777240" cy="777240"/>
          </a:xfrm>
          <a:prstGeom prst="ellipse">
            <a:avLst/>
          </a:prstGeom>
          <a:solidFill>
            <a:srgbClr val="2B3A8C"/>
          </a:solidFill>
          <a:ln/>
        </p:spPr>
        <p:txBody>
          <a:bodyPr/>
          <a:lstStyle/>
          <a:p>
            <a:endParaRPr lang="en-AU"/>
          </a:p>
        </p:txBody>
      </p:sp>
      <p:pic>
        <p:nvPicPr>
          <p:cNvPr id="27" name="Image 3" descr="preencoded.png"/>
          <p:cNvPicPr>
            <a:picLocks noChangeAspect="1"/>
          </p:cNvPicPr>
          <p:nvPr/>
        </p:nvPicPr>
        <p:blipFill>
          <a:blip r:embed="rId6"/>
          <a:stretch>
            <a:fillRect/>
          </a:stretch>
        </p:blipFill>
        <p:spPr>
          <a:xfrm>
            <a:off x="841248" y="4434840"/>
            <a:ext cx="457200" cy="457200"/>
          </a:xfrm>
          <a:prstGeom prst="rect">
            <a:avLst/>
          </a:prstGeom>
        </p:spPr>
      </p:pic>
      <p:sp>
        <p:nvSpPr>
          <p:cNvPr id="28" name="Text 22"/>
          <p:cNvSpPr/>
          <p:nvPr/>
        </p:nvSpPr>
        <p:spPr>
          <a:xfrm>
            <a:off x="1600200" y="4279392"/>
            <a:ext cx="2331720" cy="777240"/>
          </a:xfrm>
          <a:prstGeom prst="rect">
            <a:avLst/>
          </a:prstGeom>
          <a:noFill/>
          <a:ln/>
        </p:spPr>
        <p:txBody>
          <a:bodyPr wrap="square" lIns="0" tIns="0" rIns="0" bIns="0" rtlCol="0" anchor="ctr"/>
          <a:lstStyle/>
          <a:p>
            <a:pPr marL="0" indent="0">
              <a:buNone/>
            </a:pPr>
            <a:r>
              <a:rPr lang="en-US" sz="1700" b="1" dirty="0">
                <a:solidFill>
                  <a:srgbClr val="2B3A8C"/>
                </a:solidFill>
                <a:latin typeface="Bookman Old Style" pitchFamily="34" charset="0"/>
                <a:ea typeface="Bookman Old Style" pitchFamily="34" charset="-122"/>
                <a:cs typeface="Bookman Old Style" pitchFamily="34" charset="-120"/>
              </a:rPr>
              <a:t>Modem</a:t>
            </a:r>
            <a:endParaRPr lang="en-US" sz="1700" dirty="0"/>
          </a:p>
        </p:txBody>
      </p:sp>
      <p:sp>
        <p:nvSpPr>
          <p:cNvPr id="29" name="Text 23"/>
          <p:cNvSpPr/>
          <p:nvPr/>
        </p:nvSpPr>
        <p:spPr>
          <a:xfrm>
            <a:off x="731520" y="5120640"/>
            <a:ext cx="3154680" cy="777240"/>
          </a:xfrm>
          <a:prstGeom prst="rect">
            <a:avLst/>
          </a:prstGeom>
          <a:noFill/>
          <a:ln/>
        </p:spPr>
        <p:txBody>
          <a:bodyPr wrap="square" lIns="0" tIns="0" rIns="0" bIns="0" rtlCol="0" anchor="t"/>
          <a:lstStyle/>
          <a:p>
            <a:pPr marL="0" indent="0">
              <a:buNone/>
            </a:pPr>
            <a:r>
              <a:rPr lang="en-US" sz="1600" dirty="0">
                <a:solidFill>
                  <a:srgbClr val="2C2A28"/>
                </a:solidFill>
                <a:latin typeface="Calibri" pitchFamily="34" charset="0"/>
                <a:ea typeface="Calibri" pitchFamily="34" charset="-122"/>
                <a:cs typeface="Calibri" pitchFamily="34" charset="-120"/>
              </a:rPr>
              <a:t>Connects your home network to the internet through your ISP (internet company).</a:t>
            </a:r>
            <a:endParaRPr lang="en-US" sz="1600" dirty="0"/>
          </a:p>
        </p:txBody>
      </p:sp>
      <p:sp>
        <p:nvSpPr>
          <p:cNvPr id="30" name="Shape 24"/>
          <p:cNvSpPr/>
          <p:nvPr/>
        </p:nvSpPr>
        <p:spPr>
          <a:xfrm>
            <a:off x="4251960" y="4023360"/>
            <a:ext cx="3657600" cy="1965960"/>
          </a:xfrm>
          <a:prstGeom prst="roundRect">
            <a:avLst>
              <a:gd name="adj" fmla="val 37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31" name="Shape 25"/>
          <p:cNvSpPr/>
          <p:nvPr/>
        </p:nvSpPr>
        <p:spPr>
          <a:xfrm>
            <a:off x="4480560" y="4279392"/>
            <a:ext cx="777240" cy="777240"/>
          </a:xfrm>
          <a:prstGeom prst="ellipse">
            <a:avLst/>
          </a:prstGeom>
          <a:solidFill>
            <a:srgbClr val="1B5E47"/>
          </a:solidFill>
          <a:ln/>
        </p:spPr>
        <p:txBody>
          <a:bodyPr/>
          <a:lstStyle/>
          <a:p>
            <a:endParaRPr lang="en-AU"/>
          </a:p>
        </p:txBody>
      </p:sp>
      <p:pic>
        <p:nvPicPr>
          <p:cNvPr id="32" name="Image 4" descr="preencoded.png"/>
          <p:cNvPicPr>
            <a:picLocks noChangeAspect="1"/>
          </p:cNvPicPr>
          <p:nvPr/>
        </p:nvPicPr>
        <p:blipFill>
          <a:blip r:embed="rId7"/>
          <a:stretch>
            <a:fillRect/>
          </a:stretch>
        </p:blipFill>
        <p:spPr>
          <a:xfrm>
            <a:off x="4636008" y="4434840"/>
            <a:ext cx="457200" cy="457200"/>
          </a:xfrm>
          <a:prstGeom prst="rect">
            <a:avLst/>
          </a:prstGeom>
        </p:spPr>
      </p:pic>
      <p:sp>
        <p:nvSpPr>
          <p:cNvPr id="33" name="Text 26"/>
          <p:cNvSpPr/>
          <p:nvPr/>
        </p:nvSpPr>
        <p:spPr>
          <a:xfrm>
            <a:off x="5394960" y="4279392"/>
            <a:ext cx="2331720" cy="777240"/>
          </a:xfrm>
          <a:prstGeom prst="rect">
            <a:avLst/>
          </a:prstGeom>
          <a:noFill/>
          <a:ln/>
        </p:spPr>
        <p:txBody>
          <a:bodyPr wrap="square" lIns="0" tIns="0" rIns="0" bIns="0" rtlCol="0" anchor="ctr"/>
          <a:lstStyle/>
          <a:p>
            <a:pPr marL="0" indent="0">
              <a:buNone/>
            </a:pPr>
            <a:r>
              <a:rPr lang="en-US" sz="1700" b="1" dirty="0">
                <a:solidFill>
                  <a:srgbClr val="1B5E47"/>
                </a:solidFill>
                <a:latin typeface="Bookman Old Style" pitchFamily="34" charset="0"/>
                <a:ea typeface="Bookman Old Style" pitchFamily="34" charset="-122"/>
                <a:cs typeface="Bookman Old Style" pitchFamily="34" charset="-120"/>
              </a:rPr>
              <a:t>Switch</a:t>
            </a:r>
            <a:endParaRPr lang="en-US" sz="1700" dirty="0"/>
          </a:p>
        </p:txBody>
      </p:sp>
      <p:sp>
        <p:nvSpPr>
          <p:cNvPr id="34" name="Text 27"/>
          <p:cNvSpPr/>
          <p:nvPr/>
        </p:nvSpPr>
        <p:spPr>
          <a:xfrm>
            <a:off x="4526280" y="5120640"/>
            <a:ext cx="3154680" cy="777240"/>
          </a:xfrm>
          <a:prstGeom prst="rect">
            <a:avLst/>
          </a:prstGeom>
          <a:noFill/>
          <a:ln/>
        </p:spPr>
        <p:txBody>
          <a:bodyPr wrap="square" lIns="0" tIns="0" rIns="0" bIns="0" rtlCol="0" anchor="t"/>
          <a:lstStyle/>
          <a:p>
            <a:pPr marL="0" indent="0">
              <a:buNone/>
            </a:pPr>
            <a:r>
              <a:rPr lang="en-US" sz="1600" dirty="0">
                <a:solidFill>
                  <a:srgbClr val="2C2A28"/>
                </a:solidFill>
                <a:latin typeface="Calibri" pitchFamily="34" charset="0"/>
                <a:ea typeface="Calibri" pitchFamily="34" charset="-122"/>
                <a:cs typeface="Calibri" pitchFamily="34" charset="-120"/>
              </a:rPr>
              <a:t>Connects several devices together inside one local network (e.g. a computer lab).</a:t>
            </a:r>
            <a:endParaRPr lang="en-US" sz="1600" dirty="0"/>
          </a:p>
        </p:txBody>
      </p:sp>
      <p:sp>
        <p:nvSpPr>
          <p:cNvPr id="35" name="Shape 28"/>
          <p:cNvSpPr/>
          <p:nvPr/>
        </p:nvSpPr>
        <p:spPr>
          <a:xfrm>
            <a:off x="8046720" y="4023360"/>
            <a:ext cx="3657600" cy="1965960"/>
          </a:xfrm>
          <a:prstGeom prst="roundRect">
            <a:avLst>
              <a:gd name="adj" fmla="val 37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36" name="Shape 29"/>
          <p:cNvSpPr/>
          <p:nvPr/>
        </p:nvSpPr>
        <p:spPr>
          <a:xfrm>
            <a:off x="8275320" y="4279392"/>
            <a:ext cx="777240" cy="777240"/>
          </a:xfrm>
          <a:prstGeom prst="ellipse">
            <a:avLst/>
          </a:prstGeom>
          <a:solidFill>
            <a:srgbClr val="B8620A"/>
          </a:solidFill>
          <a:ln/>
        </p:spPr>
        <p:txBody>
          <a:bodyPr/>
          <a:lstStyle/>
          <a:p>
            <a:endParaRPr lang="en-AU"/>
          </a:p>
        </p:txBody>
      </p:sp>
      <p:pic>
        <p:nvPicPr>
          <p:cNvPr id="37" name="Image 5" descr="preencoded.png"/>
          <p:cNvPicPr>
            <a:picLocks noChangeAspect="1"/>
          </p:cNvPicPr>
          <p:nvPr/>
        </p:nvPicPr>
        <p:blipFill>
          <a:blip r:embed="rId8"/>
          <a:stretch>
            <a:fillRect/>
          </a:stretch>
        </p:blipFill>
        <p:spPr>
          <a:xfrm>
            <a:off x="8430768" y="4434840"/>
            <a:ext cx="457200" cy="457200"/>
          </a:xfrm>
          <a:prstGeom prst="rect">
            <a:avLst/>
          </a:prstGeom>
        </p:spPr>
      </p:pic>
      <p:sp>
        <p:nvSpPr>
          <p:cNvPr id="38" name="Text 30"/>
          <p:cNvSpPr/>
          <p:nvPr/>
        </p:nvSpPr>
        <p:spPr>
          <a:xfrm>
            <a:off x="9189720" y="4279392"/>
            <a:ext cx="2331720" cy="777240"/>
          </a:xfrm>
          <a:prstGeom prst="rect">
            <a:avLst/>
          </a:prstGeom>
          <a:noFill/>
          <a:ln/>
        </p:spPr>
        <p:txBody>
          <a:bodyPr wrap="square" lIns="0" tIns="0" rIns="0" bIns="0" rtlCol="0" anchor="ctr"/>
          <a:lstStyle/>
          <a:p>
            <a:pPr marL="0" indent="0">
              <a:buNone/>
            </a:pPr>
            <a:r>
              <a:rPr lang="en-US" sz="1700" b="1" dirty="0">
                <a:solidFill>
                  <a:srgbClr val="B8620A"/>
                </a:solidFill>
                <a:latin typeface="Bookman Old Style" pitchFamily="34" charset="0"/>
                <a:ea typeface="Bookman Old Style" pitchFamily="34" charset="-122"/>
                <a:cs typeface="Bookman Old Style" pitchFamily="34" charset="-120"/>
              </a:rPr>
              <a:t>ISP</a:t>
            </a:r>
            <a:endParaRPr lang="en-US" sz="1700" dirty="0"/>
          </a:p>
        </p:txBody>
      </p:sp>
      <p:sp>
        <p:nvSpPr>
          <p:cNvPr id="39" name="Text 31"/>
          <p:cNvSpPr/>
          <p:nvPr/>
        </p:nvSpPr>
        <p:spPr>
          <a:xfrm>
            <a:off x="8321040" y="5120640"/>
            <a:ext cx="3154680" cy="777240"/>
          </a:xfrm>
          <a:prstGeom prst="rect">
            <a:avLst/>
          </a:prstGeom>
          <a:noFill/>
          <a:ln/>
        </p:spPr>
        <p:txBody>
          <a:bodyPr wrap="square" lIns="0" tIns="0" rIns="0" bIns="0" rtlCol="0" anchor="t"/>
          <a:lstStyle/>
          <a:p>
            <a:pPr marL="0" indent="0">
              <a:buNone/>
            </a:pPr>
            <a:r>
              <a:rPr lang="en-US" sz="1600" dirty="0">
                <a:solidFill>
                  <a:srgbClr val="2C2A28"/>
                </a:solidFill>
                <a:latin typeface="Calibri" pitchFamily="34" charset="0"/>
                <a:ea typeface="Calibri" pitchFamily="34" charset="-122"/>
                <a:cs typeface="Calibri" pitchFamily="34" charset="-120"/>
              </a:rPr>
              <a:t>Internet Service Provider — the company you pay for an internet connection (e.g. Telstra).</a:t>
            </a:r>
            <a:endParaRPr lang="en-US" sz="1600" dirty="0"/>
          </a:p>
        </p:txBody>
      </p:sp>
      <p:sp>
        <p:nvSpPr>
          <p:cNvPr id="41" name="Text 3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42" name="Text 33"/>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How a Request Travels</a:t>
            </a:r>
            <a:endParaRPr lang="en-US" sz="3200" dirty="0"/>
          </a:p>
        </p:txBody>
      </p:sp>
      <p:sp>
        <p:nvSpPr>
          <p:cNvPr id="8" name="Shape 6"/>
          <p:cNvSpPr/>
          <p:nvPr/>
        </p:nvSpPr>
        <p:spPr>
          <a:xfrm>
            <a:off x="502920" y="2468880"/>
            <a:ext cx="1965960" cy="1554480"/>
          </a:xfrm>
          <a:prstGeom prst="roundRect">
            <a:avLst>
              <a:gd name="adj" fmla="val 470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9" name="Shape 7"/>
          <p:cNvSpPr/>
          <p:nvPr/>
        </p:nvSpPr>
        <p:spPr>
          <a:xfrm>
            <a:off x="1074420" y="2651760"/>
            <a:ext cx="822960" cy="822960"/>
          </a:xfrm>
          <a:prstGeom prst="ellipse">
            <a:avLst/>
          </a:prstGeom>
          <a:solidFill>
            <a:srgbClr val="1B5E47"/>
          </a:solidFill>
          <a:ln/>
        </p:spPr>
        <p:txBody>
          <a:bodyPr/>
          <a:lstStyle/>
          <a:p>
            <a:endParaRPr lang="en-AU"/>
          </a:p>
        </p:txBody>
      </p:sp>
      <p:pic>
        <p:nvPicPr>
          <p:cNvPr id="10" name="Image 0" descr="preencoded.png"/>
          <p:cNvPicPr>
            <a:picLocks noChangeAspect="1"/>
          </p:cNvPicPr>
          <p:nvPr/>
        </p:nvPicPr>
        <p:blipFill>
          <a:blip r:embed="rId3"/>
          <a:stretch>
            <a:fillRect/>
          </a:stretch>
        </p:blipFill>
        <p:spPr>
          <a:xfrm>
            <a:off x="1239012" y="2816352"/>
            <a:ext cx="493776" cy="493776"/>
          </a:xfrm>
          <a:prstGeom prst="rect">
            <a:avLst/>
          </a:prstGeom>
        </p:spPr>
      </p:pic>
      <p:sp>
        <p:nvSpPr>
          <p:cNvPr id="11" name="Text 8"/>
          <p:cNvSpPr/>
          <p:nvPr/>
        </p:nvSpPr>
        <p:spPr>
          <a:xfrm>
            <a:off x="594360" y="3520440"/>
            <a:ext cx="1783080" cy="457200"/>
          </a:xfrm>
          <a:prstGeom prst="rect">
            <a:avLst/>
          </a:prstGeom>
          <a:noFill/>
          <a:ln/>
        </p:spPr>
        <p:txBody>
          <a:bodyPr wrap="square" lIns="0" tIns="0" rIns="0" bIns="0" rtlCol="0" anchor="ctr"/>
          <a:lstStyle/>
          <a:p>
            <a:pPr marL="0" indent="0" algn="ctr">
              <a:buNone/>
            </a:pPr>
            <a:r>
              <a:rPr lang="en-US" sz="1350" b="1" dirty="0">
                <a:solidFill>
                  <a:srgbClr val="12100E"/>
                </a:solidFill>
                <a:latin typeface="Calibri" pitchFamily="34" charset="0"/>
                <a:ea typeface="Calibri" pitchFamily="34" charset="-122"/>
                <a:cs typeface="Calibri" pitchFamily="34" charset="-120"/>
              </a:rPr>
              <a:t>Your device</a:t>
            </a:r>
            <a:endParaRPr lang="en-US" sz="1350" dirty="0"/>
          </a:p>
        </p:txBody>
      </p:sp>
      <p:pic>
        <p:nvPicPr>
          <p:cNvPr id="12" name="Image 1" descr="preencoded.png"/>
          <p:cNvPicPr>
            <a:picLocks noChangeAspect="1"/>
          </p:cNvPicPr>
          <p:nvPr/>
        </p:nvPicPr>
        <p:blipFill>
          <a:blip r:embed="rId4"/>
          <a:stretch>
            <a:fillRect/>
          </a:stretch>
        </p:blipFill>
        <p:spPr>
          <a:xfrm>
            <a:off x="2487168" y="3099816"/>
            <a:ext cx="292608" cy="292608"/>
          </a:xfrm>
          <a:prstGeom prst="rect">
            <a:avLst/>
          </a:prstGeom>
        </p:spPr>
      </p:pic>
      <p:sp>
        <p:nvSpPr>
          <p:cNvPr id="13" name="Shape 9"/>
          <p:cNvSpPr/>
          <p:nvPr/>
        </p:nvSpPr>
        <p:spPr>
          <a:xfrm>
            <a:off x="2788920" y="2468880"/>
            <a:ext cx="1965960" cy="1554480"/>
          </a:xfrm>
          <a:prstGeom prst="roundRect">
            <a:avLst>
              <a:gd name="adj" fmla="val 470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4" name="Shape 10"/>
          <p:cNvSpPr/>
          <p:nvPr/>
        </p:nvSpPr>
        <p:spPr>
          <a:xfrm>
            <a:off x="3360420" y="2651760"/>
            <a:ext cx="822960" cy="822960"/>
          </a:xfrm>
          <a:prstGeom prst="ellipse">
            <a:avLst/>
          </a:prstGeom>
          <a:solidFill>
            <a:srgbClr val="B8620A"/>
          </a:solidFill>
          <a:ln/>
        </p:spPr>
        <p:txBody>
          <a:bodyPr/>
          <a:lstStyle/>
          <a:p>
            <a:endParaRPr lang="en-AU"/>
          </a:p>
        </p:txBody>
      </p:sp>
      <p:pic>
        <p:nvPicPr>
          <p:cNvPr id="15" name="Image 2" descr="preencoded.png"/>
          <p:cNvPicPr>
            <a:picLocks noChangeAspect="1"/>
          </p:cNvPicPr>
          <p:nvPr/>
        </p:nvPicPr>
        <p:blipFill>
          <a:blip r:embed="rId5"/>
          <a:stretch>
            <a:fillRect/>
          </a:stretch>
        </p:blipFill>
        <p:spPr>
          <a:xfrm>
            <a:off x="3525012" y="2816352"/>
            <a:ext cx="493776" cy="493776"/>
          </a:xfrm>
          <a:prstGeom prst="rect">
            <a:avLst/>
          </a:prstGeom>
        </p:spPr>
      </p:pic>
      <p:sp>
        <p:nvSpPr>
          <p:cNvPr id="16" name="Text 11"/>
          <p:cNvSpPr/>
          <p:nvPr/>
        </p:nvSpPr>
        <p:spPr>
          <a:xfrm>
            <a:off x="2880360" y="3520440"/>
            <a:ext cx="1783080" cy="457200"/>
          </a:xfrm>
          <a:prstGeom prst="rect">
            <a:avLst/>
          </a:prstGeom>
          <a:noFill/>
          <a:ln/>
        </p:spPr>
        <p:txBody>
          <a:bodyPr wrap="square" lIns="0" tIns="0" rIns="0" bIns="0" rtlCol="0" anchor="ctr"/>
          <a:lstStyle/>
          <a:p>
            <a:pPr marL="0" indent="0" algn="ctr">
              <a:buNone/>
            </a:pPr>
            <a:r>
              <a:rPr lang="en-US" sz="1350" b="1" dirty="0">
                <a:solidFill>
                  <a:srgbClr val="12100E"/>
                </a:solidFill>
                <a:latin typeface="Calibri" pitchFamily="34" charset="0"/>
                <a:ea typeface="Calibri" pitchFamily="34" charset="-122"/>
                <a:cs typeface="Calibri" pitchFamily="34" charset="-120"/>
              </a:rPr>
              <a:t>Router + Modem</a:t>
            </a:r>
            <a:endParaRPr lang="en-US" sz="1350" dirty="0"/>
          </a:p>
        </p:txBody>
      </p:sp>
      <p:pic>
        <p:nvPicPr>
          <p:cNvPr id="17" name="Image 3" descr="preencoded.png"/>
          <p:cNvPicPr>
            <a:picLocks noChangeAspect="1"/>
          </p:cNvPicPr>
          <p:nvPr/>
        </p:nvPicPr>
        <p:blipFill>
          <a:blip r:embed="rId4"/>
          <a:stretch>
            <a:fillRect/>
          </a:stretch>
        </p:blipFill>
        <p:spPr>
          <a:xfrm>
            <a:off x="4773168" y="3099816"/>
            <a:ext cx="292608" cy="292608"/>
          </a:xfrm>
          <a:prstGeom prst="rect">
            <a:avLst/>
          </a:prstGeom>
        </p:spPr>
      </p:pic>
      <p:sp>
        <p:nvSpPr>
          <p:cNvPr id="18" name="Shape 12"/>
          <p:cNvSpPr/>
          <p:nvPr/>
        </p:nvSpPr>
        <p:spPr>
          <a:xfrm>
            <a:off x="5074920" y="2468880"/>
            <a:ext cx="1965960" cy="1554480"/>
          </a:xfrm>
          <a:prstGeom prst="roundRect">
            <a:avLst>
              <a:gd name="adj" fmla="val 470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9" name="Shape 13"/>
          <p:cNvSpPr/>
          <p:nvPr/>
        </p:nvSpPr>
        <p:spPr>
          <a:xfrm>
            <a:off x="5646420" y="2651760"/>
            <a:ext cx="822960" cy="822960"/>
          </a:xfrm>
          <a:prstGeom prst="ellipse">
            <a:avLst/>
          </a:prstGeom>
          <a:solidFill>
            <a:srgbClr val="2B3A8C"/>
          </a:solidFill>
          <a:ln/>
        </p:spPr>
        <p:txBody>
          <a:bodyPr/>
          <a:lstStyle/>
          <a:p>
            <a:endParaRPr lang="en-AU"/>
          </a:p>
        </p:txBody>
      </p:sp>
      <p:pic>
        <p:nvPicPr>
          <p:cNvPr id="20" name="Image 4" descr="preencoded.png"/>
          <p:cNvPicPr>
            <a:picLocks noChangeAspect="1"/>
          </p:cNvPicPr>
          <p:nvPr/>
        </p:nvPicPr>
        <p:blipFill>
          <a:blip r:embed="rId6"/>
          <a:stretch>
            <a:fillRect/>
          </a:stretch>
        </p:blipFill>
        <p:spPr>
          <a:xfrm>
            <a:off x="5811012" y="2816352"/>
            <a:ext cx="493776" cy="493776"/>
          </a:xfrm>
          <a:prstGeom prst="rect">
            <a:avLst/>
          </a:prstGeom>
        </p:spPr>
      </p:pic>
      <p:sp>
        <p:nvSpPr>
          <p:cNvPr id="21" name="Text 14"/>
          <p:cNvSpPr/>
          <p:nvPr/>
        </p:nvSpPr>
        <p:spPr>
          <a:xfrm>
            <a:off x="5166360" y="3520440"/>
            <a:ext cx="1783080" cy="457200"/>
          </a:xfrm>
          <a:prstGeom prst="rect">
            <a:avLst/>
          </a:prstGeom>
          <a:noFill/>
          <a:ln/>
        </p:spPr>
        <p:txBody>
          <a:bodyPr wrap="square" lIns="0" tIns="0" rIns="0" bIns="0" rtlCol="0" anchor="ctr"/>
          <a:lstStyle/>
          <a:p>
            <a:pPr marL="0" indent="0" algn="ctr">
              <a:buNone/>
            </a:pPr>
            <a:r>
              <a:rPr lang="en-US" sz="1350" b="1" dirty="0">
                <a:solidFill>
                  <a:srgbClr val="12100E"/>
                </a:solidFill>
                <a:latin typeface="Calibri" pitchFamily="34" charset="0"/>
                <a:ea typeface="Calibri" pitchFamily="34" charset="-122"/>
                <a:cs typeface="Calibri" pitchFamily="34" charset="-120"/>
              </a:rPr>
              <a:t>ISP</a:t>
            </a:r>
            <a:endParaRPr lang="en-US" sz="1350" dirty="0"/>
          </a:p>
        </p:txBody>
      </p:sp>
      <p:pic>
        <p:nvPicPr>
          <p:cNvPr id="22" name="Image 5" descr="preencoded.png"/>
          <p:cNvPicPr>
            <a:picLocks noChangeAspect="1"/>
          </p:cNvPicPr>
          <p:nvPr/>
        </p:nvPicPr>
        <p:blipFill>
          <a:blip r:embed="rId4"/>
          <a:stretch>
            <a:fillRect/>
          </a:stretch>
        </p:blipFill>
        <p:spPr>
          <a:xfrm>
            <a:off x="7059168" y="3099816"/>
            <a:ext cx="292608" cy="292608"/>
          </a:xfrm>
          <a:prstGeom prst="rect">
            <a:avLst/>
          </a:prstGeom>
        </p:spPr>
      </p:pic>
      <p:sp>
        <p:nvSpPr>
          <p:cNvPr id="23" name="Shape 15"/>
          <p:cNvSpPr/>
          <p:nvPr/>
        </p:nvSpPr>
        <p:spPr>
          <a:xfrm>
            <a:off x="7360920" y="2468880"/>
            <a:ext cx="1965960" cy="1554480"/>
          </a:xfrm>
          <a:prstGeom prst="roundRect">
            <a:avLst>
              <a:gd name="adj" fmla="val 470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4" name="Shape 16"/>
          <p:cNvSpPr/>
          <p:nvPr/>
        </p:nvSpPr>
        <p:spPr>
          <a:xfrm>
            <a:off x="7932420" y="2651760"/>
            <a:ext cx="822960" cy="822960"/>
          </a:xfrm>
          <a:prstGeom prst="ellipse">
            <a:avLst/>
          </a:prstGeom>
          <a:solidFill>
            <a:srgbClr val="12100E"/>
          </a:solidFill>
          <a:ln/>
        </p:spPr>
        <p:txBody>
          <a:bodyPr/>
          <a:lstStyle/>
          <a:p>
            <a:endParaRPr lang="en-AU"/>
          </a:p>
        </p:txBody>
      </p:sp>
      <p:pic>
        <p:nvPicPr>
          <p:cNvPr id="25" name="Image 6" descr="preencoded.png"/>
          <p:cNvPicPr>
            <a:picLocks noChangeAspect="1"/>
          </p:cNvPicPr>
          <p:nvPr/>
        </p:nvPicPr>
        <p:blipFill>
          <a:blip r:embed="rId7"/>
          <a:stretch>
            <a:fillRect/>
          </a:stretch>
        </p:blipFill>
        <p:spPr>
          <a:xfrm>
            <a:off x="8097012" y="2816352"/>
            <a:ext cx="493776" cy="493776"/>
          </a:xfrm>
          <a:prstGeom prst="rect">
            <a:avLst/>
          </a:prstGeom>
        </p:spPr>
      </p:pic>
      <p:sp>
        <p:nvSpPr>
          <p:cNvPr id="26" name="Text 17"/>
          <p:cNvSpPr/>
          <p:nvPr/>
        </p:nvSpPr>
        <p:spPr>
          <a:xfrm>
            <a:off x="7452360" y="3520440"/>
            <a:ext cx="1783080" cy="457200"/>
          </a:xfrm>
          <a:prstGeom prst="rect">
            <a:avLst/>
          </a:prstGeom>
          <a:noFill/>
          <a:ln/>
        </p:spPr>
        <p:txBody>
          <a:bodyPr wrap="square" lIns="0" tIns="0" rIns="0" bIns="0" rtlCol="0" anchor="ctr"/>
          <a:lstStyle/>
          <a:p>
            <a:pPr marL="0" indent="0" algn="ctr">
              <a:buNone/>
            </a:pPr>
            <a:r>
              <a:rPr lang="en-US" sz="1350" b="1" dirty="0">
                <a:solidFill>
                  <a:srgbClr val="12100E"/>
                </a:solidFill>
                <a:latin typeface="Calibri" pitchFamily="34" charset="0"/>
                <a:ea typeface="Calibri" pitchFamily="34" charset="-122"/>
                <a:cs typeface="Calibri" pitchFamily="34" charset="-120"/>
              </a:rPr>
              <a:t>The internet</a:t>
            </a:r>
            <a:endParaRPr lang="en-US" sz="1350" dirty="0"/>
          </a:p>
        </p:txBody>
      </p:sp>
      <p:pic>
        <p:nvPicPr>
          <p:cNvPr id="27" name="Image 7" descr="preencoded.png"/>
          <p:cNvPicPr>
            <a:picLocks noChangeAspect="1"/>
          </p:cNvPicPr>
          <p:nvPr/>
        </p:nvPicPr>
        <p:blipFill>
          <a:blip r:embed="rId4"/>
          <a:stretch>
            <a:fillRect/>
          </a:stretch>
        </p:blipFill>
        <p:spPr>
          <a:xfrm>
            <a:off x="9345168" y="3099816"/>
            <a:ext cx="292608" cy="292608"/>
          </a:xfrm>
          <a:prstGeom prst="rect">
            <a:avLst/>
          </a:prstGeom>
        </p:spPr>
      </p:pic>
      <p:sp>
        <p:nvSpPr>
          <p:cNvPr id="28" name="Shape 18"/>
          <p:cNvSpPr/>
          <p:nvPr/>
        </p:nvSpPr>
        <p:spPr>
          <a:xfrm>
            <a:off x="9646920" y="2468880"/>
            <a:ext cx="1965960" cy="1554480"/>
          </a:xfrm>
          <a:prstGeom prst="roundRect">
            <a:avLst>
              <a:gd name="adj" fmla="val 470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9" name="Shape 19"/>
          <p:cNvSpPr/>
          <p:nvPr/>
        </p:nvSpPr>
        <p:spPr>
          <a:xfrm>
            <a:off x="10218420" y="2651760"/>
            <a:ext cx="822960" cy="822960"/>
          </a:xfrm>
          <a:prstGeom prst="ellipse">
            <a:avLst/>
          </a:prstGeom>
          <a:solidFill>
            <a:srgbClr val="2B3A8C"/>
          </a:solidFill>
          <a:ln/>
        </p:spPr>
        <p:txBody>
          <a:bodyPr/>
          <a:lstStyle/>
          <a:p>
            <a:endParaRPr lang="en-AU"/>
          </a:p>
        </p:txBody>
      </p:sp>
      <p:pic>
        <p:nvPicPr>
          <p:cNvPr id="30" name="Image 8" descr="preencoded.png"/>
          <p:cNvPicPr>
            <a:picLocks noChangeAspect="1"/>
          </p:cNvPicPr>
          <p:nvPr/>
        </p:nvPicPr>
        <p:blipFill>
          <a:blip r:embed="rId8"/>
          <a:stretch>
            <a:fillRect/>
          </a:stretch>
        </p:blipFill>
        <p:spPr>
          <a:xfrm>
            <a:off x="10383012" y="2816352"/>
            <a:ext cx="493776" cy="493776"/>
          </a:xfrm>
          <a:prstGeom prst="rect">
            <a:avLst/>
          </a:prstGeom>
        </p:spPr>
      </p:pic>
      <p:sp>
        <p:nvSpPr>
          <p:cNvPr id="31" name="Text 20"/>
          <p:cNvSpPr/>
          <p:nvPr/>
        </p:nvSpPr>
        <p:spPr>
          <a:xfrm>
            <a:off x="9738360" y="3520440"/>
            <a:ext cx="1783080" cy="457200"/>
          </a:xfrm>
          <a:prstGeom prst="rect">
            <a:avLst/>
          </a:prstGeom>
          <a:noFill/>
          <a:ln/>
        </p:spPr>
        <p:txBody>
          <a:bodyPr wrap="square" lIns="0" tIns="0" rIns="0" bIns="0" rtlCol="0" anchor="ctr"/>
          <a:lstStyle/>
          <a:p>
            <a:pPr marL="0" indent="0" algn="ctr">
              <a:buNone/>
            </a:pPr>
            <a:r>
              <a:rPr lang="en-US" sz="1350" b="1" dirty="0">
                <a:solidFill>
                  <a:srgbClr val="12100E"/>
                </a:solidFill>
                <a:latin typeface="Calibri" pitchFamily="34" charset="0"/>
                <a:ea typeface="Calibri" pitchFamily="34" charset="-122"/>
                <a:cs typeface="Calibri" pitchFamily="34" charset="-120"/>
              </a:rPr>
              <a:t>Website's server</a:t>
            </a:r>
            <a:endParaRPr lang="en-US" sz="1350" dirty="0"/>
          </a:p>
        </p:txBody>
      </p:sp>
      <p:sp>
        <p:nvSpPr>
          <p:cNvPr id="32" name="Shape 21"/>
          <p:cNvSpPr/>
          <p:nvPr/>
        </p:nvSpPr>
        <p:spPr>
          <a:xfrm>
            <a:off x="502920" y="4389120"/>
            <a:ext cx="11201400" cy="1554480"/>
          </a:xfrm>
          <a:prstGeom prst="roundRect">
            <a:avLst>
              <a:gd name="adj" fmla="val 4706"/>
            </a:avLst>
          </a:prstGeom>
          <a:solidFill>
            <a:srgbClr val="F1ECE3"/>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33" name="Text 22"/>
          <p:cNvSpPr/>
          <p:nvPr/>
        </p:nvSpPr>
        <p:spPr>
          <a:xfrm>
            <a:off x="777240" y="4526280"/>
            <a:ext cx="10607040" cy="365760"/>
          </a:xfrm>
          <a:prstGeom prst="rect">
            <a:avLst/>
          </a:prstGeom>
          <a:noFill/>
          <a:ln/>
        </p:spPr>
        <p:txBody>
          <a:bodyPr wrap="square" lIns="0" tIns="0" rIns="0" bIns="0" rtlCol="0" anchor="ctr"/>
          <a:lstStyle/>
          <a:p>
            <a:pPr marL="0" indent="0">
              <a:buNone/>
            </a:pPr>
            <a:r>
              <a:rPr lang="en-US" sz="1700" b="1" dirty="0">
                <a:solidFill>
                  <a:srgbClr val="B8620A"/>
                </a:solidFill>
                <a:latin typeface="Bookman Old Style" pitchFamily="34" charset="0"/>
                <a:ea typeface="Bookman Old Style" pitchFamily="34" charset="-122"/>
                <a:cs typeface="Bookman Old Style" pitchFamily="34" charset="-120"/>
              </a:rPr>
              <a:t>Follow the journey</a:t>
            </a:r>
            <a:endParaRPr lang="en-US" sz="1700" dirty="0"/>
          </a:p>
        </p:txBody>
      </p:sp>
      <p:sp>
        <p:nvSpPr>
          <p:cNvPr id="34" name="Text 23"/>
          <p:cNvSpPr/>
          <p:nvPr/>
        </p:nvSpPr>
        <p:spPr>
          <a:xfrm>
            <a:off x="777240" y="4937760"/>
            <a:ext cx="10607040" cy="914400"/>
          </a:xfrm>
          <a:prstGeom prst="rect">
            <a:avLst/>
          </a:prstGeom>
          <a:noFill/>
          <a:ln/>
        </p:spPr>
        <p:txBody>
          <a:bodyPr wrap="square" lIns="0" tIns="0" rIns="0" bIns="0" rtlCol="0" anchor="t"/>
          <a:lstStyle/>
          <a:p>
            <a:pPr marL="0" indent="0">
              <a:buNone/>
            </a:pPr>
            <a:r>
              <a:rPr lang="en-US" sz="1500" dirty="0">
                <a:solidFill>
                  <a:srgbClr val="2C2A28"/>
                </a:solidFill>
                <a:latin typeface="Calibri" pitchFamily="34" charset="0"/>
                <a:ea typeface="Calibri" pitchFamily="34" charset="-122"/>
                <a:cs typeface="Calibri" pitchFamily="34" charset="-120"/>
              </a:rPr>
              <a:t>When you open a website, your device sends a request out through your router and modem, to your ISP, across the internet to the server that stores that website. The server sends the data back along the same kind of path — all in a fraction of a second.</a:t>
            </a:r>
            <a:endParaRPr lang="en-US" sz="1500" dirty="0"/>
          </a:p>
        </p:txBody>
      </p:sp>
      <p:sp>
        <p:nvSpPr>
          <p:cNvPr id="36" name="Text 24"/>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37" name="Text 25"/>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Types of Network: Small to Huge</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txBody>
          <a:bodyPr/>
          <a:lstStyle/>
          <a:p>
            <a:endParaRPr lang="en-AU"/>
          </a:p>
        </p:txBody>
      </p:sp>
      <p:sp>
        <p:nvSpPr>
          <p:cNvPr id="9" name="Text 7"/>
          <p:cNvSpPr/>
          <p:nvPr/>
        </p:nvSpPr>
        <p:spPr>
          <a:xfrm>
            <a:off x="9601200" y="1078992"/>
            <a:ext cx="210312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965960"/>
            <a:ext cx="2697480" cy="393192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1" name="Shape 9"/>
          <p:cNvSpPr/>
          <p:nvPr/>
        </p:nvSpPr>
        <p:spPr>
          <a:xfrm>
            <a:off x="685800" y="2194560"/>
            <a:ext cx="2240280" cy="777240"/>
          </a:xfrm>
          <a:prstGeom prst="roundRect">
            <a:avLst>
              <a:gd name="adj" fmla="val 9412"/>
            </a:avLst>
          </a:prstGeom>
          <a:solidFill>
            <a:srgbClr val="1B5E47"/>
          </a:solidFill>
          <a:ln/>
        </p:spPr>
        <p:txBody>
          <a:bodyPr/>
          <a:lstStyle/>
          <a:p>
            <a:endParaRPr lang="en-AU"/>
          </a:p>
        </p:txBody>
      </p:sp>
      <p:sp>
        <p:nvSpPr>
          <p:cNvPr id="12" name="Text 10"/>
          <p:cNvSpPr/>
          <p:nvPr/>
        </p:nvSpPr>
        <p:spPr>
          <a:xfrm>
            <a:off x="685800" y="2194560"/>
            <a:ext cx="224028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Bookman Old Style" pitchFamily="34" charset="0"/>
                <a:ea typeface="Bookman Old Style" pitchFamily="34" charset="-122"/>
                <a:cs typeface="Bookman Old Style" pitchFamily="34" charset="-120"/>
              </a:rPr>
              <a:t>PAN</a:t>
            </a:r>
            <a:endParaRPr lang="en-US" sz="2600" dirty="0"/>
          </a:p>
        </p:txBody>
      </p:sp>
      <p:sp>
        <p:nvSpPr>
          <p:cNvPr id="13" name="Text 11"/>
          <p:cNvSpPr/>
          <p:nvPr/>
        </p:nvSpPr>
        <p:spPr>
          <a:xfrm>
            <a:off x="685800" y="3108960"/>
            <a:ext cx="2240280" cy="640080"/>
          </a:xfrm>
          <a:prstGeom prst="rect">
            <a:avLst/>
          </a:prstGeom>
          <a:noFill/>
          <a:ln/>
        </p:spPr>
        <p:txBody>
          <a:bodyPr wrap="square" lIns="0" tIns="0" rIns="0" bIns="0" rtlCol="0" anchor="t"/>
          <a:lstStyle/>
          <a:p>
            <a:pPr marL="0" indent="0" algn="ctr">
              <a:buNone/>
            </a:pPr>
            <a:r>
              <a:rPr lang="en-US" sz="1350" b="1" dirty="0">
                <a:solidFill>
                  <a:srgbClr val="12100E"/>
                </a:solidFill>
                <a:latin typeface="Calibri" pitchFamily="34" charset="0"/>
                <a:ea typeface="Calibri" pitchFamily="34" charset="-122"/>
                <a:cs typeface="Calibri" pitchFamily="34" charset="-120"/>
              </a:rPr>
              <a:t>Personal Area Network</a:t>
            </a:r>
            <a:endParaRPr lang="en-US" sz="1350" dirty="0"/>
          </a:p>
        </p:txBody>
      </p:sp>
      <p:sp>
        <p:nvSpPr>
          <p:cNvPr id="14" name="Text 12"/>
          <p:cNvSpPr/>
          <p:nvPr/>
        </p:nvSpPr>
        <p:spPr>
          <a:xfrm>
            <a:off x="685800" y="3749040"/>
            <a:ext cx="2240280" cy="822960"/>
          </a:xfrm>
          <a:prstGeom prst="rect">
            <a:avLst/>
          </a:prstGeom>
          <a:noFill/>
          <a:ln/>
        </p:spPr>
        <p:txBody>
          <a:bodyPr wrap="square" lIns="0" tIns="0" rIns="0" bIns="0" rtlCol="0" anchor="t"/>
          <a:lstStyle/>
          <a:p>
            <a:pPr marL="0" indent="0" algn="ctr">
              <a:buNone/>
            </a:pPr>
            <a:r>
              <a:rPr lang="en-US" sz="1300" i="1" dirty="0">
                <a:solidFill>
                  <a:srgbClr val="6B6762"/>
                </a:solidFill>
                <a:latin typeface="Calibri" pitchFamily="34" charset="0"/>
                <a:ea typeface="Calibri" pitchFamily="34" charset="-122"/>
                <a:cs typeface="Calibri" pitchFamily="34" charset="-120"/>
              </a:rPr>
              <a:t>Tiny — around one person.</a:t>
            </a:r>
            <a:endParaRPr lang="en-US" sz="1300" dirty="0"/>
          </a:p>
        </p:txBody>
      </p:sp>
      <p:sp>
        <p:nvSpPr>
          <p:cNvPr id="15" name="Shape 13"/>
          <p:cNvSpPr/>
          <p:nvPr/>
        </p:nvSpPr>
        <p:spPr>
          <a:xfrm>
            <a:off x="822960" y="4617720"/>
            <a:ext cx="1965960" cy="0"/>
          </a:xfrm>
          <a:prstGeom prst="line">
            <a:avLst/>
          </a:prstGeom>
          <a:noFill/>
          <a:ln w="12700">
            <a:solidFill>
              <a:srgbClr val="D8D3CA"/>
            </a:solidFill>
            <a:prstDash val="solid"/>
          </a:ln>
        </p:spPr>
        <p:txBody>
          <a:bodyPr/>
          <a:lstStyle/>
          <a:p>
            <a:endParaRPr lang="en-AU"/>
          </a:p>
        </p:txBody>
      </p:sp>
      <p:sp>
        <p:nvSpPr>
          <p:cNvPr id="16" name="Text 14"/>
          <p:cNvSpPr/>
          <p:nvPr/>
        </p:nvSpPr>
        <p:spPr>
          <a:xfrm>
            <a:off x="685800" y="4709160"/>
            <a:ext cx="2240280" cy="1005840"/>
          </a:xfrm>
          <a:prstGeom prst="rect">
            <a:avLst/>
          </a:prstGeom>
          <a:noFill/>
          <a:ln/>
        </p:spPr>
        <p:txBody>
          <a:bodyPr wrap="square" lIns="0" tIns="0" rIns="0" bIns="0" rtlCol="0" anchor="t"/>
          <a:lstStyle/>
          <a:p>
            <a:pPr marL="0" indent="0" algn="ctr">
              <a:buNone/>
            </a:pPr>
            <a:r>
              <a:rPr lang="en-US" sz="1250" b="1" dirty="0">
                <a:solidFill>
                  <a:srgbClr val="1B5E47"/>
                </a:solidFill>
                <a:latin typeface="Calibri" pitchFamily="34" charset="0"/>
                <a:ea typeface="Calibri" pitchFamily="34" charset="-122"/>
                <a:cs typeface="Calibri" pitchFamily="34" charset="-120"/>
              </a:rPr>
              <a:t>Example: </a:t>
            </a:r>
            <a:r>
              <a:rPr lang="en-US" sz="1250" dirty="0">
                <a:solidFill>
                  <a:srgbClr val="2C2A28"/>
                </a:solidFill>
                <a:latin typeface="Calibri" pitchFamily="34" charset="0"/>
                <a:ea typeface="Calibri" pitchFamily="34" charset="-122"/>
                <a:cs typeface="Calibri" pitchFamily="34" charset="-120"/>
              </a:rPr>
              <a:t>Bluetooth earbuds linked to your phone.</a:t>
            </a:r>
            <a:endParaRPr lang="en-US" sz="1250" dirty="0"/>
          </a:p>
        </p:txBody>
      </p:sp>
      <p:sp>
        <p:nvSpPr>
          <p:cNvPr id="17" name="Shape 15"/>
          <p:cNvSpPr/>
          <p:nvPr/>
        </p:nvSpPr>
        <p:spPr>
          <a:xfrm>
            <a:off x="3319272" y="1965960"/>
            <a:ext cx="2697480" cy="393192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8" name="Shape 16"/>
          <p:cNvSpPr/>
          <p:nvPr/>
        </p:nvSpPr>
        <p:spPr>
          <a:xfrm>
            <a:off x="3547872" y="2194560"/>
            <a:ext cx="2240280" cy="777240"/>
          </a:xfrm>
          <a:prstGeom prst="roundRect">
            <a:avLst>
              <a:gd name="adj" fmla="val 9412"/>
            </a:avLst>
          </a:prstGeom>
          <a:solidFill>
            <a:srgbClr val="B8620A"/>
          </a:solidFill>
          <a:ln/>
        </p:spPr>
        <p:txBody>
          <a:bodyPr/>
          <a:lstStyle/>
          <a:p>
            <a:endParaRPr lang="en-AU"/>
          </a:p>
        </p:txBody>
      </p:sp>
      <p:sp>
        <p:nvSpPr>
          <p:cNvPr id="19" name="Text 17"/>
          <p:cNvSpPr/>
          <p:nvPr/>
        </p:nvSpPr>
        <p:spPr>
          <a:xfrm>
            <a:off x="3547872" y="2194560"/>
            <a:ext cx="224028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Bookman Old Style" pitchFamily="34" charset="0"/>
                <a:ea typeface="Bookman Old Style" pitchFamily="34" charset="-122"/>
                <a:cs typeface="Bookman Old Style" pitchFamily="34" charset="-120"/>
              </a:rPr>
              <a:t>LAN</a:t>
            </a:r>
            <a:endParaRPr lang="en-US" sz="2600" dirty="0"/>
          </a:p>
        </p:txBody>
      </p:sp>
      <p:sp>
        <p:nvSpPr>
          <p:cNvPr id="20" name="Text 18"/>
          <p:cNvSpPr/>
          <p:nvPr/>
        </p:nvSpPr>
        <p:spPr>
          <a:xfrm>
            <a:off x="3547872" y="3108960"/>
            <a:ext cx="2240280" cy="640080"/>
          </a:xfrm>
          <a:prstGeom prst="rect">
            <a:avLst/>
          </a:prstGeom>
          <a:noFill/>
          <a:ln/>
        </p:spPr>
        <p:txBody>
          <a:bodyPr wrap="square" lIns="0" tIns="0" rIns="0" bIns="0" rtlCol="0" anchor="t"/>
          <a:lstStyle/>
          <a:p>
            <a:pPr marL="0" indent="0" algn="ctr">
              <a:buNone/>
            </a:pPr>
            <a:r>
              <a:rPr lang="en-US" sz="1350" b="1" dirty="0">
                <a:solidFill>
                  <a:srgbClr val="12100E"/>
                </a:solidFill>
                <a:latin typeface="Calibri" pitchFamily="34" charset="0"/>
                <a:ea typeface="Calibri" pitchFamily="34" charset="-122"/>
                <a:cs typeface="Calibri" pitchFamily="34" charset="-120"/>
              </a:rPr>
              <a:t>Local Area Network</a:t>
            </a:r>
            <a:endParaRPr lang="en-US" sz="1350" dirty="0"/>
          </a:p>
        </p:txBody>
      </p:sp>
      <p:sp>
        <p:nvSpPr>
          <p:cNvPr id="21" name="Text 19"/>
          <p:cNvSpPr/>
          <p:nvPr/>
        </p:nvSpPr>
        <p:spPr>
          <a:xfrm>
            <a:off x="3547872" y="3749040"/>
            <a:ext cx="2240280" cy="822960"/>
          </a:xfrm>
          <a:prstGeom prst="rect">
            <a:avLst/>
          </a:prstGeom>
          <a:noFill/>
          <a:ln/>
        </p:spPr>
        <p:txBody>
          <a:bodyPr wrap="square" lIns="0" tIns="0" rIns="0" bIns="0" rtlCol="0" anchor="t"/>
          <a:lstStyle/>
          <a:p>
            <a:pPr marL="0" indent="0" algn="ctr">
              <a:buNone/>
            </a:pPr>
            <a:r>
              <a:rPr lang="en-US" sz="1300" i="1" dirty="0">
                <a:solidFill>
                  <a:srgbClr val="6B6762"/>
                </a:solidFill>
                <a:latin typeface="Calibri" pitchFamily="34" charset="0"/>
                <a:ea typeface="Calibri" pitchFamily="34" charset="-122"/>
                <a:cs typeface="Calibri" pitchFamily="34" charset="-120"/>
              </a:rPr>
              <a:t>One building or room, usually wired.</a:t>
            </a:r>
            <a:endParaRPr lang="en-US" sz="1300" dirty="0"/>
          </a:p>
        </p:txBody>
      </p:sp>
      <p:sp>
        <p:nvSpPr>
          <p:cNvPr id="22" name="Shape 20"/>
          <p:cNvSpPr/>
          <p:nvPr/>
        </p:nvSpPr>
        <p:spPr>
          <a:xfrm>
            <a:off x="3685032" y="4617720"/>
            <a:ext cx="1965960" cy="0"/>
          </a:xfrm>
          <a:prstGeom prst="line">
            <a:avLst/>
          </a:prstGeom>
          <a:noFill/>
          <a:ln w="12700">
            <a:solidFill>
              <a:srgbClr val="D8D3CA"/>
            </a:solidFill>
            <a:prstDash val="solid"/>
          </a:ln>
        </p:spPr>
        <p:txBody>
          <a:bodyPr/>
          <a:lstStyle/>
          <a:p>
            <a:endParaRPr lang="en-AU"/>
          </a:p>
        </p:txBody>
      </p:sp>
      <p:sp>
        <p:nvSpPr>
          <p:cNvPr id="23" name="Text 21"/>
          <p:cNvSpPr/>
          <p:nvPr/>
        </p:nvSpPr>
        <p:spPr>
          <a:xfrm>
            <a:off x="3547872" y="4709160"/>
            <a:ext cx="2240280" cy="1005840"/>
          </a:xfrm>
          <a:prstGeom prst="rect">
            <a:avLst/>
          </a:prstGeom>
          <a:noFill/>
          <a:ln/>
        </p:spPr>
        <p:txBody>
          <a:bodyPr wrap="square" lIns="0" tIns="0" rIns="0" bIns="0" rtlCol="0" anchor="t"/>
          <a:lstStyle/>
          <a:p>
            <a:pPr marL="0" indent="0" algn="ctr">
              <a:buNone/>
            </a:pPr>
            <a:r>
              <a:rPr lang="en-US" sz="1250" b="1" dirty="0">
                <a:solidFill>
                  <a:srgbClr val="B8620A"/>
                </a:solidFill>
                <a:latin typeface="Calibri" pitchFamily="34" charset="0"/>
                <a:ea typeface="Calibri" pitchFamily="34" charset="-122"/>
                <a:cs typeface="Calibri" pitchFamily="34" charset="-120"/>
              </a:rPr>
              <a:t>Example: </a:t>
            </a:r>
            <a:r>
              <a:rPr lang="en-US" sz="1250" dirty="0">
                <a:solidFill>
                  <a:srgbClr val="2C2A28"/>
                </a:solidFill>
                <a:latin typeface="Calibri" pitchFamily="34" charset="0"/>
                <a:ea typeface="Calibri" pitchFamily="34" charset="-122"/>
                <a:cs typeface="Calibri" pitchFamily="34" charset="-120"/>
              </a:rPr>
              <a:t>Computers cabled together in this classroom.</a:t>
            </a:r>
            <a:endParaRPr lang="en-US" sz="1250" dirty="0"/>
          </a:p>
        </p:txBody>
      </p:sp>
      <p:sp>
        <p:nvSpPr>
          <p:cNvPr id="24" name="Shape 22"/>
          <p:cNvSpPr/>
          <p:nvPr/>
        </p:nvSpPr>
        <p:spPr>
          <a:xfrm>
            <a:off x="6181344" y="1965960"/>
            <a:ext cx="2697480" cy="393192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5" name="Shape 23"/>
          <p:cNvSpPr/>
          <p:nvPr/>
        </p:nvSpPr>
        <p:spPr>
          <a:xfrm>
            <a:off x="6409944" y="2194560"/>
            <a:ext cx="2240280" cy="777240"/>
          </a:xfrm>
          <a:prstGeom prst="roundRect">
            <a:avLst>
              <a:gd name="adj" fmla="val 9412"/>
            </a:avLst>
          </a:prstGeom>
          <a:solidFill>
            <a:srgbClr val="2B3A8C"/>
          </a:solidFill>
          <a:ln/>
        </p:spPr>
        <p:txBody>
          <a:bodyPr/>
          <a:lstStyle/>
          <a:p>
            <a:endParaRPr lang="en-AU"/>
          </a:p>
        </p:txBody>
      </p:sp>
      <p:sp>
        <p:nvSpPr>
          <p:cNvPr id="26" name="Text 24"/>
          <p:cNvSpPr/>
          <p:nvPr/>
        </p:nvSpPr>
        <p:spPr>
          <a:xfrm>
            <a:off x="6409944" y="2194560"/>
            <a:ext cx="224028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Bookman Old Style" pitchFamily="34" charset="0"/>
                <a:ea typeface="Bookman Old Style" pitchFamily="34" charset="-122"/>
                <a:cs typeface="Bookman Old Style" pitchFamily="34" charset="-120"/>
              </a:rPr>
              <a:t>WLAN</a:t>
            </a:r>
            <a:endParaRPr lang="en-US" sz="2600" dirty="0"/>
          </a:p>
        </p:txBody>
      </p:sp>
      <p:sp>
        <p:nvSpPr>
          <p:cNvPr id="27" name="Text 25"/>
          <p:cNvSpPr/>
          <p:nvPr/>
        </p:nvSpPr>
        <p:spPr>
          <a:xfrm>
            <a:off x="6409944" y="3108960"/>
            <a:ext cx="2240280" cy="640080"/>
          </a:xfrm>
          <a:prstGeom prst="rect">
            <a:avLst/>
          </a:prstGeom>
          <a:noFill/>
          <a:ln/>
        </p:spPr>
        <p:txBody>
          <a:bodyPr wrap="square" lIns="0" tIns="0" rIns="0" bIns="0" rtlCol="0" anchor="t"/>
          <a:lstStyle/>
          <a:p>
            <a:pPr marL="0" indent="0" algn="ctr">
              <a:buNone/>
            </a:pPr>
            <a:r>
              <a:rPr lang="en-US" sz="1350" b="1" dirty="0">
                <a:solidFill>
                  <a:srgbClr val="12100E"/>
                </a:solidFill>
                <a:latin typeface="Calibri" pitchFamily="34" charset="0"/>
                <a:ea typeface="Calibri" pitchFamily="34" charset="-122"/>
                <a:cs typeface="Calibri" pitchFamily="34" charset="-120"/>
              </a:rPr>
              <a:t>Wireless LAN</a:t>
            </a:r>
            <a:endParaRPr lang="en-US" sz="1350" dirty="0"/>
          </a:p>
        </p:txBody>
      </p:sp>
      <p:sp>
        <p:nvSpPr>
          <p:cNvPr id="28" name="Text 26"/>
          <p:cNvSpPr/>
          <p:nvPr/>
        </p:nvSpPr>
        <p:spPr>
          <a:xfrm>
            <a:off x="6409944" y="3749040"/>
            <a:ext cx="2240280" cy="822960"/>
          </a:xfrm>
          <a:prstGeom prst="rect">
            <a:avLst/>
          </a:prstGeom>
          <a:noFill/>
          <a:ln/>
        </p:spPr>
        <p:txBody>
          <a:bodyPr wrap="square" lIns="0" tIns="0" rIns="0" bIns="0" rtlCol="0" anchor="t"/>
          <a:lstStyle/>
          <a:p>
            <a:pPr marL="0" indent="0" algn="ctr">
              <a:buNone/>
            </a:pPr>
            <a:r>
              <a:rPr lang="en-US" sz="1300" i="1" dirty="0">
                <a:solidFill>
                  <a:srgbClr val="6B6762"/>
                </a:solidFill>
                <a:latin typeface="Calibri" pitchFamily="34" charset="0"/>
                <a:ea typeface="Calibri" pitchFamily="34" charset="-122"/>
                <a:cs typeface="Calibri" pitchFamily="34" charset="-120"/>
              </a:rPr>
              <a:t>A LAN, but connected by Wi-Fi.</a:t>
            </a:r>
            <a:endParaRPr lang="en-US" sz="1300" dirty="0"/>
          </a:p>
        </p:txBody>
      </p:sp>
      <p:sp>
        <p:nvSpPr>
          <p:cNvPr id="29" name="Shape 27"/>
          <p:cNvSpPr/>
          <p:nvPr/>
        </p:nvSpPr>
        <p:spPr>
          <a:xfrm>
            <a:off x="6547104" y="4617720"/>
            <a:ext cx="1965960" cy="0"/>
          </a:xfrm>
          <a:prstGeom prst="line">
            <a:avLst/>
          </a:prstGeom>
          <a:noFill/>
          <a:ln w="12700">
            <a:solidFill>
              <a:srgbClr val="D8D3CA"/>
            </a:solidFill>
            <a:prstDash val="solid"/>
          </a:ln>
        </p:spPr>
        <p:txBody>
          <a:bodyPr/>
          <a:lstStyle/>
          <a:p>
            <a:endParaRPr lang="en-AU"/>
          </a:p>
        </p:txBody>
      </p:sp>
      <p:sp>
        <p:nvSpPr>
          <p:cNvPr id="30" name="Text 28"/>
          <p:cNvSpPr/>
          <p:nvPr/>
        </p:nvSpPr>
        <p:spPr>
          <a:xfrm>
            <a:off x="6409944" y="4709160"/>
            <a:ext cx="2240280" cy="1005840"/>
          </a:xfrm>
          <a:prstGeom prst="rect">
            <a:avLst/>
          </a:prstGeom>
          <a:noFill/>
          <a:ln/>
        </p:spPr>
        <p:txBody>
          <a:bodyPr wrap="square" lIns="0" tIns="0" rIns="0" bIns="0" rtlCol="0" anchor="t"/>
          <a:lstStyle/>
          <a:p>
            <a:pPr marL="0" indent="0" algn="ctr">
              <a:buNone/>
            </a:pPr>
            <a:r>
              <a:rPr lang="en-US" sz="1250" b="1" dirty="0">
                <a:solidFill>
                  <a:srgbClr val="2B3A8C"/>
                </a:solidFill>
                <a:latin typeface="Calibri" pitchFamily="34" charset="0"/>
                <a:ea typeface="Calibri" pitchFamily="34" charset="-122"/>
                <a:cs typeface="Calibri" pitchFamily="34" charset="-120"/>
              </a:rPr>
              <a:t>Example: </a:t>
            </a:r>
            <a:r>
              <a:rPr lang="en-US" sz="1250" dirty="0">
                <a:solidFill>
                  <a:srgbClr val="2C2A28"/>
                </a:solidFill>
                <a:latin typeface="Calibri" pitchFamily="34" charset="0"/>
                <a:ea typeface="Calibri" pitchFamily="34" charset="-122"/>
                <a:cs typeface="Calibri" pitchFamily="34" charset="-120"/>
              </a:rPr>
              <a:t>Your home Wi-Fi, or the school Wi-Fi.</a:t>
            </a:r>
            <a:endParaRPr lang="en-US" sz="1250" dirty="0"/>
          </a:p>
        </p:txBody>
      </p:sp>
      <p:sp>
        <p:nvSpPr>
          <p:cNvPr id="31" name="Shape 29"/>
          <p:cNvSpPr/>
          <p:nvPr/>
        </p:nvSpPr>
        <p:spPr>
          <a:xfrm>
            <a:off x="9043416" y="1965960"/>
            <a:ext cx="2697480" cy="3931920"/>
          </a:xfrm>
          <a:prstGeom prst="roundRect">
            <a:avLst>
              <a:gd name="adj" fmla="val 2712"/>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32" name="Shape 30"/>
          <p:cNvSpPr/>
          <p:nvPr/>
        </p:nvSpPr>
        <p:spPr>
          <a:xfrm>
            <a:off x="9272016" y="2194560"/>
            <a:ext cx="2240280" cy="777240"/>
          </a:xfrm>
          <a:prstGeom prst="roundRect">
            <a:avLst>
              <a:gd name="adj" fmla="val 9412"/>
            </a:avLst>
          </a:prstGeom>
          <a:solidFill>
            <a:srgbClr val="8C1F28"/>
          </a:solidFill>
          <a:ln/>
        </p:spPr>
        <p:txBody>
          <a:bodyPr/>
          <a:lstStyle/>
          <a:p>
            <a:endParaRPr lang="en-AU"/>
          </a:p>
        </p:txBody>
      </p:sp>
      <p:sp>
        <p:nvSpPr>
          <p:cNvPr id="33" name="Text 31"/>
          <p:cNvSpPr/>
          <p:nvPr/>
        </p:nvSpPr>
        <p:spPr>
          <a:xfrm>
            <a:off x="9272016" y="2194560"/>
            <a:ext cx="224028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Bookman Old Style" pitchFamily="34" charset="0"/>
                <a:ea typeface="Bookman Old Style" pitchFamily="34" charset="-122"/>
                <a:cs typeface="Bookman Old Style" pitchFamily="34" charset="-120"/>
              </a:rPr>
              <a:t>WAN</a:t>
            </a:r>
            <a:endParaRPr lang="en-US" sz="2600" dirty="0"/>
          </a:p>
        </p:txBody>
      </p:sp>
      <p:sp>
        <p:nvSpPr>
          <p:cNvPr id="34" name="Text 32"/>
          <p:cNvSpPr/>
          <p:nvPr/>
        </p:nvSpPr>
        <p:spPr>
          <a:xfrm>
            <a:off x="9272016" y="3108960"/>
            <a:ext cx="2240280" cy="640080"/>
          </a:xfrm>
          <a:prstGeom prst="rect">
            <a:avLst/>
          </a:prstGeom>
          <a:noFill/>
          <a:ln/>
        </p:spPr>
        <p:txBody>
          <a:bodyPr wrap="square" lIns="0" tIns="0" rIns="0" bIns="0" rtlCol="0" anchor="t"/>
          <a:lstStyle/>
          <a:p>
            <a:pPr marL="0" indent="0" algn="ctr">
              <a:buNone/>
            </a:pPr>
            <a:r>
              <a:rPr lang="en-US" sz="1350" b="1" dirty="0">
                <a:solidFill>
                  <a:srgbClr val="12100E"/>
                </a:solidFill>
                <a:latin typeface="Calibri" pitchFamily="34" charset="0"/>
                <a:ea typeface="Calibri" pitchFamily="34" charset="-122"/>
                <a:cs typeface="Calibri" pitchFamily="34" charset="-120"/>
              </a:rPr>
              <a:t>Wide Area Network</a:t>
            </a:r>
            <a:endParaRPr lang="en-US" sz="1350" dirty="0"/>
          </a:p>
        </p:txBody>
      </p:sp>
      <p:sp>
        <p:nvSpPr>
          <p:cNvPr id="35" name="Text 33"/>
          <p:cNvSpPr/>
          <p:nvPr/>
        </p:nvSpPr>
        <p:spPr>
          <a:xfrm>
            <a:off x="9272016" y="3749040"/>
            <a:ext cx="2240280" cy="822960"/>
          </a:xfrm>
          <a:prstGeom prst="rect">
            <a:avLst/>
          </a:prstGeom>
          <a:noFill/>
          <a:ln/>
        </p:spPr>
        <p:txBody>
          <a:bodyPr wrap="square" lIns="0" tIns="0" rIns="0" bIns="0" rtlCol="0" anchor="t"/>
          <a:lstStyle/>
          <a:p>
            <a:pPr marL="0" indent="0" algn="ctr">
              <a:buNone/>
            </a:pPr>
            <a:r>
              <a:rPr lang="en-US" sz="1300" i="1" dirty="0">
                <a:solidFill>
                  <a:srgbClr val="6B6762"/>
                </a:solidFill>
                <a:latin typeface="Calibri" pitchFamily="34" charset="0"/>
                <a:ea typeface="Calibri" pitchFamily="34" charset="-122"/>
                <a:cs typeface="Calibri" pitchFamily="34" charset="-120"/>
              </a:rPr>
              <a:t>Huge — across cities and countries.</a:t>
            </a:r>
            <a:endParaRPr lang="en-US" sz="1300" dirty="0"/>
          </a:p>
        </p:txBody>
      </p:sp>
      <p:sp>
        <p:nvSpPr>
          <p:cNvPr id="36" name="Shape 34"/>
          <p:cNvSpPr/>
          <p:nvPr/>
        </p:nvSpPr>
        <p:spPr>
          <a:xfrm>
            <a:off x="9409176" y="4617720"/>
            <a:ext cx="1965960" cy="0"/>
          </a:xfrm>
          <a:prstGeom prst="line">
            <a:avLst/>
          </a:prstGeom>
          <a:noFill/>
          <a:ln w="12700">
            <a:solidFill>
              <a:srgbClr val="D8D3CA"/>
            </a:solidFill>
            <a:prstDash val="solid"/>
          </a:ln>
        </p:spPr>
        <p:txBody>
          <a:bodyPr/>
          <a:lstStyle/>
          <a:p>
            <a:endParaRPr lang="en-AU"/>
          </a:p>
        </p:txBody>
      </p:sp>
      <p:sp>
        <p:nvSpPr>
          <p:cNvPr id="37" name="Text 35"/>
          <p:cNvSpPr/>
          <p:nvPr/>
        </p:nvSpPr>
        <p:spPr>
          <a:xfrm>
            <a:off x="9272016" y="4709160"/>
            <a:ext cx="2240280" cy="1005840"/>
          </a:xfrm>
          <a:prstGeom prst="rect">
            <a:avLst/>
          </a:prstGeom>
          <a:noFill/>
          <a:ln/>
        </p:spPr>
        <p:txBody>
          <a:bodyPr wrap="square" lIns="0" tIns="0" rIns="0" bIns="0" rtlCol="0" anchor="t"/>
          <a:lstStyle/>
          <a:p>
            <a:pPr marL="0" indent="0" algn="ctr">
              <a:buNone/>
            </a:pPr>
            <a:r>
              <a:rPr lang="en-US" sz="1250" b="1" dirty="0">
                <a:solidFill>
                  <a:srgbClr val="8C1F28"/>
                </a:solidFill>
                <a:latin typeface="Calibri" pitchFamily="34" charset="0"/>
                <a:ea typeface="Calibri" pitchFamily="34" charset="-122"/>
                <a:cs typeface="Calibri" pitchFamily="34" charset="-120"/>
              </a:rPr>
              <a:t>Example: </a:t>
            </a:r>
            <a:r>
              <a:rPr lang="en-US" sz="1250" dirty="0">
                <a:solidFill>
                  <a:srgbClr val="2C2A28"/>
                </a:solidFill>
                <a:latin typeface="Calibri" pitchFamily="34" charset="0"/>
                <a:ea typeface="Calibri" pitchFamily="34" charset="-122"/>
                <a:cs typeface="Calibri" pitchFamily="34" charset="-120"/>
              </a:rPr>
              <a:t>The internet itself is the biggest WAN.</a:t>
            </a:r>
            <a:endParaRPr lang="en-US" sz="1250" dirty="0"/>
          </a:p>
        </p:txBody>
      </p:sp>
      <p:sp>
        <p:nvSpPr>
          <p:cNvPr id="39" name="Text 3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40" name="Text 37"/>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1B5E47"/>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LEARNING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How Does Data Actually Travel?</a:t>
            </a:r>
            <a:endParaRPr lang="en-US" sz="3200" dirty="0"/>
          </a:p>
        </p:txBody>
      </p:sp>
      <p:sp>
        <p:nvSpPr>
          <p:cNvPr id="8" name="Shape 6"/>
          <p:cNvSpPr/>
          <p:nvPr/>
        </p:nvSpPr>
        <p:spPr>
          <a:xfrm>
            <a:off x="9601200" y="1078992"/>
            <a:ext cx="2103120" cy="411480"/>
          </a:xfrm>
          <a:prstGeom prst="roundRect">
            <a:avLst>
              <a:gd name="adj" fmla="val 48889"/>
            </a:avLst>
          </a:prstGeom>
          <a:solidFill>
            <a:srgbClr val="B8620A"/>
          </a:solidFill>
          <a:ln/>
        </p:spPr>
        <p:txBody>
          <a:bodyPr/>
          <a:lstStyle/>
          <a:p>
            <a:endParaRPr lang="en-AU"/>
          </a:p>
        </p:txBody>
      </p:sp>
      <p:sp>
        <p:nvSpPr>
          <p:cNvPr id="9" name="Text 7"/>
          <p:cNvSpPr/>
          <p:nvPr/>
        </p:nvSpPr>
        <p:spPr>
          <a:xfrm>
            <a:off x="9601200" y="1078992"/>
            <a:ext cx="210312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COPY TO WORKBOOK</a:t>
            </a:r>
            <a:endParaRPr lang="en-US" sz="1000" dirty="0"/>
          </a:p>
        </p:txBody>
      </p:sp>
      <p:sp>
        <p:nvSpPr>
          <p:cNvPr id="10" name="Shape 8"/>
          <p:cNvSpPr/>
          <p:nvPr/>
        </p:nvSpPr>
        <p:spPr>
          <a:xfrm>
            <a:off x="457200" y="1874520"/>
            <a:ext cx="5532120" cy="4160520"/>
          </a:xfrm>
          <a:prstGeom prst="roundRect">
            <a:avLst>
              <a:gd name="adj" fmla="val 1758"/>
            </a:avLst>
          </a:prstGeom>
          <a:solidFill>
            <a:srgbClr val="F1ECE3"/>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1" name="Text 9"/>
          <p:cNvSpPr/>
          <p:nvPr/>
        </p:nvSpPr>
        <p:spPr>
          <a:xfrm>
            <a:off x="731520" y="2057400"/>
            <a:ext cx="4937760" cy="457200"/>
          </a:xfrm>
          <a:prstGeom prst="rect">
            <a:avLst/>
          </a:prstGeom>
          <a:noFill/>
          <a:ln/>
        </p:spPr>
        <p:txBody>
          <a:bodyPr wrap="square" lIns="0" tIns="0" rIns="0" bIns="0" rtlCol="0" anchor="ctr"/>
          <a:lstStyle/>
          <a:p>
            <a:pPr marL="0" indent="0">
              <a:buNone/>
            </a:pPr>
            <a:r>
              <a:rPr lang="en-US" sz="2000" b="1" dirty="0">
                <a:solidFill>
                  <a:srgbClr val="B8620A"/>
                </a:solidFill>
                <a:latin typeface="Bookman Old Style" pitchFamily="34" charset="0"/>
                <a:ea typeface="Bookman Old Style" pitchFamily="34" charset="-122"/>
                <a:cs typeface="Bookman Old Style" pitchFamily="34" charset="-120"/>
              </a:rPr>
              <a:t>WIRED</a:t>
            </a:r>
            <a:endParaRPr lang="en-US" sz="2000" dirty="0"/>
          </a:p>
        </p:txBody>
      </p:sp>
      <p:sp>
        <p:nvSpPr>
          <p:cNvPr id="12" name="Text 10"/>
          <p:cNvSpPr/>
          <p:nvPr/>
        </p:nvSpPr>
        <p:spPr>
          <a:xfrm>
            <a:off x="731520" y="2514600"/>
            <a:ext cx="4937760" cy="365760"/>
          </a:xfrm>
          <a:prstGeom prst="rect">
            <a:avLst/>
          </a:prstGeom>
          <a:noFill/>
          <a:ln/>
        </p:spPr>
        <p:txBody>
          <a:bodyPr wrap="square" lIns="0" tIns="0" rIns="0" bIns="0" rtlCol="0" anchor="ctr"/>
          <a:lstStyle/>
          <a:p>
            <a:pPr marL="0" indent="0">
              <a:buNone/>
            </a:pPr>
            <a:r>
              <a:rPr lang="en-US" sz="1400" i="1" dirty="0">
                <a:solidFill>
                  <a:srgbClr val="6B6762"/>
                </a:solidFill>
                <a:latin typeface="Calibri" pitchFamily="34" charset="0"/>
                <a:ea typeface="Calibri" pitchFamily="34" charset="-122"/>
                <a:cs typeface="Calibri" pitchFamily="34" charset="-120"/>
              </a:rPr>
              <a:t>Data travels along a physical cable.</a:t>
            </a:r>
            <a:endParaRPr lang="en-US" sz="1400" dirty="0"/>
          </a:p>
        </p:txBody>
      </p:sp>
      <p:sp>
        <p:nvSpPr>
          <p:cNvPr id="13" name="Text 11"/>
          <p:cNvSpPr/>
          <p:nvPr/>
        </p:nvSpPr>
        <p:spPr>
          <a:xfrm>
            <a:off x="731520" y="2971800"/>
            <a:ext cx="4983480" cy="1463040"/>
          </a:xfrm>
          <a:prstGeom prst="rect">
            <a:avLst/>
          </a:prstGeom>
          <a:noFill/>
          <a:ln/>
        </p:spPr>
        <p:txBody>
          <a:bodyPr wrap="square" lIns="0" tIns="0" rIns="0" bIns="0" rtlCol="0" anchor="t"/>
          <a:lstStyle/>
          <a:p>
            <a:pPr marL="0" indent="0">
              <a:spcAft>
                <a:spcPts val="800"/>
              </a:spcAft>
              <a:buNone/>
            </a:pPr>
            <a:r>
              <a:rPr lang="en-US" sz="1400" b="1" dirty="0">
                <a:solidFill>
                  <a:srgbClr val="12100E"/>
                </a:solidFill>
                <a:latin typeface="Calibri" pitchFamily="34" charset="0"/>
                <a:ea typeface="Calibri" pitchFamily="34" charset="-122"/>
                <a:cs typeface="Calibri" pitchFamily="34" charset="-120"/>
              </a:rPr>
              <a:t>Ethernet (copper cable) — </a:t>
            </a:r>
            <a:r>
              <a:rPr lang="en-US" sz="1400" dirty="0">
                <a:solidFill>
                  <a:srgbClr val="2C2A28"/>
                </a:solidFill>
                <a:latin typeface="Calibri" pitchFamily="34" charset="0"/>
                <a:ea typeface="Calibri" pitchFamily="34" charset="-122"/>
                <a:cs typeface="Calibri" pitchFamily="34" charset="-120"/>
              </a:rPr>
              <a:t>common in offices and labs.</a:t>
            </a:r>
            <a:endParaRPr lang="en-US" sz="1400" dirty="0"/>
          </a:p>
          <a:p>
            <a:pPr marL="0" indent="0">
              <a:spcAft>
                <a:spcPts val="800"/>
              </a:spcAft>
              <a:buNone/>
            </a:pPr>
            <a:r>
              <a:rPr lang="en-US" sz="1400" b="1" dirty="0">
                <a:solidFill>
                  <a:srgbClr val="12100E"/>
                </a:solidFill>
                <a:latin typeface="Calibri" pitchFamily="34" charset="0"/>
                <a:ea typeface="Calibri" pitchFamily="34" charset="-122"/>
                <a:cs typeface="Calibri" pitchFamily="34" charset="-120"/>
              </a:rPr>
              <a:t>Fibre optic — </a:t>
            </a:r>
            <a:r>
              <a:rPr lang="en-US" sz="1400" dirty="0">
                <a:solidFill>
                  <a:srgbClr val="2C2A28"/>
                </a:solidFill>
                <a:latin typeface="Calibri" pitchFamily="34" charset="0"/>
                <a:ea typeface="Calibri" pitchFamily="34" charset="-122"/>
                <a:cs typeface="Calibri" pitchFamily="34" charset="-120"/>
              </a:rPr>
              <a:t>sends data as pulses of light through thin glass. Very fast, used by the NBN.</a:t>
            </a:r>
            <a:endParaRPr lang="en-US" sz="1400" dirty="0"/>
          </a:p>
        </p:txBody>
      </p:sp>
      <p:sp>
        <p:nvSpPr>
          <p:cNvPr id="14" name="Shape 12"/>
          <p:cNvSpPr/>
          <p:nvPr/>
        </p:nvSpPr>
        <p:spPr>
          <a:xfrm>
            <a:off x="731520" y="4983480"/>
            <a:ext cx="4983480" cy="868680"/>
          </a:xfrm>
          <a:prstGeom prst="roundRect">
            <a:avLst>
              <a:gd name="adj" fmla="val 8421"/>
            </a:avLst>
          </a:prstGeom>
          <a:solidFill>
            <a:srgbClr val="FFFFFF"/>
          </a:solidFill>
          <a:ln w="12700">
            <a:solidFill>
              <a:srgbClr val="D8D3CA"/>
            </a:solidFill>
            <a:prstDash val="solid"/>
          </a:ln>
        </p:spPr>
        <p:txBody>
          <a:bodyPr/>
          <a:lstStyle/>
          <a:p>
            <a:endParaRPr lang="en-AU"/>
          </a:p>
        </p:txBody>
      </p:sp>
      <p:sp>
        <p:nvSpPr>
          <p:cNvPr id="15" name="Text 13"/>
          <p:cNvSpPr/>
          <p:nvPr/>
        </p:nvSpPr>
        <p:spPr>
          <a:xfrm>
            <a:off x="914400" y="5029200"/>
            <a:ext cx="4617720" cy="777240"/>
          </a:xfrm>
          <a:prstGeom prst="rect">
            <a:avLst/>
          </a:prstGeom>
          <a:noFill/>
          <a:ln/>
        </p:spPr>
        <p:txBody>
          <a:bodyPr wrap="square" lIns="0" tIns="0" rIns="0" bIns="0" rtlCol="0" anchor="ctr"/>
          <a:lstStyle/>
          <a:p>
            <a:pPr marL="0" indent="0">
              <a:buNone/>
            </a:pPr>
            <a:r>
              <a:rPr lang="en-US" sz="1300" b="1" dirty="0">
                <a:solidFill>
                  <a:srgbClr val="1B5E47"/>
                </a:solidFill>
                <a:latin typeface="Calibri" pitchFamily="34" charset="0"/>
                <a:ea typeface="Calibri" pitchFamily="34" charset="-122"/>
                <a:cs typeface="Calibri" pitchFamily="34" charset="-120"/>
              </a:rPr>
              <a:t>Strengths: </a:t>
            </a:r>
            <a:r>
              <a:rPr lang="en-US" sz="1300" dirty="0">
                <a:solidFill>
                  <a:srgbClr val="2C2A28"/>
                </a:solidFill>
                <a:latin typeface="Calibri" pitchFamily="34" charset="0"/>
                <a:ea typeface="Calibri" pitchFamily="34" charset="-122"/>
                <a:cs typeface="Calibri" pitchFamily="34" charset="-120"/>
              </a:rPr>
              <a:t>fast, reliable, secure.  </a:t>
            </a:r>
            <a:r>
              <a:rPr lang="en-US" sz="1300" b="1" dirty="0">
                <a:solidFill>
                  <a:srgbClr val="8C1F28"/>
                </a:solidFill>
                <a:latin typeface="Calibri" pitchFamily="34" charset="0"/>
                <a:ea typeface="Calibri" pitchFamily="34" charset="-122"/>
                <a:cs typeface="Calibri" pitchFamily="34" charset="-120"/>
              </a:rPr>
              <a:t>Catch: </a:t>
            </a:r>
            <a:r>
              <a:rPr lang="en-US" sz="1300" dirty="0">
                <a:solidFill>
                  <a:srgbClr val="2C2A28"/>
                </a:solidFill>
                <a:latin typeface="Calibri" pitchFamily="34" charset="0"/>
                <a:ea typeface="Calibri" pitchFamily="34" charset="-122"/>
                <a:cs typeface="Calibri" pitchFamily="34" charset="-120"/>
              </a:rPr>
              <a:t>you're tied to a cable.</a:t>
            </a:r>
            <a:endParaRPr lang="en-US" sz="1300" dirty="0"/>
          </a:p>
        </p:txBody>
      </p:sp>
      <p:sp>
        <p:nvSpPr>
          <p:cNvPr id="16" name="Shape 14"/>
          <p:cNvSpPr/>
          <p:nvPr/>
        </p:nvSpPr>
        <p:spPr>
          <a:xfrm>
            <a:off x="6172200" y="1874520"/>
            <a:ext cx="5532120" cy="4160520"/>
          </a:xfrm>
          <a:prstGeom prst="roundRect">
            <a:avLst>
              <a:gd name="adj" fmla="val 1758"/>
            </a:avLst>
          </a:prstGeom>
          <a:solidFill>
            <a:srgbClr val="EAF0EC"/>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7" name="Text 15"/>
          <p:cNvSpPr/>
          <p:nvPr/>
        </p:nvSpPr>
        <p:spPr>
          <a:xfrm>
            <a:off x="6446520" y="2057400"/>
            <a:ext cx="4937760" cy="457200"/>
          </a:xfrm>
          <a:prstGeom prst="rect">
            <a:avLst/>
          </a:prstGeom>
          <a:noFill/>
          <a:ln/>
        </p:spPr>
        <p:txBody>
          <a:bodyPr wrap="square" lIns="0" tIns="0" rIns="0" bIns="0" rtlCol="0" anchor="ctr"/>
          <a:lstStyle/>
          <a:p>
            <a:pPr marL="0" indent="0">
              <a:buNone/>
            </a:pPr>
            <a:r>
              <a:rPr lang="en-US" sz="2000" b="1" dirty="0">
                <a:solidFill>
                  <a:srgbClr val="2B3A8C"/>
                </a:solidFill>
                <a:latin typeface="Bookman Old Style" pitchFamily="34" charset="0"/>
                <a:ea typeface="Bookman Old Style" pitchFamily="34" charset="-122"/>
                <a:cs typeface="Bookman Old Style" pitchFamily="34" charset="-120"/>
              </a:rPr>
              <a:t>WIRELESS</a:t>
            </a:r>
            <a:endParaRPr lang="en-US" sz="2000" dirty="0"/>
          </a:p>
        </p:txBody>
      </p:sp>
      <p:sp>
        <p:nvSpPr>
          <p:cNvPr id="18" name="Text 16"/>
          <p:cNvSpPr/>
          <p:nvPr/>
        </p:nvSpPr>
        <p:spPr>
          <a:xfrm>
            <a:off x="6446520" y="2514600"/>
            <a:ext cx="4937760" cy="365760"/>
          </a:xfrm>
          <a:prstGeom prst="rect">
            <a:avLst/>
          </a:prstGeom>
          <a:noFill/>
          <a:ln/>
        </p:spPr>
        <p:txBody>
          <a:bodyPr wrap="square" lIns="0" tIns="0" rIns="0" bIns="0" rtlCol="0" anchor="ctr"/>
          <a:lstStyle/>
          <a:p>
            <a:pPr marL="0" indent="0">
              <a:buNone/>
            </a:pPr>
            <a:r>
              <a:rPr lang="en-US" sz="1400" i="1" dirty="0">
                <a:solidFill>
                  <a:srgbClr val="6B6762"/>
                </a:solidFill>
                <a:latin typeface="Calibri" pitchFamily="34" charset="0"/>
                <a:ea typeface="Calibri" pitchFamily="34" charset="-122"/>
                <a:cs typeface="Calibri" pitchFamily="34" charset="-120"/>
              </a:rPr>
              <a:t>Data travels through the air as signals.</a:t>
            </a:r>
            <a:endParaRPr lang="en-US" sz="1400" dirty="0"/>
          </a:p>
        </p:txBody>
      </p:sp>
      <p:sp>
        <p:nvSpPr>
          <p:cNvPr id="19" name="Text 17"/>
          <p:cNvSpPr/>
          <p:nvPr/>
        </p:nvSpPr>
        <p:spPr>
          <a:xfrm>
            <a:off x="6446520" y="2971800"/>
            <a:ext cx="4983480" cy="1737360"/>
          </a:xfrm>
          <a:prstGeom prst="rect">
            <a:avLst/>
          </a:prstGeom>
          <a:noFill/>
          <a:ln/>
        </p:spPr>
        <p:txBody>
          <a:bodyPr wrap="square" lIns="0" tIns="0" rIns="0" bIns="0" rtlCol="0" anchor="t"/>
          <a:lstStyle/>
          <a:p>
            <a:pPr marL="0" indent="0">
              <a:spcAft>
                <a:spcPts val="600"/>
              </a:spcAft>
              <a:buNone/>
            </a:pPr>
            <a:r>
              <a:rPr lang="en-US" sz="1400" b="1" dirty="0">
                <a:solidFill>
                  <a:srgbClr val="12100E"/>
                </a:solidFill>
                <a:latin typeface="Calibri" pitchFamily="34" charset="0"/>
                <a:ea typeface="Calibri" pitchFamily="34" charset="-122"/>
                <a:cs typeface="Calibri" pitchFamily="34" charset="-120"/>
              </a:rPr>
              <a:t>Wi-Fi — </a:t>
            </a:r>
            <a:r>
              <a:rPr lang="en-US" sz="1400" dirty="0">
                <a:solidFill>
                  <a:srgbClr val="2C2A28"/>
                </a:solidFill>
                <a:latin typeface="Calibri" pitchFamily="34" charset="0"/>
                <a:ea typeface="Calibri" pitchFamily="34" charset="-122"/>
                <a:cs typeface="Calibri" pitchFamily="34" charset="-120"/>
              </a:rPr>
              <a:t>radio waves over short distances (home, school).</a:t>
            </a:r>
            <a:endParaRPr lang="en-US" sz="1400" dirty="0"/>
          </a:p>
          <a:p>
            <a:pPr marL="0" indent="0">
              <a:spcAft>
                <a:spcPts val="600"/>
              </a:spcAft>
              <a:buNone/>
            </a:pPr>
            <a:r>
              <a:rPr lang="en-US" sz="1400" b="1" dirty="0">
                <a:solidFill>
                  <a:srgbClr val="12100E"/>
                </a:solidFill>
                <a:latin typeface="Calibri" pitchFamily="34" charset="0"/>
                <a:ea typeface="Calibri" pitchFamily="34" charset="-122"/>
                <a:cs typeface="Calibri" pitchFamily="34" charset="-120"/>
              </a:rPr>
              <a:t>Mobile data (4G/5G) — </a:t>
            </a:r>
            <a:r>
              <a:rPr lang="en-US" sz="1400" dirty="0">
                <a:solidFill>
                  <a:srgbClr val="2C2A28"/>
                </a:solidFill>
                <a:latin typeface="Calibri" pitchFamily="34" charset="0"/>
                <a:ea typeface="Calibri" pitchFamily="34" charset="-122"/>
                <a:cs typeface="Calibri" pitchFamily="34" charset="-120"/>
              </a:rPr>
              <a:t>phone towers, works almost anywhere.</a:t>
            </a:r>
            <a:endParaRPr lang="en-US" sz="1400" dirty="0"/>
          </a:p>
          <a:p>
            <a:pPr marL="0" indent="0">
              <a:spcAft>
                <a:spcPts val="600"/>
              </a:spcAft>
              <a:buNone/>
            </a:pPr>
            <a:r>
              <a:rPr lang="en-US" sz="1400" b="1" dirty="0">
                <a:solidFill>
                  <a:srgbClr val="12100E"/>
                </a:solidFill>
                <a:latin typeface="Calibri" pitchFamily="34" charset="0"/>
                <a:ea typeface="Calibri" pitchFamily="34" charset="-122"/>
                <a:cs typeface="Calibri" pitchFamily="34" charset="-120"/>
              </a:rPr>
              <a:t>Bluetooth — </a:t>
            </a:r>
            <a:r>
              <a:rPr lang="en-US" sz="1400" dirty="0">
                <a:solidFill>
                  <a:srgbClr val="2C2A28"/>
                </a:solidFill>
                <a:latin typeface="Calibri" pitchFamily="34" charset="0"/>
                <a:ea typeface="Calibri" pitchFamily="34" charset="-122"/>
                <a:cs typeface="Calibri" pitchFamily="34" charset="-120"/>
              </a:rPr>
              <a:t>very short range. Satellite — for remote areas.</a:t>
            </a:r>
            <a:endParaRPr lang="en-US" sz="1400" dirty="0"/>
          </a:p>
        </p:txBody>
      </p:sp>
      <p:sp>
        <p:nvSpPr>
          <p:cNvPr id="20" name="Shape 18"/>
          <p:cNvSpPr/>
          <p:nvPr/>
        </p:nvSpPr>
        <p:spPr>
          <a:xfrm>
            <a:off x="6446520" y="4983480"/>
            <a:ext cx="4983480" cy="868680"/>
          </a:xfrm>
          <a:prstGeom prst="roundRect">
            <a:avLst>
              <a:gd name="adj" fmla="val 8421"/>
            </a:avLst>
          </a:prstGeom>
          <a:solidFill>
            <a:srgbClr val="FFFFFF"/>
          </a:solidFill>
          <a:ln w="12700">
            <a:solidFill>
              <a:srgbClr val="D8D3CA"/>
            </a:solidFill>
            <a:prstDash val="solid"/>
          </a:ln>
        </p:spPr>
        <p:txBody>
          <a:bodyPr/>
          <a:lstStyle/>
          <a:p>
            <a:endParaRPr lang="en-AU"/>
          </a:p>
        </p:txBody>
      </p:sp>
      <p:sp>
        <p:nvSpPr>
          <p:cNvPr id="21" name="Text 19"/>
          <p:cNvSpPr/>
          <p:nvPr/>
        </p:nvSpPr>
        <p:spPr>
          <a:xfrm>
            <a:off x="6629400" y="5029200"/>
            <a:ext cx="4617720" cy="777240"/>
          </a:xfrm>
          <a:prstGeom prst="rect">
            <a:avLst/>
          </a:prstGeom>
          <a:noFill/>
          <a:ln/>
        </p:spPr>
        <p:txBody>
          <a:bodyPr wrap="square" lIns="0" tIns="0" rIns="0" bIns="0" rtlCol="0" anchor="ctr"/>
          <a:lstStyle/>
          <a:p>
            <a:pPr marL="0" indent="0">
              <a:buNone/>
            </a:pPr>
            <a:r>
              <a:rPr lang="en-US" sz="1300" b="1" dirty="0">
                <a:solidFill>
                  <a:srgbClr val="1B5E47"/>
                </a:solidFill>
                <a:latin typeface="Calibri" pitchFamily="34" charset="0"/>
                <a:ea typeface="Calibri" pitchFamily="34" charset="-122"/>
                <a:cs typeface="Calibri" pitchFamily="34" charset="-120"/>
              </a:rPr>
              <a:t>Strengths: </a:t>
            </a:r>
            <a:r>
              <a:rPr lang="en-US" sz="1300" dirty="0">
                <a:solidFill>
                  <a:srgbClr val="2C2A28"/>
                </a:solidFill>
                <a:latin typeface="Calibri" pitchFamily="34" charset="0"/>
                <a:ea typeface="Calibri" pitchFamily="34" charset="-122"/>
                <a:cs typeface="Calibri" pitchFamily="34" charset="-120"/>
              </a:rPr>
              <a:t>move around freely.  </a:t>
            </a:r>
            <a:r>
              <a:rPr lang="en-US" sz="1300" b="1" dirty="0">
                <a:solidFill>
                  <a:srgbClr val="8C1F28"/>
                </a:solidFill>
                <a:latin typeface="Calibri" pitchFamily="34" charset="0"/>
                <a:ea typeface="Calibri" pitchFamily="34" charset="-122"/>
                <a:cs typeface="Calibri" pitchFamily="34" charset="-120"/>
              </a:rPr>
              <a:t>Catch: </a:t>
            </a:r>
            <a:r>
              <a:rPr lang="en-US" sz="1300" dirty="0">
                <a:solidFill>
                  <a:srgbClr val="2C2A28"/>
                </a:solidFill>
                <a:latin typeface="Calibri" pitchFamily="34" charset="0"/>
                <a:ea typeface="Calibri" pitchFamily="34" charset="-122"/>
                <a:cs typeface="Calibri" pitchFamily="34" charset="-120"/>
              </a:rPr>
              <a:t>slower, weaker through walls/distance.</a:t>
            </a:r>
            <a:endParaRPr lang="en-US" sz="1300" dirty="0"/>
          </a:p>
        </p:txBody>
      </p:sp>
      <p:sp>
        <p:nvSpPr>
          <p:cNvPr id="23" name="Text 20"/>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4" name="Text 21"/>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00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1371600"/>
            <a:ext cx="777240" cy="777240"/>
          </a:xfrm>
          <a:prstGeom prst="rect">
            <a:avLst/>
          </a:prstGeom>
        </p:spPr>
      </p:pic>
      <p:sp>
        <p:nvSpPr>
          <p:cNvPr id="3" name="Text 0"/>
          <p:cNvSpPr/>
          <p:nvPr/>
        </p:nvSpPr>
        <p:spPr>
          <a:xfrm>
            <a:off x="457200" y="2240280"/>
            <a:ext cx="1124712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Bookman Old Style" pitchFamily="34" charset="0"/>
                <a:ea typeface="Bookman Old Style" pitchFamily="34" charset="-122"/>
                <a:cs typeface="Bookman Old Style" pitchFamily="34" charset="-120"/>
              </a:rPr>
              <a:t>Brain Break</a:t>
            </a:r>
            <a:endParaRPr lang="en-US" sz="4000" dirty="0"/>
          </a:p>
        </p:txBody>
      </p:sp>
      <p:sp>
        <p:nvSpPr>
          <p:cNvPr id="4" name="Text 1"/>
          <p:cNvSpPr/>
          <p:nvPr/>
        </p:nvSpPr>
        <p:spPr>
          <a:xfrm>
            <a:off x="1371600" y="3200400"/>
            <a:ext cx="9418320" cy="548640"/>
          </a:xfrm>
          <a:prstGeom prst="rect">
            <a:avLst/>
          </a:prstGeom>
          <a:noFill/>
          <a:ln/>
        </p:spPr>
        <p:txBody>
          <a:bodyPr wrap="square" lIns="0" tIns="0" rIns="0" bIns="0" rtlCol="0" anchor="ctr"/>
          <a:lstStyle/>
          <a:p>
            <a:pPr marL="0" indent="0" algn="ctr">
              <a:buNone/>
            </a:pPr>
            <a:r>
              <a:rPr lang="en-US" sz="1800" dirty="0">
                <a:solidFill>
                  <a:srgbClr val="D8D3CA"/>
                </a:solidFill>
                <a:latin typeface="Calibri" pitchFamily="34" charset="0"/>
                <a:ea typeface="Calibri" pitchFamily="34" charset="-122"/>
                <a:cs typeface="Calibri" pitchFamily="34" charset="-120"/>
              </a:rPr>
              <a:t>60 seconds. Stand up, stretch, look out a window (the furthest point you can see).</a:t>
            </a:r>
            <a:endParaRPr lang="en-US" sz="1800" dirty="0"/>
          </a:p>
        </p:txBody>
      </p:sp>
      <p:sp>
        <p:nvSpPr>
          <p:cNvPr id="5" name="Shape 2"/>
          <p:cNvSpPr/>
          <p:nvPr/>
        </p:nvSpPr>
        <p:spPr>
          <a:xfrm>
            <a:off x="3108960" y="4023360"/>
            <a:ext cx="5943600" cy="1005840"/>
          </a:xfrm>
          <a:prstGeom prst="roundRect">
            <a:avLst>
              <a:gd name="adj" fmla="val 9091"/>
            </a:avLst>
          </a:prstGeom>
          <a:solidFill>
            <a:srgbClr val="2C2A28"/>
          </a:solidFill>
          <a:ln w="19050">
            <a:solidFill>
              <a:srgbClr val="B8620A"/>
            </a:solidFill>
            <a:prstDash val="solid"/>
          </a:ln>
        </p:spPr>
        <p:txBody>
          <a:bodyPr/>
          <a:lstStyle/>
          <a:p>
            <a:endParaRPr lang="en-AU"/>
          </a:p>
        </p:txBody>
      </p:sp>
      <p:sp>
        <p:nvSpPr>
          <p:cNvPr id="6" name="Text 3"/>
          <p:cNvSpPr/>
          <p:nvPr/>
        </p:nvSpPr>
        <p:spPr>
          <a:xfrm>
            <a:off x="3337560" y="4023360"/>
            <a:ext cx="5486400" cy="1005840"/>
          </a:xfrm>
          <a:prstGeom prst="rect">
            <a:avLst/>
          </a:prstGeom>
          <a:noFill/>
          <a:ln/>
        </p:spPr>
        <p:txBody>
          <a:bodyPr wrap="square" lIns="0" tIns="0" rIns="0" bIns="0" rtlCol="0" anchor="ctr"/>
          <a:lstStyle/>
          <a:p>
            <a:pPr marL="0" indent="0">
              <a:buNone/>
            </a:pPr>
            <a:r>
              <a:rPr lang="en-US" sz="1600" b="1" dirty="0">
                <a:solidFill>
                  <a:srgbClr val="B8620A"/>
                </a:solidFill>
                <a:latin typeface="Calibri" pitchFamily="34" charset="0"/>
                <a:ea typeface="Calibri" pitchFamily="34" charset="-122"/>
                <a:cs typeface="Calibri" pitchFamily="34" charset="-120"/>
              </a:rPr>
              <a:t>Quick challenge:  </a:t>
            </a:r>
            <a:r>
              <a:rPr lang="en-US" sz="1600" dirty="0">
                <a:solidFill>
                  <a:srgbClr val="FFFFFF"/>
                </a:solidFill>
                <a:latin typeface="Calibri" pitchFamily="34" charset="0"/>
                <a:ea typeface="Calibri" pitchFamily="34" charset="-122"/>
                <a:cs typeface="Calibri" pitchFamily="34" charset="-120"/>
              </a:rPr>
              <a:t>count how many things in this room could connect to a network.</a:t>
            </a:r>
            <a:endParaRPr lang="en-US" sz="1600" dirty="0"/>
          </a:p>
        </p:txBody>
      </p:sp>
      <p:sp>
        <p:nvSpPr>
          <p:cNvPr id="8" name="Text 4"/>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9" name="Text 5"/>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8C1F28"/>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APPLYING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1B5E47"/>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1B5E47"/>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1B5E47"/>
                </a:solidFill>
                <a:latin typeface="Courier New" pitchFamily="34" charset="0"/>
                <a:ea typeface="Courier New" pitchFamily="34" charset="-122"/>
                <a:cs typeface="Courier New" pitchFamily="34" charset="-120"/>
              </a:rPr>
              <a:t>DEVICES: ON</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Your Turn: Open the Workbook</a:t>
            </a:r>
            <a:endParaRPr lang="en-US" sz="3200" dirty="0"/>
          </a:p>
        </p:txBody>
      </p:sp>
      <p:pic>
        <p:nvPicPr>
          <p:cNvPr id="8" name="Image 0" descr="preencoded.png"/>
          <p:cNvPicPr>
            <a:picLocks noChangeAspect="1"/>
          </p:cNvPicPr>
          <p:nvPr/>
        </p:nvPicPr>
        <p:blipFill>
          <a:blip r:embed="rId3"/>
          <a:stretch>
            <a:fillRect/>
          </a:stretch>
        </p:blipFill>
        <p:spPr>
          <a:xfrm>
            <a:off x="10698480" y="960120"/>
            <a:ext cx="777240" cy="777240"/>
          </a:xfrm>
          <a:prstGeom prst="rect">
            <a:avLst/>
          </a:prstGeom>
        </p:spPr>
      </p:pic>
      <p:sp>
        <p:nvSpPr>
          <p:cNvPr id="9" name="Shape 6"/>
          <p:cNvSpPr/>
          <p:nvPr/>
        </p:nvSpPr>
        <p:spPr>
          <a:xfrm>
            <a:off x="457200" y="1874520"/>
            <a:ext cx="11247120" cy="1051560"/>
          </a:xfrm>
          <a:prstGeom prst="roundRect">
            <a:avLst>
              <a:gd name="adj" fmla="val 6957"/>
            </a:avLst>
          </a:prstGeom>
          <a:solidFill>
            <a:srgbClr val="12100E"/>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0" name="Text 7"/>
          <p:cNvSpPr/>
          <p:nvPr/>
        </p:nvSpPr>
        <p:spPr>
          <a:xfrm>
            <a:off x="777240" y="1874520"/>
            <a:ext cx="10607040" cy="10515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Open your workbook now — </a:t>
            </a:r>
            <a:r>
              <a:rPr lang="en-US" sz="1600" dirty="0">
                <a:solidFill>
                  <a:srgbClr val="E8E2D6"/>
                </a:solidFill>
                <a:latin typeface="Calibri" pitchFamily="34" charset="0"/>
                <a:ea typeface="Calibri" pitchFamily="34" charset="-122"/>
                <a:cs typeface="Calibri" pitchFamily="34" charset="-120"/>
              </a:rPr>
              <a:t>“Lesson 1: How the Internet Works”. Work through the sections. Pick the tier that challenges you — you can do more than one.</a:t>
            </a:r>
            <a:endParaRPr lang="en-US" sz="1600" dirty="0"/>
          </a:p>
        </p:txBody>
      </p:sp>
      <p:sp>
        <p:nvSpPr>
          <p:cNvPr id="11" name="Shape 8"/>
          <p:cNvSpPr/>
          <p:nvPr/>
        </p:nvSpPr>
        <p:spPr>
          <a:xfrm>
            <a:off x="457200" y="3154680"/>
            <a:ext cx="11247120" cy="868680"/>
          </a:xfrm>
          <a:prstGeom prst="roundRect">
            <a:avLst>
              <a:gd name="adj" fmla="val 84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2" name="Shape 9"/>
          <p:cNvSpPr/>
          <p:nvPr/>
        </p:nvSpPr>
        <p:spPr>
          <a:xfrm>
            <a:off x="685800" y="3355848"/>
            <a:ext cx="1874520" cy="457200"/>
          </a:xfrm>
          <a:prstGeom prst="roundRect">
            <a:avLst>
              <a:gd name="adj" fmla="val 50000"/>
            </a:avLst>
          </a:prstGeom>
          <a:solidFill>
            <a:srgbClr val="1B5E47"/>
          </a:solidFill>
          <a:ln/>
        </p:spPr>
        <p:txBody>
          <a:bodyPr/>
          <a:lstStyle/>
          <a:p>
            <a:endParaRPr lang="en-AU"/>
          </a:p>
        </p:txBody>
      </p:sp>
      <p:sp>
        <p:nvSpPr>
          <p:cNvPr id="13" name="Text 10"/>
          <p:cNvSpPr/>
          <p:nvPr/>
        </p:nvSpPr>
        <p:spPr>
          <a:xfrm>
            <a:off x="685800" y="3355848"/>
            <a:ext cx="1874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Foundation</a:t>
            </a:r>
            <a:endParaRPr lang="en-US" sz="1300" dirty="0"/>
          </a:p>
        </p:txBody>
      </p:sp>
      <p:sp>
        <p:nvSpPr>
          <p:cNvPr id="14" name="Text 11"/>
          <p:cNvSpPr/>
          <p:nvPr/>
        </p:nvSpPr>
        <p:spPr>
          <a:xfrm>
            <a:off x="2743200" y="3154680"/>
            <a:ext cx="8686800" cy="868680"/>
          </a:xfrm>
          <a:prstGeom prst="rect">
            <a:avLst/>
          </a:prstGeom>
          <a:noFill/>
          <a:ln/>
        </p:spPr>
        <p:txBody>
          <a:bodyPr wrap="square" lIns="0" tIns="0" rIns="0" bIns="0" rtlCol="0" anchor="ctr"/>
          <a:lstStyle/>
          <a:p>
            <a:pPr marL="0" indent="0">
              <a:buNone/>
            </a:pPr>
            <a:r>
              <a:rPr lang="en-US" sz="1400" dirty="0">
                <a:solidFill>
                  <a:srgbClr val="2C2A28"/>
                </a:solidFill>
                <a:latin typeface="Calibri" pitchFamily="34" charset="0"/>
                <a:ea typeface="Calibri" pitchFamily="34" charset="-122"/>
                <a:cs typeface="Calibri" pitchFamily="34" charset="-120"/>
              </a:rPr>
              <a:t>Match the network parts to their jobs. Label the network diagram. Complete the vocabulary check.</a:t>
            </a:r>
            <a:endParaRPr lang="en-US" sz="1400" dirty="0"/>
          </a:p>
        </p:txBody>
      </p:sp>
      <p:sp>
        <p:nvSpPr>
          <p:cNvPr id="15" name="Shape 12"/>
          <p:cNvSpPr/>
          <p:nvPr/>
        </p:nvSpPr>
        <p:spPr>
          <a:xfrm>
            <a:off x="457200" y="4096512"/>
            <a:ext cx="11247120" cy="868680"/>
          </a:xfrm>
          <a:prstGeom prst="roundRect">
            <a:avLst>
              <a:gd name="adj" fmla="val 84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6" name="Shape 13"/>
          <p:cNvSpPr/>
          <p:nvPr/>
        </p:nvSpPr>
        <p:spPr>
          <a:xfrm>
            <a:off x="685800" y="4297680"/>
            <a:ext cx="1874520" cy="457200"/>
          </a:xfrm>
          <a:prstGeom prst="roundRect">
            <a:avLst>
              <a:gd name="adj" fmla="val 50000"/>
            </a:avLst>
          </a:prstGeom>
          <a:solidFill>
            <a:srgbClr val="B8620A"/>
          </a:solidFill>
          <a:ln/>
        </p:spPr>
        <p:txBody>
          <a:bodyPr/>
          <a:lstStyle/>
          <a:p>
            <a:endParaRPr lang="en-AU"/>
          </a:p>
        </p:txBody>
      </p:sp>
      <p:sp>
        <p:nvSpPr>
          <p:cNvPr id="17" name="Text 14"/>
          <p:cNvSpPr/>
          <p:nvPr/>
        </p:nvSpPr>
        <p:spPr>
          <a:xfrm>
            <a:off x="685800" y="4297680"/>
            <a:ext cx="1874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Developing</a:t>
            </a:r>
            <a:endParaRPr lang="en-US" sz="1300" dirty="0"/>
          </a:p>
        </p:txBody>
      </p:sp>
      <p:sp>
        <p:nvSpPr>
          <p:cNvPr id="18" name="Text 15"/>
          <p:cNvSpPr/>
          <p:nvPr/>
        </p:nvSpPr>
        <p:spPr>
          <a:xfrm>
            <a:off x="2743200" y="4096512"/>
            <a:ext cx="8686800" cy="868680"/>
          </a:xfrm>
          <a:prstGeom prst="rect">
            <a:avLst/>
          </a:prstGeom>
          <a:noFill/>
          <a:ln/>
        </p:spPr>
        <p:txBody>
          <a:bodyPr wrap="square" lIns="0" tIns="0" rIns="0" bIns="0" rtlCol="0" anchor="ctr"/>
          <a:lstStyle/>
          <a:p>
            <a:pPr marL="0" indent="0">
              <a:buNone/>
            </a:pPr>
            <a:r>
              <a:rPr lang="en-US" sz="1400" dirty="0">
                <a:solidFill>
                  <a:srgbClr val="2C2A28"/>
                </a:solidFill>
                <a:latin typeface="Calibri" pitchFamily="34" charset="0"/>
                <a:ea typeface="Calibri" pitchFamily="34" charset="-122"/>
                <a:cs typeface="Calibri" pitchFamily="34" charset="-120"/>
              </a:rPr>
              <a:t>Sort scenarios into PAN / LAN / WLAN / WAN. Explain what each network part does in your own words.</a:t>
            </a:r>
            <a:endParaRPr lang="en-US" sz="1400" dirty="0"/>
          </a:p>
        </p:txBody>
      </p:sp>
      <p:sp>
        <p:nvSpPr>
          <p:cNvPr id="19" name="Shape 16"/>
          <p:cNvSpPr/>
          <p:nvPr/>
        </p:nvSpPr>
        <p:spPr>
          <a:xfrm>
            <a:off x="457200" y="5038344"/>
            <a:ext cx="11247120" cy="868680"/>
          </a:xfrm>
          <a:prstGeom prst="roundRect">
            <a:avLst>
              <a:gd name="adj" fmla="val 8421"/>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0" name="Shape 17"/>
          <p:cNvSpPr/>
          <p:nvPr/>
        </p:nvSpPr>
        <p:spPr>
          <a:xfrm>
            <a:off x="685800" y="5239512"/>
            <a:ext cx="1874520" cy="457200"/>
          </a:xfrm>
          <a:prstGeom prst="roundRect">
            <a:avLst>
              <a:gd name="adj" fmla="val 50000"/>
            </a:avLst>
          </a:prstGeom>
          <a:solidFill>
            <a:srgbClr val="2B3A8C"/>
          </a:solidFill>
          <a:ln/>
        </p:spPr>
        <p:txBody>
          <a:bodyPr/>
          <a:lstStyle/>
          <a:p>
            <a:endParaRPr lang="en-AU"/>
          </a:p>
        </p:txBody>
      </p:sp>
      <p:sp>
        <p:nvSpPr>
          <p:cNvPr id="21" name="Text 18"/>
          <p:cNvSpPr/>
          <p:nvPr/>
        </p:nvSpPr>
        <p:spPr>
          <a:xfrm>
            <a:off x="685800" y="5239512"/>
            <a:ext cx="18745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Extending</a:t>
            </a:r>
            <a:endParaRPr lang="en-US" sz="1300" dirty="0"/>
          </a:p>
        </p:txBody>
      </p:sp>
      <p:sp>
        <p:nvSpPr>
          <p:cNvPr id="22" name="Text 19"/>
          <p:cNvSpPr/>
          <p:nvPr/>
        </p:nvSpPr>
        <p:spPr>
          <a:xfrm>
            <a:off x="2743200" y="5038344"/>
            <a:ext cx="8686800" cy="868680"/>
          </a:xfrm>
          <a:prstGeom prst="rect">
            <a:avLst/>
          </a:prstGeom>
          <a:noFill/>
          <a:ln/>
        </p:spPr>
        <p:txBody>
          <a:bodyPr wrap="square" lIns="0" tIns="0" rIns="0" bIns="0" rtlCol="0" anchor="ctr"/>
          <a:lstStyle/>
          <a:p>
            <a:pPr marL="0" indent="0">
              <a:buNone/>
            </a:pPr>
            <a:r>
              <a:rPr lang="en-US" sz="1400" dirty="0">
                <a:solidFill>
                  <a:srgbClr val="2C2A28"/>
                </a:solidFill>
                <a:latin typeface="Calibri" pitchFamily="34" charset="0"/>
                <a:ea typeface="Calibri" pitchFamily="34" charset="-122"/>
                <a:cs typeface="Calibri" pitchFamily="34" charset="-120"/>
              </a:rPr>
              <a:t>Design a network for a small cafe. Choose wired or wireless for each device and justify every choice.</a:t>
            </a:r>
            <a:endParaRPr lang="en-US" sz="1400" dirty="0"/>
          </a:p>
        </p:txBody>
      </p:sp>
      <p:sp>
        <p:nvSpPr>
          <p:cNvPr id="24" name="Text 20"/>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5" name="Text 21"/>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2B3A8C"/>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REFLECTING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Quick Check: Did It Stick?</a:t>
            </a:r>
            <a:endParaRPr lang="en-US" sz="3200" dirty="0"/>
          </a:p>
        </p:txBody>
      </p:sp>
      <p:pic>
        <p:nvPicPr>
          <p:cNvPr id="8" name="Image 0" descr="preencoded.png"/>
          <p:cNvPicPr>
            <a:picLocks noChangeAspect="1"/>
          </p:cNvPicPr>
          <p:nvPr/>
        </p:nvPicPr>
        <p:blipFill>
          <a:blip r:embed="rId3"/>
          <a:stretch>
            <a:fillRect/>
          </a:stretch>
        </p:blipFill>
        <p:spPr>
          <a:xfrm>
            <a:off x="10789920" y="960120"/>
            <a:ext cx="777240" cy="777240"/>
          </a:xfrm>
          <a:prstGeom prst="rect">
            <a:avLst/>
          </a:prstGeom>
        </p:spPr>
      </p:pic>
      <p:sp>
        <p:nvSpPr>
          <p:cNvPr id="9" name="Shape 6"/>
          <p:cNvSpPr/>
          <p:nvPr/>
        </p:nvSpPr>
        <p:spPr>
          <a:xfrm>
            <a:off x="457200" y="2011680"/>
            <a:ext cx="11247120" cy="841248"/>
          </a:xfrm>
          <a:prstGeom prst="roundRect">
            <a:avLst>
              <a:gd name="adj" fmla="val 869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0" name="Shape 7"/>
          <p:cNvSpPr/>
          <p:nvPr/>
        </p:nvSpPr>
        <p:spPr>
          <a:xfrm>
            <a:off x="685800" y="2203704"/>
            <a:ext cx="457200" cy="457200"/>
          </a:xfrm>
          <a:prstGeom prst="ellipse">
            <a:avLst/>
          </a:prstGeom>
          <a:solidFill>
            <a:srgbClr val="2B3A8C"/>
          </a:solidFill>
          <a:ln/>
        </p:spPr>
        <p:txBody>
          <a:bodyPr/>
          <a:lstStyle/>
          <a:p>
            <a:endParaRPr lang="en-AU"/>
          </a:p>
        </p:txBody>
      </p:sp>
      <p:sp>
        <p:nvSpPr>
          <p:cNvPr id="11" name="Text 8"/>
          <p:cNvSpPr/>
          <p:nvPr/>
        </p:nvSpPr>
        <p:spPr>
          <a:xfrm>
            <a:off x="685800" y="22037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12" name="Text 9"/>
          <p:cNvSpPr/>
          <p:nvPr/>
        </p:nvSpPr>
        <p:spPr>
          <a:xfrm>
            <a:off x="1371600" y="2011680"/>
            <a:ext cx="10058400" cy="841248"/>
          </a:xfrm>
          <a:prstGeom prst="rect">
            <a:avLst/>
          </a:prstGeom>
          <a:noFill/>
          <a:ln/>
        </p:spPr>
        <p:txBody>
          <a:bodyPr wrap="square" lIns="0" tIns="0" rIns="0" bIns="0" rtlCol="0" anchor="ctr"/>
          <a:lstStyle/>
          <a:p>
            <a:pPr marL="0" indent="0">
              <a:buNone/>
            </a:pPr>
            <a:r>
              <a:rPr lang="en-US" sz="1600" dirty="0">
                <a:solidFill>
                  <a:srgbClr val="2C2A28"/>
                </a:solidFill>
                <a:latin typeface="Calibri" pitchFamily="34" charset="0"/>
                <a:ea typeface="Calibri" pitchFamily="34" charset="-122"/>
                <a:cs typeface="Calibri" pitchFamily="34" charset="-120"/>
              </a:rPr>
              <a:t>In one sentence: what IS the internet?</a:t>
            </a:r>
            <a:endParaRPr lang="en-US" sz="1600" dirty="0"/>
          </a:p>
        </p:txBody>
      </p:sp>
      <p:sp>
        <p:nvSpPr>
          <p:cNvPr id="13" name="Shape 10"/>
          <p:cNvSpPr/>
          <p:nvPr/>
        </p:nvSpPr>
        <p:spPr>
          <a:xfrm>
            <a:off x="457200" y="2926080"/>
            <a:ext cx="11247120" cy="841248"/>
          </a:xfrm>
          <a:prstGeom prst="roundRect">
            <a:avLst>
              <a:gd name="adj" fmla="val 869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4" name="Shape 11"/>
          <p:cNvSpPr/>
          <p:nvPr/>
        </p:nvSpPr>
        <p:spPr>
          <a:xfrm>
            <a:off x="685800" y="3118104"/>
            <a:ext cx="457200" cy="457200"/>
          </a:xfrm>
          <a:prstGeom prst="ellipse">
            <a:avLst/>
          </a:prstGeom>
          <a:solidFill>
            <a:srgbClr val="2B3A8C"/>
          </a:solidFill>
          <a:ln/>
        </p:spPr>
        <p:txBody>
          <a:bodyPr/>
          <a:lstStyle/>
          <a:p>
            <a:endParaRPr lang="en-AU"/>
          </a:p>
        </p:txBody>
      </p:sp>
      <p:sp>
        <p:nvSpPr>
          <p:cNvPr id="15" name="Text 12"/>
          <p:cNvSpPr/>
          <p:nvPr/>
        </p:nvSpPr>
        <p:spPr>
          <a:xfrm>
            <a:off x="685800" y="31181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16" name="Text 13"/>
          <p:cNvSpPr/>
          <p:nvPr/>
        </p:nvSpPr>
        <p:spPr>
          <a:xfrm>
            <a:off x="1371600" y="2926080"/>
            <a:ext cx="10058400" cy="841248"/>
          </a:xfrm>
          <a:prstGeom prst="rect">
            <a:avLst/>
          </a:prstGeom>
          <a:noFill/>
          <a:ln/>
        </p:spPr>
        <p:txBody>
          <a:bodyPr wrap="square" lIns="0" tIns="0" rIns="0" bIns="0" rtlCol="0" anchor="ctr"/>
          <a:lstStyle/>
          <a:p>
            <a:pPr marL="0" indent="0">
              <a:buNone/>
            </a:pPr>
            <a:r>
              <a:rPr lang="en-US" sz="1600" dirty="0">
                <a:solidFill>
                  <a:srgbClr val="2C2A28"/>
                </a:solidFill>
                <a:latin typeface="Calibri" pitchFamily="34" charset="0"/>
                <a:ea typeface="Calibri" pitchFamily="34" charset="-122"/>
                <a:cs typeface="Calibri" pitchFamily="34" charset="-120"/>
              </a:rPr>
              <a:t>Name three parts of a network and what each one does.</a:t>
            </a:r>
            <a:endParaRPr lang="en-US" sz="1600" dirty="0"/>
          </a:p>
        </p:txBody>
      </p:sp>
      <p:sp>
        <p:nvSpPr>
          <p:cNvPr id="17" name="Shape 14"/>
          <p:cNvSpPr/>
          <p:nvPr/>
        </p:nvSpPr>
        <p:spPr>
          <a:xfrm>
            <a:off x="457200" y="3840480"/>
            <a:ext cx="11247120" cy="841248"/>
          </a:xfrm>
          <a:prstGeom prst="roundRect">
            <a:avLst>
              <a:gd name="adj" fmla="val 869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8" name="Shape 15"/>
          <p:cNvSpPr/>
          <p:nvPr/>
        </p:nvSpPr>
        <p:spPr>
          <a:xfrm>
            <a:off x="685800" y="4032504"/>
            <a:ext cx="457200" cy="457200"/>
          </a:xfrm>
          <a:prstGeom prst="ellipse">
            <a:avLst/>
          </a:prstGeom>
          <a:solidFill>
            <a:srgbClr val="2B3A8C"/>
          </a:solidFill>
          <a:ln/>
        </p:spPr>
        <p:txBody>
          <a:bodyPr/>
          <a:lstStyle/>
          <a:p>
            <a:endParaRPr lang="en-AU"/>
          </a:p>
        </p:txBody>
      </p:sp>
      <p:sp>
        <p:nvSpPr>
          <p:cNvPr id="19" name="Text 16"/>
          <p:cNvSpPr/>
          <p:nvPr/>
        </p:nvSpPr>
        <p:spPr>
          <a:xfrm>
            <a:off x="685800" y="40325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20" name="Text 17"/>
          <p:cNvSpPr/>
          <p:nvPr/>
        </p:nvSpPr>
        <p:spPr>
          <a:xfrm>
            <a:off x="1371600" y="3840480"/>
            <a:ext cx="10058400" cy="841248"/>
          </a:xfrm>
          <a:prstGeom prst="rect">
            <a:avLst/>
          </a:prstGeom>
          <a:noFill/>
          <a:ln/>
        </p:spPr>
        <p:txBody>
          <a:bodyPr wrap="square" lIns="0" tIns="0" rIns="0" bIns="0" rtlCol="0" anchor="ctr"/>
          <a:lstStyle/>
          <a:p>
            <a:pPr marL="0" indent="0">
              <a:buNone/>
            </a:pPr>
            <a:r>
              <a:rPr lang="en-US" sz="1600" dirty="0">
                <a:solidFill>
                  <a:srgbClr val="2C2A28"/>
                </a:solidFill>
                <a:latin typeface="Calibri" pitchFamily="34" charset="0"/>
                <a:ea typeface="Calibri" pitchFamily="34" charset="-122"/>
                <a:cs typeface="Calibri" pitchFamily="34" charset="-120"/>
              </a:rPr>
              <a:t>What is the difference between a LAN and a WLAN?</a:t>
            </a:r>
            <a:endParaRPr lang="en-US" sz="1600" dirty="0"/>
          </a:p>
        </p:txBody>
      </p:sp>
      <p:sp>
        <p:nvSpPr>
          <p:cNvPr id="21" name="Shape 18"/>
          <p:cNvSpPr/>
          <p:nvPr/>
        </p:nvSpPr>
        <p:spPr>
          <a:xfrm>
            <a:off x="457200" y="4754880"/>
            <a:ext cx="11247120" cy="841248"/>
          </a:xfrm>
          <a:prstGeom prst="roundRect">
            <a:avLst>
              <a:gd name="adj" fmla="val 869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22" name="Shape 19"/>
          <p:cNvSpPr/>
          <p:nvPr/>
        </p:nvSpPr>
        <p:spPr>
          <a:xfrm>
            <a:off x="685800" y="4946904"/>
            <a:ext cx="457200" cy="457200"/>
          </a:xfrm>
          <a:prstGeom prst="ellipse">
            <a:avLst/>
          </a:prstGeom>
          <a:solidFill>
            <a:srgbClr val="2B3A8C"/>
          </a:solidFill>
          <a:ln/>
        </p:spPr>
        <p:txBody>
          <a:bodyPr/>
          <a:lstStyle/>
          <a:p>
            <a:endParaRPr lang="en-AU"/>
          </a:p>
        </p:txBody>
      </p:sp>
      <p:sp>
        <p:nvSpPr>
          <p:cNvPr id="23" name="Text 20"/>
          <p:cNvSpPr/>
          <p:nvPr/>
        </p:nvSpPr>
        <p:spPr>
          <a:xfrm>
            <a:off x="685800" y="49469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4</a:t>
            </a:r>
            <a:endParaRPr lang="en-US" sz="1800" dirty="0"/>
          </a:p>
        </p:txBody>
      </p:sp>
      <p:sp>
        <p:nvSpPr>
          <p:cNvPr id="24" name="Text 21"/>
          <p:cNvSpPr/>
          <p:nvPr/>
        </p:nvSpPr>
        <p:spPr>
          <a:xfrm>
            <a:off x="1371600" y="4754880"/>
            <a:ext cx="10058400" cy="841248"/>
          </a:xfrm>
          <a:prstGeom prst="rect">
            <a:avLst/>
          </a:prstGeom>
          <a:noFill/>
          <a:ln/>
        </p:spPr>
        <p:txBody>
          <a:bodyPr wrap="square" lIns="0" tIns="0" rIns="0" bIns="0" rtlCol="0" anchor="ctr"/>
          <a:lstStyle/>
          <a:p>
            <a:pPr marL="0" indent="0">
              <a:buNone/>
            </a:pPr>
            <a:r>
              <a:rPr lang="en-US" sz="1600" dirty="0">
                <a:solidFill>
                  <a:srgbClr val="2C2A28"/>
                </a:solidFill>
                <a:latin typeface="Calibri" pitchFamily="34" charset="0"/>
                <a:ea typeface="Calibri" pitchFamily="34" charset="-122"/>
                <a:cs typeface="Calibri" pitchFamily="34" charset="-120"/>
              </a:rPr>
              <a:t>Give one strength of wired and one strength of wireless.</a:t>
            </a:r>
            <a:endParaRPr lang="en-US" sz="1600" dirty="0"/>
          </a:p>
        </p:txBody>
      </p:sp>
      <p:sp>
        <p:nvSpPr>
          <p:cNvPr id="26" name="Text 2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7" name="Text 23"/>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C"/>
        </a:solidFill>
        <a:effectLst/>
      </p:bgPr>
    </p:bg>
    <p:spTree>
      <p:nvGrpSpPr>
        <p:cNvPr id="1" name=""/>
        <p:cNvGrpSpPr/>
        <p:nvPr/>
      </p:nvGrpSpPr>
      <p:grpSpPr>
        <a:xfrm>
          <a:off x="0" y="0"/>
          <a:ext cx="0" cy="0"/>
          <a:chOff x="0" y="0"/>
          <a:chExt cx="0" cy="0"/>
        </a:xfrm>
      </p:grpSpPr>
      <p:sp>
        <p:nvSpPr>
          <p:cNvPr id="2" name="Shape 0"/>
          <p:cNvSpPr/>
          <p:nvPr/>
        </p:nvSpPr>
        <p:spPr>
          <a:xfrm>
            <a:off x="457200" y="292608"/>
            <a:ext cx="1828800" cy="384048"/>
          </a:xfrm>
          <a:prstGeom prst="roundRect">
            <a:avLst>
              <a:gd name="adj" fmla="val 50000"/>
            </a:avLst>
          </a:prstGeom>
          <a:solidFill>
            <a:srgbClr val="2B3A8C"/>
          </a:solidFill>
          <a:ln/>
        </p:spPr>
        <p:txBody>
          <a:bodyPr/>
          <a:lstStyle/>
          <a:p>
            <a:endParaRPr lang="en-AU"/>
          </a:p>
        </p:txBody>
      </p:sp>
      <p:sp>
        <p:nvSpPr>
          <p:cNvPr id="3" name="Text 1"/>
          <p:cNvSpPr/>
          <p:nvPr/>
        </p:nvSpPr>
        <p:spPr>
          <a:xfrm>
            <a:off x="457200" y="292608"/>
            <a:ext cx="1828800" cy="384048"/>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ourier New" pitchFamily="34" charset="0"/>
                <a:ea typeface="Courier New" pitchFamily="34" charset="-122"/>
                <a:cs typeface="Courier New" pitchFamily="34" charset="-120"/>
              </a:rPr>
              <a:t>REFLECTING</a:t>
            </a:r>
            <a:endParaRPr lang="en-US" sz="1100" dirty="0"/>
          </a:p>
        </p:txBody>
      </p:sp>
      <p:sp>
        <p:nvSpPr>
          <p:cNvPr id="4" name="Shape 2"/>
          <p:cNvSpPr/>
          <p:nvPr/>
        </p:nvSpPr>
        <p:spPr>
          <a:xfrm>
            <a:off x="9646920" y="292608"/>
            <a:ext cx="2057400" cy="384048"/>
          </a:xfrm>
          <a:prstGeom prst="roundRect">
            <a:avLst>
              <a:gd name="adj" fmla="val 50000"/>
            </a:avLst>
          </a:prstGeom>
          <a:solidFill>
            <a:srgbClr val="FFFFFF"/>
          </a:solidFill>
          <a:ln w="19050">
            <a:solidFill>
              <a:srgbClr val="6B6762"/>
            </a:solidFill>
            <a:prstDash val="solid"/>
          </a:ln>
        </p:spPr>
        <p:txBody>
          <a:bodyPr/>
          <a:lstStyle/>
          <a:p>
            <a:endParaRPr lang="en-AU"/>
          </a:p>
        </p:txBody>
      </p:sp>
      <p:sp>
        <p:nvSpPr>
          <p:cNvPr id="5" name="Shape 3"/>
          <p:cNvSpPr/>
          <p:nvPr/>
        </p:nvSpPr>
        <p:spPr>
          <a:xfrm>
            <a:off x="9765792" y="411480"/>
            <a:ext cx="146304" cy="146304"/>
          </a:xfrm>
          <a:prstGeom prst="ellipse">
            <a:avLst/>
          </a:prstGeom>
          <a:solidFill>
            <a:srgbClr val="6B6762"/>
          </a:solidFill>
          <a:ln/>
        </p:spPr>
        <p:txBody>
          <a:bodyPr/>
          <a:lstStyle/>
          <a:p>
            <a:endParaRPr lang="en-AU"/>
          </a:p>
        </p:txBody>
      </p:sp>
      <p:sp>
        <p:nvSpPr>
          <p:cNvPr id="6" name="Text 4"/>
          <p:cNvSpPr/>
          <p:nvPr/>
        </p:nvSpPr>
        <p:spPr>
          <a:xfrm>
            <a:off x="9966960" y="292608"/>
            <a:ext cx="1828800" cy="384048"/>
          </a:xfrm>
          <a:prstGeom prst="rect">
            <a:avLst/>
          </a:prstGeom>
          <a:noFill/>
          <a:ln/>
        </p:spPr>
        <p:txBody>
          <a:bodyPr wrap="square" lIns="0" tIns="0" rIns="0" bIns="0" rtlCol="0" anchor="ctr"/>
          <a:lstStyle/>
          <a:p>
            <a:pPr marL="0" indent="0" algn="l">
              <a:buNone/>
            </a:pPr>
            <a:r>
              <a:rPr lang="en-US" sz="1000" b="1" dirty="0">
                <a:solidFill>
                  <a:srgbClr val="6B6762"/>
                </a:solidFill>
                <a:latin typeface="Courier New" pitchFamily="34" charset="0"/>
                <a:ea typeface="Courier New" pitchFamily="34" charset="-122"/>
                <a:cs typeface="Courier New" pitchFamily="34" charset="-120"/>
              </a:rPr>
              <a:t>DEVICES: AWAY</a:t>
            </a:r>
            <a:endParaRPr lang="en-US" sz="1000" dirty="0"/>
          </a:p>
        </p:txBody>
      </p:sp>
      <p:sp>
        <p:nvSpPr>
          <p:cNvPr id="7" name="Text 5"/>
          <p:cNvSpPr/>
          <p:nvPr/>
        </p:nvSpPr>
        <p:spPr>
          <a:xfrm>
            <a:off x="457200" y="960120"/>
            <a:ext cx="11247120" cy="822960"/>
          </a:xfrm>
          <a:prstGeom prst="rect">
            <a:avLst/>
          </a:prstGeom>
          <a:noFill/>
          <a:ln/>
        </p:spPr>
        <p:txBody>
          <a:bodyPr wrap="square" lIns="0" tIns="0" rIns="0" bIns="0" rtlCol="0" anchor="ctr"/>
          <a:lstStyle/>
          <a:p>
            <a:pPr marL="0" indent="0" algn="l">
              <a:buNone/>
            </a:pPr>
            <a:r>
              <a:rPr lang="en-US" sz="3200" b="1" dirty="0">
                <a:solidFill>
                  <a:srgbClr val="12100E"/>
                </a:solidFill>
                <a:latin typeface="Bookman Old Style" pitchFamily="34" charset="0"/>
                <a:ea typeface="Bookman Old Style" pitchFamily="34" charset="-122"/>
                <a:cs typeface="Bookman Old Style" pitchFamily="34" charset="-120"/>
              </a:rPr>
              <a:t>Exit Ticket</a:t>
            </a:r>
            <a:endParaRPr lang="en-US" sz="3200" dirty="0"/>
          </a:p>
        </p:txBody>
      </p:sp>
      <p:sp>
        <p:nvSpPr>
          <p:cNvPr id="8" name="Shape 6"/>
          <p:cNvSpPr/>
          <p:nvPr/>
        </p:nvSpPr>
        <p:spPr>
          <a:xfrm>
            <a:off x="10332720" y="960120"/>
            <a:ext cx="1371600" cy="777240"/>
          </a:xfrm>
          <a:prstGeom prst="roundRect">
            <a:avLst>
              <a:gd name="adj" fmla="val 11765"/>
            </a:avLst>
          </a:prstGeom>
          <a:solidFill>
            <a:srgbClr val="8C1F28"/>
          </a:solidFill>
          <a:ln/>
        </p:spPr>
        <p:txBody>
          <a:bodyPr/>
          <a:lstStyle/>
          <a:p>
            <a:endParaRPr lang="en-AU"/>
          </a:p>
        </p:txBody>
      </p:sp>
      <p:sp>
        <p:nvSpPr>
          <p:cNvPr id="9" name="Text 7"/>
          <p:cNvSpPr/>
          <p:nvPr/>
        </p:nvSpPr>
        <p:spPr>
          <a:xfrm>
            <a:off x="10332720" y="960120"/>
            <a:ext cx="137160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EXIT</a:t>
            </a:r>
            <a:endParaRPr lang="en-US" sz="1600" dirty="0"/>
          </a:p>
        </p:txBody>
      </p:sp>
      <p:sp>
        <p:nvSpPr>
          <p:cNvPr id="10" name="Shape 8"/>
          <p:cNvSpPr/>
          <p:nvPr/>
        </p:nvSpPr>
        <p:spPr>
          <a:xfrm>
            <a:off x="457200" y="1874520"/>
            <a:ext cx="11247120" cy="1554480"/>
          </a:xfrm>
          <a:prstGeom prst="roundRect">
            <a:avLst>
              <a:gd name="adj" fmla="val 4706"/>
            </a:avLst>
          </a:prstGeom>
          <a:solidFill>
            <a:srgbClr val="FFFFFF"/>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1" name="Text 9"/>
          <p:cNvSpPr/>
          <p:nvPr/>
        </p:nvSpPr>
        <p:spPr>
          <a:xfrm>
            <a:off x="777240" y="2057400"/>
            <a:ext cx="10607040" cy="365760"/>
          </a:xfrm>
          <a:prstGeom prst="rect">
            <a:avLst/>
          </a:prstGeom>
          <a:noFill/>
          <a:ln/>
        </p:spPr>
        <p:txBody>
          <a:bodyPr wrap="square" lIns="0" tIns="0" rIns="0" bIns="0" rtlCol="0" anchor="ctr"/>
          <a:lstStyle/>
          <a:p>
            <a:pPr marL="0" indent="0">
              <a:buNone/>
            </a:pPr>
            <a:r>
              <a:rPr lang="en-US" sz="1600" b="1" dirty="0">
                <a:solidFill>
                  <a:srgbClr val="12100E"/>
                </a:solidFill>
                <a:latin typeface="Calibri" pitchFamily="34" charset="0"/>
                <a:ea typeface="Calibri" pitchFamily="34" charset="-122"/>
                <a:cs typeface="Calibri" pitchFamily="34" charset="-120"/>
              </a:rPr>
              <a:t>Complete the exit ticket in the last section of your workbook:</a:t>
            </a:r>
            <a:endParaRPr lang="en-US" sz="1600" dirty="0"/>
          </a:p>
        </p:txBody>
      </p:sp>
      <p:sp>
        <p:nvSpPr>
          <p:cNvPr id="12" name="Text 10"/>
          <p:cNvSpPr/>
          <p:nvPr/>
        </p:nvSpPr>
        <p:spPr>
          <a:xfrm>
            <a:off x="914400" y="2468880"/>
            <a:ext cx="10424160" cy="91440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2C2A28"/>
                </a:solidFill>
                <a:latin typeface="Calibri" pitchFamily="34" charset="0"/>
                <a:ea typeface="Calibri" pitchFamily="34" charset="-122"/>
                <a:cs typeface="Calibri" pitchFamily="34" charset="-120"/>
              </a:rPr>
              <a:t>Write your own one-sentence definition of the internet (from memory, no notes).</a:t>
            </a:r>
            <a:endParaRPr lang="en-US" sz="1450" dirty="0"/>
          </a:p>
          <a:p>
            <a:pPr marL="342900" indent="-342900">
              <a:spcAft>
                <a:spcPts val="600"/>
              </a:spcAft>
              <a:buSzPct val="100000"/>
              <a:buChar char="•"/>
            </a:pPr>
            <a:r>
              <a:rPr lang="en-US" sz="1450" dirty="0">
                <a:solidFill>
                  <a:srgbClr val="2C2A28"/>
                </a:solidFill>
                <a:latin typeface="Calibri" pitchFamily="34" charset="0"/>
                <a:ea typeface="Calibri" pitchFamily="34" charset="-122"/>
                <a:cs typeface="Calibri" pitchFamily="34" charset="-120"/>
              </a:rPr>
              <a:t>Give a real-world example of a PAN, a LAN/WLAN, and a WAN.</a:t>
            </a:r>
            <a:endParaRPr lang="en-US" sz="1450" dirty="0"/>
          </a:p>
          <a:p>
            <a:pPr marL="342900" indent="-342900">
              <a:spcAft>
                <a:spcPts val="600"/>
              </a:spcAft>
              <a:buSzPct val="100000"/>
              <a:buChar char="•"/>
            </a:pPr>
            <a:r>
              <a:rPr lang="en-US" sz="1450" dirty="0">
                <a:solidFill>
                  <a:srgbClr val="2C2A28"/>
                </a:solidFill>
                <a:latin typeface="Calibri" pitchFamily="34" charset="0"/>
                <a:ea typeface="Calibri" pitchFamily="34" charset="-122"/>
                <a:cs typeface="Calibri" pitchFamily="34" charset="-120"/>
              </a:rPr>
              <a:t>Rate yourself on each success criterion: Foundation / Developing / Extending.</a:t>
            </a:r>
            <a:endParaRPr lang="en-US" sz="1450" dirty="0"/>
          </a:p>
        </p:txBody>
      </p:sp>
      <p:sp>
        <p:nvSpPr>
          <p:cNvPr id="13" name="Shape 11"/>
          <p:cNvSpPr/>
          <p:nvPr/>
        </p:nvSpPr>
        <p:spPr>
          <a:xfrm>
            <a:off x="457200" y="3611880"/>
            <a:ext cx="11247120" cy="2331720"/>
          </a:xfrm>
          <a:prstGeom prst="roundRect">
            <a:avLst>
              <a:gd name="adj" fmla="val 3137"/>
            </a:avLst>
          </a:prstGeom>
          <a:solidFill>
            <a:srgbClr val="F1ECE3"/>
          </a:solidFill>
          <a:ln w="12700">
            <a:solidFill>
              <a:srgbClr val="D8D3CA"/>
            </a:solidFill>
            <a:prstDash val="solid"/>
          </a:ln>
          <a:effectLst>
            <a:outerShdw blurRad="88900" dist="38100" dir="5400000" algn="bl" rotWithShape="0">
              <a:srgbClr val="000000">
                <a:alpha val="13000"/>
              </a:srgbClr>
            </a:outerShdw>
          </a:effectLst>
        </p:spPr>
        <p:txBody>
          <a:bodyPr/>
          <a:lstStyle/>
          <a:p>
            <a:endParaRPr lang="en-AU"/>
          </a:p>
        </p:txBody>
      </p:sp>
      <p:sp>
        <p:nvSpPr>
          <p:cNvPr id="14" name="Text 12"/>
          <p:cNvSpPr/>
          <p:nvPr/>
        </p:nvSpPr>
        <p:spPr>
          <a:xfrm>
            <a:off x="777240" y="3794760"/>
            <a:ext cx="10607040" cy="365760"/>
          </a:xfrm>
          <a:prstGeom prst="rect">
            <a:avLst/>
          </a:prstGeom>
          <a:noFill/>
          <a:ln/>
        </p:spPr>
        <p:txBody>
          <a:bodyPr wrap="square" lIns="0" tIns="0" rIns="0" bIns="0" rtlCol="0" anchor="ctr"/>
          <a:lstStyle/>
          <a:p>
            <a:pPr marL="0" indent="0">
              <a:buNone/>
            </a:pPr>
            <a:r>
              <a:rPr lang="en-US" sz="1700" b="1" dirty="0">
                <a:solidFill>
                  <a:srgbClr val="B8620A"/>
                </a:solidFill>
                <a:latin typeface="Bookman Old Style" pitchFamily="34" charset="0"/>
                <a:ea typeface="Bookman Old Style" pitchFamily="34" charset="-122"/>
                <a:cs typeface="Bookman Old Style" pitchFamily="34" charset="-120"/>
              </a:rPr>
              <a:t>Self-rate against today's criteria</a:t>
            </a:r>
            <a:endParaRPr lang="en-US" sz="1700" dirty="0"/>
          </a:p>
        </p:txBody>
      </p:sp>
      <p:sp>
        <p:nvSpPr>
          <p:cNvPr id="15" name="Shape 13"/>
          <p:cNvSpPr/>
          <p:nvPr/>
        </p:nvSpPr>
        <p:spPr>
          <a:xfrm>
            <a:off x="777240" y="4206240"/>
            <a:ext cx="1737360" cy="457200"/>
          </a:xfrm>
          <a:prstGeom prst="roundRect">
            <a:avLst>
              <a:gd name="adj" fmla="val 50000"/>
            </a:avLst>
          </a:prstGeom>
          <a:solidFill>
            <a:srgbClr val="1B5E47"/>
          </a:solidFill>
          <a:ln/>
        </p:spPr>
        <p:txBody>
          <a:bodyPr/>
          <a:lstStyle/>
          <a:p>
            <a:endParaRPr lang="en-AU"/>
          </a:p>
        </p:txBody>
      </p:sp>
      <p:sp>
        <p:nvSpPr>
          <p:cNvPr id="16" name="Text 14"/>
          <p:cNvSpPr/>
          <p:nvPr/>
        </p:nvSpPr>
        <p:spPr>
          <a:xfrm>
            <a:off x="777240" y="4206240"/>
            <a:ext cx="17373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Foundation</a:t>
            </a:r>
            <a:endParaRPr lang="en-US" sz="1250" dirty="0"/>
          </a:p>
        </p:txBody>
      </p:sp>
      <p:sp>
        <p:nvSpPr>
          <p:cNvPr id="17" name="Text 15"/>
          <p:cNvSpPr/>
          <p:nvPr/>
        </p:nvSpPr>
        <p:spPr>
          <a:xfrm>
            <a:off x="2697480" y="4206240"/>
            <a:ext cx="8686800" cy="457200"/>
          </a:xfrm>
          <a:prstGeom prst="rect">
            <a:avLst/>
          </a:prstGeom>
          <a:noFill/>
          <a:ln/>
        </p:spPr>
        <p:txBody>
          <a:bodyPr wrap="square" lIns="0" tIns="0" rIns="0" bIns="0" rtlCol="0" anchor="ctr"/>
          <a:lstStyle/>
          <a:p>
            <a:pPr marL="0" indent="0">
              <a:buNone/>
            </a:pPr>
            <a:r>
              <a:rPr lang="en-US" sz="1350" dirty="0">
                <a:solidFill>
                  <a:srgbClr val="2C2A28"/>
                </a:solidFill>
                <a:latin typeface="Calibri" pitchFamily="34" charset="0"/>
                <a:ea typeface="Calibri" pitchFamily="34" charset="-122"/>
                <a:cs typeface="Calibri" pitchFamily="34" charset="-120"/>
              </a:rPr>
              <a:t>I can say what the internet is and name the parts of a network.</a:t>
            </a:r>
            <a:endParaRPr lang="en-US" sz="1350" dirty="0"/>
          </a:p>
        </p:txBody>
      </p:sp>
      <p:sp>
        <p:nvSpPr>
          <p:cNvPr id="18" name="Shape 16"/>
          <p:cNvSpPr/>
          <p:nvPr/>
        </p:nvSpPr>
        <p:spPr>
          <a:xfrm>
            <a:off x="777240" y="4773168"/>
            <a:ext cx="1737360" cy="457200"/>
          </a:xfrm>
          <a:prstGeom prst="roundRect">
            <a:avLst>
              <a:gd name="adj" fmla="val 50000"/>
            </a:avLst>
          </a:prstGeom>
          <a:solidFill>
            <a:srgbClr val="B8620A"/>
          </a:solidFill>
          <a:ln/>
        </p:spPr>
        <p:txBody>
          <a:bodyPr/>
          <a:lstStyle/>
          <a:p>
            <a:endParaRPr lang="en-AU"/>
          </a:p>
        </p:txBody>
      </p:sp>
      <p:sp>
        <p:nvSpPr>
          <p:cNvPr id="19" name="Text 17"/>
          <p:cNvSpPr/>
          <p:nvPr/>
        </p:nvSpPr>
        <p:spPr>
          <a:xfrm>
            <a:off x="777240" y="4773168"/>
            <a:ext cx="17373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Developing</a:t>
            </a:r>
            <a:endParaRPr lang="en-US" sz="1250" dirty="0"/>
          </a:p>
        </p:txBody>
      </p:sp>
      <p:sp>
        <p:nvSpPr>
          <p:cNvPr id="20" name="Text 18"/>
          <p:cNvSpPr/>
          <p:nvPr/>
        </p:nvSpPr>
        <p:spPr>
          <a:xfrm>
            <a:off x="2697480" y="4773168"/>
            <a:ext cx="8686800" cy="457200"/>
          </a:xfrm>
          <a:prstGeom prst="rect">
            <a:avLst/>
          </a:prstGeom>
          <a:noFill/>
          <a:ln/>
        </p:spPr>
        <p:txBody>
          <a:bodyPr wrap="square" lIns="0" tIns="0" rIns="0" bIns="0" rtlCol="0" anchor="ctr"/>
          <a:lstStyle/>
          <a:p>
            <a:pPr marL="0" indent="0">
              <a:buNone/>
            </a:pPr>
            <a:r>
              <a:rPr lang="en-US" sz="1350" dirty="0">
                <a:solidFill>
                  <a:srgbClr val="2C2A28"/>
                </a:solidFill>
                <a:latin typeface="Calibri" pitchFamily="34" charset="0"/>
                <a:ea typeface="Calibri" pitchFamily="34" charset="-122"/>
                <a:cs typeface="Calibri" pitchFamily="34" charset="-120"/>
              </a:rPr>
              <a:t>I can compare PAN/LAN/WLAN/WAN and explain each part's job.</a:t>
            </a:r>
            <a:endParaRPr lang="en-US" sz="1350" dirty="0"/>
          </a:p>
        </p:txBody>
      </p:sp>
      <p:sp>
        <p:nvSpPr>
          <p:cNvPr id="21" name="Shape 19"/>
          <p:cNvSpPr/>
          <p:nvPr/>
        </p:nvSpPr>
        <p:spPr>
          <a:xfrm>
            <a:off x="777240" y="5340096"/>
            <a:ext cx="1737360" cy="457200"/>
          </a:xfrm>
          <a:prstGeom prst="roundRect">
            <a:avLst>
              <a:gd name="adj" fmla="val 50000"/>
            </a:avLst>
          </a:prstGeom>
          <a:solidFill>
            <a:srgbClr val="2B3A8C"/>
          </a:solidFill>
          <a:ln/>
        </p:spPr>
        <p:txBody>
          <a:bodyPr/>
          <a:lstStyle/>
          <a:p>
            <a:endParaRPr lang="en-AU"/>
          </a:p>
        </p:txBody>
      </p:sp>
      <p:sp>
        <p:nvSpPr>
          <p:cNvPr id="22" name="Text 20"/>
          <p:cNvSpPr/>
          <p:nvPr/>
        </p:nvSpPr>
        <p:spPr>
          <a:xfrm>
            <a:off x="777240" y="5340096"/>
            <a:ext cx="17373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Extending</a:t>
            </a:r>
            <a:endParaRPr lang="en-US" sz="1250" dirty="0"/>
          </a:p>
        </p:txBody>
      </p:sp>
      <p:sp>
        <p:nvSpPr>
          <p:cNvPr id="23" name="Text 21"/>
          <p:cNvSpPr/>
          <p:nvPr/>
        </p:nvSpPr>
        <p:spPr>
          <a:xfrm>
            <a:off x="2697480" y="5340096"/>
            <a:ext cx="8686800" cy="457200"/>
          </a:xfrm>
          <a:prstGeom prst="rect">
            <a:avLst/>
          </a:prstGeom>
          <a:noFill/>
          <a:ln/>
        </p:spPr>
        <p:txBody>
          <a:bodyPr wrap="square" lIns="0" tIns="0" rIns="0" bIns="0" rtlCol="0" anchor="ctr"/>
          <a:lstStyle/>
          <a:p>
            <a:pPr marL="0" indent="0">
              <a:buNone/>
            </a:pPr>
            <a:r>
              <a:rPr lang="en-US" sz="1350" dirty="0">
                <a:solidFill>
                  <a:srgbClr val="2C2A28"/>
                </a:solidFill>
                <a:latin typeface="Calibri" pitchFamily="34" charset="0"/>
                <a:ea typeface="Calibri" pitchFamily="34" charset="-122"/>
                <a:cs typeface="Calibri" pitchFamily="34" charset="-120"/>
              </a:rPr>
              <a:t>I can explain wired vs wireless and justify a connection choice.</a:t>
            </a:r>
            <a:endParaRPr lang="en-US" sz="1350" dirty="0"/>
          </a:p>
        </p:txBody>
      </p:sp>
      <p:sp>
        <p:nvSpPr>
          <p:cNvPr id="25" name="Text 22"/>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6" name="Text 23"/>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00E"/>
        </a:solidFill>
        <a:effectLst/>
      </p:bgPr>
    </p:bg>
    <p:spTree>
      <p:nvGrpSpPr>
        <p:cNvPr id="1" name=""/>
        <p:cNvGrpSpPr/>
        <p:nvPr/>
      </p:nvGrpSpPr>
      <p:grpSpPr>
        <a:xfrm>
          <a:off x="0" y="0"/>
          <a:ext cx="0" cy="0"/>
          <a:chOff x="0" y="0"/>
          <a:chExt cx="0" cy="0"/>
        </a:xfrm>
      </p:grpSpPr>
      <p:sp>
        <p:nvSpPr>
          <p:cNvPr id="2" name="Text 0"/>
          <p:cNvSpPr/>
          <p:nvPr/>
        </p:nvSpPr>
        <p:spPr>
          <a:xfrm>
            <a:off x="457200" y="640080"/>
            <a:ext cx="11247120" cy="365760"/>
          </a:xfrm>
          <a:prstGeom prst="rect">
            <a:avLst/>
          </a:prstGeom>
          <a:noFill/>
          <a:ln/>
        </p:spPr>
        <p:txBody>
          <a:bodyPr wrap="square" lIns="0" tIns="0" rIns="0" bIns="0" rtlCol="0" anchor="ctr"/>
          <a:lstStyle/>
          <a:p>
            <a:pPr marL="0" indent="0" algn="ctr">
              <a:buNone/>
            </a:pPr>
            <a:r>
              <a:rPr lang="en-US" sz="1300" kern="0" spc="200" dirty="0">
                <a:solidFill>
                  <a:srgbClr val="B7AE9F"/>
                </a:solidFill>
                <a:latin typeface="Courier New" pitchFamily="34" charset="0"/>
                <a:ea typeface="Courier New" pitchFamily="34" charset="-122"/>
                <a:cs typeface="Courier New" pitchFamily="34" charset="-120"/>
              </a:rPr>
              <a:t>NEXT STEPS</a:t>
            </a:r>
            <a:endParaRPr lang="en-US" sz="1300" dirty="0"/>
          </a:p>
        </p:txBody>
      </p:sp>
      <p:sp>
        <p:nvSpPr>
          <p:cNvPr id="3" name="Text 1"/>
          <p:cNvSpPr/>
          <p:nvPr/>
        </p:nvSpPr>
        <p:spPr>
          <a:xfrm>
            <a:off x="457200" y="1005840"/>
            <a:ext cx="11247120"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Bookman Old Style" pitchFamily="34" charset="0"/>
                <a:ea typeface="Bookman Old Style" pitchFamily="34" charset="-122"/>
                <a:cs typeface="Bookman Old Style" pitchFamily="34" charset="-120"/>
              </a:rPr>
              <a:t>Where We're Headed</a:t>
            </a:r>
            <a:endParaRPr lang="en-US" sz="3400" dirty="0"/>
          </a:p>
        </p:txBody>
      </p:sp>
      <p:sp>
        <p:nvSpPr>
          <p:cNvPr id="4" name="Shape 2"/>
          <p:cNvSpPr/>
          <p:nvPr/>
        </p:nvSpPr>
        <p:spPr>
          <a:xfrm>
            <a:off x="640080" y="2148840"/>
            <a:ext cx="3611880" cy="3017520"/>
          </a:xfrm>
          <a:prstGeom prst="roundRect">
            <a:avLst>
              <a:gd name="adj" fmla="val 3030"/>
            </a:avLst>
          </a:prstGeom>
          <a:solidFill>
            <a:srgbClr val="2C2A28"/>
          </a:solidFill>
          <a:ln w="19050">
            <a:solidFill>
              <a:srgbClr val="B8620A"/>
            </a:solidFill>
            <a:prstDash val="solid"/>
          </a:ln>
        </p:spPr>
        <p:txBody>
          <a:bodyPr/>
          <a:lstStyle/>
          <a:p>
            <a:endParaRPr lang="en-AU"/>
          </a:p>
        </p:txBody>
      </p:sp>
      <p:sp>
        <p:nvSpPr>
          <p:cNvPr id="5" name="Shape 3"/>
          <p:cNvSpPr/>
          <p:nvPr/>
        </p:nvSpPr>
        <p:spPr>
          <a:xfrm>
            <a:off x="914400" y="2423160"/>
            <a:ext cx="3063240" cy="548640"/>
          </a:xfrm>
          <a:prstGeom prst="roundRect">
            <a:avLst>
              <a:gd name="adj" fmla="val 50000"/>
            </a:avLst>
          </a:prstGeom>
          <a:solidFill>
            <a:srgbClr val="B8620A"/>
          </a:solidFill>
          <a:ln/>
        </p:spPr>
        <p:txBody>
          <a:bodyPr/>
          <a:lstStyle/>
          <a:p>
            <a:endParaRPr lang="en-AU"/>
          </a:p>
        </p:txBody>
      </p:sp>
      <p:sp>
        <p:nvSpPr>
          <p:cNvPr id="6" name="Text 4"/>
          <p:cNvSpPr/>
          <p:nvPr/>
        </p:nvSpPr>
        <p:spPr>
          <a:xfrm>
            <a:off x="914400" y="2423160"/>
            <a:ext cx="30632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Next lesson</a:t>
            </a:r>
            <a:endParaRPr lang="en-US" sz="1400" dirty="0"/>
          </a:p>
        </p:txBody>
      </p:sp>
      <p:sp>
        <p:nvSpPr>
          <p:cNvPr id="7" name="Text 5"/>
          <p:cNvSpPr/>
          <p:nvPr/>
        </p:nvSpPr>
        <p:spPr>
          <a:xfrm>
            <a:off x="960120" y="3154680"/>
            <a:ext cx="2971800" cy="1828800"/>
          </a:xfrm>
          <a:prstGeom prst="rect">
            <a:avLst/>
          </a:prstGeom>
          <a:noFill/>
          <a:ln/>
        </p:spPr>
        <p:txBody>
          <a:bodyPr wrap="square" lIns="0" tIns="0" rIns="0" bIns="0" rtlCol="0" anchor="t"/>
          <a:lstStyle/>
          <a:p>
            <a:pPr marL="0" indent="0">
              <a:buNone/>
            </a:pPr>
            <a:r>
              <a:rPr lang="en-US" sz="1450" dirty="0">
                <a:solidFill>
                  <a:srgbClr val="E8E2D6"/>
                </a:solidFill>
                <a:latin typeface="Calibri" pitchFamily="34" charset="0"/>
                <a:ea typeface="Calibri" pitchFamily="34" charset="-122"/>
                <a:cs typeface="Calibri" pitchFamily="34" charset="-120"/>
              </a:rPr>
              <a:t>Lesson 2 — How data is broken into packets and finds its way across the internet.</a:t>
            </a:r>
            <a:endParaRPr lang="en-US" sz="1450" dirty="0"/>
          </a:p>
        </p:txBody>
      </p:sp>
      <p:sp>
        <p:nvSpPr>
          <p:cNvPr id="8" name="Shape 6"/>
          <p:cNvSpPr/>
          <p:nvPr/>
        </p:nvSpPr>
        <p:spPr>
          <a:xfrm>
            <a:off x="4434840" y="2148840"/>
            <a:ext cx="3611880" cy="3017520"/>
          </a:xfrm>
          <a:prstGeom prst="roundRect">
            <a:avLst>
              <a:gd name="adj" fmla="val 3030"/>
            </a:avLst>
          </a:prstGeom>
          <a:solidFill>
            <a:srgbClr val="2C2A28"/>
          </a:solidFill>
          <a:ln w="19050">
            <a:solidFill>
              <a:srgbClr val="1B5E47"/>
            </a:solidFill>
            <a:prstDash val="solid"/>
          </a:ln>
        </p:spPr>
        <p:txBody>
          <a:bodyPr/>
          <a:lstStyle/>
          <a:p>
            <a:endParaRPr lang="en-AU"/>
          </a:p>
        </p:txBody>
      </p:sp>
      <p:sp>
        <p:nvSpPr>
          <p:cNvPr id="9" name="Shape 7"/>
          <p:cNvSpPr/>
          <p:nvPr/>
        </p:nvSpPr>
        <p:spPr>
          <a:xfrm>
            <a:off x="4709160" y="2423160"/>
            <a:ext cx="3063240" cy="548640"/>
          </a:xfrm>
          <a:prstGeom prst="roundRect">
            <a:avLst>
              <a:gd name="adj" fmla="val 50000"/>
            </a:avLst>
          </a:prstGeom>
          <a:solidFill>
            <a:srgbClr val="1B5E47"/>
          </a:solidFill>
          <a:ln/>
        </p:spPr>
        <p:txBody>
          <a:bodyPr/>
          <a:lstStyle/>
          <a:p>
            <a:endParaRPr lang="en-AU"/>
          </a:p>
        </p:txBody>
      </p:sp>
      <p:sp>
        <p:nvSpPr>
          <p:cNvPr id="10" name="Text 8"/>
          <p:cNvSpPr/>
          <p:nvPr/>
        </p:nvSpPr>
        <p:spPr>
          <a:xfrm>
            <a:off x="4709160" y="2423160"/>
            <a:ext cx="30632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Unit assessment</a:t>
            </a:r>
            <a:endParaRPr lang="en-US" sz="1400" dirty="0"/>
          </a:p>
        </p:txBody>
      </p:sp>
      <p:sp>
        <p:nvSpPr>
          <p:cNvPr id="11" name="Text 9"/>
          <p:cNvSpPr/>
          <p:nvPr/>
        </p:nvSpPr>
        <p:spPr>
          <a:xfrm>
            <a:off x="4754880" y="3154680"/>
            <a:ext cx="2971800" cy="1828800"/>
          </a:xfrm>
          <a:prstGeom prst="rect">
            <a:avLst/>
          </a:prstGeom>
          <a:noFill/>
          <a:ln/>
        </p:spPr>
        <p:txBody>
          <a:bodyPr wrap="square" lIns="0" tIns="0" rIns="0" bIns="0" rtlCol="0" anchor="t"/>
          <a:lstStyle/>
          <a:p>
            <a:pPr marL="0" indent="0">
              <a:buNone/>
            </a:pPr>
            <a:r>
              <a:rPr lang="en-US" sz="1450" dirty="0">
                <a:solidFill>
                  <a:srgbClr val="E8E2D6"/>
                </a:solidFill>
                <a:latin typeface="Calibri" pitchFamily="34" charset="0"/>
                <a:ea typeface="Calibri" pitchFamily="34" charset="-122"/>
                <a:cs typeface="Calibri" pitchFamily="34" charset="-120"/>
              </a:rPr>
              <a:t>A 3-lesson unit project: design and explain a network for a real place. You've just done the first piece today.</a:t>
            </a:r>
            <a:endParaRPr lang="en-US" sz="1450" dirty="0"/>
          </a:p>
        </p:txBody>
      </p:sp>
      <p:sp>
        <p:nvSpPr>
          <p:cNvPr id="12" name="Shape 10"/>
          <p:cNvSpPr/>
          <p:nvPr/>
        </p:nvSpPr>
        <p:spPr>
          <a:xfrm>
            <a:off x="8229600" y="2148840"/>
            <a:ext cx="3611880" cy="3017520"/>
          </a:xfrm>
          <a:prstGeom prst="roundRect">
            <a:avLst>
              <a:gd name="adj" fmla="val 3030"/>
            </a:avLst>
          </a:prstGeom>
          <a:solidFill>
            <a:srgbClr val="2C2A28"/>
          </a:solidFill>
          <a:ln w="19050">
            <a:solidFill>
              <a:srgbClr val="2B3A8C"/>
            </a:solidFill>
            <a:prstDash val="solid"/>
          </a:ln>
        </p:spPr>
        <p:txBody>
          <a:bodyPr/>
          <a:lstStyle/>
          <a:p>
            <a:endParaRPr lang="en-AU"/>
          </a:p>
        </p:txBody>
      </p:sp>
      <p:sp>
        <p:nvSpPr>
          <p:cNvPr id="13" name="Shape 11"/>
          <p:cNvSpPr/>
          <p:nvPr/>
        </p:nvSpPr>
        <p:spPr>
          <a:xfrm>
            <a:off x="8503920" y="2423160"/>
            <a:ext cx="3063240" cy="548640"/>
          </a:xfrm>
          <a:prstGeom prst="roundRect">
            <a:avLst>
              <a:gd name="adj" fmla="val 50000"/>
            </a:avLst>
          </a:prstGeom>
          <a:solidFill>
            <a:srgbClr val="2B3A8C"/>
          </a:solidFill>
          <a:ln/>
        </p:spPr>
        <p:txBody>
          <a:bodyPr/>
          <a:lstStyle/>
          <a:p>
            <a:endParaRPr lang="en-AU"/>
          </a:p>
        </p:txBody>
      </p:sp>
      <p:sp>
        <p:nvSpPr>
          <p:cNvPr id="14" name="Text 12"/>
          <p:cNvSpPr/>
          <p:nvPr/>
        </p:nvSpPr>
        <p:spPr>
          <a:xfrm>
            <a:off x="8503920" y="2423160"/>
            <a:ext cx="30632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Homework</a:t>
            </a:r>
            <a:endParaRPr lang="en-US" sz="1400" dirty="0"/>
          </a:p>
        </p:txBody>
      </p:sp>
      <p:sp>
        <p:nvSpPr>
          <p:cNvPr id="15" name="Text 13"/>
          <p:cNvSpPr/>
          <p:nvPr/>
        </p:nvSpPr>
        <p:spPr>
          <a:xfrm>
            <a:off x="8549640" y="3154680"/>
            <a:ext cx="2971800" cy="1828800"/>
          </a:xfrm>
          <a:prstGeom prst="rect">
            <a:avLst/>
          </a:prstGeom>
          <a:noFill/>
          <a:ln/>
        </p:spPr>
        <p:txBody>
          <a:bodyPr wrap="square" lIns="0" tIns="0" rIns="0" bIns="0" rtlCol="0" anchor="t"/>
          <a:lstStyle/>
          <a:p>
            <a:pPr marL="0" indent="0">
              <a:buNone/>
            </a:pPr>
            <a:r>
              <a:rPr lang="en-US" sz="1450" dirty="0">
                <a:solidFill>
                  <a:srgbClr val="E8E2D6"/>
                </a:solidFill>
                <a:latin typeface="Calibri" pitchFamily="34" charset="0"/>
                <a:ea typeface="Calibri" pitchFamily="34" charset="-122"/>
                <a:cs typeface="Calibri" pitchFamily="34" charset="-120"/>
              </a:rPr>
              <a:t>Finish any unfinished workbook sections. Spot 3 connected devices at home and note how each connects (wired/Wi-Fi/mobile).</a:t>
            </a:r>
            <a:endParaRPr lang="en-US" sz="1450" dirty="0"/>
          </a:p>
        </p:txBody>
      </p:sp>
      <p:sp>
        <p:nvSpPr>
          <p:cNvPr id="16" name="Shape 14"/>
          <p:cNvSpPr/>
          <p:nvPr/>
        </p:nvSpPr>
        <p:spPr>
          <a:xfrm>
            <a:off x="2194560" y="5486400"/>
            <a:ext cx="7772400" cy="777240"/>
          </a:xfrm>
          <a:prstGeom prst="roundRect">
            <a:avLst>
              <a:gd name="adj" fmla="val 11765"/>
            </a:avLst>
          </a:prstGeom>
          <a:solidFill>
            <a:srgbClr val="2C2A28"/>
          </a:solidFill>
          <a:ln w="12700">
            <a:solidFill>
              <a:srgbClr val="4A463F"/>
            </a:solidFill>
            <a:prstDash val="solid"/>
          </a:ln>
        </p:spPr>
        <p:txBody>
          <a:bodyPr/>
          <a:lstStyle/>
          <a:p>
            <a:endParaRPr lang="en-AU"/>
          </a:p>
        </p:txBody>
      </p:sp>
      <p:sp>
        <p:nvSpPr>
          <p:cNvPr id="17" name="Text 15"/>
          <p:cNvSpPr/>
          <p:nvPr/>
        </p:nvSpPr>
        <p:spPr>
          <a:xfrm>
            <a:off x="2377440" y="5486400"/>
            <a:ext cx="7406640" cy="777240"/>
          </a:xfrm>
          <a:prstGeom prst="rect">
            <a:avLst/>
          </a:prstGeom>
          <a:noFill/>
          <a:ln/>
        </p:spPr>
        <p:txBody>
          <a:bodyPr wrap="square" lIns="0" tIns="0" rIns="0" bIns="0" rtlCol="0" anchor="ctr"/>
          <a:lstStyle/>
          <a:p>
            <a:pPr marL="0" indent="0">
              <a:buNone/>
            </a:pPr>
            <a:r>
              <a:rPr lang="en-US" sz="1400" b="1" dirty="0">
                <a:solidFill>
                  <a:srgbClr val="B8620A"/>
                </a:solidFill>
                <a:latin typeface="Calibri" pitchFamily="34" charset="0"/>
                <a:ea typeface="Calibri" pitchFamily="34" charset="-122"/>
                <a:cs typeface="Calibri" pitchFamily="34" charset="-120"/>
              </a:rPr>
              <a:t>Need help?  </a:t>
            </a:r>
            <a:r>
              <a:rPr lang="en-US" sz="1400" dirty="0">
                <a:solidFill>
                  <a:srgbClr val="E8E2D6"/>
                </a:solidFill>
                <a:latin typeface="Calibri" pitchFamily="34" charset="0"/>
                <a:ea typeface="Calibri" pitchFamily="34" charset="-122"/>
                <a:cs typeface="Calibri" pitchFamily="34" charset="-120"/>
              </a:rPr>
              <a:t>Re-read the lesson website, or see Mr Smith before next class.</a:t>
            </a:r>
            <a:endParaRPr lang="en-US" sz="1400" dirty="0"/>
          </a:p>
        </p:txBody>
      </p:sp>
      <p:sp>
        <p:nvSpPr>
          <p:cNvPr id="19" name="Text 16"/>
          <p:cNvSpPr/>
          <p:nvPr/>
        </p:nvSpPr>
        <p:spPr>
          <a:xfrm>
            <a:off x="457200" y="6492240"/>
            <a:ext cx="8229600" cy="274320"/>
          </a:xfrm>
          <a:prstGeom prst="rect">
            <a:avLst/>
          </a:prstGeom>
          <a:noFill/>
          <a:ln/>
        </p:spPr>
        <p:txBody>
          <a:bodyPr wrap="square" lIns="0" tIns="0" rIns="0" bIns="0" rtlCol="0" anchor="ctr"/>
          <a:lstStyle/>
          <a:p>
            <a:pPr marL="0" indent="0" algn="l">
              <a:buNone/>
            </a:pPr>
            <a:r>
              <a:rPr lang="en-US" sz="900" dirty="0">
                <a:solidFill>
                  <a:srgbClr val="6B6762"/>
                </a:solidFill>
                <a:latin typeface="Courier New" pitchFamily="34" charset="0"/>
                <a:ea typeface="Courier New" pitchFamily="34" charset="-122"/>
                <a:cs typeface="Courier New" pitchFamily="34" charset="-120"/>
              </a:rPr>
              <a:t>How the Internet Works  ·  Lesson 1 of 3  ·  Year 7 Digital Technologies</a:t>
            </a:r>
            <a:endParaRPr lang="en-US" sz="900" dirty="0"/>
          </a:p>
        </p:txBody>
      </p:sp>
      <p:sp>
        <p:nvSpPr>
          <p:cNvPr id="20" name="Text 17"/>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6B6762"/>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1363</TotalTime>
  <Words>2931</Words>
  <Application>Microsoft Office PowerPoint</Application>
  <PresentationFormat>Widescreen</PresentationFormat>
  <Paragraphs>242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Bookman Old Style</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Internet Works — Lesson 1</dc:title>
  <dc:subject>PptxGenJS Presentation</dc:subject>
  <dc:creator>Mr Smith</dc:creator>
  <cp:lastModifiedBy>James Smith 5</cp:lastModifiedBy>
  <cp:revision>2</cp:revision>
  <dcterms:created xsi:type="dcterms:W3CDTF">2026-06-08T22:05:37Z</dcterms:created>
  <dcterms:modified xsi:type="dcterms:W3CDTF">2026-06-16T23:42:21Z</dcterms:modified>
</cp:coreProperties>
</file>