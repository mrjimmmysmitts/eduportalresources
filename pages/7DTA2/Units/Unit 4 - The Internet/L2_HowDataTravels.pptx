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of the 3-lesson Internet unit. Double period (~100 min). Last lesson we built the big picture: what the internet is, the parts of a network, and the path a request takes. Today we zoom IN on the data itself — how a whole video or message is chopped into tiny 'packets', how those packets find their way across the world by different routes, and how they're reassembled perfectly at the other end. This explains WHY the internet is so reliable. Safety is still coming in Lesson 3. Read the three chips as today's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 Left side recalls Lesson 1 (correct order: your device -&gt; router+modem -&gt; ISP -&gt; the internet -&gt; website's server). Do this as a quick cold-call or mini-whiteboard. Right side is the hook for today with NO answer on the slide: the bricks-through-a-doorway problem primes the core insight that splitting a big job into small pieces handled in parallel is faster and more flexible. Don't resolve it yet — collect a few ideas, then reveal that this is exactly how the internet moves data. Think-pair-share.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Read the LO. The criteria build through the lesson: Foundation = the packet idea (first half), Developing = packet structure + routing (middle), Extending = reassembly, loss and reliability (the 'why it's clever' payoff at the end). Criteria stay on the board; we self-rate at the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 Resolve the brick hook: splitting the load IS what the internet does. Define 'packet' clearly and write it on the board. The jigsaw-by-post analogy carries the whole lesson — numbering for order (reassembly), many small envelopes (packets), rebuilding the picture. COPY flag: students record the definition of a packet and the 'why bother' reasons in their workbook. Cold-call: 'If one envelope got lost in the post, what would you do?' (ask for just that one again — seeds the reliability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 Keep this age-appropriate: three parts only. HEADER = address + sequence number (the two things that matter most — destination and order). PAYLOAD = the actual chunk of data. FOOTER = a simple error-check (don't go near checksums/maths; 'did it arrive undamaged?' is enough). Map each back to the envelope analogy on the lower strip. COPY flag: students label the three parts of a packet in their workbook. Cold-call: 'Which part tells the internet WHERE to send the packet?'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 Reuse the Lesson 1 road analogy, now with detours. The key new idea: packets are independent — each router (a junction/signpost) forwards each packet along the best available path at that moment, so packets of one message can travel different routes. This is why a busy or broken link doesn't stop your message. The right-hand diagram shows two packets A-&gt;B taking an upper and lower route. COPY flag: students note what a router does and 'packets can take different routes'. Cold-call: 'Why might two packets of the same photo arrive by different paths?' (one road was busier/faster).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LIGHT TOUCH on purpose — the single idea is 'every device has an address so packets know where to go'. Do NOT introduce the dotted IPv4 format, classes, or subnetting; that's for a later year. The home-address-on-a-letter analogy is all they need. This rounds out the postal metaphor: addresses on the envelope, routers as the postal network. No copy flag (kept simple); the workbook reinforces it lightly. Cold-call: 'What part of the packet holds the address?' (the header — links back to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 This is the Extending payoff and the heart of the lesson. Three steps: (1) packets arrive jumbled, (2) the header sequence numbers reorder them, (3) any missing packet is re-requested individually. Then the big 'why it's clever' synthesis: small + numbered + independent + re-sendable = a network that survives congestion and breakages. Tie back to the lost-envelope cold-call from slide 4. COPY flag: students record the three reassembly steps and one sentence on why packets make the internet reliable. This is the key idea to land before the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 min. Reset before the device-on block. The 'explain a packet in one sentence' challenge is a sneaky retrieval check — listen as you circulate to gauge understanding before they start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25-30 min (main block). Devices ON. Circulate. Foundation (label + why-split) first for anyone shaky. The 'be the router' sequencing task in Developing is the signature activity — it makes routing and reassembly concrete. Push confident students to Extending where they reason about packet loss and reliability (the deepest criterion). Workbook auto-saves. Watch for the common slip: thinking all packets follow one fixed path. Reinforce 'different routes, reordered by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Whole-class cold-call, no devices, no hints on screen. These map directly to the success criteria: Q1 Foundation, Q2-Q3 Developing, Q4 Extending (reassembly by sequence number). If Q3 or Q4 is shaky across the room, reteach briefly before the exit ticket using the envelope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The 'journey of a photo using the word packet' question is the best single signal of whether the whole model landed — it forces them to chain split -&gt; address -&gt; route -&gt; reassemble. Auto-saves for your review so you can spot who needs support before Lesson 3. Collect devices after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Preview Lesson 3 (online safety) — the deferred content, now well motivated: 'you understand how data moves, so now let's protect it'. Connect to the running unit network project. State homework: the 'explain to someone at home' task is strong retrieval practice. Point to the website for support. Wrap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00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074920" y="1005840"/>
            <a:ext cx="914400" cy="914400"/>
          </a:xfrm>
          <a:prstGeom prst="rect">
            <a:avLst/>
          </a:prstGeom>
        </p:spPr>
      </p:pic>
      <p:pic>
        <p:nvPicPr>
          <p:cNvPr id="3" name="Image 1" descr="preencoded.png">    </p:cNvPr>
          <p:cNvPicPr>
            <a:picLocks noChangeAspect="1"/>
          </p:cNvPicPr>
          <p:nvPr/>
        </p:nvPicPr>
        <p:blipFill>
          <a:blip r:embed="rId2"/>
          <a:stretch>
            <a:fillRect/>
          </a:stretch>
        </p:blipFill>
        <p:spPr>
          <a:xfrm>
            <a:off x="6172200" y="1005840"/>
            <a:ext cx="914400" cy="914400"/>
          </a:xfrm>
          <a:prstGeom prst="rect">
            <a:avLst/>
          </a:prstGeom>
        </p:spPr>
      </p:pic>
      <p:sp>
        <p:nvSpPr>
          <p:cNvPr id="4" name="Text 0"/>
          <p:cNvSpPr/>
          <p:nvPr/>
        </p:nvSpPr>
        <p:spPr>
          <a:xfrm>
            <a:off x="457200" y="2331720"/>
            <a:ext cx="11247120" cy="365760"/>
          </a:xfrm>
          <a:prstGeom prst="rect">
            <a:avLst/>
          </a:prstGeom>
          <a:noFill/>
          <a:ln/>
        </p:spPr>
        <p:txBody>
          <a:bodyPr wrap="square" lIns="0" tIns="0" rIns="0" bIns="0" rtlCol="0" anchor="ctr"/>
          <a:lstStyle/>
          <a:p>
            <a:pPr algn="ctr" indent="0" marL="0">
              <a:buNone/>
            </a:pPr>
            <a:r>
              <a:rPr lang="en-US" sz="1300" spc="200" kern="0" dirty="0">
                <a:solidFill>
                  <a:srgbClr val="B7AE9F"/>
                </a:solidFill>
                <a:latin typeface="Courier New" pitchFamily="34" charset="0"/>
                <a:ea typeface="Courier New" pitchFamily="34" charset="-122"/>
                <a:cs typeface="Courier New" pitchFamily="34" charset="-120"/>
              </a:rPr>
              <a:t>YEAR 7 DIGITAL TECHNOLOGIES  ·  UNIT: THE INTERNET</a:t>
            </a:r>
            <a:endParaRPr lang="en-US" sz="1300" dirty="0"/>
          </a:p>
        </p:txBody>
      </p:sp>
      <p:sp>
        <p:nvSpPr>
          <p:cNvPr id="5" name="Text 1"/>
          <p:cNvSpPr/>
          <p:nvPr/>
        </p:nvSpPr>
        <p:spPr>
          <a:xfrm>
            <a:off x="457200" y="2697480"/>
            <a:ext cx="11247120" cy="914400"/>
          </a:xfrm>
          <a:prstGeom prst="rect">
            <a:avLst/>
          </a:prstGeom>
          <a:noFill/>
          <a:ln/>
        </p:spPr>
        <p:txBody>
          <a:bodyPr wrap="square" lIns="0" tIns="0" rIns="0" bIns="0" rtlCol="0" anchor="ctr"/>
          <a:lstStyle/>
          <a:p>
            <a:pPr algn="ctr" indent="0" marL="0">
              <a:buNone/>
            </a:pPr>
            <a:r>
              <a:rPr lang="en-US" sz="5000" b="1" dirty="0">
                <a:solidFill>
                  <a:srgbClr val="FFFFFF"/>
                </a:solidFill>
                <a:latin typeface="Bookman Old Style" pitchFamily="34" charset="0"/>
                <a:ea typeface="Bookman Old Style" pitchFamily="34" charset="-122"/>
                <a:cs typeface="Bookman Old Style" pitchFamily="34" charset="-120"/>
              </a:rPr>
              <a:t>How Data Travels</a:t>
            </a:r>
            <a:endParaRPr lang="en-US" sz="5000" dirty="0"/>
          </a:p>
        </p:txBody>
      </p:sp>
      <p:sp>
        <p:nvSpPr>
          <p:cNvPr id="6" name="Text 2"/>
          <p:cNvSpPr/>
          <p:nvPr/>
        </p:nvSpPr>
        <p:spPr>
          <a:xfrm>
            <a:off x="457200" y="3749040"/>
            <a:ext cx="11247120" cy="457200"/>
          </a:xfrm>
          <a:prstGeom prst="rect">
            <a:avLst/>
          </a:prstGeom>
          <a:noFill/>
          <a:ln/>
        </p:spPr>
        <p:txBody>
          <a:bodyPr wrap="square" lIns="0" tIns="0" rIns="0" bIns="0" rtlCol="0" anchor="ctr"/>
          <a:lstStyle/>
          <a:p>
            <a:pPr algn="ctr" indent="0" marL="0">
              <a:buNone/>
            </a:pPr>
            <a:r>
              <a:rPr lang="en-US" sz="1800" dirty="0">
                <a:solidFill>
                  <a:srgbClr val="D8D3CA"/>
                </a:solidFill>
                <a:latin typeface="Calibri" pitchFamily="34" charset="0"/>
                <a:ea typeface="Calibri" pitchFamily="34" charset="-122"/>
                <a:cs typeface="Calibri" pitchFamily="34" charset="-120"/>
              </a:rPr>
              <a:t>Lesson 2 of 3  —  Packets, routing &amp; putting it all back together</a:t>
            </a:r>
            <a:endParaRPr lang="en-US" sz="1800" dirty="0"/>
          </a:p>
        </p:txBody>
      </p:sp>
      <p:sp>
        <p:nvSpPr>
          <p:cNvPr id="7" name="Shape 3"/>
          <p:cNvSpPr/>
          <p:nvPr/>
        </p:nvSpPr>
        <p:spPr>
          <a:xfrm>
            <a:off x="2788920" y="4526280"/>
            <a:ext cx="2194560" cy="502920"/>
          </a:xfrm>
          <a:prstGeom prst="roundRect">
            <a:avLst>
              <a:gd name="adj" fmla="val 49091"/>
            </a:avLst>
          </a:prstGeom>
          <a:solidFill>
            <a:srgbClr val="B8620A"/>
          </a:solidFill>
          <a:ln/>
        </p:spPr>
      </p:sp>
      <p:sp>
        <p:nvSpPr>
          <p:cNvPr id="8" name="Text 4"/>
          <p:cNvSpPr/>
          <p:nvPr/>
        </p:nvSpPr>
        <p:spPr>
          <a:xfrm>
            <a:off x="2788920" y="4526280"/>
            <a:ext cx="21945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What is a packet?</a:t>
            </a:r>
            <a:endParaRPr lang="en-US" sz="1300" dirty="0"/>
          </a:p>
        </p:txBody>
      </p:sp>
      <p:sp>
        <p:nvSpPr>
          <p:cNvPr id="9" name="Shape 5"/>
          <p:cNvSpPr/>
          <p:nvPr/>
        </p:nvSpPr>
        <p:spPr>
          <a:xfrm>
            <a:off x="5120640" y="4526280"/>
            <a:ext cx="2194560" cy="502920"/>
          </a:xfrm>
          <a:prstGeom prst="roundRect">
            <a:avLst>
              <a:gd name="adj" fmla="val 49091"/>
            </a:avLst>
          </a:prstGeom>
          <a:solidFill>
            <a:srgbClr val="1B5E47"/>
          </a:solidFill>
          <a:ln/>
        </p:spPr>
      </p:sp>
      <p:sp>
        <p:nvSpPr>
          <p:cNvPr id="10" name="Text 6"/>
          <p:cNvSpPr/>
          <p:nvPr/>
        </p:nvSpPr>
        <p:spPr>
          <a:xfrm>
            <a:off x="5120640" y="4526280"/>
            <a:ext cx="21945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Finding a route</a:t>
            </a:r>
            <a:endParaRPr lang="en-US" sz="1300" dirty="0"/>
          </a:p>
        </p:txBody>
      </p:sp>
      <p:sp>
        <p:nvSpPr>
          <p:cNvPr id="11" name="Shape 7"/>
          <p:cNvSpPr/>
          <p:nvPr/>
        </p:nvSpPr>
        <p:spPr>
          <a:xfrm>
            <a:off x="7452360" y="4526280"/>
            <a:ext cx="2194560" cy="502920"/>
          </a:xfrm>
          <a:prstGeom prst="roundRect">
            <a:avLst>
              <a:gd name="adj" fmla="val 49091"/>
            </a:avLst>
          </a:prstGeom>
          <a:solidFill>
            <a:srgbClr val="2B3A8C"/>
          </a:solidFill>
          <a:ln/>
        </p:spPr>
      </p:sp>
      <p:sp>
        <p:nvSpPr>
          <p:cNvPr id="12" name="Text 8"/>
          <p:cNvSpPr/>
          <p:nvPr/>
        </p:nvSpPr>
        <p:spPr>
          <a:xfrm>
            <a:off x="7452360" y="4526280"/>
            <a:ext cx="219456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Reassembly</a:t>
            </a:r>
            <a:endParaRPr lang="en-US" sz="1300" dirty="0"/>
          </a:p>
        </p:txBody>
      </p:sp>
      <p:sp>
        <p:nvSpPr>
          <p:cNvPr id="13" name="Text 9"/>
          <p:cNvSpPr/>
          <p:nvPr/>
        </p:nvSpPr>
        <p:spPr>
          <a:xfrm>
            <a:off x="457200" y="6035040"/>
            <a:ext cx="11247120" cy="274320"/>
          </a:xfrm>
          <a:prstGeom prst="rect">
            <a:avLst/>
          </a:prstGeom>
          <a:noFill/>
          <a:ln/>
        </p:spPr>
        <p:txBody>
          <a:bodyPr wrap="square" lIns="0" tIns="0" rIns="0" bIns="0" rtlCol="0" anchor="ctr"/>
          <a:lstStyle/>
          <a:p>
            <a:pPr algn="ctr" indent="0" marL="0">
              <a:buNone/>
            </a:pPr>
            <a:r>
              <a:rPr lang="en-US" sz="1100" dirty="0">
                <a:solidFill>
                  <a:srgbClr val="8C857A"/>
                </a:solidFill>
                <a:latin typeface="Courier New" pitchFamily="34" charset="0"/>
                <a:ea typeface="Courier New" pitchFamily="34" charset="-122"/>
                <a:cs typeface="Courier New" pitchFamily="34" charset="-120"/>
              </a:rPr>
              <a:t>Mr Smith</a:t>
            </a:r>
            <a:endParaRPr lang="en-US" sz="1100" dirty="0"/>
          </a:p>
        </p:txBody>
      </p:sp>
      <p:sp>
        <p:nvSpPr>
          <p:cNvPr id="15" name="Text 10"/>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16" name="Text 11"/>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B8620A"/>
          </a:solidFill>
          <a:ln/>
        </p:spPr>
      </p:sp>
      <p:sp>
        <p:nvSpPr>
          <p:cNvPr id="3" name="Text 1"/>
          <p:cNvSpPr/>
          <p:nvPr/>
        </p:nvSpPr>
        <p:spPr>
          <a:xfrm>
            <a:off x="457200" y="292608"/>
            <a:ext cx="182880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ourier New" pitchFamily="34" charset="0"/>
                <a:ea typeface="Courier New" pitchFamily="34" charset="-122"/>
                <a:cs typeface="Courier New" pitchFamily="34" charset="-120"/>
              </a:rPr>
              <a:t>WARM UP</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sp>
      <p:sp>
        <p:nvSpPr>
          <p:cNvPr id="5" name="Shape 3"/>
          <p:cNvSpPr/>
          <p:nvPr/>
        </p:nvSpPr>
        <p:spPr>
          <a:xfrm>
            <a:off x="9765792" y="411480"/>
            <a:ext cx="146304" cy="146304"/>
          </a:xfrm>
          <a:prstGeom prst="ellipse">
            <a:avLst/>
          </a:prstGeom>
          <a:solidFill>
            <a:srgbClr val="6B6762"/>
          </a:solidFill>
          <a:ln/>
        </p:spPr>
      </p:sp>
      <p:sp>
        <p:nvSpPr>
          <p:cNvPr id="6" name="Text 4"/>
          <p:cNvSpPr/>
          <p:nvPr/>
        </p:nvSpPr>
        <p:spPr>
          <a:xfrm>
            <a:off x="9966960" y="292608"/>
            <a:ext cx="1828800" cy="384048"/>
          </a:xfrm>
          <a:prstGeom prst="rect">
            <a:avLst/>
          </a:prstGeom>
          <a:noFill/>
          <a:ln/>
        </p:spPr>
        <p:txBody>
          <a:bodyPr wrap="square" lIns="0" tIns="0" rIns="0" bIns="0" rtlCol="0" anchor="ctr"/>
          <a:lstStyle/>
          <a:p>
            <a:pPr indent="0" marL="0">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indent="0" marL="0">
              <a:buNone/>
            </a:pPr>
            <a:r>
              <a:rPr lang="en-US" sz="3200" b="1" dirty="0">
                <a:solidFill>
                  <a:srgbClr val="12100E"/>
                </a:solidFill>
                <a:latin typeface="Bookman Old Style" pitchFamily="34" charset="0"/>
                <a:ea typeface="Bookman Old Style" pitchFamily="34" charset="-122"/>
                <a:cs typeface="Bookman Old Style" pitchFamily="34" charset="-120"/>
              </a:rPr>
              <a:t>Warm-Up: Think Back, Then Think Big</a:t>
            </a:r>
            <a:endParaRPr lang="en-US" sz="3200" dirty="0"/>
          </a:p>
        </p:txBody>
      </p:sp>
      <p:pic>
        <p:nvPicPr>
          <p:cNvPr id="8" name="Image 0" descr="preencoded.png">    </p:cNvPr>
          <p:cNvPicPr>
            <a:picLocks noChangeAspect="1"/>
          </p:cNvPicPr>
          <p:nvPr/>
        </p:nvPicPr>
        <p:blipFill>
          <a:blip r:embed="rId1"/>
          <a:stretch>
            <a:fillRect/>
          </a:stretch>
        </p:blipFill>
        <p:spPr>
          <a:xfrm>
            <a:off x="10789920" y="960120"/>
            <a:ext cx="731520" cy="731520"/>
          </a:xfrm>
          <a:prstGeom prst="rect">
            <a:avLst/>
          </a:prstGeom>
        </p:spPr>
      </p:pic>
      <p:sp>
        <p:nvSpPr>
          <p:cNvPr id="9" name="Shape 6"/>
          <p:cNvSpPr/>
          <p:nvPr/>
        </p:nvSpPr>
        <p:spPr>
          <a:xfrm>
            <a:off x="457200" y="1874520"/>
            <a:ext cx="5532120" cy="4023360"/>
          </a:xfrm>
          <a:prstGeom prst="roundRect">
            <a:avLst>
              <a:gd name="adj" fmla="val 1818"/>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0" name="Text 7"/>
          <p:cNvSpPr/>
          <p:nvPr/>
        </p:nvSpPr>
        <p:spPr>
          <a:xfrm>
            <a:off x="731520" y="2057400"/>
            <a:ext cx="4937760" cy="411480"/>
          </a:xfrm>
          <a:prstGeom prst="rect">
            <a:avLst/>
          </a:prstGeom>
          <a:noFill/>
          <a:ln/>
        </p:spPr>
        <p:txBody>
          <a:bodyPr wrap="square" lIns="0" tIns="0" rIns="0" bIns="0" rtlCol="0" anchor="ctr"/>
          <a:lstStyle/>
          <a:p>
            <a:pPr indent="0" marL="0">
              <a:buNone/>
            </a:pPr>
            <a:r>
              <a:rPr lang="en-US" sz="1800" b="1" dirty="0">
                <a:solidFill>
                  <a:srgbClr val="1B5E47"/>
                </a:solidFill>
                <a:latin typeface="Bookman Old Style" pitchFamily="34" charset="0"/>
                <a:ea typeface="Bookman Old Style" pitchFamily="34" charset="-122"/>
                <a:cs typeface="Bookman Old Style" pitchFamily="34" charset="-120"/>
              </a:rPr>
              <a:t>Recall from last lesson</a:t>
            </a:r>
            <a:endParaRPr lang="en-US" sz="1800" dirty="0"/>
          </a:p>
        </p:txBody>
      </p:sp>
      <p:sp>
        <p:nvSpPr>
          <p:cNvPr id="11" name="Text 8"/>
          <p:cNvSpPr/>
          <p:nvPr/>
        </p:nvSpPr>
        <p:spPr>
          <a:xfrm>
            <a:off x="731520" y="2560320"/>
            <a:ext cx="4983480" cy="1828800"/>
          </a:xfrm>
          <a:prstGeom prst="rect">
            <a:avLst/>
          </a:prstGeom>
          <a:noFill/>
          <a:ln/>
        </p:spPr>
        <p:txBody>
          <a:bodyPr wrap="square" lIns="0" tIns="0" rIns="0" bIns="0" rtlCol="0" anchor="t"/>
          <a:lstStyle/>
          <a:p>
            <a:pPr indent="0" marL="0">
              <a:buNone/>
            </a:pPr>
            <a:r>
              <a:rPr lang="en-US" sz="1500" dirty="0">
                <a:solidFill>
                  <a:srgbClr val="2C2A28"/>
                </a:solidFill>
                <a:latin typeface="Calibri" pitchFamily="34" charset="0"/>
                <a:ea typeface="Calibri" pitchFamily="34" charset="-122"/>
                <a:cs typeface="Calibri" pitchFamily="34" charset="-120"/>
              </a:rPr>
              <a:t>Put these in the right order — the path a request takes when you open a website:</a:t>
            </a:r>
            <a:endParaRPr lang="en-US" sz="1500" dirty="0"/>
          </a:p>
          <a:p>
            <a:pPr indent="0" marL="0">
              <a:buNone/>
            </a:pPr>
            <a:endParaRPr lang="en-US" sz="1500" dirty="0"/>
          </a:p>
          <a:p>
            <a:pPr indent="0" marL="0">
              <a:buNone/>
            </a:pPr>
            <a:r>
              <a:rPr lang="en-US" sz="1500" i="1" dirty="0">
                <a:solidFill>
                  <a:srgbClr val="6B6762"/>
                </a:solidFill>
                <a:latin typeface="Calibri" pitchFamily="34" charset="0"/>
                <a:ea typeface="Calibri" pitchFamily="34" charset="-122"/>
                <a:cs typeface="Calibri" pitchFamily="34" charset="-120"/>
              </a:rPr>
              <a:t>the internet   ·   your device   ·   ISP   ·   website's server   ·   router + modem</a:t>
            </a:r>
            <a:endParaRPr lang="en-US" sz="1500" dirty="0"/>
          </a:p>
        </p:txBody>
      </p:sp>
      <p:sp>
        <p:nvSpPr>
          <p:cNvPr id="12" name="Shape 9"/>
          <p:cNvSpPr/>
          <p:nvPr/>
        </p:nvSpPr>
        <p:spPr>
          <a:xfrm>
            <a:off x="6172200" y="1874520"/>
            <a:ext cx="5532120" cy="4023360"/>
          </a:xfrm>
          <a:prstGeom prst="roundRect">
            <a:avLst>
              <a:gd name="adj" fmla="val 1818"/>
            </a:avLst>
          </a:prstGeom>
          <a:solidFill>
            <a:srgbClr val="FBF1E6"/>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3" name="Text 10"/>
          <p:cNvSpPr/>
          <p:nvPr/>
        </p:nvSpPr>
        <p:spPr>
          <a:xfrm>
            <a:off x="6446520" y="2057400"/>
            <a:ext cx="4937760" cy="411480"/>
          </a:xfrm>
          <a:prstGeom prst="rect">
            <a:avLst/>
          </a:prstGeom>
          <a:noFill/>
          <a:ln/>
        </p:spPr>
        <p:txBody>
          <a:bodyPr wrap="square" lIns="0" tIns="0" rIns="0" bIns="0" rtlCol="0" anchor="ctr"/>
          <a:lstStyle/>
          <a:p>
            <a:pPr indent="0" marL="0">
              <a:buNone/>
            </a:pPr>
            <a:r>
              <a:rPr lang="en-US" sz="1800" b="1" dirty="0">
                <a:solidFill>
                  <a:srgbClr val="B8620A"/>
                </a:solidFill>
                <a:latin typeface="Bookman Old Style" pitchFamily="34" charset="0"/>
                <a:ea typeface="Bookman Old Style" pitchFamily="34" charset="-122"/>
                <a:cs typeface="Bookman Old Style" pitchFamily="34" charset="-120"/>
              </a:rPr>
              <a:t>Now think big</a:t>
            </a:r>
            <a:endParaRPr lang="en-US" sz="1800" dirty="0"/>
          </a:p>
        </p:txBody>
      </p:sp>
      <p:sp>
        <p:nvSpPr>
          <p:cNvPr id="14" name="Text 11"/>
          <p:cNvSpPr/>
          <p:nvPr/>
        </p:nvSpPr>
        <p:spPr>
          <a:xfrm>
            <a:off x="6446520" y="2560320"/>
            <a:ext cx="4983480" cy="2011680"/>
          </a:xfrm>
          <a:prstGeom prst="rect">
            <a:avLst/>
          </a:prstGeom>
          <a:noFill/>
          <a:ln/>
        </p:spPr>
        <p:txBody>
          <a:bodyPr wrap="square" lIns="0" tIns="0" rIns="0" bIns="0" rtlCol="0" anchor="t"/>
          <a:lstStyle/>
          <a:p>
            <a:pPr indent="0" marL="0">
              <a:buNone/>
            </a:pPr>
            <a:r>
              <a:rPr lang="en-US" sz="1500" dirty="0">
                <a:solidFill>
                  <a:srgbClr val="2C2A28"/>
                </a:solidFill>
                <a:latin typeface="Calibri" pitchFamily="34" charset="0"/>
                <a:ea typeface="Calibri" pitchFamily="34" charset="-122"/>
                <a:cs typeface="Calibri" pitchFamily="34" charset="-120"/>
              </a:rPr>
              <a:t>You need to move a HUGE pile of bricks through a narrow doorway, fast, using lots of helpers.</a:t>
            </a:r>
            <a:endParaRPr lang="en-US" sz="1500" dirty="0"/>
          </a:p>
          <a:p>
            <a:pPr indent="0" marL="0">
              <a:buNone/>
            </a:pPr>
            <a:endParaRPr lang="en-US" sz="1500" dirty="0"/>
          </a:p>
          <a:p>
            <a:pPr indent="0" marL="0">
              <a:buNone/>
            </a:pPr>
            <a:r>
              <a:rPr lang="en-US" sz="1500" b="1" dirty="0">
                <a:solidFill>
                  <a:srgbClr val="12100E"/>
                </a:solidFill>
                <a:latin typeface="Calibri" pitchFamily="34" charset="0"/>
                <a:ea typeface="Calibri" pitchFamily="34" charset="-122"/>
                <a:cs typeface="Calibri" pitchFamily="34" charset="-120"/>
              </a:rPr>
              <a:t>Would you carry the whole pile at once, or split it up? Why?</a:t>
            </a:r>
            <a:endParaRPr lang="en-US" sz="1500" dirty="0"/>
          </a:p>
        </p:txBody>
      </p:sp>
      <p:sp>
        <p:nvSpPr>
          <p:cNvPr id="15" name="Text 12"/>
          <p:cNvSpPr/>
          <p:nvPr/>
        </p:nvSpPr>
        <p:spPr>
          <a:xfrm>
            <a:off x="457200" y="6080760"/>
            <a:ext cx="11247120" cy="274320"/>
          </a:xfrm>
          <a:prstGeom prst="rect">
            <a:avLst/>
          </a:prstGeom>
          <a:noFill/>
          <a:ln/>
        </p:spPr>
        <p:txBody>
          <a:bodyPr wrap="square" lIns="0" tIns="0" rIns="0" bIns="0" rtlCol="0" anchor="ctr"/>
          <a:lstStyle/>
          <a:p>
            <a:pPr algn="ctr" indent="0" marL="0">
              <a:buNone/>
            </a:pPr>
            <a:r>
              <a:rPr lang="en-US" sz="1300" i="1" dirty="0">
                <a:solidFill>
                  <a:srgbClr val="6B6762"/>
                </a:solidFill>
                <a:latin typeface="Calibri" pitchFamily="34" charset="0"/>
                <a:ea typeface="Calibri" pitchFamily="34" charset="-122"/>
                <a:cs typeface="Calibri" pitchFamily="34" charset="-120"/>
              </a:rPr>
              <a:t>Discuss with the person next to you — keep your idea ready to share.</a:t>
            </a:r>
            <a:endParaRPr lang="en-US" sz="1300" dirty="0"/>
          </a:p>
        </p:txBody>
      </p:sp>
      <p:sp>
        <p:nvSpPr>
          <p:cNvPr id="17" name="Text 13"/>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18" name="Text 14"/>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2B3A8C"/>
          </a:solidFill>
          <a:ln/>
        </p:spPr>
      </p:sp>
      <p:sp>
        <p:nvSpPr>
          <p:cNvPr id="3" name="Text 1"/>
          <p:cNvSpPr/>
          <p:nvPr/>
        </p:nvSpPr>
        <p:spPr>
          <a:xfrm>
            <a:off x="457200" y="292608"/>
            <a:ext cx="182880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ourier New" pitchFamily="34" charset="0"/>
                <a:ea typeface="Courier New" pitchFamily="34" charset="-122"/>
                <a:cs typeface="Courier New" pitchFamily="34" charset="-120"/>
              </a:rPr>
              <a:t>OBJECTIVE</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sp>
      <p:sp>
        <p:nvSpPr>
          <p:cNvPr id="5" name="Shape 3"/>
          <p:cNvSpPr/>
          <p:nvPr/>
        </p:nvSpPr>
        <p:spPr>
          <a:xfrm>
            <a:off x="9765792" y="411480"/>
            <a:ext cx="146304" cy="146304"/>
          </a:xfrm>
          <a:prstGeom prst="ellipse">
            <a:avLst/>
          </a:prstGeom>
          <a:solidFill>
            <a:srgbClr val="6B6762"/>
          </a:solidFill>
          <a:ln/>
        </p:spPr>
      </p:sp>
      <p:sp>
        <p:nvSpPr>
          <p:cNvPr id="6" name="Text 4"/>
          <p:cNvSpPr/>
          <p:nvPr/>
        </p:nvSpPr>
        <p:spPr>
          <a:xfrm>
            <a:off x="9966960" y="292608"/>
            <a:ext cx="1828800" cy="384048"/>
          </a:xfrm>
          <a:prstGeom prst="rect">
            <a:avLst/>
          </a:prstGeom>
          <a:noFill/>
          <a:ln/>
        </p:spPr>
        <p:txBody>
          <a:bodyPr wrap="square" lIns="0" tIns="0" rIns="0" bIns="0" rtlCol="0" anchor="ctr"/>
          <a:lstStyle/>
          <a:p>
            <a:pPr indent="0" marL="0">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indent="0" marL="0">
              <a:buNone/>
            </a:pPr>
            <a:r>
              <a:rPr lang="en-US" sz="3200" b="1" dirty="0">
                <a:solidFill>
                  <a:srgbClr val="12100E"/>
                </a:solidFill>
                <a:latin typeface="Bookman Old Style" pitchFamily="34" charset="0"/>
                <a:ea typeface="Bookman Old Style" pitchFamily="34" charset="-122"/>
                <a:cs typeface="Bookman Old Style" pitchFamily="34" charset="-120"/>
              </a:rPr>
              <a:t>What We're Learning Today</a:t>
            </a:r>
            <a:endParaRPr lang="en-US" sz="3200" dirty="0"/>
          </a:p>
        </p:txBody>
      </p:sp>
      <p:pic>
        <p:nvPicPr>
          <p:cNvPr id="8" name="Image 0" descr="preencoded.png">    </p:cNvPr>
          <p:cNvPicPr>
            <a:picLocks noChangeAspect="1"/>
          </p:cNvPicPr>
          <p:nvPr/>
        </p:nvPicPr>
        <p:blipFill>
          <a:blip r:embed="rId1"/>
          <a:stretch>
            <a:fillRect/>
          </a:stretch>
        </p:blipFill>
        <p:spPr>
          <a:xfrm>
            <a:off x="10698480" y="960120"/>
            <a:ext cx="777240" cy="777240"/>
          </a:xfrm>
          <a:prstGeom prst="rect">
            <a:avLst/>
          </a:prstGeom>
        </p:spPr>
      </p:pic>
      <p:sp>
        <p:nvSpPr>
          <p:cNvPr id="9" name="Shape 6"/>
          <p:cNvSpPr/>
          <p:nvPr/>
        </p:nvSpPr>
        <p:spPr>
          <a:xfrm>
            <a:off x="457200" y="1828800"/>
            <a:ext cx="11247120" cy="1051560"/>
          </a:xfrm>
          <a:prstGeom prst="roundRect">
            <a:avLst>
              <a:gd name="adj" fmla="val 6957"/>
            </a:avLst>
          </a:prstGeom>
          <a:solidFill>
            <a:srgbClr val="12100E"/>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0" name="Text 7"/>
          <p:cNvSpPr/>
          <p:nvPr/>
        </p:nvSpPr>
        <p:spPr>
          <a:xfrm>
            <a:off x="777240" y="1965960"/>
            <a:ext cx="10058400" cy="274320"/>
          </a:xfrm>
          <a:prstGeom prst="rect">
            <a:avLst/>
          </a:prstGeom>
          <a:noFill/>
          <a:ln/>
        </p:spPr>
        <p:txBody>
          <a:bodyPr wrap="square" lIns="0" tIns="0" rIns="0" bIns="0" rtlCol="0" anchor="ctr"/>
          <a:lstStyle/>
          <a:p>
            <a:pPr indent="0" marL="0">
              <a:buNone/>
            </a:pPr>
            <a:r>
              <a:rPr lang="en-US" sz="1200" spc="100" kern="0" dirty="0">
                <a:solidFill>
                  <a:srgbClr val="B7AE9F"/>
                </a:solidFill>
                <a:latin typeface="Courier New" pitchFamily="34" charset="0"/>
                <a:ea typeface="Courier New" pitchFamily="34" charset="-122"/>
                <a:cs typeface="Courier New" pitchFamily="34" charset="-120"/>
              </a:rPr>
              <a:t>LEARNING OBJECTIVE</a:t>
            </a:r>
            <a:endParaRPr lang="en-US" sz="1200" dirty="0"/>
          </a:p>
        </p:txBody>
      </p:sp>
      <p:sp>
        <p:nvSpPr>
          <p:cNvPr id="11" name="Text 8"/>
          <p:cNvSpPr/>
          <p:nvPr/>
        </p:nvSpPr>
        <p:spPr>
          <a:xfrm>
            <a:off x="777240" y="2240280"/>
            <a:ext cx="10607040" cy="548640"/>
          </a:xfrm>
          <a:prstGeom prst="rect">
            <a:avLst/>
          </a:prstGeom>
          <a:noFill/>
          <a:ln/>
        </p:spPr>
        <p:txBody>
          <a:bodyPr wrap="square" lIns="0" tIns="0" rIns="0" bIns="0" rtlCol="0" anchor="ctr"/>
          <a:lstStyle/>
          <a:p>
            <a:pPr indent="0" marL="0">
              <a:buNone/>
            </a:pPr>
            <a:r>
              <a:rPr lang="en-US" sz="1800" b="1" dirty="0">
                <a:solidFill>
                  <a:srgbClr val="FFFFFF"/>
                </a:solidFill>
                <a:latin typeface="Bookman Old Style" pitchFamily="34" charset="0"/>
                <a:ea typeface="Bookman Old Style" pitchFamily="34" charset="-122"/>
                <a:cs typeface="Bookman Old Style" pitchFamily="34" charset="-120"/>
              </a:rPr>
              <a:t>To be able to explain how data is broken into packets, sent across the internet, and put back together at the other end.</a:t>
            </a:r>
            <a:endParaRPr lang="en-US" sz="1800" dirty="0"/>
          </a:p>
        </p:txBody>
      </p:sp>
      <p:sp>
        <p:nvSpPr>
          <p:cNvPr id="12" name="Text 9"/>
          <p:cNvSpPr/>
          <p:nvPr/>
        </p:nvSpPr>
        <p:spPr>
          <a:xfrm>
            <a:off x="457200" y="3063240"/>
            <a:ext cx="10058400" cy="320040"/>
          </a:xfrm>
          <a:prstGeom prst="rect">
            <a:avLst/>
          </a:prstGeom>
          <a:noFill/>
          <a:ln/>
        </p:spPr>
        <p:txBody>
          <a:bodyPr wrap="square" lIns="0" tIns="0" rIns="0" bIns="0" rtlCol="0" anchor="ctr"/>
          <a:lstStyle/>
          <a:p>
            <a:pPr indent="0" marL="0">
              <a:buNone/>
            </a:pPr>
            <a:r>
              <a:rPr lang="en-US" sz="1200" spc="100" kern="0" dirty="0">
                <a:solidFill>
                  <a:srgbClr val="6B6762"/>
                </a:solidFill>
                <a:latin typeface="Courier New" pitchFamily="34" charset="0"/>
                <a:ea typeface="Courier New" pitchFamily="34" charset="-122"/>
                <a:cs typeface="Courier New" pitchFamily="34" charset="-120"/>
              </a:rPr>
              <a:t>SUCCESS CRITERIA</a:t>
            </a:r>
            <a:endParaRPr lang="en-US" sz="1200" dirty="0"/>
          </a:p>
        </p:txBody>
      </p:sp>
      <p:sp>
        <p:nvSpPr>
          <p:cNvPr id="13" name="Shape 10"/>
          <p:cNvSpPr/>
          <p:nvPr/>
        </p:nvSpPr>
        <p:spPr>
          <a:xfrm>
            <a:off x="457200" y="3429000"/>
            <a:ext cx="11247120" cy="841248"/>
          </a:xfrm>
          <a:prstGeom prst="roundRect">
            <a:avLst>
              <a:gd name="adj" fmla="val 8696"/>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4" name="Shape 11"/>
          <p:cNvSpPr/>
          <p:nvPr/>
        </p:nvSpPr>
        <p:spPr>
          <a:xfrm>
            <a:off x="685800" y="3621024"/>
            <a:ext cx="1874520" cy="457200"/>
          </a:xfrm>
          <a:prstGeom prst="roundRect">
            <a:avLst>
              <a:gd name="adj" fmla="val 50000"/>
            </a:avLst>
          </a:prstGeom>
          <a:solidFill>
            <a:srgbClr val="1B5E47"/>
          </a:solidFill>
          <a:ln/>
        </p:spPr>
      </p:sp>
      <p:sp>
        <p:nvSpPr>
          <p:cNvPr id="15" name="Text 12"/>
          <p:cNvSpPr/>
          <p:nvPr/>
        </p:nvSpPr>
        <p:spPr>
          <a:xfrm>
            <a:off x="685800" y="3621024"/>
            <a:ext cx="18745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a:t>
            </a:r>
            <a:endParaRPr lang="en-US" sz="1300" dirty="0"/>
          </a:p>
        </p:txBody>
      </p:sp>
      <p:sp>
        <p:nvSpPr>
          <p:cNvPr id="16" name="Text 13"/>
          <p:cNvSpPr/>
          <p:nvPr/>
        </p:nvSpPr>
        <p:spPr>
          <a:xfrm>
            <a:off x="2743200" y="3429000"/>
            <a:ext cx="8686800" cy="841248"/>
          </a:xfrm>
          <a:prstGeom prst="rect">
            <a:avLst/>
          </a:prstGeom>
          <a:noFill/>
          <a:ln/>
        </p:spPr>
        <p:txBody>
          <a:bodyPr wrap="square" lIns="0" tIns="0" rIns="0" bIns="0" rtlCol="0" anchor="ctr"/>
          <a:lstStyle/>
          <a:p>
            <a:pPr indent="0" marL="0">
              <a:buNone/>
            </a:pPr>
            <a:r>
              <a:rPr lang="en-US" sz="1400" i="1" dirty="0">
                <a:solidFill>
                  <a:srgbClr val="2C2A28"/>
                </a:solidFill>
                <a:latin typeface="Calibri" pitchFamily="34" charset="0"/>
                <a:ea typeface="Calibri" pitchFamily="34" charset="-122"/>
                <a:cs typeface="Calibri" pitchFamily="34" charset="-120"/>
              </a:rPr>
              <a:t>“I can explain what a packet is and why data is broken into small pieces.”</a:t>
            </a:r>
            <a:endParaRPr lang="en-US" sz="1400" dirty="0"/>
          </a:p>
        </p:txBody>
      </p:sp>
      <p:sp>
        <p:nvSpPr>
          <p:cNvPr id="17" name="Shape 14"/>
          <p:cNvSpPr/>
          <p:nvPr/>
        </p:nvSpPr>
        <p:spPr>
          <a:xfrm>
            <a:off x="457200" y="4361688"/>
            <a:ext cx="11247120" cy="841248"/>
          </a:xfrm>
          <a:prstGeom prst="roundRect">
            <a:avLst>
              <a:gd name="adj" fmla="val 8696"/>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8" name="Shape 15"/>
          <p:cNvSpPr/>
          <p:nvPr/>
        </p:nvSpPr>
        <p:spPr>
          <a:xfrm>
            <a:off x="685800" y="4553712"/>
            <a:ext cx="1874520" cy="457200"/>
          </a:xfrm>
          <a:prstGeom prst="roundRect">
            <a:avLst>
              <a:gd name="adj" fmla="val 50000"/>
            </a:avLst>
          </a:prstGeom>
          <a:solidFill>
            <a:srgbClr val="B8620A"/>
          </a:solidFill>
          <a:ln/>
        </p:spPr>
      </p:sp>
      <p:sp>
        <p:nvSpPr>
          <p:cNvPr id="19" name="Text 16"/>
          <p:cNvSpPr/>
          <p:nvPr/>
        </p:nvSpPr>
        <p:spPr>
          <a:xfrm>
            <a:off x="685800" y="4553712"/>
            <a:ext cx="18745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Developing</a:t>
            </a:r>
            <a:endParaRPr lang="en-US" sz="1300" dirty="0"/>
          </a:p>
        </p:txBody>
      </p:sp>
      <p:sp>
        <p:nvSpPr>
          <p:cNvPr id="20" name="Text 17"/>
          <p:cNvSpPr/>
          <p:nvPr/>
        </p:nvSpPr>
        <p:spPr>
          <a:xfrm>
            <a:off x="2743200" y="4361688"/>
            <a:ext cx="8686800" cy="841248"/>
          </a:xfrm>
          <a:prstGeom prst="rect">
            <a:avLst/>
          </a:prstGeom>
          <a:noFill/>
          <a:ln/>
        </p:spPr>
        <p:txBody>
          <a:bodyPr wrap="square" lIns="0" tIns="0" rIns="0" bIns="0" rtlCol="0" anchor="ctr"/>
          <a:lstStyle/>
          <a:p>
            <a:pPr indent="0" marL="0">
              <a:buNone/>
            </a:pPr>
            <a:r>
              <a:rPr lang="en-US" sz="1400" i="1" dirty="0">
                <a:solidFill>
                  <a:srgbClr val="2C2A28"/>
                </a:solidFill>
                <a:latin typeface="Calibri" pitchFamily="34" charset="0"/>
                <a:ea typeface="Calibri" pitchFamily="34" charset="-122"/>
                <a:cs typeface="Calibri" pitchFamily="34" charset="-120"/>
              </a:rPr>
              <a:t>“I can describe the parts of a packet and how packets can take different routes to the same place.”</a:t>
            </a:r>
            <a:endParaRPr lang="en-US" sz="1400" dirty="0"/>
          </a:p>
        </p:txBody>
      </p:sp>
      <p:sp>
        <p:nvSpPr>
          <p:cNvPr id="21" name="Shape 18"/>
          <p:cNvSpPr/>
          <p:nvPr/>
        </p:nvSpPr>
        <p:spPr>
          <a:xfrm>
            <a:off x="457200" y="5294376"/>
            <a:ext cx="11247120" cy="841248"/>
          </a:xfrm>
          <a:prstGeom prst="roundRect">
            <a:avLst>
              <a:gd name="adj" fmla="val 8696"/>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22" name="Shape 19"/>
          <p:cNvSpPr/>
          <p:nvPr/>
        </p:nvSpPr>
        <p:spPr>
          <a:xfrm>
            <a:off x="685800" y="5486400"/>
            <a:ext cx="1874520" cy="457200"/>
          </a:xfrm>
          <a:prstGeom prst="roundRect">
            <a:avLst>
              <a:gd name="adj" fmla="val 50000"/>
            </a:avLst>
          </a:prstGeom>
          <a:solidFill>
            <a:srgbClr val="2B3A8C"/>
          </a:solidFill>
          <a:ln/>
        </p:spPr>
      </p:sp>
      <p:sp>
        <p:nvSpPr>
          <p:cNvPr id="23" name="Text 20"/>
          <p:cNvSpPr/>
          <p:nvPr/>
        </p:nvSpPr>
        <p:spPr>
          <a:xfrm>
            <a:off x="685800" y="5486400"/>
            <a:ext cx="18745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Extending</a:t>
            </a:r>
            <a:endParaRPr lang="en-US" sz="1300" dirty="0"/>
          </a:p>
        </p:txBody>
      </p:sp>
      <p:sp>
        <p:nvSpPr>
          <p:cNvPr id="24" name="Text 21"/>
          <p:cNvSpPr/>
          <p:nvPr/>
        </p:nvSpPr>
        <p:spPr>
          <a:xfrm>
            <a:off x="2743200" y="5294376"/>
            <a:ext cx="8686800" cy="841248"/>
          </a:xfrm>
          <a:prstGeom prst="rect">
            <a:avLst/>
          </a:prstGeom>
          <a:noFill/>
          <a:ln/>
        </p:spPr>
        <p:txBody>
          <a:bodyPr wrap="square" lIns="0" tIns="0" rIns="0" bIns="0" rtlCol="0" anchor="ctr"/>
          <a:lstStyle/>
          <a:p>
            <a:pPr indent="0" marL="0">
              <a:buNone/>
            </a:pPr>
            <a:r>
              <a:rPr lang="en-US" sz="1400" i="1" dirty="0">
                <a:solidFill>
                  <a:srgbClr val="2C2A28"/>
                </a:solidFill>
                <a:latin typeface="Calibri" pitchFamily="34" charset="0"/>
                <a:ea typeface="Calibri" pitchFamily="34" charset="-122"/>
                <a:cs typeface="Calibri" pitchFamily="34" charset="-120"/>
              </a:rPr>
              <a:t>“I can explain how packets are reassembled, what happens if one is lost, and why this makes the internet reliable.”</a:t>
            </a:r>
            <a:endParaRPr lang="en-US" sz="1400" dirty="0"/>
          </a:p>
        </p:txBody>
      </p:sp>
      <p:sp>
        <p:nvSpPr>
          <p:cNvPr id="26" name="Text 22"/>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27" name="Text 23"/>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1B5E47"/>
          </a:solidFill>
          <a:ln/>
        </p:spPr>
      </p:sp>
      <p:sp>
        <p:nvSpPr>
          <p:cNvPr id="3" name="Text 1"/>
          <p:cNvSpPr/>
          <p:nvPr/>
        </p:nvSpPr>
        <p:spPr>
          <a:xfrm>
            <a:off x="457200" y="292608"/>
            <a:ext cx="182880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ourier New" pitchFamily="34" charset="0"/>
                <a:ea typeface="Courier New" pitchFamily="34" charset="-122"/>
                <a:cs typeface="Courier New" pitchFamily="34" charset="-120"/>
              </a:rPr>
              <a:t>LEARNING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sp>
      <p:sp>
        <p:nvSpPr>
          <p:cNvPr id="5" name="Shape 3"/>
          <p:cNvSpPr/>
          <p:nvPr/>
        </p:nvSpPr>
        <p:spPr>
          <a:xfrm>
            <a:off x="9765792" y="411480"/>
            <a:ext cx="146304" cy="146304"/>
          </a:xfrm>
          <a:prstGeom prst="ellipse">
            <a:avLst/>
          </a:prstGeom>
          <a:solidFill>
            <a:srgbClr val="6B6762"/>
          </a:solidFill>
          <a:ln/>
        </p:spPr>
      </p:sp>
      <p:sp>
        <p:nvSpPr>
          <p:cNvPr id="6" name="Text 4"/>
          <p:cNvSpPr/>
          <p:nvPr/>
        </p:nvSpPr>
        <p:spPr>
          <a:xfrm>
            <a:off x="9966960" y="292608"/>
            <a:ext cx="1828800" cy="384048"/>
          </a:xfrm>
          <a:prstGeom prst="rect">
            <a:avLst/>
          </a:prstGeom>
          <a:noFill/>
          <a:ln/>
        </p:spPr>
        <p:txBody>
          <a:bodyPr wrap="square" lIns="0" tIns="0" rIns="0" bIns="0" rtlCol="0" anchor="ctr"/>
          <a:lstStyle/>
          <a:p>
            <a:pPr indent="0" marL="0">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indent="0" marL="0">
              <a:buNone/>
            </a:pPr>
            <a:r>
              <a:rPr lang="en-US" sz="3200" b="1" dirty="0">
                <a:solidFill>
                  <a:srgbClr val="12100E"/>
                </a:solidFill>
                <a:latin typeface="Bookman Old Style" pitchFamily="34" charset="0"/>
                <a:ea typeface="Bookman Old Style" pitchFamily="34" charset="-122"/>
                <a:cs typeface="Bookman Old Style" pitchFamily="34" charset="-120"/>
              </a:rPr>
              <a:t>What Is a Packet?</a:t>
            </a:r>
            <a:endParaRPr lang="en-US" sz="3200" dirty="0"/>
          </a:p>
        </p:txBody>
      </p:sp>
      <p:sp>
        <p:nvSpPr>
          <p:cNvPr id="8" name="Shape 6"/>
          <p:cNvSpPr/>
          <p:nvPr/>
        </p:nvSpPr>
        <p:spPr>
          <a:xfrm>
            <a:off x="9601200" y="1078992"/>
            <a:ext cx="2103120" cy="411480"/>
          </a:xfrm>
          <a:prstGeom prst="roundRect">
            <a:avLst>
              <a:gd name="adj" fmla="val 48889"/>
            </a:avLst>
          </a:prstGeom>
          <a:solidFill>
            <a:srgbClr val="B8620A"/>
          </a:solidFill>
          <a:ln/>
        </p:spPr>
      </p:sp>
      <p:sp>
        <p:nvSpPr>
          <p:cNvPr id="9" name="Text 7"/>
          <p:cNvSpPr/>
          <p:nvPr/>
        </p:nvSpPr>
        <p:spPr>
          <a:xfrm>
            <a:off x="9601200" y="1078992"/>
            <a:ext cx="210312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COPY TO WORKBOOK</a:t>
            </a:r>
            <a:endParaRPr lang="en-US" sz="1000" dirty="0"/>
          </a:p>
        </p:txBody>
      </p:sp>
      <p:sp>
        <p:nvSpPr>
          <p:cNvPr id="10" name="Shape 8"/>
          <p:cNvSpPr/>
          <p:nvPr/>
        </p:nvSpPr>
        <p:spPr>
          <a:xfrm>
            <a:off x="457200" y="1874520"/>
            <a:ext cx="6766560" cy="4160520"/>
          </a:xfrm>
          <a:prstGeom prst="roundRect">
            <a:avLst>
              <a:gd name="adj" fmla="val 1758"/>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pic>
        <p:nvPicPr>
          <p:cNvPr id="11" name="Image 0" descr="preencoded.png">    </p:cNvPr>
          <p:cNvPicPr>
            <a:picLocks noChangeAspect="1"/>
          </p:cNvPicPr>
          <p:nvPr/>
        </p:nvPicPr>
        <p:blipFill>
          <a:blip r:embed="rId1"/>
          <a:stretch>
            <a:fillRect/>
          </a:stretch>
        </p:blipFill>
        <p:spPr>
          <a:xfrm>
            <a:off x="777240" y="2148840"/>
            <a:ext cx="594360" cy="594360"/>
          </a:xfrm>
          <a:prstGeom prst="rect">
            <a:avLst/>
          </a:prstGeom>
        </p:spPr>
      </p:pic>
      <p:sp>
        <p:nvSpPr>
          <p:cNvPr id="12" name="Text 9"/>
          <p:cNvSpPr/>
          <p:nvPr/>
        </p:nvSpPr>
        <p:spPr>
          <a:xfrm>
            <a:off x="1508760" y="2194560"/>
            <a:ext cx="5303520" cy="457200"/>
          </a:xfrm>
          <a:prstGeom prst="rect">
            <a:avLst/>
          </a:prstGeom>
          <a:noFill/>
          <a:ln/>
        </p:spPr>
        <p:txBody>
          <a:bodyPr wrap="square" lIns="0" tIns="0" rIns="0" bIns="0" rtlCol="0" anchor="ctr"/>
          <a:lstStyle/>
          <a:p>
            <a:pPr indent="0" marL="0">
              <a:buNone/>
            </a:pPr>
            <a:r>
              <a:rPr lang="en-US" sz="2000" b="1" dirty="0">
                <a:solidFill>
                  <a:srgbClr val="12100E"/>
                </a:solidFill>
                <a:latin typeface="Bookman Old Style" pitchFamily="34" charset="0"/>
                <a:ea typeface="Bookman Old Style" pitchFamily="34" charset="-122"/>
                <a:cs typeface="Bookman Old Style" pitchFamily="34" charset="-120"/>
              </a:rPr>
              <a:t>The big idea</a:t>
            </a:r>
            <a:endParaRPr lang="en-US" sz="2000" dirty="0"/>
          </a:p>
        </p:txBody>
      </p:sp>
      <p:sp>
        <p:nvSpPr>
          <p:cNvPr id="13" name="Text 10"/>
          <p:cNvSpPr/>
          <p:nvPr/>
        </p:nvSpPr>
        <p:spPr>
          <a:xfrm>
            <a:off x="777240" y="2880360"/>
            <a:ext cx="6126480" cy="1828800"/>
          </a:xfrm>
          <a:prstGeom prst="rect">
            <a:avLst/>
          </a:prstGeom>
          <a:noFill/>
          <a:ln/>
        </p:spPr>
        <p:txBody>
          <a:bodyPr wrap="square" lIns="0" tIns="0" rIns="0" bIns="0" rtlCol="0" anchor="t"/>
          <a:lstStyle/>
          <a:p>
            <a:pPr indent="0" marL="0">
              <a:buNone/>
            </a:pPr>
            <a:r>
              <a:rPr lang="en-US" sz="1600" dirty="0">
                <a:solidFill>
                  <a:srgbClr val="2C2A28"/>
                </a:solidFill>
                <a:latin typeface="Calibri" pitchFamily="34" charset="0"/>
                <a:ea typeface="Calibri" pitchFamily="34" charset="-122"/>
                <a:cs typeface="Calibri" pitchFamily="34" charset="-120"/>
              </a:rPr>
              <a:t>When you send anything over the internet — a message, photo or video — it is NOT sent in one big lump.</a:t>
            </a:r>
            <a:endParaRPr lang="en-US" sz="1600" dirty="0"/>
          </a:p>
          <a:p>
            <a:pPr indent="0" marL="0">
              <a:buNone/>
            </a:pPr>
            <a:endParaRPr lang="en-US" sz="1600" dirty="0"/>
          </a:p>
          <a:p>
            <a:pPr indent="0" marL="0">
              <a:buNone/>
            </a:pPr>
            <a:r>
              <a:rPr lang="en-US" sz="1600" dirty="0">
                <a:solidFill>
                  <a:srgbClr val="2C2A28"/>
                </a:solidFill>
                <a:latin typeface="Calibri" pitchFamily="34" charset="0"/>
                <a:ea typeface="Calibri" pitchFamily="34" charset="-122"/>
                <a:cs typeface="Calibri" pitchFamily="34" charset="-120"/>
              </a:rPr>
              <a:t>It is broken into many small pieces called </a:t>
            </a:r>
            <a:pPr indent="0" marL="0">
              <a:buNone/>
            </a:pPr>
            <a:r>
              <a:rPr lang="en-US" sz="1600" b="1" dirty="0">
                <a:solidFill>
                  <a:srgbClr val="1B5E47"/>
                </a:solidFill>
                <a:latin typeface="Calibri" pitchFamily="34" charset="0"/>
                <a:ea typeface="Calibri" pitchFamily="34" charset="-122"/>
                <a:cs typeface="Calibri" pitchFamily="34" charset="-120"/>
              </a:rPr>
              <a:t>packets</a:t>
            </a:r>
            <a:pPr indent="0" marL="0">
              <a:buNone/>
            </a:pPr>
            <a:r>
              <a:rPr lang="en-US" sz="1600" dirty="0">
                <a:solidFill>
                  <a:srgbClr val="2C2A28"/>
                </a:solidFill>
                <a:latin typeface="Calibri" pitchFamily="34" charset="0"/>
                <a:ea typeface="Calibri" pitchFamily="34" charset="-122"/>
                <a:cs typeface="Calibri" pitchFamily="34" charset="-120"/>
              </a:rPr>
              <a:t>. Each packet is numbered, sent separately, and joined back together at the other end.</a:t>
            </a:r>
            <a:endParaRPr lang="en-US" sz="1600" dirty="0"/>
          </a:p>
        </p:txBody>
      </p:sp>
      <p:sp>
        <p:nvSpPr>
          <p:cNvPr id="14" name="Shape 11"/>
          <p:cNvSpPr/>
          <p:nvPr/>
        </p:nvSpPr>
        <p:spPr>
          <a:xfrm>
            <a:off x="777240" y="4983480"/>
            <a:ext cx="6126480" cy="868680"/>
          </a:xfrm>
          <a:prstGeom prst="roundRect">
            <a:avLst>
              <a:gd name="adj" fmla="val 8421"/>
            </a:avLst>
          </a:prstGeom>
          <a:solidFill>
            <a:srgbClr val="EAF0EC"/>
          </a:solidFill>
          <a:ln w="12700">
            <a:solidFill>
              <a:srgbClr val="1B5E47"/>
            </a:solidFill>
            <a:prstDash val="solid"/>
          </a:ln>
        </p:spPr>
      </p:sp>
      <p:sp>
        <p:nvSpPr>
          <p:cNvPr id="15" name="Text 12"/>
          <p:cNvSpPr/>
          <p:nvPr/>
        </p:nvSpPr>
        <p:spPr>
          <a:xfrm>
            <a:off x="960120" y="4983480"/>
            <a:ext cx="5760720" cy="868680"/>
          </a:xfrm>
          <a:prstGeom prst="rect">
            <a:avLst/>
          </a:prstGeom>
          <a:noFill/>
          <a:ln/>
        </p:spPr>
        <p:txBody>
          <a:bodyPr wrap="square" lIns="0" tIns="0" rIns="0" bIns="0" rtlCol="0" anchor="ctr"/>
          <a:lstStyle/>
          <a:p>
            <a:pPr indent="0" marL="0">
              <a:buNone/>
            </a:pPr>
            <a:r>
              <a:rPr lang="en-US" sz="1350" b="1" dirty="0">
                <a:solidFill>
                  <a:srgbClr val="1B5E47"/>
                </a:solidFill>
                <a:latin typeface="Calibri" pitchFamily="34" charset="0"/>
                <a:ea typeface="Calibri" pitchFamily="34" charset="-122"/>
                <a:cs typeface="Calibri" pitchFamily="34" charset="-120"/>
              </a:rPr>
              <a:t>Why bother? </a:t>
            </a:r>
            <a:pPr indent="0" marL="0">
              <a:buNone/>
            </a:pPr>
            <a:r>
              <a:rPr lang="en-US" sz="1350" dirty="0">
                <a:solidFill>
                  <a:srgbClr val="2C2A28"/>
                </a:solidFill>
                <a:latin typeface="Calibri" pitchFamily="34" charset="0"/>
                <a:ea typeface="Calibri" pitchFamily="34" charset="-122"/>
                <a:cs typeface="Calibri" pitchFamily="34" charset="-120"/>
              </a:rPr>
              <a:t>Small pieces travel faster, can take different paths, and if one piece is lost only that piece is re-sent — not the whole thing.</a:t>
            </a:r>
            <a:endParaRPr lang="en-US" sz="1350" dirty="0"/>
          </a:p>
        </p:txBody>
      </p:sp>
      <p:sp>
        <p:nvSpPr>
          <p:cNvPr id="16" name="Shape 13"/>
          <p:cNvSpPr/>
          <p:nvPr/>
        </p:nvSpPr>
        <p:spPr>
          <a:xfrm>
            <a:off x="7406640" y="1874520"/>
            <a:ext cx="4297680" cy="4160520"/>
          </a:xfrm>
          <a:prstGeom prst="roundRect">
            <a:avLst>
              <a:gd name="adj" fmla="val 1758"/>
            </a:avLst>
          </a:prstGeom>
          <a:solidFill>
            <a:srgbClr val="F1ECE3"/>
          </a:solidFill>
          <a:ln w="12700">
            <a:solidFill>
              <a:srgbClr val="D8D3CA"/>
            </a:solidFill>
            <a:prstDash val="solid"/>
          </a:ln>
          <a:effectLst>
            <a:outerShdw sx="100000" sy="100000" kx="0" ky="0" algn="bl" rotWithShape="0" blurRad="88900" dist="38100" dir="5400000">
              <a:srgbClr val="000000">
                <a:alpha val="13000"/>
              </a:srgbClr>
            </a:outerShdw>
          </a:effectLst>
        </p:spPr>
      </p:sp>
      <p:pic>
        <p:nvPicPr>
          <p:cNvPr id="17" name="Image 1" descr="preencoded.png">    </p:cNvPr>
          <p:cNvPicPr>
            <a:picLocks noChangeAspect="1"/>
          </p:cNvPicPr>
          <p:nvPr/>
        </p:nvPicPr>
        <p:blipFill>
          <a:blip r:embed="rId2"/>
          <a:stretch>
            <a:fillRect/>
          </a:stretch>
        </p:blipFill>
        <p:spPr>
          <a:xfrm>
            <a:off x="7680960" y="2103120"/>
            <a:ext cx="548640" cy="548640"/>
          </a:xfrm>
          <a:prstGeom prst="rect">
            <a:avLst/>
          </a:prstGeom>
        </p:spPr>
      </p:pic>
      <p:sp>
        <p:nvSpPr>
          <p:cNvPr id="18" name="Text 14"/>
          <p:cNvSpPr/>
          <p:nvPr/>
        </p:nvSpPr>
        <p:spPr>
          <a:xfrm>
            <a:off x="8321040" y="2103120"/>
            <a:ext cx="3200400" cy="548640"/>
          </a:xfrm>
          <a:prstGeom prst="rect">
            <a:avLst/>
          </a:prstGeom>
          <a:noFill/>
          <a:ln/>
        </p:spPr>
        <p:txBody>
          <a:bodyPr wrap="square" lIns="0" tIns="0" rIns="0" bIns="0" rtlCol="0" anchor="ctr"/>
          <a:lstStyle/>
          <a:p>
            <a:pPr indent="0" marL="0">
              <a:buNone/>
            </a:pPr>
            <a:r>
              <a:rPr lang="en-US" sz="1700" b="1" dirty="0">
                <a:solidFill>
                  <a:srgbClr val="B8620A"/>
                </a:solidFill>
                <a:latin typeface="Bookman Old Style" pitchFamily="34" charset="0"/>
                <a:ea typeface="Bookman Old Style" pitchFamily="34" charset="-122"/>
                <a:cs typeface="Bookman Old Style" pitchFamily="34" charset="-120"/>
              </a:rPr>
              <a:t>Like a jigsaw by post</a:t>
            </a:r>
            <a:endParaRPr lang="en-US" sz="1700" dirty="0"/>
          </a:p>
        </p:txBody>
      </p:sp>
      <p:sp>
        <p:nvSpPr>
          <p:cNvPr id="19" name="Text 15"/>
          <p:cNvSpPr/>
          <p:nvPr/>
        </p:nvSpPr>
        <p:spPr>
          <a:xfrm>
            <a:off x="7726680" y="2788920"/>
            <a:ext cx="3749040" cy="29260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C2A28"/>
                </a:solidFill>
                <a:latin typeface="Calibri" pitchFamily="34" charset="0"/>
                <a:ea typeface="Calibri" pitchFamily="34" charset="-122"/>
                <a:cs typeface="Calibri" pitchFamily="34" charset="-120"/>
              </a:rPr>
              <a:t>Imagine posting a 1000-piece jigsaw to a friend.</a:t>
            </a:r>
            <a:endParaRPr lang="en-US" sz="1400" dirty="0"/>
          </a:p>
          <a:p>
            <a:pPr marL="342900" indent="-342900">
              <a:spcAft>
                <a:spcPts val="900"/>
              </a:spcAft>
              <a:buSzPct val="100000"/>
              <a:buChar char="•"/>
            </a:pPr>
            <a:r>
              <a:rPr lang="en-US" sz="1400" dirty="0">
                <a:solidFill>
                  <a:srgbClr val="2C2A28"/>
                </a:solidFill>
                <a:latin typeface="Calibri" pitchFamily="34" charset="0"/>
                <a:ea typeface="Calibri" pitchFamily="34" charset="-122"/>
                <a:cs typeface="Calibri" pitchFamily="34" charset="-120"/>
              </a:rPr>
              <a:t>You can't fit it all in one envelope, so you send many small envelopes.</a:t>
            </a:r>
            <a:endParaRPr lang="en-US" sz="1400" dirty="0"/>
          </a:p>
          <a:p>
            <a:pPr marL="342900" indent="-342900">
              <a:spcAft>
                <a:spcPts val="900"/>
              </a:spcAft>
              <a:buSzPct val="100000"/>
              <a:buChar char="•"/>
            </a:pPr>
            <a:r>
              <a:rPr lang="en-US" sz="1400" dirty="0">
                <a:solidFill>
                  <a:srgbClr val="2C2A28"/>
                </a:solidFill>
                <a:latin typeface="Calibri" pitchFamily="34" charset="0"/>
                <a:ea typeface="Calibri" pitchFamily="34" charset="-122"/>
                <a:cs typeface="Calibri" pitchFamily="34" charset="-120"/>
              </a:rPr>
              <a:t>You number each one so your friend knows the order.</a:t>
            </a:r>
            <a:endParaRPr lang="en-US" sz="1400" dirty="0"/>
          </a:p>
          <a:p>
            <a:pPr marL="342900" indent="-342900">
              <a:spcAft>
                <a:spcPts val="900"/>
              </a:spcAft>
              <a:buSzPct val="100000"/>
              <a:buChar char="•"/>
            </a:pPr>
            <a:r>
              <a:rPr lang="en-US" sz="1400" dirty="0">
                <a:solidFill>
                  <a:srgbClr val="2C2A28"/>
                </a:solidFill>
                <a:latin typeface="Calibri" pitchFamily="34" charset="0"/>
                <a:ea typeface="Calibri" pitchFamily="34" charset="-122"/>
                <a:cs typeface="Calibri" pitchFamily="34" charset="-120"/>
              </a:rPr>
              <a:t>They rebuild the full picture once all arrive.</a:t>
            </a:r>
            <a:endParaRPr lang="en-US" sz="1400" dirty="0"/>
          </a:p>
        </p:txBody>
      </p:sp>
      <p:sp>
        <p:nvSpPr>
          <p:cNvPr id="21" name="Text 1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22" name="Text 17"/>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1B5E47"/>
          </a:solidFill>
          <a:ln/>
        </p:spPr>
      </p:sp>
      <p:sp>
        <p:nvSpPr>
          <p:cNvPr id="3" name="Text 1"/>
          <p:cNvSpPr/>
          <p:nvPr/>
        </p:nvSpPr>
        <p:spPr>
          <a:xfrm>
            <a:off x="457200" y="292608"/>
            <a:ext cx="182880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ourier New" pitchFamily="34" charset="0"/>
                <a:ea typeface="Courier New" pitchFamily="34" charset="-122"/>
                <a:cs typeface="Courier New" pitchFamily="34" charset="-120"/>
              </a:rPr>
              <a:t>LEARNING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sp>
      <p:sp>
        <p:nvSpPr>
          <p:cNvPr id="5" name="Shape 3"/>
          <p:cNvSpPr/>
          <p:nvPr/>
        </p:nvSpPr>
        <p:spPr>
          <a:xfrm>
            <a:off x="9765792" y="411480"/>
            <a:ext cx="146304" cy="146304"/>
          </a:xfrm>
          <a:prstGeom prst="ellipse">
            <a:avLst/>
          </a:prstGeom>
          <a:solidFill>
            <a:srgbClr val="6B6762"/>
          </a:solidFill>
          <a:ln/>
        </p:spPr>
      </p:sp>
      <p:sp>
        <p:nvSpPr>
          <p:cNvPr id="6" name="Text 4"/>
          <p:cNvSpPr/>
          <p:nvPr/>
        </p:nvSpPr>
        <p:spPr>
          <a:xfrm>
            <a:off x="9966960" y="292608"/>
            <a:ext cx="1828800" cy="384048"/>
          </a:xfrm>
          <a:prstGeom prst="rect">
            <a:avLst/>
          </a:prstGeom>
          <a:noFill/>
          <a:ln/>
        </p:spPr>
        <p:txBody>
          <a:bodyPr wrap="square" lIns="0" tIns="0" rIns="0" bIns="0" rtlCol="0" anchor="ctr"/>
          <a:lstStyle/>
          <a:p>
            <a:pPr indent="0" marL="0">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indent="0" marL="0">
              <a:buNone/>
            </a:pPr>
            <a:r>
              <a:rPr lang="en-US" sz="3200" b="1" dirty="0">
                <a:solidFill>
                  <a:srgbClr val="12100E"/>
                </a:solidFill>
                <a:latin typeface="Bookman Old Style" pitchFamily="34" charset="0"/>
                <a:ea typeface="Bookman Old Style" pitchFamily="34" charset="-122"/>
                <a:cs typeface="Bookman Old Style" pitchFamily="34" charset="-120"/>
              </a:rPr>
              <a:t>What's Inside a Packet?</a:t>
            </a:r>
            <a:endParaRPr lang="en-US" sz="3200" dirty="0"/>
          </a:p>
        </p:txBody>
      </p:sp>
      <p:sp>
        <p:nvSpPr>
          <p:cNvPr id="8" name="Shape 6"/>
          <p:cNvSpPr/>
          <p:nvPr/>
        </p:nvSpPr>
        <p:spPr>
          <a:xfrm>
            <a:off x="9601200" y="1078992"/>
            <a:ext cx="2103120" cy="411480"/>
          </a:xfrm>
          <a:prstGeom prst="roundRect">
            <a:avLst>
              <a:gd name="adj" fmla="val 48889"/>
            </a:avLst>
          </a:prstGeom>
          <a:solidFill>
            <a:srgbClr val="B8620A"/>
          </a:solidFill>
          <a:ln/>
        </p:spPr>
      </p:sp>
      <p:sp>
        <p:nvSpPr>
          <p:cNvPr id="9" name="Text 7"/>
          <p:cNvSpPr/>
          <p:nvPr/>
        </p:nvSpPr>
        <p:spPr>
          <a:xfrm>
            <a:off x="9601200" y="1078992"/>
            <a:ext cx="210312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COPY TO WORKBOOK</a:t>
            </a:r>
            <a:endParaRPr lang="en-US" sz="1000" dirty="0"/>
          </a:p>
        </p:txBody>
      </p:sp>
      <p:sp>
        <p:nvSpPr>
          <p:cNvPr id="10" name="Shape 8"/>
          <p:cNvSpPr/>
          <p:nvPr/>
        </p:nvSpPr>
        <p:spPr>
          <a:xfrm>
            <a:off x="457200" y="1920240"/>
            <a:ext cx="11247120" cy="1737360"/>
          </a:xfrm>
          <a:prstGeom prst="roundRect">
            <a:avLst>
              <a:gd name="adj" fmla="val 4211"/>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1" name="Shape 9"/>
          <p:cNvSpPr/>
          <p:nvPr/>
        </p:nvSpPr>
        <p:spPr>
          <a:xfrm>
            <a:off x="731520" y="2148840"/>
            <a:ext cx="3749040" cy="1280160"/>
          </a:xfrm>
          <a:prstGeom prst="roundRect">
            <a:avLst>
              <a:gd name="adj" fmla="val 5714"/>
            </a:avLst>
          </a:prstGeom>
          <a:solidFill>
            <a:srgbClr val="2B3A8C"/>
          </a:solidFill>
          <a:ln/>
        </p:spPr>
      </p:sp>
      <p:sp>
        <p:nvSpPr>
          <p:cNvPr id="12" name="Text 10"/>
          <p:cNvSpPr/>
          <p:nvPr/>
        </p:nvSpPr>
        <p:spPr>
          <a:xfrm>
            <a:off x="731520" y="2286000"/>
            <a:ext cx="374904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HEADER</a:t>
            </a:r>
            <a:endParaRPr lang="en-US" sz="1800" dirty="0"/>
          </a:p>
        </p:txBody>
      </p:sp>
      <p:sp>
        <p:nvSpPr>
          <p:cNvPr id="13" name="Text 11"/>
          <p:cNvSpPr/>
          <p:nvPr/>
        </p:nvSpPr>
        <p:spPr>
          <a:xfrm>
            <a:off x="868680" y="2743200"/>
            <a:ext cx="3474720" cy="640080"/>
          </a:xfrm>
          <a:prstGeom prst="rect">
            <a:avLst/>
          </a:prstGeom>
          <a:noFill/>
          <a:ln/>
        </p:spPr>
        <p:txBody>
          <a:bodyPr wrap="square" lIns="0" tIns="0" rIns="0" bIns="0" rtlCol="0" anchor="t"/>
          <a:lstStyle/>
          <a:p>
            <a:pPr algn="ctr" indent="0" marL="0">
              <a:buNone/>
            </a:pPr>
            <a:r>
              <a:rPr lang="en-US" sz="1150" dirty="0">
                <a:solidFill>
                  <a:srgbClr val="F2EFEA"/>
                </a:solidFill>
                <a:latin typeface="Calibri" pitchFamily="34" charset="0"/>
                <a:ea typeface="Calibri" pitchFamily="34" charset="-122"/>
                <a:cs typeface="Calibri" pitchFamily="34" charset="-120"/>
              </a:rPr>
              <a:t>Where it's going (the destination address) and the packet's number in the sequence.</a:t>
            </a:r>
            <a:endParaRPr lang="en-US" sz="1150" dirty="0"/>
          </a:p>
        </p:txBody>
      </p:sp>
      <p:sp>
        <p:nvSpPr>
          <p:cNvPr id="14" name="Shape 12"/>
          <p:cNvSpPr/>
          <p:nvPr/>
        </p:nvSpPr>
        <p:spPr>
          <a:xfrm>
            <a:off x="4617720" y="2148840"/>
            <a:ext cx="3931920" cy="1280160"/>
          </a:xfrm>
          <a:prstGeom prst="roundRect">
            <a:avLst>
              <a:gd name="adj" fmla="val 5714"/>
            </a:avLst>
          </a:prstGeom>
          <a:solidFill>
            <a:srgbClr val="1B5E47"/>
          </a:solidFill>
          <a:ln/>
        </p:spPr>
      </p:sp>
      <p:sp>
        <p:nvSpPr>
          <p:cNvPr id="15" name="Text 13"/>
          <p:cNvSpPr/>
          <p:nvPr/>
        </p:nvSpPr>
        <p:spPr>
          <a:xfrm>
            <a:off x="4617720" y="2286000"/>
            <a:ext cx="39319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PAYLOAD</a:t>
            </a:r>
            <a:endParaRPr lang="en-US" sz="1800" dirty="0"/>
          </a:p>
        </p:txBody>
      </p:sp>
      <p:sp>
        <p:nvSpPr>
          <p:cNvPr id="16" name="Text 14"/>
          <p:cNvSpPr/>
          <p:nvPr/>
        </p:nvSpPr>
        <p:spPr>
          <a:xfrm>
            <a:off x="4754880" y="2743200"/>
            <a:ext cx="3657600" cy="640080"/>
          </a:xfrm>
          <a:prstGeom prst="rect">
            <a:avLst/>
          </a:prstGeom>
          <a:noFill/>
          <a:ln/>
        </p:spPr>
        <p:txBody>
          <a:bodyPr wrap="square" lIns="0" tIns="0" rIns="0" bIns="0" rtlCol="0" anchor="t"/>
          <a:lstStyle/>
          <a:p>
            <a:pPr algn="ctr" indent="0" marL="0">
              <a:buNone/>
            </a:pPr>
            <a:r>
              <a:rPr lang="en-US" sz="1150" dirty="0">
                <a:solidFill>
                  <a:srgbClr val="F2EFEA"/>
                </a:solidFill>
                <a:latin typeface="Calibri" pitchFamily="34" charset="0"/>
                <a:ea typeface="Calibri" pitchFamily="34" charset="-122"/>
                <a:cs typeface="Calibri" pitchFamily="34" charset="-120"/>
              </a:rPr>
              <a:t>The actual piece of data — part of your message, photo or video.</a:t>
            </a:r>
            <a:endParaRPr lang="en-US" sz="1150" dirty="0"/>
          </a:p>
        </p:txBody>
      </p:sp>
      <p:sp>
        <p:nvSpPr>
          <p:cNvPr id="17" name="Shape 15"/>
          <p:cNvSpPr/>
          <p:nvPr/>
        </p:nvSpPr>
        <p:spPr>
          <a:xfrm>
            <a:off x="8686800" y="2148840"/>
            <a:ext cx="2606040" cy="1280160"/>
          </a:xfrm>
          <a:prstGeom prst="roundRect">
            <a:avLst>
              <a:gd name="adj" fmla="val 5714"/>
            </a:avLst>
          </a:prstGeom>
          <a:solidFill>
            <a:srgbClr val="B8620A"/>
          </a:solidFill>
          <a:ln/>
        </p:spPr>
      </p:sp>
      <p:sp>
        <p:nvSpPr>
          <p:cNvPr id="18" name="Text 16"/>
          <p:cNvSpPr/>
          <p:nvPr/>
        </p:nvSpPr>
        <p:spPr>
          <a:xfrm>
            <a:off x="8686800" y="2286000"/>
            <a:ext cx="260604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FOOTER</a:t>
            </a:r>
            <a:endParaRPr lang="en-US" sz="1800" dirty="0"/>
          </a:p>
        </p:txBody>
      </p:sp>
      <p:sp>
        <p:nvSpPr>
          <p:cNvPr id="19" name="Text 17"/>
          <p:cNvSpPr/>
          <p:nvPr/>
        </p:nvSpPr>
        <p:spPr>
          <a:xfrm>
            <a:off x="8823960" y="2743200"/>
            <a:ext cx="2331720" cy="640080"/>
          </a:xfrm>
          <a:prstGeom prst="rect">
            <a:avLst/>
          </a:prstGeom>
          <a:noFill/>
          <a:ln/>
        </p:spPr>
        <p:txBody>
          <a:bodyPr wrap="square" lIns="0" tIns="0" rIns="0" bIns="0" rtlCol="0" anchor="t"/>
          <a:lstStyle/>
          <a:p>
            <a:pPr algn="ctr" indent="0" marL="0">
              <a:buNone/>
            </a:pPr>
            <a:r>
              <a:rPr lang="en-US" sz="1150" dirty="0">
                <a:solidFill>
                  <a:srgbClr val="F2EFEA"/>
                </a:solidFill>
                <a:latin typeface="Calibri" pitchFamily="34" charset="0"/>
                <a:ea typeface="Calibri" pitchFamily="34" charset="-122"/>
                <a:cs typeface="Calibri" pitchFamily="34" charset="-120"/>
              </a:rPr>
              <a:t>A simple check so the other end can tell if the packet arrived undamaged.</a:t>
            </a:r>
            <a:endParaRPr lang="en-US" sz="1150" dirty="0"/>
          </a:p>
        </p:txBody>
      </p:sp>
      <p:sp>
        <p:nvSpPr>
          <p:cNvPr id="20" name="Text 18"/>
          <p:cNvSpPr/>
          <p:nvPr/>
        </p:nvSpPr>
        <p:spPr>
          <a:xfrm>
            <a:off x="457200" y="3703320"/>
            <a:ext cx="11247120" cy="274320"/>
          </a:xfrm>
          <a:prstGeom prst="rect">
            <a:avLst/>
          </a:prstGeom>
          <a:noFill/>
          <a:ln/>
        </p:spPr>
        <p:txBody>
          <a:bodyPr wrap="square" lIns="0" tIns="0" rIns="0" bIns="0" rtlCol="0" anchor="ctr"/>
          <a:lstStyle/>
          <a:p>
            <a:pPr algn="ctr" indent="0" marL="0">
              <a:buNone/>
            </a:pPr>
            <a:r>
              <a:rPr lang="en-US" sz="1100" dirty="0">
                <a:solidFill>
                  <a:srgbClr val="6B6762"/>
                </a:solidFill>
                <a:latin typeface="Courier New" pitchFamily="34" charset="0"/>
                <a:ea typeface="Courier New" pitchFamily="34" charset="-122"/>
                <a:cs typeface="Courier New" pitchFamily="34" charset="-120"/>
              </a:rPr>
              <a:t>← one packet →</a:t>
            </a:r>
            <a:endParaRPr lang="en-US" sz="1100" dirty="0"/>
          </a:p>
        </p:txBody>
      </p:sp>
      <p:sp>
        <p:nvSpPr>
          <p:cNvPr id="21" name="Shape 19"/>
          <p:cNvSpPr/>
          <p:nvPr/>
        </p:nvSpPr>
        <p:spPr>
          <a:xfrm>
            <a:off x="457200" y="4160520"/>
            <a:ext cx="11247120" cy="1783080"/>
          </a:xfrm>
          <a:prstGeom prst="roundRect">
            <a:avLst>
              <a:gd name="adj" fmla="val 4103"/>
            </a:avLst>
          </a:prstGeom>
          <a:solidFill>
            <a:srgbClr val="F1ECE3"/>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22" name="Text 20"/>
          <p:cNvSpPr/>
          <p:nvPr/>
        </p:nvSpPr>
        <p:spPr>
          <a:xfrm>
            <a:off x="777240" y="4297680"/>
            <a:ext cx="10607040" cy="365760"/>
          </a:xfrm>
          <a:prstGeom prst="rect">
            <a:avLst/>
          </a:prstGeom>
          <a:noFill/>
          <a:ln/>
        </p:spPr>
        <p:txBody>
          <a:bodyPr wrap="square" lIns="0" tIns="0" rIns="0" bIns="0" rtlCol="0" anchor="ctr"/>
          <a:lstStyle/>
          <a:p>
            <a:pPr indent="0" marL="0">
              <a:buNone/>
            </a:pPr>
            <a:r>
              <a:rPr lang="en-US" sz="1700" b="1" dirty="0">
                <a:solidFill>
                  <a:srgbClr val="B8620A"/>
                </a:solidFill>
                <a:latin typeface="Bookman Old Style" pitchFamily="34" charset="0"/>
                <a:ea typeface="Bookman Old Style" pitchFamily="34" charset="-122"/>
                <a:cs typeface="Bookman Old Style" pitchFamily="34" charset="-120"/>
              </a:rPr>
              <a:t>Back to the envelope</a:t>
            </a:r>
            <a:endParaRPr lang="en-US" sz="1700" dirty="0"/>
          </a:p>
        </p:txBody>
      </p:sp>
      <p:sp>
        <p:nvSpPr>
          <p:cNvPr id="23" name="Text 21"/>
          <p:cNvSpPr/>
          <p:nvPr/>
        </p:nvSpPr>
        <p:spPr>
          <a:xfrm>
            <a:off x="777240" y="4754880"/>
            <a:ext cx="3611880" cy="1097280"/>
          </a:xfrm>
          <a:prstGeom prst="rect">
            <a:avLst/>
          </a:prstGeom>
          <a:noFill/>
          <a:ln/>
        </p:spPr>
        <p:txBody>
          <a:bodyPr wrap="square" lIns="0" tIns="0" rIns="0" bIns="0" rtlCol="0" anchor="t"/>
          <a:lstStyle/>
          <a:p>
            <a:pPr indent="0" marL="0">
              <a:buNone/>
            </a:pPr>
            <a:r>
              <a:rPr lang="en-US" sz="1500" b="1" dirty="0">
                <a:solidFill>
                  <a:srgbClr val="12100E"/>
                </a:solidFill>
                <a:latin typeface="Calibri" pitchFamily="34" charset="0"/>
                <a:ea typeface="Calibri" pitchFamily="34" charset="-122"/>
                <a:cs typeface="Calibri" pitchFamily="34" charset="-120"/>
              </a:rPr>
              <a:t>Header
</a:t>
            </a:r>
            <a:pPr indent="0" marL="0">
              <a:buNone/>
            </a:pPr>
            <a:r>
              <a:rPr lang="en-US" sz="1300" dirty="0">
                <a:solidFill>
                  <a:srgbClr val="2C2A28"/>
                </a:solidFill>
                <a:latin typeface="Calibri" pitchFamily="34" charset="0"/>
                <a:ea typeface="Calibri" pitchFamily="34" charset="-122"/>
                <a:cs typeface="Calibri" pitchFamily="34" charset="-120"/>
              </a:rPr>
              <a:t>= the address on the front + which number envelope it is</a:t>
            </a:r>
            <a:endParaRPr lang="en-US" sz="1500" dirty="0"/>
          </a:p>
        </p:txBody>
      </p:sp>
      <p:sp>
        <p:nvSpPr>
          <p:cNvPr id="24" name="Text 22"/>
          <p:cNvSpPr/>
          <p:nvPr/>
        </p:nvSpPr>
        <p:spPr>
          <a:xfrm>
            <a:off x="4480560" y="4754880"/>
            <a:ext cx="3611880" cy="1097280"/>
          </a:xfrm>
          <a:prstGeom prst="rect">
            <a:avLst/>
          </a:prstGeom>
          <a:noFill/>
          <a:ln/>
        </p:spPr>
        <p:txBody>
          <a:bodyPr wrap="square" lIns="0" tIns="0" rIns="0" bIns="0" rtlCol="0" anchor="t"/>
          <a:lstStyle/>
          <a:p>
            <a:pPr indent="0" marL="0">
              <a:buNone/>
            </a:pPr>
            <a:r>
              <a:rPr lang="en-US" sz="1500" b="1" dirty="0">
                <a:solidFill>
                  <a:srgbClr val="12100E"/>
                </a:solidFill>
                <a:latin typeface="Calibri" pitchFamily="34" charset="0"/>
                <a:ea typeface="Calibri" pitchFamily="34" charset="-122"/>
                <a:cs typeface="Calibri" pitchFamily="34" charset="-120"/>
              </a:rPr>
              <a:t>Payload
</a:t>
            </a:r>
            <a:pPr indent="0" marL="0">
              <a:buNone/>
            </a:pPr>
            <a:r>
              <a:rPr lang="en-US" sz="1300" dirty="0">
                <a:solidFill>
                  <a:srgbClr val="2C2A28"/>
                </a:solidFill>
                <a:latin typeface="Calibri" pitchFamily="34" charset="0"/>
                <a:ea typeface="Calibri" pitchFamily="34" charset="-122"/>
                <a:cs typeface="Calibri" pitchFamily="34" charset="-120"/>
              </a:rPr>
              <a:t>= the puzzle pieces inside the envelope</a:t>
            </a:r>
            <a:endParaRPr lang="en-US" sz="1500" dirty="0"/>
          </a:p>
        </p:txBody>
      </p:sp>
      <p:sp>
        <p:nvSpPr>
          <p:cNvPr id="25" name="Text 23"/>
          <p:cNvSpPr/>
          <p:nvPr/>
        </p:nvSpPr>
        <p:spPr>
          <a:xfrm>
            <a:off x="8183880" y="4754880"/>
            <a:ext cx="3611880" cy="1097280"/>
          </a:xfrm>
          <a:prstGeom prst="rect">
            <a:avLst/>
          </a:prstGeom>
          <a:noFill/>
          <a:ln/>
        </p:spPr>
        <p:txBody>
          <a:bodyPr wrap="square" lIns="0" tIns="0" rIns="0" bIns="0" rtlCol="0" anchor="t"/>
          <a:lstStyle/>
          <a:p>
            <a:pPr indent="0" marL="0">
              <a:buNone/>
            </a:pPr>
            <a:r>
              <a:rPr lang="en-US" sz="1500" b="1" dirty="0">
                <a:solidFill>
                  <a:srgbClr val="12100E"/>
                </a:solidFill>
                <a:latin typeface="Calibri" pitchFamily="34" charset="0"/>
                <a:ea typeface="Calibri" pitchFamily="34" charset="-122"/>
                <a:cs typeface="Calibri" pitchFamily="34" charset="-120"/>
              </a:rPr>
              <a:t>Footer
</a:t>
            </a:r>
            <a:pPr indent="0" marL="0">
              <a:buNone/>
            </a:pPr>
            <a:r>
              <a:rPr lang="en-US" sz="1300" dirty="0">
                <a:solidFill>
                  <a:srgbClr val="2C2A28"/>
                </a:solidFill>
                <a:latin typeface="Calibri" pitchFamily="34" charset="0"/>
                <a:ea typeface="Calibri" pitchFamily="34" charset="-122"/>
                <a:cs typeface="Calibri" pitchFamily="34" charset="-120"/>
              </a:rPr>
              <a:t>= a quick 'did everything arrive in one piece?' check</a:t>
            </a:r>
            <a:endParaRPr lang="en-US" sz="1500" dirty="0"/>
          </a:p>
        </p:txBody>
      </p:sp>
      <p:sp>
        <p:nvSpPr>
          <p:cNvPr id="27" name="Text 24"/>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28" name="Text 25"/>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1B5E47"/>
          </a:solidFill>
          <a:ln/>
        </p:spPr>
      </p:sp>
      <p:sp>
        <p:nvSpPr>
          <p:cNvPr id="3" name="Text 1"/>
          <p:cNvSpPr/>
          <p:nvPr/>
        </p:nvSpPr>
        <p:spPr>
          <a:xfrm>
            <a:off x="457200" y="292608"/>
            <a:ext cx="182880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ourier New" pitchFamily="34" charset="0"/>
                <a:ea typeface="Courier New" pitchFamily="34" charset="-122"/>
                <a:cs typeface="Courier New" pitchFamily="34" charset="-120"/>
              </a:rPr>
              <a:t>LEARNING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sp>
      <p:sp>
        <p:nvSpPr>
          <p:cNvPr id="5" name="Shape 3"/>
          <p:cNvSpPr/>
          <p:nvPr/>
        </p:nvSpPr>
        <p:spPr>
          <a:xfrm>
            <a:off x="9765792" y="411480"/>
            <a:ext cx="146304" cy="146304"/>
          </a:xfrm>
          <a:prstGeom prst="ellipse">
            <a:avLst/>
          </a:prstGeom>
          <a:solidFill>
            <a:srgbClr val="6B6762"/>
          </a:solidFill>
          <a:ln/>
        </p:spPr>
      </p:sp>
      <p:sp>
        <p:nvSpPr>
          <p:cNvPr id="6" name="Text 4"/>
          <p:cNvSpPr/>
          <p:nvPr/>
        </p:nvSpPr>
        <p:spPr>
          <a:xfrm>
            <a:off x="9966960" y="292608"/>
            <a:ext cx="1828800" cy="384048"/>
          </a:xfrm>
          <a:prstGeom prst="rect">
            <a:avLst/>
          </a:prstGeom>
          <a:noFill/>
          <a:ln/>
        </p:spPr>
        <p:txBody>
          <a:bodyPr wrap="square" lIns="0" tIns="0" rIns="0" bIns="0" rtlCol="0" anchor="ctr"/>
          <a:lstStyle/>
          <a:p>
            <a:pPr indent="0" marL="0">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indent="0" marL="0">
              <a:buNone/>
            </a:pPr>
            <a:r>
              <a:rPr lang="en-US" sz="3200" b="1" dirty="0">
                <a:solidFill>
                  <a:srgbClr val="12100E"/>
                </a:solidFill>
                <a:latin typeface="Bookman Old Style" pitchFamily="34" charset="0"/>
                <a:ea typeface="Bookman Old Style" pitchFamily="34" charset="-122"/>
                <a:cs typeface="Bookman Old Style" pitchFamily="34" charset="-120"/>
              </a:rPr>
              <a:t>Finding a Route</a:t>
            </a:r>
            <a:endParaRPr lang="en-US" sz="3200" dirty="0"/>
          </a:p>
        </p:txBody>
      </p:sp>
      <p:sp>
        <p:nvSpPr>
          <p:cNvPr id="8" name="Shape 6"/>
          <p:cNvSpPr/>
          <p:nvPr/>
        </p:nvSpPr>
        <p:spPr>
          <a:xfrm>
            <a:off x="9601200" y="1078992"/>
            <a:ext cx="2103120" cy="411480"/>
          </a:xfrm>
          <a:prstGeom prst="roundRect">
            <a:avLst>
              <a:gd name="adj" fmla="val 48889"/>
            </a:avLst>
          </a:prstGeom>
          <a:solidFill>
            <a:srgbClr val="B8620A"/>
          </a:solidFill>
          <a:ln/>
        </p:spPr>
      </p:sp>
      <p:sp>
        <p:nvSpPr>
          <p:cNvPr id="9" name="Text 7"/>
          <p:cNvSpPr/>
          <p:nvPr/>
        </p:nvSpPr>
        <p:spPr>
          <a:xfrm>
            <a:off x="9601200" y="1078992"/>
            <a:ext cx="210312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COPY TO WORKBOOK</a:t>
            </a:r>
            <a:endParaRPr lang="en-US" sz="1000" dirty="0"/>
          </a:p>
        </p:txBody>
      </p:sp>
      <p:sp>
        <p:nvSpPr>
          <p:cNvPr id="10" name="Shape 8"/>
          <p:cNvSpPr/>
          <p:nvPr/>
        </p:nvSpPr>
        <p:spPr>
          <a:xfrm>
            <a:off x="457200" y="1874520"/>
            <a:ext cx="6766560" cy="4160520"/>
          </a:xfrm>
          <a:prstGeom prst="roundRect">
            <a:avLst>
              <a:gd name="adj" fmla="val 1758"/>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pic>
        <p:nvPicPr>
          <p:cNvPr id="11" name="Image 0" descr="preencoded.png">    </p:cNvPr>
          <p:cNvPicPr>
            <a:picLocks noChangeAspect="1"/>
          </p:cNvPicPr>
          <p:nvPr/>
        </p:nvPicPr>
        <p:blipFill>
          <a:blip r:embed="rId1"/>
          <a:stretch>
            <a:fillRect/>
          </a:stretch>
        </p:blipFill>
        <p:spPr>
          <a:xfrm>
            <a:off x="777240" y="2148840"/>
            <a:ext cx="594360" cy="594360"/>
          </a:xfrm>
          <a:prstGeom prst="rect">
            <a:avLst/>
          </a:prstGeom>
        </p:spPr>
      </p:pic>
      <p:sp>
        <p:nvSpPr>
          <p:cNvPr id="12" name="Text 9"/>
          <p:cNvSpPr/>
          <p:nvPr/>
        </p:nvSpPr>
        <p:spPr>
          <a:xfrm>
            <a:off x="1508760" y="2194560"/>
            <a:ext cx="5394960" cy="502920"/>
          </a:xfrm>
          <a:prstGeom prst="rect">
            <a:avLst/>
          </a:prstGeom>
          <a:noFill/>
          <a:ln/>
        </p:spPr>
        <p:txBody>
          <a:bodyPr wrap="square" lIns="0" tIns="0" rIns="0" bIns="0" rtlCol="0" anchor="ctr"/>
          <a:lstStyle/>
          <a:p>
            <a:pPr indent="0" marL="0">
              <a:buNone/>
            </a:pPr>
            <a:r>
              <a:rPr lang="en-US" sz="1800" b="1" dirty="0">
                <a:solidFill>
                  <a:srgbClr val="12100E"/>
                </a:solidFill>
                <a:latin typeface="Bookman Old Style" pitchFamily="34" charset="0"/>
                <a:ea typeface="Bookman Old Style" pitchFamily="34" charset="-122"/>
                <a:cs typeface="Bookman Old Style" pitchFamily="34" charset="-120"/>
              </a:rPr>
              <a:t>Packets choose their own path</a:t>
            </a:r>
            <a:endParaRPr lang="en-US" sz="1800" dirty="0"/>
          </a:p>
        </p:txBody>
      </p:sp>
      <p:sp>
        <p:nvSpPr>
          <p:cNvPr id="13" name="Text 10"/>
          <p:cNvSpPr/>
          <p:nvPr/>
        </p:nvSpPr>
        <p:spPr>
          <a:xfrm>
            <a:off x="777240" y="2880360"/>
            <a:ext cx="6126480" cy="2834640"/>
          </a:xfrm>
          <a:prstGeom prst="rect">
            <a:avLst/>
          </a:prstGeom>
          <a:noFill/>
          <a:ln/>
        </p:spPr>
        <p:txBody>
          <a:bodyPr wrap="square" lIns="0" tIns="0" rIns="0" bIns="0" rtlCol="0" anchor="t"/>
          <a:lstStyle/>
          <a:p>
            <a:pPr indent="0" marL="0">
              <a:buNone/>
            </a:pPr>
            <a:r>
              <a:rPr lang="en-US" sz="1550" dirty="0">
                <a:solidFill>
                  <a:srgbClr val="2C2A28"/>
                </a:solidFill>
                <a:latin typeface="Calibri" pitchFamily="34" charset="0"/>
                <a:ea typeface="Calibri" pitchFamily="34" charset="-122"/>
                <a:cs typeface="Calibri" pitchFamily="34" charset="-120"/>
              </a:rPr>
              <a:t>Packets from the same message don't all follow the same road.</a:t>
            </a:r>
            <a:endParaRPr lang="en-US" sz="1550" dirty="0"/>
          </a:p>
          <a:p>
            <a:pPr indent="0" marL="0">
              <a:buNone/>
            </a:pPr>
            <a:endParaRPr lang="en-US" sz="1550" dirty="0"/>
          </a:p>
          <a:p>
            <a:pPr indent="0" marL="0">
              <a:buNone/>
            </a:pPr>
            <a:r>
              <a:rPr lang="en-US" sz="1550" dirty="0">
                <a:solidFill>
                  <a:srgbClr val="2C2A28"/>
                </a:solidFill>
                <a:latin typeface="Calibri" pitchFamily="34" charset="0"/>
                <a:ea typeface="Calibri" pitchFamily="34" charset="-122"/>
                <a:cs typeface="Calibri" pitchFamily="34" charset="-120"/>
              </a:rPr>
              <a:t>At each step, a </a:t>
            </a:r>
            <a:pPr indent="0" marL="0">
              <a:buNone/>
            </a:pPr>
            <a:r>
              <a:rPr lang="en-US" sz="1550" b="1" dirty="0">
                <a:solidFill>
                  <a:srgbClr val="1B5E47"/>
                </a:solidFill>
                <a:latin typeface="Calibri" pitchFamily="34" charset="0"/>
                <a:ea typeface="Calibri" pitchFamily="34" charset="-122"/>
                <a:cs typeface="Calibri" pitchFamily="34" charset="-120"/>
              </a:rPr>
              <a:t>router</a:t>
            </a:r>
            <a:pPr indent="0" marL="0">
              <a:buNone/>
            </a:pPr>
            <a:r>
              <a:rPr lang="en-US" sz="1550" dirty="0">
                <a:solidFill>
                  <a:srgbClr val="2C2A28"/>
                </a:solidFill>
                <a:latin typeface="Calibri" pitchFamily="34" charset="0"/>
                <a:ea typeface="Calibri" pitchFamily="34" charset="-122"/>
                <a:cs typeface="Calibri" pitchFamily="34" charset="-120"/>
              </a:rPr>
              <a:t> reads the packet's destination and sends it on by the best path available right then — like a signpost at every junction.</a:t>
            </a:r>
            <a:pPr indent="0" marL="0">
              <a:buNone/>
            </a:pPr>
            <a:endParaRPr lang="en-US" sz="1550" dirty="0"/>
          </a:p>
          <a:p>
            <a:pPr indent="0" marL="0">
              <a:buNone/>
            </a:pPr>
            <a:r>
              <a:rPr lang="en-US" sz="1550" dirty="0">
                <a:solidFill>
                  <a:srgbClr val="2C2A28"/>
                </a:solidFill>
                <a:latin typeface="Calibri" pitchFamily="34" charset="0"/>
                <a:ea typeface="Calibri" pitchFamily="34" charset="-122"/>
                <a:cs typeface="Calibri" pitchFamily="34" charset="-120"/>
              </a:rPr>
              <a:t>If one path is busy or broken, packets simply take another.</a:t>
            </a:r>
            <a:endParaRPr lang="en-US" sz="1550" dirty="0"/>
          </a:p>
        </p:txBody>
      </p:sp>
      <p:sp>
        <p:nvSpPr>
          <p:cNvPr id="14" name="Shape 11"/>
          <p:cNvSpPr/>
          <p:nvPr/>
        </p:nvSpPr>
        <p:spPr>
          <a:xfrm>
            <a:off x="7406640" y="1874520"/>
            <a:ext cx="4297680" cy="4160520"/>
          </a:xfrm>
          <a:prstGeom prst="roundRect">
            <a:avLst>
              <a:gd name="adj" fmla="val 1758"/>
            </a:avLst>
          </a:prstGeom>
          <a:solidFill>
            <a:srgbClr val="EEF0F8"/>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5" name="Text 12"/>
          <p:cNvSpPr/>
          <p:nvPr/>
        </p:nvSpPr>
        <p:spPr>
          <a:xfrm>
            <a:off x="7635240" y="2057400"/>
            <a:ext cx="3840480" cy="548640"/>
          </a:xfrm>
          <a:prstGeom prst="rect">
            <a:avLst/>
          </a:prstGeom>
          <a:noFill/>
          <a:ln/>
        </p:spPr>
        <p:txBody>
          <a:bodyPr wrap="square" lIns="0" tIns="0" rIns="0" bIns="0" rtlCol="0" anchor="t"/>
          <a:lstStyle/>
          <a:p>
            <a:pPr indent="0" marL="0">
              <a:buNone/>
            </a:pPr>
            <a:r>
              <a:rPr lang="en-US" sz="1300" b="1" dirty="0">
                <a:solidFill>
                  <a:srgbClr val="2B3A8C"/>
                </a:solidFill>
                <a:latin typeface="Calibri" pitchFamily="34" charset="0"/>
                <a:ea typeface="Calibri" pitchFamily="34" charset="-122"/>
                <a:cs typeface="Calibri" pitchFamily="34" charset="-120"/>
              </a:rPr>
              <a:t>Same start, same end — different roads</a:t>
            </a:r>
            <a:endParaRPr lang="en-US" sz="1300" dirty="0"/>
          </a:p>
        </p:txBody>
      </p:sp>
      <p:sp>
        <p:nvSpPr>
          <p:cNvPr id="16" name="Shape 13"/>
          <p:cNvSpPr/>
          <p:nvPr/>
        </p:nvSpPr>
        <p:spPr>
          <a:xfrm>
            <a:off x="7726680" y="3200400"/>
            <a:ext cx="731520" cy="731520"/>
          </a:xfrm>
          <a:prstGeom prst="ellipse">
            <a:avLst/>
          </a:prstGeom>
          <a:solidFill>
            <a:srgbClr val="1B5E47"/>
          </a:solidFill>
          <a:ln/>
        </p:spPr>
      </p:sp>
      <p:sp>
        <p:nvSpPr>
          <p:cNvPr id="17" name="Text 14"/>
          <p:cNvSpPr/>
          <p:nvPr/>
        </p:nvSpPr>
        <p:spPr>
          <a:xfrm>
            <a:off x="7726680" y="320040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Bookman Old Style" pitchFamily="34" charset="0"/>
                <a:ea typeface="Bookman Old Style" pitchFamily="34" charset="-122"/>
                <a:cs typeface="Bookman Old Style" pitchFamily="34" charset="-120"/>
              </a:rPr>
              <a:t>A</a:t>
            </a:r>
            <a:endParaRPr lang="en-US" sz="2000" dirty="0"/>
          </a:p>
        </p:txBody>
      </p:sp>
      <p:sp>
        <p:nvSpPr>
          <p:cNvPr id="18" name="Shape 15"/>
          <p:cNvSpPr/>
          <p:nvPr/>
        </p:nvSpPr>
        <p:spPr>
          <a:xfrm>
            <a:off x="10652760" y="3200400"/>
            <a:ext cx="731520" cy="731520"/>
          </a:xfrm>
          <a:prstGeom prst="ellipse">
            <a:avLst/>
          </a:prstGeom>
          <a:solidFill>
            <a:srgbClr val="8C1F28"/>
          </a:solidFill>
          <a:ln/>
        </p:spPr>
      </p:sp>
      <p:sp>
        <p:nvSpPr>
          <p:cNvPr id="19" name="Text 16"/>
          <p:cNvSpPr/>
          <p:nvPr/>
        </p:nvSpPr>
        <p:spPr>
          <a:xfrm>
            <a:off x="10652760" y="320040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Bookman Old Style" pitchFamily="34" charset="0"/>
                <a:ea typeface="Bookman Old Style" pitchFamily="34" charset="-122"/>
                <a:cs typeface="Bookman Old Style" pitchFamily="34" charset="-120"/>
              </a:rPr>
              <a:t>B</a:t>
            </a:r>
            <a:endParaRPr lang="en-US" sz="2000" dirty="0"/>
          </a:p>
        </p:txBody>
      </p:sp>
      <p:sp>
        <p:nvSpPr>
          <p:cNvPr id="20" name="Shape 17"/>
          <p:cNvSpPr/>
          <p:nvPr/>
        </p:nvSpPr>
        <p:spPr>
          <a:xfrm>
            <a:off x="8869680" y="2697480"/>
            <a:ext cx="365760" cy="365760"/>
          </a:xfrm>
          <a:prstGeom prst="ellipse">
            <a:avLst/>
          </a:prstGeom>
          <a:solidFill>
            <a:srgbClr val="2B3A8C"/>
          </a:solidFill>
          <a:ln/>
        </p:spPr>
      </p:sp>
      <p:sp>
        <p:nvSpPr>
          <p:cNvPr id="21" name="Shape 18"/>
          <p:cNvSpPr/>
          <p:nvPr/>
        </p:nvSpPr>
        <p:spPr>
          <a:xfrm>
            <a:off x="9692640" y="2697480"/>
            <a:ext cx="365760" cy="365760"/>
          </a:xfrm>
          <a:prstGeom prst="ellipse">
            <a:avLst/>
          </a:prstGeom>
          <a:solidFill>
            <a:srgbClr val="2B3A8C"/>
          </a:solidFill>
          <a:ln/>
        </p:spPr>
      </p:sp>
      <p:sp>
        <p:nvSpPr>
          <p:cNvPr id="22" name="Shape 19"/>
          <p:cNvSpPr/>
          <p:nvPr/>
        </p:nvSpPr>
        <p:spPr>
          <a:xfrm>
            <a:off x="8869680" y="4434840"/>
            <a:ext cx="365760" cy="365760"/>
          </a:xfrm>
          <a:prstGeom prst="ellipse">
            <a:avLst/>
          </a:prstGeom>
          <a:solidFill>
            <a:srgbClr val="2B3A8C"/>
          </a:solidFill>
          <a:ln/>
        </p:spPr>
      </p:sp>
      <p:sp>
        <p:nvSpPr>
          <p:cNvPr id="23" name="Shape 20"/>
          <p:cNvSpPr/>
          <p:nvPr/>
        </p:nvSpPr>
        <p:spPr>
          <a:xfrm>
            <a:off x="9692640" y="4434840"/>
            <a:ext cx="365760" cy="365760"/>
          </a:xfrm>
          <a:prstGeom prst="ellipse">
            <a:avLst/>
          </a:prstGeom>
          <a:solidFill>
            <a:srgbClr val="2B3A8C"/>
          </a:solidFill>
          <a:ln/>
        </p:spPr>
      </p:sp>
      <p:sp>
        <p:nvSpPr>
          <p:cNvPr id="24" name="Shape 21"/>
          <p:cNvSpPr/>
          <p:nvPr/>
        </p:nvSpPr>
        <p:spPr>
          <a:xfrm>
            <a:off x="8458200" y="3566160"/>
            <a:ext cx="594360" cy="-685800"/>
          </a:xfrm>
          <a:prstGeom prst="line">
            <a:avLst/>
          </a:prstGeom>
          <a:noFill/>
          <a:ln w="31750">
            <a:solidFill>
              <a:srgbClr val="B8620A"/>
            </a:solidFill>
            <a:prstDash val="solid"/>
          </a:ln>
        </p:spPr>
      </p:sp>
      <p:sp>
        <p:nvSpPr>
          <p:cNvPr id="25" name="Shape 22"/>
          <p:cNvSpPr/>
          <p:nvPr/>
        </p:nvSpPr>
        <p:spPr>
          <a:xfrm>
            <a:off x="9052560" y="2880360"/>
            <a:ext cx="822960" cy="0"/>
          </a:xfrm>
          <a:prstGeom prst="line">
            <a:avLst/>
          </a:prstGeom>
          <a:noFill/>
          <a:ln w="31750">
            <a:solidFill>
              <a:srgbClr val="B8620A"/>
            </a:solidFill>
            <a:prstDash val="solid"/>
          </a:ln>
        </p:spPr>
      </p:sp>
      <p:sp>
        <p:nvSpPr>
          <p:cNvPr id="26" name="Shape 23"/>
          <p:cNvSpPr/>
          <p:nvPr/>
        </p:nvSpPr>
        <p:spPr>
          <a:xfrm>
            <a:off x="9875520" y="2880360"/>
            <a:ext cx="777240" cy="685800"/>
          </a:xfrm>
          <a:prstGeom prst="line">
            <a:avLst/>
          </a:prstGeom>
          <a:noFill/>
          <a:ln w="31750">
            <a:solidFill>
              <a:srgbClr val="B8620A"/>
            </a:solidFill>
            <a:prstDash val="solid"/>
          </a:ln>
        </p:spPr>
      </p:sp>
      <p:sp>
        <p:nvSpPr>
          <p:cNvPr id="27" name="Shape 24"/>
          <p:cNvSpPr/>
          <p:nvPr/>
        </p:nvSpPr>
        <p:spPr>
          <a:xfrm>
            <a:off x="8458200" y="3566160"/>
            <a:ext cx="594360" cy="1051560"/>
          </a:xfrm>
          <a:prstGeom prst="line">
            <a:avLst/>
          </a:prstGeom>
          <a:noFill/>
          <a:ln w="31750">
            <a:solidFill>
              <a:srgbClr val="1B5E47"/>
            </a:solidFill>
            <a:prstDash val="solid"/>
          </a:ln>
        </p:spPr>
      </p:sp>
      <p:sp>
        <p:nvSpPr>
          <p:cNvPr id="28" name="Shape 25"/>
          <p:cNvSpPr/>
          <p:nvPr/>
        </p:nvSpPr>
        <p:spPr>
          <a:xfrm>
            <a:off x="9052560" y="4617720"/>
            <a:ext cx="822960" cy="0"/>
          </a:xfrm>
          <a:prstGeom prst="line">
            <a:avLst/>
          </a:prstGeom>
          <a:noFill/>
          <a:ln w="31750">
            <a:solidFill>
              <a:srgbClr val="1B5E47"/>
            </a:solidFill>
            <a:prstDash val="solid"/>
          </a:ln>
        </p:spPr>
      </p:sp>
      <p:sp>
        <p:nvSpPr>
          <p:cNvPr id="29" name="Shape 26"/>
          <p:cNvSpPr/>
          <p:nvPr/>
        </p:nvSpPr>
        <p:spPr>
          <a:xfrm>
            <a:off x="9875520" y="4617720"/>
            <a:ext cx="777240" cy="-1051560"/>
          </a:xfrm>
          <a:prstGeom prst="line">
            <a:avLst/>
          </a:prstGeom>
          <a:noFill/>
          <a:ln w="31750">
            <a:solidFill>
              <a:srgbClr val="1B5E47"/>
            </a:solidFill>
            <a:prstDash val="solid"/>
          </a:ln>
        </p:spPr>
      </p:sp>
      <p:sp>
        <p:nvSpPr>
          <p:cNvPr id="30" name="Text 27"/>
          <p:cNvSpPr/>
          <p:nvPr/>
        </p:nvSpPr>
        <p:spPr>
          <a:xfrm>
            <a:off x="7635240" y="5029200"/>
            <a:ext cx="3840480" cy="274320"/>
          </a:xfrm>
          <a:prstGeom prst="rect">
            <a:avLst/>
          </a:prstGeom>
          <a:noFill/>
          <a:ln/>
        </p:spPr>
        <p:txBody>
          <a:bodyPr wrap="square" lIns="0" tIns="0" rIns="0" bIns="0" rtlCol="0" anchor="ctr"/>
          <a:lstStyle/>
          <a:p>
            <a:pPr algn="ctr" indent="0" marL="0">
              <a:buNone/>
            </a:pPr>
            <a:r>
              <a:rPr lang="en-US" sz="1000" dirty="0">
                <a:solidFill>
                  <a:srgbClr val="6B6762"/>
                </a:solidFill>
                <a:latin typeface="Courier New" pitchFamily="34" charset="0"/>
                <a:ea typeface="Courier New" pitchFamily="34" charset="-122"/>
                <a:cs typeface="Courier New" pitchFamily="34" charset="-120"/>
              </a:rPr>
              <a:t>Routers (junctions)</a:t>
            </a:r>
            <a:endParaRPr lang="en-US" sz="1000" dirty="0"/>
          </a:p>
        </p:txBody>
      </p:sp>
      <p:sp>
        <p:nvSpPr>
          <p:cNvPr id="31" name="Text 28"/>
          <p:cNvSpPr/>
          <p:nvPr/>
        </p:nvSpPr>
        <p:spPr>
          <a:xfrm>
            <a:off x="7635240" y="5349240"/>
            <a:ext cx="3840480" cy="457200"/>
          </a:xfrm>
          <a:prstGeom prst="rect">
            <a:avLst/>
          </a:prstGeom>
          <a:noFill/>
          <a:ln/>
        </p:spPr>
        <p:txBody>
          <a:bodyPr wrap="square" lIns="0" tIns="0" rIns="0" bIns="0" rtlCol="0" anchor="t"/>
          <a:lstStyle/>
          <a:p>
            <a:pPr algn="ctr" indent="0" marL="0">
              <a:buNone/>
            </a:pPr>
            <a:r>
              <a:rPr lang="en-US" sz="1200" i="1" dirty="0">
                <a:solidFill>
                  <a:srgbClr val="2C2A28"/>
                </a:solidFill>
                <a:latin typeface="Calibri" pitchFamily="34" charset="0"/>
                <a:ea typeface="Calibri" pitchFamily="34" charset="-122"/>
                <a:cs typeface="Calibri" pitchFamily="34" charset="-120"/>
              </a:rPr>
              <a:t>Two packets, two routes, same destination</a:t>
            </a:r>
            <a:endParaRPr lang="en-US" sz="1200" dirty="0"/>
          </a:p>
        </p:txBody>
      </p:sp>
      <p:sp>
        <p:nvSpPr>
          <p:cNvPr id="33" name="Text 29"/>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34" name="Text 30"/>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1B5E47"/>
          </a:solidFill>
          <a:ln/>
        </p:spPr>
      </p:sp>
      <p:sp>
        <p:nvSpPr>
          <p:cNvPr id="3" name="Text 1"/>
          <p:cNvSpPr/>
          <p:nvPr/>
        </p:nvSpPr>
        <p:spPr>
          <a:xfrm>
            <a:off x="457200" y="292608"/>
            <a:ext cx="182880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ourier New" pitchFamily="34" charset="0"/>
                <a:ea typeface="Courier New" pitchFamily="34" charset="-122"/>
                <a:cs typeface="Courier New" pitchFamily="34" charset="-120"/>
              </a:rPr>
              <a:t>LEARNING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sp>
      <p:sp>
        <p:nvSpPr>
          <p:cNvPr id="5" name="Shape 3"/>
          <p:cNvSpPr/>
          <p:nvPr/>
        </p:nvSpPr>
        <p:spPr>
          <a:xfrm>
            <a:off x="9765792" y="411480"/>
            <a:ext cx="146304" cy="146304"/>
          </a:xfrm>
          <a:prstGeom prst="ellipse">
            <a:avLst/>
          </a:prstGeom>
          <a:solidFill>
            <a:srgbClr val="6B6762"/>
          </a:solidFill>
          <a:ln/>
        </p:spPr>
      </p:sp>
      <p:sp>
        <p:nvSpPr>
          <p:cNvPr id="6" name="Text 4"/>
          <p:cNvSpPr/>
          <p:nvPr/>
        </p:nvSpPr>
        <p:spPr>
          <a:xfrm>
            <a:off x="9966960" y="292608"/>
            <a:ext cx="1828800" cy="384048"/>
          </a:xfrm>
          <a:prstGeom prst="rect">
            <a:avLst/>
          </a:prstGeom>
          <a:noFill/>
          <a:ln/>
        </p:spPr>
        <p:txBody>
          <a:bodyPr wrap="square" lIns="0" tIns="0" rIns="0" bIns="0" rtlCol="0" anchor="ctr"/>
          <a:lstStyle/>
          <a:p>
            <a:pPr indent="0" marL="0">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indent="0" marL="0">
              <a:buNone/>
            </a:pPr>
            <a:r>
              <a:rPr lang="en-US" sz="3200" b="1" dirty="0">
                <a:solidFill>
                  <a:srgbClr val="12100E"/>
                </a:solidFill>
                <a:latin typeface="Bookman Old Style" pitchFamily="34" charset="0"/>
                <a:ea typeface="Bookman Old Style" pitchFamily="34" charset="-122"/>
                <a:cs typeface="Bookman Old Style" pitchFamily="34" charset="-120"/>
              </a:rPr>
              <a:t>How Do Packets Know Where to Go?</a:t>
            </a:r>
            <a:endParaRPr lang="en-US" sz="3200" dirty="0"/>
          </a:p>
        </p:txBody>
      </p:sp>
      <p:sp>
        <p:nvSpPr>
          <p:cNvPr id="8" name="Shape 6"/>
          <p:cNvSpPr/>
          <p:nvPr/>
        </p:nvSpPr>
        <p:spPr>
          <a:xfrm>
            <a:off x="457200" y="1920240"/>
            <a:ext cx="11247120" cy="1828800"/>
          </a:xfrm>
          <a:prstGeom prst="roundRect">
            <a:avLst>
              <a:gd name="adj" fmla="val 4000"/>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9" name="Text 7"/>
          <p:cNvSpPr/>
          <p:nvPr/>
        </p:nvSpPr>
        <p:spPr>
          <a:xfrm>
            <a:off x="822960" y="2148840"/>
            <a:ext cx="10515600" cy="457200"/>
          </a:xfrm>
          <a:prstGeom prst="rect">
            <a:avLst/>
          </a:prstGeom>
          <a:noFill/>
          <a:ln/>
        </p:spPr>
        <p:txBody>
          <a:bodyPr wrap="square" lIns="0" tIns="0" rIns="0" bIns="0" rtlCol="0" anchor="ctr"/>
          <a:lstStyle/>
          <a:p>
            <a:pPr indent="0" marL="0">
              <a:buNone/>
            </a:pPr>
            <a:r>
              <a:rPr lang="en-US" sz="1800" dirty="0">
                <a:solidFill>
                  <a:srgbClr val="2C2A28"/>
                </a:solidFill>
                <a:latin typeface="Calibri" pitchFamily="34" charset="0"/>
                <a:ea typeface="Calibri" pitchFamily="34" charset="-122"/>
                <a:cs typeface="Calibri" pitchFamily="34" charset="-120"/>
              </a:rPr>
              <a:t>Every device on the internet has its own </a:t>
            </a:r>
            <a:pPr indent="0" marL="0">
              <a:buNone/>
            </a:pPr>
            <a:r>
              <a:rPr lang="en-US" sz="1800" b="1" dirty="0">
                <a:solidFill>
                  <a:srgbClr val="2B3A8C"/>
                </a:solidFill>
                <a:latin typeface="Calibri" pitchFamily="34" charset="0"/>
                <a:ea typeface="Calibri" pitchFamily="34" charset="-122"/>
                <a:cs typeface="Calibri" pitchFamily="34" charset="-120"/>
              </a:rPr>
              <a:t>address</a:t>
            </a:r>
            <a:pPr indent="0" marL="0">
              <a:buNone/>
            </a:pPr>
            <a:r>
              <a:rPr lang="en-US" sz="1800" dirty="0">
                <a:solidFill>
                  <a:srgbClr val="2C2A28"/>
                </a:solidFill>
                <a:latin typeface="Calibri" pitchFamily="34" charset="0"/>
                <a:ea typeface="Calibri" pitchFamily="34" charset="-122"/>
                <a:cs typeface="Calibri" pitchFamily="34" charset="-120"/>
              </a:rPr>
              <a:t> — called an IP address.</a:t>
            </a:r>
            <a:endParaRPr lang="en-US" sz="1800" dirty="0"/>
          </a:p>
        </p:txBody>
      </p:sp>
      <p:sp>
        <p:nvSpPr>
          <p:cNvPr id="10" name="Text 8"/>
          <p:cNvSpPr/>
          <p:nvPr/>
        </p:nvSpPr>
        <p:spPr>
          <a:xfrm>
            <a:off x="822960" y="2697480"/>
            <a:ext cx="10515600" cy="914400"/>
          </a:xfrm>
          <a:prstGeom prst="rect">
            <a:avLst/>
          </a:prstGeom>
          <a:noFill/>
          <a:ln/>
        </p:spPr>
        <p:txBody>
          <a:bodyPr wrap="square" lIns="0" tIns="0" rIns="0" bIns="0" rtlCol="0" anchor="t"/>
          <a:lstStyle/>
          <a:p>
            <a:pPr indent="0" marL="0">
              <a:buNone/>
            </a:pPr>
            <a:r>
              <a:rPr lang="en-US" sz="1550" dirty="0">
                <a:solidFill>
                  <a:srgbClr val="2C2A28"/>
                </a:solidFill>
                <a:latin typeface="Calibri" pitchFamily="34" charset="0"/>
                <a:ea typeface="Calibri" pitchFamily="34" charset="-122"/>
                <a:cs typeface="Calibri" pitchFamily="34" charset="-120"/>
              </a:rPr>
              <a:t>It works like a home address on a letter: the packet's header carries the destination address, and routers use it to pass the packet along until it reaches the right device.</a:t>
            </a:r>
            <a:endParaRPr lang="en-US" sz="1550" dirty="0"/>
          </a:p>
        </p:txBody>
      </p:sp>
      <p:sp>
        <p:nvSpPr>
          <p:cNvPr id="11" name="Shape 9"/>
          <p:cNvSpPr/>
          <p:nvPr/>
        </p:nvSpPr>
        <p:spPr>
          <a:xfrm>
            <a:off x="457200" y="3931920"/>
            <a:ext cx="11247120" cy="2011680"/>
          </a:xfrm>
          <a:prstGeom prst="roundRect">
            <a:avLst>
              <a:gd name="adj" fmla="val 3636"/>
            </a:avLst>
          </a:prstGeom>
          <a:solidFill>
            <a:srgbClr val="F1ECE3"/>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2" name="Text 10"/>
          <p:cNvSpPr/>
          <p:nvPr/>
        </p:nvSpPr>
        <p:spPr>
          <a:xfrm>
            <a:off x="777240" y="4069080"/>
            <a:ext cx="10607040" cy="411480"/>
          </a:xfrm>
          <a:prstGeom prst="rect">
            <a:avLst/>
          </a:prstGeom>
          <a:noFill/>
          <a:ln/>
        </p:spPr>
        <p:txBody>
          <a:bodyPr wrap="square" lIns="0" tIns="0" rIns="0" bIns="0" rtlCol="0" anchor="ctr"/>
          <a:lstStyle/>
          <a:p>
            <a:pPr indent="0" marL="0">
              <a:buNone/>
            </a:pPr>
            <a:r>
              <a:rPr lang="en-US" sz="1700" b="1" dirty="0">
                <a:solidFill>
                  <a:srgbClr val="B8620A"/>
                </a:solidFill>
                <a:latin typeface="Bookman Old Style" pitchFamily="34" charset="0"/>
                <a:ea typeface="Bookman Old Style" pitchFamily="34" charset="-122"/>
                <a:cs typeface="Bookman Old Style" pitchFamily="34" charset="-120"/>
              </a:rPr>
              <a:t>The postal picture, complete</a:t>
            </a:r>
            <a:endParaRPr lang="en-US" sz="1700" dirty="0"/>
          </a:p>
        </p:txBody>
      </p:sp>
      <p:sp>
        <p:nvSpPr>
          <p:cNvPr id="13" name="Shape 11"/>
          <p:cNvSpPr/>
          <p:nvPr/>
        </p:nvSpPr>
        <p:spPr>
          <a:xfrm>
            <a:off x="822960" y="4617720"/>
            <a:ext cx="164592" cy="164592"/>
          </a:xfrm>
          <a:prstGeom prst="ellipse">
            <a:avLst/>
          </a:prstGeom>
          <a:solidFill>
            <a:srgbClr val="B8620A"/>
          </a:solidFill>
          <a:ln/>
        </p:spPr>
      </p:sp>
      <p:sp>
        <p:nvSpPr>
          <p:cNvPr id="14" name="Text 12"/>
          <p:cNvSpPr/>
          <p:nvPr/>
        </p:nvSpPr>
        <p:spPr>
          <a:xfrm>
            <a:off x="1143000" y="4498848"/>
            <a:ext cx="10058400" cy="384048"/>
          </a:xfrm>
          <a:prstGeom prst="rect">
            <a:avLst/>
          </a:prstGeom>
          <a:noFill/>
          <a:ln/>
        </p:spPr>
        <p:txBody>
          <a:bodyPr wrap="square" lIns="0" tIns="0" rIns="0" bIns="0" rtlCol="0" anchor="ctr"/>
          <a:lstStyle/>
          <a:p>
            <a:pPr indent="0" marL="0">
              <a:buNone/>
            </a:pPr>
            <a:r>
              <a:rPr lang="en-US" sz="1450" b="1" dirty="0">
                <a:solidFill>
                  <a:srgbClr val="12100E"/>
                </a:solidFill>
                <a:latin typeface="Calibri" pitchFamily="34" charset="0"/>
                <a:ea typeface="Calibri" pitchFamily="34" charset="-122"/>
                <a:cs typeface="Calibri" pitchFamily="34" charset="-120"/>
              </a:rPr>
              <a:t>Your address </a:t>
            </a:r>
            <a:pPr indent="0" marL="0">
              <a:buNone/>
            </a:pPr>
            <a:r>
              <a:rPr lang="en-US" sz="1450" dirty="0">
                <a:solidFill>
                  <a:srgbClr val="2C2A28"/>
                </a:solidFill>
                <a:latin typeface="Calibri" pitchFamily="34" charset="0"/>
                <a:ea typeface="Calibri" pitchFamily="34" charset="-122"/>
                <a:cs typeface="Calibri" pitchFamily="34" charset="-120"/>
              </a:rPr>
              <a:t>— so a reply knows where to come back to</a:t>
            </a:r>
            <a:endParaRPr lang="en-US" sz="1450" dirty="0"/>
          </a:p>
        </p:txBody>
      </p:sp>
      <p:sp>
        <p:nvSpPr>
          <p:cNvPr id="15" name="Shape 13"/>
          <p:cNvSpPr/>
          <p:nvPr/>
        </p:nvSpPr>
        <p:spPr>
          <a:xfrm>
            <a:off x="822960" y="5038344"/>
            <a:ext cx="164592" cy="164592"/>
          </a:xfrm>
          <a:prstGeom prst="ellipse">
            <a:avLst/>
          </a:prstGeom>
          <a:solidFill>
            <a:srgbClr val="B8620A"/>
          </a:solidFill>
          <a:ln/>
        </p:spPr>
      </p:sp>
      <p:sp>
        <p:nvSpPr>
          <p:cNvPr id="16" name="Text 14"/>
          <p:cNvSpPr/>
          <p:nvPr/>
        </p:nvSpPr>
        <p:spPr>
          <a:xfrm>
            <a:off x="1143000" y="4919472"/>
            <a:ext cx="10058400" cy="384048"/>
          </a:xfrm>
          <a:prstGeom prst="rect">
            <a:avLst/>
          </a:prstGeom>
          <a:noFill/>
          <a:ln/>
        </p:spPr>
        <p:txBody>
          <a:bodyPr wrap="square" lIns="0" tIns="0" rIns="0" bIns="0" rtlCol="0" anchor="ctr"/>
          <a:lstStyle/>
          <a:p>
            <a:pPr indent="0" marL="0">
              <a:buNone/>
            </a:pPr>
            <a:r>
              <a:rPr lang="en-US" sz="1450" b="1" dirty="0">
                <a:solidFill>
                  <a:srgbClr val="12100E"/>
                </a:solidFill>
                <a:latin typeface="Calibri" pitchFamily="34" charset="0"/>
                <a:ea typeface="Calibri" pitchFamily="34" charset="-122"/>
                <a:cs typeface="Calibri" pitchFamily="34" charset="-120"/>
              </a:rPr>
              <a:t>Their address </a:t>
            </a:r>
            <a:pPr indent="0" marL="0">
              <a:buNone/>
            </a:pPr>
            <a:r>
              <a:rPr lang="en-US" sz="1450" dirty="0">
                <a:solidFill>
                  <a:srgbClr val="2C2A28"/>
                </a:solidFill>
                <a:latin typeface="Calibri" pitchFamily="34" charset="0"/>
                <a:ea typeface="Calibri" pitchFamily="34" charset="-122"/>
                <a:cs typeface="Calibri" pitchFamily="34" charset="-120"/>
              </a:rPr>
              <a:t>— written in the packet's header — where it's going</a:t>
            </a:r>
            <a:endParaRPr lang="en-US" sz="1450" dirty="0"/>
          </a:p>
        </p:txBody>
      </p:sp>
      <p:sp>
        <p:nvSpPr>
          <p:cNvPr id="17" name="Shape 15"/>
          <p:cNvSpPr/>
          <p:nvPr/>
        </p:nvSpPr>
        <p:spPr>
          <a:xfrm>
            <a:off x="822960" y="5458968"/>
            <a:ext cx="164592" cy="164592"/>
          </a:xfrm>
          <a:prstGeom prst="ellipse">
            <a:avLst/>
          </a:prstGeom>
          <a:solidFill>
            <a:srgbClr val="B8620A"/>
          </a:solidFill>
          <a:ln/>
        </p:spPr>
      </p:sp>
      <p:sp>
        <p:nvSpPr>
          <p:cNvPr id="18" name="Text 16"/>
          <p:cNvSpPr/>
          <p:nvPr/>
        </p:nvSpPr>
        <p:spPr>
          <a:xfrm>
            <a:off x="1143000" y="5340096"/>
            <a:ext cx="10058400" cy="384048"/>
          </a:xfrm>
          <a:prstGeom prst="rect">
            <a:avLst/>
          </a:prstGeom>
          <a:noFill/>
          <a:ln/>
        </p:spPr>
        <p:txBody>
          <a:bodyPr wrap="square" lIns="0" tIns="0" rIns="0" bIns="0" rtlCol="0" anchor="ctr"/>
          <a:lstStyle/>
          <a:p>
            <a:pPr indent="0" marL="0">
              <a:buNone/>
            </a:pPr>
            <a:r>
              <a:rPr lang="en-US" sz="1450" b="1" dirty="0">
                <a:solidFill>
                  <a:srgbClr val="12100E"/>
                </a:solidFill>
                <a:latin typeface="Calibri" pitchFamily="34" charset="0"/>
                <a:ea typeface="Calibri" pitchFamily="34" charset="-122"/>
                <a:cs typeface="Calibri" pitchFamily="34" charset="-120"/>
              </a:rPr>
              <a:t>The postal network </a:t>
            </a:r>
            <a:pPr indent="0" marL="0">
              <a:buNone/>
            </a:pPr>
            <a:r>
              <a:rPr lang="en-US" sz="1450" dirty="0">
                <a:solidFill>
                  <a:srgbClr val="2C2A28"/>
                </a:solidFill>
                <a:latin typeface="Calibri" pitchFamily="34" charset="0"/>
                <a:ea typeface="Calibri" pitchFamily="34" charset="-122"/>
                <a:cs typeface="Calibri" pitchFamily="34" charset="-120"/>
              </a:rPr>
              <a:t>— routers passing the envelope from junction to junction</a:t>
            </a:r>
            <a:endParaRPr lang="en-US" sz="1450" dirty="0"/>
          </a:p>
        </p:txBody>
      </p:sp>
      <p:sp>
        <p:nvSpPr>
          <p:cNvPr id="20" name="Text 17"/>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21" name="Text 18"/>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1B5E47"/>
          </a:solidFill>
          <a:ln/>
        </p:spPr>
      </p:sp>
      <p:sp>
        <p:nvSpPr>
          <p:cNvPr id="3" name="Text 1"/>
          <p:cNvSpPr/>
          <p:nvPr/>
        </p:nvSpPr>
        <p:spPr>
          <a:xfrm>
            <a:off x="457200" y="292608"/>
            <a:ext cx="182880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ourier New" pitchFamily="34" charset="0"/>
                <a:ea typeface="Courier New" pitchFamily="34" charset="-122"/>
                <a:cs typeface="Courier New" pitchFamily="34" charset="-120"/>
              </a:rPr>
              <a:t>LEARNING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sp>
      <p:sp>
        <p:nvSpPr>
          <p:cNvPr id="5" name="Shape 3"/>
          <p:cNvSpPr/>
          <p:nvPr/>
        </p:nvSpPr>
        <p:spPr>
          <a:xfrm>
            <a:off x="9765792" y="411480"/>
            <a:ext cx="146304" cy="146304"/>
          </a:xfrm>
          <a:prstGeom prst="ellipse">
            <a:avLst/>
          </a:prstGeom>
          <a:solidFill>
            <a:srgbClr val="6B6762"/>
          </a:solidFill>
          <a:ln/>
        </p:spPr>
      </p:sp>
      <p:sp>
        <p:nvSpPr>
          <p:cNvPr id="6" name="Text 4"/>
          <p:cNvSpPr/>
          <p:nvPr/>
        </p:nvSpPr>
        <p:spPr>
          <a:xfrm>
            <a:off x="9966960" y="292608"/>
            <a:ext cx="1828800" cy="384048"/>
          </a:xfrm>
          <a:prstGeom prst="rect">
            <a:avLst/>
          </a:prstGeom>
          <a:noFill/>
          <a:ln/>
        </p:spPr>
        <p:txBody>
          <a:bodyPr wrap="square" lIns="0" tIns="0" rIns="0" bIns="0" rtlCol="0" anchor="ctr"/>
          <a:lstStyle/>
          <a:p>
            <a:pPr indent="0" marL="0">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indent="0" marL="0">
              <a:buNone/>
            </a:pPr>
            <a:r>
              <a:rPr lang="en-US" sz="3200" b="1" dirty="0">
                <a:solidFill>
                  <a:srgbClr val="12100E"/>
                </a:solidFill>
                <a:latin typeface="Bookman Old Style" pitchFamily="34" charset="0"/>
                <a:ea typeface="Bookman Old Style" pitchFamily="34" charset="-122"/>
                <a:cs typeface="Bookman Old Style" pitchFamily="34" charset="-120"/>
              </a:rPr>
              <a:t>Putting It Back Together</a:t>
            </a:r>
            <a:endParaRPr lang="en-US" sz="3200" dirty="0"/>
          </a:p>
        </p:txBody>
      </p:sp>
      <p:sp>
        <p:nvSpPr>
          <p:cNvPr id="8" name="Shape 6"/>
          <p:cNvSpPr/>
          <p:nvPr/>
        </p:nvSpPr>
        <p:spPr>
          <a:xfrm>
            <a:off x="9601200" y="1078992"/>
            <a:ext cx="2103120" cy="411480"/>
          </a:xfrm>
          <a:prstGeom prst="roundRect">
            <a:avLst>
              <a:gd name="adj" fmla="val 48889"/>
            </a:avLst>
          </a:prstGeom>
          <a:solidFill>
            <a:srgbClr val="B8620A"/>
          </a:solidFill>
          <a:ln/>
        </p:spPr>
      </p:sp>
      <p:sp>
        <p:nvSpPr>
          <p:cNvPr id="9" name="Text 7"/>
          <p:cNvSpPr/>
          <p:nvPr/>
        </p:nvSpPr>
        <p:spPr>
          <a:xfrm>
            <a:off x="9601200" y="1078992"/>
            <a:ext cx="210312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COPY TO WORKBOOK</a:t>
            </a:r>
            <a:endParaRPr lang="en-US" sz="1000" dirty="0"/>
          </a:p>
        </p:txBody>
      </p:sp>
      <p:sp>
        <p:nvSpPr>
          <p:cNvPr id="10" name="Shape 8"/>
          <p:cNvSpPr/>
          <p:nvPr/>
        </p:nvSpPr>
        <p:spPr>
          <a:xfrm>
            <a:off x="457200" y="1965960"/>
            <a:ext cx="3657600" cy="2468880"/>
          </a:xfrm>
          <a:prstGeom prst="roundRect">
            <a:avLst>
              <a:gd name="adj" fmla="val 2963"/>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1" name="Shape 9"/>
          <p:cNvSpPr/>
          <p:nvPr/>
        </p:nvSpPr>
        <p:spPr>
          <a:xfrm>
            <a:off x="1828800" y="2194560"/>
            <a:ext cx="914400" cy="914400"/>
          </a:xfrm>
          <a:prstGeom prst="ellipse">
            <a:avLst/>
          </a:prstGeom>
          <a:solidFill>
            <a:srgbClr val="2B3A8C"/>
          </a:solidFill>
          <a:ln/>
        </p:spPr>
      </p:sp>
      <p:pic>
        <p:nvPicPr>
          <p:cNvPr id="12" name="Image 0" descr="preencoded.png">    </p:cNvPr>
          <p:cNvPicPr>
            <a:picLocks noChangeAspect="1"/>
          </p:cNvPicPr>
          <p:nvPr/>
        </p:nvPicPr>
        <p:blipFill>
          <a:blip r:embed="rId1"/>
          <a:stretch>
            <a:fillRect/>
          </a:stretch>
        </p:blipFill>
        <p:spPr>
          <a:xfrm>
            <a:off x="2029968" y="2395728"/>
            <a:ext cx="512064" cy="512064"/>
          </a:xfrm>
          <a:prstGeom prst="rect">
            <a:avLst/>
          </a:prstGeom>
        </p:spPr>
      </p:pic>
      <p:sp>
        <p:nvSpPr>
          <p:cNvPr id="13" name="Text 10"/>
          <p:cNvSpPr/>
          <p:nvPr/>
        </p:nvSpPr>
        <p:spPr>
          <a:xfrm>
            <a:off x="640080" y="3200400"/>
            <a:ext cx="3291840" cy="457200"/>
          </a:xfrm>
          <a:prstGeom prst="rect">
            <a:avLst/>
          </a:prstGeom>
          <a:noFill/>
          <a:ln/>
        </p:spPr>
        <p:txBody>
          <a:bodyPr wrap="square" lIns="0" tIns="0" rIns="0" bIns="0" rtlCol="0" anchor="ctr"/>
          <a:lstStyle/>
          <a:p>
            <a:pPr algn="ctr" indent="0" marL="0">
              <a:buNone/>
            </a:pPr>
            <a:r>
              <a:rPr lang="en-US" sz="1600" b="1" dirty="0">
                <a:solidFill>
                  <a:srgbClr val="2B3A8C"/>
                </a:solidFill>
                <a:latin typeface="Bookman Old Style" pitchFamily="34" charset="0"/>
                <a:ea typeface="Bookman Old Style" pitchFamily="34" charset="-122"/>
                <a:cs typeface="Bookman Old Style" pitchFamily="34" charset="-120"/>
              </a:rPr>
              <a:t>Arrive out of order</a:t>
            </a:r>
            <a:endParaRPr lang="en-US" sz="1600" dirty="0"/>
          </a:p>
        </p:txBody>
      </p:sp>
      <p:sp>
        <p:nvSpPr>
          <p:cNvPr id="14" name="Text 11"/>
          <p:cNvSpPr/>
          <p:nvPr/>
        </p:nvSpPr>
        <p:spPr>
          <a:xfrm>
            <a:off x="685800" y="3657600"/>
            <a:ext cx="3200400" cy="731520"/>
          </a:xfrm>
          <a:prstGeom prst="rect">
            <a:avLst/>
          </a:prstGeom>
          <a:noFill/>
          <a:ln/>
        </p:spPr>
        <p:txBody>
          <a:bodyPr wrap="square" lIns="0" tIns="0" rIns="0" bIns="0" rtlCol="0" anchor="t"/>
          <a:lstStyle/>
          <a:p>
            <a:pPr algn="ctr" indent="0" marL="0">
              <a:buNone/>
            </a:pPr>
            <a:r>
              <a:rPr lang="en-US" sz="1250" dirty="0">
                <a:solidFill>
                  <a:srgbClr val="2C2A28"/>
                </a:solidFill>
                <a:latin typeface="Calibri" pitchFamily="34" charset="0"/>
                <a:ea typeface="Calibri" pitchFamily="34" charset="-122"/>
                <a:cs typeface="Calibri" pitchFamily="34" charset="-120"/>
              </a:rPr>
              <a:t>Packets reach the destination at different times and in a jumbled order.</a:t>
            </a:r>
            <a:endParaRPr lang="en-US" sz="1250" dirty="0"/>
          </a:p>
        </p:txBody>
      </p:sp>
      <p:pic>
        <p:nvPicPr>
          <p:cNvPr id="15" name="Image 1" descr="preencoded.png">    </p:cNvPr>
          <p:cNvPicPr>
            <a:picLocks noChangeAspect="1"/>
          </p:cNvPicPr>
          <p:nvPr/>
        </p:nvPicPr>
        <p:blipFill>
          <a:blip r:embed="rId2"/>
          <a:stretch>
            <a:fillRect/>
          </a:stretch>
        </p:blipFill>
        <p:spPr>
          <a:xfrm>
            <a:off x="4142232" y="2971800"/>
            <a:ext cx="274320" cy="274320"/>
          </a:xfrm>
          <a:prstGeom prst="rect">
            <a:avLst/>
          </a:prstGeom>
        </p:spPr>
      </p:pic>
      <p:sp>
        <p:nvSpPr>
          <p:cNvPr id="16" name="Shape 12"/>
          <p:cNvSpPr/>
          <p:nvPr/>
        </p:nvSpPr>
        <p:spPr>
          <a:xfrm>
            <a:off x="4251960" y="1965960"/>
            <a:ext cx="3657600" cy="2468880"/>
          </a:xfrm>
          <a:prstGeom prst="roundRect">
            <a:avLst>
              <a:gd name="adj" fmla="val 2963"/>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7" name="Shape 13"/>
          <p:cNvSpPr/>
          <p:nvPr/>
        </p:nvSpPr>
        <p:spPr>
          <a:xfrm>
            <a:off x="5623560" y="2194560"/>
            <a:ext cx="914400" cy="914400"/>
          </a:xfrm>
          <a:prstGeom prst="ellipse">
            <a:avLst/>
          </a:prstGeom>
          <a:solidFill>
            <a:srgbClr val="1B5E47"/>
          </a:solidFill>
          <a:ln/>
        </p:spPr>
      </p:sp>
      <p:pic>
        <p:nvPicPr>
          <p:cNvPr id="18" name="Image 2" descr="preencoded.png">    </p:cNvPr>
          <p:cNvPicPr>
            <a:picLocks noChangeAspect="1"/>
          </p:cNvPicPr>
          <p:nvPr/>
        </p:nvPicPr>
        <p:blipFill>
          <a:blip r:embed="rId3"/>
          <a:stretch>
            <a:fillRect/>
          </a:stretch>
        </p:blipFill>
        <p:spPr>
          <a:xfrm>
            <a:off x="5824728" y="2395728"/>
            <a:ext cx="512064" cy="512064"/>
          </a:xfrm>
          <a:prstGeom prst="rect">
            <a:avLst/>
          </a:prstGeom>
        </p:spPr>
      </p:pic>
      <p:sp>
        <p:nvSpPr>
          <p:cNvPr id="19" name="Text 14"/>
          <p:cNvSpPr/>
          <p:nvPr/>
        </p:nvSpPr>
        <p:spPr>
          <a:xfrm>
            <a:off x="4434840" y="3200400"/>
            <a:ext cx="3291840" cy="457200"/>
          </a:xfrm>
          <a:prstGeom prst="rect">
            <a:avLst/>
          </a:prstGeom>
          <a:noFill/>
          <a:ln/>
        </p:spPr>
        <p:txBody>
          <a:bodyPr wrap="square" lIns="0" tIns="0" rIns="0" bIns="0" rtlCol="0" anchor="ctr"/>
          <a:lstStyle/>
          <a:p>
            <a:pPr algn="ctr" indent="0" marL="0">
              <a:buNone/>
            </a:pPr>
            <a:r>
              <a:rPr lang="en-US" sz="1600" b="1" dirty="0">
                <a:solidFill>
                  <a:srgbClr val="1B5E47"/>
                </a:solidFill>
                <a:latin typeface="Bookman Old Style" pitchFamily="34" charset="0"/>
                <a:ea typeface="Bookman Old Style" pitchFamily="34" charset="-122"/>
                <a:cs typeface="Bookman Old Style" pitchFamily="34" charset="-120"/>
              </a:rPr>
              <a:t>Reorder by number</a:t>
            </a:r>
            <a:endParaRPr lang="en-US" sz="1600" dirty="0"/>
          </a:p>
        </p:txBody>
      </p:sp>
      <p:sp>
        <p:nvSpPr>
          <p:cNvPr id="20" name="Text 15"/>
          <p:cNvSpPr/>
          <p:nvPr/>
        </p:nvSpPr>
        <p:spPr>
          <a:xfrm>
            <a:off x="4480560" y="3657600"/>
            <a:ext cx="3200400" cy="731520"/>
          </a:xfrm>
          <a:prstGeom prst="rect">
            <a:avLst/>
          </a:prstGeom>
          <a:noFill/>
          <a:ln/>
        </p:spPr>
        <p:txBody>
          <a:bodyPr wrap="square" lIns="0" tIns="0" rIns="0" bIns="0" rtlCol="0" anchor="t"/>
          <a:lstStyle/>
          <a:p>
            <a:pPr algn="ctr" indent="0" marL="0">
              <a:buNone/>
            </a:pPr>
            <a:r>
              <a:rPr lang="en-US" sz="1250" dirty="0">
                <a:solidFill>
                  <a:srgbClr val="2C2A28"/>
                </a:solidFill>
                <a:latin typeface="Calibri" pitchFamily="34" charset="0"/>
                <a:ea typeface="Calibri" pitchFamily="34" charset="-122"/>
                <a:cs typeface="Calibri" pitchFamily="34" charset="-120"/>
              </a:rPr>
              <a:t>The header numbers let the device put them back in the right sequence.</a:t>
            </a:r>
            <a:endParaRPr lang="en-US" sz="1250" dirty="0"/>
          </a:p>
        </p:txBody>
      </p:sp>
      <p:pic>
        <p:nvPicPr>
          <p:cNvPr id="21" name="Image 3" descr="preencoded.png">    </p:cNvPr>
          <p:cNvPicPr>
            <a:picLocks noChangeAspect="1"/>
          </p:cNvPicPr>
          <p:nvPr/>
        </p:nvPicPr>
        <p:blipFill>
          <a:blip r:embed="rId4"/>
          <a:stretch>
            <a:fillRect/>
          </a:stretch>
        </p:blipFill>
        <p:spPr>
          <a:xfrm>
            <a:off x="7936992" y="2971800"/>
            <a:ext cx="274320" cy="274320"/>
          </a:xfrm>
          <a:prstGeom prst="rect">
            <a:avLst/>
          </a:prstGeom>
        </p:spPr>
      </p:pic>
      <p:sp>
        <p:nvSpPr>
          <p:cNvPr id="22" name="Shape 16"/>
          <p:cNvSpPr/>
          <p:nvPr/>
        </p:nvSpPr>
        <p:spPr>
          <a:xfrm>
            <a:off x="8046720" y="1965960"/>
            <a:ext cx="3657600" cy="2468880"/>
          </a:xfrm>
          <a:prstGeom prst="roundRect">
            <a:avLst>
              <a:gd name="adj" fmla="val 2963"/>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23" name="Shape 17"/>
          <p:cNvSpPr/>
          <p:nvPr/>
        </p:nvSpPr>
        <p:spPr>
          <a:xfrm>
            <a:off x="9418320" y="2194560"/>
            <a:ext cx="914400" cy="914400"/>
          </a:xfrm>
          <a:prstGeom prst="ellipse">
            <a:avLst/>
          </a:prstGeom>
          <a:solidFill>
            <a:srgbClr val="B8620A"/>
          </a:solidFill>
          <a:ln/>
        </p:spPr>
      </p:sp>
      <p:pic>
        <p:nvPicPr>
          <p:cNvPr id="24" name="Image 4" descr="preencoded.png">    </p:cNvPr>
          <p:cNvPicPr>
            <a:picLocks noChangeAspect="1"/>
          </p:cNvPicPr>
          <p:nvPr/>
        </p:nvPicPr>
        <p:blipFill>
          <a:blip r:embed="rId5"/>
          <a:stretch>
            <a:fillRect/>
          </a:stretch>
        </p:blipFill>
        <p:spPr>
          <a:xfrm>
            <a:off x="9619488" y="2395728"/>
            <a:ext cx="512064" cy="512064"/>
          </a:xfrm>
          <a:prstGeom prst="rect">
            <a:avLst/>
          </a:prstGeom>
        </p:spPr>
      </p:pic>
      <p:sp>
        <p:nvSpPr>
          <p:cNvPr id="25" name="Text 18"/>
          <p:cNvSpPr/>
          <p:nvPr/>
        </p:nvSpPr>
        <p:spPr>
          <a:xfrm>
            <a:off x="8229600" y="3200400"/>
            <a:ext cx="3291840" cy="457200"/>
          </a:xfrm>
          <a:prstGeom prst="rect">
            <a:avLst/>
          </a:prstGeom>
          <a:noFill/>
          <a:ln/>
        </p:spPr>
        <p:txBody>
          <a:bodyPr wrap="square" lIns="0" tIns="0" rIns="0" bIns="0" rtlCol="0" anchor="ctr"/>
          <a:lstStyle/>
          <a:p>
            <a:pPr algn="ctr" indent="0" marL="0">
              <a:buNone/>
            </a:pPr>
            <a:r>
              <a:rPr lang="en-US" sz="1600" b="1" dirty="0">
                <a:solidFill>
                  <a:srgbClr val="B8620A"/>
                </a:solidFill>
                <a:latin typeface="Bookman Old Style" pitchFamily="34" charset="0"/>
                <a:ea typeface="Bookman Old Style" pitchFamily="34" charset="-122"/>
                <a:cs typeface="Bookman Old Style" pitchFamily="34" charset="-120"/>
              </a:rPr>
              <a:t>Re-send if missing</a:t>
            </a:r>
            <a:endParaRPr lang="en-US" sz="1600" dirty="0"/>
          </a:p>
        </p:txBody>
      </p:sp>
      <p:sp>
        <p:nvSpPr>
          <p:cNvPr id="26" name="Text 19"/>
          <p:cNvSpPr/>
          <p:nvPr/>
        </p:nvSpPr>
        <p:spPr>
          <a:xfrm>
            <a:off x="8275320" y="3657600"/>
            <a:ext cx="3200400" cy="731520"/>
          </a:xfrm>
          <a:prstGeom prst="rect">
            <a:avLst/>
          </a:prstGeom>
          <a:noFill/>
          <a:ln/>
        </p:spPr>
        <p:txBody>
          <a:bodyPr wrap="square" lIns="0" tIns="0" rIns="0" bIns="0" rtlCol="0" anchor="t"/>
          <a:lstStyle/>
          <a:p>
            <a:pPr algn="ctr" indent="0" marL="0">
              <a:buNone/>
            </a:pPr>
            <a:r>
              <a:rPr lang="en-US" sz="1250" dirty="0">
                <a:solidFill>
                  <a:srgbClr val="2C2A28"/>
                </a:solidFill>
                <a:latin typeface="Calibri" pitchFamily="34" charset="0"/>
                <a:ea typeface="Calibri" pitchFamily="34" charset="-122"/>
                <a:cs typeface="Calibri" pitchFamily="34" charset="-120"/>
              </a:rPr>
              <a:t>If a packet didn't arrive, just that one is requested again.</a:t>
            </a:r>
            <a:endParaRPr lang="en-US" sz="1250" dirty="0"/>
          </a:p>
        </p:txBody>
      </p:sp>
      <p:sp>
        <p:nvSpPr>
          <p:cNvPr id="27" name="Shape 20"/>
          <p:cNvSpPr/>
          <p:nvPr/>
        </p:nvSpPr>
        <p:spPr>
          <a:xfrm>
            <a:off x="457200" y="4617720"/>
            <a:ext cx="11247120" cy="1325880"/>
          </a:xfrm>
          <a:prstGeom prst="roundRect">
            <a:avLst>
              <a:gd name="adj" fmla="val 5517"/>
            </a:avLst>
          </a:prstGeom>
          <a:solidFill>
            <a:srgbClr val="EAF0EC"/>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28" name="Text 21"/>
          <p:cNvSpPr/>
          <p:nvPr/>
        </p:nvSpPr>
        <p:spPr>
          <a:xfrm>
            <a:off x="777240" y="4754880"/>
            <a:ext cx="10607040" cy="1051560"/>
          </a:xfrm>
          <a:prstGeom prst="rect">
            <a:avLst/>
          </a:prstGeom>
          <a:noFill/>
          <a:ln/>
        </p:spPr>
        <p:txBody>
          <a:bodyPr wrap="square" lIns="0" tIns="0" rIns="0" bIns="0" rtlCol="0" anchor="ctr"/>
          <a:lstStyle/>
          <a:p>
            <a:pPr indent="0" marL="0">
              <a:buNone/>
            </a:pPr>
            <a:r>
              <a:rPr lang="en-US" sz="1450" b="1" dirty="0">
                <a:solidFill>
                  <a:srgbClr val="1B5E47"/>
                </a:solidFill>
                <a:latin typeface="Calibri" pitchFamily="34" charset="0"/>
                <a:ea typeface="Calibri" pitchFamily="34" charset="-122"/>
                <a:cs typeface="Calibri" pitchFamily="34" charset="-120"/>
              </a:rPr>
              <a:t>Why this is clever:  </a:t>
            </a:r>
            <a:pPr indent="0" marL="0">
              <a:buNone/>
            </a:pPr>
            <a:r>
              <a:rPr lang="en-US" sz="1450" dirty="0">
                <a:solidFill>
                  <a:srgbClr val="2C2A28"/>
                </a:solidFill>
                <a:latin typeface="Calibri" pitchFamily="34" charset="0"/>
                <a:ea typeface="Calibri" pitchFamily="34" charset="-122"/>
                <a:cs typeface="Calibri" pitchFamily="34" charset="-120"/>
              </a:rPr>
              <a:t>because data is in small numbered pieces that can each take any route and be re-sent on their own, the internet keeps working even when parts of it are busy or broken. No single failure stops your message.</a:t>
            </a:r>
            <a:endParaRPr lang="en-US" sz="1450" dirty="0"/>
          </a:p>
        </p:txBody>
      </p:sp>
      <p:sp>
        <p:nvSpPr>
          <p:cNvPr id="30" name="Text 22"/>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31" name="Text 23"/>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00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1371600"/>
            <a:ext cx="777240" cy="777240"/>
          </a:xfrm>
          <a:prstGeom prst="rect">
            <a:avLst/>
          </a:prstGeom>
        </p:spPr>
      </p:pic>
      <p:sp>
        <p:nvSpPr>
          <p:cNvPr id="3" name="Text 0"/>
          <p:cNvSpPr/>
          <p:nvPr/>
        </p:nvSpPr>
        <p:spPr>
          <a:xfrm>
            <a:off x="457200" y="2240280"/>
            <a:ext cx="1124712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Bookman Old Style" pitchFamily="34" charset="0"/>
                <a:ea typeface="Bookman Old Style" pitchFamily="34" charset="-122"/>
                <a:cs typeface="Bookman Old Style" pitchFamily="34" charset="-120"/>
              </a:rPr>
              <a:t>Brain Break</a:t>
            </a:r>
            <a:endParaRPr lang="en-US" sz="4000" dirty="0"/>
          </a:p>
        </p:txBody>
      </p:sp>
      <p:sp>
        <p:nvSpPr>
          <p:cNvPr id="4" name="Text 1"/>
          <p:cNvSpPr/>
          <p:nvPr/>
        </p:nvSpPr>
        <p:spPr>
          <a:xfrm>
            <a:off x="1371600" y="3200400"/>
            <a:ext cx="9418320" cy="548640"/>
          </a:xfrm>
          <a:prstGeom prst="rect">
            <a:avLst/>
          </a:prstGeom>
          <a:noFill/>
          <a:ln/>
        </p:spPr>
        <p:txBody>
          <a:bodyPr wrap="square" lIns="0" tIns="0" rIns="0" bIns="0" rtlCol="0" anchor="ctr"/>
          <a:lstStyle/>
          <a:p>
            <a:pPr algn="ctr" indent="0" marL="0">
              <a:buNone/>
            </a:pPr>
            <a:r>
              <a:rPr lang="en-US" sz="1800" dirty="0">
                <a:solidFill>
                  <a:srgbClr val="D8D3CA"/>
                </a:solidFill>
                <a:latin typeface="Calibri" pitchFamily="34" charset="0"/>
                <a:ea typeface="Calibri" pitchFamily="34" charset="-122"/>
                <a:cs typeface="Calibri" pitchFamily="34" charset="-120"/>
              </a:rPr>
              <a:t>60 seconds. Stand, stretch, reset.</a:t>
            </a:r>
            <a:endParaRPr lang="en-US" sz="1800" dirty="0"/>
          </a:p>
        </p:txBody>
      </p:sp>
      <p:sp>
        <p:nvSpPr>
          <p:cNvPr id="5" name="Shape 2"/>
          <p:cNvSpPr/>
          <p:nvPr/>
        </p:nvSpPr>
        <p:spPr>
          <a:xfrm>
            <a:off x="2743200" y="4023360"/>
            <a:ext cx="6675120" cy="1005840"/>
          </a:xfrm>
          <a:prstGeom prst="roundRect">
            <a:avLst>
              <a:gd name="adj" fmla="val 9091"/>
            </a:avLst>
          </a:prstGeom>
          <a:solidFill>
            <a:srgbClr val="2C2A28"/>
          </a:solidFill>
          <a:ln w="19050">
            <a:solidFill>
              <a:srgbClr val="B8620A"/>
            </a:solidFill>
            <a:prstDash val="solid"/>
          </a:ln>
        </p:spPr>
      </p:sp>
      <p:sp>
        <p:nvSpPr>
          <p:cNvPr id="6" name="Text 3"/>
          <p:cNvSpPr/>
          <p:nvPr/>
        </p:nvSpPr>
        <p:spPr>
          <a:xfrm>
            <a:off x="2971800" y="4023360"/>
            <a:ext cx="6217920" cy="1005840"/>
          </a:xfrm>
          <a:prstGeom prst="rect">
            <a:avLst/>
          </a:prstGeom>
          <a:noFill/>
          <a:ln/>
        </p:spPr>
        <p:txBody>
          <a:bodyPr wrap="square" lIns="0" tIns="0" rIns="0" bIns="0" rtlCol="0" anchor="ctr"/>
          <a:lstStyle/>
          <a:p>
            <a:pPr indent="0" marL="0">
              <a:buNone/>
            </a:pPr>
            <a:r>
              <a:rPr lang="en-US" sz="1600" b="1" dirty="0">
                <a:solidFill>
                  <a:srgbClr val="B8620A"/>
                </a:solidFill>
                <a:latin typeface="Calibri" pitchFamily="34" charset="0"/>
                <a:ea typeface="Calibri" pitchFamily="34" charset="-122"/>
                <a:cs typeface="Calibri" pitchFamily="34" charset="-120"/>
              </a:rPr>
              <a:t>Quick challenge:  </a:t>
            </a:r>
            <a:pPr indent="0" marL="0">
              <a:buNone/>
            </a:pPr>
            <a:r>
              <a:rPr lang="en-US" sz="1600" dirty="0">
                <a:solidFill>
                  <a:srgbClr val="FFFFFF"/>
                </a:solidFill>
                <a:latin typeface="Calibri" pitchFamily="34" charset="0"/>
                <a:ea typeface="Calibri" pitchFamily="34" charset="-122"/>
                <a:cs typeface="Calibri" pitchFamily="34" charset="-120"/>
              </a:rPr>
              <a:t>in one sentence, tell your partner what a packet is.</a:t>
            </a:r>
            <a:endParaRPr lang="en-US" sz="1600" dirty="0"/>
          </a:p>
        </p:txBody>
      </p:sp>
      <p:sp>
        <p:nvSpPr>
          <p:cNvPr id="8" name="Text 4"/>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9" name="Text 5"/>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8C1F28"/>
          </a:solidFill>
          <a:ln/>
        </p:spPr>
      </p:sp>
      <p:sp>
        <p:nvSpPr>
          <p:cNvPr id="3" name="Text 1"/>
          <p:cNvSpPr/>
          <p:nvPr/>
        </p:nvSpPr>
        <p:spPr>
          <a:xfrm>
            <a:off x="457200" y="292608"/>
            <a:ext cx="182880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ourier New" pitchFamily="34" charset="0"/>
                <a:ea typeface="Courier New" pitchFamily="34" charset="-122"/>
                <a:cs typeface="Courier New" pitchFamily="34" charset="-120"/>
              </a:rPr>
              <a:t>APPLYING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1B5E47"/>
            </a:solidFill>
            <a:prstDash val="solid"/>
          </a:ln>
        </p:spPr>
      </p:sp>
      <p:sp>
        <p:nvSpPr>
          <p:cNvPr id="5" name="Shape 3"/>
          <p:cNvSpPr/>
          <p:nvPr/>
        </p:nvSpPr>
        <p:spPr>
          <a:xfrm>
            <a:off x="9765792" y="411480"/>
            <a:ext cx="146304" cy="146304"/>
          </a:xfrm>
          <a:prstGeom prst="ellipse">
            <a:avLst/>
          </a:prstGeom>
          <a:solidFill>
            <a:srgbClr val="1B5E47"/>
          </a:solidFill>
          <a:ln/>
        </p:spPr>
      </p:sp>
      <p:sp>
        <p:nvSpPr>
          <p:cNvPr id="6" name="Text 4"/>
          <p:cNvSpPr/>
          <p:nvPr/>
        </p:nvSpPr>
        <p:spPr>
          <a:xfrm>
            <a:off x="9966960" y="292608"/>
            <a:ext cx="1828800" cy="384048"/>
          </a:xfrm>
          <a:prstGeom prst="rect">
            <a:avLst/>
          </a:prstGeom>
          <a:noFill/>
          <a:ln/>
        </p:spPr>
        <p:txBody>
          <a:bodyPr wrap="square" lIns="0" tIns="0" rIns="0" bIns="0" rtlCol="0" anchor="ctr"/>
          <a:lstStyle/>
          <a:p>
            <a:pPr indent="0" marL="0">
              <a:buNone/>
            </a:pPr>
            <a:r>
              <a:rPr lang="en-US" sz="1000" b="1" dirty="0">
                <a:solidFill>
                  <a:srgbClr val="1B5E47"/>
                </a:solidFill>
                <a:latin typeface="Courier New" pitchFamily="34" charset="0"/>
                <a:ea typeface="Courier New" pitchFamily="34" charset="-122"/>
                <a:cs typeface="Courier New" pitchFamily="34" charset="-120"/>
              </a:rPr>
              <a:t>DEVICES: ON</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indent="0" marL="0">
              <a:buNone/>
            </a:pPr>
            <a:r>
              <a:rPr lang="en-US" sz="3200" b="1" dirty="0">
                <a:solidFill>
                  <a:srgbClr val="12100E"/>
                </a:solidFill>
                <a:latin typeface="Bookman Old Style" pitchFamily="34" charset="0"/>
                <a:ea typeface="Bookman Old Style" pitchFamily="34" charset="-122"/>
                <a:cs typeface="Bookman Old Style" pitchFamily="34" charset="-120"/>
              </a:rPr>
              <a:t>Your Turn: Be the Network</a:t>
            </a:r>
            <a:endParaRPr lang="en-US" sz="3200" dirty="0"/>
          </a:p>
        </p:txBody>
      </p:sp>
      <p:pic>
        <p:nvPicPr>
          <p:cNvPr id="8" name="Image 0" descr="preencoded.png">    </p:cNvPr>
          <p:cNvPicPr>
            <a:picLocks noChangeAspect="1"/>
          </p:cNvPicPr>
          <p:nvPr/>
        </p:nvPicPr>
        <p:blipFill>
          <a:blip r:embed="rId1"/>
          <a:stretch>
            <a:fillRect/>
          </a:stretch>
        </p:blipFill>
        <p:spPr>
          <a:xfrm>
            <a:off x="10698480" y="960120"/>
            <a:ext cx="777240" cy="777240"/>
          </a:xfrm>
          <a:prstGeom prst="rect">
            <a:avLst/>
          </a:prstGeom>
        </p:spPr>
      </p:pic>
      <p:sp>
        <p:nvSpPr>
          <p:cNvPr id="9" name="Shape 6"/>
          <p:cNvSpPr/>
          <p:nvPr/>
        </p:nvSpPr>
        <p:spPr>
          <a:xfrm>
            <a:off x="457200" y="1874520"/>
            <a:ext cx="11247120" cy="1051560"/>
          </a:xfrm>
          <a:prstGeom prst="roundRect">
            <a:avLst>
              <a:gd name="adj" fmla="val 6957"/>
            </a:avLst>
          </a:prstGeom>
          <a:solidFill>
            <a:srgbClr val="12100E"/>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0" name="Text 7"/>
          <p:cNvSpPr/>
          <p:nvPr/>
        </p:nvSpPr>
        <p:spPr>
          <a:xfrm>
            <a:off x="777240" y="1874520"/>
            <a:ext cx="10607040" cy="10515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  Open your workbook — </a:t>
            </a:r>
            <a:pPr indent="0" marL="0">
              <a:buNone/>
            </a:pPr>
            <a:r>
              <a:rPr lang="en-US" sz="1600" dirty="0">
                <a:solidFill>
                  <a:srgbClr val="E8E2D6"/>
                </a:solidFill>
                <a:latin typeface="Calibri" pitchFamily="34" charset="0"/>
                <a:ea typeface="Calibri" pitchFamily="34" charset="-122"/>
                <a:cs typeface="Calibri" pitchFamily="34" charset="-120"/>
              </a:rPr>
              <a:t>“Lesson 2: How Data Travels”. Work through the sections and pick the tier that challenges you.</a:t>
            </a:r>
            <a:endParaRPr lang="en-US" sz="1600" dirty="0"/>
          </a:p>
        </p:txBody>
      </p:sp>
      <p:sp>
        <p:nvSpPr>
          <p:cNvPr id="11" name="Shape 8"/>
          <p:cNvSpPr/>
          <p:nvPr/>
        </p:nvSpPr>
        <p:spPr>
          <a:xfrm>
            <a:off x="457200" y="3154680"/>
            <a:ext cx="11247120" cy="868680"/>
          </a:xfrm>
          <a:prstGeom prst="roundRect">
            <a:avLst>
              <a:gd name="adj" fmla="val 8421"/>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2" name="Shape 9"/>
          <p:cNvSpPr/>
          <p:nvPr/>
        </p:nvSpPr>
        <p:spPr>
          <a:xfrm>
            <a:off x="685800" y="3355848"/>
            <a:ext cx="1874520" cy="457200"/>
          </a:xfrm>
          <a:prstGeom prst="roundRect">
            <a:avLst>
              <a:gd name="adj" fmla="val 50000"/>
            </a:avLst>
          </a:prstGeom>
          <a:solidFill>
            <a:srgbClr val="1B5E47"/>
          </a:solidFill>
          <a:ln/>
        </p:spPr>
      </p:sp>
      <p:sp>
        <p:nvSpPr>
          <p:cNvPr id="13" name="Text 10"/>
          <p:cNvSpPr/>
          <p:nvPr/>
        </p:nvSpPr>
        <p:spPr>
          <a:xfrm>
            <a:off x="685800" y="3355848"/>
            <a:ext cx="18745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a:t>
            </a:r>
            <a:endParaRPr lang="en-US" sz="1300" dirty="0"/>
          </a:p>
        </p:txBody>
      </p:sp>
      <p:sp>
        <p:nvSpPr>
          <p:cNvPr id="14" name="Text 11"/>
          <p:cNvSpPr/>
          <p:nvPr/>
        </p:nvSpPr>
        <p:spPr>
          <a:xfrm>
            <a:off x="2743200" y="3154680"/>
            <a:ext cx="8686800" cy="868680"/>
          </a:xfrm>
          <a:prstGeom prst="rect">
            <a:avLst/>
          </a:prstGeom>
          <a:noFill/>
          <a:ln/>
        </p:spPr>
        <p:txBody>
          <a:bodyPr wrap="square" lIns="0" tIns="0" rIns="0" bIns="0" rtlCol="0" anchor="ctr"/>
          <a:lstStyle/>
          <a:p>
            <a:pPr indent="0" marL="0">
              <a:buNone/>
            </a:pPr>
            <a:r>
              <a:rPr lang="en-US" sz="1400" dirty="0">
                <a:solidFill>
                  <a:srgbClr val="2C2A28"/>
                </a:solidFill>
                <a:latin typeface="Calibri" pitchFamily="34" charset="0"/>
                <a:ea typeface="Calibri" pitchFamily="34" charset="-122"/>
                <a:cs typeface="Calibri" pitchFamily="34" charset="-120"/>
              </a:rPr>
              <a:t>Label the parts of a packet and explain in your own words why data is split up.</a:t>
            </a:r>
            <a:endParaRPr lang="en-US" sz="1400" dirty="0"/>
          </a:p>
        </p:txBody>
      </p:sp>
      <p:sp>
        <p:nvSpPr>
          <p:cNvPr id="15" name="Shape 12"/>
          <p:cNvSpPr/>
          <p:nvPr/>
        </p:nvSpPr>
        <p:spPr>
          <a:xfrm>
            <a:off x="457200" y="4096512"/>
            <a:ext cx="11247120" cy="868680"/>
          </a:xfrm>
          <a:prstGeom prst="roundRect">
            <a:avLst>
              <a:gd name="adj" fmla="val 8421"/>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6" name="Shape 13"/>
          <p:cNvSpPr/>
          <p:nvPr/>
        </p:nvSpPr>
        <p:spPr>
          <a:xfrm>
            <a:off x="685800" y="4297680"/>
            <a:ext cx="1874520" cy="457200"/>
          </a:xfrm>
          <a:prstGeom prst="roundRect">
            <a:avLst>
              <a:gd name="adj" fmla="val 50000"/>
            </a:avLst>
          </a:prstGeom>
          <a:solidFill>
            <a:srgbClr val="B8620A"/>
          </a:solidFill>
          <a:ln/>
        </p:spPr>
      </p:sp>
      <p:sp>
        <p:nvSpPr>
          <p:cNvPr id="17" name="Text 14"/>
          <p:cNvSpPr/>
          <p:nvPr/>
        </p:nvSpPr>
        <p:spPr>
          <a:xfrm>
            <a:off x="685800" y="4297680"/>
            <a:ext cx="18745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Developing</a:t>
            </a:r>
            <a:endParaRPr lang="en-US" sz="1300" dirty="0"/>
          </a:p>
        </p:txBody>
      </p:sp>
      <p:sp>
        <p:nvSpPr>
          <p:cNvPr id="18" name="Text 15"/>
          <p:cNvSpPr/>
          <p:nvPr/>
        </p:nvSpPr>
        <p:spPr>
          <a:xfrm>
            <a:off x="2743200" y="4096512"/>
            <a:ext cx="8686800" cy="868680"/>
          </a:xfrm>
          <a:prstGeom prst="rect">
            <a:avLst/>
          </a:prstGeom>
          <a:noFill/>
          <a:ln/>
        </p:spPr>
        <p:txBody>
          <a:bodyPr wrap="square" lIns="0" tIns="0" rIns="0" bIns="0" rtlCol="0" anchor="ctr"/>
          <a:lstStyle/>
          <a:p>
            <a:pPr indent="0" marL="0">
              <a:buNone/>
            </a:pPr>
            <a:r>
              <a:rPr lang="en-US" sz="1400" dirty="0">
                <a:solidFill>
                  <a:srgbClr val="2C2A28"/>
                </a:solidFill>
                <a:latin typeface="Calibri" pitchFamily="34" charset="0"/>
                <a:ea typeface="Calibri" pitchFamily="34" charset="-122"/>
                <a:cs typeface="Calibri" pitchFamily="34" charset="-120"/>
              </a:rPr>
              <a:t>'Be the router': choose routes for packets on a map, then reorder jumbled packets by their numbers.</a:t>
            </a:r>
            <a:endParaRPr lang="en-US" sz="1400" dirty="0"/>
          </a:p>
        </p:txBody>
      </p:sp>
      <p:sp>
        <p:nvSpPr>
          <p:cNvPr id="19" name="Shape 16"/>
          <p:cNvSpPr/>
          <p:nvPr/>
        </p:nvSpPr>
        <p:spPr>
          <a:xfrm>
            <a:off x="457200" y="5038344"/>
            <a:ext cx="11247120" cy="868680"/>
          </a:xfrm>
          <a:prstGeom prst="roundRect">
            <a:avLst>
              <a:gd name="adj" fmla="val 8421"/>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20" name="Shape 17"/>
          <p:cNvSpPr/>
          <p:nvPr/>
        </p:nvSpPr>
        <p:spPr>
          <a:xfrm>
            <a:off x="685800" y="5239512"/>
            <a:ext cx="1874520" cy="457200"/>
          </a:xfrm>
          <a:prstGeom prst="roundRect">
            <a:avLst>
              <a:gd name="adj" fmla="val 50000"/>
            </a:avLst>
          </a:prstGeom>
          <a:solidFill>
            <a:srgbClr val="2B3A8C"/>
          </a:solidFill>
          <a:ln/>
        </p:spPr>
      </p:sp>
      <p:sp>
        <p:nvSpPr>
          <p:cNvPr id="21" name="Text 18"/>
          <p:cNvSpPr/>
          <p:nvPr/>
        </p:nvSpPr>
        <p:spPr>
          <a:xfrm>
            <a:off x="685800" y="5239512"/>
            <a:ext cx="18745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Extending</a:t>
            </a:r>
            <a:endParaRPr lang="en-US" sz="1300" dirty="0"/>
          </a:p>
        </p:txBody>
      </p:sp>
      <p:sp>
        <p:nvSpPr>
          <p:cNvPr id="22" name="Text 19"/>
          <p:cNvSpPr/>
          <p:nvPr/>
        </p:nvSpPr>
        <p:spPr>
          <a:xfrm>
            <a:off x="2743200" y="5038344"/>
            <a:ext cx="8686800" cy="868680"/>
          </a:xfrm>
          <a:prstGeom prst="rect">
            <a:avLst/>
          </a:prstGeom>
          <a:noFill/>
          <a:ln/>
        </p:spPr>
        <p:txBody>
          <a:bodyPr wrap="square" lIns="0" tIns="0" rIns="0" bIns="0" rtlCol="0" anchor="ctr"/>
          <a:lstStyle/>
          <a:p>
            <a:pPr indent="0" marL="0">
              <a:buNone/>
            </a:pPr>
            <a:r>
              <a:rPr lang="en-US" sz="1400" dirty="0">
                <a:solidFill>
                  <a:srgbClr val="2C2A28"/>
                </a:solidFill>
                <a:latin typeface="Calibri" pitchFamily="34" charset="0"/>
                <a:ea typeface="Calibri" pitchFamily="34" charset="-122"/>
                <a:cs typeface="Calibri" pitchFamily="34" charset="-120"/>
              </a:rPr>
              <a:t>Explain what happens when a packet is lost, and write why packets make the internet reliable when links fail.</a:t>
            </a:r>
            <a:endParaRPr lang="en-US" sz="1400" dirty="0"/>
          </a:p>
        </p:txBody>
      </p:sp>
      <p:sp>
        <p:nvSpPr>
          <p:cNvPr id="24" name="Text 20"/>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25" name="Text 21"/>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2B3A8C"/>
          </a:solidFill>
          <a:ln/>
        </p:spPr>
      </p:sp>
      <p:sp>
        <p:nvSpPr>
          <p:cNvPr id="3" name="Text 1"/>
          <p:cNvSpPr/>
          <p:nvPr/>
        </p:nvSpPr>
        <p:spPr>
          <a:xfrm>
            <a:off x="457200" y="292608"/>
            <a:ext cx="182880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ourier New" pitchFamily="34" charset="0"/>
                <a:ea typeface="Courier New" pitchFamily="34" charset="-122"/>
                <a:cs typeface="Courier New" pitchFamily="34" charset="-120"/>
              </a:rPr>
              <a:t>REFLECTING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sp>
      <p:sp>
        <p:nvSpPr>
          <p:cNvPr id="5" name="Shape 3"/>
          <p:cNvSpPr/>
          <p:nvPr/>
        </p:nvSpPr>
        <p:spPr>
          <a:xfrm>
            <a:off x="9765792" y="411480"/>
            <a:ext cx="146304" cy="146304"/>
          </a:xfrm>
          <a:prstGeom prst="ellipse">
            <a:avLst/>
          </a:prstGeom>
          <a:solidFill>
            <a:srgbClr val="6B6762"/>
          </a:solidFill>
          <a:ln/>
        </p:spPr>
      </p:sp>
      <p:sp>
        <p:nvSpPr>
          <p:cNvPr id="6" name="Text 4"/>
          <p:cNvSpPr/>
          <p:nvPr/>
        </p:nvSpPr>
        <p:spPr>
          <a:xfrm>
            <a:off x="9966960" y="292608"/>
            <a:ext cx="1828800" cy="384048"/>
          </a:xfrm>
          <a:prstGeom prst="rect">
            <a:avLst/>
          </a:prstGeom>
          <a:noFill/>
          <a:ln/>
        </p:spPr>
        <p:txBody>
          <a:bodyPr wrap="square" lIns="0" tIns="0" rIns="0" bIns="0" rtlCol="0" anchor="ctr"/>
          <a:lstStyle/>
          <a:p>
            <a:pPr indent="0" marL="0">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indent="0" marL="0">
              <a:buNone/>
            </a:pPr>
            <a:r>
              <a:rPr lang="en-US" sz="3200" b="1" dirty="0">
                <a:solidFill>
                  <a:srgbClr val="12100E"/>
                </a:solidFill>
                <a:latin typeface="Bookman Old Style" pitchFamily="34" charset="0"/>
                <a:ea typeface="Bookman Old Style" pitchFamily="34" charset="-122"/>
                <a:cs typeface="Bookman Old Style" pitchFamily="34" charset="-120"/>
              </a:rPr>
              <a:t>Quick Check: Did It Stick?</a:t>
            </a:r>
            <a:endParaRPr lang="en-US" sz="3200" dirty="0"/>
          </a:p>
        </p:txBody>
      </p:sp>
      <p:pic>
        <p:nvPicPr>
          <p:cNvPr id="8" name="Image 0" descr="preencoded.png">    </p:cNvPr>
          <p:cNvPicPr>
            <a:picLocks noChangeAspect="1"/>
          </p:cNvPicPr>
          <p:nvPr/>
        </p:nvPicPr>
        <p:blipFill>
          <a:blip r:embed="rId1"/>
          <a:stretch>
            <a:fillRect/>
          </a:stretch>
        </p:blipFill>
        <p:spPr>
          <a:xfrm>
            <a:off x="10835640" y="914400"/>
            <a:ext cx="731520" cy="731520"/>
          </a:xfrm>
          <a:prstGeom prst="rect">
            <a:avLst/>
          </a:prstGeom>
        </p:spPr>
      </p:pic>
      <p:sp>
        <p:nvSpPr>
          <p:cNvPr id="9" name="Shape 6"/>
          <p:cNvSpPr/>
          <p:nvPr/>
        </p:nvSpPr>
        <p:spPr>
          <a:xfrm>
            <a:off x="457200" y="2011680"/>
            <a:ext cx="11247120" cy="841248"/>
          </a:xfrm>
          <a:prstGeom prst="roundRect">
            <a:avLst>
              <a:gd name="adj" fmla="val 8696"/>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0" name="Shape 7"/>
          <p:cNvSpPr/>
          <p:nvPr/>
        </p:nvSpPr>
        <p:spPr>
          <a:xfrm>
            <a:off x="685800" y="2203704"/>
            <a:ext cx="457200" cy="457200"/>
          </a:xfrm>
          <a:prstGeom prst="ellipse">
            <a:avLst/>
          </a:prstGeom>
          <a:solidFill>
            <a:srgbClr val="2B3A8C"/>
          </a:solidFill>
          <a:ln/>
        </p:spPr>
      </p:sp>
      <p:sp>
        <p:nvSpPr>
          <p:cNvPr id="11" name="Text 8"/>
          <p:cNvSpPr/>
          <p:nvPr/>
        </p:nvSpPr>
        <p:spPr>
          <a:xfrm>
            <a:off x="685800" y="22037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1</a:t>
            </a:r>
            <a:endParaRPr lang="en-US" sz="1800" dirty="0"/>
          </a:p>
        </p:txBody>
      </p:sp>
      <p:sp>
        <p:nvSpPr>
          <p:cNvPr id="12" name="Text 9"/>
          <p:cNvSpPr/>
          <p:nvPr/>
        </p:nvSpPr>
        <p:spPr>
          <a:xfrm>
            <a:off x="1371600" y="2011680"/>
            <a:ext cx="10058400" cy="841248"/>
          </a:xfrm>
          <a:prstGeom prst="rect">
            <a:avLst/>
          </a:prstGeom>
          <a:noFill/>
          <a:ln/>
        </p:spPr>
        <p:txBody>
          <a:bodyPr wrap="square" lIns="0" tIns="0" rIns="0" bIns="0" rtlCol="0" anchor="ctr"/>
          <a:lstStyle/>
          <a:p>
            <a:pPr indent="0" marL="0">
              <a:buNone/>
            </a:pPr>
            <a:r>
              <a:rPr lang="en-US" sz="1600" dirty="0">
                <a:solidFill>
                  <a:srgbClr val="2C2A28"/>
                </a:solidFill>
                <a:latin typeface="Calibri" pitchFamily="34" charset="0"/>
                <a:ea typeface="Calibri" pitchFamily="34" charset="-122"/>
                <a:cs typeface="Calibri" pitchFamily="34" charset="-120"/>
              </a:rPr>
              <a:t>What is a packet, and why is data broken into them?</a:t>
            </a:r>
            <a:endParaRPr lang="en-US" sz="1600" dirty="0"/>
          </a:p>
        </p:txBody>
      </p:sp>
      <p:sp>
        <p:nvSpPr>
          <p:cNvPr id="13" name="Shape 10"/>
          <p:cNvSpPr/>
          <p:nvPr/>
        </p:nvSpPr>
        <p:spPr>
          <a:xfrm>
            <a:off x="457200" y="2926080"/>
            <a:ext cx="11247120" cy="841248"/>
          </a:xfrm>
          <a:prstGeom prst="roundRect">
            <a:avLst>
              <a:gd name="adj" fmla="val 8696"/>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4" name="Shape 11"/>
          <p:cNvSpPr/>
          <p:nvPr/>
        </p:nvSpPr>
        <p:spPr>
          <a:xfrm>
            <a:off x="685800" y="3118104"/>
            <a:ext cx="457200" cy="457200"/>
          </a:xfrm>
          <a:prstGeom prst="ellipse">
            <a:avLst/>
          </a:prstGeom>
          <a:solidFill>
            <a:srgbClr val="2B3A8C"/>
          </a:solidFill>
          <a:ln/>
        </p:spPr>
      </p:sp>
      <p:sp>
        <p:nvSpPr>
          <p:cNvPr id="15" name="Text 12"/>
          <p:cNvSpPr/>
          <p:nvPr/>
        </p:nvSpPr>
        <p:spPr>
          <a:xfrm>
            <a:off x="685800" y="31181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2</a:t>
            </a:r>
            <a:endParaRPr lang="en-US" sz="1800" dirty="0"/>
          </a:p>
        </p:txBody>
      </p:sp>
      <p:sp>
        <p:nvSpPr>
          <p:cNvPr id="16" name="Text 13"/>
          <p:cNvSpPr/>
          <p:nvPr/>
        </p:nvSpPr>
        <p:spPr>
          <a:xfrm>
            <a:off x="1371600" y="2926080"/>
            <a:ext cx="10058400" cy="841248"/>
          </a:xfrm>
          <a:prstGeom prst="rect">
            <a:avLst/>
          </a:prstGeom>
          <a:noFill/>
          <a:ln/>
        </p:spPr>
        <p:txBody>
          <a:bodyPr wrap="square" lIns="0" tIns="0" rIns="0" bIns="0" rtlCol="0" anchor="ctr"/>
          <a:lstStyle/>
          <a:p>
            <a:pPr indent="0" marL="0">
              <a:buNone/>
            </a:pPr>
            <a:r>
              <a:rPr lang="en-US" sz="1600" dirty="0">
                <a:solidFill>
                  <a:srgbClr val="2C2A28"/>
                </a:solidFill>
                <a:latin typeface="Calibri" pitchFamily="34" charset="0"/>
                <a:ea typeface="Calibri" pitchFamily="34" charset="-122"/>
                <a:cs typeface="Calibri" pitchFamily="34" charset="-120"/>
              </a:rPr>
              <a:t>Name the three parts of a packet and what each is for.</a:t>
            </a:r>
            <a:endParaRPr lang="en-US" sz="1600" dirty="0"/>
          </a:p>
        </p:txBody>
      </p:sp>
      <p:sp>
        <p:nvSpPr>
          <p:cNvPr id="17" name="Shape 14"/>
          <p:cNvSpPr/>
          <p:nvPr/>
        </p:nvSpPr>
        <p:spPr>
          <a:xfrm>
            <a:off x="457200" y="3840480"/>
            <a:ext cx="11247120" cy="841248"/>
          </a:xfrm>
          <a:prstGeom prst="roundRect">
            <a:avLst>
              <a:gd name="adj" fmla="val 8696"/>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8" name="Shape 15"/>
          <p:cNvSpPr/>
          <p:nvPr/>
        </p:nvSpPr>
        <p:spPr>
          <a:xfrm>
            <a:off x="685800" y="4032504"/>
            <a:ext cx="457200" cy="457200"/>
          </a:xfrm>
          <a:prstGeom prst="ellipse">
            <a:avLst/>
          </a:prstGeom>
          <a:solidFill>
            <a:srgbClr val="2B3A8C"/>
          </a:solidFill>
          <a:ln/>
        </p:spPr>
      </p:sp>
      <p:sp>
        <p:nvSpPr>
          <p:cNvPr id="19" name="Text 16"/>
          <p:cNvSpPr/>
          <p:nvPr/>
        </p:nvSpPr>
        <p:spPr>
          <a:xfrm>
            <a:off x="685800" y="40325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3</a:t>
            </a:r>
            <a:endParaRPr lang="en-US" sz="1800" dirty="0"/>
          </a:p>
        </p:txBody>
      </p:sp>
      <p:sp>
        <p:nvSpPr>
          <p:cNvPr id="20" name="Text 17"/>
          <p:cNvSpPr/>
          <p:nvPr/>
        </p:nvSpPr>
        <p:spPr>
          <a:xfrm>
            <a:off x="1371600" y="3840480"/>
            <a:ext cx="10058400" cy="841248"/>
          </a:xfrm>
          <a:prstGeom prst="rect">
            <a:avLst/>
          </a:prstGeom>
          <a:noFill/>
          <a:ln/>
        </p:spPr>
        <p:txBody>
          <a:bodyPr wrap="square" lIns="0" tIns="0" rIns="0" bIns="0" rtlCol="0" anchor="ctr"/>
          <a:lstStyle/>
          <a:p>
            <a:pPr indent="0" marL="0">
              <a:buNone/>
            </a:pPr>
            <a:r>
              <a:rPr lang="en-US" sz="1600" dirty="0">
                <a:solidFill>
                  <a:srgbClr val="2C2A28"/>
                </a:solidFill>
                <a:latin typeface="Calibri" pitchFamily="34" charset="0"/>
                <a:ea typeface="Calibri" pitchFamily="34" charset="-122"/>
                <a:cs typeface="Calibri" pitchFamily="34" charset="-120"/>
              </a:rPr>
              <a:t>How can two packets from the same message arrive by different routes?</a:t>
            </a:r>
            <a:endParaRPr lang="en-US" sz="1600" dirty="0"/>
          </a:p>
        </p:txBody>
      </p:sp>
      <p:sp>
        <p:nvSpPr>
          <p:cNvPr id="21" name="Shape 18"/>
          <p:cNvSpPr/>
          <p:nvPr/>
        </p:nvSpPr>
        <p:spPr>
          <a:xfrm>
            <a:off x="457200" y="4754880"/>
            <a:ext cx="11247120" cy="841248"/>
          </a:xfrm>
          <a:prstGeom prst="roundRect">
            <a:avLst>
              <a:gd name="adj" fmla="val 8696"/>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22" name="Shape 19"/>
          <p:cNvSpPr/>
          <p:nvPr/>
        </p:nvSpPr>
        <p:spPr>
          <a:xfrm>
            <a:off x="685800" y="4946904"/>
            <a:ext cx="457200" cy="457200"/>
          </a:xfrm>
          <a:prstGeom prst="ellipse">
            <a:avLst/>
          </a:prstGeom>
          <a:solidFill>
            <a:srgbClr val="2B3A8C"/>
          </a:solidFill>
          <a:ln/>
        </p:spPr>
      </p:sp>
      <p:sp>
        <p:nvSpPr>
          <p:cNvPr id="23" name="Text 20"/>
          <p:cNvSpPr/>
          <p:nvPr/>
        </p:nvSpPr>
        <p:spPr>
          <a:xfrm>
            <a:off x="685800" y="494690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4</a:t>
            </a:r>
            <a:endParaRPr lang="en-US" sz="1800" dirty="0"/>
          </a:p>
        </p:txBody>
      </p:sp>
      <p:sp>
        <p:nvSpPr>
          <p:cNvPr id="24" name="Text 21"/>
          <p:cNvSpPr/>
          <p:nvPr/>
        </p:nvSpPr>
        <p:spPr>
          <a:xfrm>
            <a:off x="1371600" y="4754880"/>
            <a:ext cx="10058400" cy="841248"/>
          </a:xfrm>
          <a:prstGeom prst="rect">
            <a:avLst/>
          </a:prstGeom>
          <a:noFill/>
          <a:ln/>
        </p:spPr>
        <p:txBody>
          <a:bodyPr wrap="square" lIns="0" tIns="0" rIns="0" bIns="0" rtlCol="0" anchor="ctr"/>
          <a:lstStyle/>
          <a:p>
            <a:pPr indent="0" marL="0">
              <a:buNone/>
            </a:pPr>
            <a:r>
              <a:rPr lang="en-US" sz="1600" dirty="0">
                <a:solidFill>
                  <a:srgbClr val="2C2A28"/>
                </a:solidFill>
                <a:latin typeface="Calibri" pitchFamily="34" charset="0"/>
                <a:ea typeface="Calibri" pitchFamily="34" charset="-122"/>
                <a:cs typeface="Calibri" pitchFamily="34" charset="-120"/>
              </a:rPr>
              <a:t>Packets arrive jumbled. How are they put back in the right order?</a:t>
            </a:r>
            <a:endParaRPr lang="en-US" sz="1600" dirty="0"/>
          </a:p>
        </p:txBody>
      </p:sp>
      <p:sp>
        <p:nvSpPr>
          <p:cNvPr id="26" name="Text 22"/>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27" name="Text 23"/>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2B3A8C"/>
          </a:solidFill>
          <a:ln/>
        </p:spPr>
      </p:sp>
      <p:sp>
        <p:nvSpPr>
          <p:cNvPr id="3" name="Text 1"/>
          <p:cNvSpPr/>
          <p:nvPr/>
        </p:nvSpPr>
        <p:spPr>
          <a:xfrm>
            <a:off x="457200" y="292608"/>
            <a:ext cx="182880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ourier New" pitchFamily="34" charset="0"/>
                <a:ea typeface="Courier New" pitchFamily="34" charset="-122"/>
                <a:cs typeface="Courier New" pitchFamily="34" charset="-120"/>
              </a:rPr>
              <a:t>REFLECTING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sp>
      <p:sp>
        <p:nvSpPr>
          <p:cNvPr id="5" name="Shape 3"/>
          <p:cNvSpPr/>
          <p:nvPr/>
        </p:nvSpPr>
        <p:spPr>
          <a:xfrm>
            <a:off x="9765792" y="411480"/>
            <a:ext cx="146304" cy="146304"/>
          </a:xfrm>
          <a:prstGeom prst="ellipse">
            <a:avLst/>
          </a:prstGeom>
          <a:solidFill>
            <a:srgbClr val="6B6762"/>
          </a:solidFill>
          <a:ln/>
        </p:spPr>
      </p:sp>
      <p:sp>
        <p:nvSpPr>
          <p:cNvPr id="6" name="Text 4"/>
          <p:cNvSpPr/>
          <p:nvPr/>
        </p:nvSpPr>
        <p:spPr>
          <a:xfrm>
            <a:off x="9966960" y="292608"/>
            <a:ext cx="1828800" cy="384048"/>
          </a:xfrm>
          <a:prstGeom prst="rect">
            <a:avLst/>
          </a:prstGeom>
          <a:noFill/>
          <a:ln/>
        </p:spPr>
        <p:txBody>
          <a:bodyPr wrap="square" lIns="0" tIns="0" rIns="0" bIns="0" rtlCol="0" anchor="ctr"/>
          <a:lstStyle/>
          <a:p>
            <a:pPr indent="0" marL="0">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indent="0" marL="0">
              <a:buNone/>
            </a:pPr>
            <a:r>
              <a:rPr lang="en-US" sz="3200" b="1" dirty="0">
                <a:solidFill>
                  <a:srgbClr val="12100E"/>
                </a:solidFill>
                <a:latin typeface="Bookman Old Style" pitchFamily="34" charset="0"/>
                <a:ea typeface="Bookman Old Style" pitchFamily="34" charset="-122"/>
                <a:cs typeface="Bookman Old Style" pitchFamily="34" charset="-120"/>
              </a:rPr>
              <a:t>Exit Ticket</a:t>
            </a:r>
            <a:endParaRPr lang="en-US" sz="3200" dirty="0"/>
          </a:p>
        </p:txBody>
      </p:sp>
      <p:sp>
        <p:nvSpPr>
          <p:cNvPr id="8" name="Shape 6"/>
          <p:cNvSpPr/>
          <p:nvPr/>
        </p:nvSpPr>
        <p:spPr>
          <a:xfrm>
            <a:off x="10332720" y="914400"/>
            <a:ext cx="1371600" cy="777240"/>
          </a:xfrm>
          <a:prstGeom prst="roundRect">
            <a:avLst>
              <a:gd name="adj" fmla="val 11765"/>
            </a:avLst>
          </a:prstGeom>
          <a:solidFill>
            <a:srgbClr val="8C1F28"/>
          </a:solidFill>
          <a:ln/>
        </p:spPr>
      </p:sp>
      <p:sp>
        <p:nvSpPr>
          <p:cNvPr id="9" name="Text 7"/>
          <p:cNvSpPr/>
          <p:nvPr/>
        </p:nvSpPr>
        <p:spPr>
          <a:xfrm>
            <a:off x="10332720" y="914400"/>
            <a:ext cx="137160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EXIT</a:t>
            </a:r>
            <a:endParaRPr lang="en-US" sz="1600" dirty="0"/>
          </a:p>
        </p:txBody>
      </p:sp>
      <p:sp>
        <p:nvSpPr>
          <p:cNvPr id="10" name="Shape 8"/>
          <p:cNvSpPr/>
          <p:nvPr/>
        </p:nvSpPr>
        <p:spPr>
          <a:xfrm>
            <a:off x="457200" y="1783080"/>
            <a:ext cx="11247120" cy="1645920"/>
          </a:xfrm>
          <a:prstGeom prst="roundRect">
            <a:avLst>
              <a:gd name="adj" fmla="val 4444"/>
            </a:avLst>
          </a:prstGeom>
          <a:solidFill>
            <a:srgbClr val="FFFFFF"/>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1" name="Text 9"/>
          <p:cNvSpPr/>
          <p:nvPr/>
        </p:nvSpPr>
        <p:spPr>
          <a:xfrm>
            <a:off x="777240" y="1965960"/>
            <a:ext cx="10607040" cy="365760"/>
          </a:xfrm>
          <a:prstGeom prst="rect">
            <a:avLst/>
          </a:prstGeom>
          <a:noFill/>
          <a:ln/>
        </p:spPr>
        <p:txBody>
          <a:bodyPr wrap="square" lIns="0" tIns="0" rIns="0" bIns="0" rtlCol="0" anchor="ctr"/>
          <a:lstStyle/>
          <a:p>
            <a:pPr indent="0" marL="0">
              <a:buNone/>
            </a:pPr>
            <a:r>
              <a:rPr lang="en-US" sz="1600" b="1" dirty="0">
                <a:solidFill>
                  <a:srgbClr val="12100E"/>
                </a:solidFill>
                <a:latin typeface="Calibri" pitchFamily="34" charset="0"/>
                <a:ea typeface="Calibri" pitchFamily="34" charset="-122"/>
                <a:cs typeface="Calibri" pitchFamily="34" charset="-120"/>
              </a:rPr>
              <a:t>Complete the exit ticket in the last section of your workbook:</a:t>
            </a:r>
            <a:endParaRPr lang="en-US" sz="1600" dirty="0"/>
          </a:p>
        </p:txBody>
      </p:sp>
      <p:sp>
        <p:nvSpPr>
          <p:cNvPr id="12" name="Text 10"/>
          <p:cNvSpPr/>
          <p:nvPr/>
        </p:nvSpPr>
        <p:spPr>
          <a:xfrm>
            <a:off x="914400" y="2377440"/>
            <a:ext cx="10424160" cy="10058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2C2A28"/>
                </a:solidFill>
                <a:latin typeface="Calibri" pitchFamily="34" charset="0"/>
                <a:ea typeface="Calibri" pitchFamily="34" charset="-122"/>
                <a:cs typeface="Calibri" pitchFamily="34" charset="-120"/>
              </a:rPr>
              <a:t>Explain, from memory, the journey of a photo from one phone to another — using the word 'packet'.</a:t>
            </a:r>
            <a:endParaRPr lang="en-US" sz="1450" dirty="0"/>
          </a:p>
          <a:p>
            <a:pPr marL="342900" indent="-342900">
              <a:spcAft>
                <a:spcPts val="600"/>
              </a:spcAft>
              <a:buSzPct val="100000"/>
              <a:buChar char="•"/>
            </a:pPr>
            <a:r>
              <a:rPr lang="en-US" sz="1450" dirty="0">
                <a:solidFill>
                  <a:srgbClr val="2C2A28"/>
                </a:solidFill>
                <a:latin typeface="Calibri" pitchFamily="34" charset="0"/>
                <a:ea typeface="Calibri" pitchFamily="34" charset="-122"/>
                <a:cs typeface="Calibri" pitchFamily="34" charset="-120"/>
              </a:rPr>
              <a:t>Give one reason the packet system makes the internet reliable.</a:t>
            </a:r>
            <a:endParaRPr lang="en-US" sz="1450" dirty="0"/>
          </a:p>
          <a:p>
            <a:pPr marL="342900" indent="-342900">
              <a:spcAft>
                <a:spcPts val="600"/>
              </a:spcAft>
              <a:buSzPct val="100000"/>
              <a:buChar char="•"/>
            </a:pPr>
            <a:r>
              <a:rPr lang="en-US" sz="1450" dirty="0">
                <a:solidFill>
                  <a:srgbClr val="2C2A28"/>
                </a:solidFill>
                <a:latin typeface="Calibri" pitchFamily="34" charset="0"/>
                <a:ea typeface="Calibri" pitchFamily="34" charset="-122"/>
                <a:cs typeface="Calibri" pitchFamily="34" charset="-120"/>
              </a:rPr>
              <a:t>Rate yourself on each success criterion: Foundation / Developing / Extending.</a:t>
            </a:r>
            <a:endParaRPr lang="en-US" sz="1450" dirty="0"/>
          </a:p>
        </p:txBody>
      </p:sp>
      <p:sp>
        <p:nvSpPr>
          <p:cNvPr id="13" name="Shape 11"/>
          <p:cNvSpPr/>
          <p:nvPr/>
        </p:nvSpPr>
        <p:spPr>
          <a:xfrm>
            <a:off x="457200" y="3611880"/>
            <a:ext cx="11247120" cy="2331720"/>
          </a:xfrm>
          <a:prstGeom prst="roundRect">
            <a:avLst>
              <a:gd name="adj" fmla="val 3137"/>
            </a:avLst>
          </a:prstGeom>
          <a:solidFill>
            <a:srgbClr val="F1ECE3"/>
          </a:solidFill>
          <a:ln w="12700">
            <a:solidFill>
              <a:srgbClr val="D8D3CA"/>
            </a:solidFill>
            <a:prstDash val="solid"/>
          </a:ln>
          <a:effectLst>
            <a:outerShdw sx="100000" sy="100000" kx="0" ky="0" algn="bl" rotWithShape="0" blurRad="88900" dist="38100" dir="5400000">
              <a:srgbClr val="000000">
                <a:alpha val="13000"/>
              </a:srgbClr>
            </a:outerShdw>
          </a:effectLst>
        </p:spPr>
      </p:sp>
      <p:sp>
        <p:nvSpPr>
          <p:cNvPr id="14" name="Text 12"/>
          <p:cNvSpPr/>
          <p:nvPr/>
        </p:nvSpPr>
        <p:spPr>
          <a:xfrm>
            <a:off x="777240" y="3794760"/>
            <a:ext cx="10607040" cy="365760"/>
          </a:xfrm>
          <a:prstGeom prst="rect">
            <a:avLst/>
          </a:prstGeom>
          <a:noFill/>
          <a:ln/>
        </p:spPr>
        <p:txBody>
          <a:bodyPr wrap="square" lIns="0" tIns="0" rIns="0" bIns="0" rtlCol="0" anchor="ctr"/>
          <a:lstStyle/>
          <a:p>
            <a:pPr indent="0" marL="0">
              <a:buNone/>
            </a:pPr>
            <a:r>
              <a:rPr lang="en-US" sz="1700" b="1" dirty="0">
                <a:solidFill>
                  <a:srgbClr val="B8620A"/>
                </a:solidFill>
                <a:latin typeface="Bookman Old Style" pitchFamily="34" charset="0"/>
                <a:ea typeface="Bookman Old Style" pitchFamily="34" charset="-122"/>
                <a:cs typeface="Bookman Old Style" pitchFamily="34" charset="-120"/>
              </a:rPr>
              <a:t>Self-rate against today's criteria</a:t>
            </a:r>
            <a:endParaRPr lang="en-US" sz="1700" dirty="0"/>
          </a:p>
        </p:txBody>
      </p:sp>
      <p:sp>
        <p:nvSpPr>
          <p:cNvPr id="15" name="Shape 13"/>
          <p:cNvSpPr/>
          <p:nvPr/>
        </p:nvSpPr>
        <p:spPr>
          <a:xfrm>
            <a:off x="777240" y="4206240"/>
            <a:ext cx="1737360" cy="457200"/>
          </a:xfrm>
          <a:prstGeom prst="roundRect">
            <a:avLst>
              <a:gd name="adj" fmla="val 50000"/>
            </a:avLst>
          </a:prstGeom>
          <a:solidFill>
            <a:srgbClr val="1B5E47"/>
          </a:solidFill>
          <a:ln/>
        </p:spPr>
      </p:sp>
      <p:sp>
        <p:nvSpPr>
          <p:cNvPr id="16" name="Text 14"/>
          <p:cNvSpPr/>
          <p:nvPr/>
        </p:nvSpPr>
        <p:spPr>
          <a:xfrm>
            <a:off x="777240" y="4206240"/>
            <a:ext cx="17373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Foundation</a:t>
            </a:r>
            <a:endParaRPr lang="en-US" sz="1250" dirty="0"/>
          </a:p>
        </p:txBody>
      </p:sp>
      <p:sp>
        <p:nvSpPr>
          <p:cNvPr id="17" name="Text 15"/>
          <p:cNvSpPr/>
          <p:nvPr/>
        </p:nvSpPr>
        <p:spPr>
          <a:xfrm>
            <a:off x="2697480" y="4206240"/>
            <a:ext cx="8686800" cy="45720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I can say what a packet is and why data is broken up.</a:t>
            </a:r>
            <a:endParaRPr lang="en-US" sz="1350" dirty="0"/>
          </a:p>
        </p:txBody>
      </p:sp>
      <p:sp>
        <p:nvSpPr>
          <p:cNvPr id="18" name="Shape 16"/>
          <p:cNvSpPr/>
          <p:nvPr/>
        </p:nvSpPr>
        <p:spPr>
          <a:xfrm>
            <a:off x="777240" y="4773168"/>
            <a:ext cx="1737360" cy="457200"/>
          </a:xfrm>
          <a:prstGeom prst="roundRect">
            <a:avLst>
              <a:gd name="adj" fmla="val 50000"/>
            </a:avLst>
          </a:prstGeom>
          <a:solidFill>
            <a:srgbClr val="B8620A"/>
          </a:solidFill>
          <a:ln/>
        </p:spPr>
      </p:sp>
      <p:sp>
        <p:nvSpPr>
          <p:cNvPr id="19" name="Text 17"/>
          <p:cNvSpPr/>
          <p:nvPr/>
        </p:nvSpPr>
        <p:spPr>
          <a:xfrm>
            <a:off x="777240" y="4773168"/>
            <a:ext cx="17373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Developing</a:t>
            </a:r>
            <a:endParaRPr lang="en-US" sz="1250" dirty="0"/>
          </a:p>
        </p:txBody>
      </p:sp>
      <p:sp>
        <p:nvSpPr>
          <p:cNvPr id="20" name="Text 18"/>
          <p:cNvSpPr/>
          <p:nvPr/>
        </p:nvSpPr>
        <p:spPr>
          <a:xfrm>
            <a:off x="2697480" y="4773168"/>
            <a:ext cx="8686800" cy="45720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I can describe a packet's parts and how packets take different routes.</a:t>
            </a:r>
            <a:endParaRPr lang="en-US" sz="1350" dirty="0"/>
          </a:p>
        </p:txBody>
      </p:sp>
      <p:sp>
        <p:nvSpPr>
          <p:cNvPr id="21" name="Shape 19"/>
          <p:cNvSpPr/>
          <p:nvPr/>
        </p:nvSpPr>
        <p:spPr>
          <a:xfrm>
            <a:off x="777240" y="5340096"/>
            <a:ext cx="1737360" cy="457200"/>
          </a:xfrm>
          <a:prstGeom prst="roundRect">
            <a:avLst>
              <a:gd name="adj" fmla="val 50000"/>
            </a:avLst>
          </a:prstGeom>
          <a:solidFill>
            <a:srgbClr val="2B3A8C"/>
          </a:solidFill>
          <a:ln/>
        </p:spPr>
      </p:sp>
      <p:sp>
        <p:nvSpPr>
          <p:cNvPr id="22" name="Text 20"/>
          <p:cNvSpPr/>
          <p:nvPr/>
        </p:nvSpPr>
        <p:spPr>
          <a:xfrm>
            <a:off x="777240" y="5340096"/>
            <a:ext cx="173736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Extending</a:t>
            </a:r>
            <a:endParaRPr lang="en-US" sz="1250" dirty="0"/>
          </a:p>
        </p:txBody>
      </p:sp>
      <p:sp>
        <p:nvSpPr>
          <p:cNvPr id="23" name="Text 21"/>
          <p:cNvSpPr/>
          <p:nvPr/>
        </p:nvSpPr>
        <p:spPr>
          <a:xfrm>
            <a:off x="2697480" y="5340096"/>
            <a:ext cx="8686800" cy="457200"/>
          </a:xfrm>
          <a:prstGeom prst="rect">
            <a:avLst/>
          </a:prstGeom>
          <a:noFill/>
          <a:ln/>
        </p:spPr>
        <p:txBody>
          <a:bodyPr wrap="square" lIns="0" tIns="0" rIns="0" bIns="0" rtlCol="0" anchor="ctr"/>
          <a:lstStyle/>
          <a:p>
            <a:pPr indent="0" marL="0">
              <a:buNone/>
            </a:pPr>
            <a:r>
              <a:rPr lang="en-US" sz="1350" dirty="0">
                <a:solidFill>
                  <a:srgbClr val="2C2A28"/>
                </a:solidFill>
                <a:latin typeface="Calibri" pitchFamily="34" charset="0"/>
                <a:ea typeface="Calibri" pitchFamily="34" charset="-122"/>
                <a:cs typeface="Calibri" pitchFamily="34" charset="-120"/>
              </a:rPr>
              <a:t>I can explain reassembly, packet loss, and why this makes the internet reliable.</a:t>
            </a:r>
            <a:endParaRPr lang="en-US" sz="1350" dirty="0"/>
          </a:p>
        </p:txBody>
      </p:sp>
      <p:sp>
        <p:nvSpPr>
          <p:cNvPr id="25" name="Text 22"/>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26" name="Text 23"/>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00E"/>
        </a:solidFill>
      </p:bgPr>
    </p:bg>
    <p:spTree>
      <p:nvGrpSpPr>
        <p:cNvPr id="1" name=""/>
        <p:cNvGrpSpPr/>
        <p:nvPr/>
      </p:nvGrpSpPr>
      <p:grpSpPr>
        <a:xfrm>
          <a:off x="0" y="0"/>
          <a:ext cx="0" cy="0"/>
          <a:chOff x="0" y="0"/>
          <a:chExt cx="0" cy="0"/>
        </a:xfrm>
      </p:grpSpPr>
      <p:sp>
        <p:nvSpPr>
          <p:cNvPr id="2" name="Text 0"/>
          <p:cNvSpPr/>
          <p:nvPr/>
        </p:nvSpPr>
        <p:spPr>
          <a:xfrm>
            <a:off x="457200" y="640080"/>
            <a:ext cx="11247120" cy="365760"/>
          </a:xfrm>
          <a:prstGeom prst="rect">
            <a:avLst/>
          </a:prstGeom>
          <a:noFill/>
          <a:ln/>
        </p:spPr>
        <p:txBody>
          <a:bodyPr wrap="square" lIns="0" tIns="0" rIns="0" bIns="0" rtlCol="0" anchor="ctr"/>
          <a:lstStyle/>
          <a:p>
            <a:pPr algn="ctr" indent="0" marL="0">
              <a:buNone/>
            </a:pPr>
            <a:r>
              <a:rPr lang="en-US" sz="1300" spc="200" kern="0" dirty="0">
                <a:solidFill>
                  <a:srgbClr val="B7AE9F"/>
                </a:solidFill>
                <a:latin typeface="Courier New" pitchFamily="34" charset="0"/>
                <a:ea typeface="Courier New" pitchFamily="34" charset="-122"/>
                <a:cs typeface="Courier New" pitchFamily="34" charset="-120"/>
              </a:rPr>
              <a:t>NEXT STEPS</a:t>
            </a:r>
            <a:endParaRPr lang="en-US" sz="1300" dirty="0"/>
          </a:p>
        </p:txBody>
      </p:sp>
      <p:sp>
        <p:nvSpPr>
          <p:cNvPr id="3" name="Text 1"/>
          <p:cNvSpPr/>
          <p:nvPr/>
        </p:nvSpPr>
        <p:spPr>
          <a:xfrm>
            <a:off x="457200" y="1005840"/>
            <a:ext cx="11247120" cy="822960"/>
          </a:xfrm>
          <a:prstGeom prst="rect">
            <a:avLst/>
          </a:prstGeom>
          <a:noFill/>
          <a:ln/>
        </p:spPr>
        <p:txBody>
          <a:bodyPr wrap="square" lIns="0" tIns="0" rIns="0" bIns="0" rtlCol="0" anchor="ctr"/>
          <a:lstStyle/>
          <a:p>
            <a:pPr algn="ctr" indent="0" marL="0">
              <a:buNone/>
            </a:pPr>
            <a:r>
              <a:rPr lang="en-US" sz="3400" b="1" dirty="0">
                <a:solidFill>
                  <a:srgbClr val="FFFFFF"/>
                </a:solidFill>
                <a:latin typeface="Bookman Old Style" pitchFamily="34" charset="0"/>
                <a:ea typeface="Bookman Old Style" pitchFamily="34" charset="-122"/>
                <a:cs typeface="Bookman Old Style" pitchFamily="34" charset="-120"/>
              </a:rPr>
              <a:t>Where We're Headed</a:t>
            </a:r>
            <a:endParaRPr lang="en-US" sz="3400" dirty="0"/>
          </a:p>
        </p:txBody>
      </p:sp>
      <p:sp>
        <p:nvSpPr>
          <p:cNvPr id="4" name="Shape 2"/>
          <p:cNvSpPr/>
          <p:nvPr/>
        </p:nvSpPr>
        <p:spPr>
          <a:xfrm>
            <a:off x="640080" y="2148840"/>
            <a:ext cx="3611880" cy="3017520"/>
          </a:xfrm>
          <a:prstGeom prst="roundRect">
            <a:avLst>
              <a:gd name="adj" fmla="val 3030"/>
            </a:avLst>
          </a:prstGeom>
          <a:solidFill>
            <a:srgbClr val="2C2A28"/>
          </a:solidFill>
          <a:ln w="19050">
            <a:solidFill>
              <a:srgbClr val="B8620A"/>
            </a:solidFill>
            <a:prstDash val="solid"/>
          </a:ln>
        </p:spPr>
      </p:sp>
      <p:sp>
        <p:nvSpPr>
          <p:cNvPr id="5" name="Shape 3"/>
          <p:cNvSpPr/>
          <p:nvPr/>
        </p:nvSpPr>
        <p:spPr>
          <a:xfrm>
            <a:off x="914400" y="2423160"/>
            <a:ext cx="3063240" cy="548640"/>
          </a:xfrm>
          <a:prstGeom prst="roundRect">
            <a:avLst>
              <a:gd name="adj" fmla="val 50000"/>
            </a:avLst>
          </a:prstGeom>
          <a:solidFill>
            <a:srgbClr val="B8620A"/>
          </a:solidFill>
          <a:ln/>
        </p:spPr>
      </p:sp>
      <p:sp>
        <p:nvSpPr>
          <p:cNvPr id="6" name="Text 4"/>
          <p:cNvSpPr/>
          <p:nvPr/>
        </p:nvSpPr>
        <p:spPr>
          <a:xfrm>
            <a:off x="914400" y="2423160"/>
            <a:ext cx="30632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Next lesson</a:t>
            </a:r>
            <a:endParaRPr lang="en-US" sz="1400" dirty="0"/>
          </a:p>
        </p:txBody>
      </p:sp>
      <p:sp>
        <p:nvSpPr>
          <p:cNvPr id="7" name="Text 5"/>
          <p:cNvSpPr/>
          <p:nvPr/>
        </p:nvSpPr>
        <p:spPr>
          <a:xfrm>
            <a:off x="960120" y="3154680"/>
            <a:ext cx="2971800" cy="1828800"/>
          </a:xfrm>
          <a:prstGeom prst="rect">
            <a:avLst/>
          </a:prstGeom>
          <a:noFill/>
          <a:ln/>
        </p:spPr>
        <p:txBody>
          <a:bodyPr wrap="square" lIns="0" tIns="0" rIns="0" bIns="0" rtlCol="0" anchor="t"/>
          <a:lstStyle/>
          <a:p>
            <a:pPr indent="0" marL="0">
              <a:buNone/>
            </a:pPr>
            <a:r>
              <a:rPr lang="en-US" sz="1400" dirty="0">
                <a:solidFill>
                  <a:srgbClr val="E8E2D6"/>
                </a:solidFill>
                <a:latin typeface="Calibri" pitchFamily="34" charset="0"/>
                <a:ea typeface="Calibri" pitchFamily="34" charset="-122"/>
                <a:cs typeface="Calibri" pitchFamily="34" charset="-120"/>
              </a:rPr>
              <a:t>Lesson 3 — Staying safe online. Now you know how data travels, we'll look at how to protect it and yourself.</a:t>
            </a:r>
            <a:endParaRPr lang="en-US" sz="1400" dirty="0"/>
          </a:p>
        </p:txBody>
      </p:sp>
      <p:sp>
        <p:nvSpPr>
          <p:cNvPr id="8" name="Shape 6"/>
          <p:cNvSpPr/>
          <p:nvPr/>
        </p:nvSpPr>
        <p:spPr>
          <a:xfrm>
            <a:off x="4434840" y="2148840"/>
            <a:ext cx="3611880" cy="3017520"/>
          </a:xfrm>
          <a:prstGeom prst="roundRect">
            <a:avLst>
              <a:gd name="adj" fmla="val 3030"/>
            </a:avLst>
          </a:prstGeom>
          <a:solidFill>
            <a:srgbClr val="2C2A28"/>
          </a:solidFill>
          <a:ln w="19050">
            <a:solidFill>
              <a:srgbClr val="1B5E47"/>
            </a:solidFill>
            <a:prstDash val="solid"/>
          </a:ln>
        </p:spPr>
      </p:sp>
      <p:sp>
        <p:nvSpPr>
          <p:cNvPr id="9" name="Shape 7"/>
          <p:cNvSpPr/>
          <p:nvPr/>
        </p:nvSpPr>
        <p:spPr>
          <a:xfrm>
            <a:off x="4709160" y="2423160"/>
            <a:ext cx="3063240" cy="548640"/>
          </a:xfrm>
          <a:prstGeom prst="roundRect">
            <a:avLst>
              <a:gd name="adj" fmla="val 50000"/>
            </a:avLst>
          </a:prstGeom>
          <a:solidFill>
            <a:srgbClr val="1B5E47"/>
          </a:solidFill>
          <a:ln/>
        </p:spPr>
      </p:sp>
      <p:sp>
        <p:nvSpPr>
          <p:cNvPr id="10" name="Text 8"/>
          <p:cNvSpPr/>
          <p:nvPr/>
        </p:nvSpPr>
        <p:spPr>
          <a:xfrm>
            <a:off x="4709160" y="2423160"/>
            <a:ext cx="30632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 assessment</a:t>
            </a:r>
            <a:endParaRPr lang="en-US" sz="1400" dirty="0"/>
          </a:p>
        </p:txBody>
      </p:sp>
      <p:sp>
        <p:nvSpPr>
          <p:cNvPr id="11" name="Text 9"/>
          <p:cNvSpPr/>
          <p:nvPr/>
        </p:nvSpPr>
        <p:spPr>
          <a:xfrm>
            <a:off x="4754880" y="3154680"/>
            <a:ext cx="2971800" cy="1828800"/>
          </a:xfrm>
          <a:prstGeom prst="rect">
            <a:avLst/>
          </a:prstGeom>
          <a:noFill/>
          <a:ln/>
        </p:spPr>
        <p:txBody>
          <a:bodyPr wrap="square" lIns="0" tIns="0" rIns="0" bIns="0" rtlCol="0" anchor="t"/>
          <a:lstStyle/>
          <a:p>
            <a:pPr indent="0" marL="0">
              <a:buNone/>
            </a:pPr>
            <a:r>
              <a:rPr lang="en-US" sz="1400" dirty="0">
                <a:solidFill>
                  <a:srgbClr val="E8E2D6"/>
                </a:solidFill>
                <a:latin typeface="Calibri" pitchFamily="34" charset="0"/>
                <a:ea typeface="Calibri" pitchFamily="34" charset="-122"/>
                <a:cs typeface="Calibri" pitchFamily="34" charset="-120"/>
              </a:rPr>
              <a:t>Your network project continues. Add a short explanation of how data would travel across the network you designed.</a:t>
            </a:r>
            <a:endParaRPr lang="en-US" sz="1400" dirty="0"/>
          </a:p>
        </p:txBody>
      </p:sp>
      <p:sp>
        <p:nvSpPr>
          <p:cNvPr id="12" name="Shape 10"/>
          <p:cNvSpPr/>
          <p:nvPr/>
        </p:nvSpPr>
        <p:spPr>
          <a:xfrm>
            <a:off x="8229600" y="2148840"/>
            <a:ext cx="3611880" cy="3017520"/>
          </a:xfrm>
          <a:prstGeom prst="roundRect">
            <a:avLst>
              <a:gd name="adj" fmla="val 3030"/>
            </a:avLst>
          </a:prstGeom>
          <a:solidFill>
            <a:srgbClr val="2C2A28"/>
          </a:solidFill>
          <a:ln w="19050">
            <a:solidFill>
              <a:srgbClr val="2B3A8C"/>
            </a:solidFill>
            <a:prstDash val="solid"/>
          </a:ln>
        </p:spPr>
      </p:sp>
      <p:sp>
        <p:nvSpPr>
          <p:cNvPr id="13" name="Shape 11"/>
          <p:cNvSpPr/>
          <p:nvPr/>
        </p:nvSpPr>
        <p:spPr>
          <a:xfrm>
            <a:off x="8503920" y="2423160"/>
            <a:ext cx="3063240" cy="548640"/>
          </a:xfrm>
          <a:prstGeom prst="roundRect">
            <a:avLst>
              <a:gd name="adj" fmla="val 50000"/>
            </a:avLst>
          </a:prstGeom>
          <a:solidFill>
            <a:srgbClr val="2B3A8C"/>
          </a:solidFill>
          <a:ln/>
        </p:spPr>
      </p:sp>
      <p:sp>
        <p:nvSpPr>
          <p:cNvPr id="14" name="Text 12"/>
          <p:cNvSpPr/>
          <p:nvPr/>
        </p:nvSpPr>
        <p:spPr>
          <a:xfrm>
            <a:off x="8503920" y="2423160"/>
            <a:ext cx="30632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Homework</a:t>
            </a:r>
            <a:endParaRPr lang="en-US" sz="1400" dirty="0"/>
          </a:p>
        </p:txBody>
      </p:sp>
      <p:sp>
        <p:nvSpPr>
          <p:cNvPr id="15" name="Text 13"/>
          <p:cNvSpPr/>
          <p:nvPr/>
        </p:nvSpPr>
        <p:spPr>
          <a:xfrm>
            <a:off x="8549640" y="3154680"/>
            <a:ext cx="2971800" cy="1828800"/>
          </a:xfrm>
          <a:prstGeom prst="rect">
            <a:avLst/>
          </a:prstGeom>
          <a:noFill/>
          <a:ln/>
        </p:spPr>
        <p:txBody>
          <a:bodyPr wrap="square" lIns="0" tIns="0" rIns="0" bIns="0" rtlCol="0" anchor="t"/>
          <a:lstStyle/>
          <a:p>
            <a:pPr indent="0" marL="0">
              <a:buNone/>
            </a:pPr>
            <a:r>
              <a:rPr lang="en-US" sz="1400" dirty="0">
                <a:solidFill>
                  <a:srgbClr val="E8E2D6"/>
                </a:solidFill>
                <a:latin typeface="Calibri" pitchFamily="34" charset="0"/>
                <a:ea typeface="Calibri" pitchFamily="34" charset="-122"/>
                <a:cs typeface="Calibri" pitchFamily="34" charset="-120"/>
              </a:rPr>
              <a:t>Finish any unfinished workbook sections. In one paragraph, explain packets to someone at home and write down their best question.</a:t>
            </a:r>
            <a:endParaRPr lang="en-US" sz="1400" dirty="0"/>
          </a:p>
        </p:txBody>
      </p:sp>
      <p:sp>
        <p:nvSpPr>
          <p:cNvPr id="16" name="Shape 14"/>
          <p:cNvSpPr/>
          <p:nvPr/>
        </p:nvSpPr>
        <p:spPr>
          <a:xfrm>
            <a:off x="2194560" y="5486400"/>
            <a:ext cx="7772400" cy="777240"/>
          </a:xfrm>
          <a:prstGeom prst="roundRect">
            <a:avLst>
              <a:gd name="adj" fmla="val 11765"/>
            </a:avLst>
          </a:prstGeom>
          <a:solidFill>
            <a:srgbClr val="2C2A28"/>
          </a:solidFill>
          <a:ln w="12700">
            <a:solidFill>
              <a:srgbClr val="4A463F"/>
            </a:solidFill>
            <a:prstDash val="solid"/>
          </a:ln>
        </p:spPr>
      </p:sp>
      <p:sp>
        <p:nvSpPr>
          <p:cNvPr id="17" name="Text 15"/>
          <p:cNvSpPr/>
          <p:nvPr/>
        </p:nvSpPr>
        <p:spPr>
          <a:xfrm>
            <a:off x="2377440" y="5486400"/>
            <a:ext cx="7406640" cy="777240"/>
          </a:xfrm>
          <a:prstGeom prst="rect">
            <a:avLst/>
          </a:prstGeom>
          <a:noFill/>
          <a:ln/>
        </p:spPr>
        <p:txBody>
          <a:bodyPr wrap="square" lIns="0" tIns="0" rIns="0" bIns="0" rtlCol="0" anchor="ctr"/>
          <a:lstStyle/>
          <a:p>
            <a:pPr indent="0" marL="0">
              <a:buNone/>
            </a:pPr>
            <a:r>
              <a:rPr lang="en-US" sz="1400" b="1" dirty="0">
                <a:solidFill>
                  <a:srgbClr val="B8620A"/>
                </a:solidFill>
                <a:latin typeface="Calibri" pitchFamily="34" charset="0"/>
                <a:ea typeface="Calibri" pitchFamily="34" charset="-122"/>
                <a:cs typeface="Calibri" pitchFamily="34" charset="-120"/>
              </a:rPr>
              <a:t>Need help?  </a:t>
            </a:r>
            <a:pPr indent="0" marL="0">
              <a:buNone/>
            </a:pPr>
            <a:r>
              <a:rPr lang="en-US" sz="1400" dirty="0">
                <a:solidFill>
                  <a:srgbClr val="E8E2D6"/>
                </a:solidFill>
                <a:latin typeface="Calibri" pitchFamily="34" charset="0"/>
                <a:ea typeface="Calibri" pitchFamily="34" charset="-122"/>
                <a:cs typeface="Calibri" pitchFamily="34" charset="-120"/>
              </a:rPr>
              <a:t>Re-read the lesson website, or see Mr Smith before next class.</a:t>
            </a:r>
            <a:endParaRPr lang="en-US" sz="1400" dirty="0"/>
          </a:p>
        </p:txBody>
      </p:sp>
      <p:sp>
        <p:nvSpPr>
          <p:cNvPr id="19" name="Text 16"/>
          <p:cNvSpPr/>
          <p:nvPr/>
        </p:nvSpPr>
        <p:spPr>
          <a:xfrm>
            <a:off x="457200" y="6492240"/>
            <a:ext cx="9144000" cy="274320"/>
          </a:xfrm>
          <a:prstGeom prst="rect">
            <a:avLst/>
          </a:prstGeom>
          <a:noFill/>
          <a:ln/>
        </p:spPr>
        <p:txBody>
          <a:bodyPr wrap="square" lIns="0" tIns="0" rIns="0" bIns="0" rtlCol="0" anchor="ctr"/>
          <a:lstStyle/>
          <a:p>
            <a:pPr indent="0" marL="0">
              <a:buNone/>
            </a:pPr>
            <a:r>
              <a:rPr lang="en-US" sz="900" dirty="0">
                <a:solidFill>
                  <a:srgbClr val="6B6762"/>
                </a:solidFill>
                <a:latin typeface="Courier New" pitchFamily="34" charset="0"/>
                <a:ea typeface="Courier New" pitchFamily="34" charset="-122"/>
                <a:cs typeface="Courier New" pitchFamily="34" charset="-120"/>
              </a:rPr>
              <a:t>How Data Travels: Packets &amp; Routing  ·  Lesson 2 of 3  ·  Year 7 Digital Technologies</a:t>
            </a:r>
            <a:endParaRPr lang="en-US" sz="900" dirty="0"/>
          </a:p>
        </p:txBody>
      </p:sp>
      <p:sp>
        <p:nvSpPr>
          <p:cNvPr id="20" name="Text 17"/>
          <p:cNvSpPr/>
          <p:nvPr/>
        </p:nvSpPr>
        <p:spPr>
          <a:xfrm>
            <a:off x="11247120" y="6492240"/>
            <a:ext cx="457200" cy="274320"/>
          </a:xfrm>
          <a:prstGeom prst="rect">
            <a:avLst/>
          </a:prstGeom>
          <a:noFill/>
          <a:ln/>
        </p:spPr>
        <p:txBody>
          <a:bodyPr wrap="square" lIns="0" tIns="0" rIns="0" bIns="0" rtlCol="0" anchor="ctr"/>
          <a:lstStyle/>
          <a:p>
            <a:pPr algn="r" indent="0" marL="0">
              <a:buNone/>
            </a:pPr>
            <a:r>
              <a:rPr lang="en-US" sz="900" dirty="0">
                <a:solidFill>
                  <a:srgbClr val="6B6762"/>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Data Travels: Packets &amp; Routing — Lesson 2</dc:title>
  <dc:subject>PptxGenJS Presentation</dc:subject>
  <dc:creator>Mr Smith</dc:creator>
  <cp:lastModifiedBy>Mr Smith</cp:lastModifiedBy>
  <cp:revision>1</cp:revision>
  <dcterms:created xsi:type="dcterms:W3CDTF">2026-06-15T22:44:44Z</dcterms:created>
  <dcterms:modified xsi:type="dcterms:W3CDTF">2026-06-15T22:44:44Z</dcterms:modified>
</cp:coreProperties>
</file>