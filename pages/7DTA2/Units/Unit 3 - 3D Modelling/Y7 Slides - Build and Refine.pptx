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291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 rot="2700000">
            <a:off x="8732520" y="45720"/>
            <a:ext cx="1463040" cy="1463040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 rot="2700000">
            <a:off x="8229600" y="1005840"/>
            <a:ext cx="10972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 rot="2700000">
            <a:off x="8641080" y="1828800"/>
            <a:ext cx="804672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03  •  LESSON 3 OF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refine: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sketch</a:t>
            </a:r>
            <a:endParaRPr lang="en-US" sz="5200" dirty="0"/>
          </a:p>
          <a:p>
            <a:pPr marL="0" indent="0">
              <a:buNone/>
            </a:pPr>
            <a:r>
              <a:rPr lang="en-US" sz="5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specimen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Workplanes, alignment, dimensions — building your alien in CAD.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Double period (100 minutes)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LESSON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and how you'll know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5349240" cy="2148840"/>
          </a:xfrm>
          <a:prstGeom prst="rect">
            <a:avLst/>
          </a:prstGeom>
          <a:solidFill>
            <a:srgbClr val="111F24"/>
          </a:solidFill>
          <a:ln w="12700">
            <a:solidFill>
              <a:srgbClr val="111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my alien in CAD using precise dimensions, alignment and workplane techniques.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93192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your sketch becomes a real 3D model. Every dimension, alignment and workplane choice you make here determines whether your alien actually prints.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08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783080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65836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943600" y="1783080"/>
            <a:ext cx="6583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1837944"/>
            <a:ext cx="23042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alien is built in CAD with the body, head and at least one limb in place.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788920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5943600" y="2788920"/>
            <a:ext cx="65836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943600" y="2788920"/>
            <a:ext cx="6583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2843784"/>
            <a:ext cx="23042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used Align and the workplane to position parts. All parts within 5–12.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3794760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5943600" y="3794760"/>
            <a:ext cx="658368" cy="89611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5943600" y="3794760"/>
            <a:ext cx="6583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3849624"/>
            <a:ext cx="230428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refined a part after testing — the final version is better than the first attempt.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2  •  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unit is heading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four double periods you'll learn to design, refine and print a 3D model. Today is Lesson 3: build &amp; refine.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2057400" cy="3090672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CAD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workspace, place and edit primitive shapes, combine &amp; cut.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15184" y="1645920"/>
            <a:ext cx="2057400" cy="3090672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752344" y="1783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52344" y="22860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print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52344" y="278892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of 3D printing: overhangs, supports, wall thickness, tolerances.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18888" y="1645920"/>
            <a:ext cx="2057400" cy="3090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956048" y="1783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56048" y="22860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refine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56048" y="278892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Workplanes, alignment, dimensions, troubleshooting. Develop against the brief.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4480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22592" y="1645920"/>
            <a:ext cx="2057400" cy="3090672"/>
          </a:xfrm>
          <a:prstGeom prst="rect">
            <a:avLst/>
          </a:prstGeom>
          <a:solidFill>
            <a:srgbClr val="111F24"/>
          </a:solidFill>
          <a:ln w="12700">
            <a:solidFill>
              <a:srgbClr val="111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7159752" y="1783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59752" y="22860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print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59752" y="278892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STL, preview in slicer, peer feedback, submit.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3  •  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RUN SHEET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100 minutes flows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10972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11480" y="14813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36192" y="1481328"/>
            <a:ext cx="7498080" cy="548640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664208" y="15179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&amp; recap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64208" y="1755648"/>
            <a:ext cx="7205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L2 — what print constraints did you flag? Who fixed a risk in their sketch? Show your sketch.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10972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36192" y="2057400"/>
            <a:ext cx="7498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664208" y="20939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64208" y="2331720"/>
            <a:ext cx="7205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Workplane, Align, Mirror, Duplicate. Live demo on the projector — follow on your screen.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633472"/>
            <a:ext cx="10972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11480" y="26334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30–75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36192" y="2633472"/>
            <a:ext cx="7498080" cy="548640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1664208" y="26700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— build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64208" y="2907792"/>
            <a:ext cx="7205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build log at your chosen tier. Teacher circulates; use the mid-build peer check.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209544"/>
            <a:ext cx="10972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11480" y="320954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75–85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36192" y="3209544"/>
            <a:ext cx="7498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1664208" y="3246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Mid-build peer check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64208" y="3483864"/>
            <a:ext cx="7205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screens. Partner checks part count, bounding box, at least one Hole. Fill in your workbook.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785616"/>
            <a:ext cx="10972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11480" y="378561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36192" y="3785616"/>
            <a:ext cx="7498080" cy="548640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1664208" y="3822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spotlight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64208" y="4059936"/>
            <a:ext cx="7205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share before/after: one part that changed. Class discusses what improved and why.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4361688"/>
            <a:ext cx="10972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411480" y="436168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536192" y="4361688"/>
            <a:ext cx="7498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1664208" y="43982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64208" y="4636008"/>
            <a:ext cx="7205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— CAD win, part count status, what to finish before L4. Stick slip in workbook.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4  •  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 &amp; MODELLING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workplane — stacking shapes at angles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4114800" cy="1097280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workplane is the 'ground' your shapes sit on. Drag it onto any face to make that face the new base — this is how you attach shapes at angles and stack body parts.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38404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workplane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9992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workplane (W key) from the corner onto any face of your model. The grid snaps to that face.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447288"/>
            <a:ext cx="38404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11480" y="3447288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4655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&amp; build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new shapes — they now sit on the face you chose. Great for angled limbs, fins, or tilted heads.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197096"/>
            <a:ext cx="38404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11480" y="4197096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2153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when done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4988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W and drag back to the default base. Always reset before saving or exporting your final file.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481328"/>
            <a:ext cx="4206240" cy="3401568"/>
          </a:xfrm>
          <a:prstGeom prst="rect">
            <a:avLst/>
          </a:prstGeom>
          <a:solidFill>
            <a:srgbClr val="111F24"/>
          </a:solidFill>
          <a:ln w="12700">
            <a:solidFill>
              <a:srgbClr val="111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937760" y="1627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1993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0368" y="19933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Shortcut: press W to grab the workplane tool quickly.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70662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30368" y="270662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shapes aren't sitting where expected — check your workplane hasn't been left on a face.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4198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341985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workplane onto a hole's face too — useful for attaching things inside a cavity.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1330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30368" y="413308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Workplane confusion is the #1 source of floating shapes. Reset (W → drag to ground) before every export.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5  •  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 &amp; MODELLING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— lining shapes up precisely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778240" cy="640080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two or more shapes, then choose how to align them on each axis: left / centre / right (X)  ·  front / centre / back (Y)  ·  bottom / middle / top (Z).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2834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axis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· Centre · Right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358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the head on the body. Lines up paired eyes or symmetrical wings.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55848" y="224028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355848" y="2240280"/>
            <a:ext cx="283464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355848" y="2240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93008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· Centre · Back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93008" y="30358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a beak or chin out to the front face. Aligns fins to the rear.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0216" y="224028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300216" y="2240280"/>
            <a:ext cx="2834640" cy="384048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300216" y="2240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axis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37376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· Middle · Top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37376" y="30358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limbs flush on the body base. Stacks a head on top of a torso.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526280"/>
            <a:ext cx="8778240" cy="256032"/>
          </a:xfrm>
          <a:prstGeom prst="rect">
            <a:avLst/>
          </a:prstGeom>
          <a:solidFill>
            <a:srgbClr val="111F24"/>
          </a:solidFill>
          <a:ln w="12700">
            <a:solidFill>
              <a:srgbClr val="111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·  Hold Shift to multi-select before clicking Align. Align runs relative to the last-clicked shape.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6  •  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 &amp; MODELLING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&amp; Duplicate — work smarter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283464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18541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 shape and flip it across an axis to create a perfect mirror image.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3522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one side (eye, arm, wing). Group the shapes. Then use Flip → Left/Right or Front/Back. Move into position.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04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12394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 eyes, paired arms, matched fins. Design one, mirror the other — saves time and guarantees symmetry.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645152"/>
            <a:ext cx="2834640" cy="2286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502920" y="46451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Shortcut: Flip buttons in toolbar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55848" y="1481328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3355848" y="1481328"/>
            <a:ext cx="283464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3355848" y="148132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93008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93008" y="218541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Ctrl+D copies a shape and remembers the last move. Press again to repeat that exact move.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93008" y="293522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93008" y="3154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spike. Move it 12 mm to the right. Press Ctrl+D — a copy appears 12 mm further. Keep pressing for evenly spaced copies.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3904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93008" y="412394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Evenly spaced spikes, rings of eyes, identical legs. Set the gap once, duplicate the rest.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4645152"/>
            <a:ext cx="2834640" cy="22860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3447288" y="46451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Shortcut: Ctrl+D (repeat: press again)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0216" y="1481328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6300216" y="1481328"/>
            <a:ext cx="2834640" cy="402336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300216" y="148132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after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37376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79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37376" y="218541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mirroring or duplicating, use Align to lock the result into a precise position on the body.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37376" y="293522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79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37376" y="3154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mirrored/duplicated part AND the body. Align on the axis you care about.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37376" y="3904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79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37376" y="412394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mirrored arms at the exact same height. Centres a row of spikes along the spine.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0216" y="4645152"/>
            <a:ext cx="2834640" cy="228600"/>
          </a:xfrm>
          <a:prstGeom prst="rect">
            <a:avLst/>
          </a:prstGeom>
          <a:solidFill>
            <a:srgbClr val="F7934C">
              <a:alpha val="20000"/>
            </a:srgbClr>
          </a:solidFill>
          <a:ln w="12700">
            <a:solidFill>
              <a:srgbClr val="F793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6391656" y="46451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Shortcut: Align tool, multi-select with Shift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7  •  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WE DO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positioning limbs (10 min)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554480" y="11658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 your screen while I model on the projector. We'll use all three techniques on one alien body.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4297680" cy="1097280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5029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3272" y="15361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workplane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84708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workplane onto the left side of the torso. We'll attach one arm directly to the face.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24328"/>
            <a:ext cx="4297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11480" y="2624328"/>
            <a:ext cx="5029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11480" y="2624328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3272" y="2715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size the arm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33272" y="302666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cylinder. Resize to 8 × 8 × 25 mm. It should sit flush against the torso face.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803904"/>
            <a:ext cx="4297680" cy="1097280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411480" y="3803904"/>
            <a:ext cx="5029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11480" y="380390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33272" y="38953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 arm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42062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arm + torso. Align: centre on Y (front/back). Middle on Z (height). Check it looks right.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444752"/>
            <a:ext cx="4297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846320" y="1444752"/>
            <a:ext cx="5029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846320" y="144475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68112" y="15361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 arm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68112" y="184708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workplane. Select arm, Flip Left/Right. Move the copy to the right side. Align again.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624328"/>
            <a:ext cx="4297680" cy="1097280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846320" y="2624328"/>
            <a:ext cx="5029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846320" y="2624328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68112" y="2715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spikes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68112" y="302666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cone (spike). Move it 15 mm along the spine. Press Ctrl+D three more times — four spikes, perfectly spaced.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803904"/>
            <a:ext cx="4297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4846320" y="3803904"/>
            <a:ext cx="5029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4846320" y="380390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68112" y="38953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check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68112" y="42062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all. Group (Ctrl+G). Check bounding box in the inspector — should be under 80 × 80 × 80 mm.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88289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8  •  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 — YOU DO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662672" y="1645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 — tick each step as you go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this in order. Your workbook has the full log — tick each box as you complete it in CAD.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4279392" cy="585216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521208" y="161848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914400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body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torso shape placed and sized on the workplane.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39696"/>
            <a:ext cx="427939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1208" y="227685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the head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441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centrally with the body using the Align tool.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4279392" cy="585216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521208" y="293522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9144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one limb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099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or duplicated for the other side.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456432"/>
            <a:ext cx="427939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521208" y="359359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91440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eyes + Hole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758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Hole used (mouth, eye socket, or nostril).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114800"/>
            <a:ext cx="4279392" cy="585216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521208" y="425196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914400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distinctive feature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416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bold design choice from your specimen card.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481328"/>
            <a:ext cx="427939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4956048" y="161848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349240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the major axis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1783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Align on at least one body axis.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139696"/>
            <a:ext cx="4279392" cy="585216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4956048" y="227685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5349240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bounding box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2441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dimensions ≤ 80 × 80 × 80 mm.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798064"/>
            <a:ext cx="427939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4956048" y="293522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534924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all parts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099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combined into a single object.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456432"/>
            <a:ext cx="4279392" cy="585216"/>
          </a:xfrm>
          <a:prstGeom prst="rect">
            <a:avLst/>
          </a:prstGeom>
          <a:solidFill>
            <a:srgbClr val="E8F4F6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4956048" y="359359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534924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with clear name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49240" y="3758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YourName_Alien_v1 — ready for L4.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9  •  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 — YOU DO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task: differentiated (45 min)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level that challenges you but is still finishable today. You can always level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834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+ head + limbs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torso, attach the head using Align, and add at least two limbs. Use the workplane to attach one limb at an angle. Include one Hole.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66674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50392" y="36301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Torso, head and two limbs in CAD.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50392" y="3931920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Workplane used at least once.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27024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850392" y="423367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Hole included.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850392" y="4535424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count between 5 and 12.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55848" y="141732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3355848" y="1417320"/>
            <a:ext cx="283464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3355848" y="14173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93008" y="1856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alien — all 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93008" y="21945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alien built: body, head, limbs, eyes and distinctive feature. Mirror or Duplicate used for symmetrical parts. All dimensions match the master sketch.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93008" y="366674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3794760" y="36301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build log items ticked.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93008" y="3968496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3794760" y="3931920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or Duplicate used.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93008" y="427024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3794760" y="423367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match sketch.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93008" y="4572000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3794760" y="4535424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≤ 80 × 80 × 80 mm.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0216" y="141732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6300216" y="1417320"/>
            <a:ext cx="2834640" cy="384048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6300216" y="14173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37376" y="1856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&amp; iterate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37376" y="21945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done? Identify one part that could be improved. Make the change, record it in the iteration log (Version 1 vs Version 2). Prepare one print-risk fix.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37376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37376" y="366674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6739128" y="36301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log completed.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37376" y="3968496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6739128" y="3931920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part redesigned.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37376" y="427024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6739128" y="423367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risk identified and fixed.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37376" y="4572000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6739128" y="4535424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saved as v2 with clear name.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10  •  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 — CHECK FOR UNDERSTANDING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Mid-build peer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screens with a partner. Answer the questions below for their design — record in your workbook.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5029200" cy="3401568"/>
          </a:xfrm>
          <a:prstGeom prst="rect">
            <a:avLst/>
          </a:prstGeom>
          <a:solidFill>
            <a:srgbClr val="111F24"/>
          </a:solidFill>
          <a:ln w="12700">
            <a:solidFill>
              <a:srgbClr val="111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1762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solids + holes. Is it between 5 and 12?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5054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inside 80 × 80 × 80 mm? Check the inspector panel.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090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090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Hole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346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Mouth, eye socket, nostril — any Hole operation used?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675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the 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sit flat? Any floating parts?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261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261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feature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517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tell what the alien's 'one bold idea' is?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1444752"/>
            <a:ext cx="345643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760720" y="15727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 TO PARTNER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1901952"/>
            <a:ext cx="38404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760720" y="1901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1956816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working well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2322576"/>
            <a:ext cx="3200400" cy="493776"/>
          </a:xfrm>
          <a:prstGeom prst="rect">
            <a:avLst/>
          </a:prstGeom>
          <a:solidFill>
            <a:srgbClr val="F0F6F8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5806440" y="2322576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workbook 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2889504"/>
            <a:ext cx="38404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576072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36208" y="294436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to refine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0" y="3310128"/>
            <a:ext cx="3200400" cy="493776"/>
          </a:xfrm>
          <a:prstGeom prst="rect">
            <a:avLst/>
          </a:prstGeom>
          <a:solidFill>
            <a:srgbClr val="F0F6F8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5806440" y="3310128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workbook 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3877056"/>
            <a:ext cx="384048" cy="384048"/>
          </a:xfrm>
          <a:prstGeom prst="rect">
            <a:avLst/>
          </a:prstGeom>
          <a:solidFill>
            <a:srgbClr val="F7934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576072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6208" y="393192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for the designer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760720" y="4297680"/>
            <a:ext cx="3200400" cy="493776"/>
          </a:xfrm>
          <a:prstGeom prst="rect">
            <a:avLst/>
          </a:prstGeom>
          <a:solidFill>
            <a:srgbClr val="F0F6F8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5806440" y="4297680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workbook 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11  •  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doesn't look right — troubleshoot 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407178" y="1015407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most common problems at this stage.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fix before asking for help.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4279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164592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85800" y="15179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won't sit on the body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470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847088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workplane is probably set to the default ground — shapes land on the ground, not on the body face.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134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313432"/>
            <a:ext cx="3401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workplane (W) onto the body face, then add the new shape. Reset when done.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444752"/>
            <a:ext cx="4279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4846320" y="1444752"/>
            <a:ext cx="164592" cy="16276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120640" y="15179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arm is in the wrong place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8470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1847088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Flipping duplicates the shape, but doesn't move it — it lands on top of the original.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0" y="23134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2313432"/>
            <a:ext cx="3401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flipping, use the inspector to set an exact X position, or drag it across while watching the ruler.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163824"/>
            <a:ext cx="4279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411480" y="3163824"/>
            <a:ext cx="164592" cy="162763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85800" y="323697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count too high (&gt; 12)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5661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356616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primitive — including each Hole — counts as one part.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40325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4032504"/>
            <a:ext cx="3401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parts that don't tell the viewer anything new. Ask: does this shape earn its place?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163824"/>
            <a:ext cx="4279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4846320" y="3163824"/>
            <a:ext cx="164592" cy="1627632"/>
          </a:xfrm>
          <a:prstGeom prst="rect">
            <a:avLst/>
          </a:prstGeom>
          <a:solidFill>
            <a:srgbClr val="4A90B8"/>
          </a:solidFill>
          <a:ln w="12700">
            <a:solidFill>
              <a:srgbClr val="4A90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5120640" y="323697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exceeds 80 mm bounding box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35661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356616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torso or a limb is larger than intended — check the inspector, not visual estimation.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20640" y="40325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4032504"/>
            <a:ext cx="3401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whole grouped model and read the dimensions. Scale down the part that's oversized.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12  •  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 — CLASS DISCUSSION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spotlight — before &amp; after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volunteers will share one part they changed. Class: watch for the design thinking behind each decision.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8346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8346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what went wrong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560320" cy="1234440"/>
          </a:xfrm>
          <a:prstGeom prst="rect">
            <a:avLst/>
          </a:prstGeom>
          <a:solidFill>
            <a:srgbClr val="F5F8F9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describes)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10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— what changed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2560320" cy="1042416"/>
          </a:xfrm>
          <a:prstGeom prst="rect">
            <a:avLst/>
          </a:prstGeom>
          <a:solidFill>
            <a:srgbClr val="F5F8F9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40080" y="3675888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describes)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55848" y="1463040"/>
            <a:ext cx="28346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355848" y="1463040"/>
            <a:ext cx="283464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355848" y="146304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93008" y="1847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what went wrong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93008" y="2103120"/>
            <a:ext cx="2560320" cy="1234440"/>
          </a:xfrm>
          <a:prstGeom prst="rect">
            <a:avLst/>
          </a:prstGeom>
          <a:solidFill>
            <a:srgbClr val="F5F8F9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3584448" y="210312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describes)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008" y="3410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— what changed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93008" y="3675888"/>
            <a:ext cx="2560320" cy="1042416"/>
          </a:xfrm>
          <a:prstGeom prst="rect">
            <a:avLst/>
          </a:prstGeom>
          <a:solidFill>
            <a:srgbClr val="F5F8F9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3584448" y="3675888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describes)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0216" y="1463040"/>
            <a:ext cx="28346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6300216" y="1463040"/>
            <a:ext cx="2834640" cy="329184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6300216" y="146304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37376" y="1847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what went wrong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37376" y="2103120"/>
            <a:ext cx="2560320" cy="1234440"/>
          </a:xfrm>
          <a:prstGeom prst="rect">
            <a:avLst/>
          </a:prstGeom>
          <a:solidFill>
            <a:srgbClr val="F5F8F9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6528816" y="210312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describes)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37376" y="3410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— what changed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37376" y="3675888"/>
            <a:ext cx="2560320" cy="1042416"/>
          </a:xfrm>
          <a:prstGeom prst="rect">
            <a:avLst/>
          </a:prstGeom>
          <a:solidFill>
            <a:srgbClr val="F5F8F9"/>
          </a:solidFill>
          <a:ln w="635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6528816" y="3675888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describes)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13  •  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21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last 5 minutes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8778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59436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5568" y="153619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win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801368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biggest CAD achievement this lesson — what technique did I use and what did it do to my model?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8778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59436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258775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count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current part count is ___. If it's outside the 5–12 range, explain what I'll add or remove before Lesson 4.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566160"/>
            <a:ext cx="8778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594360" cy="960120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11480" y="356616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15568" y="363931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904488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finish before Lesson 4 — be specific (which part, what tool, what dimension).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617720"/>
            <a:ext cx="8778240" cy="320040"/>
          </a:xfrm>
          <a:prstGeom prst="rect">
            <a:avLst/>
          </a:prstGeom>
          <a:solidFill>
            <a:srgbClr val="111F24"/>
          </a:solidFill>
          <a:ln w="12700">
            <a:solidFill>
              <a:srgbClr val="111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tick boxes in your workbook  ·  Stick the exit slip into page L3 when complete.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828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 •  14  •  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print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ready for transport — export STL, preview in slicer, peer feedback, submit.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33472" cy="248716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21792" y="22402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alien — finished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83464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build log steps ticked. Grouped into one object. File saved with a clear name.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2103120"/>
            <a:ext cx="2633472" cy="248716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10712" y="22402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iteration log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283464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Version 1 / Version 2 comparison recorded in your workbook.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633472" cy="248716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199632" y="22402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print risk resolved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9632" y="283464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part you were worried about — and confirm it now passes the 45° rule and wall check.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7731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of 4  •  Unit: 3D Modelling with CAD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2745</TotalTime>
  <Words>2534</Words>
  <Application>Microsoft Office PowerPoint</Application>
  <PresentationFormat>On-screen Show (16:9)</PresentationFormat>
  <Paragraphs>324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 — Build &amp; Refine</dc:title>
  <dc:subject>PptxGenJS Presentation</dc:subject>
  <dc:creator>PptxGenJS</dc:creator>
  <cp:lastModifiedBy>James Smith 5</cp:lastModifiedBy>
  <cp:revision>2</cp:revision>
  <dcterms:created xsi:type="dcterms:W3CDTF">2026-05-18T22:41:50Z</dcterms:created>
  <dcterms:modified xsi:type="dcterms:W3CDTF">2026-05-20T22:34:45Z</dcterms:modified>
</cp:coreProperties>
</file>