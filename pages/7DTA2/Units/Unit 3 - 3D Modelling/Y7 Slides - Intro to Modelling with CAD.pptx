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3383280"/>
            <a:ext cx="1316736" cy="73152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9235440" y="3383280"/>
            <a:ext cx="-1316736" cy="73152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4114800"/>
            <a:ext cx="1188720" cy="68580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24160" y="4800600"/>
            <a:ext cx="0" cy="137160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0" y="6172200"/>
            <a:ext cx="-1188720" cy="68580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0" y="6858000"/>
            <a:ext cx="-1188720" cy="-68580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0" y="6172200"/>
            <a:ext cx="0" cy="-137160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4800600"/>
            <a:ext cx="1188720" cy="-68580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35440" y="4114800"/>
            <a:ext cx="0" cy="137160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0" y="5486400"/>
            <a:ext cx="1188720" cy="68580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35440" y="5486400"/>
            <a:ext cx="-1188720" cy="68580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03  •  LESSON 1 OF 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1874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idea to object: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40080" y="26974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 to 3D Modelling with CAD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40080" y="3749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four-lesson unit. By the end, you'll design and 3D-print your own alien.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400" kern="0" dirty="0">
                <a:solidFill>
                  <a:srgbClr val="8F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Double period (100 minutes)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LESSON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learn and how you'll know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326880" y="50292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FFF4DE"/>
          </a:solidFill>
          <a:ln w="15875">
            <a:solidFill>
              <a:srgbClr val="F9A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45752" y="603504"/>
            <a:ext cx="182880" cy="182880"/>
          </a:xfrm>
          <a:prstGeom prst="ellipse">
            <a:avLst/>
          </a:prstGeom>
          <a:solidFill>
            <a:srgbClr val="F9A826"/>
          </a:solidFill>
          <a:ln w="12700">
            <a:solidFill>
              <a:srgbClr val="F9A8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56064" y="502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WORKBOOK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212080" cy="4297680"/>
          </a:xfrm>
          <a:prstGeom prst="rect">
            <a:avLst/>
          </a:prstGeom>
          <a:solidFill>
            <a:srgbClr val="F1F6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91640"/>
            <a:ext cx="109728" cy="4297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2402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can use CAD software to build a simple 3D model by combining and editing basic shapes.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68680" y="4251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5262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Engineers, architects, surgeons, game designers and product makers all use CAD. By the end of this unit, you'll do what they do — model it, then print it.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240280"/>
            <a:ext cx="5486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2240280"/>
            <a:ext cx="77724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240280"/>
            <a:ext cx="777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40880" y="224028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CAD program, place a shape, and move/rotate/scale it correctly.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26480" y="3520440"/>
            <a:ext cx="5486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3520440"/>
            <a:ext cx="777240" cy="10972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3520440"/>
            <a:ext cx="777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40880" y="352044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at least two shapes using Group, and cut a hole using the Hole tool.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4800600"/>
            <a:ext cx="54864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4800600"/>
            <a:ext cx="777240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4800600"/>
            <a:ext cx="777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40880" y="480060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alignment and the workplane to position shapes precisely, and start sketching ideas for your alien.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D9E2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863840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•  2 / 15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unit is heading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four double periods you'll learn to design, refine and print a 3D model. Today is Lesson 1: the basics.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97480" cy="3657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23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 to CAD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DF1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the workspace, place and edit primitive shapes, combine &amp; cut. (Today)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5257800"/>
            <a:ext cx="118872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257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219456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2423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611880" y="3154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Designing for print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11880" y="370332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of 3D printing: overhangs, supports, wall thickness, tolerances. Begin model.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219456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423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446520" y="3154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&amp; refine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46520" y="370332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Workplanes, alignment, dimensions, troubleshooting. Develop the design against the brief.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52560" y="219456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81160" y="2423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9281160" y="31546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 &amp; print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81160" y="3703320"/>
            <a:ext cx="2240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STL, preview in slicer, peer feedback, submit.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D9E2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863840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•  3 / 15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CAD?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326880" y="50292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FFF4DE"/>
          </a:solidFill>
          <a:ln w="15875">
            <a:solidFill>
              <a:srgbClr val="F9A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45752" y="603504"/>
            <a:ext cx="182880" cy="182880"/>
          </a:xfrm>
          <a:prstGeom prst="ellipse">
            <a:avLst/>
          </a:prstGeom>
          <a:solidFill>
            <a:srgbClr val="F9A826"/>
          </a:solidFill>
          <a:ln w="12700">
            <a:solidFill>
              <a:srgbClr val="F9A8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56064" y="502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WORKBOOK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7040880" cy="1463040"/>
          </a:xfrm>
          <a:prstGeom prst="rect">
            <a:avLst/>
          </a:prstGeom>
          <a:solidFill>
            <a:srgbClr val="F1F6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691640"/>
            <a:ext cx="109728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28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10312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 </a:t>
            </a:r>
            <a:pPr indent="0" marL="0">
              <a:buNone/>
            </a:pPr>
            <a:r>
              <a:rPr lang="en-US" sz="15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(Computer-Aided Design) is software used to create accurate 2D or 3D models of physical objects on a computer, before they are built or manufactured.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3566160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35935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accurate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42519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model to the exact millimetre. No more 'about that big.'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108960" y="3566160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749040" y="35935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editable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108960" y="42519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 number — the whole model updates. No starting over.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532120" y="3566160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72200" y="35935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shareable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532120" y="425196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can be sent to 3D printers, CNC machines or laser cutters.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863840" y="1691640"/>
            <a:ext cx="3749040" cy="4434840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SEE CAD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0" y="214884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BC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Buildings, bridges, fitouts.</a:t>
            </a:r>
            <a:endParaRPr lang="en-US" sz="135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BC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Cars, planes, machine parts.</a:t>
            </a:r>
            <a:endParaRPr lang="en-US" sz="135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BC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Prosthetics, dental crowns, implants.</a:t>
            </a:r>
            <a:endParaRPr lang="en-US" sz="135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&amp; VFX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BC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Characters, environments, props.</a:t>
            </a:r>
            <a:endParaRPr lang="en-US" sz="135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products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BCD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 case, your shoes, the chair you're sitting on.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D9E2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863840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•  4 / 15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your screen to a real object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326880" y="50292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FFF4DE"/>
          </a:solidFill>
          <a:ln w="15875">
            <a:solidFill>
              <a:srgbClr val="F9A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45752" y="603504"/>
            <a:ext cx="182880" cy="182880"/>
          </a:xfrm>
          <a:prstGeom prst="ellipse">
            <a:avLst/>
          </a:prstGeom>
          <a:solidFill>
            <a:srgbClr val="F9A826"/>
          </a:solidFill>
          <a:ln w="12700">
            <a:solidFill>
              <a:srgbClr val="F9A8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56064" y="502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WORKBOOK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246888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92024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3375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model in CAD software (e.g. Tinkercad).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45536" y="3520440"/>
            <a:ext cx="256032" cy="274320"/>
          </a:xfrm>
          <a:prstGeom prst="rightArrow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2286000"/>
            <a:ext cx="246888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0" y="192024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2900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EXPORT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11880" y="33375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model as an STL file — the standard for 3D printing.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34456" y="3520440"/>
            <a:ext cx="256032" cy="274320"/>
          </a:xfrm>
          <a:prstGeom prst="rightArrow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2286000"/>
            <a:ext cx="246888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86600" y="192024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SLICE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0" y="33375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slicer turns your STL into thin layers and sends them to the printer.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723376" y="3520440"/>
            <a:ext cx="256032" cy="274320"/>
          </a:xfrm>
          <a:prstGeom prst="rightArrow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06840" y="2286000"/>
            <a:ext cx="246888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75520" y="192024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00684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89720" y="33375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printer builds the object layer by layer, from the bottom up.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solidFill>
            <a:srgbClr val="F1F6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54864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term: </a:t>
            </a:r>
            <a:pPr indent="0" marL="0">
              <a:buNone/>
            </a:pPr>
            <a:r>
              <a:rPr lang="en-US" sz="13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— a file format that describes the surface of a 3D model as a mesh of triangles.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D9E2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863840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•  5 / 15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— THE TOOL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your workspace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00800" cy="4434840"/>
          </a:xfrm>
          <a:prstGeom prst="rect">
            <a:avLst/>
          </a:prstGeom>
          <a:solidFill>
            <a:srgbClr val="EAF2F4"/>
          </a:solidFill>
          <a:ln w="12700">
            <a:solidFill>
              <a:srgbClr val="CFDE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6400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E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190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  Edit   View   Help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0" y="2148840"/>
            <a:ext cx="14630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E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0" y="2194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23560" y="2560320"/>
            <a:ext cx="5029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2560320"/>
            <a:ext cx="50292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23560" y="3154680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3154680"/>
            <a:ext cx="502920" cy="457200"/>
          </a:xfrm>
          <a:prstGeom prst="rtTriangl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23560" y="3749040"/>
            <a:ext cx="502920" cy="457200"/>
          </a:xfrm>
          <a:prstGeom prst="hexagon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3749040"/>
            <a:ext cx="502920" cy="457200"/>
          </a:xfrm>
          <a:prstGeom prst="homePlat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2286000"/>
            <a:ext cx="45262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E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43025" y="2286000"/>
            <a:ext cx="0" cy="3703320"/>
          </a:xfrm>
          <a:prstGeom prst="line">
            <a:avLst/>
          </a:prstGeom>
          <a:noFill/>
          <a:ln w="6350">
            <a:solidFill>
              <a:srgbClr val="E2EB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8810" y="2286000"/>
            <a:ext cx="0" cy="3703320"/>
          </a:xfrm>
          <a:prstGeom prst="line">
            <a:avLst/>
          </a:prstGeom>
          <a:noFill/>
          <a:ln w="6350">
            <a:solidFill>
              <a:srgbClr val="E2EB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74595" y="2286000"/>
            <a:ext cx="0" cy="3703320"/>
          </a:xfrm>
          <a:prstGeom prst="line">
            <a:avLst/>
          </a:prstGeom>
          <a:noFill/>
          <a:ln w="6350">
            <a:solidFill>
              <a:srgbClr val="E2EB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40380" y="2286000"/>
            <a:ext cx="0" cy="3703320"/>
          </a:xfrm>
          <a:prstGeom prst="line">
            <a:avLst/>
          </a:prstGeom>
          <a:noFill/>
          <a:ln w="6350">
            <a:solidFill>
              <a:srgbClr val="E2EB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06165" y="2286000"/>
            <a:ext cx="0" cy="3703320"/>
          </a:xfrm>
          <a:prstGeom prst="line">
            <a:avLst/>
          </a:prstGeom>
          <a:noFill/>
          <a:ln w="6350">
            <a:solidFill>
              <a:srgbClr val="E2EB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71950" y="2286000"/>
            <a:ext cx="0" cy="3703320"/>
          </a:xfrm>
          <a:prstGeom prst="line">
            <a:avLst/>
          </a:prstGeom>
          <a:noFill/>
          <a:ln w="6350">
            <a:solidFill>
              <a:srgbClr val="E2EB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37735" y="2286000"/>
            <a:ext cx="0" cy="3703320"/>
          </a:xfrm>
          <a:prstGeom prst="line">
            <a:avLst/>
          </a:prstGeom>
          <a:noFill/>
          <a:ln w="6350">
            <a:solidFill>
              <a:srgbClr val="E2EB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2903220"/>
            <a:ext cx="4526280" cy="0"/>
          </a:xfrm>
          <a:prstGeom prst="line">
            <a:avLst/>
          </a:prstGeom>
          <a:noFill/>
          <a:ln w="6350">
            <a:solidFill>
              <a:srgbClr val="E2EB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3520440"/>
            <a:ext cx="4526280" cy="0"/>
          </a:xfrm>
          <a:prstGeom prst="line">
            <a:avLst/>
          </a:prstGeom>
          <a:noFill/>
          <a:ln w="6350">
            <a:solidFill>
              <a:srgbClr val="E2EB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137660"/>
            <a:ext cx="4526280" cy="0"/>
          </a:xfrm>
          <a:prstGeom prst="line">
            <a:avLst/>
          </a:prstGeom>
          <a:noFill/>
          <a:ln w="6350">
            <a:solidFill>
              <a:srgbClr val="E2EB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7240" y="4754880"/>
            <a:ext cx="4526280" cy="0"/>
          </a:xfrm>
          <a:prstGeom prst="line">
            <a:avLst/>
          </a:prstGeom>
          <a:noFill/>
          <a:ln w="6350">
            <a:solidFill>
              <a:srgbClr val="E2EB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372100"/>
            <a:ext cx="4526280" cy="0"/>
          </a:xfrm>
          <a:prstGeom prst="line">
            <a:avLst/>
          </a:prstGeom>
          <a:noFill/>
          <a:ln w="6350">
            <a:solidFill>
              <a:srgbClr val="E2EB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94560" y="3840480"/>
            <a:ext cx="1645920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51760" y="416052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57984" y="3803904"/>
            <a:ext cx="73152" cy="73152"/>
          </a:xfrm>
          <a:prstGeom prst="rect">
            <a:avLst/>
          </a:prstGeom>
          <a:solidFill>
            <a:srgbClr val="FFFFFF"/>
          </a:solidFill>
          <a:ln w="9525">
            <a:solidFill>
              <a:srgbClr val="0F1F2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03904" y="3803904"/>
            <a:ext cx="73152" cy="73152"/>
          </a:xfrm>
          <a:prstGeom prst="rect">
            <a:avLst/>
          </a:prstGeom>
          <a:solidFill>
            <a:srgbClr val="FFFFFF"/>
          </a:solidFill>
          <a:ln w="9525">
            <a:solidFill>
              <a:srgbClr val="0F1F2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57984" y="5084064"/>
            <a:ext cx="73152" cy="73152"/>
          </a:xfrm>
          <a:prstGeom prst="rect">
            <a:avLst/>
          </a:prstGeom>
          <a:solidFill>
            <a:srgbClr val="FFFFFF"/>
          </a:solidFill>
          <a:ln w="9525">
            <a:solidFill>
              <a:srgbClr val="0F1F2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03904" y="5084064"/>
            <a:ext cx="73152" cy="73152"/>
          </a:xfrm>
          <a:prstGeom prst="rect">
            <a:avLst/>
          </a:prstGeom>
          <a:solidFill>
            <a:srgbClr val="FFFFFF"/>
          </a:solidFill>
          <a:ln w="9525">
            <a:solidFill>
              <a:srgbClr val="0F1F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78040" y="1783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parts of the workspace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178040" y="23317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780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772400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Shapes panel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772400" y="2606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primitives onto the workplane.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178040" y="329184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780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772400" y="3246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Workplane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772400" y="35661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'ground' your model sits on.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178040" y="425196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780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772400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Selected object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772400" y="45262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select; drag corners to resize.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178040" y="521208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7804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772400" y="5166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Hole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772400" y="54864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shape marked as 'Hole' removes material when grouped.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D9E2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863840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•  6 / 15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 &amp; MODELLING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core moves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326880" y="50292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FFF4DE"/>
          </a:solidFill>
          <a:ln w="15875">
            <a:solidFill>
              <a:srgbClr val="F9A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45752" y="603504"/>
            <a:ext cx="182880" cy="182880"/>
          </a:xfrm>
          <a:prstGeom prst="ellipse">
            <a:avLst/>
          </a:prstGeom>
          <a:solidFill>
            <a:srgbClr val="F9A826"/>
          </a:solidFill>
          <a:ln w="12700">
            <a:solidFill>
              <a:srgbClr val="F9A8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56064" y="502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WORKBOOK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83080"/>
            <a:ext cx="361188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Reposition the object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4023360"/>
            <a:ext cx="822960" cy="822960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3383280"/>
            <a:ext cx="82296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25880" y="4434840"/>
            <a:ext cx="685800" cy="-64008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822960" y="49377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51663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&amp; drag  •  Arrow keys (1mm)  •  Shift+Arrow (10mm)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54864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5715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black cone above the object to move it up in the Z axis (height).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297680" y="1783080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0" y="1783080"/>
            <a:ext cx="361188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21031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ROTATE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72000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around an axis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3749040"/>
            <a:ext cx="822960" cy="822960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100000">
            <a:off x="5943600" y="3749040"/>
            <a:ext cx="82296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97880" y="3474720"/>
            <a:ext cx="914400" cy="914400"/>
          </a:xfrm>
          <a:prstGeom prst="block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49377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0" y="51663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curved arrow handles  •  Snaps every 22.5°  •  Shift = no snap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0" y="54864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5715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axes: X (red), Y (green), Z (blue). Try rotating in each.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46720" y="1783080"/>
            <a:ext cx="36118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1783080"/>
            <a:ext cx="361188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21031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321040" y="26060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the object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503920" y="4114800"/>
            <a:ext cx="640080" cy="640080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326880" y="3474720"/>
            <a:ext cx="1280160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89720" y="4709160"/>
            <a:ext cx="137160" cy="-114300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8321040" y="49377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21040" y="51663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corner / edge handles  •  Type exact mm in the inspector  •  Shift = uniform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321040" y="54864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321040" y="5715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proportions: drag a corner handle while holding Shift.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D9E2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863840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•  7 / 15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 &amp; MODELLING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Solids, holes &amp; grouping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326880" y="50292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FFF4DE"/>
          </a:solidFill>
          <a:ln w="15875">
            <a:solidFill>
              <a:srgbClr val="F9A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45752" y="603504"/>
            <a:ext cx="182880" cy="182880"/>
          </a:xfrm>
          <a:prstGeom prst="ellipse">
            <a:avLst/>
          </a:prstGeom>
          <a:solidFill>
            <a:srgbClr val="F9A826"/>
          </a:solidFill>
          <a:ln w="12700">
            <a:solidFill>
              <a:srgbClr val="F9A8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56064" y="502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WORKBOOK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shape is either a </a:t>
            </a:r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</a:t>
            </a:r>
            <a:pPr indent="0" marL="0">
              <a:buNone/>
            </a:pPr>
            <a:r>
              <a:rPr lang="en-US" sz="15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(it adds material) or a </a:t>
            </a:r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 </a:t>
            </a:r>
            <a:pPr indent="0" marL="0">
              <a:buNone/>
            </a:pPr>
            <a:r>
              <a:rPr lang="en-US" sz="15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(it removes material). They only combine when you </a:t>
            </a:r>
            <a:pPr indent="0" marL="0">
              <a:buNone/>
            </a:pPr>
            <a:r>
              <a:rPr lang="en-US" sz="15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</a:t>
            </a:r>
            <a:pPr indent="0" marL="0">
              <a:buNone/>
            </a:pPr>
            <a:r>
              <a:rPr lang="en-US" sz="15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them. Group again to nest, </a:t>
            </a:r>
            <a:pPr indent="0" marL="0">
              <a:buNone/>
            </a:pPr>
            <a:r>
              <a:rPr lang="en-US" sz="15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Ungroup </a:t>
            </a:r>
            <a:pPr indent="0" marL="0">
              <a:buNone/>
            </a:pPr>
            <a:r>
              <a:rPr lang="en-US" sz="15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separate.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926080"/>
            <a:ext cx="33832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Solid + Hole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63040" y="3931920"/>
            <a:ext cx="1280160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4297680"/>
            <a:ext cx="777240" cy="7772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4297680"/>
            <a:ext cx="-365760" cy="365760"/>
          </a:xfrm>
          <a:prstGeom prst="line">
            <a:avLst/>
          </a:prstGeom>
          <a:noFill/>
          <a:ln w="7620">
            <a:solidFill>
              <a:srgbClr val="C039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4297680"/>
            <a:ext cx="-365760" cy="365760"/>
          </a:xfrm>
          <a:prstGeom prst="line">
            <a:avLst/>
          </a:prstGeom>
          <a:noFill/>
          <a:ln w="7620">
            <a:solidFill>
              <a:srgbClr val="C039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4297680"/>
            <a:ext cx="-365760" cy="365760"/>
          </a:xfrm>
          <a:prstGeom prst="line">
            <a:avLst/>
          </a:prstGeom>
          <a:noFill/>
          <a:ln w="7620">
            <a:solidFill>
              <a:srgbClr val="C039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4297680"/>
            <a:ext cx="-365760" cy="365760"/>
          </a:xfrm>
          <a:prstGeom prst="line">
            <a:avLst/>
          </a:prstGeom>
          <a:noFill/>
          <a:ln w="7620">
            <a:solidFill>
              <a:srgbClr val="C039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4297680"/>
            <a:ext cx="-365760" cy="365760"/>
          </a:xfrm>
          <a:prstGeom prst="line">
            <a:avLst/>
          </a:prstGeom>
          <a:noFill/>
          <a:ln w="762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03320" y="4297680"/>
            <a:ext cx="-365760" cy="365760"/>
          </a:xfrm>
          <a:prstGeom prst="line">
            <a:avLst/>
          </a:prstGeom>
          <a:noFill/>
          <a:ln w="762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760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objects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17720" y="2926080"/>
            <a:ext cx="33832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Drag together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15000" y="3931920"/>
            <a:ext cx="1280160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4297680"/>
            <a:ext cx="777240" cy="7772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C039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4297680"/>
            <a:ext cx="-365760" cy="365760"/>
          </a:xfrm>
          <a:prstGeom prst="line">
            <a:avLst/>
          </a:prstGeom>
          <a:noFill/>
          <a:ln w="7620">
            <a:solidFill>
              <a:srgbClr val="C039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4297680"/>
            <a:ext cx="-365760" cy="365760"/>
          </a:xfrm>
          <a:prstGeom prst="line">
            <a:avLst/>
          </a:prstGeom>
          <a:noFill/>
          <a:ln w="7620">
            <a:solidFill>
              <a:srgbClr val="C039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4297680"/>
            <a:ext cx="-365760" cy="365760"/>
          </a:xfrm>
          <a:prstGeom prst="line">
            <a:avLst/>
          </a:prstGeom>
          <a:noFill/>
          <a:ln w="7620">
            <a:solidFill>
              <a:srgbClr val="C039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37960" y="4297680"/>
            <a:ext cx="-365760" cy="365760"/>
          </a:xfrm>
          <a:prstGeom prst="line">
            <a:avLst/>
          </a:prstGeom>
          <a:noFill/>
          <a:ln w="7620">
            <a:solidFill>
              <a:srgbClr val="C039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0" y="4297680"/>
            <a:ext cx="-365760" cy="365760"/>
          </a:xfrm>
          <a:prstGeom prst="line">
            <a:avLst/>
          </a:prstGeom>
          <a:noFill/>
          <a:ln w="7620">
            <a:solidFill>
              <a:srgbClr val="C039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12280" y="4297680"/>
            <a:ext cx="-365760" cy="365760"/>
          </a:xfrm>
          <a:prstGeom prst="line">
            <a:avLst/>
          </a:prstGeom>
          <a:noFill/>
          <a:ln w="762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5760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— but still separate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412480" y="2926080"/>
            <a:ext cx="33832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3063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Group (Ctrl+G)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509760" y="3931920"/>
            <a:ext cx="1280160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21240" y="429768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0" y="5760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 removed → one new shape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D9E2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863840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•  8 / 15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— WE 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Walkthrough: build a name tile (10 min)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on your screen. I'll model it on the projector first, then you'll try.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6118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2860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2402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Drag a Box onto the workplane.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28803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to 60 mm × 25 mm × 4 mm.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011680"/>
            <a:ext cx="36118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2860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22402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Drag the Text shape on top.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28803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first name. Move it up 1 mm.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2011680"/>
            <a:ext cx="36118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75320" y="22860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961120" y="22402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Resize the text to fit.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0" y="28803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margins of ~3 mm on every side.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36118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38912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43434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a Cylinder for a keyring hole.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49834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it to Hole. Diameter 5 mm.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97680" y="4114800"/>
            <a:ext cx="36118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26280" y="438912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212080" y="43434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Position the cylinder near one end.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12080" y="49834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it goes all the way through.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46720" y="4114800"/>
            <a:ext cx="36118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75320" y="438912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7532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961120" y="43434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all and Group (Ctrl+G).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961120" y="49834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tile is now a single object.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solidFill>
            <a:srgbClr val="F1F6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59893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</a:t>
            </a:r>
            <a:pPr indent="0" marL="0"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measurements in CAD use millimetres (mm). Watch the inspector panel to type exact sizes.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D9E2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863840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•  9 / 15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 — YOU 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task: differentiated (35 min)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level that pushes you a little — but is still finishable today. You can always level up.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61188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36118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116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stamp tile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40×40×5 mm tile with a raised letter or symbol on top.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1148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checks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438912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is exactly 40×40×5 mm.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is raised by 2 mm.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is centred on the workplane.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parts are grouped into one solid.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43400" y="2011680"/>
            <a:ext cx="361188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2011680"/>
            <a:ext cx="3611880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20116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6517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a keychain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0" y="31546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60×25×4 mm keychain with your name and a 5 mm hole at one end.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0" y="41148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checks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438912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legible and ≥ 4 mm tall.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 goes all the way through.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 is positioned safely (≥ 5 mm from any edge).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object is a single grouped solid.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2011680"/>
            <a:ext cx="361188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2011680"/>
            <a:ext cx="361188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20116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66760" y="26517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Alien head prototype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66760" y="315468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keychain. Start your unit project early — model an alien head only (3–6 parts).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66760" y="41148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checks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66760" y="438912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three primitive shapes used.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Hole used (e.g. mouth or eye socket).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Align or rotation to position parts.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with a clear file name for next lesson.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D9E2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863840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•  10 / 15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 — YOUR UNIT PROJECT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Brief: design an alien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326880" y="50292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FFF4DE"/>
          </a:solidFill>
          <a:ln w="15875">
            <a:solidFill>
              <a:srgbClr val="F9A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45752" y="603504"/>
            <a:ext cx="182880" cy="182880"/>
          </a:xfrm>
          <a:prstGeom prst="ellipse">
            <a:avLst/>
          </a:prstGeom>
          <a:solidFill>
            <a:srgbClr val="F9A826"/>
          </a:solidFill>
          <a:ln w="12700">
            <a:solidFill>
              <a:srgbClr val="F9A8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56064" y="502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WORKBOOK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6400800" cy="4434840"/>
          </a:xfrm>
          <a:prstGeom prst="rect">
            <a:avLst/>
          </a:prstGeom>
          <a:solidFill>
            <a:srgbClr val="0F1F2E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288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and 3D-print an original alien — a creature that has never been seen before.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34747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alien's body must be made by combining basic 3D shapes — keep your part count low so each shape is a deliberate choice.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44348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4736592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F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5 parts, maximum 12 parts (count solids + holes).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F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inside an 80 × 80 × 80 mm bounding box.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F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at least one Hole (a mouth, eye socket, nostril…).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F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Stands or sits on its own — no support material needed.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F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as an STL file by end of Lesson 4.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a good alien?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132320" y="2286000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68096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Strange, but believable.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680960" y="253288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should feel like it could survive somewhere — even if that somewhere is weird.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32320" y="3246120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3246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80960" y="3200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from simple shapes.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80960" y="34930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Cylinders for legs, spheres for eyes — show the parts working together.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132320" y="4206240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4206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80960" y="4160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bold idea.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80960" y="44531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eyes? Stacked heads? Suction-cup feet? Commit to a choice.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132320" y="5440680"/>
            <a:ext cx="4480560" cy="685800"/>
          </a:xfrm>
          <a:prstGeom prst="rect">
            <a:avLst/>
          </a:prstGeom>
          <a:solidFill>
            <a:srgbClr val="F1F6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544068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economy: </a:t>
            </a:r>
            <a:pPr indent="0" marL="0">
              <a:buNone/>
            </a:pPr>
            <a:r>
              <a:rPr lang="en-US" sz="11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shape should earn its place. Five clever parts beats fifteen messy ones.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D9E2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863840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•  11 / 15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THE 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from primitives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326880" y="50292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FFF4DE"/>
          </a:solidFill>
          <a:ln w="15875">
            <a:solidFill>
              <a:srgbClr val="F9A8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45752" y="603504"/>
            <a:ext cx="182880" cy="182880"/>
          </a:xfrm>
          <a:prstGeom prst="ellipse">
            <a:avLst/>
          </a:prstGeom>
          <a:solidFill>
            <a:srgbClr val="F9A826"/>
          </a:solidFill>
          <a:ln w="12700">
            <a:solidFill>
              <a:srgbClr val="F9A8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56064" y="5029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WORKBOOK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any creature you can imagine can be built from these basic shapes. Mix and match.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36118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331720"/>
            <a:ext cx="1097280" cy="10972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474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23317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Heads, eyes, bellies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03120" y="28346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Squash or stretch for an egg-shape.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97680" y="2057400"/>
            <a:ext cx="36118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2468880"/>
            <a:ext cx="64008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2377440"/>
            <a:ext cx="640080" cy="2286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3154680"/>
            <a:ext cx="640080" cy="2286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474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52160" y="23317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Legs, arms, antennae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852160" y="28346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Tilt them to suggest movement.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46720" y="2057400"/>
            <a:ext cx="36118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12480" y="2331720"/>
            <a:ext cx="914400" cy="1097280"/>
          </a:xfrm>
          <a:prstGeom prst="triangle">
            <a:avLst/>
          </a:prstGeom>
          <a:solidFill>
            <a:srgbClr val="028090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3474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0" y="23317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Horns, claws, spikes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01200" y="28346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several for a fearsome look.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36118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4663440"/>
            <a:ext cx="73152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5840" y="4480560"/>
            <a:ext cx="731520" cy="274320"/>
          </a:xfrm>
          <a:prstGeom prst="parallelogram">
            <a:avLst/>
          </a:prstGeom>
          <a:solidFill>
            <a:srgbClr val="00A896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532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03120" y="4389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Torsos, jaws, teeth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103120" y="48920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45° for a diamond shape.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297680" y="4114800"/>
            <a:ext cx="36118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4389120"/>
            <a:ext cx="1097280" cy="1097280"/>
          </a:xfrm>
          <a:prstGeom prst="donut">
            <a:avLst/>
          </a:prstGeom>
          <a:solidFill>
            <a:srgbClr val="028090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5532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TORUS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52160" y="4389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Collars, gills, rings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852160" y="48920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Doubles as a halo or jet exhaust.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046720" y="4114800"/>
            <a:ext cx="36118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21040" y="4389120"/>
            <a:ext cx="1097280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F1F2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95360" y="466344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21040" y="5532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601200" y="43891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Mouths, eye sockets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601200" y="48920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into solids to add detail without adding bulk.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D9E2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863840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•  12 / 15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RUN SHEET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100 minutes flows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0–10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1783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&amp; objective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0" y="1783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CAD? Why does it matter? Today's success criteria.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1064240" cy="548640"/>
          </a:xfrm>
          <a:prstGeom prst="rect">
            <a:avLst/>
          </a:prstGeom>
          <a:solidFill>
            <a:srgbClr val="F1F6F8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77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10–25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2377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teaching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0" y="23774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tour, the three core moves, solids vs holes.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11064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718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25–40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86000" y="29718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— name tile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29718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Teacher-led walkthrough on the projector; students follow.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11064240" cy="548640"/>
          </a:xfrm>
          <a:prstGeom prst="rect">
            <a:avLst/>
          </a:prstGeom>
          <a:solidFill>
            <a:srgbClr val="F1F6F8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5661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40–75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286000" y="3566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— practice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35661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task at your chosen tier. Teacher circulates.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11064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1605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75–85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286000" y="4160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&amp; share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41605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partner. Compare against the success criteria.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11064240" cy="548640"/>
          </a:xfrm>
          <a:prstGeom prst="rect">
            <a:avLst/>
          </a:prstGeom>
          <a:solidFill>
            <a:srgbClr val="F1F6F8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754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85–95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286000" y="4754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Alien thinking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0" y="47548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two alien ideas in your workbook. Label the shapes you'd use.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6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53492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95–100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286000" y="5349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0" y="53492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stars and a wish — submit before you leave.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D9E2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863840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•  13 / 15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Exit ticket — last 5 minutes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583680" cy="4389120"/>
          </a:xfrm>
          <a:prstGeom prst="rect">
            <a:avLst/>
          </a:prstGeom>
          <a:solidFill>
            <a:srgbClr val="F1F6F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stars and a wish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</a:t>
            </a:r>
            <a:pPr indent="0" marL="0">
              <a:buNone/>
            </a:pPr>
            <a:r>
              <a:rPr lang="en-US" sz="14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you can now do in CAD that you couldn't this morning.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</a:t>
            </a:r>
            <a:pPr indent="0" marL="0">
              <a:buNone/>
            </a:pPr>
            <a:r>
              <a:rPr lang="en-US" sz="14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about your model you're proud of.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</a:t>
            </a:r>
            <a:pPr indent="0" marL="0">
              <a:buNone/>
            </a:pPr>
            <a:r>
              <a:rPr lang="en-US" sz="14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you still need help with — be specific.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534924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 the slip into your workbook on page 1.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06640" y="1783080"/>
            <a:ext cx="42062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1920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89520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the boxes you've met: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0" y="278892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01000" y="275234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place and edit shapes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589520" y="333756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330098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move, rotate, scale precisely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589520" y="388620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0" y="384962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combine shapes with Group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589520" y="443484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01000" y="439826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cut a Hole through a solid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589520" y="498348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1000" y="494690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I've sketched an alien idea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9525">
            <a:solidFill>
              <a:srgbClr val="D9E2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9 Design &amp; Technologies  •  Unit: 3D Modelling with CAD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863840" y="6473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82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 •  14 / 15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Designing for the printer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971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some models print beautifully — and others fall over.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023360"/>
            <a:ext cx="3520440" cy="18288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251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Bring a sketch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4800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rough alien ideas, with dimensions in mm. Aim for 5–12 parts.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4023360"/>
            <a:ext cx="3520440" cy="18288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251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Bring questions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09160" y="4800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from today you want me to walk through again.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0" y="4023360"/>
            <a:ext cx="3520440" cy="18288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4251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Bring inspiration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503920" y="4800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or drawing of a real creature you could remix into your alien.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6400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400" kern="0" dirty="0">
                <a:solidFill>
                  <a:srgbClr val="8FB3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of 4  •  Unit: 3D Modelling with CAD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1: Intro to 3D Modelling with CAD</dc:title>
  <dc:subject>PptxGenJS Presentation</dc:subject>
  <dc:creator>Year 9 Design &amp; Tech</dc:creator>
  <cp:lastModifiedBy>Year 9 Design &amp; Tech</cp:lastModifiedBy>
  <cp:revision>1</cp:revision>
  <dcterms:created xsi:type="dcterms:W3CDTF">2026-05-11T22:17:11Z</dcterms:created>
  <dcterms:modified xsi:type="dcterms:W3CDTF">2026-05-11T22:17:11Z</dcterms:modified>
</cp:coreProperties>
</file>