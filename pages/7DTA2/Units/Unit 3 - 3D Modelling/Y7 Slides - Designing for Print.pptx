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1116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22428"/>
          </a:solidFill>
          <a:ln w="12700">
            <a:solidFill>
              <a:srgbClr val="12242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 rot="2700000">
            <a:off x="7178040" y="548640"/>
            <a:ext cx="1371600" cy="1371600"/>
          </a:xfrm>
          <a:prstGeom prst="rect">
            <a:avLst/>
          </a:prstGeom>
          <a:solidFill>
            <a:srgbClr val="005F6B"/>
          </a:solidFill>
          <a:ln w="12700">
            <a:solidFill>
              <a:srgbClr val="005F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 rot="2700000">
            <a:off x="7498080" y="1645920"/>
            <a:ext cx="9144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 rot="2700000">
            <a:off x="7223760" y="2651760"/>
            <a:ext cx="64008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57200" y="4114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03  •  LESSON 2 OF 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for print: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printer</a:t>
            </a:r>
            <a:endParaRPr lang="en-US" sz="4000" dirty="0"/>
          </a:p>
          <a:p>
            <a:pPr marL="0" indent="0">
              <a:buNone/>
            </a:pPr>
            <a:r>
              <a:rPr lang="en-US" sz="40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&amp; can't do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Constraints, print rules, and designing your alien for real-world printing.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Double period (100 minutes)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164592"/>
            <a:ext cx="1645920" cy="256032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22376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47472" y="1371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LESSON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3474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 and how you'll know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4114800" cy="1417320"/>
          </a:xfrm>
          <a:prstGeom prst="rect">
            <a:avLst/>
          </a:prstGeom>
          <a:solidFill>
            <a:srgbClr val="1A3035"/>
          </a:solidFill>
          <a:ln w="12700">
            <a:solidFill>
              <a:srgbClr val="1A30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identify 3D printing constraints and apply them to my alien design.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" y="260604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281635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looks great on screen can still fail at the printer. Understanding print constraints before you build saves you time, wasted plastic, and a very disappointing alien.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078992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316736"/>
            <a:ext cx="658368" cy="9875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709160" y="1316736"/>
            <a:ext cx="65836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67528" y="1316736"/>
            <a:ext cx="35021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504688" y="1426464"/>
            <a:ext cx="3246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overhangs, wall thickness and tolerances in my own words.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432304"/>
            <a:ext cx="658368" cy="9875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4709160" y="2432304"/>
            <a:ext cx="65836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67528" y="2432304"/>
            <a:ext cx="35021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5504688" y="2542032"/>
            <a:ext cx="3246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my alien with labelled dimensions and a parts list within the 5–12 limit.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547872"/>
            <a:ext cx="658368" cy="987552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4709160" y="3547872"/>
            <a:ext cx="65836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67528" y="3547872"/>
            <a:ext cx="35021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5504688" y="3657600"/>
            <a:ext cx="32461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building in CAD and identify at least one printability risk in my design.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" y="48920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15200" y="48920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 •  2  •  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371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47472" y="3474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unit is heading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102412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four double periods you'll learn to design, refine and print a 3D model. Today is Lesson 2: printing constraints.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17320"/>
            <a:ext cx="2029968" cy="2926080"/>
          </a:xfrm>
          <a:prstGeom prst="rect">
            <a:avLst/>
          </a:prstGeom>
          <a:solidFill>
            <a:srgbClr val="1A3035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47472" y="150876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CAD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workspace, place and edit primitive shapes, combine &amp; cut.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23744" y="1417320"/>
            <a:ext cx="2029968" cy="2926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2523744" y="150876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33472" y="205740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for print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33472" y="2633472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Overhangs, wall thickness, tolerances. Master sketch &amp; specimen card.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23744" y="4005072"/>
            <a:ext cx="2029968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2523744" y="400507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0016" y="1417320"/>
            <a:ext cx="20299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700016" y="150876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09744" y="205740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refine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9744" y="2633472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Workplanes, alignment, dimensions, troubleshooting. Develop against the brief.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76288" y="1417320"/>
            <a:ext cx="20299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876288" y="150876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86016" y="205740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print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86016" y="2633472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STL, preview in slicer, peer feedback, submit.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" y="48920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0" y="48920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 •  3  •  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164592"/>
            <a:ext cx="1645920" cy="256032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22376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47472" y="1371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3474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some models fail at the printer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47472" y="1024128"/>
            <a:ext cx="8449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FDM printers build objects layer-by-layer from the bottom up. The printer can only place new plastic on top of something solid. That one rule creates three main problems.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272491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38912" y="1572768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Overhangs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" y="1956816"/>
            <a:ext cx="272491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75488" y="2048256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surface leaning more than 45° from vertical has no support beneath it — the plastic droops or snaps off.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27832" y="1572768"/>
            <a:ext cx="2724912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3319272" y="1572768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Thin walls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27832" y="1956816"/>
            <a:ext cx="272491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3355848" y="2048256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 under ~1.5 mm are too thin to be printed reliably and break easily once cool. They may not print at all.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08192" y="1572768"/>
            <a:ext cx="2724912" cy="384048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6199632" y="1572768"/>
            <a:ext cx="25420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Floating parts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08192" y="1956816"/>
            <a:ext cx="272491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6236208" y="2048256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shape that doesn't connect to the base or another shape will fall when gravity takes over. Every part needs to be anchored.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" y="3547872"/>
            <a:ext cx="8449056" cy="822960"/>
          </a:xfrm>
          <a:prstGeom prst="rect">
            <a:avLst/>
          </a:prstGeom>
          <a:solidFill>
            <a:srgbClr val="1A3035"/>
          </a:solidFill>
          <a:ln w="12700">
            <a:solidFill>
              <a:srgbClr val="1A30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548640" y="3584448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unit: no support material allowed. Your alien must stand on its own and pass the 45° rule.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7472" y="48920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0" y="48920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 •  4  •  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164592"/>
            <a:ext cx="1645920" cy="256032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22376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47472" y="1371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 &amp; MODELLING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3474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45° rule — overhangs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47472" y="10972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298448"/>
            <a:ext cx="4114800" cy="1005840"/>
          </a:xfrm>
          <a:prstGeom prst="rect">
            <a:avLst/>
          </a:prstGeom>
          <a:solidFill>
            <a:srgbClr val="E8F4F6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75488" y="1371600"/>
            <a:ext cx="385876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overhang is any part of your model that extends outward beyond the layer below it. FDM printers can handle overhangs up to about 45° — beyond that, the plastic sags.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2487168"/>
            <a:ext cx="164592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347472" y="2788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— ≤45°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05F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731520" y="2816352"/>
            <a:ext cx="50292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05F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1005840" y="2615184"/>
            <a:ext cx="50292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05F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1280160" y="2414016"/>
            <a:ext cx="50292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05F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347472" y="3246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sits on the one below — printer is happy.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67712" y="2487168"/>
            <a:ext cx="1645920" cy="25603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2267712" y="2788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— &gt;45°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31720" y="3017520"/>
            <a:ext cx="502920" cy="182880"/>
          </a:xfrm>
          <a:prstGeom prst="rect">
            <a:avLst/>
          </a:prstGeom>
          <a:solidFill>
            <a:srgbClr val="CC3333"/>
          </a:solidFill>
          <a:ln w="12700">
            <a:solidFill>
              <a:srgbClr val="AA222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2788920" y="2926080"/>
            <a:ext cx="502920" cy="182880"/>
          </a:xfrm>
          <a:prstGeom prst="rect">
            <a:avLst/>
          </a:prstGeom>
          <a:solidFill>
            <a:srgbClr val="CC3333"/>
          </a:solidFill>
          <a:ln w="12700">
            <a:solidFill>
              <a:srgbClr val="AA222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3246120" y="2834640"/>
            <a:ext cx="502920" cy="182880"/>
          </a:xfrm>
          <a:prstGeom prst="rect">
            <a:avLst/>
          </a:prstGeom>
          <a:solidFill>
            <a:srgbClr val="CC3333"/>
          </a:solidFill>
          <a:ln w="12700">
            <a:solidFill>
              <a:srgbClr val="AA222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3703320" y="2743200"/>
            <a:ext cx="502920" cy="182880"/>
          </a:xfrm>
          <a:prstGeom prst="rect">
            <a:avLst/>
          </a:prstGeom>
          <a:solidFill>
            <a:srgbClr val="CC3333"/>
          </a:solidFill>
          <a:ln w="12700">
            <a:solidFill>
              <a:srgbClr val="AA222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2267712" y="3246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layers hang in mid-air — plastic sags or snaps.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107899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FIX 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316736"/>
            <a:ext cx="36576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4919472" y="1353312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the part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19472" y="1636776"/>
            <a:ext cx="3858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 limbs or spikes inward so they lean at ≤45° from the base.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395728"/>
            <a:ext cx="36576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4919472" y="2432304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the shape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9472" y="2715768"/>
            <a:ext cx="3858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an outstretched arm with a bent one that curves down, not out.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474720"/>
            <a:ext cx="36576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4919472" y="3511296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built-in support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19472" y="3794760"/>
            <a:ext cx="3858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thin connecting strut (≥1.5 mm) to bridge between parts — design it as part of the creature.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7472" y="48920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15200" y="48920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 •  5  •  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164592"/>
            <a:ext cx="1645920" cy="256032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22376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47472" y="1371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 &amp; MODELLING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3474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thickness &amp; tolerances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411480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347472" y="109728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THICKNESS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1481328"/>
            <a:ext cx="4114800" cy="438912"/>
          </a:xfrm>
          <a:prstGeom prst="rect">
            <a:avLst/>
          </a:prstGeom>
          <a:solidFill>
            <a:srgbClr val="E8F4F6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347472" y="1481328"/>
            <a:ext cx="1005840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365760" y="1481328"/>
            <a:ext cx="9692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1.5 mm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26464" y="1481328"/>
            <a:ext cx="2907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wall for a solid, reliable print.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1956816"/>
            <a:ext cx="4114800" cy="438912"/>
          </a:xfrm>
          <a:prstGeom prst="rect">
            <a:avLst/>
          </a:prstGeom>
          <a:solidFill>
            <a:srgbClr val="FFF0EE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347472" y="1956816"/>
            <a:ext cx="1005840" cy="438912"/>
          </a:xfrm>
          <a:prstGeom prst="rect">
            <a:avLst/>
          </a:prstGeom>
          <a:solidFill>
            <a:srgbClr val="DD4444"/>
          </a:solidFill>
          <a:ln w="12700">
            <a:solidFill>
              <a:srgbClr val="DD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365760" y="1956816"/>
            <a:ext cx="9692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– 1.5 mm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26464" y="1956816"/>
            <a:ext cx="2907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— will probably print but may snap.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2432304"/>
            <a:ext cx="4114800" cy="438912"/>
          </a:xfrm>
          <a:prstGeom prst="rect">
            <a:avLst/>
          </a:prstGeom>
          <a:solidFill>
            <a:srgbClr val="FFF0EE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347472" y="2432304"/>
            <a:ext cx="1005840" cy="438912"/>
          </a:xfrm>
          <a:prstGeom prst="rect">
            <a:avLst/>
          </a:prstGeom>
          <a:solidFill>
            <a:srgbClr val="DD4444"/>
          </a:solidFill>
          <a:ln w="12700">
            <a:solidFill>
              <a:srgbClr val="DD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365760" y="2432304"/>
            <a:ext cx="9692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1.0 mm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26464" y="2432304"/>
            <a:ext cx="2907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won't print at all.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" y="29443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Embossed text or raised details ≥ 1 mm. Engraved/cut details ≥ 0.5 mm.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73168" y="1097280"/>
            <a:ext cx="4078224" cy="329184"/>
          </a:xfrm>
          <a:prstGeom prst="rect">
            <a:avLst/>
          </a:prstGeom>
          <a:solidFill>
            <a:srgbClr val="1A3035"/>
          </a:solidFill>
          <a:ln w="12700">
            <a:solidFill>
              <a:srgbClr val="1A30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773168" y="1097280"/>
            <a:ext cx="4078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73168" y="1426464"/>
            <a:ext cx="407822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4919472" y="1517904"/>
            <a:ext cx="3803904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is the small gap you deliberately leave between parts that need to fit together or move independently.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leave 0.2 mm clearance between parts.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alien: tolerance matters if you design any joints, clip-together limbs, or attachable accessories.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" y="3364992"/>
            <a:ext cx="8449056" cy="1325880"/>
          </a:xfrm>
          <a:prstGeom prst="rect">
            <a:avLst/>
          </a:prstGeom>
          <a:solidFill>
            <a:srgbClr val="1A3035"/>
          </a:solidFill>
          <a:ln w="12700">
            <a:solidFill>
              <a:srgbClr val="1A30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30352" y="34290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RULES OF THUMB — COPY INTO WORKBOOK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" y="3675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Min wall: 1.5 mm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" y="39684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Overhang: ≤ 45°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" y="42611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Bridge: &lt; 5 mm span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3675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Tolerance: 0.2 mm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39684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First layer: wide and flat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42611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support material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7472" y="48920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15200" y="48920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 •  6  •  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371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 — CHECK FOR UNDERSTANDING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47472" y="3474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printability problems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987552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alien designs are shown. With a partner: identify which parts will fail and why. Write your answers in your workbook.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389888"/>
            <a:ext cx="4160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47472" y="138988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SPECIMEN α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80160" y="2011680"/>
            <a:ext cx="1371600" cy="1280160"/>
          </a:xfrm>
          <a:prstGeom prst="ellipse">
            <a:avLst/>
          </a:prstGeom>
          <a:solidFill>
            <a:srgbClr val="E8F4F6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1417320" y="2148840"/>
            <a:ext cx="292608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1828800" y="2148840"/>
            <a:ext cx="292608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1938528" y="1719072"/>
            <a:ext cx="45720" cy="320040"/>
          </a:xfrm>
          <a:prstGeom prst="rect">
            <a:avLst/>
          </a:prstGeom>
          <a:solidFill>
            <a:srgbClr val="DD4444"/>
          </a:solidFill>
          <a:ln w="12700">
            <a:solidFill>
              <a:srgbClr val="DD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1874520" y="1572768"/>
            <a:ext cx="164592" cy="164592"/>
          </a:xfrm>
          <a:prstGeom prst="ellipse">
            <a:avLst/>
          </a:prstGeom>
          <a:solidFill>
            <a:srgbClr val="DD4444"/>
          </a:solidFill>
          <a:ln w="12700">
            <a:solidFill>
              <a:srgbClr val="DD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2651760" y="2560320"/>
            <a:ext cx="731520" cy="109728"/>
          </a:xfrm>
          <a:prstGeom prst="rect">
            <a:avLst/>
          </a:prstGeom>
          <a:solidFill>
            <a:srgbClr val="DD4444"/>
          </a:solidFill>
          <a:ln w="12700">
            <a:solidFill>
              <a:srgbClr val="DD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3337560" y="2487168"/>
            <a:ext cx="201168" cy="201168"/>
          </a:xfrm>
          <a:prstGeom prst="ellipse">
            <a:avLst/>
          </a:prstGeom>
          <a:solidFill>
            <a:srgbClr val="DD4444"/>
          </a:solidFill>
          <a:ln w="12700">
            <a:solidFill>
              <a:srgbClr val="DD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1444752" y="3291840"/>
            <a:ext cx="201168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1901952" y="3291840"/>
            <a:ext cx="201168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77440" y="3749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389888"/>
            <a:ext cx="4160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4663440" y="138988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SPECIMEN 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1755648"/>
            <a:ext cx="3017520" cy="457200"/>
          </a:xfrm>
          <a:prstGeom prst="ellipse">
            <a:avLst/>
          </a:prstGeom>
          <a:solidFill>
            <a:srgbClr val="DD4444"/>
          </a:solidFill>
          <a:ln w="1905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6309360" y="2176272"/>
            <a:ext cx="45720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05F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5852160" y="3218688"/>
            <a:ext cx="1371600" cy="914400"/>
          </a:xfrm>
          <a:prstGeom prst="ellipse">
            <a:avLst/>
          </a:prstGeom>
          <a:solidFill>
            <a:srgbClr val="E8F4F6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6035040" y="3383280"/>
            <a:ext cx="256032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6400800" y="3383280"/>
            <a:ext cx="256032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4773168" y="3749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0" y="3749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" y="4663440"/>
            <a:ext cx="8449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change to fix each specimen? Discuss, then note your answer in your workbook.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48920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0" y="48920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 •  7  •  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164592"/>
            <a:ext cx="1645920" cy="256032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22376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47472" y="1371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BRIEF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3474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your alien — the specimen card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47472" y="987552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sketch, decide the key facts. This locks in your concept so your dimensions are intentional, not random.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325880"/>
            <a:ext cx="8449056" cy="274320"/>
          </a:xfrm>
          <a:prstGeom prst="rect">
            <a:avLst/>
          </a:prstGeom>
          <a:solidFill>
            <a:srgbClr val="1A3035"/>
          </a:solidFill>
          <a:ln w="12700">
            <a:solidFill>
              <a:srgbClr val="1A30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SPECIMEN CARD — FILL IN YOUR WORKBOOK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1627632"/>
            <a:ext cx="4023360" cy="420624"/>
          </a:xfrm>
          <a:prstGeom prst="rect">
            <a:avLst/>
          </a:prstGeom>
          <a:solidFill>
            <a:srgbClr val="E8F4F6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57200" y="162763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 (alien's name / species code)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0832" y="1627632"/>
            <a:ext cx="4425696" cy="420624"/>
          </a:xfrm>
          <a:prstGeom prst="rect">
            <a:avLst/>
          </a:prstGeom>
          <a:solidFill>
            <a:srgbClr val="FFFEF8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347472" y="2084832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57200" y="208483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environment (where does it live?)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70832" y="2084832"/>
            <a:ext cx="4425696" cy="420624"/>
          </a:xfrm>
          <a:prstGeom prst="rect">
            <a:avLst/>
          </a:prstGeom>
          <a:solidFill>
            <a:srgbClr val="FFFEF8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347472" y="2542032"/>
            <a:ext cx="4023360" cy="420624"/>
          </a:xfrm>
          <a:prstGeom prst="rect">
            <a:avLst/>
          </a:prstGeom>
          <a:solidFill>
            <a:srgbClr val="E8F4F6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57200" y="254203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/ energy source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70832" y="2542032"/>
            <a:ext cx="4425696" cy="420624"/>
          </a:xfrm>
          <a:prstGeom prst="rect">
            <a:avLst/>
          </a:prstGeom>
          <a:solidFill>
            <a:srgbClr val="FFFEF8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347472" y="2999232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457200" y="299923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eyes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70832" y="2999232"/>
            <a:ext cx="4425696" cy="420624"/>
          </a:xfrm>
          <a:prstGeom prst="rect">
            <a:avLst/>
          </a:prstGeom>
          <a:solidFill>
            <a:srgbClr val="FFFEF8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4462272" y="2999232"/>
            <a:ext cx="42428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limbs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" y="3456432"/>
            <a:ext cx="4023360" cy="420624"/>
          </a:xfrm>
          <a:prstGeom prst="rect">
            <a:avLst/>
          </a:prstGeom>
          <a:solidFill>
            <a:srgbClr val="E8F4F6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457200" y="345643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Distinctive feature (the bold, memorable design choice)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0832" y="3456432"/>
            <a:ext cx="4425696" cy="420624"/>
          </a:xfrm>
          <a:prstGeom prst="rect">
            <a:avLst/>
          </a:prstGeom>
          <a:solidFill>
            <a:srgbClr val="FFFEF8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347472" y="3913632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457200" y="391363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part count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70832" y="3913632"/>
            <a:ext cx="4425696" cy="420624"/>
          </a:xfrm>
          <a:prstGeom prst="rect">
            <a:avLst/>
          </a:prstGeom>
          <a:solidFill>
            <a:srgbClr val="FFFEF8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4462272" y="3913632"/>
            <a:ext cx="42428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12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" y="4370832"/>
            <a:ext cx="4023360" cy="420624"/>
          </a:xfrm>
          <a:prstGeom prst="rect">
            <a:avLst/>
          </a:prstGeom>
          <a:solidFill>
            <a:srgbClr val="E8F4F6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457200" y="437083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size (mm)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70832" y="4370832"/>
            <a:ext cx="4425696" cy="420624"/>
          </a:xfrm>
          <a:prstGeom prst="rect">
            <a:avLst/>
          </a:prstGeom>
          <a:solidFill>
            <a:srgbClr val="FFFEF8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4462272" y="4370832"/>
            <a:ext cx="42428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     ×      mm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7472" y="4681728"/>
            <a:ext cx="8449056" cy="292608"/>
          </a:xfrm>
          <a:prstGeom prst="rect">
            <a:avLst/>
          </a:prstGeom>
          <a:solidFill>
            <a:srgbClr val="E8F4F6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475488" y="4681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your distinctive feature should be achievable with the basic shapes you already know — sphere, cylinder, cone, box, torus.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7472" y="48920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15200" y="48920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 •  8  •  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164592"/>
            <a:ext cx="1645920" cy="256032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22376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47472" y="1371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 — YOU 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3474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sketch — three views with dimensions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47472" y="987552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your alien from the front, side and top. Label each part with its shape and dimensions in mm. Number every part — this becomes your parts list.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2724912" cy="3108960"/>
          </a:xfrm>
          <a:prstGeom prst="rect">
            <a:avLst/>
          </a:prstGeom>
          <a:solidFill>
            <a:srgbClr val="FAFCFD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347472" y="1611957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347472" y="1834025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347472" y="2056094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47472" y="2278162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347472" y="2500231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347472" y="2722299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347472" y="2944368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347472" y="3166437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347472" y="3388505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347472" y="3610574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347472" y="3832642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347472" y="4054711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347472" y="4276779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574548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801624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1028700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1255776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1482852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1709928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1937004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Shape 26"/>
          <p:cNvSpPr/>
          <p:nvPr/>
        </p:nvSpPr>
        <p:spPr>
          <a:xfrm>
            <a:off x="2164080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2391156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2618232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2845308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420624" y="1444752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VIEW · grid = 5mm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73552" y="1389888"/>
            <a:ext cx="2724912" cy="3108960"/>
          </a:xfrm>
          <a:prstGeom prst="rect">
            <a:avLst/>
          </a:prstGeom>
          <a:solidFill>
            <a:srgbClr val="FAFCFD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Shape 32"/>
          <p:cNvSpPr/>
          <p:nvPr/>
        </p:nvSpPr>
        <p:spPr>
          <a:xfrm>
            <a:off x="3273552" y="1611957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3273552" y="1834025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Shape 34"/>
          <p:cNvSpPr/>
          <p:nvPr/>
        </p:nvSpPr>
        <p:spPr>
          <a:xfrm>
            <a:off x="3273552" y="2056094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Shape 35"/>
          <p:cNvSpPr/>
          <p:nvPr/>
        </p:nvSpPr>
        <p:spPr>
          <a:xfrm>
            <a:off x="3273552" y="2278162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Shape 36"/>
          <p:cNvSpPr/>
          <p:nvPr/>
        </p:nvSpPr>
        <p:spPr>
          <a:xfrm>
            <a:off x="3273552" y="2500231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Shape 37"/>
          <p:cNvSpPr/>
          <p:nvPr/>
        </p:nvSpPr>
        <p:spPr>
          <a:xfrm>
            <a:off x="3273552" y="2722299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Shape 38"/>
          <p:cNvSpPr/>
          <p:nvPr/>
        </p:nvSpPr>
        <p:spPr>
          <a:xfrm>
            <a:off x="3273552" y="2944368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Shape 39"/>
          <p:cNvSpPr/>
          <p:nvPr/>
        </p:nvSpPr>
        <p:spPr>
          <a:xfrm>
            <a:off x="3273552" y="3166437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Shape 40"/>
          <p:cNvSpPr/>
          <p:nvPr/>
        </p:nvSpPr>
        <p:spPr>
          <a:xfrm>
            <a:off x="3273552" y="3388505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Shape 41"/>
          <p:cNvSpPr/>
          <p:nvPr/>
        </p:nvSpPr>
        <p:spPr>
          <a:xfrm>
            <a:off x="3273552" y="3610574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Shape 42"/>
          <p:cNvSpPr/>
          <p:nvPr/>
        </p:nvSpPr>
        <p:spPr>
          <a:xfrm>
            <a:off x="3273552" y="3832642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Shape 43"/>
          <p:cNvSpPr/>
          <p:nvPr/>
        </p:nvSpPr>
        <p:spPr>
          <a:xfrm>
            <a:off x="3273552" y="4054711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Shape 44"/>
          <p:cNvSpPr/>
          <p:nvPr/>
        </p:nvSpPr>
        <p:spPr>
          <a:xfrm>
            <a:off x="3273552" y="4276779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Shape 45"/>
          <p:cNvSpPr/>
          <p:nvPr/>
        </p:nvSpPr>
        <p:spPr>
          <a:xfrm>
            <a:off x="3500628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Shape 46"/>
          <p:cNvSpPr/>
          <p:nvPr/>
        </p:nvSpPr>
        <p:spPr>
          <a:xfrm>
            <a:off x="3727704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Shape 47"/>
          <p:cNvSpPr/>
          <p:nvPr/>
        </p:nvSpPr>
        <p:spPr>
          <a:xfrm>
            <a:off x="3954780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" name="Shape 48"/>
          <p:cNvSpPr/>
          <p:nvPr/>
        </p:nvSpPr>
        <p:spPr>
          <a:xfrm>
            <a:off x="4181856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Shape 49"/>
          <p:cNvSpPr/>
          <p:nvPr/>
        </p:nvSpPr>
        <p:spPr>
          <a:xfrm>
            <a:off x="4408932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2" name="Shape 50"/>
          <p:cNvSpPr/>
          <p:nvPr/>
        </p:nvSpPr>
        <p:spPr>
          <a:xfrm>
            <a:off x="4636008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3" name="Shape 51"/>
          <p:cNvSpPr/>
          <p:nvPr/>
        </p:nvSpPr>
        <p:spPr>
          <a:xfrm>
            <a:off x="4863084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Shape 52"/>
          <p:cNvSpPr/>
          <p:nvPr/>
        </p:nvSpPr>
        <p:spPr>
          <a:xfrm>
            <a:off x="5090160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5" name="Shape 53"/>
          <p:cNvSpPr/>
          <p:nvPr/>
        </p:nvSpPr>
        <p:spPr>
          <a:xfrm>
            <a:off x="5317236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6" name="Shape 54"/>
          <p:cNvSpPr/>
          <p:nvPr/>
        </p:nvSpPr>
        <p:spPr>
          <a:xfrm>
            <a:off x="5544312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7" name="Shape 55"/>
          <p:cNvSpPr/>
          <p:nvPr/>
        </p:nvSpPr>
        <p:spPr>
          <a:xfrm>
            <a:off x="5771388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8" name="Text 56"/>
          <p:cNvSpPr/>
          <p:nvPr/>
        </p:nvSpPr>
        <p:spPr>
          <a:xfrm>
            <a:off x="3346704" y="1444752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VIEW · grid = 5mm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99632" y="1389888"/>
            <a:ext cx="2724912" cy="3108960"/>
          </a:xfrm>
          <a:prstGeom prst="rect">
            <a:avLst/>
          </a:prstGeom>
          <a:solidFill>
            <a:srgbClr val="FAFCFD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0" name="Shape 58"/>
          <p:cNvSpPr/>
          <p:nvPr/>
        </p:nvSpPr>
        <p:spPr>
          <a:xfrm>
            <a:off x="6199632" y="1611957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1" name="Shape 59"/>
          <p:cNvSpPr/>
          <p:nvPr/>
        </p:nvSpPr>
        <p:spPr>
          <a:xfrm>
            <a:off x="6199632" y="1834025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2" name="Shape 60"/>
          <p:cNvSpPr/>
          <p:nvPr/>
        </p:nvSpPr>
        <p:spPr>
          <a:xfrm>
            <a:off x="6199632" y="2056094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3" name="Shape 61"/>
          <p:cNvSpPr/>
          <p:nvPr/>
        </p:nvSpPr>
        <p:spPr>
          <a:xfrm>
            <a:off x="6199632" y="2278162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4" name="Shape 62"/>
          <p:cNvSpPr/>
          <p:nvPr/>
        </p:nvSpPr>
        <p:spPr>
          <a:xfrm>
            <a:off x="6199632" y="2500231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5" name="Shape 63"/>
          <p:cNvSpPr/>
          <p:nvPr/>
        </p:nvSpPr>
        <p:spPr>
          <a:xfrm>
            <a:off x="6199632" y="2722299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6" name="Shape 64"/>
          <p:cNvSpPr/>
          <p:nvPr/>
        </p:nvSpPr>
        <p:spPr>
          <a:xfrm>
            <a:off x="6199632" y="2944368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7" name="Shape 65"/>
          <p:cNvSpPr/>
          <p:nvPr/>
        </p:nvSpPr>
        <p:spPr>
          <a:xfrm>
            <a:off x="6199632" y="3166437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8" name="Shape 66"/>
          <p:cNvSpPr/>
          <p:nvPr/>
        </p:nvSpPr>
        <p:spPr>
          <a:xfrm>
            <a:off x="6199632" y="3388505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Shape 67"/>
          <p:cNvSpPr/>
          <p:nvPr/>
        </p:nvSpPr>
        <p:spPr>
          <a:xfrm>
            <a:off x="6199632" y="3610574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0" name="Shape 68"/>
          <p:cNvSpPr/>
          <p:nvPr/>
        </p:nvSpPr>
        <p:spPr>
          <a:xfrm>
            <a:off x="6199632" y="3832642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1" name="Shape 69"/>
          <p:cNvSpPr/>
          <p:nvPr/>
        </p:nvSpPr>
        <p:spPr>
          <a:xfrm>
            <a:off x="6199632" y="4054711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2" name="Shape 70"/>
          <p:cNvSpPr/>
          <p:nvPr/>
        </p:nvSpPr>
        <p:spPr>
          <a:xfrm>
            <a:off x="6199632" y="4276779"/>
            <a:ext cx="2724912" cy="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Shape 71"/>
          <p:cNvSpPr/>
          <p:nvPr/>
        </p:nvSpPr>
        <p:spPr>
          <a:xfrm>
            <a:off x="6426708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4" name="Shape 72"/>
          <p:cNvSpPr/>
          <p:nvPr/>
        </p:nvSpPr>
        <p:spPr>
          <a:xfrm>
            <a:off x="6653784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5" name="Shape 73"/>
          <p:cNvSpPr/>
          <p:nvPr/>
        </p:nvSpPr>
        <p:spPr>
          <a:xfrm>
            <a:off x="6880860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6" name="Shape 74"/>
          <p:cNvSpPr/>
          <p:nvPr/>
        </p:nvSpPr>
        <p:spPr>
          <a:xfrm>
            <a:off x="7107936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7" name="Shape 75"/>
          <p:cNvSpPr/>
          <p:nvPr/>
        </p:nvSpPr>
        <p:spPr>
          <a:xfrm>
            <a:off x="7335012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8" name="Shape 76"/>
          <p:cNvSpPr/>
          <p:nvPr/>
        </p:nvSpPr>
        <p:spPr>
          <a:xfrm>
            <a:off x="7562088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9" name="Shape 77"/>
          <p:cNvSpPr/>
          <p:nvPr/>
        </p:nvSpPr>
        <p:spPr>
          <a:xfrm>
            <a:off x="7789164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0" name="Shape 78"/>
          <p:cNvSpPr/>
          <p:nvPr/>
        </p:nvSpPr>
        <p:spPr>
          <a:xfrm>
            <a:off x="8016240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1" name="Shape 79"/>
          <p:cNvSpPr/>
          <p:nvPr/>
        </p:nvSpPr>
        <p:spPr>
          <a:xfrm>
            <a:off x="8243316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2" name="Shape 80"/>
          <p:cNvSpPr/>
          <p:nvPr/>
        </p:nvSpPr>
        <p:spPr>
          <a:xfrm>
            <a:off x="8470392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3" name="Shape 81"/>
          <p:cNvSpPr/>
          <p:nvPr/>
        </p:nvSpPr>
        <p:spPr>
          <a:xfrm>
            <a:off x="8697468" y="1389888"/>
            <a:ext cx="0" cy="3108960"/>
          </a:xfrm>
          <a:prstGeom prst="line">
            <a:avLst/>
          </a:prstGeom>
          <a:noFill/>
          <a:ln w="6350">
            <a:solidFill>
              <a:srgbClr val="DDE8E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4" name="Text 82"/>
          <p:cNvSpPr/>
          <p:nvPr/>
        </p:nvSpPr>
        <p:spPr>
          <a:xfrm>
            <a:off x="6272784" y="1444752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VIEW · grid = 5mm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47472" y="4553712"/>
            <a:ext cx="8449056" cy="329184"/>
          </a:xfrm>
          <a:prstGeom prst="rect">
            <a:avLst/>
          </a:prstGeom>
          <a:solidFill>
            <a:srgbClr val="1A3035"/>
          </a:solidFill>
          <a:ln w="12700">
            <a:solidFill>
              <a:srgbClr val="1A30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6" name="Text 84"/>
          <p:cNvSpPr/>
          <p:nvPr/>
        </p:nvSpPr>
        <p:spPr>
          <a:xfrm>
            <a:off x="475488" y="455371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list: number each part on your sketch, then list   Part # → Shape → Body part → Dimensions   (min 5, max 12 parts total)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7472" y="48920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7315200" y="48920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 •  9  •  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371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 — YOU 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47472" y="3474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task: differentiated (40 min)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987552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level that challenges you but is still finishable today. You can always level up.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335024"/>
            <a:ext cx="2724912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47472" y="1335024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1645920"/>
            <a:ext cx="27249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&amp; fix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5054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one of the two specimen examples from the projector. Sketch it in your workbook, circle the problems, and draw a fixed version that passes the 45° rule and wall thickness checks.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45536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checks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At least two problems correctly identified.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712464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Fixed version has no overhangs &gt;45°.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041648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Fixed version has walls ≥1.5 mm.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370832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Sketch is labelled with measurements.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27832" y="1335024"/>
            <a:ext cx="2724912" cy="31089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3227832" y="1335024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27832" y="1645920"/>
            <a:ext cx="27249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3337560" y="1719072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sketch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2103120"/>
            <a:ext cx="25054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 three-view sketch of your alien (front, side, top) with mm dimensions on every part. Produce a parts list: part number, shape, body part, dimensions.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3145536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checks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383280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Three views drawn (front, side, top).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712464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Every part has a mm dimension.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4041648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count is between 5 and 12.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4370832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Specimen card is fully filled in.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08192" y="1335024"/>
            <a:ext cx="2724912" cy="310896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6108192" y="1335024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08192" y="1645920"/>
            <a:ext cx="27249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6217920" y="1719072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building in CAD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0" y="2103120"/>
            <a:ext cx="25054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done? Open CAD. Build the torso and head of your alien. Flag any part you're worried might violate a print rule and note what you'll do about it.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3145536"/>
            <a:ext cx="2505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checks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3383280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Torso and head built in CAD.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3712464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At least one Hole used.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4041648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One print risk identified and a fix proposed.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4370832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File saved with clear name for Lesson 3.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7472" y="48920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15200" y="48920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 •  10  •  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164592"/>
            <a:ext cx="1645920" cy="256032"/>
          </a:xfrm>
          <a:prstGeom prst="rect">
            <a:avLst/>
          </a:prstGeom>
          <a:solidFill>
            <a:srgbClr val="F7934C"/>
          </a:solidFill>
          <a:ln w="12700">
            <a:solidFill>
              <a:srgbClr val="F7934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223760" y="164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47472" y="1371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BRIEF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3474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economy — earn every shape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4023360" cy="310896"/>
          </a:xfrm>
          <a:prstGeom prst="rect">
            <a:avLst/>
          </a:prstGeom>
          <a:solidFill>
            <a:srgbClr val="1A3035"/>
          </a:solidFill>
          <a:ln w="12700">
            <a:solidFill>
              <a:srgbClr val="1A30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347472" y="109728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CONSTRAINTS — REMINDER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444752"/>
            <a:ext cx="4023360" cy="402336"/>
          </a:xfrm>
          <a:prstGeom prst="rect">
            <a:avLst/>
          </a:prstGeom>
          <a:solidFill>
            <a:srgbClr val="E8F4F6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3822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Part count: 5–12 (solids + holes combined)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1883664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57200" y="1883664"/>
            <a:ext cx="3822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Bounding box: fits inside 80 × 80 × 80 mm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322576"/>
            <a:ext cx="4023360" cy="402336"/>
          </a:xfrm>
          <a:prstGeom prst="rect">
            <a:avLst/>
          </a:prstGeom>
          <a:solidFill>
            <a:srgbClr val="E8F4F6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57200" y="2322576"/>
            <a:ext cx="3822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At least one Hole operation used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761488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57200" y="2761488"/>
            <a:ext cx="3822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Self-supporting — stands or sits alone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200400"/>
            <a:ext cx="4023360" cy="402336"/>
          </a:xfrm>
          <a:prstGeom prst="rect">
            <a:avLst/>
          </a:prstGeom>
          <a:solidFill>
            <a:srgbClr val="E8F4F6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3822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support material needed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3639312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457200" y="3639312"/>
            <a:ext cx="3822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STL submitted by end of Lesson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4078224"/>
            <a:ext cx="4023360" cy="402336"/>
          </a:xfrm>
          <a:prstGeom prst="rect">
            <a:avLst/>
          </a:prstGeom>
          <a:solidFill>
            <a:srgbClr val="E8F4F6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457200" y="4078224"/>
            <a:ext cx="3822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Original — not a copy of existing characters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1097280"/>
            <a:ext cx="4206240" cy="2359152"/>
          </a:xfrm>
          <a:prstGeom prst="rect">
            <a:avLst/>
          </a:prstGeom>
          <a:solidFill>
            <a:srgbClr val="1A3035"/>
          </a:solidFill>
          <a:ln w="12700">
            <a:solidFill>
              <a:srgbClr val="1A30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4754880" y="1188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ECONOMY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148132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shape should earn its place.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clever parts beats fifteen messy ones.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add another shape, ask: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2395728"/>
            <a:ext cx="393192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4846320" y="2432304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shape telling the viewer something new about my alien?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17720" y="3584448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GOOD ALIEN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3840480"/>
            <a:ext cx="1335024" cy="1005840"/>
          </a:xfrm>
          <a:prstGeom prst="rect">
            <a:avLst/>
          </a:prstGeom>
          <a:solidFill>
            <a:srgbClr val="E8F4F6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4617720" y="3858768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72584" y="4151376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 but believable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72584" y="4498848"/>
            <a:ext cx="1225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hint of biology.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16752" y="3840480"/>
            <a:ext cx="1335024" cy="1005840"/>
          </a:xfrm>
          <a:prstGeom prst="rect">
            <a:avLst/>
          </a:prstGeom>
          <a:solidFill>
            <a:srgbClr val="E8F4F6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6016752" y="3858768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71616" y="4151376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simple shapes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71616" y="4498848"/>
            <a:ext cx="1225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parts working together.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15784" y="3840480"/>
            <a:ext cx="1335024" cy="1005840"/>
          </a:xfrm>
          <a:prstGeom prst="rect">
            <a:avLst/>
          </a:prstGeom>
          <a:solidFill>
            <a:srgbClr val="E8F4F6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7415784" y="3858768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470648" y="4151376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bold idea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470648" y="4498848"/>
            <a:ext cx="12252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a single distinctive choice.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7472" y="48920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15200" y="48920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 •  11  •  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371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RUN SHEET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47472" y="3474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100 minutes flows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47472" y="1097280"/>
            <a:ext cx="10058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347472" y="109728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53312" y="1097280"/>
            <a:ext cx="7443216" cy="475488"/>
          </a:xfrm>
          <a:prstGeom prst="rect">
            <a:avLst/>
          </a:prstGeom>
          <a:solidFill>
            <a:srgbClr val="E8F4F6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481328" y="11338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&amp; recap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81328" y="1335024"/>
            <a:ext cx="7205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review of L1 — what's CAD, why do we group? Connect to today.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36776"/>
            <a:ext cx="10058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347472" y="1636776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53312" y="1636776"/>
            <a:ext cx="744321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1481328" y="16733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81328" y="1874520"/>
            <a:ext cx="7205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FDM printing, overhangs, wall thickness, tolerances. Spot the problems activity.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176272"/>
            <a:ext cx="10058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347472" y="217627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53312" y="2176272"/>
            <a:ext cx="7443216" cy="475488"/>
          </a:xfrm>
          <a:prstGeom prst="rect">
            <a:avLst/>
          </a:prstGeom>
          <a:solidFill>
            <a:srgbClr val="E8F4F6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1481328" y="22128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Specimen card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81328" y="2414016"/>
            <a:ext cx="7205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complete their alien's specimen card — lock in the concept.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2715768"/>
            <a:ext cx="10058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347472" y="271576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45–80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53312" y="2715768"/>
            <a:ext cx="744321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1481328" y="27523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— design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81328" y="2953512"/>
            <a:ext cx="7205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sketch at chosen tier. Teacher circulates, checks specs against brief.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" y="3255264"/>
            <a:ext cx="10058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347472" y="325526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353312" y="3255264"/>
            <a:ext cx="7443216" cy="475488"/>
          </a:xfrm>
          <a:prstGeom prst="rect">
            <a:avLst/>
          </a:prstGeom>
          <a:solidFill>
            <a:srgbClr val="E8F4F6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1481328" y="32918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share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81328" y="3493008"/>
            <a:ext cx="7205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sketches with a partner. Use the brief: does it meet the constraints?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" y="3794760"/>
            <a:ext cx="10058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347472" y="379476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90–95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353312" y="3794760"/>
            <a:ext cx="744321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1481328" y="38313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discussion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81328" y="4032504"/>
            <a:ext cx="7205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print risks did you spot in your own design? How will you fix them?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7472" y="4334256"/>
            <a:ext cx="10058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347472" y="4334256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95–100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353312" y="4334256"/>
            <a:ext cx="7443216" cy="475488"/>
          </a:xfrm>
          <a:prstGeom prst="rect">
            <a:avLst/>
          </a:prstGeom>
          <a:solidFill>
            <a:srgbClr val="E8F4F6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1481328" y="43708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81328" y="4572000"/>
            <a:ext cx="7205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— constraint, risk, fix. Stick the slip in your workbook.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7472" y="48920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15200" y="48920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 •  12  •  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371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47472" y="34747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— last 5 minutes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47472" y="1097280"/>
            <a:ext cx="4572000" cy="274320"/>
          </a:xfrm>
          <a:prstGeom prst="rect">
            <a:avLst/>
          </a:prstGeom>
          <a:solidFill>
            <a:srgbClr val="1A3035"/>
          </a:solidFill>
          <a:ln w="12700">
            <a:solidFill>
              <a:srgbClr val="1A30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347472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1426464"/>
            <a:ext cx="41148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347472" y="1426464"/>
            <a:ext cx="411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58952" y="1426464"/>
            <a:ext cx="4160520" cy="749808"/>
          </a:xfrm>
          <a:prstGeom prst="rect">
            <a:avLst/>
          </a:prstGeom>
          <a:solidFill>
            <a:srgbClr val="FFFEF8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896112" y="151790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print constraint I now understand — explain it in your own words.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2340864"/>
            <a:ext cx="41148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347472" y="2340864"/>
            <a:ext cx="411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58952" y="2340864"/>
            <a:ext cx="4160520" cy="749808"/>
          </a:xfrm>
          <a:prstGeom prst="rect">
            <a:avLst/>
          </a:prstGeom>
          <a:solidFill>
            <a:srgbClr val="FFFEF8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896112" y="243230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 of my alien I'm worried might not print — and why.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" y="3255264"/>
            <a:ext cx="41148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347472" y="3255264"/>
            <a:ext cx="411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58952" y="3255264"/>
            <a:ext cx="4160520" cy="749808"/>
          </a:xfrm>
          <a:prstGeom prst="rect">
            <a:avLst/>
          </a:prstGeom>
          <a:solidFill>
            <a:srgbClr val="FFFEF8"/>
          </a:solidFill>
          <a:ln w="12700">
            <a:solidFill>
              <a:srgbClr val="CDE3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896112" y="334670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I'll change in my design to fix it — be specific.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" y="42793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 the slip into your workbook on page L2.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66360" y="1097280"/>
            <a:ext cx="3657600" cy="274320"/>
          </a:xfrm>
          <a:prstGeom prst="rect">
            <a:avLst/>
          </a:prstGeom>
          <a:solidFill>
            <a:srgbClr val="1A3035"/>
          </a:solidFill>
          <a:ln w="12700">
            <a:solidFill>
              <a:srgbClr val="1A303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516636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66360" y="14081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the boxes you've met: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17190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 can explain what an overhang 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21396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 understand the 45° rule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 know the minimum wall thickness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29809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 understand tolerance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34015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 have a completed specimen card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3822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I have a master sketch with dimensions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" y="48920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0" y="48920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 •  13  •  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22428"/>
          </a:solidFill>
          <a:ln w="12700">
            <a:solidFill>
              <a:srgbClr val="12242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refine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sketch to specimen — building your alien in CAD.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901952" cy="2103120"/>
          </a:xfrm>
          <a:prstGeom prst="rect">
            <a:avLst/>
          </a:prstGeom>
          <a:solidFill>
            <a:srgbClr val="1A303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719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sketch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06624"/>
            <a:ext cx="17190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sketch with three views, labelled dimensions, and parts list.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87168" y="2148840"/>
            <a:ext cx="1901952" cy="2103120"/>
          </a:xfrm>
          <a:prstGeom prst="rect">
            <a:avLst/>
          </a:prstGeom>
          <a:solidFill>
            <a:srgbClr val="1A303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2578608" y="2240280"/>
            <a:ext cx="1719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specimen card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78608" y="2706624"/>
            <a:ext cx="17190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with dimensions and part count confirmed in the brief range.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17136" y="2148840"/>
            <a:ext cx="1901952" cy="2103120"/>
          </a:xfrm>
          <a:prstGeom prst="rect">
            <a:avLst/>
          </a:prstGeom>
          <a:solidFill>
            <a:srgbClr val="1A303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4608576" y="2240280"/>
            <a:ext cx="1719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 fix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08576" y="2706624"/>
            <a:ext cx="17190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how you'll solve any print risk you identified today — have a plan.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365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of 4  •  Unit: 3D Modelling with CAD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4336</TotalTime>
  <Words>1976</Words>
  <Application>Microsoft Office PowerPoint</Application>
  <PresentationFormat>On-screen Show (16:9)</PresentationFormat>
  <Paragraphs>261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 — Designing for 3D Printing</dc:title>
  <dc:subject>PptxGenJS Presentation</dc:subject>
  <dc:creator>PptxGenJS</dc:creator>
  <cp:lastModifiedBy>James Smith 5</cp:lastModifiedBy>
  <cp:revision>2</cp:revision>
  <dcterms:created xsi:type="dcterms:W3CDTF">2026-05-15T00:48:32Z</dcterms:created>
  <dcterms:modified xsi:type="dcterms:W3CDTF">2026-05-18T03:31:17Z</dcterms:modified>
</cp:coreProperties>
</file>