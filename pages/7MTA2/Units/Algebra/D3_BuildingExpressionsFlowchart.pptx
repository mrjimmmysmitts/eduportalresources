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883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State the lesson focus: today we build on Double 2's expressions work by learning a structured way to organise our translation — the flow diagram — plus a full bank of operation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learning intention aloud. Ask students which tier they're aiming for — no need to record it, just a personal target. Foundation is a direct recap of Double 2 content, so most students should clear it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Devices off. Pose the Thomas/sister question and let pairs discuss for 1–2 minutes before taking hands. Don't confirm the answer yet — it resurfaces in the explicit teaching. Use the quick recap panel to refresh coefficient/variable/constant vocabulary from Double 2 if the class is rusty.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paperclip pot scenario live if possible (a real pot/cup of items works well). Build the flow diagram step by step on the board: start amount → operation → result. Emphasise this is just a visual scaffold — the expression is the same thing written in symbols.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Full-class copy-down. Read each row aloud with example sentences of your own before revealing the printed examples. This table will be referenced constantly for the rest of the unit — encourage a dedicated page in their bound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each translation aloud, drawing the flow diagram then writing the expression. Ask students to predict the box contents before you reveal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table together — cover the last row and have pairs attempt it before revealing '9p'. Address the common misconception of writing 'p9' instead of '9p'.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— devices come out now. Confirm workbook Section 3 is open on every screen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support tiered groups. Foundation students may need the vocabulary table slide left up on the board. Extending students should be pushed to attempt the reverse-engineering question without your input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application task — allow students to choose their own scenario. Extending students attempting the two-step chain often need a reminder that order matters — model one example if several groups 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physical break with partner vocabulary drill — keeps energy up before the responsive teaching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for quick verbal answers — don't let students write anything down, this is a fast formative check. Move to the next slide once most hands are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and address misconceptions directly — the equals-sign vs no-equals-sign distinction (expression vs equation) is the most common error at this stage, as is forgetting to define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2–3 minutes of quiet reflection time. Students self-assess with a tick, cross, or question mark against each tier — no need to justify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Silent, individual exit ticket in the workbook. This is a good quick data point on who needs support before Double 4 introduces two-step flowcharts formally.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Mathspace task and due date on Compass before students leave. Preview that Double 4 extends today's one-step flow diagrams into two-step, working-backwards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" y="0"/>
            <a:ext cx="4206240" cy="68580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9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Algebraic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5A75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0358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5 &amp; 6  ·  100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7000" y="4143248"/>
            <a:ext cx="685800" cy="548640"/>
          </a:xfrm>
          <a:prstGeom prst="roundRect">
            <a:avLst>
              <a:gd name="adj" fmla="val 10000"/>
            </a:avLst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47320" y="4106672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58520" y="4417568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384300" y="4070096"/>
            <a:ext cx="868680" cy="694944"/>
          </a:xfrm>
          <a:prstGeom prst="roundRect">
            <a:avLst>
              <a:gd name="adj" fmla="val 50000"/>
            </a:avLst>
          </a:prstGeom>
          <a:solidFill>
            <a:srgbClr val="5A75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407160" y="4051807"/>
            <a:ext cx="868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21560" y="4417568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824480" y="4106672"/>
            <a:ext cx="1234440" cy="548640"/>
          </a:xfrm>
          <a:prstGeom prst="roundRect">
            <a:avLst>
              <a:gd name="adj" fmla="val 10000"/>
            </a:avLst>
          </a:prstGeom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2870200" y="4143248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VC2M7A01  ·  VC2M7A02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82880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Expressions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 the Flow Diagram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0" y="3520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vocabulary  ·  Flow diagrams  ·  Word phrases → expressions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Objective &amp; Success Criteria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1338560" cy="1344168"/>
          </a:xfrm>
          <a:prstGeom prst="roundRect">
            <a:avLst>
              <a:gd name="adj" fmla="val 6316"/>
            </a:avLst>
          </a:prstGeom>
          <a:solidFill>
            <a:srgbClr val="E9ED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INTENTION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5320" y="224942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translate word phrases into algebraic expressions using a flow diagram.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11480" y="3291840"/>
            <a:ext cx="11338560" cy="896112"/>
          </a:xfrm>
          <a:prstGeom prst="roundRect">
            <a:avLst>
              <a:gd name="adj" fmla="val 9184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667512" y="351129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3767328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coefficient, variable and constant in an algebraic expression (recap from Double 2).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325112"/>
            <a:ext cx="11338560" cy="896112"/>
          </a:xfrm>
          <a:prstGeom prst="roundRect">
            <a:avLst>
              <a:gd name="adj" fmla="val 9184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67512" y="45445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914400" y="447141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480060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translate a word phrase into an algebraic expression, using a flow diagram to organise my thinking.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5358384"/>
            <a:ext cx="11338560" cy="896112"/>
          </a:xfrm>
          <a:prstGeom prst="roundRect">
            <a:avLst>
              <a:gd name="adj" fmla="val 9184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667512" y="557784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14400" y="550468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" y="5833872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my own flow diagram and expression for a two-step worded scenario, and explain the order I used.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Engage: Thomas and His Sister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6858000" cy="2286000"/>
          </a:xfrm>
          <a:prstGeom prst="roundRect">
            <a:avLst>
              <a:gd name="adj" fmla="val 3200"/>
            </a:avLst>
          </a:prstGeom>
          <a:solidFill>
            <a:srgbClr val="F5F6F9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is 14 years old.
His younger sister is </a:t>
            </a:r>
            <a:r>
              <a:rPr lang="en-US" sz="20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2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years younger than him.
</a:t>
            </a:r>
            <a:r>
              <a:rPr lang="en-US" sz="20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an algebraic expression for his sister's age?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E9ED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 — PAIR — SHARE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63840" y="22860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 partner. What operation is happening — added, or taken away? What do we call the unknown amount?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write anything yet — just discuss as a class.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846320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F5F6F9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85800" y="49651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RECAP — from Double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2303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r>
              <a:rPr lang="en-US" sz="14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7x + 4</a:t>
            </a: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7 is the </a:t>
            </a: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</a:t>
            </a: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 is the </a:t>
            </a: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4 is the </a:t>
            </a: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10–18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DOWN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Thinking in Flow Diagrams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1338560" cy="777240"/>
          </a:xfrm>
          <a:prstGeom prst="roundRect">
            <a:avLst>
              <a:gd name="adj" fmla="val 7059"/>
            </a:avLst>
          </a:prstGeom>
          <a:solidFill>
            <a:srgbClr val="E9ED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diagram shows a starting amount, the operation applied to it, and the result — in order, left to right.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paperclips are in this pot? We don't know — so we call it  p.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added one hundred (100) more paperclips to the pot?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017520" y="3886200"/>
            <a:ext cx="1463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17520" y="4846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4343400"/>
            <a:ext cx="10058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5760720" y="3794760"/>
            <a:ext cx="1737360" cy="1097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760720" y="37947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6072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4343400"/>
            <a:ext cx="100584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78240" y="388620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9EDFC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78240" y="3886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77824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(the expression)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5622417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is just the flow diagram written as symbols.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pic>
        <p:nvPicPr>
          <p:cNvPr id="27" name="Picture 26" descr="http://www.visualphotos.com/photo/2x2651315/jar_of_colored_paper_clips_oof072.jpg">
            <a:extLst>
              <a:ext uri="{FF2B5EF4-FFF2-40B4-BE49-F238E27FC236}">
                <a16:creationId xmlns:a16="http://schemas.microsoft.com/office/drawing/2014/main" id="{CE701DB4-9397-3716-151A-C3A931D6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37585"/>
            <a:ext cx="2192734" cy="2526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Words for Each Operation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11338560" cy="859536"/>
          </a:xfrm>
          <a:prstGeom prst="roundRect">
            <a:avLst>
              <a:gd name="adj" fmla="val 6383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  (+)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0480" y="1783080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· more than · plus · sum · increased by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11480" y="2770632"/>
            <a:ext cx="11338560" cy="859536"/>
          </a:xfrm>
          <a:prstGeom prst="roundRect">
            <a:avLst>
              <a:gd name="adj" fmla="val 6383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85800" y="2770632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Subtraction  (−)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40480" y="2770632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away · less than · minus · decreased by · fewer than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1480" y="3758184"/>
            <a:ext cx="11338560" cy="859536"/>
          </a:xfrm>
          <a:prstGeom prst="roundRect">
            <a:avLst>
              <a:gd name="adj" fmla="val 6383"/>
            </a:avLst>
          </a:prstGeom>
          <a:solidFill>
            <a:srgbClr val="E9ED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85800" y="3758184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Multiplication  (×)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40480" y="3758184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· product of · groups of · lots of · multiplied by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11480" y="4745736"/>
            <a:ext cx="11338560" cy="859536"/>
          </a:xfrm>
          <a:prstGeom prst="roundRect">
            <a:avLst>
              <a:gd name="adj" fmla="val 6383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4745736"/>
            <a:ext cx="30175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 (÷)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40480" y="4745736"/>
            <a:ext cx="76809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· shared equally · split into · quotient of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0561320" y="365760"/>
            <a:ext cx="1188720" cy="310896"/>
          </a:xfrm>
          <a:prstGeom prst="roundRect">
            <a:avLst>
              <a:gd name="adj" fmla="val 50000"/>
            </a:avLst>
          </a:prstGeom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561320" y="3657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COPY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58064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Copy this table into your notes — you'll use it for the rest of the unit.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10–18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Worked Example: Words → Flow → Expression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“7 paperclips were added to the pot.”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2715768"/>
            <a:ext cx="8229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566160" y="2258568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566160" y="225856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2715768"/>
            <a:ext cx="8229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3F7E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03504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paperclips in the pot were divided into 5 equal groups.”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397764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51760" y="4361688"/>
            <a:ext cx="8229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3566160" y="3904488"/>
            <a:ext cx="1463040" cy="914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3566160" y="39044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20640" y="4361688"/>
            <a:ext cx="82296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035040" y="39776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FE9FC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035040" y="3977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÷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" y="507492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operation word tells us both which symbol to use, and where the number goes.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10–18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Together: Simple Algebraic Expressions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561558"/>
              </p:ext>
            </p:extLst>
          </p:nvPr>
        </p:nvGraphicFramePr>
        <p:xfrm>
          <a:off x="411480" y="1828800"/>
          <a:ext cx="11338560" cy="3429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Word phrase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Expression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(+)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were 7 paperclips added to the pot.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361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+ 7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 (−)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were 3 paperclips taken out of the pot.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361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− 3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 (×)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were 9 paperclip pots.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361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9p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(÷)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paperclips in the pot were divided into 5 equal groups.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4361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÷ 5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516636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row's expression is left blank on purpose — pairs, talk it through before we reveal 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51960" y="2331720"/>
            <a:ext cx="3657600" cy="914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251960" y="2331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🔓  LAPTOP GATE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4231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Devices out. Open your workbook.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4231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Application of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20–25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1: The Egg Basket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11338560" cy="594360"/>
          </a:xfrm>
          <a:prstGeom prst="roundRect">
            <a:avLst>
              <a:gd name="adj" fmla="val 9231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basket contains some Easter eggs — call this amount  e.  Write the expression for each word phrase. Draw a flow diagram first if it helps.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67512" y="268833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— 2 questions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944368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60 eggs were taken from the basket.        b) Mum added 22 eggs to the basket.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639312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67512" y="38587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914400" y="378561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DEVELOPING — all 4 questions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4114800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eggs were divided into 7 equal piles.      d) The children found 3 Easter baskets in the garden.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809744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67512" y="5029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14400" y="49560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EXTENDING — reverse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5285232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expression  e − 15 , write your own worded scenario that matches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20–25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2: Build Your Own Flow Diagram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11338560" cy="594360"/>
          </a:xfrm>
          <a:prstGeom prst="roundRect">
            <a:avLst>
              <a:gd name="adj" fmla="val 9231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scenario from your workbook, draw the flow diagram (start → operation → result), then write the expression.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2468880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67512" y="268833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914400" y="261518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 — one-step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944368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 of the given one-step scenarios (e.g. "5 more than a number").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639312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67512" y="38587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914400" y="378561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DEVELOPING — one-step, your choice of operation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4114800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one-step worded scenario using multiplication or division, then diagram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809744"/>
            <a:ext cx="11338560" cy="1051560"/>
          </a:xfrm>
          <a:prstGeom prst="roundRect">
            <a:avLst>
              <a:gd name="adj" fmla="val 7826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67512" y="5029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14400" y="49560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EXTENDING — two-step 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5285232"/>
            <a:ext cx="1083564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two operations in one flow diagram (e.g. add, then multiply) and simplify the expression.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316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1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🧠  BRAIN BREAK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2316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 up. Stretch.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880360" y="36118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partner: take turns saying an “operation word” — the other person calls out the matching symbol as fast as they can.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5–8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Check — Don't Write, Just Answer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11338560" cy="1828800"/>
          </a:xfrm>
          <a:prstGeom prst="roundRect">
            <a:avLst>
              <a:gd name="adj" fmla="val 3500"/>
            </a:avLst>
          </a:prstGeom>
          <a:solidFill>
            <a:srgbClr val="F5F6F9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True or False — this statement is an expression: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 = 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sign is closest in meaning to the word “PLUS”?  And to the word “TIMES”?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3886200"/>
            <a:ext cx="11338560" cy="1371600"/>
          </a:xfrm>
          <a:prstGeom prst="roundRect">
            <a:avLst>
              <a:gd name="adj" fmla="val 4667"/>
            </a:avLst>
          </a:prstGeom>
          <a:solidFill>
            <a:srgbClr val="E9ED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the writer of this expression forgotten to do?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box contains apples. Another 2 apples are added to the box. How many apples are there?”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6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5–8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Answers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11338560" cy="1828800"/>
          </a:xfrm>
          <a:prstGeom prst="roundRect">
            <a:avLst>
              <a:gd name="adj" fmla="val 3500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FALSE — 2x = 6 has an equals sign, so it's a complete mathematical sentence (an equation). An expression would just be  2x.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PLUS  →  +          TIMES  →  ×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" y="3886200"/>
            <a:ext cx="11338560" cy="1371600"/>
          </a:xfrm>
          <a:prstGeom prst="roundRect">
            <a:avLst>
              <a:gd name="adj" fmla="val 4667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8580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forgot to assign the variable.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state somewhere that  a  stands for the number of apples in the box, if it isn't already shown in the question.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Look Back at the Success Criteria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1338560" cy="914400"/>
          </a:xfrm>
          <a:prstGeom prst="roundRect">
            <a:avLst>
              <a:gd name="adj" fmla="val 9000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67512" y="204825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914400" y="197510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304288"/>
            <a:ext cx="10835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coefficient, variable and constant in an algebraic expression.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11338560" cy="914400"/>
          </a:xfrm>
          <a:prstGeom prst="roundRect">
            <a:avLst>
              <a:gd name="adj" fmla="val 9000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67512" y="305409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914400" y="298094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3310128"/>
            <a:ext cx="10835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translate a word phrase into an algebraic expression, using a flow diagram.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840480"/>
            <a:ext cx="11338560" cy="914400"/>
          </a:xfrm>
          <a:prstGeom prst="roundRect">
            <a:avLst>
              <a:gd name="adj" fmla="val 9000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67512" y="405993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914400" y="398678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4315968"/>
            <a:ext cx="10835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my own flow diagram and expression for a two-step worded scenario.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892040"/>
            <a:ext cx="11338560" cy="1051560"/>
          </a:xfrm>
          <a:prstGeom prst="roundRect">
            <a:avLst>
              <a:gd name="adj" fmla="val 6087"/>
            </a:avLst>
          </a:prstGeom>
          <a:solidFill>
            <a:srgbClr val="F5F6F9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What have you achieved today?  What are you proud of?  What do you still need to work on?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3657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78440" y="365760"/>
            <a:ext cx="1737360" cy="310896"/>
          </a:xfrm>
          <a:prstGeom prst="roundRect">
            <a:avLst>
              <a:gd name="adj" fmla="val 50000"/>
            </a:avLst>
          </a:prstGeom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0378440" y="3657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DEVICES OFF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B1F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Show What You Know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1338560" cy="960120"/>
          </a:xfrm>
          <a:prstGeom prst="roundRect">
            <a:avLst>
              <a:gd name="adj" fmla="val 5714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expression  9p − 4 , identify the coefficient, variable and constant.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" y="2926080"/>
            <a:ext cx="11338560" cy="960120"/>
          </a:xfrm>
          <a:prstGeom prst="roundRect">
            <a:avLst>
              <a:gd name="adj" fmla="val 5714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expression for: “8 less than m.”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11480" y="4023360"/>
            <a:ext cx="11338560" cy="960120"/>
          </a:xfrm>
          <a:prstGeom prst="roundRect">
            <a:avLst>
              <a:gd name="adj" fmla="val 5714"/>
            </a:avLst>
          </a:prstGeom>
          <a:solidFill>
            <a:srgbClr val="FCE7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Draw a flow diagram for: “a number, n, is doubled, then 3 is added.”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Complete this in your workbook — Section 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After I Leave This Class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E3F7E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67512" y="191109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14400" y="1837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2167128"/>
            <a:ext cx="31546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“Building Expressions” task set — due next lesson.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FDF1D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07992" y="191109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754880" y="1837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 REFERENCE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07992" y="2167128"/>
            <a:ext cx="31546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operation vocabulary table to your reference — you'll need it all unit.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EFE9F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348472" y="191109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595360" y="1837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48472" y="2167128"/>
            <a:ext cx="31546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Compass for the exact due date and any extra revision links.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11338560" cy="1417320"/>
          </a:xfrm>
          <a:prstGeom prst="roundRect">
            <a:avLst>
              <a:gd name="adj" fmla="val 4516"/>
            </a:avLst>
          </a:prstGeom>
          <a:solidFill>
            <a:srgbClr val="F5F6F9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858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 AHEAD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2452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4 — Flowcharts (two-step &amp; backtracking)  →  Double 5 — Substitution  →  …  →  Double 9 — Revision &amp; Unit Test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notes and workbook up to date — they're your best revision tool before the unit test.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544068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need more help with next class? Jot it in your workbook before you leave.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7 Mathematics · Algebraic Techniques · Double 3 · Mr Smith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6565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y7-maths-u1-d3-building-expressions-flowchart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2077</Words>
  <Application>Microsoft Office PowerPoint</Application>
  <PresentationFormat>Custom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Smith 5</cp:lastModifiedBy>
  <cp:revision>5</cp:revision>
  <dcterms:created xsi:type="dcterms:W3CDTF">2026-07-15T23:54:31Z</dcterms:created>
  <dcterms:modified xsi:type="dcterms:W3CDTF">2026-07-16T03:27:51Z</dcterms:modified>
</cp:coreProperties>
</file>