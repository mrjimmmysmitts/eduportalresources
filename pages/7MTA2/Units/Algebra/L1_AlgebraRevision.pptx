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period, 100 minutes. Have students take out their bound reference sheet and a pen BEFORE the first copy slide — the whole deck is built around them capturing a reference they can take into the test. If a student has no sheet yet, give them one now; the deck produces a complete one-page reference by the end of the lesson.
Rough timing: Warm-up 8 min · LO 3 min · Vocabulary 8 · Patterns 14 · Substitution 12 · One-step 14 · brain break 3 · Two-step 18 · Word problems 8 · Workbook is running from ~40 min onward in parallel · Exit ticket 8 · Next steps 4.
Note the workbook is the practice bank (172 questions, tiered). Students should be in it for most of the second half. Marks are only awarded on a correct FIRST attempt — tell them this explicitly at the start so they slow down and check before pressing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Run it verbally with the whole class — no devices, no writing. The reveal ("everyone got 1") is what buys you attention for the next 90 minutes.
Then walk the algebra line slowly, left to right, asking what each arrow did. This is a free diagnostic: students who cannot follow n → 2n + 8 need the Foundation tier today, and you will know that within four minutes of the lesson starting.
Extension for early finishers: to always end on 5, keep every step the same but subtract 6 - 8 = adjust the constant. Let them experiment rather than telling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Read the objective aloud; do not have students copy it (they resent it and it is in the workbook anyway).
The tier message matters more than the objective: everyone starts Foundation, and moving up is expected, not exceptional. The workbook has 60 Foundation, 62 Developing and 43 Extending items, so nobody runs out of work and nobody is stranded.
Point at the Extending column and say plainly that it contains material beyond what the test requires — it is there for stretch, not as a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and worth every second — it is the organising idea for the whole lesson.
Be explicit about the six copy slides: vocabulary, pattern rules, substitution, inverse operations + balance, flowchart, two-step order, word translation. Students who track their own progress through six known checkpoints stay with you far better than students told "copy things down when I say".
The line that lands hardest: "copying someone else's reference is useless in a test." Say it, and mean it. A reference you wrote is a memory aid; one you photocopied is a page of stranger's handwriting you cannot navigate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including copying time. Do not rush this — the vocabulary is what makes every later instruction comprehensible. A student who does not know "coefficient" cannot follow "divide both sides by the coefficient".
While they copy, circulate. Cold-call on the worked example rather than reading it out: "How many terms? How do you know?"
The invisible-1 trap is responsible for a large share of Year 7 algebra errors. Ask for a show of hands on the coefficient of x in "9 - x" before revealing that it is -1. Expect most of the room to say 1, which is exactly why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The single most common misconception here is confusing n (the position) with the term value. Draw the two-row table on the board — n across the top, term underneath — and keep pointing at the top row while you say "n".
The bottom strip is the part students under-use. "Which term equals 47?" turns a pattern question into an equation question, which is exactly the connection this revision lesson exists to make. Say that out loud: patterns and equations are the same skill wearing different clothes.
Extending students should be pushed toward the square-number pattern (workbook p21, p24) where the common difference method fails. Let them discover that it fails rather than pre-warning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Model Pattern A fully at the board, thinking aloud — including the "one too many" adjustment, which students find fiddlier than the coefficient.
Pattern B is deliberately decreasing so the coefficient is negative. Do not rescue them too quickly; the productive struggle is the point. Answer: -5n + 105, or equivalently 105 - 5n. Accept both, and show they are the same.
The follow-up ("is 5 in this pattern?") gives you an equation to solve: 105 - 5n = 5, n = 20. Yes, the 20th term. For students who finish early, ask whether 3 is in the pattern (it is not — n would not be a whole number), which is the reasoning behind workbook question p26.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Substitution is usually the highest-scoring topic on the test and the one students revise least, because they assume they can already do it. The three traps are where the marks actually go.
Do the x-squared trap live: ask the room for x-squared when x = 4 and count the hands that say 8. Then ask what "squared" means geometrically — a 4 by 4 square. That picture sticks.
The formula table matters for the test because it shows substitution inside a real formula rather than a bare expression. The temperature conversion is the one that separates Developing from Extending — it has three operations and a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If you have a physical balance or even two stacks of counters, use it here — the scales image is what makes "do the same to both sides" feel necessary rather than arbitrary.
Insist on the second line being written out in full (x + 6 - 6 = 13 - 6) while students are learning. They will compress it later, and that is fine, but the compressed version hides the logic and hides their errors from you.
The checking habit is the highest-leverage thing on this slide. A student who checks every answer catches most of their own mistakes and stops needing you to confirm every question, which frees you to work with the students who are actually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Some students find flowcharts dramatically clearer than balancing, particularly those who struggle to hold two sides of an equation in mind at once. Others find them fussy. Present both as genuinely equal options rather than signalling a preference.
Draw the forward chart first and only then reveal the backward one. The moment of insight is seeing that the backward chart is the forward chart with every operation flipped.
The closing line is deliberate: fluency in one method beats shaky familiarity with two. Students who try to hedge between methods mid-question are the ones who lose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roughly 55 minutes in — after the flowchart method and before two-step equations, which is the hardest content of the lesson.
Answer is 9. Getting them physically standing matters more than the puzzle; the puzzle just stops it feeling like wasted time.
The "invent one for your neighbour" step is quietly the most valuable part — writing a two-step equation backwards from a chosen answer is genuinely harder than solving one, and students who can do it have understood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minutes. This is the core content of the lesson and the biggest source of test marks.
The question to keep asking is "why not divide by 3 first?" Let a student try it — they will get x + 5/3 = 20/3 and see immediately that it is worse. Discovering why the order matters is far more durable than being told.
Run both methods on the same equation deliberately, side by side, and land the point that they produce identical steps in identical order — the flowchart is just the balance method drawn rather than written. Students who see that stop treating them as two things to memorise.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Both routes are correct and both are accepted in the test — say so explicitly, because students often believe there is one sanctioned method and freeze when they cannot recall which it is.
Route A is faster whenever the number outside divides the right-hand side cleanly. Route B always works. A reasonable rule of thumb to offer: "try dividing; if it gives a fraction, expand instead."
The forgotten-second-term error is worth dwelling on. Ask them to check 2x + 3 = 16 and see that it gives x = 6.5, which fails when substituted back into the original. Checking catches this error without you ever having to mark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Word problems are where students who can solve equations perfectly still lose marks, because the difficulty is translation rather than algebra.
Step 1 — naming the unknown — is the step students skip and the step that makes the rest work. Insist on "Let p = ..." written down, with units, every time. It is one line and it prevents most of the confusion that follows.
The "5 less than n" trap is worth a quick whole-class vote. Roughly half a Year 7 class will say 5 - n on first asking. Contrast it with "5 subtract n" so they hear that English word order and algebra word order genuinely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largest block of the lesson — roughly 35-40 minutes, and you can start it earlier for students who are ready rather than holding the whole room to the deck.
Labour the first-attempt scoring rule before they open the laptops. It is the design feature that makes the workbook worth using: it converts "guess and check until the box turns green" into "work it out on paper first". Some students will lose marks on the first few questions before they believe you. That is the lesson landing, not a problem.
Circulate rather than sitting at the desk. The progress and score bars at the top of each student's workbook give you an instant read on who is stuck — a low score with high progress means someone is rushing; low progress with high score means someone is being careful but slow, which is fine.
Foundation-tier students should aim to finish Sections 1, 3 and 4 completely. Anyone reaching Extending in Section 5 is well beyond test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roughly 80 minutes in. Pause the room properly for this — devices stay open but hands off keyboards while you read the table.
The fourth row is the diagnostic one and the reason the score system exists. A student with 85% progress and 30% score is not weak at algebra; they are impulsive with the Check button. That is a fixable habit and naming it publicly, without naming the student, usually fixes it.
The pair-share is deliberately about a mistake rather than a success. Articulating an error out loud is what converts it into something they will not repeat under test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Notes away, bound references closed, help panels shut. This is the only part of the lesson done under something like test conditions, and it is the part that tells you what to reteach.
Six auto-marked questions, one per skill, so the pattern of wrong answers maps directly onto topics. If more than a third of the class misses question 6, brackets need another session before the test.
Question 7 is the one to actually read. "Practise more" is not an acceptable answer — push for something specific like "redo Section 5 Developing without the help panel". Students who can name their own gap precisely are the ones who close it.
Have them press Submit before packing up, so the results reach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to close. Devices away first so they are listening rather than half-typing.
The last sentence is the one that matters for anxious students: nothing on the test exceeds the Developing tier. Say it plainly. Extending exists for stretch, and telling them so removes a source of unnecessary panic while costing nothing.
Confirm the test date verbally against your own schedule before delivering this slide, and set the homework expectation as a floor rather than a ceiling — Foundation everywhere plus Developing in the two equations sections is achievable for the whole class.
Collect or check bound references as they leave if you can. A student who leaves without one has nothing to revise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1234440"/>
            <a:ext cx="11183112" cy="3703320"/>
          </a:xfrm>
          <a:prstGeom prst="roundRect">
            <a:avLst>
              <a:gd name="adj" fmla="val 2469"/>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3" name="Text 1"/>
          <p:cNvSpPr/>
          <p:nvPr/>
        </p:nvSpPr>
        <p:spPr>
          <a:xfrm>
            <a:off x="1005840" y="1600200"/>
            <a:ext cx="10177272" cy="329184"/>
          </a:xfrm>
          <a:prstGeom prst="rect">
            <a:avLst/>
          </a:prstGeom>
          <a:noFill/>
          <a:ln/>
        </p:spPr>
        <p:txBody>
          <a:bodyPr wrap="square" lIns="0" tIns="0" rIns="0" bIns="0" rtlCol="0" anchor="ctr"/>
          <a:lstStyle/>
          <a:p>
            <a:pPr indent="0" marL="0">
              <a:buNone/>
            </a:pPr>
            <a:r>
              <a:rPr lang="en-US" sz="1400" b="1" spc="140" kern="0" dirty="0">
                <a:solidFill>
                  <a:srgbClr val="4361EE"/>
                </a:solidFill>
                <a:latin typeface="Calibri" pitchFamily="34" charset="0"/>
                <a:ea typeface="Calibri" pitchFamily="34" charset="-122"/>
                <a:cs typeface="Calibri" pitchFamily="34" charset="-120"/>
              </a:rPr>
              <a:t>UNIT REVISION  ·  DOUBLE PERIOD  ·  100 MINUTES</a:t>
            </a:r>
            <a:endParaRPr lang="en-US" sz="1400" dirty="0"/>
          </a:p>
        </p:txBody>
      </p:sp>
      <p:sp>
        <p:nvSpPr>
          <p:cNvPr id="4" name="Text 2"/>
          <p:cNvSpPr/>
          <p:nvPr/>
        </p:nvSpPr>
        <p:spPr>
          <a:xfrm>
            <a:off x="1005840" y="1965960"/>
            <a:ext cx="10177272" cy="914400"/>
          </a:xfrm>
          <a:prstGeom prst="rect">
            <a:avLst/>
          </a:prstGeom>
          <a:noFill/>
          <a:ln/>
        </p:spPr>
        <p:txBody>
          <a:bodyPr wrap="square" lIns="0" tIns="0" rIns="0" bIns="0" rtlCol="0" anchor="ctr"/>
          <a:lstStyle/>
          <a:p>
            <a:pPr indent="0" marL="0">
              <a:buNone/>
            </a:pPr>
            <a:r>
              <a:rPr lang="en-US" sz="5200" b="1" dirty="0">
                <a:solidFill>
                  <a:srgbClr val="111820"/>
                </a:solidFill>
                <a:latin typeface="Cambria" pitchFamily="34" charset="0"/>
                <a:ea typeface="Cambria" pitchFamily="34" charset="-122"/>
                <a:cs typeface="Cambria" pitchFamily="34" charset="-120"/>
              </a:rPr>
              <a:t>Algebra Revision</a:t>
            </a:r>
            <a:endParaRPr lang="en-US" sz="5200" dirty="0"/>
          </a:p>
        </p:txBody>
      </p:sp>
      <p:sp>
        <p:nvSpPr>
          <p:cNvPr id="5" name="Text 3"/>
          <p:cNvSpPr/>
          <p:nvPr/>
        </p:nvSpPr>
        <p:spPr>
          <a:xfrm>
            <a:off x="1005840" y="2880360"/>
            <a:ext cx="10177272" cy="384048"/>
          </a:xfrm>
          <a:prstGeom prst="rect">
            <a:avLst/>
          </a:prstGeom>
          <a:noFill/>
          <a:ln/>
        </p:spPr>
        <p:txBody>
          <a:bodyPr wrap="square" lIns="0" tIns="0" rIns="0" bIns="0" rtlCol="0" anchor="ctr"/>
          <a:lstStyle/>
          <a:p>
            <a:pPr indent="0" marL="0">
              <a:buNone/>
            </a:pPr>
            <a:r>
              <a:rPr lang="en-US" sz="2100" dirty="0">
                <a:solidFill>
                  <a:srgbClr val="4A5563"/>
                </a:solidFill>
                <a:latin typeface="Calibri" pitchFamily="34" charset="0"/>
                <a:ea typeface="Calibri" pitchFamily="34" charset="-122"/>
                <a:cs typeface="Calibri" pitchFamily="34" charset="-120"/>
              </a:rPr>
              <a:t>Vocabulary  ·  Patterns  ·  Substitution  ·  One- and two-step equations</a:t>
            </a:r>
            <a:endParaRPr lang="en-US" sz="2100" dirty="0"/>
          </a:p>
        </p:txBody>
      </p:sp>
      <p:sp>
        <p:nvSpPr>
          <p:cNvPr id="6" name="Text 4"/>
          <p:cNvSpPr/>
          <p:nvPr/>
        </p:nvSpPr>
        <p:spPr>
          <a:xfrm>
            <a:off x="1005840" y="3401568"/>
            <a:ext cx="10177272" cy="822960"/>
          </a:xfrm>
          <a:prstGeom prst="rect">
            <a:avLst/>
          </a:prstGeom>
          <a:noFill/>
          <a:ln/>
        </p:spPr>
        <p:txBody>
          <a:bodyPr wrap="square" lIns="0" tIns="0" rIns="0" bIns="0" rtlCol="0" anchor="t"/>
          <a:lstStyle/>
          <a:p>
            <a:pPr indent="0" marL="0">
              <a:buNone/>
            </a:pPr>
            <a:r>
              <a:rPr lang="en-US" sz="1800" dirty="0">
                <a:solidFill>
                  <a:srgbClr val="4A5563"/>
                </a:solidFill>
                <a:latin typeface="Calibri" pitchFamily="34" charset="0"/>
                <a:ea typeface="Calibri" pitchFamily="34" charset="-122"/>
                <a:cs typeface="Calibri" pitchFamily="34" charset="-120"/>
              </a:rPr>
              <a:t>Everything on a ✎ COPY slide today goes straight onto your bound reference for the test. Bring it, and a pen, every lesson from here.</a:t>
            </a:r>
            <a:endParaRPr lang="en-US" sz="1800" dirty="0"/>
          </a:p>
        </p:txBody>
      </p:sp>
      <p:sp>
        <p:nvSpPr>
          <p:cNvPr id="7" name="Text 5"/>
          <p:cNvSpPr/>
          <p:nvPr/>
        </p:nvSpPr>
        <p:spPr>
          <a:xfrm>
            <a:off x="502920" y="5166360"/>
            <a:ext cx="11183112" cy="329184"/>
          </a:xfrm>
          <a:prstGeom prst="rect">
            <a:avLst/>
          </a:prstGeom>
          <a:noFill/>
          <a:ln/>
        </p:spPr>
        <p:txBody>
          <a:bodyPr wrap="square" lIns="0" tIns="0" rIns="0" bIns="0" rtlCol="0" anchor="ctr"/>
          <a:lstStyle/>
          <a:p>
            <a:pPr indent="0" marL="0">
              <a:buNone/>
            </a:pPr>
            <a:r>
              <a:rPr lang="en-US" sz="1400" dirty="0">
                <a:solidFill>
                  <a:srgbClr val="7A8596"/>
                </a:solidFill>
                <a:latin typeface="Calibri" pitchFamily="34" charset="0"/>
                <a:ea typeface="Calibri" pitchFamily="34" charset="-122"/>
                <a:cs typeface="Calibri" pitchFamily="34" charset="-120"/>
              </a:rPr>
              <a:t>Workbook: L1_AlgebraRevision_workbook.html      Unit notes: U1_Algebra_site.html</a:t>
            </a:r>
            <a:endParaRPr lang="en-US" sz="1400" dirty="0"/>
          </a:p>
        </p:txBody>
      </p:sp>
      <p:sp>
        <p:nvSpPr>
          <p:cNvPr id="8" name="Text 6"/>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9" name="Text 7"/>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65836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Warm Up — Think of a Number</a:t>
            </a:r>
            <a:endParaRPr lang="en-US" sz="3200" dirty="0"/>
          </a:p>
        </p:txBody>
      </p:sp>
      <p:sp>
        <p:nvSpPr>
          <p:cNvPr id="3" name="Shape 1"/>
          <p:cNvSpPr/>
          <p:nvPr/>
        </p:nvSpPr>
        <p:spPr>
          <a:xfrm>
            <a:off x="502920" y="1417320"/>
            <a:ext cx="5532120" cy="3246120"/>
          </a:xfrm>
          <a:prstGeom prst="roundRect">
            <a:avLst>
              <a:gd name="adj" fmla="val 2817"/>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31520" y="1572768"/>
            <a:ext cx="5074920" cy="292608"/>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On the board, no writing yet:</a:t>
            </a:r>
            <a:endParaRPr lang="en-US" sz="1500" dirty="0"/>
          </a:p>
        </p:txBody>
      </p:sp>
      <p:sp>
        <p:nvSpPr>
          <p:cNvPr id="5" name="Text 3"/>
          <p:cNvSpPr/>
          <p:nvPr/>
        </p:nvSpPr>
        <p:spPr>
          <a:xfrm>
            <a:off x="731520" y="1901952"/>
            <a:ext cx="5074920" cy="2651760"/>
          </a:xfrm>
          <a:prstGeom prst="rect">
            <a:avLst/>
          </a:prstGeom>
          <a:noFill/>
          <a:ln/>
        </p:spPr>
        <p:txBody>
          <a:bodyPr wrap="square" rtlCol="0" anchor="t"/>
          <a:lstStyle/>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Think of a number. Don’t say it.</a:t>
            </a:r>
            <a:endParaRPr lang="en-US" sz="2000" dirty="0"/>
          </a:p>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Add 4.</a:t>
            </a:r>
            <a:endParaRPr lang="en-US" sz="2000" dirty="0"/>
          </a:p>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Double it.</a:t>
            </a:r>
            <a:endParaRPr lang="en-US" sz="2000" dirty="0"/>
          </a:p>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Subtract 6.</a:t>
            </a:r>
            <a:endParaRPr lang="en-US" sz="2000" dirty="0"/>
          </a:p>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Halve it.</a:t>
            </a:r>
            <a:endParaRPr lang="en-US" sz="2000" dirty="0"/>
          </a:p>
          <a:p>
            <a:pPr marL="342900" indent="-342900">
              <a:lnSpc>
                <a:spcPct val="105000"/>
              </a:lnSpc>
              <a:spcAft>
                <a:spcPts val="600"/>
              </a:spcAft>
              <a:buSzPct val="100000"/>
              <a:buChar char="•"/>
            </a:pPr>
            <a:r>
              <a:rPr lang="en-US" sz="2000" dirty="0">
                <a:solidFill>
                  <a:srgbClr val="111820"/>
                </a:solidFill>
                <a:latin typeface="Calibri" pitchFamily="34" charset="0"/>
                <a:ea typeface="Calibri" pitchFamily="34" charset="-122"/>
                <a:cs typeface="Calibri" pitchFamily="34" charset="-120"/>
              </a:rPr>
              <a:t>Subtract your original number.</a:t>
            </a:r>
            <a:endParaRPr lang="en-US" sz="2000" dirty="0"/>
          </a:p>
        </p:txBody>
      </p:sp>
      <p:sp>
        <p:nvSpPr>
          <p:cNvPr id="6" name="Shape 4"/>
          <p:cNvSpPr/>
          <p:nvPr/>
        </p:nvSpPr>
        <p:spPr>
          <a:xfrm>
            <a:off x="6355080" y="1417320"/>
            <a:ext cx="5330952" cy="3246120"/>
          </a:xfrm>
          <a:prstGeom prst="roundRect">
            <a:avLst>
              <a:gd name="adj" fmla="val 2817"/>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7" name="Text 5"/>
          <p:cNvSpPr/>
          <p:nvPr/>
        </p:nvSpPr>
        <p:spPr>
          <a:xfrm>
            <a:off x="6583680" y="1600200"/>
            <a:ext cx="4873752" cy="457200"/>
          </a:xfrm>
          <a:prstGeom prst="rect">
            <a:avLst/>
          </a:prstGeom>
          <a:noFill/>
          <a:ln/>
        </p:spPr>
        <p:txBody>
          <a:bodyPr wrap="square" lIns="0" tIns="0" rIns="0" bIns="0" rtlCol="0" anchor="ctr"/>
          <a:lstStyle/>
          <a:p>
            <a:pPr indent="0" marL="0">
              <a:buNone/>
            </a:pPr>
            <a:r>
              <a:rPr lang="en-US" sz="3000" b="1" dirty="0">
                <a:solidFill>
                  <a:srgbClr val="4361EE"/>
                </a:solidFill>
                <a:latin typeface="Cambria" pitchFamily="34" charset="0"/>
                <a:ea typeface="Cambria" pitchFamily="34" charset="-122"/>
                <a:cs typeface="Cambria" pitchFamily="34" charset="-120"/>
              </a:rPr>
              <a:t>Everyone got 1.</a:t>
            </a:r>
            <a:endParaRPr lang="en-US" sz="3000" dirty="0"/>
          </a:p>
        </p:txBody>
      </p:sp>
      <p:sp>
        <p:nvSpPr>
          <p:cNvPr id="8" name="Text 6"/>
          <p:cNvSpPr/>
          <p:nvPr/>
        </p:nvSpPr>
        <p:spPr>
          <a:xfrm>
            <a:off x="6583680" y="2084832"/>
            <a:ext cx="4873752" cy="329184"/>
          </a:xfrm>
          <a:prstGeom prst="rect">
            <a:avLst/>
          </a:prstGeom>
          <a:noFill/>
          <a:ln/>
        </p:spPr>
        <p:txBody>
          <a:bodyPr wrap="square" lIns="0" tIns="0" rIns="0" bIns="0" rtlCol="0" anchor="ctr"/>
          <a:lstStyle/>
          <a:p>
            <a:pPr indent="0" marL="0">
              <a:buNone/>
            </a:pPr>
            <a:r>
              <a:rPr lang="en-US" sz="1800" dirty="0">
                <a:solidFill>
                  <a:srgbClr val="4A5563"/>
                </a:solidFill>
                <a:latin typeface="Calibri" pitchFamily="34" charset="0"/>
                <a:ea typeface="Calibri" pitchFamily="34" charset="-122"/>
                <a:cs typeface="Calibri" pitchFamily="34" charset="-120"/>
              </a:rPr>
              <a:t>How? Because algebra was doing the work the whole time:</a:t>
            </a:r>
            <a:endParaRPr lang="en-US" sz="1800" dirty="0"/>
          </a:p>
        </p:txBody>
      </p:sp>
      <p:sp>
        <p:nvSpPr>
          <p:cNvPr id="9" name="Text 7"/>
          <p:cNvSpPr/>
          <p:nvPr/>
        </p:nvSpPr>
        <p:spPr>
          <a:xfrm>
            <a:off x="6583680" y="2487168"/>
            <a:ext cx="4873752" cy="457200"/>
          </a:xfrm>
          <a:prstGeom prst="rect">
            <a:avLst/>
          </a:prstGeom>
          <a:noFill/>
          <a:ln/>
        </p:spPr>
        <p:txBody>
          <a:bodyPr wrap="square" lIns="0" tIns="0" rIns="0" bIns="0" rtlCol="0" anchor="ctr"/>
          <a:lstStyle/>
          <a:p>
            <a:pPr indent="0" marL="0">
              <a:buNone/>
            </a:pPr>
            <a:r>
              <a:rPr lang="en-US" sz="1900" b="1" dirty="0">
                <a:solidFill>
                  <a:srgbClr val="111820"/>
                </a:solidFill>
                <a:latin typeface="Consolas" pitchFamily="34" charset="0"/>
                <a:ea typeface="Consolas" pitchFamily="34" charset="-122"/>
                <a:cs typeface="Consolas" pitchFamily="34" charset="-120"/>
              </a:rPr>
              <a:t>n  →  n + 4  →  2n + 8  →  2n + 2  →  n + 1  →  1</a:t>
            </a:r>
            <a:endParaRPr lang="en-US" sz="1900" dirty="0"/>
          </a:p>
        </p:txBody>
      </p:sp>
      <p:sp>
        <p:nvSpPr>
          <p:cNvPr id="10" name="Text 8"/>
          <p:cNvSpPr/>
          <p:nvPr/>
        </p:nvSpPr>
        <p:spPr>
          <a:xfrm>
            <a:off x="6583680" y="3017520"/>
            <a:ext cx="4873752" cy="1371600"/>
          </a:xfrm>
          <a:prstGeom prst="rect">
            <a:avLst/>
          </a:prstGeom>
          <a:noFill/>
          <a:ln/>
        </p:spPr>
        <p:txBody>
          <a:bodyPr wrap="square" lIns="0" tIns="0" rIns="0" bIns="0" rtlCol="0" anchor="t"/>
          <a:lstStyle/>
          <a:p>
            <a:pPr indent="0" marL="0">
              <a:buNone/>
            </a:pPr>
            <a:r>
              <a:rPr lang="en-US" sz="1800" dirty="0">
                <a:solidFill>
                  <a:srgbClr val="111820"/>
                </a:solidFill>
                <a:latin typeface="Calibri" pitchFamily="34" charset="0"/>
                <a:ea typeface="Calibri" pitchFamily="34" charset="-122"/>
                <a:cs typeface="Calibri" pitchFamily="34" charset="-120"/>
              </a:rPr>
              <a:t>Your number vanished. That is the entire point of a pronumeral: it lets you say something true about EVERY number at once.</a:t>
            </a:r>
            <a:endParaRPr lang="en-US" sz="1800" dirty="0"/>
          </a:p>
        </p:txBody>
      </p:sp>
      <p:sp>
        <p:nvSpPr>
          <p:cNvPr id="11" name="Text 9"/>
          <p:cNvSpPr/>
          <p:nvPr/>
        </p:nvSpPr>
        <p:spPr>
          <a:xfrm>
            <a:off x="502920" y="4892040"/>
            <a:ext cx="11183112" cy="457200"/>
          </a:xfrm>
          <a:prstGeom prst="rect">
            <a:avLst/>
          </a:prstGeom>
          <a:noFill/>
          <a:ln/>
        </p:spPr>
        <p:txBody>
          <a:bodyPr wrap="square" lIns="0" tIns="0" rIns="0" bIns="0" rtlCol="0" anchor="ctr"/>
          <a:lstStyle/>
          <a:p>
            <a:pPr indent="0" marL="0">
              <a:buNone/>
            </a:pPr>
            <a:r>
              <a:rPr lang="en-US" sz="1800" i="1" dirty="0">
                <a:solidFill>
                  <a:srgbClr val="4A5563"/>
                </a:solidFill>
                <a:latin typeface="Calibri" pitchFamily="34" charset="0"/>
                <a:ea typeface="Calibri" pitchFamily="34" charset="-122"/>
                <a:cs typeface="Calibri" pitchFamily="34" charset="-120"/>
              </a:rPr>
              <a:t>Discuss with the person next to you: could you invent a trick that always ends on 5?</a:t>
            </a:r>
            <a:endParaRPr lang="en-US" sz="1800" dirty="0"/>
          </a:p>
        </p:txBody>
      </p:sp>
      <p:sp>
        <p:nvSpPr>
          <p:cNvPr id="12" name="Text 10"/>
          <p:cNvSpPr/>
          <p:nvPr/>
        </p:nvSpPr>
        <p:spPr>
          <a:xfrm>
            <a:off x="502920"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p>
        </p:txBody>
      </p:sp>
      <p:sp>
        <p:nvSpPr>
          <p:cNvPr id="13" name="Text 11"/>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4" name="Text 12"/>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5" name="Text 13"/>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6" name="Text 14"/>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17" name="Text 15"/>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65836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Learning Objective</a:t>
            </a:r>
            <a:endParaRPr lang="en-US" sz="3200" dirty="0"/>
          </a:p>
        </p:txBody>
      </p:sp>
      <p:sp>
        <p:nvSpPr>
          <p:cNvPr id="3" name="Shape 1"/>
          <p:cNvSpPr/>
          <p:nvPr/>
        </p:nvSpPr>
        <p:spPr>
          <a:xfrm>
            <a:off x="502920" y="1371600"/>
            <a:ext cx="11183112" cy="868680"/>
          </a:xfrm>
          <a:prstGeom prst="roundRect">
            <a:avLst>
              <a:gd name="adj" fmla="val 10526"/>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31520" y="1481328"/>
            <a:ext cx="10725912" cy="685800"/>
          </a:xfrm>
          <a:prstGeom prst="rect">
            <a:avLst/>
          </a:prstGeom>
          <a:noFill/>
          <a:ln/>
        </p:spPr>
        <p:txBody>
          <a:bodyPr wrap="square" lIns="0" tIns="0" rIns="0" bIns="0" rtlCol="0" anchor="ctr"/>
          <a:lstStyle/>
          <a:p>
            <a:pPr indent="0" marL="0">
              <a:buNone/>
            </a:pPr>
            <a:r>
              <a:rPr lang="en-US" sz="2100" b="1" dirty="0">
                <a:solidFill>
                  <a:srgbClr val="111820"/>
                </a:solidFill>
                <a:latin typeface="Calibri" pitchFamily="34" charset="0"/>
                <a:ea typeface="Calibri" pitchFamily="34" charset="-122"/>
                <a:cs typeface="Calibri" pitchFamily="34" charset="-120"/>
              </a:rPr>
              <a:t>To be able to solve one- and two-step equations using both the balance method and the flowchart method — and to explain which parts of algebra I still need to revise.</a:t>
            </a:r>
            <a:endParaRPr lang="en-US" sz="2100" dirty="0"/>
          </a:p>
        </p:txBody>
      </p:sp>
      <p:sp>
        <p:nvSpPr>
          <p:cNvPr id="5" name="Text 3"/>
          <p:cNvSpPr/>
          <p:nvPr/>
        </p:nvSpPr>
        <p:spPr>
          <a:xfrm>
            <a:off x="502920" y="2395728"/>
            <a:ext cx="11183112" cy="310896"/>
          </a:xfrm>
          <a:prstGeom prst="rect">
            <a:avLst/>
          </a:prstGeom>
          <a:noFill/>
          <a:ln/>
        </p:spPr>
        <p:txBody>
          <a:bodyPr wrap="square" lIns="0" tIns="0" rIns="0" bIns="0" rtlCol="0" anchor="ctr"/>
          <a:lstStyle/>
          <a:p>
            <a:pPr indent="0" marL="0">
              <a:buNone/>
            </a:pPr>
            <a:r>
              <a:rPr lang="en-US" sz="1600" b="1" dirty="0">
                <a:solidFill>
                  <a:srgbClr val="4A5563"/>
                </a:solidFill>
                <a:latin typeface="Calibri" pitchFamily="34" charset="0"/>
                <a:ea typeface="Calibri" pitchFamily="34" charset="-122"/>
                <a:cs typeface="Calibri" pitchFamily="34" charset="-120"/>
              </a:rPr>
              <a:t>Success criteria — tick these off in your workbook as you go</a:t>
            </a:r>
            <a:endParaRPr lang="en-US" sz="1600" dirty="0"/>
          </a:p>
        </p:txBody>
      </p:sp>
      <p:sp>
        <p:nvSpPr>
          <p:cNvPr id="6" name="Shape 4"/>
          <p:cNvSpPr/>
          <p:nvPr/>
        </p:nvSpPr>
        <p:spPr>
          <a:xfrm>
            <a:off x="502920" y="2761488"/>
            <a:ext cx="3575304" cy="1965960"/>
          </a:xfrm>
          <a:prstGeom prst="roundRect">
            <a:avLst>
              <a:gd name="adj" fmla="val 4651"/>
            </a:avLst>
          </a:prstGeom>
          <a:solidFill>
            <a:srgbClr val="ECFDF5"/>
          </a:solidFill>
          <a:ln w="12700">
            <a:solidFill>
              <a:srgbClr val="10B981"/>
            </a:solidFill>
            <a:prstDash val="solid"/>
          </a:ln>
          <a:effectLst>
            <a:outerShdw sx="100000" sy="100000" kx="0" ky="0" algn="bl" rotWithShape="0" blurRad="76200" dist="12700" dir="5400000">
              <a:srgbClr val="BFC7D2">
                <a:alpha val="35000"/>
              </a:srgbClr>
            </a:outerShdw>
          </a:effectLst>
        </p:spPr>
      </p:sp>
      <p:sp>
        <p:nvSpPr>
          <p:cNvPr id="7" name="Text 5"/>
          <p:cNvSpPr/>
          <p:nvPr/>
        </p:nvSpPr>
        <p:spPr>
          <a:xfrm>
            <a:off x="667512" y="2889504"/>
            <a:ext cx="3246120" cy="310896"/>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  Foundation</a:t>
            </a:r>
            <a:endParaRPr lang="en-US" sz="1600" dirty="0"/>
          </a:p>
        </p:txBody>
      </p:sp>
      <p:sp>
        <p:nvSpPr>
          <p:cNvPr id="8" name="Text 6"/>
          <p:cNvSpPr/>
          <p:nvPr/>
        </p:nvSpPr>
        <p:spPr>
          <a:xfrm>
            <a:off x="667512" y="3236976"/>
            <a:ext cx="3246120" cy="1344168"/>
          </a:xfrm>
          <a:prstGeom prst="rect">
            <a:avLst/>
          </a:prstGeom>
          <a:noFill/>
          <a:ln/>
        </p:spPr>
        <p:txBody>
          <a:bodyPr wrap="square" lIns="0" tIns="0" rIns="0" bIns="0" rtlCol="0" anchor="t"/>
          <a:lstStyle/>
          <a:p>
            <a:pPr indent="0" marL="0">
              <a:buNone/>
            </a:pPr>
            <a:r>
              <a:rPr lang="en-US" sz="1600" dirty="0">
                <a:solidFill>
                  <a:srgbClr val="111820"/>
                </a:solidFill>
                <a:latin typeface="Calibri" pitchFamily="34" charset="0"/>
                <a:ea typeface="Calibri" pitchFamily="34" charset="-122"/>
                <a:cs typeface="Calibri" pitchFamily="34" charset="-120"/>
              </a:rPr>
              <a:t>I can use the key words correctly, continue a pattern, substitute a number into an expression, and solve a one-step equation.</a:t>
            </a:r>
            <a:endParaRPr lang="en-US" sz="1600" dirty="0"/>
          </a:p>
        </p:txBody>
      </p:sp>
      <p:sp>
        <p:nvSpPr>
          <p:cNvPr id="9" name="Shape 7"/>
          <p:cNvSpPr/>
          <p:nvPr/>
        </p:nvSpPr>
        <p:spPr>
          <a:xfrm>
            <a:off x="4306824" y="2761488"/>
            <a:ext cx="3575304" cy="1965960"/>
          </a:xfrm>
          <a:prstGeom prst="roundRect">
            <a:avLst>
              <a:gd name="adj" fmla="val 4651"/>
            </a:avLst>
          </a:prstGeom>
          <a:solidFill>
            <a:srgbClr val="FFFBEB"/>
          </a:solidFill>
          <a:ln w="12700">
            <a:solidFill>
              <a:srgbClr val="F59E0B"/>
            </a:solidFill>
            <a:prstDash val="solid"/>
          </a:ln>
          <a:effectLst>
            <a:outerShdw sx="100000" sy="100000" kx="0" ky="0" algn="bl" rotWithShape="0" blurRad="76200" dist="12700" dir="5400000">
              <a:srgbClr val="BFC7D2">
                <a:alpha val="35000"/>
              </a:srgbClr>
            </a:outerShdw>
          </a:effectLst>
        </p:spPr>
      </p:sp>
      <p:sp>
        <p:nvSpPr>
          <p:cNvPr id="10" name="Text 8"/>
          <p:cNvSpPr/>
          <p:nvPr/>
        </p:nvSpPr>
        <p:spPr>
          <a:xfrm>
            <a:off x="4471416" y="2889504"/>
            <a:ext cx="3246120" cy="310896"/>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  Developing</a:t>
            </a:r>
            <a:endParaRPr lang="en-US" sz="1600" dirty="0"/>
          </a:p>
        </p:txBody>
      </p:sp>
      <p:sp>
        <p:nvSpPr>
          <p:cNvPr id="11" name="Text 9"/>
          <p:cNvSpPr/>
          <p:nvPr/>
        </p:nvSpPr>
        <p:spPr>
          <a:xfrm>
            <a:off x="4471416" y="3236976"/>
            <a:ext cx="3246120" cy="1344168"/>
          </a:xfrm>
          <a:prstGeom prst="rect">
            <a:avLst/>
          </a:prstGeom>
          <a:noFill/>
          <a:ln/>
        </p:spPr>
        <p:txBody>
          <a:bodyPr wrap="square" lIns="0" tIns="0" rIns="0" bIns="0" rtlCol="0" anchor="t"/>
          <a:lstStyle/>
          <a:p>
            <a:pPr indent="0" marL="0">
              <a:buNone/>
            </a:pPr>
            <a:r>
              <a:rPr lang="en-US" sz="1600" dirty="0">
                <a:solidFill>
                  <a:srgbClr val="111820"/>
                </a:solidFill>
                <a:latin typeface="Calibri" pitchFamily="34" charset="0"/>
                <a:ea typeface="Calibri" pitchFamily="34" charset="-122"/>
                <a:cs typeface="Calibri" pitchFamily="34" charset="-120"/>
              </a:rPr>
              <a:t>I can write the rule for a pattern, solve two-step equations by both methods, and check my answer by substituting it back in.</a:t>
            </a:r>
            <a:endParaRPr lang="en-US" sz="1600" dirty="0"/>
          </a:p>
        </p:txBody>
      </p:sp>
      <p:sp>
        <p:nvSpPr>
          <p:cNvPr id="12" name="Shape 10"/>
          <p:cNvSpPr/>
          <p:nvPr/>
        </p:nvSpPr>
        <p:spPr>
          <a:xfrm>
            <a:off x="8110728" y="2761488"/>
            <a:ext cx="3575304" cy="1965960"/>
          </a:xfrm>
          <a:prstGeom prst="roundRect">
            <a:avLst>
              <a:gd name="adj" fmla="val 4651"/>
            </a:avLst>
          </a:prstGeom>
          <a:solidFill>
            <a:srgbClr val="F5F3FF"/>
          </a:solidFill>
          <a:ln w="12700">
            <a:solidFill>
              <a:srgbClr val="8B5CF6"/>
            </a:solidFill>
            <a:prstDash val="solid"/>
          </a:ln>
          <a:effectLst>
            <a:outerShdw sx="100000" sy="100000" kx="0" ky="0" algn="bl" rotWithShape="0" blurRad="76200" dist="12700" dir="5400000">
              <a:srgbClr val="BFC7D2">
                <a:alpha val="35000"/>
              </a:srgbClr>
            </a:outerShdw>
          </a:effectLst>
        </p:spPr>
      </p:sp>
      <p:sp>
        <p:nvSpPr>
          <p:cNvPr id="13" name="Text 11"/>
          <p:cNvSpPr/>
          <p:nvPr/>
        </p:nvSpPr>
        <p:spPr>
          <a:xfrm>
            <a:off x="8275320" y="2889504"/>
            <a:ext cx="3246120" cy="310896"/>
          </a:xfrm>
          <a:prstGeom prst="rect">
            <a:avLst/>
          </a:prstGeom>
          <a:noFill/>
          <a:ln/>
        </p:spPr>
        <p:txBody>
          <a:bodyPr wrap="square" lIns="0" tIns="0" rIns="0" bIns="0" rtlCol="0" anchor="ctr"/>
          <a:lstStyle/>
          <a:p>
            <a:pPr indent="0" marL="0">
              <a:buNone/>
            </a:pPr>
            <a:r>
              <a:rPr lang="en-US" sz="1600" b="1" dirty="0">
                <a:solidFill>
                  <a:srgbClr val="8B5CF6"/>
                </a:solidFill>
                <a:latin typeface="Calibri" pitchFamily="34" charset="0"/>
                <a:ea typeface="Calibri" pitchFamily="34" charset="-122"/>
                <a:cs typeface="Calibri" pitchFamily="34" charset="-120"/>
              </a:rPr>
              <a:t>🟣  Extending</a:t>
            </a:r>
            <a:endParaRPr lang="en-US" sz="1600" dirty="0"/>
          </a:p>
        </p:txBody>
      </p:sp>
      <p:sp>
        <p:nvSpPr>
          <p:cNvPr id="14" name="Text 12"/>
          <p:cNvSpPr/>
          <p:nvPr/>
        </p:nvSpPr>
        <p:spPr>
          <a:xfrm>
            <a:off x="8275320" y="3236976"/>
            <a:ext cx="3246120" cy="1344168"/>
          </a:xfrm>
          <a:prstGeom prst="rect">
            <a:avLst/>
          </a:prstGeom>
          <a:noFill/>
          <a:ln/>
        </p:spPr>
        <p:txBody>
          <a:bodyPr wrap="square" lIns="0" tIns="0" rIns="0" bIns="0" rtlCol="0" anchor="t"/>
          <a:lstStyle/>
          <a:p>
            <a:pPr indent="0" marL="0">
              <a:buNone/>
            </a:pPr>
            <a:r>
              <a:rPr lang="en-US" sz="1600" dirty="0">
                <a:solidFill>
                  <a:srgbClr val="111820"/>
                </a:solidFill>
                <a:latin typeface="Calibri" pitchFamily="34" charset="0"/>
                <a:ea typeface="Calibri" pitchFamily="34" charset="-122"/>
                <a:cs typeface="Calibri" pitchFamily="34" charset="-120"/>
              </a:rPr>
              <a:t>I can solve equations with brackets, negatives, or x on both sides, and turn a worded problem into an equation of my own.</a:t>
            </a:r>
            <a:endParaRPr lang="en-US" sz="1600" dirty="0"/>
          </a:p>
        </p:txBody>
      </p:sp>
      <p:sp>
        <p:nvSpPr>
          <p:cNvPr id="15" name="Text 13"/>
          <p:cNvSpPr/>
          <p:nvPr/>
        </p:nvSpPr>
        <p:spPr>
          <a:xfrm>
            <a:off x="502920" y="4892040"/>
            <a:ext cx="11183112" cy="365760"/>
          </a:xfrm>
          <a:prstGeom prst="rect">
            <a:avLst/>
          </a:prstGeom>
          <a:noFill/>
          <a:ln/>
        </p:spPr>
        <p:txBody>
          <a:bodyPr wrap="square" lIns="0" tIns="0" rIns="0" bIns="0" rtlCol="0" anchor="ctr"/>
          <a:lstStyle/>
          <a:p>
            <a:pPr indent="0" marL="0">
              <a:buNone/>
            </a:pPr>
            <a:r>
              <a:rPr lang="en-US" sz="1700" i="1" dirty="0">
                <a:solidFill>
                  <a:srgbClr val="4A5563"/>
                </a:solidFill>
                <a:latin typeface="Calibri" pitchFamily="34" charset="0"/>
                <a:ea typeface="Calibri" pitchFamily="34" charset="-122"/>
                <a:cs typeface="Calibri" pitchFamily="34" charset="-120"/>
              </a:rPr>
              <a:t>Everybody works through Foundation first. Move up as soon as it feels easy — you may complete more than one tier.</a:t>
            </a:r>
            <a:endParaRPr lang="en-US" sz="1700" dirty="0"/>
          </a:p>
        </p:txBody>
      </p:sp>
      <p:sp>
        <p:nvSpPr>
          <p:cNvPr id="16" name="Text 14"/>
          <p:cNvSpPr/>
          <p:nvPr/>
        </p:nvSpPr>
        <p:spPr>
          <a:xfrm>
            <a:off x="502920"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p>
        </p:txBody>
      </p:sp>
      <p:sp>
        <p:nvSpPr>
          <p:cNvPr id="17" name="Text 15"/>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8" name="Text 16"/>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9" name="Text 17"/>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0" name="Text 18"/>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1" name="Text 19"/>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65836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Your Bound Reference — How Today Works</a:t>
            </a:r>
            <a:endParaRPr lang="en-US" sz="3200" dirty="0"/>
          </a:p>
        </p:txBody>
      </p:sp>
      <p:sp>
        <p:nvSpPr>
          <p:cNvPr id="3" name="Shape 1"/>
          <p:cNvSpPr/>
          <p:nvPr/>
        </p:nvSpPr>
        <p:spPr>
          <a:xfrm>
            <a:off x="502920" y="1371600"/>
            <a:ext cx="5532120" cy="3200400"/>
          </a:xfrm>
          <a:prstGeom prst="roundRect">
            <a:avLst>
              <a:gd name="adj" fmla="val 2857"/>
            </a:avLst>
          </a:prstGeom>
          <a:solidFill>
            <a:srgbClr val="FFFBEB"/>
          </a:solidFill>
          <a:ln w="12700">
            <a:solidFill>
              <a:srgbClr val="F59E0B"/>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31520" y="1517904"/>
            <a:ext cx="5074920" cy="347472"/>
          </a:xfrm>
          <a:prstGeom prst="rect">
            <a:avLst/>
          </a:prstGeom>
          <a:noFill/>
          <a:ln/>
        </p:spPr>
        <p:txBody>
          <a:bodyPr wrap="square" lIns="0" tIns="0" rIns="0" bIns="0"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  When you see this flag</a:t>
            </a:r>
            <a:endParaRPr lang="en-US" sz="1800" dirty="0"/>
          </a:p>
        </p:txBody>
      </p:sp>
      <p:sp>
        <p:nvSpPr>
          <p:cNvPr id="5" name="Text 3"/>
          <p:cNvSpPr/>
          <p:nvPr/>
        </p:nvSpPr>
        <p:spPr>
          <a:xfrm>
            <a:off x="731520" y="1901952"/>
            <a:ext cx="5074920" cy="2560320"/>
          </a:xfrm>
          <a:prstGeom prst="rect">
            <a:avLst/>
          </a:prstGeom>
          <a:noFill/>
          <a:ln/>
        </p:spPr>
        <p:txBody>
          <a:bodyPr wrap="square" rtlCol="0" anchor="t"/>
          <a:lstStyle/>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Stop. Pens down on everything else.</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Copy it exactly — including the worked example.</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You may use your bound reference in the test.</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You may NOT use your workbook, this deck, or the unit site in the test.</a:t>
            </a:r>
            <a:endParaRPr lang="en-US" sz="1900" dirty="0"/>
          </a:p>
        </p:txBody>
      </p:sp>
      <p:sp>
        <p:nvSpPr>
          <p:cNvPr id="6" name="Shape 4"/>
          <p:cNvSpPr/>
          <p:nvPr/>
        </p:nvSpPr>
        <p:spPr>
          <a:xfrm>
            <a:off x="6355080" y="1371600"/>
            <a:ext cx="5330952" cy="3200400"/>
          </a:xfrm>
          <a:prstGeom prst="roundRect">
            <a:avLst>
              <a:gd name="adj" fmla="val 2857"/>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7" name="Text 5"/>
          <p:cNvSpPr/>
          <p:nvPr/>
        </p:nvSpPr>
        <p:spPr>
          <a:xfrm>
            <a:off x="6583680" y="1517904"/>
            <a:ext cx="4873752" cy="347472"/>
          </a:xfrm>
          <a:prstGeom prst="rect">
            <a:avLst/>
          </a:prstGeom>
          <a:noFill/>
          <a:ln/>
        </p:spPr>
        <p:txBody>
          <a:bodyPr wrap="square" lIns="0" tIns="0" rIns="0" bIns="0" rtlCol="0" anchor="ctr"/>
          <a:lstStyle/>
          <a:p>
            <a:pPr indent="0" marL="0">
              <a:buNone/>
            </a:pPr>
            <a:r>
              <a:rPr lang="en-US" sz="1800" b="1" dirty="0">
                <a:solidFill>
                  <a:srgbClr val="4361EE"/>
                </a:solidFill>
                <a:latin typeface="Calibri" pitchFamily="34" charset="0"/>
                <a:ea typeface="Calibri" pitchFamily="34" charset="-122"/>
                <a:cs typeface="Calibri" pitchFamily="34" charset="-120"/>
              </a:rPr>
              <a:t>What a good bound reference looks like</a:t>
            </a:r>
            <a:endParaRPr lang="en-US" sz="1800" dirty="0"/>
          </a:p>
        </p:txBody>
      </p:sp>
      <p:sp>
        <p:nvSpPr>
          <p:cNvPr id="8" name="Text 6"/>
          <p:cNvSpPr/>
          <p:nvPr/>
        </p:nvSpPr>
        <p:spPr>
          <a:xfrm>
            <a:off x="6583680" y="1901952"/>
            <a:ext cx="4873752" cy="2560320"/>
          </a:xfrm>
          <a:prstGeom prst="rect">
            <a:avLst/>
          </a:prstGeom>
          <a:noFill/>
          <a:ln/>
        </p:spPr>
        <p:txBody>
          <a:bodyPr wrap="square" rtlCol="0" anchor="t"/>
          <a:lstStyle/>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One worked example per method — not ten.</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The inverse-operations table.</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The traps that catch you personally.</a:t>
            </a:r>
            <a:endParaRPr lang="en-US" sz="1900" dirty="0"/>
          </a:p>
          <a:p>
            <a:pPr marL="342900" indent="-342900">
              <a:lnSpc>
                <a:spcPct val="105000"/>
              </a:lnSpc>
              <a:spcAft>
                <a:spcPts val="800"/>
              </a:spcAft>
              <a:buSzPct val="100000"/>
              <a:buChar char="•"/>
            </a:pPr>
            <a:r>
              <a:rPr lang="en-US" sz="1900" dirty="0">
                <a:solidFill>
                  <a:srgbClr val="111820"/>
                </a:solidFill>
                <a:latin typeface="Calibri" pitchFamily="34" charset="0"/>
                <a:ea typeface="Calibri" pitchFamily="34" charset="-122"/>
                <a:cs typeface="Calibri" pitchFamily="34" charset="-120"/>
              </a:rPr>
              <a:t>Written by you. Copying someone else’s is useless in a test.</a:t>
            </a:r>
            <a:endParaRPr lang="en-US" sz="1900" dirty="0"/>
          </a:p>
        </p:txBody>
      </p:sp>
      <p:sp>
        <p:nvSpPr>
          <p:cNvPr id="9" name="Text 7"/>
          <p:cNvSpPr/>
          <p:nvPr/>
        </p:nvSpPr>
        <p:spPr>
          <a:xfrm>
            <a:off x="502920" y="4800600"/>
            <a:ext cx="11183112" cy="411480"/>
          </a:xfrm>
          <a:prstGeom prst="rect">
            <a:avLst/>
          </a:prstGeom>
          <a:noFill/>
          <a:ln/>
        </p:spPr>
        <p:txBody>
          <a:bodyPr wrap="square" lIns="0" tIns="0" rIns="0" bIns="0" rtlCol="0" anchor="ctr"/>
          <a:lstStyle/>
          <a:p>
            <a:pPr indent="0" marL="0">
              <a:buNone/>
            </a:pPr>
            <a:r>
              <a:rPr lang="en-US" sz="1900" b="1" dirty="0">
                <a:solidFill>
                  <a:srgbClr val="111820"/>
                </a:solidFill>
                <a:latin typeface="Calibri" pitchFamily="34" charset="0"/>
                <a:ea typeface="Calibri" pitchFamily="34" charset="-122"/>
                <a:cs typeface="Calibri" pitchFamily="34" charset="-120"/>
              </a:rPr>
              <a:t>There are six ✎ COPY slides in this lesson. By the end you will have a complete one-page algebra reference.</a:t>
            </a:r>
            <a:endParaRPr lang="en-US" sz="1900" dirty="0"/>
          </a:p>
        </p:txBody>
      </p:sp>
      <p:sp>
        <p:nvSpPr>
          <p:cNvPr id="10" name="Text 8"/>
          <p:cNvSpPr/>
          <p:nvPr/>
        </p:nvSpPr>
        <p:spPr>
          <a:xfrm>
            <a:off x="502920"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p>
        </p:txBody>
      </p:sp>
      <p:sp>
        <p:nvSpPr>
          <p:cNvPr id="11" name="Text 9"/>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2" name="Text 10"/>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3" name="Text 11"/>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4" name="Text 12"/>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15" name="Text 13"/>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The Language of Algebra</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858000" cy="914400"/>
        </p:xfrm>
        <a:graphic>
          <a:graphicData uri="http://schemas.openxmlformats.org/drawingml/2006/table">
            <a:tbl>
              <a:tblPr/>
              <a:tblGrid>
                <a:gridCol w="1828800"/>
                <a:gridCol w="5029200"/>
              </a:tblGrid>
              <a:tr h="402336">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Word</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What it means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Pronumeral</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 letter standing for a number we don’t know yet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Coefficient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The number multiplying a pronumeral</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Constant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 term that is just a number</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Term</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 chunk separated by + or − signs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Expression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Terms and operations, with NO equals sign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Equation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Two expressions joined by an equals sign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Like terms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Same letter(s), same power — can be added together</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bl>
          </a:graphicData>
        </a:graphic>
      </p:graphicFrame>
      <p:sp>
        <p:nvSpPr>
          <p:cNvPr id="5" name="Shape 2"/>
          <p:cNvSpPr/>
          <p:nvPr/>
        </p:nvSpPr>
        <p:spPr>
          <a:xfrm>
            <a:off x="7680960" y="1417320"/>
            <a:ext cx="4005072" cy="3246120"/>
          </a:xfrm>
          <a:prstGeom prst="roundRect">
            <a:avLst>
              <a:gd name="adj" fmla="val 2817"/>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6" name="Text 3"/>
          <p:cNvSpPr/>
          <p:nvPr/>
        </p:nvSpPr>
        <p:spPr>
          <a:xfrm>
            <a:off x="7863840" y="1554480"/>
            <a:ext cx="3200400" cy="292608"/>
          </a:xfrm>
          <a:prstGeom prst="rect">
            <a:avLst/>
          </a:prstGeom>
          <a:noFill/>
          <a:ln/>
        </p:spPr>
        <p:txBody>
          <a:bodyPr wrap="square" lIns="0" tIns="0" rIns="0" bIns="0" rtlCol="0" anchor="ctr"/>
          <a:lstStyle/>
          <a:p>
            <a:pPr indent="0" marL="0">
              <a:buNone/>
            </a:pPr>
            <a:r>
              <a:rPr lang="en-US" sz="1400" b="1" spc="60" kern="0" dirty="0">
                <a:solidFill>
                  <a:srgbClr val="4361EE"/>
                </a:solidFill>
                <a:latin typeface="Calibri" pitchFamily="34" charset="0"/>
                <a:ea typeface="Calibri" pitchFamily="34" charset="-122"/>
                <a:cs typeface="Calibri" pitchFamily="34" charset="-120"/>
              </a:rPr>
              <a:t>Worked example</a:t>
            </a:r>
            <a:endParaRPr lang="en-US" sz="1400" dirty="0"/>
          </a:p>
        </p:txBody>
      </p:sp>
      <p:sp>
        <p:nvSpPr>
          <p:cNvPr id="7" name="Text 4"/>
          <p:cNvSpPr/>
          <p:nvPr/>
        </p:nvSpPr>
        <p:spPr>
          <a:xfrm>
            <a:off x="7863840" y="1874520"/>
            <a:ext cx="3200400" cy="457200"/>
          </a:xfrm>
          <a:prstGeom prst="rect">
            <a:avLst/>
          </a:prstGeom>
          <a:noFill/>
          <a:ln/>
        </p:spPr>
        <p:txBody>
          <a:bodyPr wrap="square" lIns="0" tIns="0" rIns="0" bIns="0" rtlCol="0" anchor="ctr"/>
          <a:lstStyle/>
          <a:p>
            <a:pPr indent="0" marL="0">
              <a:buNone/>
            </a:pPr>
            <a:r>
              <a:rPr lang="en-US" sz="2600" b="1" dirty="0">
                <a:solidFill>
                  <a:srgbClr val="111820"/>
                </a:solidFill>
                <a:latin typeface="Consolas" pitchFamily="34" charset="0"/>
                <a:ea typeface="Consolas" pitchFamily="34" charset="-122"/>
                <a:cs typeface="Consolas" pitchFamily="34" charset="-120"/>
              </a:rPr>
              <a:t>6x + 4y − 9</a:t>
            </a:r>
            <a:endParaRPr lang="en-US" sz="2600" dirty="0"/>
          </a:p>
        </p:txBody>
      </p:sp>
      <p:sp>
        <p:nvSpPr>
          <p:cNvPr id="8" name="Text 5"/>
          <p:cNvSpPr/>
          <p:nvPr/>
        </p:nvSpPr>
        <p:spPr>
          <a:xfrm>
            <a:off x="7863840" y="2377440"/>
            <a:ext cx="3108960" cy="2103120"/>
          </a:xfrm>
          <a:prstGeom prst="rect">
            <a:avLst/>
          </a:prstGeom>
          <a:noFill/>
          <a:ln/>
        </p:spPr>
        <p:txBody>
          <a:bodyPr wrap="square" rtlCol="0" anchor="t"/>
          <a:lstStyle/>
          <a:p>
            <a:pPr marL="342900" indent="-342900">
              <a:lnSpc>
                <a:spcPct val="105000"/>
              </a:lnSpc>
              <a:spcAft>
                <a:spcPts val="500"/>
              </a:spcAft>
              <a:buSzPct val="100000"/>
              <a:buChar char="•"/>
            </a:pPr>
            <a:r>
              <a:rPr lang="en-US" sz="1700" dirty="0">
                <a:solidFill>
                  <a:srgbClr val="111820"/>
                </a:solidFill>
                <a:latin typeface="Calibri" pitchFamily="34" charset="0"/>
                <a:ea typeface="Calibri" pitchFamily="34" charset="-122"/>
                <a:cs typeface="Calibri" pitchFamily="34" charset="-120"/>
              </a:rPr>
              <a:t>3 terms</a:t>
            </a:r>
            <a:endParaRPr lang="en-US" sz="1700" dirty="0"/>
          </a:p>
          <a:p>
            <a:pPr marL="342900" indent="-342900">
              <a:lnSpc>
                <a:spcPct val="105000"/>
              </a:lnSpc>
              <a:spcAft>
                <a:spcPts val="500"/>
              </a:spcAft>
              <a:buSzPct val="100000"/>
              <a:buChar char="•"/>
            </a:pPr>
            <a:r>
              <a:rPr lang="en-US" sz="1700" dirty="0">
                <a:solidFill>
                  <a:srgbClr val="111820"/>
                </a:solidFill>
                <a:latin typeface="Calibri" pitchFamily="34" charset="0"/>
                <a:ea typeface="Calibri" pitchFamily="34" charset="-122"/>
                <a:cs typeface="Calibri" pitchFamily="34" charset="-120"/>
              </a:rPr>
              <a:t>coefficient of x is 6</a:t>
            </a:r>
            <a:endParaRPr lang="en-US" sz="1700" dirty="0"/>
          </a:p>
          <a:p>
            <a:pPr marL="342900" indent="-342900">
              <a:lnSpc>
                <a:spcPct val="105000"/>
              </a:lnSpc>
              <a:spcAft>
                <a:spcPts val="500"/>
              </a:spcAft>
              <a:buSzPct val="100000"/>
              <a:buChar char="•"/>
            </a:pPr>
            <a:r>
              <a:rPr lang="en-US" sz="1700" dirty="0">
                <a:solidFill>
                  <a:srgbClr val="111820"/>
                </a:solidFill>
                <a:latin typeface="Calibri" pitchFamily="34" charset="0"/>
                <a:ea typeface="Calibri" pitchFamily="34" charset="-122"/>
                <a:cs typeface="Calibri" pitchFamily="34" charset="-120"/>
              </a:rPr>
              <a:t>coefficient of y is 4</a:t>
            </a:r>
            <a:endParaRPr lang="en-US" sz="1700" dirty="0"/>
          </a:p>
          <a:p>
            <a:pPr marL="342900" indent="-342900">
              <a:lnSpc>
                <a:spcPct val="105000"/>
              </a:lnSpc>
              <a:spcAft>
                <a:spcPts val="500"/>
              </a:spcAft>
              <a:buSzPct val="100000"/>
              <a:buChar char="•"/>
            </a:pPr>
            <a:r>
              <a:rPr lang="en-US" sz="1700" dirty="0">
                <a:solidFill>
                  <a:srgbClr val="111820"/>
                </a:solidFill>
                <a:latin typeface="Calibri" pitchFamily="34" charset="0"/>
                <a:ea typeface="Calibri" pitchFamily="34" charset="-122"/>
                <a:cs typeface="Calibri" pitchFamily="34" charset="-120"/>
              </a:rPr>
              <a:t>−9 is the constant</a:t>
            </a:r>
            <a:endParaRPr lang="en-US" sz="1700" dirty="0"/>
          </a:p>
          <a:p>
            <a:pPr marL="342900" indent="-342900">
              <a:lnSpc>
                <a:spcPct val="105000"/>
              </a:lnSpc>
              <a:spcAft>
                <a:spcPts val="500"/>
              </a:spcAft>
              <a:buSzPct val="100000"/>
              <a:buChar char="•"/>
            </a:pPr>
            <a:r>
              <a:rPr lang="en-US" sz="1700" dirty="0">
                <a:solidFill>
                  <a:srgbClr val="111820"/>
                </a:solidFill>
                <a:latin typeface="Calibri" pitchFamily="34" charset="0"/>
                <a:ea typeface="Calibri" pitchFamily="34" charset="-122"/>
                <a:cs typeface="Calibri" pitchFamily="34" charset="-120"/>
              </a:rPr>
              <a:t>no "=", so it is an expression</a:t>
            </a:r>
            <a:endParaRPr lang="en-US" sz="1700" dirty="0"/>
          </a:p>
        </p:txBody>
      </p:sp>
      <p:sp>
        <p:nvSpPr>
          <p:cNvPr id="9" name="Shape 6"/>
          <p:cNvSpPr/>
          <p:nvPr/>
        </p:nvSpPr>
        <p:spPr>
          <a:xfrm>
            <a:off x="502920" y="4828032"/>
            <a:ext cx="11183112" cy="685800"/>
          </a:xfrm>
          <a:prstGeom prst="roundRect">
            <a:avLst>
              <a:gd name="adj" fmla="val 13333"/>
            </a:avLst>
          </a:prstGeom>
          <a:solidFill>
            <a:srgbClr val="FFFBEB"/>
          </a:solidFill>
          <a:ln w="12700">
            <a:solidFill>
              <a:srgbClr val="F59E0B"/>
            </a:solidFill>
            <a:prstDash val="solid"/>
          </a:ln>
          <a:effectLst>
            <a:outerShdw sx="100000" sy="100000" kx="0" ky="0" algn="bl" rotWithShape="0" blurRad="76200" dist="12700" dir="5400000">
              <a:srgbClr val="BFC7D2">
                <a:alpha val="35000"/>
              </a:srgbClr>
            </a:outerShdw>
          </a:effectLst>
        </p:spPr>
      </p:sp>
      <p:sp>
        <p:nvSpPr>
          <p:cNvPr id="10" name="Text 7"/>
          <p:cNvSpPr/>
          <p:nvPr/>
        </p:nvSpPr>
        <p:spPr>
          <a:xfrm>
            <a:off x="731520" y="4919472"/>
            <a:ext cx="10725912" cy="502920"/>
          </a:xfrm>
          <a:prstGeom prst="rect">
            <a:avLst/>
          </a:prstGeom>
          <a:noFill/>
          <a:ln/>
        </p:spPr>
        <p:txBody>
          <a:bodyPr wrap="square" lIns="0" tIns="0" rIns="0" bIns="0" rtlCol="0" anchor="ctr"/>
          <a:lstStyle/>
          <a:p>
            <a:pPr indent="0" marL="0">
              <a:buNone/>
            </a:pPr>
            <a:r>
              <a:rPr lang="en-US" sz="1800" b="1" dirty="0">
                <a:solidFill>
                  <a:srgbClr val="111820"/>
                </a:solidFill>
                <a:latin typeface="Calibri" pitchFamily="34" charset="0"/>
                <a:ea typeface="Calibri" pitchFamily="34" charset="-122"/>
                <a:cs typeface="Calibri" pitchFamily="34" charset="-120"/>
              </a:rPr>
              <a:t>Trap:  x on its own has a coefficient of 1, and −x has a coefficient of −1. The 1 is invisible, but it is there.</a:t>
            </a:r>
            <a:endParaRPr lang="en-US" sz="1800" dirty="0"/>
          </a:p>
        </p:txBody>
      </p:sp>
      <p:sp>
        <p:nvSpPr>
          <p:cNvPr id="11" name="Text 8"/>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2" name="Text 9"/>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13" name="Text 10"/>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4" name="Text 11"/>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5" name="Text 12"/>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16" name="Text 13"/>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Patterns — Finding the Rule</a:t>
            </a:r>
            <a:endParaRPr lang="en-US" sz="3200" dirty="0"/>
          </a:p>
        </p:txBody>
      </p:sp>
      <p:sp>
        <p:nvSpPr>
          <p:cNvPr id="4" name="Shape 2"/>
          <p:cNvSpPr/>
          <p:nvPr/>
        </p:nvSpPr>
        <p:spPr>
          <a:xfrm>
            <a:off x="502920" y="1417320"/>
            <a:ext cx="5349240" cy="2148840"/>
          </a:xfrm>
          <a:prstGeom prst="roundRect">
            <a:avLst>
              <a:gd name="adj" fmla="val 4255"/>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5" name="Text 3"/>
          <p:cNvSpPr/>
          <p:nvPr/>
        </p:nvSpPr>
        <p:spPr>
          <a:xfrm>
            <a:off x="704088" y="1536192"/>
            <a:ext cx="4937760" cy="292608"/>
          </a:xfrm>
          <a:prstGeom prst="rect">
            <a:avLst/>
          </a:prstGeom>
          <a:noFill/>
          <a:ln/>
        </p:spPr>
        <p:txBody>
          <a:bodyPr wrap="square" lIns="0" tIns="0" rIns="0" bIns="0" rtlCol="0" anchor="ctr"/>
          <a:lstStyle/>
          <a:p>
            <a:pPr indent="0" marL="0">
              <a:buNone/>
            </a:pPr>
            <a:r>
              <a:rPr lang="en-US" sz="1400" b="1" spc="60" kern="0" dirty="0">
                <a:solidFill>
                  <a:srgbClr val="4361EE"/>
                </a:solidFill>
                <a:latin typeface="Calibri" pitchFamily="34" charset="0"/>
                <a:ea typeface="Calibri" pitchFamily="34" charset="-122"/>
                <a:cs typeface="Calibri" pitchFamily="34" charset="-120"/>
              </a:rPr>
              <a:t>The method</a:t>
            </a:r>
            <a:endParaRPr lang="en-US" sz="1400" dirty="0"/>
          </a:p>
        </p:txBody>
      </p:sp>
      <p:sp>
        <p:nvSpPr>
          <p:cNvPr id="6" name="Text 4"/>
          <p:cNvSpPr/>
          <p:nvPr/>
        </p:nvSpPr>
        <p:spPr>
          <a:xfrm>
            <a:off x="704088" y="1847088"/>
            <a:ext cx="4937760" cy="1645920"/>
          </a:xfrm>
          <a:prstGeom prst="rect">
            <a:avLst/>
          </a:prstGeom>
          <a:noFill/>
          <a:ln/>
        </p:spPr>
        <p:txBody>
          <a:bodyPr wrap="square" rtlCol="0" anchor="t"/>
          <a:lstStyle/>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Find the common difference → that is the coefficient of n</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Test it on term 1, then adjust with + or −</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Check the rule on a different term</a:t>
            </a:r>
            <a:endParaRPr lang="en-US" sz="1800" dirty="0"/>
          </a:p>
        </p:txBody>
      </p:sp>
      <p:sp>
        <p:nvSpPr>
          <p:cNvPr id="7" name="Text 5"/>
          <p:cNvSpPr/>
          <p:nvPr/>
        </p:nvSpPr>
        <p:spPr>
          <a:xfrm>
            <a:off x="502920" y="3675888"/>
            <a:ext cx="5349240" cy="329184"/>
          </a:xfrm>
          <a:prstGeom prst="rect">
            <a:avLst/>
          </a:prstGeom>
          <a:noFill/>
          <a:ln/>
        </p:spPr>
        <p:txBody>
          <a:bodyPr wrap="square" lIns="0" tIns="0" rIns="0" bIns="0" rtlCol="0" anchor="ctr"/>
          <a:lstStyle/>
          <a:p>
            <a:pPr indent="0" marL="0">
              <a:buNone/>
            </a:pPr>
            <a:r>
              <a:rPr lang="en-US" sz="1700" b="1" i="1" dirty="0">
                <a:solidFill>
                  <a:srgbClr val="F59E0B"/>
                </a:solidFill>
                <a:latin typeface="Calibri" pitchFamily="34" charset="0"/>
                <a:ea typeface="Calibri" pitchFamily="34" charset="-122"/>
                <a:cs typeface="Calibri" pitchFamily="34" charset="-120"/>
              </a:rPr>
              <a:t>n = the term NUMBER (position), not the term itself.</a:t>
            </a:r>
            <a:endParaRPr lang="en-US" sz="1700" dirty="0"/>
          </a:p>
        </p:txBody>
      </p:sp>
      <p:sp>
        <p:nvSpPr>
          <p:cNvPr id="8" name="Shape 6"/>
          <p:cNvSpPr/>
          <p:nvPr/>
        </p:nvSpPr>
        <p:spPr>
          <a:xfrm>
            <a:off x="6172200" y="1417320"/>
            <a:ext cx="5513832" cy="3246120"/>
          </a:xfrm>
          <a:prstGeom prst="roundRect">
            <a:avLst>
              <a:gd name="adj" fmla="val 2817"/>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9" name="Text 7"/>
          <p:cNvSpPr/>
          <p:nvPr/>
        </p:nvSpPr>
        <p:spPr>
          <a:xfrm>
            <a:off x="6373368" y="1545336"/>
            <a:ext cx="5111496" cy="310896"/>
          </a:xfrm>
          <a:prstGeom prst="rect">
            <a:avLst/>
          </a:prstGeom>
          <a:noFill/>
          <a:ln/>
        </p:spPr>
        <p:txBody>
          <a:bodyPr wrap="square" lIns="0" tIns="0" rIns="0" bIns="0" rtlCol="0" anchor="ctr"/>
          <a:lstStyle/>
          <a:p>
            <a:pPr indent="0" marL="0">
              <a:buNone/>
            </a:pPr>
            <a:r>
              <a:rPr lang="en-US" sz="1400" b="1" spc="60" kern="0" dirty="0">
                <a:solidFill>
                  <a:srgbClr val="10B981"/>
                </a:solidFill>
                <a:latin typeface="Calibri" pitchFamily="34" charset="0"/>
                <a:ea typeface="Calibri" pitchFamily="34" charset="-122"/>
                <a:cs typeface="Calibri" pitchFamily="34" charset="-120"/>
              </a:rPr>
              <a:t>WORKED EXAMPLE — find the rule for 5, 8, 11, 14, …</a:t>
            </a:r>
            <a:endParaRPr lang="en-US" sz="1400" dirty="0"/>
          </a:p>
        </p:txBody>
      </p:sp>
      <p:sp>
        <p:nvSpPr>
          <p:cNvPr id="10" name="Text 8"/>
          <p:cNvSpPr/>
          <p:nvPr/>
        </p:nvSpPr>
        <p:spPr>
          <a:xfrm>
            <a:off x="6373368" y="1929384"/>
            <a:ext cx="5111496"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8 − 5 = 3</a:t>
            </a:r>
            <a:endParaRPr lang="en-US" sz="1900" dirty="0"/>
          </a:p>
        </p:txBody>
      </p:sp>
      <p:sp>
        <p:nvSpPr>
          <p:cNvPr id="11" name="Text 9"/>
          <p:cNvSpPr/>
          <p:nvPr/>
        </p:nvSpPr>
        <p:spPr>
          <a:xfrm>
            <a:off x="6373368" y="2231136"/>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common difference → rule starts as 3n</a:t>
            </a:r>
            <a:endParaRPr lang="en-US" sz="1300" dirty="0"/>
          </a:p>
        </p:txBody>
      </p:sp>
      <p:sp>
        <p:nvSpPr>
          <p:cNvPr id="12" name="Text 10"/>
          <p:cNvSpPr/>
          <p:nvPr/>
        </p:nvSpPr>
        <p:spPr>
          <a:xfrm>
            <a:off x="6373368" y="2505456"/>
            <a:ext cx="5111496"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3 × 1 = 3,  but term 1 is 5</a:t>
            </a:r>
            <a:endParaRPr lang="en-US" sz="1900" dirty="0"/>
          </a:p>
        </p:txBody>
      </p:sp>
      <p:sp>
        <p:nvSpPr>
          <p:cNvPr id="13" name="Text 11"/>
          <p:cNvSpPr/>
          <p:nvPr/>
        </p:nvSpPr>
        <p:spPr>
          <a:xfrm>
            <a:off x="6373368" y="2807208"/>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3 is 2 short — so add 2</a:t>
            </a:r>
            <a:endParaRPr lang="en-US" sz="1300" dirty="0"/>
          </a:p>
        </p:txBody>
      </p:sp>
      <p:sp>
        <p:nvSpPr>
          <p:cNvPr id="14" name="Text 12"/>
          <p:cNvSpPr/>
          <p:nvPr/>
        </p:nvSpPr>
        <p:spPr>
          <a:xfrm>
            <a:off x="6373368" y="3081528"/>
            <a:ext cx="5111496" cy="329184"/>
          </a:xfrm>
          <a:prstGeom prst="rect">
            <a:avLst/>
          </a:prstGeom>
          <a:noFill/>
          <a:ln/>
        </p:spPr>
        <p:txBody>
          <a:bodyPr wrap="square" lIns="0" tIns="0" rIns="0" bIns="0" rtlCol="0" anchor="ctr"/>
          <a:lstStyle/>
          <a:p>
            <a:pPr indent="0" marL="0">
              <a:buNone/>
            </a:pPr>
            <a:r>
              <a:rPr lang="en-US" sz="1900" b="1" dirty="0">
                <a:solidFill>
                  <a:srgbClr val="10B981"/>
                </a:solidFill>
                <a:latin typeface="Consolas" pitchFamily="34" charset="0"/>
                <a:ea typeface="Consolas" pitchFamily="34" charset="-122"/>
                <a:cs typeface="Consolas" pitchFamily="34" charset="-120"/>
              </a:rPr>
              <a:t>Rule  =  3n + 2</a:t>
            </a:r>
            <a:endParaRPr lang="en-US" sz="1900" dirty="0"/>
          </a:p>
        </p:txBody>
      </p:sp>
      <p:sp>
        <p:nvSpPr>
          <p:cNvPr id="15" name="Text 13"/>
          <p:cNvSpPr/>
          <p:nvPr/>
        </p:nvSpPr>
        <p:spPr>
          <a:xfrm>
            <a:off x="6373368" y="3465576"/>
            <a:ext cx="5111496"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Check term 4:  3 × 4 + 2 = 14  ✓</a:t>
            </a:r>
            <a:endParaRPr lang="en-US" sz="1900" dirty="0"/>
          </a:p>
        </p:txBody>
      </p:sp>
      <p:sp>
        <p:nvSpPr>
          <p:cNvPr id="16" name="Shape 14"/>
          <p:cNvSpPr/>
          <p:nvPr/>
        </p:nvSpPr>
        <p:spPr>
          <a:xfrm>
            <a:off x="502920" y="4828032"/>
            <a:ext cx="11183112" cy="713232"/>
          </a:xfrm>
          <a:prstGeom prst="roundRect">
            <a:avLst>
              <a:gd name="adj" fmla="val 12821"/>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17" name="Text 15"/>
          <p:cNvSpPr/>
          <p:nvPr/>
        </p:nvSpPr>
        <p:spPr>
          <a:xfrm>
            <a:off x="731520" y="4919472"/>
            <a:ext cx="10725912" cy="530352"/>
          </a:xfrm>
          <a:prstGeom prst="rect">
            <a:avLst/>
          </a:prstGeom>
          <a:noFill/>
          <a:ln/>
        </p:spPr>
        <p:txBody>
          <a:bodyPr wrap="square" lIns="0" tIns="0" rIns="0" bIns="0" rtlCol="0" anchor="ctr"/>
          <a:lstStyle/>
          <a:p>
            <a:pPr indent="0" marL="0">
              <a:buNone/>
            </a:pPr>
            <a:r>
              <a:rPr lang="en-US" sz="1800" dirty="0">
                <a:solidFill>
                  <a:srgbClr val="111820"/>
                </a:solidFill>
                <a:latin typeface="Calibri" pitchFamily="34" charset="0"/>
                <a:ea typeface="Calibri" pitchFamily="34" charset="-122"/>
                <a:cs typeface="Calibri" pitchFamily="34" charset="-120"/>
              </a:rPr>
              <a:t>Once you have the rule you never count again.   50th term? Substitute n = 50.   Which term equals 47?   Solve  3n + 2 = 47  →  n = 15.</a:t>
            </a:r>
            <a:endParaRPr lang="en-US" sz="1800" dirty="0"/>
          </a:p>
        </p:txBody>
      </p:sp>
      <p:sp>
        <p:nvSpPr>
          <p:cNvPr id="18" name="Text 16"/>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9" name="Text 17"/>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20" name="Text 18"/>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21" name="Text 19"/>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2" name="Text 20"/>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3" name="Text 21"/>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56692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Together — Two Quick Ones</a:t>
            </a:r>
            <a:endParaRPr lang="en-US" sz="3200" dirty="0"/>
          </a:p>
        </p:txBody>
      </p:sp>
      <p:sp>
        <p:nvSpPr>
          <p:cNvPr id="3" name="Shape 1"/>
          <p:cNvSpPr/>
          <p:nvPr/>
        </p:nvSpPr>
        <p:spPr>
          <a:xfrm>
            <a:off x="502920" y="1188720"/>
            <a:ext cx="5532120" cy="3566160"/>
          </a:xfrm>
          <a:prstGeom prst="roundRect">
            <a:avLst>
              <a:gd name="adj" fmla="val 2564"/>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31520" y="1325880"/>
            <a:ext cx="5029200" cy="310896"/>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Pattern A</a:t>
            </a:r>
            <a:endParaRPr lang="en-US" sz="1500" dirty="0"/>
          </a:p>
        </p:txBody>
      </p:sp>
      <p:sp>
        <p:nvSpPr>
          <p:cNvPr id="5" name="Text 3"/>
          <p:cNvSpPr/>
          <p:nvPr/>
        </p:nvSpPr>
        <p:spPr>
          <a:xfrm>
            <a:off x="731520" y="1645920"/>
            <a:ext cx="5029200" cy="457200"/>
          </a:xfrm>
          <a:prstGeom prst="rect">
            <a:avLst/>
          </a:prstGeom>
          <a:noFill/>
          <a:ln/>
        </p:spPr>
        <p:txBody>
          <a:bodyPr wrap="square" lIns="0" tIns="0" rIns="0" bIns="0" rtlCol="0" anchor="ctr"/>
          <a:lstStyle/>
          <a:p>
            <a:pPr indent="0" marL="0">
              <a:buNone/>
            </a:pPr>
            <a:r>
              <a:rPr lang="en-US" sz="2400" b="1" dirty="0">
                <a:solidFill>
                  <a:srgbClr val="111820"/>
                </a:solidFill>
                <a:latin typeface="Consolas" pitchFamily="34" charset="0"/>
                <a:ea typeface="Consolas" pitchFamily="34" charset="-122"/>
                <a:cs typeface="Consolas" pitchFamily="34" charset="-120"/>
              </a:rPr>
              <a:t>4, 9, 14, 19, …</a:t>
            </a:r>
            <a:endParaRPr lang="en-US" sz="2400" dirty="0"/>
          </a:p>
        </p:txBody>
      </p:sp>
      <p:sp>
        <p:nvSpPr>
          <p:cNvPr id="6" name="Text 4"/>
          <p:cNvSpPr/>
          <p:nvPr/>
        </p:nvSpPr>
        <p:spPr>
          <a:xfrm>
            <a:off x="731520" y="2148840"/>
            <a:ext cx="5029200" cy="2377440"/>
          </a:xfrm>
          <a:prstGeom prst="rect">
            <a:avLst/>
          </a:prstGeom>
          <a:noFill/>
          <a:ln/>
        </p:spPr>
        <p:txBody>
          <a:bodyPr wrap="square" rtlCol="0" anchor="t"/>
          <a:lstStyle/>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Difference is 5  →  starts as 5n</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5 × 1 = 5, but term 1 is 4  →  one too many</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Rule = 5n − 1</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Check term 3:  5 × 3 − 1 = 14  ✓</a:t>
            </a:r>
            <a:endParaRPr lang="en-US" sz="1800" dirty="0"/>
          </a:p>
        </p:txBody>
      </p:sp>
      <p:sp>
        <p:nvSpPr>
          <p:cNvPr id="7" name="Shape 5"/>
          <p:cNvSpPr/>
          <p:nvPr/>
        </p:nvSpPr>
        <p:spPr>
          <a:xfrm>
            <a:off x="6355080" y="1188720"/>
            <a:ext cx="5330952" cy="3566160"/>
          </a:xfrm>
          <a:prstGeom prst="roundRect">
            <a:avLst>
              <a:gd name="adj" fmla="val 2564"/>
            </a:avLst>
          </a:prstGeom>
          <a:solidFill>
            <a:srgbClr val="F5F3FF"/>
          </a:solidFill>
          <a:ln w="12700">
            <a:solidFill>
              <a:srgbClr val="8B5CF6"/>
            </a:solidFill>
            <a:prstDash val="solid"/>
          </a:ln>
          <a:effectLst>
            <a:outerShdw sx="100000" sy="100000" kx="0" ky="0" algn="bl" rotWithShape="0" blurRad="76200" dist="12700" dir="5400000">
              <a:srgbClr val="BFC7D2">
                <a:alpha val="35000"/>
              </a:srgbClr>
            </a:outerShdw>
          </a:effectLst>
        </p:spPr>
      </p:sp>
      <p:sp>
        <p:nvSpPr>
          <p:cNvPr id="8" name="Text 6"/>
          <p:cNvSpPr/>
          <p:nvPr/>
        </p:nvSpPr>
        <p:spPr>
          <a:xfrm>
            <a:off x="6583680" y="1325880"/>
            <a:ext cx="5029200" cy="310896"/>
          </a:xfrm>
          <a:prstGeom prst="rect">
            <a:avLst/>
          </a:prstGeom>
          <a:noFill/>
          <a:ln/>
        </p:spPr>
        <p:txBody>
          <a:bodyPr wrap="square" lIns="0" tIns="0" rIns="0" bIns="0" rtlCol="0" anchor="ctr"/>
          <a:lstStyle/>
          <a:p>
            <a:pPr indent="0" marL="0">
              <a:buNone/>
            </a:pPr>
            <a:r>
              <a:rPr lang="en-US" sz="1500" b="1" dirty="0">
                <a:solidFill>
                  <a:srgbClr val="8B5CF6"/>
                </a:solidFill>
                <a:latin typeface="Calibri" pitchFamily="34" charset="0"/>
                <a:ea typeface="Calibri" pitchFamily="34" charset="-122"/>
                <a:cs typeface="Calibri" pitchFamily="34" charset="-120"/>
              </a:rPr>
              <a:t>🟣  Pattern B — your turn</a:t>
            </a:r>
            <a:endParaRPr lang="en-US" sz="1500" dirty="0"/>
          </a:p>
        </p:txBody>
      </p:sp>
      <p:sp>
        <p:nvSpPr>
          <p:cNvPr id="9" name="Text 7"/>
          <p:cNvSpPr/>
          <p:nvPr/>
        </p:nvSpPr>
        <p:spPr>
          <a:xfrm>
            <a:off x="6583680" y="1645920"/>
            <a:ext cx="5029200" cy="457200"/>
          </a:xfrm>
          <a:prstGeom prst="rect">
            <a:avLst/>
          </a:prstGeom>
          <a:noFill/>
          <a:ln/>
        </p:spPr>
        <p:txBody>
          <a:bodyPr wrap="square" lIns="0" tIns="0" rIns="0" bIns="0" rtlCol="0" anchor="ctr"/>
          <a:lstStyle/>
          <a:p>
            <a:pPr indent="0" marL="0">
              <a:buNone/>
            </a:pPr>
            <a:r>
              <a:rPr lang="en-US" sz="2400" b="1" dirty="0">
                <a:solidFill>
                  <a:srgbClr val="111820"/>
                </a:solidFill>
                <a:latin typeface="Consolas" pitchFamily="34" charset="0"/>
                <a:ea typeface="Consolas" pitchFamily="34" charset="-122"/>
                <a:cs typeface="Consolas" pitchFamily="34" charset="-120"/>
              </a:rPr>
              <a:t>100, 95, 90, 85, …</a:t>
            </a:r>
            <a:endParaRPr lang="en-US" sz="2400" dirty="0"/>
          </a:p>
        </p:txBody>
      </p:sp>
      <p:sp>
        <p:nvSpPr>
          <p:cNvPr id="10" name="Text 8"/>
          <p:cNvSpPr/>
          <p:nvPr/>
        </p:nvSpPr>
        <p:spPr>
          <a:xfrm>
            <a:off x="6583680" y="2148840"/>
            <a:ext cx="5029200" cy="2377440"/>
          </a:xfrm>
          <a:prstGeom prst="rect">
            <a:avLst/>
          </a:prstGeom>
          <a:noFill/>
          <a:ln/>
        </p:spPr>
        <p:txBody>
          <a:bodyPr wrap="square" rtlCol="0" anchor="t"/>
          <a:lstStyle/>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What is the common difference this time?</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What does that do to the sign?</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Write the rule, then check it on term 4.</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Then: is 5 in this pattern? Which term?</a:t>
            </a:r>
            <a:endParaRPr lang="en-US" sz="1800" dirty="0"/>
          </a:p>
        </p:txBody>
      </p:sp>
      <p:sp>
        <p:nvSpPr>
          <p:cNvPr id="11" name="Text 9"/>
          <p:cNvSpPr/>
          <p:nvPr/>
        </p:nvSpPr>
        <p:spPr>
          <a:xfrm>
            <a:off x="502920" y="4937760"/>
            <a:ext cx="11183112" cy="384048"/>
          </a:xfrm>
          <a:prstGeom prst="rect">
            <a:avLst/>
          </a:prstGeom>
          <a:noFill/>
          <a:ln/>
        </p:spPr>
        <p:txBody>
          <a:bodyPr wrap="square" lIns="0" tIns="0" rIns="0" bIns="0" rtlCol="0" anchor="ctr"/>
          <a:lstStyle/>
          <a:p>
            <a:pPr indent="0" marL="0">
              <a:buNone/>
            </a:pPr>
            <a:r>
              <a:rPr lang="en-US" sz="1800" i="1" dirty="0">
                <a:solidFill>
                  <a:srgbClr val="4A5563"/>
                </a:solidFill>
                <a:latin typeface="Calibri" pitchFamily="34" charset="0"/>
                <a:ea typeface="Calibri" pitchFamily="34" charset="-122"/>
                <a:cs typeface="Calibri" pitchFamily="34" charset="-120"/>
              </a:rPr>
              <a:t>Think → Pair → Share.  Two minutes on your own first, then compare with a partner.</a:t>
            </a:r>
            <a:endParaRPr lang="en-US" sz="1800" dirty="0"/>
          </a:p>
        </p:txBody>
      </p:sp>
      <p:sp>
        <p:nvSpPr>
          <p:cNvPr id="12" name="Text 10"/>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3" name="Text 11"/>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14" name="Text 12"/>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5" name="Text 13"/>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6" name="Text 14"/>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17" name="Text 15"/>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Substitution</a:t>
            </a:r>
            <a:endParaRPr lang="en-US" sz="3200" dirty="0"/>
          </a:p>
        </p:txBody>
      </p:sp>
      <p:sp>
        <p:nvSpPr>
          <p:cNvPr id="4" name="Shape 2"/>
          <p:cNvSpPr/>
          <p:nvPr/>
        </p:nvSpPr>
        <p:spPr>
          <a:xfrm>
            <a:off x="502920" y="1417320"/>
            <a:ext cx="5532120" cy="2286000"/>
          </a:xfrm>
          <a:prstGeom prst="roundRect">
            <a:avLst>
              <a:gd name="adj" fmla="val 4000"/>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5" name="Text 3"/>
          <p:cNvSpPr/>
          <p:nvPr/>
        </p:nvSpPr>
        <p:spPr>
          <a:xfrm>
            <a:off x="704088" y="1545336"/>
            <a:ext cx="5129784" cy="310896"/>
          </a:xfrm>
          <a:prstGeom prst="rect">
            <a:avLst/>
          </a:prstGeom>
          <a:noFill/>
          <a:ln/>
        </p:spPr>
        <p:txBody>
          <a:bodyPr wrap="square" lIns="0" tIns="0" rIns="0" bIns="0" rtlCol="0" anchor="ctr"/>
          <a:lstStyle/>
          <a:p>
            <a:pPr indent="0" marL="0">
              <a:buNone/>
            </a:pPr>
            <a:r>
              <a:rPr lang="en-US" sz="1400" b="1" spc="60" kern="0" dirty="0">
                <a:solidFill>
                  <a:srgbClr val="10B981"/>
                </a:solidFill>
                <a:latin typeface="Calibri" pitchFamily="34" charset="0"/>
                <a:ea typeface="Calibri" pitchFamily="34" charset="-122"/>
                <a:cs typeface="Calibri" pitchFamily="34" charset="-120"/>
              </a:rPr>
              <a:t>WORKED EXAMPLE — find 3x + 4 when x = 5</a:t>
            </a:r>
            <a:endParaRPr lang="en-US" sz="1400" dirty="0"/>
          </a:p>
        </p:txBody>
      </p:sp>
      <p:sp>
        <p:nvSpPr>
          <p:cNvPr id="6" name="Text 4"/>
          <p:cNvSpPr/>
          <p:nvPr/>
        </p:nvSpPr>
        <p:spPr>
          <a:xfrm>
            <a:off x="704088" y="1929384"/>
            <a:ext cx="5129784" cy="329184"/>
          </a:xfrm>
          <a:prstGeom prst="rect">
            <a:avLst/>
          </a:prstGeom>
          <a:noFill/>
          <a:ln/>
        </p:spPr>
        <p:txBody>
          <a:bodyPr wrap="square" lIns="0" tIns="0" rIns="0" bIns="0" rtlCol="0" anchor="ctr"/>
          <a:lstStyle/>
          <a:p>
            <a:pPr indent="0" marL="0">
              <a:buNone/>
            </a:pPr>
            <a:r>
              <a:rPr lang="en-US" sz="2000" dirty="0">
                <a:solidFill>
                  <a:srgbClr val="111820"/>
                </a:solidFill>
                <a:latin typeface="Consolas" pitchFamily="34" charset="0"/>
                <a:ea typeface="Consolas" pitchFamily="34" charset="-122"/>
                <a:cs typeface="Consolas" pitchFamily="34" charset="-120"/>
              </a:rPr>
              <a:t>3 × 5 + 4</a:t>
            </a:r>
            <a:endParaRPr lang="en-US" sz="2000" dirty="0"/>
          </a:p>
        </p:txBody>
      </p:sp>
      <p:sp>
        <p:nvSpPr>
          <p:cNvPr id="7" name="Text 5"/>
          <p:cNvSpPr/>
          <p:nvPr/>
        </p:nvSpPr>
        <p:spPr>
          <a:xfrm>
            <a:off x="704088" y="2231136"/>
            <a:ext cx="512978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put the hidden × back in</a:t>
            </a:r>
            <a:endParaRPr lang="en-US" sz="1300" dirty="0"/>
          </a:p>
        </p:txBody>
      </p:sp>
      <p:sp>
        <p:nvSpPr>
          <p:cNvPr id="8" name="Text 6"/>
          <p:cNvSpPr/>
          <p:nvPr/>
        </p:nvSpPr>
        <p:spPr>
          <a:xfrm>
            <a:off x="704088" y="2505456"/>
            <a:ext cx="5129784" cy="329184"/>
          </a:xfrm>
          <a:prstGeom prst="rect">
            <a:avLst/>
          </a:prstGeom>
          <a:noFill/>
          <a:ln/>
        </p:spPr>
        <p:txBody>
          <a:bodyPr wrap="square" lIns="0" tIns="0" rIns="0" bIns="0" rtlCol="0" anchor="ctr"/>
          <a:lstStyle/>
          <a:p>
            <a:pPr indent="0" marL="0">
              <a:buNone/>
            </a:pPr>
            <a:r>
              <a:rPr lang="en-US" sz="2000" dirty="0">
                <a:solidFill>
                  <a:srgbClr val="111820"/>
                </a:solidFill>
                <a:latin typeface="Consolas" pitchFamily="34" charset="0"/>
                <a:ea typeface="Consolas" pitchFamily="34" charset="-122"/>
                <a:cs typeface="Consolas" pitchFamily="34" charset="-120"/>
              </a:rPr>
              <a:t>15 + 4</a:t>
            </a:r>
            <a:endParaRPr lang="en-US" sz="2000" dirty="0"/>
          </a:p>
        </p:txBody>
      </p:sp>
      <p:sp>
        <p:nvSpPr>
          <p:cNvPr id="9" name="Text 7"/>
          <p:cNvSpPr/>
          <p:nvPr/>
        </p:nvSpPr>
        <p:spPr>
          <a:xfrm>
            <a:off x="704088" y="2807208"/>
            <a:ext cx="512978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multiplication before addition</a:t>
            </a:r>
            <a:endParaRPr lang="en-US" sz="1300" dirty="0"/>
          </a:p>
        </p:txBody>
      </p:sp>
      <p:sp>
        <p:nvSpPr>
          <p:cNvPr id="10" name="Text 8"/>
          <p:cNvSpPr/>
          <p:nvPr/>
        </p:nvSpPr>
        <p:spPr>
          <a:xfrm>
            <a:off x="704088" y="3081528"/>
            <a:ext cx="5129784" cy="329184"/>
          </a:xfrm>
          <a:prstGeom prst="rect">
            <a:avLst/>
          </a:prstGeom>
          <a:noFill/>
          <a:ln/>
        </p:spPr>
        <p:txBody>
          <a:bodyPr wrap="square" lIns="0" tIns="0" rIns="0" bIns="0" rtlCol="0" anchor="ctr"/>
          <a:lstStyle/>
          <a:p>
            <a:pPr indent="0" marL="0">
              <a:buNone/>
            </a:pPr>
            <a:r>
              <a:rPr lang="en-US" sz="2000" b="1" dirty="0">
                <a:solidFill>
                  <a:srgbClr val="10B981"/>
                </a:solidFill>
                <a:latin typeface="Consolas" pitchFamily="34" charset="0"/>
                <a:ea typeface="Consolas" pitchFamily="34" charset="-122"/>
                <a:cs typeface="Consolas" pitchFamily="34" charset="-120"/>
              </a:rPr>
              <a:t>= 19</a:t>
            </a:r>
            <a:endParaRPr lang="en-US" sz="2000" dirty="0"/>
          </a:p>
        </p:txBody>
      </p:sp>
      <p:sp>
        <p:nvSpPr>
          <p:cNvPr id="11" name="Shape 9"/>
          <p:cNvSpPr/>
          <p:nvPr/>
        </p:nvSpPr>
        <p:spPr>
          <a:xfrm>
            <a:off x="6355080" y="1417320"/>
            <a:ext cx="5330952" cy="2286000"/>
          </a:xfrm>
          <a:prstGeom prst="roundRect">
            <a:avLst>
              <a:gd name="adj" fmla="val 4000"/>
            </a:avLst>
          </a:prstGeom>
          <a:solidFill>
            <a:srgbClr val="FEF2F2"/>
          </a:solidFill>
          <a:ln w="12700">
            <a:solidFill>
              <a:srgbClr val="EF4444"/>
            </a:solidFill>
            <a:prstDash val="solid"/>
          </a:ln>
          <a:effectLst>
            <a:outerShdw sx="100000" sy="100000" kx="0" ky="0" algn="bl" rotWithShape="0" blurRad="76200" dist="12700" dir="5400000">
              <a:srgbClr val="BFC7D2">
                <a:alpha val="35000"/>
              </a:srgbClr>
            </a:outerShdw>
          </a:effectLst>
        </p:spPr>
      </p:sp>
      <p:sp>
        <p:nvSpPr>
          <p:cNvPr id="12" name="Text 10"/>
          <p:cNvSpPr/>
          <p:nvPr/>
        </p:nvSpPr>
        <p:spPr>
          <a:xfrm>
            <a:off x="6583680" y="1554480"/>
            <a:ext cx="5029200" cy="292608"/>
          </a:xfrm>
          <a:prstGeom prst="rect">
            <a:avLst/>
          </a:prstGeom>
          <a:noFill/>
          <a:ln/>
        </p:spPr>
        <p:txBody>
          <a:bodyPr wrap="square" lIns="0" tIns="0" rIns="0" bIns="0" rtlCol="0" anchor="ctr"/>
          <a:lstStyle/>
          <a:p>
            <a:pPr indent="0" marL="0">
              <a:buNone/>
            </a:pPr>
            <a:r>
              <a:rPr lang="en-US" sz="1400" b="1" spc="60" kern="0" dirty="0">
                <a:solidFill>
                  <a:srgbClr val="EF4444"/>
                </a:solidFill>
                <a:latin typeface="Calibri" pitchFamily="34" charset="0"/>
                <a:ea typeface="Calibri" pitchFamily="34" charset="-122"/>
                <a:cs typeface="Calibri" pitchFamily="34" charset="-120"/>
              </a:rPr>
              <a:t>The three traps</a:t>
            </a:r>
            <a:endParaRPr lang="en-US" sz="1400" dirty="0"/>
          </a:p>
        </p:txBody>
      </p:sp>
      <p:sp>
        <p:nvSpPr>
          <p:cNvPr id="13" name="Text 11"/>
          <p:cNvSpPr/>
          <p:nvPr/>
        </p:nvSpPr>
        <p:spPr>
          <a:xfrm>
            <a:off x="6583680" y="1874520"/>
            <a:ext cx="5029200" cy="1737360"/>
          </a:xfrm>
          <a:prstGeom prst="rect">
            <a:avLst/>
          </a:prstGeom>
          <a:noFill/>
          <a:ln/>
        </p:spPr>
        <p:txBody>
          <a:bodyPr wrap="square" rtlCol="0" anchor="t"/>
          <a:lstStyle/>
          <a:p>
            <a:pPr marL="342900" indent="-342900">
              <a:lnSpc>
                <a:spcPct val="105000"/>
              </a:lnSpc>
              <a:spcAft>
                <a:spcPts val="600"/>
              </a:spcAft>
              <a:buSzPct val="100000"/>
              <a:buChar char="•"/>
            </a:pPr>
            <a:r>
              <a:rPr lang="en-US" sz="1800" dirty="0">
                <a:solidFill>
                  <a:srgbClr val="111820"/>
                </a:solidFill>
                <a:latin typeface="Calibri" pitchFamily="34" charset="0"/>
                <a:ea typeface="Calibri" pitchFamily="34" charset="-122"/>
                <a:cs typeface="Calibri" pitchFamily="34" charset="-120"/>
              </a:rPr>
              <a:t>3x means 3 × x — never "35"</a:t>
            </a:r>
            <a:endParaRPr lang="en-US" sz="1800" dirty="0"/>
          </a:p>
          <a:p>
            <a:pPr marL="342900" indent="-342900">
              <a:lnSpc>
                <a:spcPct val="105000"/>
              </a:lnSpc>
              <a:spcAft>
                <a:spcPts val="600"/>
              </a:spcAft>
              <a:buSzPct val="100000"/>
              <a:buChar char="•"/>
            </a:pPr>
            <a:r>
              <a:rPr lang="en-US" sz="1800" dirty="0">
                <a:solidFill>
                  <a:srgbClr val="111820"/>
                </a:solidFill>
                <a:latin typeface="Calibri" pitchFamily="34" charset="0"/>
                <a:ea typeface="Calibri" pitchFamily="34" charset="-122"/>
                <a:cs typeface="Calibri" pitchFamily="34" charset="-120"/>
              </a:rPr>
              <a:t>x² means x × x — so x = 4 gives 16, not 8</a:t>
            </a:r>
            <a:endParaRPr lang="en-US" sz="1800" dirty="0"/>
          </a:p>
          <a:p>
            <a:pPr marL="342900" indent="-342900">
              <a:lnSpc>
                <a:spcPct val="105000"/>
              </a:lnSpc>
              <a:spcAft>
                <a:spcPts val="600"/>
              </a:spcAft>
              <a:buSzPct val="100000"/>
              <a:buChar char="•"/>
            </a:pPr>
            <a:r>
              <a:rPr lang="en-US" sz="1800" dirty="0">
                <a:solidFill>
                  <a:srgbClr val="111820"/>
                </a:solidFill>
                <a:latin typeface="Calibri" pitchFamily="34" charset="0"/>
                <a:ea typeface="Calibri" pitchFamily="34" charset="-122"/>
                <a:cs typeface="Calibri" pitchFamily="34" charset="-120"/>
              </a:rPr>
              <a:t>Brackets and fraction lines go first, all the way across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3886200"/>
          <a:ext cx="11183112" cy="914400"/>
        </p:xfrm>
        <a:graphic>
          <a:graphicData uri="http://schemas.openxmlformats.org/drawingml/2006/table">
            <a:tbl>
              <a:tblPr/>
              <a:tblGrid>
                <a:gridCol w="2743200"/>
                <a:gridCol w="3108960"/>
                <a:gridCol w="3108960"/>
                <a:gridCol w="2221992"/>
              </a:tblGrid>
              <a:tr h="402336">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Formula</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Values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Substituted</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Answer</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 = lw</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l = 8, w = 3</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8 × 3</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24</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P = 2(l + w)</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l = 9, w = 4</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2 × (9 + 4)</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C = 5(F − 32) ÷ 9</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F = 68</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5 × 36 ÷ 9</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bl>
          </a:graphicData>
        </a:graphic>
      </p:graphicFrame>
      <p:sp>
        <p:nvSpPr>
          <p:cNvPr id="15" name="Text 12"/>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6" name="Text 13"/>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17" name="Text 14"/>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8" name="Text 15"/>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9" name="Text 16"/>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0" name="Text 17"/>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Method 1 — The Balance Method</a:t>
            </a:r>
            <a:endParaRPr lang="en-US" sz="3200" dirty="0"/>
          </a:p>
        </p:txBody>
      </p:sp>
      <p:sp>
        <p:nvSpPr>
          <p:cNvPr id="4" name="Shape 2"/>
          <p:cNvSpPr/>
          <p:nvPr/>
        </p:nvSpPr>
        <p:spPr>
          <a:xfrm>
            <a:off x="502920" y="1417320"/>
            <a:ext cx="3794760" cy="2606040"/>
          </a:xfrm>
          <a:prstGeom prst="roundRect">
            <a:avLst>
              <a:gd name="adj" fmla="val 3509"/>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5" name="Text 3"/>
          <p:cNvSpPr/>
          <p:nvPr/>
        </p:nvSpPr>
        <p:spPr>
          <a:xfrm>
            <a:off x="704088" y="1554480"/>
            <a:ext cx="3429000" cy="548640"/>
          </a:xfrm>
          <a:prstGeom prst="rect">
            <a:avLst/>
          </a:prstGeom>
          <a:noFill/>
          <a:ln/>
        </p:spPr>
        <p:txBody>
          <a:bodyPr wrap="square" lIns="0" tIns="0" rIns="0" bIns="0" rtlCol="0" anchor="t"/>
          <a:lstStyle/>
          <a:p>
            <a:pPr indent="0" marL="0">
              <a:buNone/>
            </a:pPr>
            <a:r>
              <a:rPr lang="en-US" sz="1900" b="1" dirty="0">
                <a:solidFill>
                  <a:srgbClr val="111820"/>
                </a:solidFill>
                <a:latin typeface="Calibri" pitchFamily="34" charset="0"/>
                <a:ea typeface="Calibri" pitchFamily="34" charset="-122"/>
                <a:cs typeface="Calibri" pitchFamily="34" charset="-120"/>
              </a:rPr>
              <a:t>An equation is a set of scales.</a:t>
            </a:r>
            <a:endParaRPr lang="en-US" sz="1900" dirty="0"/>
          </a:p>
        </p:txBody>
      </p:sp>
      <p:sp>
        <p:nvSpPr>
          <p:cNvPr id="6" name="Text 4"/>
          <p:cNvSpPr/>
          <p:nvPr/>
        </p:nvSpPr>
        <p:spPr>
          <a:xfrm>
            <a:off x="704088" y="2103120"/>
            <a:ext cx="3429000" cy="1783080"/>
          </a:xfrm>
          <a:prstGeom prst="rect">
            <a:avLst/>
          </a:prstGeom>
          <a:noFill/>
          <a:ln/>
        </p:spPr>
        <p:txBody>
          <a:bodyPr wrap="square" lIns="0" tIns="0" rIns="0" bIns="0" rtlCol="0" anchor="t"/>
          <a:lstStyle/>
          <a:p>
            <a:pPr indent="0" marL="0">
              <a:buNone/>
            </a:pPr>
            <a:r>
              <a:rPr lang="en-US" sz="1800" dirty="0">
                <a:solidFill>
                  <a:srgbClr val="4A5563"/>
                </a:solidFill>
                <a:latin typeface="Calibri" pitchFamily="34" charset="0"/>
                <a:ea typeface="Calibri" pitchFamily="34" charset="-122"/>
                <a:cs typeface="Calibri" pitchFamily="34" charset="-120"/>
              </a:rPr>
              <a:t>Whatever you do to one side, you must do to the other — or it tips.</a:t>
            </a:r>
            <a:endParaRPr lang="en-US" sz="1800" dirty="0"/>
          </a:p>
          <a:p>
            <a:pPr indent="0" marL="0">
              <a:buNone/>
            </a:pPr>
            <a:endParaRPr lang="en-US" sz="1800" dirty="0"/>
          </a:p>
          <a:p>
            <a:pPr indent="0" marL="0">
              <a:buNone/>
            </a:pPr>
            <a:r>
              <a:rPr lang="en-US" sz="1800" dirty="0">
                <a:solidFill>
                  <a:srgbClr val="4A5563"/>
                </a:solidFill>
                <a:latin typeface="Calibri" pitchFamily="34" charset="0"/>
                <a:ea typeface="Calibri" pitchFamily="34" charset="-122"/>
                <a:cs typeface="Calibri" pitchFamily="34" charset="-120"/>
              </a:rPr>
              <a:t>To get x on its own, UNDO what has been done to it.</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17720" y="1417320"/>
          <a:ext cx="3108960" cy="914400"/>
        </p:xfrm>
        <a:graphic>
          <a:graphicData uri="http://schemas.openxmlformats.org/drawingml/2006/table">
            <a:tbl>
              <a:tblPr/>
              <a:tblGrid>
                <a:gridCol w="1554480"/>
                <a:gridCol w="1554480"/>
              </a:tblGrid>
              <a:tr h="420624">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Inverse</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r>
              <a:tr h="420624">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20624">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20624">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20624">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11182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bl>
          </a:graphicData>
        </a:graphic>
      </p:graphicFrame>
      <p:sp>
        <p:nvSpPr>
          <p:cNvPr id="8" name="Shape 5"/>
          <p:cNvSpPr/>
          <p:nvPr/>
        </p:nvSpPr>
        <p:spPr>
          <a:xfrm>
            <a:off x="8046720" y="1417320"/>
            <a:ext cx="3639312" cy="2606040"/>
          </a:xfrm>
          <a:prstGeom prst="roundRect">
            <a:avLst>
              <a:gd name="adj" fmla="val 3509"/>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9" name="Text 6"/>
          <p:cNvSpPr/>
          <p:nvPr/>
        </p:nvSpPr>
        <p:spPr>
          <a:xfrm>
            <a:off x="8247888" y="1545336"/>
            <a:ext cx="3236976" cy="310896"/>
          </a:xfrm>
          <a:prstGeom prst="rect">
            <a:avLst/>
          </a:prstGeom>
          <a:noFill/>
          <a:ln/>
        </p:spPr>
        <p:txBody>
          <a:bodyPr wrap="square" lIns="0" tIns="0" rIns="0" bIns="0" rtlCol="0" anchor="ctr"/>
          <a:lstStyle/>
          <a:p>
            <a:pPr indent="0" marL="0">
              <a:buNone/>
            </a:pPr>
            <a:r>
              <a:rPr lang="en-US" sz="1400" b="1" spc="60" kern="0" dirty="0">
                <a:solidFill>
                  <a:srgbClr val="10B981"/>
                </a:solidFill>
                <a:latin typeface="Calibri" pitchFamily="34" charset="0"/>
                <a:ea typeface="Calibri" pitchFamily="34" charset="-122"/>
                <a:cs typeface="Calibri" pitchFamily="34" charset="-120"/>
              </a:rPr>
              <a:t>WORKED EXAMPLE</a:t>
            </a:r>
            <a:endParaRPr lang="en-US" sz="1400" dirty="0"/>
          </a:p>
        </p:txBody>
      </p:sp>
      <p:sp>
        <p:nvSpPr>
          <p:cNvPr id="10" name="Text 7"/>
          <p:cNvSpPr/>
          <p:nvPr/>
        </p:nvSpPr>
        <p:spPr>
          <a:xfrm>
            <a:off x="8247888" y="1929384"/>
            <a:ext cx="3236976" cy="329184"/>
          </a:xfrm>
          <a:prstGeom prst="rect">
            <a:avLst/>
          </a:prstGeom>
          <a:noFill/>
          <a:ln/>
        </p:spPr>
        <p:txBody>
          <a:bodyPr wrap="square" lIns="0" tIns="0" rIns="0" bIns="0" rtlCol="0" anchor="ctr"/>
          <a:lstStyle/>
          <a:p>
            <a:pPr indent="0" marL="0">
              <a:buNone/>
            </a:pPr>
            <a:r>
              <a:rPr lang="en-US" sz="2000" dirty="0">
                <a:solidFill>
                  <a:srgbClr val="111820"/>
                </a:solidFill>
                <a:latin typeface="Consolas" pitchFamily="34" charset="0"/>
                <a:ea typeface="Consolas" pitchFamily="34" charset="-122"/>
                <a:cs typeface="Consolas" pitchFamily="34" charset="-120"/>
              </a:rPr>
              <a:t>x + 6 = 13</a:t>
            </a:r>
            <a:endParaRPr lang="en-US" sz="2000" dirty="0"/>
          </a:p>
        </p:txBody>
      </p:sp>
      <p:sp>
        <p:nvSpPr>
          <p:cNvPr id="11" name="Text 8"/>
          <p:cNvSpPr/>
          <p:nvPr/>
        </p:nvSpPr>
        <p:spPr>
          <a:xfrm>
            <a:off x="8247888" y="2231136"/>
            <a:ext cx="323697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− 6 from BOTH sides</a:t>
            </a:r>
            <a:endParaRPr lang="en-US" sz="1300" dirty="0"/>
          </a:p>
        </p:txBody>
      </p:sp>
      <p:sp>
        <p:nvSpPr>
          <p:cNvPr id="12" name="Text 9"/>
          <p:cNvSpPr/>
          <p:nvPr/>
        </p:nvSpPr>
        <p:spPr>
          <a:xfrm>
            <a:off x="8247888" y="2505456"/>
            <a:ext cx="3236976" cy="329184"/>
          </a:xfrm>
          <a:prstGeom prst="rect">
            <a:avLst/>
          </a:prstGeom>
          <a:noFill/>
          <a:ln/>
        </p:spPr>
        <p:txBody>
          <a:bodyPr wrap="square" lIns="0" tIns="0" rIns="0" bIns="0" rtlCol="0" anchor="ctr"/>
          <a:lstStyle/>
          <a:p>
            <a:pPr indent="0" marL="0">
              <a:buNone/>
            </a:pPr>
            <a:r>
              <a:rPr lang="en-US" sz="2000" dirty="0">
                <a:solidFill>
                  <a:srgbClr val="111820"/>
                </a:solidFill>
                <a:latin typeface="Consolas" pitchFamily="34" charset="0"/>
                <a:ea typeface="Consolas" pitchFamily="34" charset="-122"/>
                <a:cs typeface="Consolas" pitchFamily="34" charset="-120"/>
              </a:rPr>
              <a:t>x + 6 − 6 = 13 − 6</a:t>
            </a:r>
            <a:endParaRPr lang="en-US" sz="2000" dirty="0"/>
          </a:p>
        </p:txBody>
      </p:sp>
      <p:sp>
        <p:nvSpPr>
          <p:cNvPr id="13" name="Text 10"/>
          <p:cNvSpPr/>
          <p:nvPr/>
        </p:nvSpPr>
        <p:spPr>
          <a:xfrm>
            <a:off x="8247888" y="2889504"/>
            <a:ext cx="3236976" cy="329184"/>
          </a:xfrm>
          <a:prstGeom prst="rect">
            <a:avLst/>
          </a:prstGeom>
          <a:noFill/>
          <a:ln/>
        </p:spPr>
        <p:txBody>
          <a:bodyPr wrap="square" lIns="0" tIns="0" rIns="0" bIns="0" rtlCol="0" anchor="ctr"/>
          <a:lstStyle/>
          <a:p>
            <a:pPr indent="0" marL="0">
              <a:buNone/>
            </a:pPr>
            <a:r>
              <a:rPr lang="en-US" sz="2000" b="1" dirty="0">
                <a:solidFill>
                  <a:srgbClr val="10B981"/>
                </a:solidFill>
                <a:latin typeface="Consolas" pitchFamily="34" charset="0"/>
                <a:ea typeface="Consolas" pitchFamily="34" charset="-122"/>
                <a:cs typeface="Consolas" pitchFamily="34" charset="-120"/>
              </a:rPr>
              <a:t>x = 7</a:t>
            </a:r>
            <a:endParaRPr lang="en-US" sz="2000" dirty="0"/>
          </a:p>
        </p:txBody>
      </p:sp>
      <p:sp>
        <p:nvSpPr>
          <p:cNvPr id="14" name="Text 11"/>
          <p:cNvSpPr/>
          <p:nvPr/>
        </p:nvSpPr>
        <p:spPr>
          <a:xfrm>
            <a:off x="8247888" y="3273552"/>
            <a:ext cx="3236976" cy="329184"/>
          </a:xfrm>
          <a:prstGeom prst="rect">
            <a:avLst/>
          </a:prstGeom>
          <a:noFill/>
          <a:ln/>
        </p:spPr>
        <p:txBody>
          <a:bodyPr wrap="square" lIns="0" tIns="0" rIns="0" bIns="0" rtlCol="0" anchor="ctr"/>
          <a:lstStyle/>
          <a:p>
            <a:pPr indent="0" marL="0">
              <a:buNone/>
            </a:pPr>
            <a:r>
              <a:rPr lang="en-US" sz="2000" dirty="0">
                <a:solidFill>
                  <a:srgbClr val="111820"/>
                </a:solidFill>
                <a:latin typeface="Consolas" pitchFamily="34" charset="0"/>
                <a:ea typeface="Consolas" pitchFamily="34" charset="-122"/>
                <a:cs typeface="Consolas" pitchFamily="34" charset="-120"/>
              </a:rPr>
              <a:t>Check:  7 + 6 = 13  ✓</a:t>
            </a:r>
            <a:endParaRPr lang="en-US" sz="2000" dirty="0"/>
          </a:p>
        </p:txBody>
      </p:sp>
      <p:sp>
        <p:nvSpPr>
          <p:cNvPr id="15" name="Shape 12"/>
          <p:cNvSpPr/>
          <p:nvPr/>
        </p:nvSpPr>
        <p:spPr>
          <a:xfrm>
            <a:off x="502920" y="4224528"/>
            <a:ext cx="11183112" cy="1051560"/>
          </a:xfrm>
          <a:prstGeom prst="roundRect">
            <a:avLst>
              <a:gd name="adj" fmla="val 8696"/>
            </a:avLst>
          </a:prstGeom>
          <a:solidFill>
            <a:srgbClr val="ECFDF5"/>
          </a:solidFill>
          <a:ln w="12700">
            <a:solidFill>
              <a:srgbClr val="10B981"/>
            </a:solidFill>
            <a:prstDash val="solid"/>
          </a:ln>
          <a:effectLst>
            <a:outerShdw sx="100000" sy="100000" kx="0" ky="0" algn="bl" rotWithShape="0" blurRad="76200" dist="12700" dir="5400000">
              <a:srgbClr val="BFC7D2">
                <a:alpha val="35000"/>
              </a:srgbClr>
            </a:outerShdw>
          </a:effectLst>
        </p:spPr>
      </p:sp>
      <p:sp>
        <p:nvSpPr>
          <p:cNvPr id="16" name="Text 13"/>
          <p:cNvSpPr/>
          <p:nvPr/>
        </p:nvSpPr>
        <p:spPr>
          <a:xfrm>
            <a:off x="731520" y="4343400"/>
            <a:ext cx="10725912" cy="822960"/>
          </a:xfrm>
          <a:prstGeom prst="rect">
            <a:avLst/>
          </a:prstGeom>
          <a:noFill/>
          <a:ln/>
        </p:spPr>
        <p:txBody>
          <a:bodyPr wrap="square" lIns="0" tIns="0" rIns="0" bIns="0" rtlCol="0" anchor="ctr"/>
          <a:lstStyle/>
          <a:p>
            <a:pPr indent="0" marL="0">
              <a:buNone/>
            </a:pPr>
            <a:r>
              <a:rPr lang="en-US" sz="1900" b="1" dirty="0">
                <a:solidFill>
                  <a:srgbClr val="111820"/>
                </a:solidFill>
                <a:latin typeface="Calibri" pitchFamily="34" charset="0"/>
                <a:ea typeface="Calibri" pitchFamily="34" charset="-122"/>
                <a:cs typeface="Calibri" pitchFamily="34" charset="-120"/>
              </a:rPr>
              <a:t>Always check. Substitute your answer back into the ORIGINAL equation. If both sides match, you are right — and you proved it yourself, without asking anyone.</a:t>
            </a:r>
            <a:endParaRPr lang="en-US" sz="1900" dirty="0"/>
          </a:p>
        </p:txBody>
      </p:sp>
      <p:sp>
        <p:nvSpPr>
          <p:cNvPr id="17" name="Text 14"/>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8" name="Text 15"/>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19" name="Text 16"/>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20" name="Text 17"/>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1" name="Text 18"/>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2" name="Text 19"/>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Method 2 — The Flowchart Method</a:t>
            </a:r>
            <a:endParaRPr lang="en-US" sz="3200" dirty="0"/>
          </a:p>
        </p:txBody>
      </p:sp>
      <p:sp>
        <p:nvSpPr>
          <p:cNvPr id="4" name="Text 2"/>
          <p:cNvSpPr/>
          <p:nvPr/>
        </p:nvSpPr>
        <p:spPr>
          <a:xfrm>
            <a:off x="502920" y="1371600"/>
            <a:ext cx="11183112" cy="347472"/>
          </a:xfrm>
          <a:prstGeom prst="rect">
            <a:avLst/>
          </a:prstGeom>
          <a:noFill/>
          <a:ln/>
        </p:spPr>
        <p:txBody>
          <a:bodyPr wrap="square" lIns="0" tIns="0" rIns="0" bIns="0" rtlCol="0" anchor="ctr"/>
          <a:lstStyle/>
          <a:p>
            <a:pPr indent="0" marL="0">
              <a:buNone/>
            </a:pPr>
            <a:r>
              <a:rPr lang="en-US" sz="1900" dirty="0">
                <a:solidFill>
                  <a:srgbClr val="4A5563"/>
                </a:solidFill>
                <a:latin typeface="Calibri" pitchFamily="34" charset="0"/>
                <a:ea typeface="Calibri" pitchFamily="34" charset="-122"/>
                <a:cs typeface="Calibri" pitchFamily="34" charset="-120"/>
              </a:rPr>
              <a:t>Draw what happened to x going FORWARDS. Then walk back doing the opposite.</a:t>
            </a:r>
            <a:endParaRPr lang="en-US" sz="1900" dirty="0"/>
          </a:p>
        </p:txBody>
      </p:sp>
      <p:sp>
        <p:nvSpPr>
          <p:cNvPr id="5" name="Shape 3"/>
          <p:cNvSpPr/>
          <p:nvPr/>
        </p:nvSpPr>
        <p:spPr>
          <a:xfrm>
            <a:off x="502920" y="1828800"/>
            <a:ext cx="11183112" cy="1234440"/>
          </a:xfrm>
          <a:prstGeom prst="roundRect">
            <a:avLst>
              <a:gd name="adj" fmla="val 7407"/>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6" name="Text 4"/>
          <p:cNvSpPr/>
          <p:nvPr/>
        </p:nvSpPr>
        <p:spPr>
          <a:xfrm>
            <a:off x="731520" y="1920240"/>
            <a:ext cx="4572000" cy="274320"/>
          </a:xfrm>
          <a:prstGeom prst="rect">
            <a:avLst/>
          </a:prstGeom>
          <a:noFill/>
          <a:ln/>
        </p:spPr>
        <p:txBody>
          <a:bodyPr wrap="square" lIns="0" tIns="0" rIns="0" bIns="0" rtlCol="0" anchor="ctr"/>
          <a:lstStyle/>
          <a:p>
            <a:pPr indent="0" marL="0">
              <a:buNone/>
            </a:pPr>
            <a:r>
              <a:rPr lang="en-US" sz="1300" b="1" spc="60" kern="0" dirty="0">
                <a:solidFill>
                  <a:srgbClr val="7A8596"/>
                </a:solidFill>
                <a:latin typeface="Calibri" pitchFamily="34" charset="0"/>
                <a:ea typeface="Calibri" pitchFamily="34" charset="-122"/>
                <a:cs typeface="Calibri" pitchFamily="34" charset="-120"/>
              </a:rPr>
              <a:t>FORWARDS — what was done to x</a:t>
            </a:r>
            <a:endParaRPr lang="en-US" sz="1300" dirty="0"/>
          </a:p>
        </p:txBody>
      </p:sp>
      <p:sp>
        <p:nvSpPr>
          <p:cNvPr id="7" name="Text 5"/>
          <p:cNvSpPr/>
          <p:nvPr/>
        </p:nvSpPr>
        <p:spPr>
          <a:xfrm>
            <a:off x="2103120" y="2395728"/>
            <a:ext cx="123444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900" b="1" dirty="0">
                <a:solidFill>
                  <a:srgbClr val="111820"/>
                </a:solidFill>
                <a:latin typeface="Consolas" pitchFamily="34" charset="0"/>
                <a:ea typeface="Consolas" pitchFamily="34" charset="-122"/>
                <a:cs typeface="Consolas" pitchFamily="34" charset="-120"/>
              </a:rPr>
              <a:t>x</a:t>
            </a:r>
            <a:endParaRPr lang="en-US" sz="1900" dirty="0"/>
          </a:p>
        </p:txBody>
      </p:sp>
      <p:sp>
        <p:nvSpPr>
          <p:cNvPr id="8" name="Shape 6"/>
          <p:cNvSpPr/>
          <p:nvPr/>
        </p:nvSpPr>
        <p:spPr>
          <a:xfrm>
            <a:off x="3410712" y="2633472"/>
            <a:ext cx="2231136" cy="0"/>
          </a:xfrm>
          <a:prstGeom prst="line">
            <a:avLst/>
          </a:prstGeom>
          <a:noFill/>
          <a:ln w="22225">
            <a:solidFill>
              <a:srgbClr val="4A5563"/>
            </a:solidFill>
            <a:prstDash val="solid"/>
            <a:headEnd type="none"/>
            <a:tailEnd type="triangle"/>
          </a:ln>
        </p:spPr>
      </p:sp>
      <p:sp>
        <p:nvSpPr>
          <p:cNvPr id="9" name="Text 7"/>
          <p:cNvSpPr/>
          <p:nvPr/>
        </p:nvSpPr>
        <p:spPr>
          <a:xfrm>
            <a:off x="3337560" y="2139696"/>
            <a:ext cx="2377440" cy="27432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 4</a:t>
            </a:r>
            <a:endParaRPr lang="en-US" sz="1400" dirty="0"/>
          </a:p>
        </p:txBody>
      </p:sp>
      <p:sp>
        <p:nvSpPr>
          <p:cNvPr id="10" name="Text 8"/>
          <p:cNvSpPr/>
          <p:nvPr/>
        </p:nvSpPr>
        <p:spPr>
          <a:xfrm>
            <a:off x="5715000" y="2395728"/>
            <a:ext cx="123444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900" b="1" dirty="0">
                <a:solidFill>
                  <a:srgbClr val="111820"/>
                </a:solidFill>
                <a:latin typeface="Consolas" pitchFamily="34" charset="0"/>
                <a:ea typeface="Consolas" pitchFamily="34" charset="-122"/>
                <a:cs typeface="Consolas" pitchFamily="34" charset="-120"/>
              </a:rPr>
              <a:t>28</a:t>
            </a:r>
            <a:endParaRPr lang="en-US" sz="1900" dirty="0"/>
          </a:p>
        </p:txBody>
      </p:sp>
      <p:sp>
        <p:nvSpPr>
          <p:cNvPr id="11" name="Text 9"/>
          <p:cNvSpPr/>
          <p:nvPr/>
        </p:nvSpPr>
        <p:spPr>
          <a:xfrm>
            <a:off x="7406640" y="2395728"/>
            <a:ext cx="3657600" cy="475488"/>
          </a:xfrm>
          <a:prstGeom prst="rect">
            <a:avLst/>
          </a:prstGeom>
          <a:noFill/>
          <a:ln/>
        </p:spPr>
        <p:txBody>
          <a:bodyPr wrap="square" lIns="0" tIns="0" rIns="0" bIns="0" rtlCol="0" anchor="ctr"/>
          <a:lstStyle/>
          <a:p>
            <a:pPr indent="0" marL="0">
              <a:buNone/>
            </a:pPr>
            <a:r>
              <a:rPr lang="en-US" sz="1900" dirty="0">
                <a:solidFill>
                  <a:srgbClr val="4A5563"/>
                </a:solidFill>
                <a:latin typeface="Consolas" pitchFamily="34" charset="0"/>
                <a:ea typeface="Consolas" pitchFamily="34" charset="-122"/>
                <a:cs typeface="Consolas" pitchFamily="34" charset="-120"/>
              </a:rPr>
              <a:t>i.e.  4x = 28</a:t>
            </a:r>
            <a:endParaRPr lang="en-US" sz="1900" dirty="0"/>
          </a:p>
        </p:txBody>
      </p:sp>
      <p:sp>
        <p:nvSpPr>
          <p:cNvPr id="12" name="Shape 10"/>
          <p:cNvSpPr/>
          <p:nvPr/>
        </p:nvSpPr>
        <p:spPr>
          <a:xfrm>
            <a:off x="502920" y="3200400"/>
            <a:ext cx="11183112" cy="1234440"/>
          </a:xfrm>
          <a:prstGeom prst="roundRect">
            <a:avLst>
              <a:gd name="adj" fmla="val 7407"/>
            </a:avLst>
          </a:prstGeom>
          <a:solidFill>
            <a:srgbClr val="ECFDF5"/>
          </a:solidFill>
          <a:ln w="12700">
            <a:solidFill>
              <a:srgbClr val="10B981"/>
            </a:solidFill>
            <a:prstDash val="solid"/>
          </a:ln>
          <a:effectLst>
            <a:outerShdw sx="100000" sy="100000" kx="0" ky="0" algn="bl" rotWithShape="0" blurRad="76200" dist="12700" dir="5400000">
              <a:srgbClr val="BFC7D2">
                <a:alpha val="35000"/>
              </a:srgbClr>
            </a:outerShdw>
          </a:effectLst>
        </p:spPr>
      </p:sp>
      <p:sp>
        <p:nvSpPr>
          <p:cNvPr id="13" name="Text 11"/>
          <p:cNvSpPr/>
          <p:nvPr/>
        </p:nvSpPr>
        <p:spPr>
          <a:xfrm>
            <a:off x="731520" y="3291840"/>
            <a:ext cx="5486400" cy="274320"/>
          </a:xfrm>
          <a:prstGeom prst="rect">
            <a:avLst/>
          </a:prstGeom>
          <a:noFill/>
          <a:ln/>
        </p:spPr>
        <p:txBody>
          <a:bodyPr wrap="square" lIns="0" tIns="0" rIns="0" bIns="0" rtlCol="0" anchor="ctr"/>
          <a:lstStyle/>
          <a:p>
            <a:pPr indent="0" marL="0">
              <a:buNone/>
            </a:pPr>
            <a:r>
              <a:rPr lang="en-US" sz="1300" b="1" spc="60" kern="0" dirty="0">
                <a:solidFill>
                  <a:srgbClr val="10B981"/>
                </a:solidFill>
                <a:latin typeface="Calibri" pitchFamily="34" charset="0"/>
                <a:ea typeface="Calibri" pitchFamily="34" charset="-122"/>
                <a:cs typeface="Calibri" pitchFamily="34" charset="-120"/>
              </a:rPr>
              <a:t>BACKWARDS — every operation flips to its inverse</a:t>
            </a:r>
            <a:endParaRPr lang="en-US" sz="1300" dirty="0"/>
          </a:p>
        </p:txBody>
      </p:sp>
      <p:sp>
        <p:nvSpPr>
          <p:cNvPr id="14" name="Text 12"/>
          <p:cNvSpPr/>
          <p:nvPr/>
        </p:nvSpPr>
        <p:spPr>
          <a:xfrm>
            <a:off x="2103120" y="3749040"/>
            <a:ext cx="1234440" cy="475488"/>
          </a:xfrm>
          <a:prstGeom prst="roundRect">
            <a:avLst>
              <a:gd name="adj" fmla="val 17308"/>
            </a:avLst>
          </a:prstGeom>
          <a:solidFill>
            <a:srgbClr val="10B981"/>
          </a:solidFill>
          <a:ln w="15875">
            <a:solidFill>
              <a:srgbClr val="10B981"/>
            </a:solidFill>
          </a:ln>
        </p:spPr>
        <p:txBody>
          <a:bodyPr wrap="square" lIns="0" tIns="0" rIns="0" bIns="0" rtlCol="0" anchor="ctr"/>
          <a:lstStyle/>
          <a:p>
            <a:pPr algn="ctr" indent="0" marL="0">
              <a:buNone/>
            </a:pPr>
            <a:r>
              <a:rPr lang="en-US" sz="1900" b="1" dirty="0">
                <a:solidFill>
                  <a:srgbClr val="FFFFFF"/>
                </a:solidFill>
                <a:latin typeface="Consolas" pitchFamily="34" charset="0"/>
                <a:ea typeface="Consolas" pitchFamily="34" charset="-122"/>
                <a:cs typeface="Consolas" pitchFamily="34" charset="-120"/>
              </a:rPr>
              <a:t>7</a:t>
            </a:r>
            <a:endParaRPr lang="en-US" sz="1900" dirty="0"/>
          </a:p>
        </p:txBody>
      </p:sp>
      <p:sp>
        <p:nvSpPr>
          <p:cNvPr id="15" name="Shape 13"/>
          <p:cNvSpPr/>
          <p:nvPr/>
        </p:nvSpPr>
        <p:spPr>
          <a:xfrm>
            <a:off x="3410712" y="3986784"/>
            <a:ext cx="2231136" cy="0"/>
          </a:xfrm>
          <a:prstGeom prst="line">
            <a:avLst/>
          </a:prstGeom>
          <a:noFill/>
          <a:ln w="22225">
            <a:solidFill>
              <a:srgbClr val="10B981"/>
            </a:solidFill>
            <a:prstDash val="solid"/>
            <a:headEnd type="triangle"/>
            <a:tailEnd type="none"/>
          </a:ln>
        </p:spPr>
      </p:sp>
      <p:sp>
        <p:nvSpPr>
          <p:cNvPr id="16" name="Text 14"/>
          <p:cNvSpPr/>
          <p:nvPr/>
        </p:nvSpPr>
        <p:spPr>
          <a:xfrm>
            <a:off x="3337560" y="3493008"/>
            <a:ext cx="2377440" cy="27432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 4</a:t>
            </a:r>
            <a:endParaRPr lang="en-US" sz="1400" dirty="0"/>
          </a:p>
        </p:txBody>
      </p:sp>
      <p:sp>
        <p:nvSpPr>
          <p:cNvPr id="17" name="Text 15"/>
          <p:cNvSpPr/>
          <p:nvPr/>
        </p:nvSpPr>
        <p:spPr>
          <a:xfrm>
            <a:off x="5715000" y="3749040"/>
            <a:ext cx="123444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900" b="1" dirty="0">
                <a:solidFill>
                  <a:srgbClr val="111820"/>
                </a:solidFill>
                <a:latin typeface="Consolas" pitchFamily="34" charset="0"/>
                <a:ea typeface="Consolas" pitchFamily="34" charset="-122"/>
                <a:cs typeface="Consolas" pitchFamily="34" charset="-120"/>
              </a:rPr>
              <a:t>28</a:t>
            </a:r>
            <a:endParaRPr lang="en-US" sz="1900" dirty="0"/>
          </a:p>
        </p:txBody>
      </p:sp>
      <p:sp>
        <p:nvSpPr>
          <p:cNvPr id="18" name="Text 16"/>
          <p:cNvSpPr/>
          <p:nvPr/>
        </p:nvSpPr>
        <p:spPr>
          <a:xfrm>
            <a:off x="7452360" y="3749040"/>
            <a:ext cx="4206240" cy="475488"/>
          </a:xfrm>
          <a:prstGeom prst="rect">
            <a:avLst/>
          </a:prstGeom>
          <a:noFill/>
          <a:ln/>
        </p:spPr>
        <p:txBody>
          <a:bodyPr wrap="square" lIns="0" tIns="0" rIns="0" bIns="0" rtlCol="0" anchor="ctr"/>
          <a:lstStyle/>
          <a:p>
            <a:pPr indent="0" marL="0">
              <a:buNone/>
            </a:pPr>
            <a:r>
              <a:rPr lang="en-US" sz="1700" b="1" dirty="0">
                <a:solidFill>
                  <a:srgbClr val="10B981"/>
                </a:solidFill>
                <a:latin typeface="Consolas" pitchFamily="34" charset="0"/>
                <a:ea typeface="Consolas" pitchFamily="34" charset="-122"/>
                <a:cs typeface="Consolas" pitchFamily="34" charset="-120"/>
              </a:rPr>
              <a:t>x = 7      Check:  4 × 7 = 28  ✓</a:t>
            </a:r>
            <a:endParaRPr lang="en-US" sz="1700" dirty="0"/>
          </a:p>
        </p:txBody>
      </p:sp>
      <p:sp>
        <p:nvSpPr>
          <p:cNvPr id="19" name="Shape 17"/>
          <p:cNvSpPr/>
          <p:nvPr/>
        </p:nvSpPr>
        <p:spPr>
          <a:xfrm>
            <a:off x="502920" y="4800600"/>
            <a:ext cx="11183112" cy="914400"/>
          </a:xfrm>
          <a:prstGeom prst="roundRect">
            <a:avLst>
              <a:gd name="adj" fmla="val 10000"/>
            </a:avLst>
          </a:prstGeom>
          <a:solidFill>
            <a:srgbClr val="FFFBEB"/>
          </a:solidFill>
          <a:ln w="12700">
            <a:solidFill>
              <a:srgbClr val="F59E0B"/>
            </a:solidFill>
            <a:prstDash val="solid"/>
          </a:ln>
          <a:effectLst>
            <a:outerShdw sx="100000" sy="100000" kx="0" ky="0" algn="bl" rotWithShape="0" blurRad="76200" dist="12700" dir="5400000">
              <a:srgbClr val="BFC7D2">
                <a:alpha val="35000"/>
              </a:srgbClr>
            </a:outerShdw>
          </a:effectLst>
        </p:spPr>
      </p:sp>
      <p:sp>
        <p:nvSpPr>
          <p:cNvPr id="20" name="Text 18"/>
          <p:cNvSpPr/>
          <p:nvPr/>
        </p:nvSpPr>
        <p:spPr>
          <a:xfrm>
            <a:off x="731520" y="4910328"/>
            <a:ext cx="10725912" cy="713232"/>
          </a:xfrm>
          <a:prstGeom prst="rect">
            <a:avLst/>
          </a:prstGeom>
          <a:noFill/>
          <a:ln/>
        </p:spPr>
        <p:txBody>
          <a:bodyPr wrap="square" lIns="0" tIns="0" rIns="0" bIns="0" rtlCol="0" anchor="ctr"/>
          <a:lstStyle/>
          <a:p>
            <a:pPr indent="0" marL="0">
              <a:buNone/>
            </a:pPr>
            <a:r>
              <a:rPr lang="en-US" sz="1800" b="1" dirty="0">
                <a:solidFill>
                  <a:srgbClr val="111820"/>
                </a:solidFill>
                <a:latin typeface="Calibri" pitchFamily="34" charset="0"/>
                <a:ea typeface="Calibri" pitchFamily="34" charset="-122"/>
                <a:cs typeface="Calibri" pitchFamily="34" charset="-120"/>
              </a:rPr>
              <a:t>Both methods give the same answer, every time. Pick the one you can do fastest under pressure — but be able to use at least one of them without thinking.</a:t>
            </a:r>
            <a:endParaRPr lang="en-US" sz="1800" dirty="0"/>
          </a:p>
        </p:txBody>
      </p:sp>
      <p:sp>
        <p:nvSpPr>
          <p:cNvPr id="21" name="Text 19"/>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22" name="Text 20"/>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23" name="Text 21"/>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24" name="Text 22"/>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5" name="Text 23"/>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6" name="Text 24"/>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1463040"/>
            <a:ext cx="11183112" cy="3566160"/>
          </a:xfrm>
          <a:prstGeom prst="roundRect">
            <a:avLst>
              <a:gd name="adj" fmla="val 2564"/>
            </a:avLst>
          </a:prstGeom>
          <a:solidFill>
            <a:srgbClr val="F5F3FF"/>
          </a:solidFill>
          <a:ln w="12700">
            <a:solidFill>
              <a:srgbClr val="8B5CF6"/>
            </a:solidFill>
            <a:prstDash val="solid"/>
          </a:ln>
          <a:effectLst>
            <a:outerShdw sx="100000" sy="100000" kx="0" ky="0" algn="bl" rotWithShape="0" blurRad="76200" dist="12700" dir="5400000">
              <a:srgbClr val="BFC7D2">
                <a:alpha val="35000"/>
              </a:srgbClr>
            </a:outerShdw>
          </a:effectLst>
        </p:spPr>
      </p:sp>
      <p:sp>
        <p:nvSpPr>
          <p:cNvPr id="3" name="Text 1"/>
          <p:cNvSpPr/>
          <p:nvPr/>
        </p:nvSpPr>
        <p:spPr>
          <a:xfrm>
            <a:off x="502920" y="1783080"/>
            <a:ext cx="11183112" cy="731520"/>
          </a:xfrm>
          <a:prstGeom prst="rect">
            <a:avLst/>
          </a:prstGeom>
          <a:noFill/>
          <a:ln/>
        </p:spPr>
        <p:txBody>
          <a:bodyPr wrap="square" lIns="0" tIns="0" rIns="0" bIns="0" rtlCol="0" anchor="ctr"/>
          <a:lstStyle/>
          <a:p>
            <a:pPr algn="ctr" indent="0" marL="0">
              <a:buNone/>
            </a:pPr>
            <a:r>
              <a:rPr lang="en-US" sz="4000" b="1" dirty="0">
                <a:solidFill>
                  <a:srgbClr val="8B5CF6"/>
                </a:solidFill>
                <a:latin typeface="Cambria" pitchFamily="34" charset="0"/>
                <a:ea typeface="Cambria" pitchFamily="34" charset="-122"/>
                <a:cs typeface="Cambria" pitchFamily="34" charset="-120"/>
              </a:rPr>
              <a:t>Brain Break</a:t>
            </a:r>
            <a:endParaRPr lang="en-US" sz="4000" dirty="0"/>
          </a:p>
        </p:txBody>
      </p:sp>
      <p:sp>
        <p:nvSpPr>
          <p:cNvPr id="4" name="Text 2"/>
          <p:cNvSpPr/>
          <p:nvPr/>
        </p:nvSpPr>
        <p:spPr>
          <a:xfrm>
            <a:off x="502920" y="2514600"/>
            <a:ext cx="11183112" cy="411480"/>
          </a:xfrm>
          <a:prstGeom prst="rect">
            <a:avLst/>
          </a:prstGeom>
          <a:noFill/>
          <a:ln/>
        </p:spPr>
        <p:txBody>
          <a:bodyPr wrap="square" lIns="0" tIns="0" rIns="0" bIns="0" rtlCol="0" anchor="ctr"/>
          <a:lstStyle/>
          <a:p>
            <a:pPr algn="ctr" indent="0" marL="0">
              <a:buNone/>
            </a:pPr>
            <a:r>
              <a:rPr lang="en-US" sz="2200" dirty="0">
                <a:solidFill>
                  <a:srgbClr val="4A5563"/>
                </a:solidFill>
                <a:latin typeface="Calibri" pitchFamily="34" charset="0"/>
                <a:ea typeface="Calibri" pitchFamily="34" charset="-122"/>
                <a:cs typeface="Calibri" pitchFamily="34" charset="-120"/>
              </a:rPr>
              <a:t>Stand up. Two minutes.</a:t>
            </a:r>
            <a:endParaRPr lang="en-US" sz="2200" dirty="0"/>
          </a:p>
        </p:txBody>
      </p:sp>
      <p:sp>
        <p:nvSpPr>
          <p:cNvPr id="5" name="Text 3"/>
          <p:cNvSpPr/>
          <p:nvPr/>
        </p:nvSpPr>
        <p:spPr>
          <a:xfrm>
            <a:off x="1417320" y="3063240"/>
            <a:ext cx="9354312" cy="1737360"/>
          </a:xfrm>
          <a:prstGeom prst="rect">
            <a:avLst/>
          </a:prstGeom>
          <a:noFill/>
          <a:ln/>
        </p:spPr>
        <p:txBody>
          <a:bodyPr wrap="square" lIns="0" tIns="0" rIns="0" bIns="0" rtlCol="0" anchor="t"/>
          <a:lstStyle/>
          <a:p>
            <a:pPr algn="ctr" indent="0" marL="0">
              <a:buNone/>
            </a:pPr>
            <a:r>
              <a:rPr lang="en-US" sz="2000" dirty="0">
                <a:solidFill>
                  <a:srgbClr val="111820"/>
                </a:solidFill>
                <a:latin typeface="Calibri" pitchFamily="34" charset="0"/>
                <a:ea typeface="Calibri" pitchFamily="34" charset="-122"/>
                <a:cs typeface="Calibri" pitchFamily="34" charset="-120"/>
              </a:rPr>
              <a:t>Number puzzle, out loud, no pens:</a:t>
            </a:r>
            <a:endParaRPr lang="en-US" sz="2000" dirty="0"/>
          </a:p>
          <a:p>
            <a:pPr algn="ctr" indent="0" marL="0">
              <a:buNone/>
            </a:pPr>
            <a:endParaRPr lang="en-US" sz="2000" dirty="0"/>
          </a:p>
          <a:p>
            <a:pPr algn="ctr" indent="0" marL="0">
              <a:buNone/>
            </a:pPr>
            <a:r>
              <a:rPr lang="en-US" sz="2000" dirty="0">
                <a:solidFill>
                  <a:srgbClr val="111820"/>
                </a:solidFill>
                <a:latin typeface="Calibri" pitchFamily="34" charset="0"/>
                <a:ea typeface="Calibri" pitchFamily="34" charset="-122"/>
                <a:cs typeface="Calibri" pitchFamily="34" charset="-120"/>
              </a:rPr>
              <a:t>I am thinking of a number. If you double it and add 3, you get 21.</a:t>
            </a:r>
            <a:endParaRPr lang="en-US" sz="2000" dirty="0"/>
          </a:p>
          <a:p>
            <a:pPr algn="ctr" indent="0" marL="0">
              <a:buNone/>
            </a:pPr>
            <a:r>
              <a:rPr lang="en-US" sz="2000" dirty="0">
                <a:solidFill>
                  <a:srgbClr val="111820"/>
                </a:solidFill>
                <a:latin typeface="Calibri" pitchFamily="34" charset="0"/>
                <a:ea typeface="Calibri" pitchFamily="34" charset="-122"/>
                <a:cs typeface="Calibri" pitchFamily="34" charset="-120"/>
              </a:rPr>
              <a:t>First person to call it out wins. Then invent one for the person beside you.</a:t>
            </a:r>
            <a:endParaRPr lang="en-US" sz="2000" dirty="0"/>
          </a:p>
        </p:txBody>
      </p:sp>
      <p:sp>
        <p:nvSpPr>
          <p:cNvPr id="6" name="Text 4"/>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7" name="Text 5"/>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8" name="Text 6"/>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9" name="Text 7"/>
          <p:cNvSpPr/>
          <p:nvPr/>
        </p:nvSpPr>
        <p:spPr>
          <a:xfrm>
            <a:off x="3904488"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Reflecting</a:t>
            </a:r>
            <a:endParaRPr lang="en-US" sz="1100" dirty="0"/>
          </a:p>
        </p:txBody>
      </p:sp>
      <p:sp>
        <p:nvSpPr>
          <p:cNvPr id="10" name="Text 8"/>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11" name="Text 9"/>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000" b="1" dirty="0">
                <a:solidFill>
                  <a:srgbClr val="111820"/>
                </a:solidFill>
                <a:latin typeface="Cambria" pitchFamily="34" charset="0"/>
                <a:ea typeface="Cambria" pitchFamily="34" charset="-122"/>
                <a:cs typeface="Cambria" pitchFamily="34" charset="-120"/>
              </a:rPr>
              <a:t>Two-Step Equations — Undo in Reverse Order</a:t>
            </a:r>
            <a:endParaRPr lang="en-US" sz="3000" dirty="0"/>
          </a:p>
        </p:txBody>
      </p:sp>
      <p:sp>
        <p:nvSpPr>
          <p:cNvPr id="4" name="Shape 2"/>
          <p:cNvSpPr/>
          <p:nvPr/>
        </p:nvSpPr>
        <p:spPr>
          <a:xfrm>
            <a:off x="502920" y="1371600"/>
            <a:ext cx="11183112" cy="658368"/>
          </a:xfrm>
          <a:prstGeom prst="roundRect">
            <a:avLst>
              <a:gd name="adj" fmla="val 13889"/>
            </a:avLst>
          </a:prstGeom>
          <a:solidFill>
            <a:srgbClr val="FFFBEB"/>
          </a:solidFill>
          <a:ln w="12700">
            <a:solidFill>
              <a:srgbClr val="F59E0B"/>
            </a:solidFill>
            <a:prstDash val="solid"/>
          </a:ln>
          <a:effectLst>
            <a:outerShdw sx="100000" sy="100000" kx="0" ky="0" algn="bl" rotWithShape="0" blurRad="76200" dist="12700" dir="5400000">
              <a:srgbClr val="BFC7D2">
                <a:alpha val="35000"/>
              </a:srgbClr>
            </a:outerShdw>
          </a:effectLst>
        </p:spPr>
      </p:sp>
      <p:sp>
        <p:nvSpPr>
          <p:cNvPr id="5" name="Text 3"/>
          <p:cNvSpPr/>
          <p:nvPr/>
        </p:nvSpPr>
        <p:spPr>
          <a:xfrm>
            <a:off x="731520" y="1444752"/>
            <a:ext cx="10725912" cy="512064"/>
          </a:xfrm>
          <a:prstGeom prst="rect">
            <a:avLst/>
          </a:prstGeom>
          <a:noFill/>
          <a:ln/>
        </p:spPr>
        <p:txBody>
          <a:bodyPr wrap="square" lIns="0" tIns="0" rIns="0" bIns="0" rtlCol="0" anchor="ctr"/>
          <a:lstStyle/>
          <a:p>
            <a:pPr indent="0" marL="0">
              <a:buNone/>
            </a:pPr>
            <a:r>
              <a:rPr lang="en-US" sz="2000" b="1" dirty="0">
                <a:solidFill>
                  <a:srgbClr val="111820"/>
                </a:solidFill>
                <a:latin typeface="Calibri" pitchFamily="34" charset="0"/>
                <a:ea typeface="Calibri" pitchFamily="34" charset="-122"/>
                <a:cs typeface="Calibri" pitchFamily="34" charset="-120"/>
              </a:rPr>
              <a:t>The rule that makes this easy:  the LAST thing done to x is the FIRST thing you undo.</a:t>
            </a:r>
            <a:endParaRPr lang="en-US" sz="2000" dirty="0"/>
          </a:p>
        </p:txBody>
      </p:sp>
      <p:sp>
        <p:nvSpPr>
          <p:cNvPr id="6" name="Shape 4"/>
          <p:cNvSpPr/>
          <p:nvPr/>
        </p:nvSpPr>
        <p:spPr>
          <a:xfrm>
            <a:off x="502920" y="2194560"/>
            <a:ext cx="5349240" cy="2743200"/>
          </a:xfrm>
          <a:prstGeom prst="roundRect">
            <a:avLst>
              <a:gd name="adj" fmla="val 3333"/>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7" name="Text 5"/>
          <p:cNvSpPr/>
          <p:nvPr/>
        </p:nvSpPr>
        <p:spPr>
          <a:xfrm>
            <a:off x="704088" y="2322576"/>
            <a:ext cx="4946904" cy="310896"/>
          </a:xfrm>
          <a:prstGeom prst="rect">
            <a:avLst/>
          </a:prstGeom>
          <a:noFill/>
          <a:ln/>
        </p:spPr>
        <p:txBody>
          <a:bodyPr wrap="square" lIns="0" tIns="0" rIns="0" bIns="0" rtlCol="0" anchor="ctr"/>
          <a:lstStyle/>
          <a:p>
            <a:pPr indent="0" marL="0">
              <a:buNone/>
            </a:pPr>
            <a:r>
              <a:rPr lang="en-US" sz="1400" b="1" spc="60" kern="0" dirty="0">
                <a:solidFill>
                  <a:srgbClr val="4361EE"/>
                </a:solidFill>
                <a:latin typeface="Calibri" pitchFamily="34" charset="0"/>
                <a:ea typeface="Calibri" pitchFamily="34" charset="-122"/>
                <a:cs typeface="Calibri" pitchFamily="34" charset="-120"/>
              </a:rPr>
              <a:t>BALANCE METHOD — solve 3x + 5 = 20</a:t>
            </a:r>
            <a:endParaRPr lang="en-US" sz="1400" dirty="0"/>
          </a:p>
        </p:txBody>
      </p:sp>
      <p:sp>
        <p:nvSpPr>
          <p:cNvPr id="8" name="Text 6"/>
          <p:cNvSpPr/>
          <p:nvPr/>
        </p:nvSpPr>
        <p:spPr>
          <a:xfrm>
            <a:off x="704088" y="2706624"/>
            <a:ext cx="4946904"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3x + 5 = 20</a:t>
            </a:r>
            <a:endParaRPr lang="en-US" sz="1900" dirty="0"/>
          </a:p>
        </p:txBody>
      </p:sp>
      <p:sp>
        <p:nvSpPr>
          <p:cNvPr id="9" name="Text 7"/>
          <p:cNvSpPr/>
          <p:nvPr/>
        </p:nvSpPr>
        <p:spPr>
          <a:xfrm>
            <a:off x="704088" y="3008376"/>
            <a:ext cx="494690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− 5 from both sides</a:t>
            </a:r>
            <a:endParaRPr lang="en-US" sz="1300" dirty="0"/>
          </a:p>
        </p:txBody>
      </p:sp>
      <p:sp>
        <p:nvSpPr>
          <p:cNvPr id="10" name="Text 8"/>
          <p:cNvSpPr/>
          <p:nvPr/>
        </p:nvSpPr>
        <p:spPr>
          <a:xfrm>
            <a:off x="704088" y="3282696"/>
            <a:ext cx="4946904"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3x = 15</a:t>
            </a:r>
            <a:endParaRPr lang="en-US" sz="1900" dirty="0"/>
          </a:p>
        </p:txBody>
      </p:sp>
      <p:sp>
        <p:nvSpPr>
          <p:cNvPr id="11" name="Text 9"/>
          <p:cNvSpPr/>
          <p:nvPr/>
        </p:nvSpPr>
        <p:spPr>
          <a:xfrm>
            <a:off x="704088" y="3584448"/>
            <a:ext cx="494690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 3 on both sides</a:t>
            </a:r>
            <a:endParaRPr lang="en-US" sz="1300" dirty="0"/>
          </a:p>
        </p:txBody>
      </p:sp>
      <p:sp>
        <p:nvSpPr>
          <p:cNvPr id="12" name="Text 10"/>
          <p:cNvSpPr/>
          <p:nvPr/>
        </p:nvSpPr>
        <p:spPr>
          <a:xfrm>
            <a:off x="704088" y="3858768"/>
            <a:ext cx="4946904" cy="329184"/>
          </a:xfrm>
          <a:prstGeom prst="rect">
            <a:avLst/>
          </a:prstGeom>
          <a:noFill/>
          <a:ln/>
        </p:spPr>
        <p:txBody>
          <a:bodyPr wrap="square" lIns="0" tIns="0" rIns="0" bIns="0" rtlCol="0" anchor="ctr"/>
          <a:lstStyle/>
          <a:p>
            <a:pPr indent="0" marL="0">
              <a:buNone/>
            </a:pPr>
            <a:r>
              <a:rPr lang="en-US" sz="1900" b="1" dirty="0">
                <a:solidFill>
                  <a:srgbClr val="4361EE"/>
                </a:solidFill>
                <a:latin typeface="Consolas" pitchFamily="34" charset="0"/>
                <a:ea typeface="Consolas" pitchFamily="34" charset="-122"/>
                <a:cs typeface="Consolas" pitchFamily="34" charset="-120"/>
              </a:rPr>
              <a:t>x = 5</a:t>
            </a:r>
            <a:endParaRPr lang="en-US" sz="1900" dirty="0"/>
          </a:p>
        </p:txBody>
      </p:sp>
      <p:sp>
        <p:nvSpPr>
          <p:cNvPr id="13" name="Text 11"/>
          <p:cNvSpPr/>
          <p:nvPr/>
        </p:nvSpPr>
        <p:spPr>
          <a:xfrm>
            <a:off x="704088" y="4242816"/>
            <a:ext cx="4946904"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Check:  3 × 5 + 5 = 20  ✓</a:t>
            </a:r>
            <a:endParaRPr lang="en-US" sz="1900" dirty="0"/>
          </a:p>
        </p:txBody>
      </p:sp>
      <p:sp>
        <p:nvSpPr>
          <p:cNvPr id="14" name="Shape 12"/>
          <p:cNvSpPr/>
          <p:nvPr/>
        </p:nvSpPr>
        <p:spPr>
          <a:xfrm>
            <a:off x="6172200" y="2194560"/>
            <a:ext cx="5513832" cy="2743200"/>
          </a:xfrm>
          <a:prstGeom prst="roundRect">
            <a:avLst>
              <a:gd name="adj" fmla="val 3333"/>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15" name="Text 13"/>
          <p:cNvSpPr/>
          <p:nvPr/>
        </p:nvSpPr>
        <p:spPr>
          <a:xfrm>
            <a:off x="6373368" y="2322576"/>
            <a:ext cx="5120640" cy="292608"/>
          </a:xfrm>
          <a:prstGeom prst="rect">
            <a:avLst/>
          </a:prstGeom>
          <a:noFill/>
          <a:ln/>
        </p:spPr>
        <p:txBody>
          <a:bodyPr wrap="square" lIns="0" tIns="0" rIns="0" bIns="0" rtlCol="0" anchor="ctr"/>
          <a:lstStyle/>
          <a:p>
            <a:pPr indent="0" marL="0">
              <a:buNone/>
            </a:pPr>
            <a:r>
              <a:rPr lang="en-US" sz="1400" b="1" spc="60" kern="0" dirty="0">
                <a:solidFill>
                  <a:srgbClr val="10B981"/>
                </a:solidFill>
                <a:latin typeface="Calibri" pitchFamily="34" charset="0"/>
                <a:ea typeface="Calibri" pitchFamily="34" charset="-122"/>
                <a:cs typeface="Calibri" pitchFamily="34" charset="-120"/>
              </a:rPr>
              <a:t>FLOWCHART METHOD — same equation</a:t>
            </a:r>
            <a:endParaRPr lang="en-US" sz="1400" dirty="0"/>
          </a:p>
        </p:txBody>
      </p:sp>
      <p:sp>
        <p:nvSpPr>
          <p:cNvPr id="16" name="Text 14"/>
          <p:cNvSpPr/>
          <p:nvPr/>
        </p:nvSpPr>
        <p:spPr>
          <a:xfrm>
            <a:off x="6492240" y="2880360"/>
            <a:ext cx="86868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600" b="1" dirty="0">
                <a:solidFill>
                  <a:srgbClr val="111820"/>
                </a:solidFill>
                <a:latin typeface="Consolas" pitchFamily="34" charset="0"/>
                <a:ea typeface="Consolas" pitchFamily="34" charset="-122"/>
                <a:cs typeface="Consolas" pitchFamily="34" charset="-120"/>
              </a:rPr>
              <a:t>x</a:t>
            </a:r>
            <a:endParaRPr lang="en-US" sz="1600" dirty="0"/>
          </a:p>
        </p:txBody>
      </p:sp>
      <p:sp>
        <p:nvSpPr>
          <p:cNvPr id="17" name="Shape 15"/>
          <p:cNvSpPr/>
          <p:nvPr/>
        </p:nvSpPr>
        <p:spPr>
          <a:xfrm>
            <a:off x="7434072" y="3118104"/>
            <a:ext cx="630936" cy="0"/>
          </a:xfrm>
          <a:prstGeom prst="line">
            <a:avLst/>
          </a:prstGeom>
          <a:noFill/>
          <a:ln w="22225">
            <a:solidFill>
              <a:srgbClr val="4A5563"/>
            </a:solidFill>
            <a:prstDash val="solid"/>
            <a:headEnd type="none"/>
            <a:tailEnd type="triangle"/>
          </a:ln>
        </p:spPr>
      </p:sp>
      <p:sp>
        <p:nvSpPr>
          <p:cNvPr id="18" name="Text 16"/>
          <p:cNvSpPr/>
          <p:nvPr/>
        </p:nvSpPr>
        <p:spPr>
          <a:xfrm>
            <a:off x="7360920" y="2624328"/>
            <a:ext cx="777240" cy="27432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 3</a:t>
            </a:r>
            <a:endParaRPr lang="en-US" sz="1400" dirty="0"/>
          </a:p>
        </p:txBody>
      </p:sp>
      <p:sp>
        <p:nvSpPr>
          <p:cNvPr id="19" name="Text 17"/>
          <p:cNvSpPr/>
          <p:nvPr/>
        </p:nvSpPr>
        <p:spPr>
          <a:xfrm>
            <a:off x="8138160" y="2880360"/>
            <a:ext cx="86868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600" b="1" dirty="0">
                <a:solidFill>
                  <a:srgbClr val="111820"/>
                </a:solidFill>
                <a:latin typeface="Consolas" pitchFamily="34" charset="0"/>
                <a:ea typeface="Consolas" pitchFamily="34" charset="-122"/>
                <a:cs typeface="Consolas" pitchFamily="34" charset="-120"/>
              </a:rPr>
              <a:t>3x</a:t>
            </a:r>
            <a:endParaRPr lang="en-US" sz="1600" dirty="0"/>
          </a:p>
        </p:txBody>
      </p:sp>
      <p:sp>
        <p:nvSpPr>
          <p:cNvPr id="20" name="Shape 18"/>
          <p:cNvSpPr/>
          <p:nvPr/>
        </p:nvSpPr>
        <p:spPr>
          <a:xfrm>
            <a:off x="9079992" y="3118104"/>
            <a:ext cx="630936" cy="0"/>
          </a:xfrm>
          <a:prstGeom prst="line">
            <a:avLst/>
          </a:prstGeom>
          <a:noFill/>
          <a:ln w="22225">
            <a:solidFill>
              <a:srgbClr val="4A5563"/>
            </a:solidFill>
            <a:prstDash val="solid"/>
            <a:headEnd type="none"/>
            <a:tailEnd type="triangle"/>
          </a:ln>
        </p:spPr>
      </p:sp>
      <p:sp>
        <p:nvSpPr>
          <p:cNvPr id="21" name="Text 19"/>
          <p:cNvSpPr/>
          <p:nvPr/>
        </p:nvSpPr>
        <p:spPr>
          <a:xfrm>
            <a:off x="9006840" y="2624328"/>
            <a:ext cx="777240" cy="27432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+ 5</a:t>
            </a:r>
            <a:endParaRPr lang="en-US" sz="1400" dirty="0"/>
          </a:p>
        </p:txBody>
      </p:sp>
      <p:sp>
        <p:nvSpPr>
          <p:cNvPr id="22" name="Text 20"/>
          <p:cNvSpPr/>
          <p:nvPr/>
        </p:nvSpPr>
        <p:spPr>
          <a:xfrm>
            <a:off x="9784080" y="2880360"/>
            <a:ext cx="86868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600" b="1" dirty="0">
                <a:solidFill>
                  <a:srgbClr val="111820"/>
                </a:solidFill>
                <a:latin typeface="Consolas" pitchFamily="34" charset="0"/>
                <a:ea typeface="Consolas" pitchFamily="34" charset="-122"/>
                <a:cs typeface="Consolas" pitchFamily="34" charset="-120"/>
              </a:rPr>
              <a:t>20</a:t>
            </a:r>
            <a:endParaRPr lang="en-US" sz="1600" dirty="0"/>
          </a:p>
        </p:txBody>
      </p:sp>
      <p:sp>
        <p:nvSpPr>
          <p:cNvPr id="23" name="Text 21"/>
          <p:cNvSpPr/>
          <p:nvPr/>
        </p:nvSpPr>
        <p:spPr>
          <a:xfrm>
            <a:off x="6492240" y="3794760"/>
            <a:ext cx="868680" cy="475488"/>
          </a:xfrm>
          <a:prstGeom prst="roundRect">
            <a:avLst>
              <a:gd name="adj" fmla="val 17308"/>
            </a:avLst>
          </a:prstGeom>
          <a:solidFill>
            <a:srgbClr val="10B981"/>
          </a:solidFill>
          <a:ln w="15875">
            <a:solidFill>
              <a:srgbClr val="10B981"/>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5</a:t>
            </a:r>
            <a:endParaRPr lang="en-US" sz="1600" dirty="0"/>
          </a:p>
        </p:txBody>
      </p:sp>
      <p:sp>
        <p:nvSpPr>
          <p:cNvPr id="24" name="Shape 22"/>
          <p:cNvSpPr/>
          <p:nvPr/>
        </p:nvSpPr>
        <p:spPr>
          <a:xfrm>
            <a:off x="7434072" y="4032504"/>
            <a:ext cx="630936" cy="0"/>
          </a:xfrm>
          <a:prstGeom prst="line">
            <a:avLst/>
          </a:prstGeom>
          <a:noFill/>
          <a:ln w="22225">
            <a:solidFill>
              <a:srgbClr val="10B981"/>
            </a:solidFill>
            <a:prstDash val="solid"/>
            <a:headEnd type="triangle"/>
            <a:tailEnd type="none"/>
          </a:ln>
        </p:spPr>
      </p:sp>
      <p:sp>
        <p:nvSpPr>
          <p:cNvPr id="25" name="Text 23"/>
          <p:cNvSpPr/>
          <p:nvPr/>
        </p:nvSpPr>
        <p:spPr>
          <a:xfrm>
            <a:off x="7360920" y="3538728"/>
            <a:ext cx="777240" cy="27432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 3</a:t>
            </a:r>
            <a:endParaRPr lang="en-US" sz="1400" dirty="0"/>
          </a:p>
        </p:txBody>
      </p:sp>
      <p:sp>
        <p:nvSpPr>
          <p:cNvPr id="26" name="Text 24"/>
          <p:cNvSpPr/>
          <p:nvPr/>
        </p:nvSpPr>
        <p:spPr>
          <a:xfrm>
            <a:off x="8138160" y="3794760"/>
            <a:ext cx="86868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600" b="1" dirty="0">
                <a:solidFill>
                  <a:srgbClr val="111820"/>
                </a:solidFill>
                <a:latin typeface="Consolas" pitchFamily="34" charset="0"/>
                <a:ea typeface="Consolas" pitchFamily="34" charset="-122"/>
                <a:cs typeface="Consolas" pitchFamily="34" charset="-120"/>
              </a:rPr>
              <a:t>15</a:t>
            </a:r>
            <a:endParaRPr lang="en-US" sz="1600" dirty="0"/>
          </a:p>
        </p:txBody>
      </p:sp>
      <p:sp>
        <p:nvSpPr>
          <p:cNvPr id="27" name="Shape 25"/>
          <p:cNvSpPr/>
          <p:nvPr/>
        </p:nvSpPr>
        <p:spPr>
          <a:xfrm>
            <a:off x="9079992" y="4032504"/>
            <a:ext cx="630936" cy="0"/>
          </a:xfrm>
          <a:prstGeom prst="line">
            <a:avLst/>
          </a:prstGeom>
          <a:noFill/>
          <a:ln w="22225">
            <a:solidFill>
              <a:srgbClr val="10B981"/>
            </a:solidFill>
            <a:prstDash val="solid"/>
            <a:headEnd type="triangle"/>
            <a:tailEnd type="none"/>
          </a:ln>
        </p:spPr>
      </p:sp>
      <p:sp>
        <p:nvSpPr>
          <p:cNvPr id="28" name="Text 26"/>
          <p:cNvSpPr/>
          <p:nvPr/>
        </p:nvSpPr>
        <p:spPr>
          <a:xfrm>
            <a:off x="9006840" y="3538728"/>
            <a:ext cx="777240" cy="27432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− 5</a:t>
            </a:r>
            <a:endParaRPr lang="en-US" sz="1400" dirty="0"/>
          </a:p>
        </p:txBody>
      </p:sp>
      <p:sp>
        <p:nvSpPr>
          <p:cNvPr id="29" name="Text 27"/>
          <p:cNvSpPr/>
          <p:nvPr/>
        </p:nvSpPr>
        <p:spPr>
          <a:xfrm>
            <a:off x="9784080" y="3794760"/>
            <a:ext cx="868680" cy="475488"/>
          </a:xfrm>
          <a:prstGeom prst="roundRect">
            <a:avLst>
              <a:gd name="adj" fmla="val 17308"/>
            </a:avLst>
          </a:prstGeom>
          <a:solidFill>
            <a:srgbClr val="FFFFFF"/>
          </a:solidFill>
          <a:ln w="15875">
            <a:solidFill>
              <a:srgbClr val="D8DEE6"/>
            </a:solidFill>
          </a:ln>
        </p:spPr>
        <p:txBody>
          <a:bodyPr wrap="square" lIns="0" tIns="0" rIns="0" bIns="0" rtlCol="0" anchor="ctr"/>
          <a:lstStyle/>
          <a:p>
            <a:pPr algn="ctr" indent="0" marL="0">
              <a:buNone/>
            </a:pPr>
            <a:r>
              <a:rPr lang="en-US" sz="1600" b="1" dirty="0">
                <a:solidFill>
                  <a:srgbClr val="111820"/>
                </a:solidFill>
                <a:latin typeface="Consolas" pitchFamily="34" charset="0"/>
                <a:ea typeface="Consolas" pitchFamily="34" charset="-122"/>
                <a:cs typeface="Consolas" pitchFamily="34" charset="-120"/>
              </a:rPr>
              <a:t>20</a:t>
            </a:r>
            <a:endParaRPr lang="en-US" sz="1600" dirty="0"/>
          </a:p>
        </p:txBody>
      </p:sp>
      <p:sp>
        <p:nvSpPr>
          <p:cNvPr id="30" name="Text 28"/>
          <p:cNvSpPr/>
          <p:nvPr/>
        </p:nvSpPr>
        <p:spPr>
          <a:xfrm>
            <a:off x="6373368" y="4389120"/>
            <a:ext cx="5120640" cy="292608"/>
          </a:xfrm>
          <a:prstGeom prst="rect">
            <a:avLst/>
          </a:prstGeom>
          <a:noFill/>
          <a:ln/>
        </p:spPr>
        <p:txBody>
          <a:bodyPr wrap="square" lIns="0" tIns="0" rIns="0" bIns="0" rtlCol="0" anchor="ctr"/>
          <a:lstStyle/>
          <a:p>
            <a:pPr indent="0" marL="0">
              <a:buNone/>
            </a:pPr>
            <a:r>
              <a:rPr lang="en-US" sz="1500" i="1" dirty="0">
                <a:solidFill>
                  <a:srgbClr val="4A5563"/>
                </a:solidFill>
                <a:latin typeface="Calibri" pitchFamily="34" charset="0"/>
                <a:ea typeface="Calibri" pitchFamily="34" charset="-122"/>
                <a:cs typeface="Calibri" pitchFamily="34" charset="-120"/>
              </a:rPr>
              <a:t>Read the bottom row right to left.</a:t>
            </a:r>
            <a:endParaRPr lang="en-US" sz="1500" dirty="0"/>
          </a:p>
        </p:txBody>
      </p:sp>
      <p:sp>
        <p:nvSpPr>
          <p:cNvPr id="31" name="Text 29"/>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32" name="Text 30"/>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33" name="Text 31"/>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34" name="Text 32"/>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35" name="Text 33"/>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36" name="Text 34"/>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56692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When There Are Brackets</a:t>
            </a:r>
            <a:endParaRPr lang="en-US" sz="3200" dirty="0"/>
          </a:p>
        </p:txBody>
      </p:sp>
      <p:sp>
        <p:nvSpPr>
          <p:cNvPr id="3" name="Text 1"/>
          <p:cNvSpPr/>
          <p:nvPr/>
        </p:nvSpPr>
        <p:spPr>
          <a:xfrm>
            <a:off x="502920" y="1115568"/>
            <a:ext cx="11183112" cy="365760"/>
          </a:xfrm>
          <a:prstGeom prst="rect">
            <a:avLst/>
          </a:prstGeom>
          <a:noFill/>
          <a:ln/>
        </p:spPr>
        <p:txBody>
          <a:bodyPr wrap="square" lIns="0" tIns="0" rIns="0" bIns="0" rtlCol="0" anchor="ctr"/>
          <a:lstStyle/>
          <a:p>
            <a:pPr indent="0" marL="0">
              <a:buNone/>
            </a:pPr>
            <a:r>
              <a:rPr lang="en-US" sz="1900" dirty="0">
                <a:solidFill>
                  <a:srgbClr val="4A5563"/>
                </a:solidFill>
                <a:latin typeface="Calibri" pitchFamily="34" charset="0"/>
                <a:ea typeface="Calibri" pitchFamily="34" charset="-122"/>
                <a:cs typeface="Calibri" pitchFamily="34" charset="-120"/>
              </a:rPr>
              <a:t>In 2(x + 3) = 16 the bracket was built FIRST — so the × 2 is the last thing done, and the first thing undone.</a:t>
            </a:r>
            <a:endParaRPr lang="en-US" sz="1900" dirty="0"/>
          </a:p>
        </p:txBody>
      </p:sp>
      <p:sp>
        <p:nvSpPr>
          <p:cNvPr id="4" name="Shape 2"/>
          <p:cNvSpPr/>
          <p:nvPr/>
        </p:nvSpPr>
        <p:spPr>
          <a:xfrm>
            <a:off x="502920" y="1600200"/>
            <a:ext cx="5349240" cy="2606040"/>
          </a:xfrm>
          <a:prstGeom prst="roundRect">
            <a:avLst>
              <a:gd name="adj" fmla="val 3509"/>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5" name="Text 3"/>
          <p:cNvSpPr/>
          <p:nvPr/>
        </p:nvSpPr>
        <p:spPr>
          <a:xfrm>
            <a:off x="704088" y="1728216"/>
            <a:ext cx="4946904" cy="310896"/>
          </a:xfrm>
          <a:prstGeom prst="rect">
            <a:avLst/>
          </a:prstGeom>
          <a:noFill/>
          <a:ln/>
        </p:spPr>
        <p:txBody>
          <a:bodyPr wrap="square" lIns="0" tIns="0" rIns="0" bIns="0" rtlCol="0" anchor="ctr"/>
          <a:lstStyle/>
          <a:p>
            <a:pPr indent="0" marL="0">
              <a:buNone/>
            </a:pPr>
            <a:r>
              <a:rPr lang="en-US" sz="1400" b="1" spc="60" kern="0" dirty="0">
                <a:solidFill>
                  <a:srgbClr val="4361EE"/>
                </a:solidFill>
                <a:latin typeface="Calibri" pitchFamily="34" charset="0"/>
                <a:ea typeface="Calibri" pitchFamily="34" charset="-122"/>
                <a:cs typeface="Calibri" pitchFamily="34" charset="-120"/>
              </a:rPr>
              <a:t>ROUTE A — divide first</a:t>
            </a:r>
            <a:endParaRPr lang="en-US" sz="1400" dirty="0"/>
          </a:p>
        </p:txBody>
      </p:sp>
      <p:sp>
        <p:nvSpPr>
          <p:cNvPr id="6" name="Text 4"/>
          <p:cNvSpPr/>
          <p:nvPr/>
        </p:nvSpPr>
        <p:spPr>
          <a:xfrm>
            <a:off x="704088" y="2112264"/>
            <a:ext cx="4946904"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2(x + 3) = 16</a:t>
            </a:r>
            <a:endParaRPr lang="en-US" sz="1900" dirty="0"/>
          </a:p>
        </p:txBody>
      </p:sp>
      <p:sp>
        <p:nvSpPr>
          <p:cNvPr id="7" name="Text 5"/>
          <p:cNvSpPr/>
          <p:nvPr/>
        </p:nvSpPr>
        <p:spPr>
          <a:xfrm>
            <a:off x="704088" y="2414016"/>
            <a:ext cx="494690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 2 on both sides</a:t>
            </a:r>
            <a:endParaRPr lang="en-US" sz="1300" dirty="0"/>
          </a:p>
        </p:txBody>
      </p:sp>
      <p:sp>
        <p:nvSpPr>
          <p:cNvPr id="8" name="Text 6"/>
          <p:cNvSpPr/>
          <p:nvPr/>
        </p:nvSpPr>
        <p:spPr>
          <a:xfrm>
            <a:off x="704088" y="2688336"/>
            <a:ext cx="4946904"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x + 3 = 8</a:t>
            </a:r>
            <a:endParaRPr lang="en-US" sz="1900" dirty="0"/>
          </a:p>
        </p:txBody>
      </p:sp>
      <p:sp>
        <p:nvSpPr>
          <p:cNvPr id="9" name="Text 7"/>
          <p:cNvSpPr/>
          <p:nvPr/>
        </p:nvSpPr>
        <p:spPr>
          <a:xfrm>
            <a:off x="704088" y="2990088"/>
            <a:ext cx="4946904"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− 3 from both sides</a:t>
            </a:r>
            <a:endParaRPr lang="en-US" sz="1300" dirty="0"/>
          </a:p>
        </p:txBody>
      </p:sp>
      <p:sp>
        <p:nvSpPr>
          <p:cNvPr id="10" name="Text 8"/>
          <p:cNvSpPr/>
          <p:nvPr/>
        </p:nvSpPr>
        <p:spPr>
          <a:xfrm>
            <a:off x="704088" y="3264408"/>
            <a:ext cx="4946904" cy="329184"/>
          </a:xfrm>
          <a:prstGeom prst="rect">
            <a:avLst/>
          </a:prstGeom>
          <a:noFill/>
          <a:ln/>
        </p:spPr>
        <p:txBody>
          <a:bodyPr wrap="square" lIns="0" tIns="0" rIns="0" bIns="0" rtlCol="0" anchor="ctr"/>
          <a:lstStyle/>
          <a:p>
            <a:pPr indent="0" marL="0">
              <a:buNone/>
            </a:pPr>
            <a:r>
              <a:rPr lang="en-US" sz="1900" b="1" dirty="0">
                <a:solidFill>
                  <a:srgbClr val="4361EE"/>
                </a:solidFill>
                <a:latin typeface="Consolas" pitchFamily="34" charset="0"/>
                <a:ea typeface="Consolas" pitchFamily="34" charset="-122"/>
                <a:cs typeface="Consolas" pitchFamily="34" charset="-120"/>
              </a:rPr>
              <a:t>x = 5</a:t>
            </a:r>
            <a:endParaRPr lang="en-US" sz="1900" dirty="0"/>
          </a:p>
        </p:txBody>
      </p:sp>
      <p:sp>
        <p:nvSpPr>
          <p:cNvPr id="11" name="Shape 9"/>
          <p:cNvSpPr/>
          <p:nvPr/>
        </p:nvSpPr>
        <p:spPr>
          <a:xfrm>
            <a:off x="6172200" y="1600200"/>
            <a:ext cx="5513832" cy="2606040"/>
          </a:xfrm>
          <a:prstGeom prst="roundRect">
            <a:avLst>
              <a:gd name="adj" fmla="val 3509"/>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12" name="Text 10"/>
          <p:cNvSpPr/>
          <p:nvPr/>
        </p:nvSpPr>
        <p:spPr>
          <a:xfrm>
            <a:off x="6373368" y="1728216"/>
            <a:ext cx="5111496" cy="310896"/>
          </a:xfrm>
          <a:prstGeom prst="rect">
            <a:avLst/>
          </a:prstGeom>
          <a:noFill/>
          <a:ln/>
        </p:spPr>
        <p:txBody>
          <a:bodyPr wrap="square" lIns="0" tIns="0" rIns="0" bIns="0" rtlCol="0" anchor="ctr"/>
          <a:lstStyle/>
          <a:p>
            <a:pPr indent="0" marL="0">
              <a:buNone/>
            </a:pPr>
            <a:r>
              <a:rPr lang="en-US" sz="1400" b="1" spc="60" kern="0" dirty="0">
                <a:solidFill>
                  <a:srgbClr val="8B5CF6"/>
                </a:solidFill>
                <a:latin typeface="Calibri" pitchFamily="34" charset="0"/>
                <a:ea typeface="Calibri" pitchFamily="34" charset="-122"/>
                <a:cs typeface="Calibri" pitchFamily="34" charset="-120"/>
              </a:rPr>
              <a:t>ROUTE B — expand first</a:t>
            </a:r>
            <a:endParaRPr lang="en-US" sz="1400" dirty="0"/>
          </a:p>
        </p:txBody>
      </p:sp>
      <p:sp>
        <p:nvSpPr>
          <p:cNvPr id="13" name="Text 11"/>
          <p:cNvSpPr/>
          <p:nvPr/>
        </p:nvSpPr>
        <p:spPr>
          <a:xfrm>
            <a:off x="6373368" y="2112264"/>
            <a:ext cx="5111496"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2(x + 3) = 16</a:t>
            </a:r>
            <a:endParaRPr lang="en-US" sz="1900" dirty="0"/>
          </a:p>
        </p:txBody>
      </p:sp>
      <p:sp>
        <p:nvSpPr>
          <p:cNvPr id="14" name="Text 12"/>
          <p:cNvSpPr/>
          <p:nvPr/>
        </p:nvSpPr>
        <p:spPr>
          <a:xfrm>
            <a:off x="6373368" y="2414016"/>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multiply BOTH terms inside</a:t>
            </a:r>
            <a:endParaRPr lang="en-US" sz="1300" dirty="0"/>
          </a:p>
        </p:txBody>
      </p:sp>
      <p:sp>
        <p:nvSpPr>
          <p:cNvPr id="15" name="Text 13"/>
          <p:cNvSpPr/>
          <p:nvPr/>
        </p:nvSpPr>
        <p:spPr>
          <a:xfrm>
            <a:off x="6373368" y="2688336"/>
            <a:ext cx="5111496" cy="329184"/>
          </a:xfrm>
          <a:prstGeom prst="rect">
            <a:avLst/>
          </a:prstGeom>
          <a:noFill/>
          <a:ln/>
        </p:spPr>
        <p:txBody>
          <a:bodyPr wrap="square" lIns="0" tIns="0" rIns="0" bIns="0" rtlCol="0" anchor="ctr"/>
          <a:lstStyle/>
          <a:p>
            <a:pPr indent="0" marL="0">
              <a:buNone/>
            </a:pPr>
            <a:r>
              <a:rPr lang="en-US" sz="1900" dirty="0">
                <a:solidFill>
                  <a:srgbClr val="111820"/>
                </a:solidFill>
                <a:latin typeface="Consolas" pitchFamily="34" charset="0"/>
                <a:ea typeface="Consolas" pitchFamily="34" charset="-122"/>
                <a:cs typeface="Consolas" pitchFamily="34" charset="-120"/>
              </a:rPr>
              <a:t>2x + 6 = 16</a:t>
            </a:r>
            <a:endParaRPr lang="en-US" sz="1900" dirty="0"/>
          </a:p>
        </p:txBody>
      </p:sp>
      <p:sp>
        <p:nvSpPr>
          <p:cNvPr id="16" name="Text 14"/>
          <p:cNvSpPr/>
          <p:nvPr/>
        </p:nvSpPr>
        <p:spPr>
          <a:xfrm>
            <a:off x="6373368" y="2990088"/>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now it is an ordinary two-step</a:t>
            </a:r>
            <a:endParaRPr lang="en-US" sz="1300" dirty="0"/>
          </a:p>
        </p:txBody>
      </p:sp>
      <p:sp>
        <p:nvSpPr>
          <p:cNvPr id="17" name="Text 15"/>
          <p:cNvSpPr/>
          <p:nvPr/>
        </p:nvSpPr>
        <p:spPr>
          <a:xfrm>
            <a:off x="6373368" y="3264408"/>
            <a:ext cx="5111496" cy="329184"/>
          </a:xfrm>
          <a:prstGeom prst="rect">
            <a:avLst/>
          </a:prstGeom>
          <a:noFill/>
          <a:ln/>
        </p:spPr>
        <p:txBody>
          <a:bodyPr wrap="square" lIns="0" tIns="0" rIns="0" bIns="0" rtlCol="0" anchor="ctr"/>
          <a:lstStyle/>
          <a:p>
            <a:pPr indent="0" marL="0">
              <a:buNone/>
            </a:pPr>
            <a:r>
              <a:rPr lang="en-US" sz="1900" b="1" dirty="0">
                <a:solidFill>
                  <a:srgbClr val="8B5CF6"/>
                </a:solidFill>
                <a:latin typeface="Consolas" pitchFamily="34" charset="0"/>
                <a:ea typeface="Consolas" pitchFamily="34" charset="-122"/>
                <a:cs typeface="Consolas" pitchFamily="34" charset="-120"/>
              </a:rPr>
              <a:t>x = 5</a:t>
            </a:r>
            <a:endParaRPr lang="en-US" sz="1900" dirty="0"/>
          </a:p>
        </p:txBody>
      </p:sp>
      <p:sp>
        <p:nvSpPr>
          <p:cNvPr id="18" name="Shape 16"/>
          <p:cNvSpPr/>
          <p:nvPr/>
        </p:nvSpPr>
        <p:spPr>
          <a:xfrm>
            <a:off x="502920" y="4389120"/>
            <a:ext cx="11183112" cy="960120"/>
          </a:xfrm>
          <a:prstGeom prst="roundRect">
            <a:avLst>
              <a:gd name="adj" fmla="val 9524"/>
            </a:avLst>
          </a:prstGeom>
          <a:solidFill>
            <a:srgbClr val="FEF2F2"/>
          </a:solidFill>
          <a:ln w="12700">
            <a:solidFill>
              <a:srgbClr val="EF4444"/>
            </a:solidFill>
            <a:prstDash val="solid"/>
          </a:ln>
          <a:effectLst>
            <a:outerShdw sx="100000" sy="100000" kx="0" ky="0" algn="bl" rotWithShape="0" blurRad="76200" dist="12700" dir="5400000">
              <a:srgbClr val="BFC7D2">
                <a:alpha val="35000"/>
              </a:srgbClr>
            </a:outerShdw>
          </a:effectLst>
        </p:spPr>
      </p:sp>
      <p:sp>
        <p:nvSpPr>
          <p:cNvPr id="19" name="Text 17"/>
          <p:cNvSpPr/>
          <p:nvPr/>
        </p:nvSpPr>
        <p:spPr>
          <a:xfrm>
            <a:off x="731520" y="4498848"/>
            <a:ext cx="10725912" cy="731520"/>
          </a:xfrm>
          <a:prstGeom prst="rect">
            <a:avLst/>
          </a:prstGeom>
          <a:noFill/>
          <a:ln/>
        </p:spPr>
        <p:txBody>
          <a:bodyPr wrap="square" lIns="0" tIns="0" rIns="0" bIns="0" rtlCol="0" anchor="ctr"/>
          <a:lstStyle/>
          <a:p>
            <a:pPr indent="0" marL="0">
              <a:buNone/>
            </a:pPr>
            <a:r>
              <a:rPr lang="en-US" sz="1900" b="1" dirty="0">
                <a:solidFill>
                  <a:srgbClr val="111820"/>
                </a:solidFill>
                <a:latin typeface="Calibri" pitchFamily="34" charset="0"/>
                <a:ea typeface="Calibri" pitchFamily="34" charset="-122"/>
                <a:cs typeface="Calibri" pitchFamily="34" charset="-120"/>
              </a:rPr>
              <a:t>Trap:  expanding 2(x + 3) as 2x + 3 loses a mark every single time. The 2 multiplies EVERYTHING inside the bracket.</a:t>
            </a:r>
            <a:endParaRPr lang="en-US" sz="1900" dirty="0"/>
          </a:p>
        </p:txBody>
      </p:sp>
      <p:sp>
        <p:nvSpPr>
          <p:cNvPr id="20" name="Text 18"/>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21" name="Text 19"/>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22" name="Text 20"/>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23" name="Text 21"/>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4" name="Text 22"/>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5" name="Text 23"/>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30368" y="219456"/>
            <a:ext cx="4160520" cy="274320"/>
          </a:xfrm>
          <a:prstGeom prst="roundRect">
            <a:avLst>
              <a:gd name="adj" fmla="val 46667"/>
            </a:avLst>
          </a:prstGeom>
          <a:solidFill>
            <a:srgbClr val="FFFBEB"/>
          </a:solidFill>
          <a:ln w="12700">
            <a:solidFill>
              <a:srgbClr val="F59E0B"/>
            </a:solid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  COPY INTO YOUR BOUND REFERENCE</a:t>
            </a:r>
            <a:endParaRPr lang="en-US" sz="1150" dirty="0"/>
          </a:p>
        </p:txBody>
      </p:sp>
      <p:sp>
        <p:nvSpPr>
          <p:cNvPr id="3" name="Text 1"/>
          <p:cNvSpPr/>
          <p:nvPr/>
        </p:nvSpPr>
        <p:spPr>
          <a:xfrm>
            <a:off x="502920" y="713232"/>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Turning Words Into an Equation</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349240" cy="914400"/>
        </p:xfrm>
        <a:graphic>
          <a:graphicData uri="http://schemas.openxmlformats.org/drawingml/2006/table">
            <a:tbl>
              <a:tblPr/>
              <a:tblGrid>
                <a:gridCol w="3246120"/>
                <a:gridCol w="2103120"/>
              </a:tblGrid>
              <a:tr h="402336">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Words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Algebra</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sum of, more than, increased by</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difference, less than, decreased by</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product of, times, double, triple</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quotient, shared between, half of</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02336">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is, gives, results in, altogether</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bl>
          </a:graphicData>
        </a:graphic>
      </p:graphicFrame>
      <p:sp>
        <p:nvSpPr>
          <p:cNvPr id="5" name="Shape 2"/>
          <p:cNvSpPr/>
          <p:nvPr/>
        </p:nvSpPr>
        <p:spPr>
          <a:xfrm>
            <a:off x="6172200" y="1417320"/>
            <a:ext cx="5513832" cy="2834640"/>
          </a:xfrm>
          <a:prstGeom prst="roundRect">
            <a:avLst>
              <a:gd name="adj" fmla="val 3226"/>
            </a:avLst>
          </a:prstGeom>
          <a:solidFill>
            <a:srgbClr val="FFFFFF"/>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6" name="Text 3"/>
          <p:cNvSpPr/>
          <p:nvPr/>
        </p:nvSpPr>
        <p:spPr>
          <a:xfrm>
            <a:off x="6373368" y="1545336"/>
            <a:ext cx="5111496" cy="310896"/>
          </a:xfrm>
          <a:prstGeom prst="rect">
            <a:avLst/>
          </a:prstGeom>
          <a:noFill/>
          <a:ln/>
        </p:spPr>
        <p:txBody>
          <a:bodyPr wrap="square" lIns="0" tIns="0" rIns="0" bIns="0" rtlCol="0" anchor="ctr"/>
          <a:lstStyle/>
          <a:p>
            <a:pPr indent="0" marL="0">
              <a:buNone/>
            </a:pPr>
            <a:r>
              <a:rPr lang="en-US" sz="1400" b="1" spc="60" kern="0" dirty="0">
                <a:solidFill>
                  <a:srgbClr val="10B981"/>
                </a:solidFill>
                <a:latin typeface="Calibri" pitchFamily="34" charset="0"/>
                <a:ea typeface="Calibri" pitchFamily="34" charset="-122"/>
                <a:cs typeface="Calibri" pitchFamily="34" charset="-120"/>
              </a:rPr>
              <a:t>WORKED EXAMPLE — 4 pens and a $3 book cost $19</a:t>
            </a:r>
            <a:endParaRPr lang="en-US" sz="1400" dirty="0"/>
          </a:p>
        </p:txBody>
      </p:sp>
      <p:sp>
        <p:nvSpPr>
          <p:cNvPr id="7" name="Text 4"/>
          <p:cNvSpPr/>
          <p:nvPr/>
        </p:nvSpPr>
        <p:spPr>
          <a:xfrm>
            <a:off x="6373368" y="1929384"/>
            <a:ext cx="5111496" cy="329184"/>
          </a:xfrm>
          <a:prstGeom prst="rect">
            <a:avLst/>
          </a:prstGeom>
          <a:noFill/>
          <a:ln/>
        </p:spPr>
        <p:txBody>
          <a:bodyPr wrap="square" lIns="0" tIns="0" rIns="0" bIns="0" rtlCol="0" anchor="ctr"/>
          <a:lstStyle/>
          <a:p>
            <a:pPr indent="0" marL="0">
              <a:buNone/>
            </a:pPr>
            <a:r>
              <a:rPr lang="en-US" sz="1800" dirty="0">
                <a:solidFill>
                  <a:srgbClr val="111820"/>
                </a:solidFill>
                <a:latin typeface="Consolas" pitchFamily="34" charset="0"/>
                <a:ea typeface="Consolas" pitchFamily="34" charset="-122"/>
                <a:cs typeface="Consolas" pitchFamily="34" charset="-120"/>
              </a:rPr>
              <a:t>Let p = cost of one pen</a:t>
            </a:r>
            <a:endParaRPr lang="en-US" sz="1800" dirty="0"/>
          </a:p>
        </p:txBody>
      </p:sp>
      <p:sp>
        <p:nvSpPr>
          <p:cNvPr id="8" name="Text 5"/>
          <p:cNvSpPr/>
          <p:nvPr/>
        </p:nvSpPr>
        <p:spPr>
          <a:xfrm>
            <a:off x="6373368" y="2231136"/>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1. name the unknown</a:t>
            </a:r>
            <a:endParaRPr lang="en-US" sz="1300" dirty="0"/>
          </a:p>
        </p:txBody>
      </p:sp>
      <p:sp>
        <p:nvSpPr>
          <p:cNvPr id="9" name="Text 6"/>
          <p:cNvSpPr/>
          <p:nvPr/>
        </p:nvSpPr>
        <p:spPr>
          <a:xfrm>
            <a:off x="6373368" y="2505456"/>
            <a:ext cx="5111496" cy="329184"/>
          </a:xfrm>
          <a:prstGeom prst="rect">
            <a:avLst/>
          </a:prstGeom>
          <a:noFill/>
          <a:ln/>
        </p:spPr>
        <p:txBody>
          <a:bodyPr wrap="square" lIns="0" tIns="0" rIns="0" bIns="0" rtlCol="0" anchor="ctr"/>
          <a:lstStyle/>
          <a:p>
            <a:pPr indent="0" marL="0">
              <a:buNone/>
            </a:pPr>
            <a:r>
              <a:rPr lang="en-US" sz="1800" dirty="0">
                <a:solidFill>
                  <a:srgbClr val="111820"/>
                </a:solidFill>
                <a:latin typeface="Consolas" pitchFamily="34" charset="0"/>
                <a:ea typeface="Consolas" pitchFamily="34" charset="-122"/>
                <a:cs typeface="Consolas" pitchFamily="34" charset="-120"/>
              </a:rPr>
              <a:t>4p + 3</a:t>
            </a:r>
            <a:endParaRPr lang="en-US" sz="1800" dirty="0"/>
          </a:p>
        </p:txBody>
      </p:sp>
      <p:sp>
        <p:nvSpPr>
          <p:cNvPr id="10" name="Text 7"/>
          <p:cNvSpPr/>
          <p:nvPr/>
        </p:nvSpPr>
        <p:spPr>
          <a:xfrm>
            <a:off x="6373368" y="2807208"/>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2. build the expression</a:t>
            </a:r>
            <a:endParaRPr lang="en-US" sz="1300" dirty="0"/>
          </a:p>
        </p:txBody>
      </p:sp>
      <p:sp>
        <p:nvSpPr>
          <p:cNvPr id="11" name="Text 8"/>
          <p:cNvSpPr/>
          <p:nvPr/>
        </p:nvSpPr>
        <p:spPr>
          <a:xfrm>
            <a:off x="6373368" y="3081528"/>
            <a:ext cx="5111496" cy="329184"/>
          </a:xfrm>
          <a:prstGeom prst="rect">
            <a:avLst/>
          </a:prstGeom>
          <a:noFill/>
          <a:ln/>
        </p:spPr>
        <p:txBody>
          <a:bodyPr wrap="square" lIns="0" tIns="0" rIns="0" bIns="0" rtlCol="0" anchor="ctr"/>
          <a:lstStyle/>
          <a:p>
            <a:pPr indent="0" marL="0">
              <a:buNone/>
            </a:pPr>
            <a:r>
              <a:rPr lang="en-US" sz="1800" dirty="0">
                <a:solidFill>
                  <a:srgbClr val="111820"/>
                </a:solidFill>
                <a:latin typeface="Consolas" pitchFamily="34" charset="0"/>
                <a:ea typeface="Consolas" pitchFamily="34" charset="-122"/>
                <a:cs typeface="Consolas" pitchFamily="34" charset="-120"/>
              </a:rPr>
              <a:t>4p + 3 = 19</a:t>
            </a:r>
            <a:endParaRPr lang="en-US" sz="1800" dirty="0"/>
          </a:p>
        </p:txBody>
      </p:sp>
      <p:sp>
        <p:nvSpPr>
          <p:cNvPr id="12" name="Text 9"/>
          <p:cNvSpPr/>
          <p:nvPr/>
        </p:nvSpPr>
        <p:spPr>
          <a:xfrm>
            <a:off x="6373368" y="3383280"/>
            <a:ext cx="5111496" cy="256032"/>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3. set it equal, then solve</a:t>
            </a:r>
            <a:endParaRPr lang="en-US" sz="1300" dirty="0"/>
          </a:p>
        </p:txBody>
      </p:sp>
      <p:sp>
        <p:nvSpPr>
          <p:cNvPr id="13" name="Text 10"/>
          <p:cNvSpPr/>
          <p:nvPr/>
        </p:nvSpPr>
        <p:spPr>
          <a:xfrm>
            <a:off x="6373368" y="3657600"/>
            <a:ext cx="5111496" cy="329184"/>
          </a:xfrm>
          <a:prstGeom prst="rect">
            <a:avLst/>
          </a:prstGeom>
          <a:noFill/>
          <a:ln/>
        </p:spPr>
        <p:txBody>
          <a:bodyPr wrap="square" lIns="0" tIns="0" rIns="0" bIns="0" rtlCol="0" anchor="ctr"/>
          <a:lstStyle/>
          <a:p>
            <a:pPr indent="0" marL="0">
              <a:buNone/>
            </a:pPr>
            <a:r>
              <a:rPr lang="en-US" sz="1800" b="1" dirty="0">
                <a:solidFill>
                  <a:srgbClr val="10B981"/>
                </a:solidFill>
                <a:latin typeface="Consolas" pitchFamily="34" charset="0"/>
                <a:ea typeface="Consolas" pitchFamily="34" charset="-122"/>
                <a:cs typeface="Consolas" pitchFamily="34" charset="-120"/>
              </a:rPr>
              <a:t>p = 4  — one pen costs $4</a:t>
            </a:r>
            <a:endParaRPr lang="en-US" sz="1800" dirty="0"/>
          </a:p>
        </p:txBody>
      </p:sp>
      <p:sp>
        <p:nvSpPr>
          <p:cNvPr id="14" name="Shape 11"/>
          <p:cNvSpPr/>
          <p:nvPr/>
        </p:nvSpPr>
        <p:spPr>
          <a:xfrm>
            <a:off x="502920" y="4114800"/>
            <a:ext cx="11183112" cy="1234440"/>
          </a:xfrm>
          <a:prstGeom prst="roundRect">
            <a:avLst>
              <a:gd name="adj" fmla="val 7407"/>
            </a:avLst>
          </a:prstGeom>
          <a:solidFill>
            <a:srgbClr val="FEF2F2"/>
          </a:solidFill>
          <a:ln w="12700">
            <a:solidFill>
              <a:srgbClr val="EF4444"/>
            </a:solidFill>
            <a:prstDash val="solid"/>
          </a:ln>
          <a:effectLst>
            <a:outerShdw sx="100000" sy="100000" kx="0" ky="0" algn="bl" rotWithShape="0" blurRad="76200" dist="12700" dir="5400000">
              <a:srgbClr val="BFC7D2">
                <a:alpha val="35000"/>
              </a:srgbClr>
            </a:outerShdw>
          </a:effectLst>
        </p:spPr>
      </p:sp>
      <p:sp>
        <p:nvSpPr>
          <p:cNvPr id="15" name="Text 12"/>
          <p:cNvSpPr/>
          <p:nvPr/>
        </p:nvSpPr>
        <p:spPr>
          <a:xfrm>
            <a:off x="731520" y="4224528"/>
            <a:ext cx="10725912" cy="384048"/>
          </a:xfrm>
          <a:prstGeom prst="rect">
            <a:avLst/>
          </a:prstGeom>
          <a:noFill/>
          <a:ln/>
        </p:spPr>
        <p:txBody>
          <a:bodyPr wrap="square" lIns="0" tIns="0" rIns="0" bIns="0" rtlCol="0" anchor="ctr"/>
          <a:lstStyle/>
          <a:p>
            <a:pPr indent="0" marL="0">
              <a:buNone/>
            </a:pPr>
            <a:r>
              <a:rPr lang="en-US" sz="2000" b="1" dirty="0">
                <a:solidFill>
                  <a:srgbClr val="111820"/>
                </a:solidFill>
                <a:latin typeface="Calibri" pitchFamily="34" charset="0"/>
                <a:ea typeface="Calibri" pitchFamily="34" charset="-122"/>
                <a:cs typeface="Calibri" pitchFamily="34" charset="-120"/>
              </a:rPr>
              <a:t>Order trap:  "5 less than n" is  n − 5,  NOT  5 − n.</a:t>
            </a:r>
            <a:endParaRPr lang="en-US" sz="2000" dirty="0"/>
          </a:p>
        </p:txBody>
      </p:sp>
      <p:sp>
        <p:nvSpPr>
          <p:cNvPr id="16" name="Text 13"/>
          <p:cNvSpPr/>
          <p:nvPr/>
        </p:nvSpPr>
        <p:spPr>
          <a:xfrm>
            <a:off x="731520" y="4617720"/>
            <a:ext cx="10725912" cy="640080"/>
          </a:xfrm>
          <a:prstGeom prst="rect">
            <a:avLst/>
          </a:prstGeom>
          <a:noFill/>
          <a:ln/>
        </p:spPr>
        <p:txBody>
          <a:bodyPr wrap="square" lIns="0" tIns="0" rIns="0" bIns="0" rtlCol="0" anchor="t"/>
          <a:lstStyle/>
          <a:p>
            <a:pPr indent="0" marL="0">
              <a:buNone/>
            </a:pPr>
            <a:r>
              <a:rPr lang="en-US" sz="1800" dirty="0">
                <a:solidFill>
                  <a:srgbClr val="111820"/>
                </a:solidFill>
                <a:latin typeface="Calibri" pitchFamily="34" charset="0"/>
                <a:ea typeface="Calibri" pitchFamily="34" charset="-122"/>
                <a:cs typeface="Calibri" pitchFamily="34" charset="-120"/>
              </a:rPr>
              <a:t>Read it as an instruction: "start with n, then take 5 away." And always finish with an answer in words, with units — "$4 per pen", not a bare "4".</a:t>
            </a:r>
            <a:endParaRPr lang="en-US" sz="1800" dirty="0"/>
          </a:p>
        </p:txBody>
      </p:sp>
      <p:sp>
        <p:nvSpPr>
          <p:cNvPr id="17" name="Text 14"/>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8" name="Text 15"/>
          <p:cNvSpPr/>
          <p:nvPr/>
        </p:nvSpPr>
        <p:spPr>
          <a:xfrm>
            <a:off x="1636776"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19" name="Text 16"/>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20" name="Text 17"/>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21" name="Text 18"/>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2" name="Text 19"/>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56692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Application — Into the Workbook</a:t>
            </a:r>
            <a:endParaRPr lang="en-US" sz="3200" dirty="0"/>
          </a:p>
        </p:txBody>
      </p:sp>
      <p:sp>
        <p:nvSpPr>
          <p:cNvPr id="3" name="Shape 1"/>
          <p:cNvSpPr/>
          <p:nvPr/>
        </p:nvSpPr>
        <p:spPr>
          <a:xfrm>
            <a:off x="502920" y="1143000"/>
            <a:ext cx="11183112" cy="777240"/>
          </a:xfrm>
          <a:prstGeom prst="roundRect">
            <a:avLst>
              <a:gd name="adj" fmla="val 11765"/>
            </a:avLst>
          </a:prstGeom>
          <a:solidFill>
            <a:srgbClr val="ECFDF5"/>
          </a:solidFill>
          <a:ln w="12700">
            <a:solidFill>
              <a:srgbClr val="10B981"/>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31520" y="1234440"/>
            <a:ext cx="10725912" cy="594360"/>
          </a:xfrm>
          <a:prstGeom prst="rect">
            <a:avLst/>
          </a:prstGeom>
          <a:noFill/>
          <a:ln/>
        </p:spPr>
        <p:txBody>
          <a:bodyPr wrap="square" lIns="0" tIns="0" rIns="0" bIns="0" rtlCol="0" anchor="ctr"/>
          <a:lstStyle/>
          <a:p>
            <a:pPr indent="0" marL="0">
              <a:buNone/>
            </a:pPr>
            <a:r>
              <a:rPr lang="en-US" sz="1900" b="1" dirty="0">
                <a:solidFill>
                  <a:srgbClr val="111820"/>
                </a:solidFill>
                <a:latin typeface="Calibri" pitchFamily="34" charset="0"/>
                <a:ea typeface="Calibri" pitchFamily="34" charset="-122"/>
                <a:cs typeface="Calibri" pitchFamily="34" charset="-120"/>
              </a:rPr>
              <a:t>Open  L1_AlgebraRevision_workbook.html      •      172 questions      •      Sections 1–6 now, Section 7 at the end</a:t>
            </a:r>
            <a:endParaRPr lang="en-US" sz="1900" dirty="0"/>
          </a:p>
        </p:txBody>
      </p:sp>
      <p:sp>
        <p:nvSpPr>
          <p:cNvPr id="5" name="Shape 3"/>
          <p:cNvSpPr/>
          <p:nvPr/>
        </p:nvSpPr>
        <p:spPr>
          <a:xfrm>
            <a:off x="502920" y="2057400"/>
            <a:ext cx="5532120" cy="2788920"/>
          </a:xfrm>
          <a:prstGeom prst="roundRect">
            <a:avLst>
              <a:gd name="adj" fmla="val 3279"/>
            </a:avLst>
          </a:prstGeom>
          <a:solidFill>
            <a:srgbClr val="FEF2F2"/>
          </a:solidFill>
          <a:ln w="12700">
            <a:solidFill>
              <a:srgbClr val="EF4444"/>
            </a:solidFill>
            <a:prstDash val="solid"/>
          </a:ln>
          <a:effectLst>
            <a:outerShdw sx="100000" sy="100000" kx="0" ky="0" algn="bl" rotWithShape="0" blurRad="76200" dist="12700" dir="5400000">
              <a:srgbClr val="BFC7D2">
                <a:alpha val="35000"/>
              </a:srgbClr>
            </a:outerShdw>
          </a:effectLst>
        </p:spPr>
      </p:sp>
      <p:sp>
        <p:nvSpPr>
          <p:cNvPr id="6" name="Text 4"/>
          <p:cNvSpPr/>
          <p:nvPr/>
        </p:nvSpPr>
        <p:spPr>
          <a:xfrm>
            <a:off x="731520" y="2176272"/>
            <a:ext cx="5029200" cy="310896"/>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How the marks work — read this first</a:t>
            </a:r>
            <a:endParaRPr lang="en-US" sz="1600" dirty="0"/>
          </a:p>
        </p:txBody>
      </p:sp>
      <p:sp>
        <p:nvSpPr>
          <p:cNvPr id="7" name="Text 5"/>
          <p:cNvSpPr/>
          <p:nvPr/>
        </p:nvSpPr>
        <p:spPr>
          <a:xfrm>
            <a:off x="731520" y="2514600"/>
            <a:ext cx="5029200" cy="2194560"/>
          </a:xfrm>
          <a:prstGeom prst="rect">
            <a:avLst/>
          </a:prstGeom>
          <a:noFill/>
          <a:ln/>
        </p:spPr>
        <p:txBody>
          <a:bodyPr wrap="square" rtlCol="0" anchor="t"/>
          <a:lstStyle/>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You only earn marks for a correct FIRST attempt</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Wrong first, right later = 0 marks</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So work it out properly BEFORE you press Check</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Keep going until it is right anyway — understanding beats the mark</a:t>
            </a:r>
            <a:endParaRPr lang="en-US" sz="1800" dirty="0"/>
          </a:p>
        </p:txBody>
      </p:sp>
      <p:sp>
        <p:nvSpPr>
          <p:cNvPr id="8" name="Shape 6"/>
          <p:cNvSpPr/>
          <p:nvPr/>
        </p:nvSpPr>
        <p:spPr>
          <a:xfrm>
            <a:off x="6355080" y="2057400"/>
            <a:ext cx="5330952" cy="2788920"/>
          </a:xfrm>
          <a:prstGeom prst="roundRect">
            <a:avLst>
              <a:gd name="adj" fmla="val 3279"/>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9" name="Text 7"/>
          <p:cNvSpPr/>
          <p:nvPr/>
        </p:nvSpPr>
        <p:spPr>
          <a:xfrm>
            <a:off x="6583680" y="2176272"/>
            <a:ext cx="5029200" cy="310896"/>
          </a:xfrm>
          <a:prstGeom prst="rect">
            <a:avLst/>
          </a:prstGeom>
          <a:noFill/>
          <a:ln/>
        </p:spPr>
        <p:txBody>
          <a:bodyPr wrap="square" lIns="0" tIns="0" rIns="0" bIns="0" rtlCol="0" anchor="ctr"/>
          <a:lstStyle/>
          <a:p>
            <a:pPr indent="0" marL="0">
              <a:buNone/>
            </a:pPr>
            <a:r>
              <a:rPr lang="en-US" sz="1600" b="1" dirty="0">
                <a:solidFill>
                  <a:srgbClr val="4361EE"/>
                </a:solidFill>
                <a:latin typeface="Calibri" pitchFamily="34" charset="0"/>
                <a:ea typeface="Calibri" pitchFamily="34" charset="-122"/>
                <a:cs typeface="Calibri" pitchFamily="34" charset="-120"/>
              </a:rPr>
              <a:t>If you get stuck</a:t>
            </a:r>
            <a:endParaRPr lang="en-US" sz="1600" dirty="0"/>
          </a:p>
        </p:txBody>
      </p:sp>
      <p:sp>
        <p:nvSpPr>
          <p:cNvPr id="10" name="Text 8"/>
          <p:cNvSpPr/>
          <p:nvPr/>
        </p:nvSpPr>
        <p:spPr>
          <a:xfrm>
            <a:off x="6583680" y="2514600"/>
            <a:ext cx="5029200" cy="2194560"/>
          </a:xfrm>
          <a:prstGeom prst="rect">
            <a:avLst/>
          </a:prstGeom>
          <a:noFill/>
          <a:ln/>
        </p:spPr>
        <p:txBody>
          <a:bodyPr wrap="square" rtlCol="0" anchor="t"/>
          <a:lstStyle/>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Press the blue "Help — show me how" button in that section</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Use "Need a nudge?" on individual questions</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Check your bound reference — that is what it is for</a:t>
            </a:r>
            <a:endParaRPr lang="en-US" sz="1800" dirty="0"/>
          </a:p>
          <a:p>
            <a:pPr marL="342900" indent="-342900">
              <a:lnSpc>
                <a:spcPct val="105000"/>
              </a:lnSpc>
              <a:spcAft>
                <a:spcPts val="700"/>
              </a:spcAft>
              <a:buSzPct val="100000"/>
              <a:buChar char="•"/>
            </a:pPr>
            <a:r>
              <a:rPr lang="en-US" sz="1800" dirty="0">
                <a:solidFill>
                  <a:srgbClr val="111820"/>
                </a:solidFill>
                <a:latin typeface="Calibri" pitchFamily="34" charset="0"/>
                <a:ea typeface="Calibri" pitchFamily="34" charset="-122"/>
                <a:cs typeface="Calibri" pitchFamily="34" charset="-120"/>
              </a:rPr>
              <a:t>Then ask me</a:t>
            </a:r>
            <a:endParaRPr lang="en-US" sz="1800" dirty="0"/>
          </a:p>
        </p:txBody>
      </p:sp>
      <p:sp>
        <p:nvSpPr>
          <p:cNvPr id="11" name="Text 9"/>
          <p:cNvSpPr/>
          <p:nvPr/>
        </p:nvSpPr>
        <p:spPr>
          <a:xfrm>
            <a:off x="502920" y="5029200"/>
            <a:ext cx="11183112" cy="384048"/>
          </a:xfrm>
          <a:prstGeom prst="rect">
            <a:avLst/>
          </a:prstGeom>
          <a:noFill/>
          <a:ln/>
        </p:spPr>
        <p:txBody>
          <a:bodyPr wrap="square" lIns="0" tIns="0" rIns="0" bIns="0" rtlCol="0" anchor="ctr"/>
          <a:lstStyle/>
          <a:p>
            <a:pPr indent="0" marL="0">
              <a:buNone/>
            </a:pPr>
            <a:r>
              <a:rPr lang="en-US" sz="1800" i="1" dirty="0">
                <a:solidFill>
                  <a:srgbClr val="4A5563"/>
                </a:solidFill>
                <a:latin typeface="Calibri" pitchFamily="34" charset="0"/>
                <a:ea typeface="Calibri" pitchFamily="34" charset="-122"/>
                <a:cs typeface="Calibri" pitchFamily="34" charset="-120"/>
              </a:rPr>
              <a:t>Start at 🟢 Foundation. Move up to 🟡 Developing as soon as it feels easy. 🟣 Extending is there if you want it.</a:t>
            </a:r>
            <a:endParaRPr lang="en-US" sz="1800" dirty="0"/>
          </a:p>
        </p:txBody>
      </p:sp>
      <p:sp>
        <p:nvSpPr>
          <p:cNvPr id="12" name="Text 10"/>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3" name="Text 11"/>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4" name="Text 12"/>
          <p:cNvSpPr/>
          <p:nvPr/>
        </p:nvSpPr>
        <p:spPr>
          <a:xfrm>
            <a:off x="2770632"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Applying</a:t>
            </a:r>
            <a:endParaRPr lang="en-US" sz="1100" dirty="0"/>
          </a:p>
        </p:txBody>
      </p:sp>
      <p:sp>
        <p:nvSpPr>
          <p:cNvPr id="15" name="Text 13"/>
          <p:cNvSpPr/>
          <p:nvPr/>
        </p:nvSpPr>
        <p:spPr>
          <a:xfrm>
            <a:off x="3904488"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Reflecting</a:t>
            </a:r>
            <a:endParaRPr lang="en-US" sz="1100" dirty="0"/>
          </a:p>
        </p:txBody>
      </p:sp>
      <p:sp>
        <p:nvSpPr>
          <p:cNvPr id="16" name="Text 14"/>
          <p:cNvSpPr/>
          <p:nvPr/>
        </p:nvSpPr>
        <p:spPr>
          <a:xfrm>
            <a:off x="9628632" y="219456"/>
            <a:ext cx="2057400" cy="274320"/>
          </a:xfrm>
          <a:prstGeom prst="roundRect">
            <a:avLst>
              <a:gd name="adj" fmla="val 46667"/>
            </a:avLst>
          </a:prstGeom>
          <a:solidFill>
            <a:srgbClr val="10B981"/>
          </a:solidFill>
          <a:ln w="9525">
            <a:solidFill>
              <a:srgbClr val="10B981"/>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
        <p:nvSpPr>
          <p:cNvPr id="17" name="Text 15"/>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56692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Check-In — Where Should You Be?</a:t>
            </a:r>
            <a:endParaRPr lang="en-US" sz="3200" dirty="0"/>
          </a:p>
        </p:txBody>
      </p:sp>
      <p:sp>
        <p:nvSpPr>
          <p:cNvPr id="3" name="Text 1"/>
          <p:cNvSpPr/>
          <p:nvPr/>
        </p:nvSpPr>
        <p:spPr>
          <a:xfrm>
            <a:off x="502920" y="1115568"/>
            <a:ext cx="11183112" cy="347472"/>
          </a:xfrm>
          <a:prstGeom prst="rect">
            <a:avLst/>
          </a:prstGeom>
          <a:noFill/>
          <a:ln/>
        </p:spPr>
        <p:txBody>
          <a:bodyPr wrap="square" lIns="0" tIns="0" rIns="0" bIns="0" rtlCol="0" anchor="ctr"/>
          <a:lstStyle/>
          <a:p>
            <a:pPr indent="0" marL="0">
              <a:buNone/>
            </a:pPr>
            <a:r>
              <a:rPr lang="en-US" sz="1900" dirty="0">
                <a:solidFill>
                  <a:srgbClr val="4A5563"/>
                </a:solidFill>
                <a:latin typeface="Calibri" pitchFamily="34" charset="0"/>
                <a:ea typeface="Calibri" pitchFamily="34" charset="-122"/>
                <a:cs typeface="Calibri" pitchFamily="34" charset="-120"/>
              </a:rPr>
              <a:t>Look at your workbook progress bar, then be honest with yourself.</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3112" cy="914400"/>
        </p:xfrm>
        <a:graphic>
          <a:graphicData uri="http://schemas.openxmlformats.org/drawingml/2006/table">
            <a:tbl>
              <a:tblPr/>
              <a:tblGrid>
                <a:gridCol w="2926080"/>
                <a:gridCol w="4114800"/>
                <a:gridCol w="4142232"/>
              </a:tblGrid>
              <a:tr h="50292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If you have…</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Then…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Do this next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4361EE"/>
                    </a:solidFill>
                  </a:tcPr>
                </a:tc>
              </a:tr>
              <a:tr h="50292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finished 🟢 Foundation everywhere</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you are on track for the test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move into 🟡 Developing, Section 5 first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finished 🟡 Developing</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you are meeting the year-level standard</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try 🟣 Extending in Sections 5 and 6</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50292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not finished 🟢 Foundation in Section 4 or 5</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equations are your gap</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stay there — reopen the Help panel and redo them</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a low score but high progress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you are pressing Check too early</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slow down; work it on paper first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bl>
          </a:graphicData>
        </a:graphic>
      </p:graphicFrame>
      <p:sp>
        <p:nvSpPr>
          <p:cNvPr id="5" name="Shape 2"/>
          <p:cNvSpPr/>
          <p:nvPr/>
        </p:nvSpPr>
        <p:spPr>
          <a:xfrm>
            <a:off x="502920" y="4434840"/>
            <a:ext cx="11183112" cy="914400"/>
          </a:xfrm>
          <a:prstGeom prst="roundRect">
            <a:avLst>
              <a:gd name="adj" fmla="val 10000"/>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6" name="Text 3"/>
          <p:cNvSpPr/>
          <p:nvPr/>
        </p:nvSpPr>
        <p:spPr>
          <a:xfrm>
            <a:off x="731520" y="4544568"/>
            <a:ext cx="10725912" cy="713232"/>
          </a:xfrm>
          <a:prstGeom prst="rect">
            <a:avLst/>
          </a:prstGeom>
          <a:noFill/>
          <a:ln/>
        </p:spPr>
        <p:txBody>
          <a:bodyPr wrap="square" lIns="0" tIns="0" rIns="0" bIns="0" rtlCol="0" anchor="ctr"/>
          <a:lstStyle/>
          <a:p>
            <a:pPr indent="0" marL="0">
              <a:buNone/>
            </a:pPr>
            <a:r>
              <a:rPr lang="en-US" sz="1900" b="1" dirty="0">
                <a:solidFill>
                  <a:srgbClr val="111820"/>
                </a:solidFill>
                <a:latin typeface="Calibri" pitchFamily="34" charset="0"/>
                <a:ea typeface="Calibri" pitchFamily="34" charset="-122"/>
                <a:cs typeface="Calibri" pitchFamily="34" charset="-120"/>
              </a:rPr>
              <a:t>Turn to the person next to you: name ONE question type you got wrong, and say what you now think you should have done. Two minutes.</a:t>
            </a:r>
            <a:endParaRPr lang="en-US" sz="1900" dirty="0"/>
          </a:p>
        </p:txBody>
      </p:sp>
      <p:sp>
        <p:nvSpPr>
          <p:cNvPr id="7" name="Text 4"/>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8" name="Text 5"/>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9" name="Text 6"/>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0" name="Text 7"/>
          <p:cNvSpPr/>
          <p:nvPr/>
        </p:nvSpPr>
        <p:spPr>
          <a:xfrm>
            <a:off x="3904488"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Reflecting</a:t>
            </a:r>
            <a:endParaRPr lang="en-US" sz="1100" dirty="0"/>
          </a:p>
        </p:txBody>
      </p:sp>
      <p:sp>
        <p:nvSpPr>
          <p:cNvPr id="11" name="Text 8"/>
          <p:cNvSpPr/>
          <p:nvPr/>
        </p:nvSpPr>
        <p:spPr>
          <a:xfrm>
            <a:off x="9628632" y="219456"/>
            <a:ext cx="2057400" cy="274320"/>
          </a:xfrm>
          <a:prstGeom prst="roundRect">
            <a:avLst>
              <a:gd name="adj" fmla="val 46667"/>
            </a:avLst>
          </a:prstGeom>
          <a:solidFill>
            <a:srgbClr val="10B981"/>
          </a:solidFill>
          <a:ln w="9525">
            <a:solidFill>
              <a:srgbClr val="10B981"/>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
        <p:nvSpPr>
          <p:cNvPr id="12" name="Text 9"/>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603504"/>
            <a:ext cx="11183112" cy="658368"/>
          </a:xfrm>
          <a:prstGeom prst="roundRect">
            <a:avLst>
              <a:gd name="adj" fmla="val 13889"/>
            </a:avLst>
          </a:prstGeom>
          <a:solidFill>
            <a:srgbClr val="FEF2F2"/>
          </a:solidFill>
          <a:ln w="12700">
            <a:solidFill>
              <a:srgbClr val="EF4444"/>
            </a:solidFill>
            <a:prstDash val="solid"/>
          </a:ln>
          <a:effectLst>
            <a:outerShdw sx="100000" sy="100000" kx="0" ky="0" algn="bl" rotWithShape="0" blurRad="76200" dist="12700" dir="5400000">
              <a:srgbClr val="BFC7D2">
                <a:alpha val="35000"/>
              </a:srgbClr>
            </a:outerShdw>
          </a:effectLst>
        </p:spPr>
      </p:sp>
      <p:sp>
        <p:nvSpPr>
          <p:cNvPr id="3" name="Text 1"/>
          <p:cNvSpPr/>
          <p:nvPr/>
        </p:nvSpPr>
        <p:spPr>
          <a:xfrm>
            <a:off x="731520" y="676656"/>
            <a:ext cx="10725912" cy="512064"/>
          </a:xfrm>
          <a:prstGeom prst="rect">
            <a:avLst/>
          </a:prstGeom>
          <a:noFill/>
          <a:ln/>
        </p:spPr>
        <p:txBody>
          <a:bodyPr wrap="square" lIns="0" tIns="0" rIns="0" bIns="0"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EXIT TICKET  —  Section 7 of your workbook  —  no notes, no help panels</a:t>
            </a:r>
            <a:endParaRPr lang="en-US" sz="1800" dirty="0"/>
          </a:p>
        </p:txBody>
      </p:sp>
      <p:sp>
        <p:nvSpPr>
          <p:cNvPr id="4" name="Text 2"/>
          <p:cNvSpPr/>
          <p:nvPr/>
        </p:nvSpPr>
        <p:spPr>
          <a:xfrm>
            <a:off x="502920" y="1389888"/>
            <a:ext cx="11183112" cy="658368"/>
          </a:xfrm>
          <a:prstGeom prst="rect">
            <a:avLst/>
          </a:prstGeom>
          <a:noFill/>
          <a:ln/>
        </p:spPr>
        <p:txBody>
          <a:bodyPr wrap="square" lIns="0" tIns="0" rIns="0" bIns="0" rtlCol="0" anchor="ctr"/>
          <a:lstStyle/>
          <a:p>
            <a:pPr indent="0" marL="0">
              <a:buNone/>
            </a:pPr>
            <a:r>
              <a:rPr lang="en-US" sz="3000" b="1" dirty="0">
                <a:solidFill>
                  <a:srgbClr val="111820"/>
                </a:solidFill>
                <a:latin typeface="Cambria" pitchFamily="34" charset="0"/>
                <a:ea typeface="Cambria" pitchFamily="34" charset="-122"/>
                <a:cs typeface="Cambria" pitchFamily="34" charset="-120"/>
              </a:rPr>
              <a:t>Show Me What Stuck</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11183112" cy="914400"/>
        </p:xfrm>
        <a:graphic>
          <a:graphicData uri="http://schemas.openxmlformats.org/drawingml/2006/table">
            <a:tbl>
              <a:tblPr/>
              <a:tblGrid>
                <a:gridCol w="914400"/>
                <a:gridCol w="7315200"/>
                <a:gridCol w="2953512"/>
              </a:tblGrid>
              <a:tr h="45720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EF4444"/>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Question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EF4444"/>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Skill</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EF4444"/>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How many terms are in 3x − 5y + 8?</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Vocabulary</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Find 5x − 2 when x = 6</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Substitution</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Write the rule for 3, 7, 11, 15, …</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Patterns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Solve x + 9 = 21</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One-step</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Solve 4x − 5 = 23</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Two-step</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Solve 2(x + 5) = 18</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c>
                  <a:txBody>
                    <a:bodyPr/>
                    <a:lstStyle/>
                    <a:p>
                      <a:pPr algn="l" indent="0" marL="0">
                        <a:buNone/>
                      </a:pPr>
                      <a:r>
                        <a:rPr lang="en-US" sz="1700" dirty="0">
                          <a:solidFill>
                            <a:srgbClr val="111820"/>
                          </a:solidFill>
                          <a:latin typeface="Calibri" pitchFamily="34" charset="0"/>
                          <a:ea typeface="Calibri" pitchFamily="34" charset="-122"/>
                          <a:cs typeface="Calibri" pitchFamily="34" charset="-120"/>
                        </a:rPr>
                        <a:t>Brackets</a:t>
                      </a:r>
                      <a:endParaRPr lang="en-US" sz="1700" dirty="0">
                        <a:latin typeface="Calibri" charset="0"/>
                        <a:ea typeface="Calibri" charset="0"/>
                        <a:cs typeface="Calibri" charset="0"/>
                      </a:endParaRPr>
                    </a:p>
                  </a:txBody>
                  <a:tcPr marL="101600" marR="101600" marT="50800" marB="50800" anchor="ctr">
                    <a:lnL w="12700" cap="flat" cmpd="sng" algn="ctr">
                      <a:solidFill>
                        <a:srgbClr val="D8DEE6"/>
                      </a:solidFill>
                      <a:prstDash val="solid"/>
                      <a:round/>
                      <a:headEnd type="none" w="med" len="med"/>
                      <a:tailEnd type="none" w="med" len="med"/>
                    </a:lnL>
                    <a:lnR w="12700" cap="flat" cmpd="sng" algn="ctr">
                      <a:solidFill>
                        <a:srgbClr val="D8DEE6"/>
                      </a:solidFill>
                      <a:prstDash val="solid"/>
                      <a:round/>
                      <a:headEnd type="none" w="med" len="med"/>
                      <a:tailEnd type="none" w="med" len="med"/>
                    </a:lnR>
                    <a:lnT w="12700" cap="flat" cmpd="sng" algn="ctr">
                      <a:solidFill>
                        <a:srgbClr val="D8DEE6"/>
                      </a:solidFill>
                      <a:prstDash val="solid"/>
                      <a:round/>
                      <a:headEnd type="none" w="med" len="med"/>
                      <a:tailEnd type="none" w="med" len="med"/>
                    </a:lnT>
                    <a:lnB w="12700" cap="flat" cmpd="sng" algn="ctr">
                      <a:solidFill>
                        <a:srgbClr val="D8DEE6"/>
                      </a:solidFill>
                      <a:prstDash val="solid"/>
                      <a:round/>
                      <a:headEnd type="none" w="med" len="med"/>
                      <a:tailEnd type="none" w="med" len="med"/>
                    </a:lnB>
                    <a:solidFill>
                      <a:srgbClr val="F6F8FA"/>
                    </a:solidFill>
                  </a:tcPr>
                </a:tc>
              </a:tr>
            </a:tbl>
          </a:graphicData>
        </a:graphic>
      </p:graphicFrame>
      <p:sp>
        <p:nvSpPr>
          <p:cNvPr id="6" name="Shape 3"/>
          <p:cNvSpPr/>
          <p:nvPr/>
        </p:nvSpPr>
        <p:spPr>
          <a:xfrm>
            <a:off x="502920" y="5440680"/>
            <a:ext cx="11183112" cy="777240"/>
          </a:xfrm>
          <a:prstGeom prst="roundRect">
            <a:avLst>
              <a:gd name="adj" fmla="val 11765"/>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7" name="Text 4"/>
          <p:cNvSpPr/>
          <p:nvPr/>
        </p:nvSpPr>
        <p:spPr>
          <a:xfrm>
            <a:off x="731520" y="5532120"/>
            <a:ext cx="10725912" cy="594360"/>
          </a:xfrm>
          <a:prstGeom prst="rect">
            <a:avLst/>
          </a:prstGeom>
          <a:noFill/>
          <a:ln/>
        </p:spPr>
        <p:txBody>
          <a:bodyPr wrap="square" lIns="0" tIns="0" rIns="0" bIns="0" rtlCol="0" anchor="ctr"/>
          <a:lstStyle/>
          <a:p>
            <a:pPr indent="0" marL="0">
              <a:buNone/>
            </a:pPr>
            <a:r>
              <a:rPr lang="en-US" sz="1800" dirty="0">
                <a:solidFill>
                  <a:srgbClr val="111820"/>
                </a:solidFill>
                <a:latin typeface="Calibri" pitchFamily="34" charset="0"/>
                <a:ea typeface="Calibri" pitchFamily="34" charset="-122"/>
                <a:cs typeface="Calibri" pitchFamily="34" charset="-120"/>
              </a:rPr>
              <a:t>Question 7 is written, not marked automatically: name the ONE topic you most need to revise, and what you will actually do about it.</a:t>
            </a:r>
            <a:endParaRPr lang="en-US" sz="1800" dirty="0"/>
          </a:p>
        </p:txBody>
      </p:sp>
      <p:sp>
        <p:nvSpPr>
          <p:cNvPr id="8" name="Text 5"/>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9" name="Text 6"/>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0" name="Text 7"/>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1" name="Text 8"/>
          <p:cNvSpPr/>
          <p:nvPr/>
        </p:nvSpPr>
        <p:spPr>
          <a:xfrm>
            <a:off x="3904488"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Reflecting</a:t>
            </a:r>
            <a:endParaRPr lang="en-US" sz="1100" dirty="0"/>
          </a:p>
        </p:txBody>
      </p:sp>
      <p:sp>
        <p:nvSpPr>
          <p:cNvPr id="12" name="Text 9"/>
          <p:cNvSpPr/>
          <p:nvPr/>
        </p:nvSpPr>
        <p:spPr>
          <a:xfrm>
            <a:off x="9628632" y="219456"/>
            <a:ext cx="2057400" cy="274320"/>
          </a:xfrm>
          <a:prstGeom prst="roundRect">
            <a:avLst>
              <a:gd name="adj" fmla="val 46667"/>
            </a:avLst>
          </a:prstGeom>
          <a:solidFill>
            <a:srgbClr val="10B981"/>
          </a:solidFill>
          <a:ln w="9525">
            <a:solidFill>
              <a:srgbClr val="10B981"/>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566928"/>
            <a:ext cx="11183112" cy="658368"/>
          </a:xfrm>
          <a:prstGeom prst="rect">
            <a:avLst/>
          </a:prstGeom>
          <a:noFill/>
          <a:ln/>
        </p:spPr>
        <p:txBody>
          <a:bodyPr wrap="square" lIns="0" tIns="0" rIns="0" bIns="0" rtlCol="0" anchor="ctr"/>
          <a:lstStyle/>
          <a:p>
            <a:pPr indent="0" marL="0">
              <a:buNone/>
            </a:pPr>
            <a:r>
              <a:rPr lang="en-US" sz="3200" b="1" dirty="0">
                <a:solidFill>
                  <a:srgbClr val="111820"/>
                </a:solidFill>
                <a:latin typeface="Cambria" pitchFamily="34" charset="0"/>
                <a:ea typeface="Cambria" pitchFamily="34" charset="-122"/>
                <a:cs typeface="Cambria" pitchFamily="34" charset="-120"/>
              </a:rPr>
              <a:t>Next Steps</a:t>
            </a:r>
            <a:endParaRPr lang="en-US" sz="3200" dirty="0"/>
          </a:p>
        </p:txBody>
      </p:sp>
      <p:sp>
        <p:nvSpPr>
          <p:cNvPr id="3" name="Shape 1"/>
          <p:cNvSpPr/>
          <p:nvPr/>
        </p:nvSpPr>
        <p:spPr>
          <a:xfrm>
            <a:off x="502920" y="1143000"/>
            <a:ext cx="3575304" cy="2331720"/>
          </a:xfrm>
          <a:prstGeom prst="roundRect">
            <a:avLst>
              <a:gd name="adj" fmla="val 3922"/>
            </a:avLst>
          </a:prstGeom>
          <a:solidFill>
            <a:srgbClr val="EEF2FE"/>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4" name="Text 2"/>
          <p:cNvSpPr/>
          <p:nvPr/>
        </p:nvSpPr>
        <p:spPr>
          <a:xfrm>
            <a:off x="704088" y="1261872"/>
            <a:ext cx="3172968" cy="310896"/>
          </a:xfrm>
          <a:prstGeom prst="rect">
            <a:avLst/>
          </a:prstGeom>
          <a:noFill/>
          <a:ln/>
        </p:spPr>
        <p:txBody>
          <a:bodyPr wrap="square" lIns="0" tIns="0" rIns="0" bIns="0" rtlCol="0" anchor="ctr"/>
          <a:lstStyle/>
          <a:p>
            <a:pPr indent="0" marL="0">
              <a:buNone/>
            </a:pPr>
            <a:r>
              <a:rPr lang="en-US" sz="1600" b="1" dirty="0">
                <a:solidFill>
                  <a:srgbClr val="4361EE"/>
                </a:solidFill>
                <a:latin typeface="Calibri" pitchFamily="34" charset="0"/>
                <a:ea typeface="Calibri" pitchFamily="34" charset="-122"/>
                <a:cs typeface="Calibri" pitchFamily="34" charset="-120"/>
              </a:rPr>
              <a:t>Before the test</a:t>
            </a:r>
            <a:endParaRPr lang="en-US" sz="1600" dirty="0"/>
          </a:p>
        </p:txBody>
      </p:sp>
      <p:sp>
        <p:nvSpPr>
          <p:cNvPr id="5" name="Text 3"/>
          <p:cNvSpPr/>
          <p:nvPr/>
        </p:nvSpPr>
        <p:spPr>
          <a:xfrm>
            <a:off x="704088" y="1600200"/>
            <a:ext cx="3172968" cy="1737360"/>
          </a:xfrm>
          <a:prstGeom prst="rect">
            <a:avLst/>
          </a:prstGeom>
          <a:noFill/>
          <a:ln/>
        </p:spPr>
        <p:txBody>
          <a:bodyPr wrap="square" rtlCol="0" anchor="t"/>
          <a:lstStyle/>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Finish your bound reference — one page, in your own writing</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Redo any workbook question you got wrong, without the help panel</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Check every answer by substituting</a:t>
            </a:r>
            <a:endParaRPr lang="en-US" sz="1600" dirty="0"/>
          </a:p>
        </p:txBody>
      </p:sp>
      <p:sp>
        <p:nvSpPr>
          <p:cNvPr id="6" name="Shape 4"/>
          <p:cNvSpPr/>
          <p:nvPr/>
        </p:nvSpPr>
        <p:spPr>
          <a:xfrm>
            <a:off x="4306824" y="1143000"/>
            <a:ext cx="3575304" cy="2331720"/>
          </a:xfrm>
          <a:prstGeom prst="roundRect">
            <a:avLst>
              <a:gd name="adj" fmla="val 3922"/>
            </a:avLst>
          </a:prstGeom>
          <a:solidFill>
            <a:srgbClr val="F6F8FA"/>
          </a:solidFill>
          <a:ln w="12700">
            <a:solidFill>
              <a:srgbClr val="D8DEE6"/>
            </a:solidFill>
            <a:prstDash val="solid"/>
          </a:ln>
          <a:effectLst>
            <a:outerShdw sx="100000" sy="100000" kx="0" ky="0" algn="bl" rotWithShape="0" blurRad="76200" dist="12700" dir="5400000">
              <a:srgbClr val="BFC7D2">
                <a:alpha val="35000"/>
              </a:srgbClr>
            </a:outerShdw>
          </a:effectLst>
        </p:spPr>
      </p:sp>
      <p:sp>
        <p:nvSpPr>
          <p:cNvPr id="7" name="Text 5"/>
          <p:cNvSpPr/>
          <p:nvPr/>
        </p:nvSpPr>
        <p:spPr>
          <a:xfrm>
            <a:off x="4507992" y="1261872"/>
            <a:ext cx="3172968" cy="310896"/>
          </a:xfrm>
          <a:prstGeom prst="rect">
            <a:avLst/>
          </a:prstGeom>
          <a:noFill/>
          <a:ln/>
        </p:spPr>
        <p:txBody>
          <a:bodyPr wrap="square" lIns="0" tIns="0" rIns="0" bIns="0" rtlCol="0" anchor="ctr"/>
          <a:lstStyle/>
          <a:p>
            <a:pPr indent="0" marL="0">
              <a:buNone/>
            </a:pPr>
            <a:r>
              <a:rPr lang="en-US" sz="1600" b="1" dirty="0">
                <a:solidFill>
                  <a:srgbClr val="4A5563"/>
                </a:solidFill>
                <a:latin typeface="Calibri" pitchFamily="34" charset="0"/>
                <a:ea typeface="Calibri" pitchFamily="34" charset="-122"/>
                <a:cs typeface="Calibri" pitchFamily="34" charset="-120"/>
              </a:rPr>
              <a:t>Homework</a:t>
            </a:r>
            <a:endParaRPr lang="en-US" sz="1600" dirty="0"/>
          </a:p>
        </p:txBody>
      </p:sp>
      <p:sp>
        <p:nvSpPr>
          <p:cNvPr id="8" name="Text 6"/>
          <p:cNvSpPr/>
          <p:nvPr/>
        </p:nvSpPr>
        <p:spPr>
          <a:xfrm>
            <a:off x="4507992" y="1600200"/>
            <a:ext cx="3172968" cy="1737360"/>
          </a:xfrm>
          <a:prstGeom prst="rect">
            <a:avLst/>
          </a:prstGeom>
          <a:noFill/>
          <a:ln/>
        </p:spPr>
        <p:txBody>
          <a:bodyPr wrap="square" rtlCol="0" anchor="t"/>
          <a:lstStyle/>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Complete every 🟢 Foundation section in the workbook</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Plus all of 🟡 Developing in Sections 4 and 5</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Press Submit when you are done</a:t>
            </a:r>
            <a:endParaRPr lang="en-US" sz="1600" dirty="0"/>
          </a:p>
        </p:txBody>
      </p:sp>
      <p:sp>
        <p:nvSpPr>
          <p:cNvPr id="9" name="Shape 7"/>
          <p:cNvSpPr/>
          <p:nvPr/>
        </p:nvSpPr>
        <p:spPr>
          <a:xfrm>
            <a:off x="8110728" y="1143000"/>
            <a:ext cx="3575304" cy="2331720"/>
          </a:xfrm>
          <a:prstGeom prst="roundRect">
            <a:avLst>
              <a:gd name="adj" fmla="val 3922"/>
            </a:avLst>
          </a:prstGeom>
          <a:solidFill>
            <a:srgbClr val="ECFDF5"/>
          </a:solidFill>
          <a:ln w="12700">
            <a:solidFill>
              <a:srgbClr val="10B981"/>
            </a:solidFill>
            <a:prstDash val="solid"/>
          </a:ln>
          <a:effectLst>
            <a:outerShdw sx="100000" sy="100000" kx="0" ky="0" algn="bl" rotWithShape="0" blurRad="76200" dist="12700" dir="5400000">
              <a:srgbClr val="BFC7D2">
                <a:alpha val="35000"/>
              </a:srgbClr>
            </a:outerShdw>
          </a:effectLst>
        </p:spPr>
      </p:sp>
      <p:sp>
        <p:nvSpPr>
          <p:cNvPr id="10" name="Text 8"/>
          <p:cNvSpPr/>
          <p:nvPr/>
        </p:nvSpPr>
        <p:spPr>
          <a:xfrm>
            <a:off x="8311896" y="1261872"/>
            <a:ext cx="3172968" cy="310896"/>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Where to get help</a:t>
            </a:r>
            <a:endParaRPr lang="en-US" sz="1600" dirty="0"/>
          </a:p>
        </p:txBody>
      </p:sp>
      <p:sp>
        <p:nvSpPr>
          <p:cNvPr id="11" name="Text 9"/>
          <p:cNvSpPr/>
          <p:nvPr/>
        </p:nvSpPr>
        <p:spPr>
          <a:xfrm>
            <a:off x="8311896" y="1600200"/>
            <a:ext cx="3172968" cy="1737360"/>
          </a:xfrm>
          <a:prstGeom prst="rect">
            <a:avLst/>
          </a:prstGeom>
          <a:noFill/>
          <a:ln/>
        </p:spPr>
        <p:txBody>
          <a:bodyPr wrap="square" rtlCol="0" anchor="t"/>
          <a:lstStyle/>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Unit site: U1_Algebra_site.html — full notes for every topic</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Help buttons inside each workbook section</a:t>
            </a:r>
            <a:endParaRPr lang="en-US" sz="1600" dirty="0"/>
          </a:p>
          <a:p>
            <a:pPr marL="342900" indent="-342900">
              <a:lnSpc>
                <a:spcPct val="105000"/>
              </a:lnSpc>
              <a:spcAft>
                <a:spcPts val="600"/>
              </a:spcAft>
              <a:buSzPct val="100000"/>
              <a:buChar char="•"/>
            </a:pPr>
            <a:r>
              <a:rPr lang="en-US" sz="1600" dirty="0">
                <a:solidFill>
                  <a:srgbClr val="111820"/>
                </a:solidFill>
                <a:latin typeface="Calibri" pitchFamily="34" charset="0"/>
                <a:ea typeface="Calibri" pitchFamily="34" charset="-122"/>
                <a:cs typeface="Calibri" pitchFamily="34" charset="-120"/>
              </a:rPr>
              <a:t>Ask me before the test, not after it</a:t>
            </a:r>
            <a:endParaRPr lang="en-US" sz="1600" dirty="0"/>
          </a:p>
        </p:txBody>
      </p:sp>
      <p:sp>
        <p:nvSpPr>
          <p:cNvPr id="12" name="Shape 10"/>
          <p:cNvSpPr/>
          <p:nvPr/>
        </p:nvSpPr>
        <p:spPr>
          <a:xfrm>
            <a:off x="502920" y="3703320"/>
            <a:ext cx="11183112" cy="1371600"/>
          </a:xfrm>
          <a:prstGeom prst="roundRect">
            <a:avLst>
              <a:gd name="adj" fmla="val 6667"/>
            </a:avLst>
          </a:prstGeom>
          <a:solidFill>
            <a:srgbClr val="FFFFFF"/>
          </a:solidFill>
          <a:ln w="12700">
            <a:solidFill>
              <a:srgbClr val="4361EE"/>
            </a:solidFill>
            <a:prstDash val="solid"/>
          </a:ln>
          <a:effectLst>
            <a:outerShdw sx="100000" sy="100000" kx="0" ky="0" algn="bl" rotWithShape="0" blurRad="76200" dist="12700" dir="5400000">
              <a:srgbClr val="BFC7D2">
                <a:alpha val="35000"/>
              </a:srgbClr>
            </a:outerShdw>
          </a:effectLst>
        </p:spPr>
      </p:sp>
      <p:sp>
        <p:nvSpPr>
          <p:cNvPr id="13" name="Text 11"/>
          <p:cNvSpPr/>
          <p:nvPr/>
        </p:nvSpPr>
        <p:spPr>
          <a:xfrm>
            <a:off x="731520" y="3822192"/>
            <a:ext cx="10725912" cy="292608"/>
          </a:xfrm>
          <a:prstGeom prst="rect">
            <a:avLst/>
          </a:prstGeom>
          <a:noFill/>
          <a:ln/>
        </p:spPr>
        <p:txBody>
          <a:bodyPr wrap="square" lIns="0" tIns="0" rIns="0" bIns="0" rtlCol="0" anchor="ctr"/>
          <a:lstStyle/>
          <a:p>
            <a:pPr indent="0" marL="0">
              <a:buNone/>
            </a:pPr>
            <a:r>
              <a:rPr lang="en-US" sz="1400" b="1" spc="60" kern="0" dirty="0">
                <a:solidFill>
                  <a:srgbClr val="4361EE"/>
                </a:solidFill>
                <a:latin typeface="Calibri" pitchFamily="34" charset="0"/>
                <a:ea typeface="Calibri" pitchFamily="34" charset="-122"/>
                <a:cs typeface="Calibri" pitchFamily="34" charset="-120"/>
              </a:rPr>
              <a:t>Next lesson</a:t>
            </a:r>
            <a:endParaRPr lang="en-US" sz="1400" dirty="0"/>
          </a:p>
        </p:txBody>
      </p:sp>
      <p:sp>
        <p:nvSpPr>
          <p:cNvPr id="14" name="Text 12"/>
          <p:cNvSpPr/>
          <p:nvPr/>
        </p:nvSpPr>
        <p:spPr>
          <a:xfrm>
            <a:off x="731520" y="4133088"/>
            <a:ext cx="10725912" cy="868680"/>
          </a:xfrm>
          <a:prstGeom prst="rect">
            <a:avLst/>
          </a:prstGeom>
          <a:noFill/>
          <a:ln/>
        </p:spPr>
        <p:txBody>
          <a:bodyPr wrap="square" lIns="0" tIns="0" rIns="0" bIns="0" rtlCol="0" anchor="t"/>
          <a:lstStyle/>
          <a:p>
            <a:pPr indent="0" marL="0">
              <a:buNone/>
            </a:pPr>
            <a:r>
              <a:rPr lang="en-US" sz="1900" dirty="0">
                <a:solidFill>
                  <a:srgbClr val="111820"/>
                </a:solidFill>
                <a:latin typeface="Calibri" pitchFamily="34" charset="0"/>
                <a:ea typeface="Calibri" pitchFamily="34" charset="-122"/>
                <a:cs typeface="Calibri" pitchFamily="34" charset="-120"/>
              </a:rPr>
              <a:t>Unit test — covering everything on your bound reference. Same six skills, same question styles, new numbers. Bring your reference sheet and a pen. Nothing on the test will be harder than the 🟡 Developing tier of today’s workbook.</a:t>
            </a:r>
            <a:endParaRPr lang="en-US" sz="1900" dirty="0"/>
          </a:p>
        </p:txBody>
      </p:sp>
      <p:sp>
        <p:nvSpPr>
          <p:cNvPr id="15" name="Text 13"/>
          <p:cNvSpPr/>
          <p:nvPr/>
        </p:nvSpPr>
        <p:spPr>
          <a:xfrm>
            <a:off x="502920"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Objective</a:t>
            </a:r>
            <a:endParaRPr lang="en-US" sz="1100" dirty="0"/>
          </a:p>
        </p:txBody>
      </p:sp>
      <p:sp>
        <p:nvSpPr>
          <p:cNvPr id="16" name="Text 14"/>
          <p:cNvSpPr/>
          <p:nvPr/>
        </p:nvSpPr>
        <p:spPr>
          <a:xfrm>
            <a:off x="1636776"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Learning</a:t>
            </a:r>
            <a:endParaRPr lang="en-US" sz="1100" dirty="0"/>
          </a:p>
        </p:txBody>
      </p:sp>
      <p:sp>
        <p:nvSpPr>
          <p:cNvPr id="17" name="Text 15"/>
          <p:cNvSpPr/>
          <p:nvPr/>
        </p:nvSpPr>
        <p:spPr>
          <a:xfrm>
            <a:off x="2770632" y="219456"/>
            <a:ext cx="1060704"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dirty="0">
                <a:solidFill>
                  <a:srgbClr val="7A8596"/>
                </a:solidFill>
                <a:latin typeface="Calibri" pitchFamily="34" charset="0"/>
                <a:ea typeface="Calibri" pitchFamily="34" charset="-122"/>
                <a:cs typeface="Calibri" pitchFamily="34" charset="-120"/>
              </a:rPr>
              <a:t>Applying</a:t>
            </a:r>
            <a:endParaRPr lang="en-US" sz="1100" dirty="0"/>
          </a:p>
        </p:txBody>
      </p:sp>
      <p:sp>
        <p:nvSpPr>
          <p:cNvPr id="18" name="Text 16"/>
          <p:cNvSpPr/>
          <p:nvPr/>
        </p:nvSpPr>
        <p:spPr>
          <a:xfrm>
            <a:off x="3904488" y="219456"/>
            <a:ext cx="1060704" cy="274320"/>
          </a:xfrm>
          <a:prstGeom prst="roundRect">
            <a:avLst>
              <a:gd name="adj" fmla="val 46667"/>
            </a:avLst>
          </a:prstGeom>
          <a:solidFill>
            <a:srgbClr val="4361EE"/>
          </a:solidFill>
          <a:ln w="9525">
            <a:solidFill>
              <a:srgbClr val="4361E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Reflecting</a:t>
            </a:r>
            <a:endParaRPr lang="en-US" sz="1100" dirty="0"/>
          </a:p>
        </p:txBody>
      </p:sp>
      <p:sp>
        <p:nvSpPr>
          <p:cNvPr id="19" name="Text 17"/>
          <p:cNvSpPr/>
          <p:nvPr/>
        </p:nvSpPr>
        <p:spPr>
          <a:xfrm>
            <a:off x="9628632" y="219456"/>
            <a:ext cx="2057400" cy="274320"/>
          </a:xfrm>
          <a:prstGeom prst="roundRect">
            <a:avLst>
              <a:gd name="adj" fmla="val 46667"/>
            </a:avLst>
          </a:prstGeom>
          <a:solidFill>
            <a:srgbClr val="F6F8FA"/>
          </a:solidFill>
          <a:ln w="9525">
            <a:solidFill>
              <a:srgbClr val="D8DEE6"/>
            </a:solidFill>
          </a:ln>
        </p:spPr>
        <p:txBody>
          <a:bodyPr wrap="square" lIns="0" tIns="0" rIns="0" bIns="0" rtlCol="0" anchor="ctr"/>
          <a:lstStyle/>
          <a:p>
            <a:pPr algn="ctr" indent="0" marL="0">
              <a:buNone/>
            </a:pPr>
            <a:r>
              <a:rPr lang="en-US" sz="1100" b="1" dirty="0">
                <a:solidFill>
                  <a:srgbClr val="4A5563"/>
                </a:solidFill>
                <a:latin typeface="Calibri" pitchFamily="34" charset="0"/>
                <a:ea typeface="Calibri" pitchFamily="34" charset="-122"/>
                <a:cs typeface="Calibri" pitchFamily="34" charset="-120"/>
              </a:rPr>
              <a:t>○  Devices AWAY</a:t>
            </a:r>
            <a:endParaRPr lang="en-US" sz="1100" dirty="0"/>
          </a:p>
        </p:txBody>
      </p:sp>
      <p:sp>
        <p:nvSpPr>
          <p:cNvPr id="20" name="Text 18"/>
          <p:cNvSpPr/>
          <p:nvPr/>
        </p:nvSpPr>
        <p:spPr>
          <a:xfrm>
            <a:off x="502920" y="6473952"/>
            <a:ext cx="5486400" cy="237744"/>
          </a:xfrm>
          <a:prstGeom prst="rect">
            <a:avLst/>
          </a:prstGeom>
          <a:noFill/>
          <a:ln/>
        </p:spPr>
        <p:txBody>
          <a:bodyPr wrap="square" lIns="0" tIns="0" rIns="0" bIns="0" rtlCol="0" anchor="ctr"/>
          <a:lstStyle/>
          <a:p>
            <a:pPr indent="0" marL="0">
              <a:buNone/>
            </a:pPr>
            <a:r>
              <a:rPr lang="en-US" sz="1000" dirty="0">
                <a:solidFill>
                  <a:srgbClr val="7A8596"/>
                </a:solidFill>
                <a:latin typeface="Calibri" pitchFamily="34" charset="0"/>
                <a:ea typeface="Calibri" pitchFamily="34" charset="-122"/>
                <a:cs typeface="Calibri" pitchFamily="34" charset="-120"/>
              </a:rPr>
              <a:t>Year 7 Mathematics  ·  Algebra Revision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EduPortal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Revision — Year 7 Mathematics</dc:title>
  <dc:subject>PptxGenJS Presentation</dc:subject>
  <dc:creator>EduPortal</dc:creator>
  <cp:lastModifiedBy>EduPortal</cp:lastModifiedBy>
  <cp:revision>1</cp:revision>
  <dcterms:created xsi:type="dcterms:W3CDTF">2026-08-09T14:20:31Z</dcterms:created>
  <dcterms:modified xsi:type="dcterms:W3CDTF">2026-08-09T14:20:31Z</dcterms:modified>
</cp:coreProperties>
</file>