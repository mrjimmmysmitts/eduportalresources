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7558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Lesson ID: y7-maths-u1-d6-solving-one-step-equations. This is Double 6 of the Algebraic Techniques unit — students have already covered vocabulary (D1), variables and algebra tiles (D2), and building expressions with flow diagrams (D3). Substitution and patterns/rules have been taught separately outside this document sequence. Today we teach two methods for solving one-step equations: the balance method and the flowchart (backtracking) method, and tie both back to checking solutions by substitution (VC2M7A03).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riddle aloud one at a time, take call-outs, then reveal. Don't explain the method yet — the point is that students already solve these intuitively (undoing the operation in their head). This primes both methods we formalise today. Answers: 1) 7, 2) 11, 3) 5, 4) 18.</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LO aloud — keep it short, students don't like copying long objectives. Point out the three tiers and tell students they can move between tiers during Application. These criteria are referenced again at the exit ticket.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slide — explicitly connects today's content to D3. Emphasise: an equation is just a flow diagram with the output filled in, and the unknown missing. Both methods today are ways of reversing that diagram.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physical scale analogy out if you have a real balance or a picture — kinaesthetic learners benefit from seeing/handling one. This golden rule is the single idea the entire balance method rests 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this on the board, writing the same-operation line-up so students see the '− 7' appearing on both sides. Ask: 'why did we subtract 7 and not add it?' — answer: because the equation ADDS 7, so we undo it with the opposite (inverse) operation.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 student to explain in their own words why we add 4 here rather than subtract. Reinforce: addition and subtraction are inverse (opposite) operations.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students confuse 3x with 3 + x — explicitly restate that 3x is shorthand for 3 × x. This is a common Year 7 misconception worth pausing 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worked examples now cover all four operations. Before moving on, cold-call a student to summarise the pattern across all four: 'find what's been done to x, then do the opposite to both sides.'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60 seconds of silent copy time. This four-step list is what they'll rely on throughout the workbook — make sure it's legible on the board / in their notes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should feel familiar — it's the exact same forward-diagram skill from D3, just now attached to an equals sign. Draw it on the board together before revealing the pre-built version.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inverse-operation logic as the balance method's 'do the opposite' step — explicitly name that connection. Give copy time before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both diagrams side by side. Ask students to predict the backward diagram before you reveal it. This is a different equation from all balance-method examples so students see the method applied fresh, not just repeated.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copy-down slide. Note step 4 is identical wording to the balance method's step 4 — point this out, both methods finish the same way.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directly to the curriculum descriptor's substitution requirement and previews the workbook's dedicated Verify by Substitution task. Emphasise checking is not optional busywork — it's part of solving the equation correctly.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during pair discussion and listen for good reasoning to call on during share-back. There's no single correct preference — the aim is metacognition about method choice, which extending-tier students will need later.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transition slide. Devices were closed for the whole explicit teaching block — this is the first moment they're allowed open. Remind students their notes page (golden rule, steps, inverse table) should stay open beside them, since the workbook does not repeat this content.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this brain break naturally partway through Application — pause the class, everyone stands, 60 seconds, sit back down and continue. Keeps energy up during a content-heavy double. Answer: x = 9.</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Formative check on the inverse-operations concept before students finish the double. Move fast — this should take under 3 minutes. Answers are printed small on-slide for teacher pacing only, not meant to be read by students.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Gives students the big picture of where they sit in the unit heading toward the revision/test double. Update the checked items each lesson as the unit progresses.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silent, no notes. This checks all three success-criteria tiers in miniature: Q1 tests Foundation/Developing balance skill, Q2 tests the flowchart method, Q3 tests the substitution-verification skill named in VC2M7A03. Collect on the way out as an exit pass. Answers: 1) x=12, 2) x=54, 3) 12; 12-8=4≠20, so the student is INCORRECT — correct answer is x=28.</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Keep next-lesson framing deliberately general since the exact next Double's topic will be confirmed separately. Restate the homework expectation clearly before dismissal.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828800"/>
          </a:xfrm>
          <a:prstGeom prst="rect">
            <a:avLst/>
          </a:prstGeom>
          <a:solidFill>
            <a:srgbClr val="EEF1FE"/>
          </a:solidFill>
          <a:ln/>
        </p:spPr>
        <p:txBody>
          <a:bodyPr/>
          <a:lstStyle/>
          <a:p>
            <a:endParaRPr lang="en-AU"/>
          </a:p>
        </p:txBody>
      </p:sp>
      <p:sp>
        <p:nvSpPr>
          <p:cNvPr id="3" name="Text 1"/>
          <p:cNvSpPr/>
          <p:nvPr/>
        </p:nvSpPr>
        <p:spPr>
          <a:xfrm>
            <a:off x="640080" y="502920"/>
            <a:ext cx="10881360" cy="457200"/>
          </a:xfrm>
          <a:prstGeom prst="rect">
            <a:avLst/>
          </a:prstGeom>
          <a:noFill/>
          <a:ln/>
        </p:spPr>
        <p:txBody>
          <a:bodyPr wrap="square" lIns="0" tIns="0" rIns="0" bIns="0" rtlCol="0" anchor="ctr"/>
          <a:lstStyle/>
          <a:p>
            <a:pPr marL="0" indent="0">
              <a:buNone/>
            </a:pPr>
            <a:r>
              <a:rPr lang="en-US" sz="1500" b="1" kern="0" spc="100" dirty="0">
                <a:solidFill>
                  <a:srgbClr val="4361EE"/>
                </a:solidFill>
                <a:latin typeface="Courier New" pitchFamily="34" charset="0"/>
                <a:ea typeface="Courier New" pitchFamily="34" charset="-122"/>
                <a:cs typeface="Courier New" pitchFamily="34" charset="-120"/>
              </a:rPr>
              <a:t>YEAR 7 MATHEMATICS  ·  ALGEBRAIC TECHNIQUES  ·  DOUBLE 6</a:t>
            </a:r>
            <a:endParaRPr lang="en-US" sz="1500" dirty="0"/>
          </a:p>
        </p:txBody>
      </p:sp>
      <p:sp>
        <p:nvSpPr>
          <p:cNvPr id="4" name="Text 2"/>
          <p:cNvSpPr/>
          <p:nvPr/>
        </p:nvSpPr>
        <p:spPr>
          <a:xfrm>
            <a:off x="640080" y="2286000"/>
            <a:ext cx="10881360" cy="1188720"/>
          </a:xfrm>
          <a:prstGeom prst="rect">
            <a:avLst/>
          </a:prstGeom>
          <a:noFill/>
          <a:ln/>
        </p:spPr>
        <p:txBody>
          <a:bodyPr wrap="square" lIns="0" tIns="0" rIns="0" bIns="0" rtlCol="0" anchor="ctr"/>
          <a:lstStyle/>
          <a:p>
            <a:pPr marL="0" indent="0">
              <a:buNone/>
            </a:pPr>
            <a:r>
              <a:rPr lang="en-US" sz="5000" b="1" dirty="0">
                <a:solidFill>
                  <a:srgbClr val="111827"/>
                </a:solidFill>
                <a:latin typeface="Bookman Old Style" pitchFamily="34" charset="0"/>
                <a:ea typeface="Bookman Old Style" pitchFamily="34" charset="-122"/>
                <a:cs typeface="Bookman Old Style" pitchFamily="34" charset="-120"/>
              </a:rPr>
              <a:t>Solving One-Step Equations</a:t>
            </a:r>
            <a:endParaRPr lang="en-US" sz="5000" dirty="0"/>
          </a:p>
        </p:txBody>
      </p:sp>
      <p:sp>
        <p:nvSpPr>
          <p:cNvPr id="5" name="Text 3"/>
          <p:cNvSpPr/>
          <p:nvPr/>
        </p:nvSpPr>
        <p:spPr>
          <a:xfrm>
            <a:off x="640080" y="3429000"/>
            <a:ext cx="10881360" cy="548640"/>
          </a:xfrm>
          <a:prstGeom prst="rect">
            <a:avLst/>
          </a:prstGeom>
          <a:noFill/>
          <a:ln/>
        </p:spPr>
        <p:txBody>
          <a:bodyPr wrap="square" lIns="0" tIns="0" rIns="0" bIns="0" rtlCol="0" anchor="ctr"/>
          <a:lstStyle/>
          <a:p>
            <a:pPr marL="0" indent="0">
              <a:buNone/>
            </a:pPr>
            <a:r>
              <a:rPr lang="en-US" sz="2200" i="1" dirty="0">
                <a:solidFill>
                  <a:srgbClr val="4B5563"/>
                </a:solidFill>
                <a:latin typeface="Calibri" pitchFamily="34" charset="0"/>
                <a:ea typeface="Calibri" pitchFamily="34" charset="-122"/>
                <a:cs typeface="Calibri" pitchFamily="34" charset="-120"/>
              </a:rPr>
              <a:t>The Balance Method  &amp;  The Flowchart Method</a:t>
            </a:r>
            <a:endParaRPr lang="en-US" sz="2200" dirty="0"/>
          </a:p>
        </p:txBody>
      </p:sp>
      <p:sp>
        <p:nvSpPr>
          <p:cNvPr id="20" name="Text 18"/>
          <p:cNvSpPr/>
          <p:nvPr/>
        </p:nvSpPr>
        <p:spPr>
          <a:xfrm>
            <a:off x="640080" y="6035040"/>
            <a:ext cx="10881360" cy="365760"/>
          </a:xfrm>
          <a:prstGeom prst="rect">
            <a:avLst/>
          </a:prstGeom>
          <a:noFill/>
          <a:ln/>
        </p:spPr>
        <p:txBody>
          <a:bodyPr wrap="square" lIns="0" tIns="0" rIns="0" bIns="0" rtlCol="0" anchor="ctr"/>
          <a:lstStyle/>
          <a:p>
            <a:pPr marL="0" indent="0">
              <a:buNone/>
            </a:pPr>
            <a:r>
              <a:rPr lang="en-US" sz="1200" dirty="0">
                <a:solidFill>
                  <a:srgbClr val="9CA3AF"/>
                </a:solidFill>
                <a:latin typeface="Courier New" pitchFamily="34" charset="0"/>
                <a:ea typeface="Courier New" pitchFamily="34" charset="-122"/>
                <a:cs typeface="Courier New" pitchFamily="34" charset="-120"/>
              </a:rPr>
              <a:t>VC2M7A03  ·  Solve one-variable linear equations; verify solutions by substitution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F59E0B"/>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WARM UP</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Guess My Number</a:t>
            </a:r>
            <a:endParaRPr lang="en-US" sz="3200" dirty="0"/>
          </a:p>
        </p:txBody>
      </p:sp>
      <p:sp>
        <p:nvSpPr>
          <p:cNvPr id="7" name="Text 5"/>
          <p:cNvSpPr/>
          <p:nvPr/>
        </p:nvSpPr>
        <p:spPr>
          <a:xfrm>
            <a:off x="457200" y="1600200"/>
            <a:ext cx="7315200" cy="36576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5 minutes · Mental maths · Whole class, call out answers</a:t>
            </a:r>
            <a:endParaRPr lang="en-US" sz="1400" dirty="0"/>
          </a:p>
        </p:txBody>
      </p:sp>
      <p:sp>
        <p:nvSpPr>
          <p:cNvPr id="8" name="Shape 6"/>
          <p:cNvSpPr/>
          <p:nvPr/>
        </p:nvSpPr>
        <p:spPr>
          <a:xfrm>
            <a:off x="457200" y="2148840"/>
            <a:ext cx="11247120" cy="3291840"/>
          </a:xfrm>
          <a:prstGeom prst="roundRect">
            <a:avLst>
              <a:gd name="adj" fmla="val 2778"/>
            </a:avLst>
          </a:prstGeom>
          <a:solidFill>
            <a:srgbClr val="FEF6E7"/>
          </a:solidFill>
          <a:ln w="12700">
            <a:solidFill>
              <a:srgbClr val="F59E0B"/>
            </a:solidFill>
            <a:prstDash val="solid"/>
          </a:ln>
        </p:spPr>
        <p:txBody>
          <a:bodyPr/>
          <a:lstStyle/>
          <a:p>
            <a:endParaRPr lang="en-AU"/>
          </a:p>
        </p:txBody>
      </p:sp>
      <p:sp>
        <p:nvSpPr>
          <p:cNvPr id="9" name="Text 7"/>
          <p:cNvSpPr/>
          <p:nvPr/>
        </p:nvSpPr>
        <p:spPr>
          <a:xfrm>
            <a:off x="822960" y="2377440"/>
            <a:ext cx="10515600" cy="2834640"/>
          </a:xfrm>
          <a:prstGeom prst="rect">
            <a:avLst/>
          </a:prstGeom>
          <a:noFill/>
          <a:ln/>
        </p:spPr>
        <p:txBody>
          <a:bodyPr wrap="square" lIns="0" tIns="0" rIns="0" bIns="0" rtlCol="0" anchor="ctr"/>
          <a:lstStyle/>
          <a:p>
            <a:pPr marL="0" indent="0">
              <a:lnSpc>
                <a:spcPct val="115000"/>
              </a:lnSpc>
              <a:buNone/>
            </a:pPr>
            <a:r>
              <a:rPr lang="en-US" sz="2000" dirty="0">
                <a:solidFill>
                  <a:srgbClr val="111827"/>
                </a:solidFill>
                <a:latin typeface="Calibri" pitchFamily="34" charset="0"/>
                <a:ea typeface="Calibri" pitchFamily="34" charset="-122"/>
                <a:cs typeface="Calibri" pitchFamily="34" charset="-120"/>
              </a:rPr>
              <a:t>1.  I think of a number, add 5, and the result is 12. What's my number?</a:t>
            </a:r>
            <a:endParaRPr lang="en-US" sz="2000" dirty="0"/>
          </a:p>
          <a:p>
            <a:pPr marL="0" indent="0">
              <a:lnSpc>
                <a:spcPct val="115000"/>
              </a:lnSpc>
              <a:buNone/>
            </a:pPr>
            <a:endParaRPr lang="en-US" sz="2000" dirty="0"/>
          </a:p>
          <a:p>
            <a:pPr marL="0" indent="0">
              <a:lnSpc>
                <a:spcPct val="115000"/>
              </a:lnSpc>
              <a:buNone/>
            </a:pPr>
            <a:r>
              <a:rPr lang="en-US" sz="2000" dirty="0">
                <a:solidFill>
                  <a:srgbClr val="111827"/>
                </a:solidFill>
                <a:latin typeface="Calibri" pitchFamily="34" charset="0"/>
                <a:ea typeface="Calibri" pitchFamily="34" charset="-122"/>
                <a:cs typeface="Calibri" pitchFamily="34" charset="-120"/>
              </a:rPr>
              <a:t>2.  I think of a number, subtract 8, and the result is 3. What's my number?</a:t>
            </a:r>
            <a:endParaRPr lang="en-US" sz="2000" dirty="0"/>
          </a:p>
          <a:p>
            <a:pPr marL="0" indent="0">
              <a:lnSpc>
                <a:spcPct val="115000"/>
              </a:lnSpc>
              <a:buNone/>
            </a:pPr>
            <a:endParaRPr lang="en-US" sz="2000" dirty="0"/>
          </a:p>
          <a:p>
            <a:pPr marL="0" indent="0">
              <a:lnSpc>
                <a:spcPct val="115000"/>
              </a:lnSpc>
              <a:buNone/>
            </a:pPr>
            <a:r>
              <a:rPr lang="en-US" sz="2000" dirty="0">
                <a:solidFill>
                  <a:srgbClr val="111827"/>
                </a:solidFill>
                <a:latin typeface="Calibri" pitchFamily="34" charset="0"/>
                <a:ea typeface="Calibri" pitchFamily="34" charset="-122"/>
                <a:cs typeface="Calibri" pitchFamily="34" charset="-120"/>
              </a:rPr>
              <a:t>3.  I think of a number, multiply by 4, and the result is 20. What's my number?</a:t>
            </a:r>
            <a:endParaRPr lang="en-US" sz="2000" dirty="0"/>
          </a:p>
          <a:p>
            <a:pPr marL="0" indent="0">
              <a:lnSpc>
                <a:spcPct val="115000"/>
              </a:lnSpc>
              <a:buNone/>
            </a:pPr>
            <a:endParaRPr lang="en-US" sz="2000" dirty="0"/>
          </a:p>
          <a:p>
            <a:pPr marL="0" indent="0">
              <a:lnSpc>
                <a:spcPct val="115000"/>
              </a:lnSpc>
              <a:buNone/>
            </a:pPr>
            <a:r>
              <a:rPr lang="en-US" sz="2000" dirty="0">
                <a:solidFill>
                  <a:srgbClr val="111827"/>
                </a:solidFill>
                <a:latin typeface="Calibri" pitchFamily="34" charset="0"/>
                <a:ea typeface="Calibri" pitchFamily="34" charset="-122"/>
                <a:cs typeface="Calibri" pitchFamily="34" charset="-120"/>
              </a:rPr>
              <a:t>4.  I think of a number, divide by 3, and the result is 6. What's my number?</a:t>
            </a:r>
            <a:endParaRPr lang="en-US" sz="2000" dirty="0"/>
          </a:p>
        </p:txBody>
      </p:sp>
      <p:sp>
        <p:nvSpPr>
          <p:cNvPr id="10" name="Text 8"/>
          <p:cNvSpPr/>
          <p:nvPr/>
        </p:nvSpPr>
        <p:spPr>
          <a:xfrm>
            <a:off x="457200" y="5623560"/>
            <a:ext cx="11247120" cy="45720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Don't write anything down yet — just think it through in your head and be ready to call out the answer.</a:t>
            </a:r>
            <a:endParaRPr lang="en-US" sz="1400" dirty="0"/>
          </a:p>
        </p:txBody>
      </p:sp>
      <p:sp>
        <p:nvSpPr>
          <p:cNvPr id="11" name="Text 9"/>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12" name="Text 10"/>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4361EE"/>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OBJECTIVE</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Learning Objective</a:t>
            </a:r>
            <a:endParaRPr lang="en-US" sz="3200" dirty="0"/>
          </a:p>
        </p:txBody>
      </p:sp>
      <p:sp>
        <p:nvSpPr>
          <p:cNvPr id="7" name="Shape 5"/>
          <p:cNvSpPr/>
          <p:nvPr/>
        </p:nvSpPr>
        <p:spPr>
          <a:xfrm>
            <a:off x="457200" y="1691640"/>
            <a:ext cx="11247120" cy="777240"/>
          </a:xfrm>
          <a:prstGeom prst="roundRect">
            <a:avLst>
              <a:gd name="adj" fmla="val 11765"/>
            </a:avLst>
          </a:prstGeom>
          <a:solidFill>
            <a:srgbClr val="EEF1FE"/>
          </a:solidFill>
          <a:ln w="12700">
            <a:solidFill>
              <a:srgbClr val="4361EE"/>
            </a:solidFill>
            <a:prstDash val="solid"/>
          </a:ln>
        </p:spPr>
        <p:txBody>
          <a:bodyPr/>
          <a:lstStyle/>
          <a:p>
            <a:endParaRPr lang="en-AU"/>
          </a:p>
        </p:txBody>
      </p:sp>
      <p:sp>
        <p:nvSpPr>
          <p:cNvPr id="8" name="Text 6"/>
          <p:cNvSpPr/>
          <p:nvPr/>
        </p:nvSpPr>
        <p:spPr>
          <a:xfrm>
            <a:off x="777240" y="1691640"/>
            <a:ext cx="10607040" cy="777240"/>
          </a:xfrm>
          <a:prstGeom prst="rect">
            <a:avLst/>
          </a:prstGeom>
          <a:noFill/>
          <a:ln/>
        </p:spPr>
        <p:txBody>
          <a:bodyPr wrap="square" lIns="0" tIns="0" rIns="0" bIns="0" rtlCol="0" anchor="ctr"/>
          <a:lstStyle/>
          <a:p>
            <a:pPr marL="0" indent="0" algn="l">
              <a:buNone/>
            </a:pPr>
            <a:r>
              <a:rPr lang="en-US" sz="2000" b="1" dirty="0">
                <a:solidFill>
                  <a:srgbClr val="111827"/>
                </a:solidFill>
                <a:latin typeface="Calibri" pitchFamily="34" charset="0"/>
                <a:ea typeface="Calibri" pitchFamily="34" charset="-122"/>
                <a:cs typeface="Calibri" pitchFamily="34" charset="-120"/>
              </a:rPr>
              <a:t>To be able to solve one-step equations using the balance method and the flowchart method.</a:t>
            </a:r>
            <a:endParaRPr lang="en-US" sz="2000" dirty="0"/>
          </a:p>
        </p:txBody>
      </p:sp>
      <p:sp>
        <p:nvSpPr>
          <p:cNvPr id="9" name="Text 7"/>
          <p:cNvSpPr/>
          <p:nvPr/>
        </p:nvSpPr>
        <p:spPr>
          <a:xfrm>
            <a:off x="457200" y="2697480"/>
            <a:ext cx="4572000" cy="365760"/>
          </a:xfrm>
          <a:prstGeom prst="rect">
            <a:avLst/>
          </a:prstGeom>
          <a:noFill/>
          <a:ln/>
        </p:spPr>
        <p:txBody>
          <a:bodyPr wrap="square" lIns="0" tIns="0" rIns="0" bIns="0" rtlCol="0" anchor="ctr"/>
          <a:lstStyle/>
          <a:p>
            <a:pPr marL="0" indent="0">
              <a:buNone/>
            </a:pPr>
            <a:r>
              <a:rPr lang="en-US" sz="1300" b="1" kern="0" spc="100" dirty="0">
                <a:solidFill>
                  <a:srgbClr val="4B5563"/>
                </a:solidFill>
                <a:latin typeface="Courier New" pitchFamily="34" charset="0"/>
                <a:ea typeface="Courier New" pitchFamily="34" charset="-122"/>
                <a:cs typeface="Courier New" pitchFamily="34" charset="-120"/>
              </a:rPr>
              <a:t>SUCCESS CRITERIA</a:t>
            </a:r>
            <a:endParaRPr lang="en-US" sz="1300" dirty="0"/>
          </a:p>
        </p:txBody>
      </p:sp>
      <p:sp>
        <p:nvSpPr>
          <p:cNvPr id="10" name="Shape 8"/>
          <p:cNvSpPr/>
          <p:nvPr/>
        </p:nvSpPr>
        <p:spPr>
          <a:xfrm>
            <a:off x="457200" y="3108960"/>
            <a:ext cx="3596640" cy="3200400"/>
          </a:xfrm>
          <a:prstGeom prst="roundRect">
            <a:avLst>
              <a:gd name="adj" fmla="val 2286"/>
            </a:avLst>
          </a:prstGeom>
          <a:solidFill>
            <a:srgbClr val="E8FBF3"/>
          </a:solidFill>
          <a:ln w="12700">
            <a:solidFill>
              <a:srgbClr val="10B981"/>
            </a:solidFill>
            <a:prstDash val="solid"/>
          </a:ln>
        </p:spPr>
        <p:txBody>
          <a:bodyPr/>
          <a:lstStyle/>
          <a:p>
            <a:endParaRPr lang="en-AU"/>
          </a:p>
        </p:txBody>
      </p:sp>
      <p:sp>
        <p:nvSpPr>
          <p:cNvPr id="11" name="Shape 9"/>
          <p:cNvSpPr/>
          <p:nvPr/>
        </p:nvSpPr>
        <p:spPr>
          <a:xfrm>
            <a:off x="594360" y="3218688"/>
            <a:ext cx="1554480" cy="310896"/>
          </a:xfrm>
          <a:prstGeom prst="roundRect">
            <a:avLst>
              <a:gd name="adj" fmla="val 50000"/>
            </a:avLst>
          </a:prstGeom>
          <a:solidFill>
            <a:srgbClr val="10B981"/>
          </a:solidFill>
          <a:ln/>
        </p:spPr>
        <p:txBody>
          <a:bodyPr/>
          <a:lstStyle/>
          <a:p>
            <a:endParaRPr lang="en-AU"/>
          </a:p>
        </p:txBody>
      </p:sp>
      <p:sp>
        <p:nvSpPr>
          <p:cNvPr id="12" name="Text 10"/>
          <p:cNvSpPr/>
          <p:nvPr/>
        </p:nvSpPr>
        <p:spPr>
          <a:xfrm>
            <a:off x="594360" y="3218688"/>
            <a:ext cx="155448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FOUNDATION</a:t>
            </a:r>
            <a:endParaRPr lang="en-US" sz="1100" dirty="0"/>
          </a:p>
        </p:txBody>
      </p:sp>
      <p:sp>
        <p:nvSpPr>
          <p:cNvPr id="13" name="Text 11"/>
          <p:cNvSpPr/>
          <p:nvPr/>
        </p:nvSpPr>
        <p:spPr>
          <a:xfrm>
            <a:off x="594360" y="3611880"/>
            <a:ext cx="3322320" cy="2560320"/>
          </a:xfrm>
          <a:prstGeom prst="rect">
            <a:avLst/>
          </a:prstGeom>
          <a:noFill/>
          <a:ln/>
        </p:spPr>
        <p:txBody>
          <a:bodyPr wrap="square" lIns="0" tIns="0" rIns="0" bIns="0" rtlCol="0" anchor="t"/>
          <a:lstStyle/>
          <a:p>
            <a:pPr marL="0" indent="0">
              <a:lnSpc>
                <a:spcPct val="108000"/>
              </a:lnSpc>
              <a:buNone/>
            </a:pPr>
            <a:r>
              <a:rPr lang="en-US" sz="1500" dirty="0">
                <a:solidFill>
                  <a:srgbClr val="111827"/>
                </a:solidFill>
                <a:latin typeface="Calibri" pitchFamily="34" charset="0"/>
                <a:ea typeface="Calibri" pitchFamily="34" charset="-122"/>
                <a:cs typeface="Calibri" pitchFamily="34" charset="-120"/>
              </a:rPr>
              <a:t>I can solve one-step addition and subtraction equations using the balance method, with support.</a:t>
            </a:r>
            <a:endParaRPr lang="en-US" sz="1500" dirty="0"/>
          </a:p>
        </p:txBody>
      </p:sp>
      <p:sp>
        <p:nvSpPr>
          <p:cNvPr id="14" name="Shape 12"/>
          <p:cNvSpPr/>
          <p:nvPr/>
        </p:nvSpPr>
        <p:spPr>
          <a:xfrm>
            <a:off x="4282440" y="3108960"/>
            <a:ext cx="3596640" cy="3200400"/>
          </a:xfrm>
          <a:prstGeom prst="roundRect">
            <a:avLst>
              <a:gd name="adj" fmla="val 2286"/>
            </a:avLst>
          </a:prstGeom>
          <a:solidFill>
            <a:srgbClr val="FEF6E7"/>
          </a:solidFill>
          <a:ln w="12700">
            <a:solidFill>
              <a:srgbClr val="F59E0B"/>
            </a:solidFill>
            <a:prstDash val="solid"/>
          </a:ln>
        </p:spPr>
        <p:txBody>
          <a:bodyPr/>
          <a:lstStyle/>
          <a:p>
            <a:endParaRPr lang="en-AU"/>
          </a:p>
        </p:txBody>
      </p:sp>
      <p:sp>
        <p:nvSpPr>
          <p:cNvPr id="15" name="Shape 13"/>
          <p:cNvSpPr/>
          <p:nvPr/>
        </p:nvSpPr>
        <p:spPr>
          <a:xfrm>
            <a:off x="4419600" y="3218688"/>
            <a:ext cx="1554480" cy="310896"/>
          </a:xfrm>
          <a:prstGeom prst="roundRect">
            <a:avLst>
              <a:gd name="adj" fmla="val 50000"/>
            </a:avLst>
          </a:prstGeom>
          <a:solidFill>
            <a:srgbClr val="F59E0B"/>
          </a:solidFill>
          <a:ln/>
        </p:spPr>
        <p:txBody>
          <a:bodyPr/>
          <a:lstStyle/>
          <a:p>
            <a:endParaRPr lang="en-AU"/>
          </a:p>
        </p:txBody>
      </p:sp>
      <p:sp>
        <p:nvSpPr>
          <p:cNvPr id="16" name="Text 14"/>
          <p:cNvSpPr/>
          <p:nvPr/>
        </p:nvSpPr>
        <p:spPr>
          <a:xfrm>
            <a:off x="4419600" y="3218688"/>
            <a:ext cx="155448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DEVELOPING</a:t>
            </a:r>
            <a:endParaRPr lang="en-US" sz="1100" dirty="0"/>
          </a:p>
        </p:txBody>
      </p:sp>
      <p:sp>
        <p:nvSpPr>
          <p:cNvPr id="17" name="Text 15"/>
          <p:cNvSpPr/>
          <p:nvPr/>
        </p:nvSpPr>
        <p:spPr>
          <a:xfrm>
            <a:off x="4419600" y="3611880"/>
            <a:ext cx="3322320" cy="2560320"/>
          </a:xfrm>
          <a:prstGeom prst="rect">
            <a:avLst/>
          </a:prstGeom>
          <a:noFill/>
          <a:ln/>
        </p:spPr>
        <p:txBody>
          <a:bodyPr wrap="square" lIns="0" tIns="0" rIns="0" bIns="0" rtlCol="0" anchor="t"/>
          <a:lstStyle/>
          <a:p>
            <a:pPr marL="0" indent="0">
              <a:lnSpc>
                <a:spcPct val="108000"/>
              </a:lnSpc>
              <a:buNone/>
            </a:pPr>
            <a:r>
              <a:rPr lang="en-US" sz="1500" dirty="0">
                <a:solidFill>
                  <a:srgbClr val="111827"/>
                </a:solidFill>
                <a:latin typeface="Calibri" pitchFamily="34" charset="0"/>
                <a:ea typeface="Calibri" pitchFamily="34" charset="-122"/>
                <a:cs typeface="Calibri" pitchFamily="34" charset="-120"/>
              </a:rPr>
              <a:t>I can solve one-step equations (all four operations) using both the balance method and the flowchart method, and check my answer by substitution.</a:t>
            </a:r>
            <a:endParaRPr lang="en-US" sz="1500" dirty="0"/>
          </a:p>
        </p:txBody>
      </p:sp>
      <p:sp>
        <p:nvSpPr>
          <p:cNvPr id="18" name="Shape 16"/>
          <p:cNvSpPr/>
          <p:nvPr/>
        </p:nvSpPr>
        <p:spPr>
          <a:xfrm>
            <a:off x="8107680" y="3108960"/>
            <a:ext cx="3596640" cy="3200400"/>
          </a:xfrm>
          <a:prstGeom prst="roundRect">
            <a:avLst>
              <a:gd name="adj" fmla="val 2286"/>
            </a:avLst>
          </a:prstGeom>
          <a:solidFill>
            <a:srgbClr val="F3EEFE"/>
          </a:solidFill>
          <a:ln w="12700">
            <a:solidFill>
              <a:srgbClr val="8B5CF6"/>
            </a:solidFill>
            <a:prstDash val="solid"/>
          </a:ln>
        </p:spPr>
        <p:txBody>
          <a:bodyPr/>
          <a:lstStyle/>
          <a:p>
            <a:endParaRPr lang="en-AU"/>
          </a:p>
        </p:txBody>
      </p:sp>
      <p:sp>
        <p:nvSpPr>
          <p:cNvPr id="19" name="Shape 17"/>
          <p:cNvSpPr/>
          <p:nvPr/>
        </p:nvSpPr>
        <p:spPr>
          <a:xfrm>
            <a:off x="8244840" y="3218688"/>
            <a:ext cx="1554480" cy="310896"/>
          </a:xfrm>
          <a:prstGeom prst="roundRect">
            <a:avLst>
              <a:gd name="adj" fmla="val 50000"/>
            </a:avLst>
          </a:prstGeom>
          <a:solidFill>
            <a:srgbClr val="8B5CF6"/>
          </a:solidFill>
          <a:ln/>
        </p:spPr>
        <p:txBody>
          <a:bodyPr/>
          <a:lstStyle/>
          <a:p>
            <a:endParaRPr lang="en-AU"/>
          </a:p>
        </p:txBody>
      </p:sp>
      <p:sp>
        <p:nvSpPr>
          <p:cNvPr id="20" name="Text 18"/>
          <p:cNvSpPr/>
          <p:nvPr/>
        </p:nvSpPr>
        <p:spPr>
          <a:xfrm>
            <a:off x="8244840" y="3218688"/>
            <a:ext cx="155448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EXTENDING</a:t>
            </a:r>
            <a:endParaRPr lang="en-US" sz="1100" dirty="0"/>
          </a:p>
        </p:txBody>
      </p:sp>
      <p:sp>
        <p:nvSpPr>
          <p:cNvPr id="21" name="Text 19"/>
          <p:cNvSpPr/>
          <p:nvPr/>
        </p:nvSpPr>
        <p:spPr>
          <a:xfrm>
            <a:off x="8244840" y="3611880"/>
            <a:ext cx="3322320" cy="2560320"/>
          </a:xfrm>
          <a:prstGeom prst="rect">
            <a:avLst/>
          </a:prstGeom>
          <a:noFill/>
          <a:ln/>
        </p:spPr>
        <p:txBody>
          <a:bodyPr wrap="square" lIns="0" tIns="0" rIns="0" bIns="0" rtlCol="0" anchor="t"/>
          <a:lstStyle/>
          <a:p>
            <a:pPr marL="0" indent="0">
              <a:lnSpc>
                <a:spcPct val="108000"/>
              </a:lnSpc>
              <a:buNone/>
            </a:pPr>
            <a:r>
              <a:rPr lang="en-US" sz="1500" dirty="0">
                <a:solidFill>
                  <a:srgbClr val="111827"/>
                </a:solidFill>
                <a:latin typeface="Calibri" pitchFamily="34" charset="0"/>
                <a:ea typeface="Calibri" pitchFamily="34" charset="-122"/>
                <a:cs typeface="Calibri" pitchFamily="34" charset="-120"/>
              </a:rPr>
              <a:t>I can solve one-step equations with negative solutions, justify which method I chose, and set up an equation from a word problem.</a:t>
            </a:r>
            <a:endParaRPr lang="en-US" sz="1500" dirty="0"/>
          </a:p>
        </p:txBody>
      </p:sp>
      <p:sp>
        <p:nvSpPr>
          <p:cNvPr id="22" name="Text 20"/>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23" name="Text 21"/>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4361EE"/>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EXPLICIT</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Recap: From Flow Diagrams to Equations</a:t>
            </a:r>
            <a:endParaRPr lang="en-US" sz="3200" dirty="0"/>
          </a:p>
        </p:txBody>
      </p:sp>
      <p:sp>
        <p:nvSpPr>
          <p:cNvPr id="7" name="Text 5"/>
          <p:cNvSpPr/>
          <p:nvPr/>
        </p:nvSpPr>
        <p:spPr>
          <a:xfrm>
            <a:off x="457200" y="1645920"/>
            <a:ext cx="11247120" cy="457200"/>
          </a:xfrm>
          <a:prstGeom prst="rect">
            <a:avLst/>
          </a:prstGeom>
          <a:noFill/>
          <a:ln/>
        </p:spPr>
        <p:txBody>
          <a:bodyPr wrap="square" lIns="0" tIns="0" rIns="0" bIns="0" rtlCol="0" anchor="ctr"/>
          <a:lstStyle/>
          <a:p>
            <a:pPr marL="0" indent="0">
              <a:buNone/>
            </a:pPr>
            <a:r>
              <a:rPr lang="en-US" sz="1700" dirty="0">
                <a:solidFill>
                  <a:srgbClr val="4B5563"/>
                </a:solidFill>
                <a:latin typeface="Calibri" pitchFamily="34" charset="0"/>
                <a:ea typeface="Calibri" pitchFamily="34" charset="-122"/>
                <a:cs typeface="Calibri" pitchFamily="34" charset="-120"/>
              </a:rPr>
              <a:t>Back in Double 3, you built flow diagrams to show what an expression does to a number.</a:t>
            </a:r>
            <a:endParaRPr lang="en-US" sz="1700" dirty="0"/>
          </a:p>
        </p:txBody>
      </p:sp>
      <p:sp>
        <p:nvSpPr>
          <p:cNvPr id="8" name="Shape 6"/>
          <p:cNvSpPr/>
          <p:nvPr/>
        </p:nvSpPr>
        <p:spPr>
          <a:xfrm>
            <a:off x="914400" y="2468880"/>
            <a:ext cx="1280160" cy="822960"/>
          </a:xfrm>
          <a:prstGeom prst="roundRect">
            <a:avLst>
              <a:gd name="adj" fmla="val 8889"/>
            </a:avLst>
          </a:prstGeom>
          <a:solidFill>
            <a:srgbClr val="EEF1FE"/>
          </a:solidFill>
          <a:ln w="19050">
            <a:solidFill>
              <a:srgbClr val="4361EE"/>
            </a:solidFill>
            <a:prstDash val="solid"/>
          </a:ln>
        </p:spPr>
        <p:txBody>
          <a:bodyPr/>
          <a:lstStyle/>
          <a:p>
            <a:endParaRPr lang="en-AU"/>
          </a:p>
        </p:txBody>
      </p:sp>
      <p:sp>
        <p:nvSpPr>
          <p:cNvPr id="9" name="Text 7"/>
          <p:cNvSpPr/>
          <p:nvPr/>
        </p:nvSpPr>
        <p:spPr>
          <a:xfrm>
            <a:off x="914400" y="2468880"/>
            <a:ext cx="1280160" cy="822960"/>
          </a:xfrm>
          <a:prstGeom prst="rect">
            <a:avLst/>
          </a:prstGeom>
          <a:noFill/>
          <a:ln/>
        </p:spPr>
        <p:txBody>
          <a:bodyPr wrap="square" lIns="0" tIns="0" rIns="0" bIns="0" rtlCol="0" anchor="ctr"/>
          <a:lstStyle/>
          <a:p>
            <a:pPr marL="0" indent="0" algn="ctr">
              <a:buNone/>
            </a:pPr>
            <a:r>
              <a:rPr lang="en-US" sz="1800" b="1" dirty="0">
                <a:solidFill>
                  <a:srgbClr val="111827"/>
                </a:solidFill>
                <a:latin typeface="Courier New" pitchFamily="34" charset="0"/>
                <a:ea typeface="Courier New" pitchFamily="34" charset="-122"/>
                <a:cs typeface="Courier New" pitchFamily="34" charset="-120"/>
              </a:rPr>
              <a:t>x</a:t>
            </a:r>
            <a:endParaRPr lang="en-US" sz="1800" dirty="0"/>
          </a:p>
        </p:txBody>
      </p:sp>
      <p:sp>
        <p:nvSpPr>
          <p:cNvPr id="10" name="Shape 8"/>
          <p:cNvSpPr/>
          <p:nvPr/>
        </p:nvSpPr>
        <p:spPr>
          <a:xfrm>
            <a:off x="2286000" y="3108960"/>
            <a:ext cx="1097280" cy="0"/>
          </a:xfrm>
          <a:prstGeom prst="line">
            <a:avLst/>
          </a:prstGeom>
          <a:noFill/>
          <a:ln w="25400">
            <a:solidFill>
              <a:srgbClr val="4B5563"/>
            </a:solidFill>
            <a:prstDash val="solid"/>
            <a:tailEnd type="triangle"/>
          </a:ln>
        </p:spPr>
        <p:txBody>
          <a:bodyPr/>
          <a:lstStyle/>
          <a:p>
            <a:endParaRPr lang="en-AU"/>
          </a:p>
        </p:txBody>
      </p:sp>
      <p:sp>
        <p:nvSpPr>
          <p:cNvPr id="11" name="Text 9"/>
          <p:cNvSpPr/>
          <p:nvPr/>
        </p:nvSpPr>
        <p:spPr>
          <a:xfrm>
            <a:off x="2286000" y="2587752"/>
            <a:ext cx="1097280" cy="274320"/>
          </a:xfrm>
          <a:prstGeom prst="rect">
            <a:avLst/>
          </a:prstGeom>
          <a:noFill/>
          <a:ln/>
        </p:spPr>
        <p:txBody>
          <a:bodyPr wrap="square" lIns="0" tIns="0" rIns="0" bIns="0" rtlCol="0" anchor="ctr"/>
          <a:lstStyle/>
          <a:p>
            <a:pPr marL="0" indent="0" algn="ctr">
              <a:buNone/>
            </a:pPr>
            <a:r>
              <a:rPr lang="en-US" sz="1300" b="1" dirty="0">
                <a:solidFill>
                  <a:srgbClr val="4361EE"/>
                </a:solidFill>
                <a:latin typeface="Courier New" pitchFamily="34" charset="0"/>
                <a:ea typeface="Courier New" pitchFamily="34" charset="-122"/>
                <a:cs typeface="Courier New" pitchFamily="34" charset="-120"/>
              </a:rPr>
              <a:t>+ 7</a:t>
            </a:r>
            <a:endParaRPr lang="en-US" sz="1300" dirty="0"/>
          </a:p>
        </p:txBody>
      </p:sp>
      <p:sp>
        <p:nvSpPr>
          <p:cNvPr id="12" name="Shape 10"/>
          <p:cNvSpPr/>
          <p:nvPr/>
        </p:nvSpPr>
        <p:spPr>
          <a:xfrm>
            <a:off x="3474720" y="2468880"/>
            <a:ext cx="1463040" cy="822960"/>
          </a:xfrm>
          <a:prstGeom prst="roundRect">
            <a:avLst>
              <a:gd name="adj" fmla="val 8889"/>
            </a:avLst>
          </a:prstGeom>
          <a:solidFill>
            <a:srgbClr val="EEF1FE"/>
          </a:solidFill>
          <a:ln w="19050">
            <a:solidFill>
              <a:srgbClr val="4361EE"/>
            </a:solidFill>
            <a:prstDash val="solid"/>
          </a:ln>
        </p:spPr>
        <p:txBody>
          <a:bodyPr/>
          <a:lstStyle/>
          <a:p>
            <a:endParaRPr lang="en-AU"/>
          </a:p>
        </p:txBody>
      </p:sp>
      <p:sp>
        <p:nvSpPr>
          <p:cNvPr id="13" name="Text 11"/>
          <p:cNvSpPr/>
          <p:nvPr/>
        </p:nvSpPr>
        <p:spPr>
          <a:xfrm>
            <a:off x="3474720" y="2468880"/>
            <a:ext cx="1463040" cy="822960"/>
          </a:xfrm>
          <a:prstGeom prst="rect">
            <a:avLst/>
          </a:prstGeom>
          <a:noFill/>
          <a:ln/>
        </p:spPr>
        <p:txBody>
          <a:bodyPr wrap="square" lIns="0" tIns="0" rIns="0" bIns="0" rtlCol="0" anchor="ctr"/>
          <a:lstStyle/>
          <a:p>
            <a:pPr marL="0" indent="0" algn="ctr">
              <a:buNone/>
            </a:pPr>
            <a:r>
              <a:rPr lang="en-US" sz="1800" b="1" dirty="0">
                <a:solidFill>
                  <a:srgbClr val="111827"/>
                </a:solidFill>
                <a:latin typeface="Courier New" pitchFamily="34" charset="0"/>
                <a:ea typeface="Courier New" pitchFamily="34" charset="-122"/>
                <a:cs typeface="Courier New" pitchFamily="34" charset="-120"/>
              </a:rPr>
              <a:t>x + 7</a:t>
            </a:r>
            <a:endParaRPr lang="en-US" sz="1800" dirty="0"/>
          </a:p>
        </p:txBody>
      </p:sp>
      <p:sp>
        <p:nvSpPr>
          <p:cNvPr id="14" name="Shape 12"/>
          <p:cNvSpPr/>
          <p:nvPr/>
        </p:nvSpPr>
        <p:spPr>
          <a:xfrm>
            <a:off x="5486400" y="2331720"/>
            <a:ext cx="822960" cy="1097280"/>
          </a:xfrm>
          <a:prstGeom prst="roundRect">
            <a:avLst>
              <a:gd name="adj" fmla="val 11111"/>
            </a:avLst>
          </a:prstGeom>
          <a:solidFill>
            <a:srgbClr val="FFFFFF"/>
          </a:solidFill>
          <a:ln/>
        </p:spPr>
        <p:txBody>
          <a:bodyPr/>
          <a:lstStyle/>
          <a:p>
            <a:endParaRPr lang="en-AU"/>
          </a:p>
        </p:txBody>
      </p:sp>
      <p:sp>
        <p:nvSpPr>
          <p:cNvPr id="15" name="Text 13"/>
          <p:cNvSpPr/>
          <p:nvPr/>
        </p:nvSpPr>
        <p:spPr>
          <a:xfrm>
            <a:off x="5486400" y="2331720"/>
            <a:ext cx="1463040" cy="1097280"/>
          </a:xfrm>
          <a:prstGeom prst="rect">
            <a:avLst/>
          </a:prstGeom>
          <a:noFill/>
          <a:ln/>
        </p:spPr>
        <p:txBody>
          <a:bodyPr wrap="square" lIns="0" tIns="0" rIns="0" bIns="0" rtlCol="0" anchor="ctr"/>
          <a:lstStyle/>
          <a:p>
            <a:pPr marL="0" indent="0" algn="ctr">
              <a:buNone/>
            </a:pPr>
            <a:r>
              <a:rPr lang="en-US" sz="1200" i="1" dirty="0">
                <a:solidFill>
                  <a:srgbClr val="4B5563"/>
                </a:solidFill>
                <a:latin typeface="Calibri" pitchFamily="34" charset="0"/>
                <a:ea typeface="Calibri" pitchFamily="34" charset="-122"/>
                <a:cs typeface="Calibri" pitchFamily="34" charset="-120"/>
              </a:rPr>
              <a:t>becomes an</a:t>
            </a:r>
            <a:endParaRPr lang="en-US" sz="1200" dirty="0"/>
          </a:p>
          <a:p>
            <a:pPr marL="0" indent="0" algn="ctr">
              <a:buNone/>
            </a:pPr>
            <a:r>
              <a:rPr lang="en-US" sz="1200" i="1" dirty="0">
                <a:solidFill>
                  <a:srgbClr val="4B5563"/>
                </a:solidFill>
                <a:latin typeface="Calibri" pitchFamily="34" charset="0"/>
                <a:ea typeface="Calibri" pitchFamily="34" charset="-122"/>
                <a:cs typeface="Calibri" pitchFamily="34" charset="-120"/>
              </a:rPr>
              <a:t>EQUATION</a:t>
            </a:r>
            <a:endParaRPr lang="en-US" sz="1200" dirty="0"/>
          </a:p>
          <a:p>
            <a:pPr marL="0" indent="0" algn="ctr">
              <a:buNone/>
            </a:pPr>
            <a:r>
              <a:rPr lang="en-US" sz="1200" i="1" dirty="0">
                <a:solidFill>
                  <a:srgbClr val="4B5563"/>
                </a:solidFill>
                <a:latin typeface="Calibri" pitchFamily="34" charset="0"/>
                <a:ea typeface="Calibri" pitchFamily="34" charset="-122"/>
                <a:cs typeface="Calibri" pitchFamily="34" charset="-120"/>
              </a:rPr>
              <a:t>when we say</a:t>
            </a:r>
            <a:endParaRPr lang="en-US" sz="1200" dirty="0"/>
          </a:p>
          <a:p>
            <a:pPr marL="0" indent="0" algn="ctr">
              <a:buNone/>
            </a:pPr>
            <a:r>
              <a:rPr lang="en-US" sz="1200" i="1" dirty="0">
                <a:solidFill>
                  <a:srgbClr val="4B5563"/>
                </a:solidFill>
                <a:latin typeface="Calibri" pitchFamily="34" charset="0"/>
                <a:ea typeface="Calibri" pitchFamily="34" charset="-122"/>
                <a:cs typeface="Calibri" pitchFamily="34" charset="-120"/>
              </a:rPr>
              <a:t>it equals a</a:t>
            </a:r>
            <a:endParaRPr lang="en-US" sz="1200" dirty="0"/>
          </a:p>
          <a:p>
            <a:pPr marL="0" indent="0" algn="ctr">
              <a:buNone/>
            </a:pPr>
            <a:r>
              <a:rPr lang="en-US" sz="1200" i="1" dirty="0">
                <a:solidFill>
                  <a:srgbClr val="4B5563"/>
                </a:solidFill>
                <a:latin typeface="Calibri" pitchFamily="34" charset="0"/>
                <a:ea typeface="Calibri" pitchFamily="34" charset="-122"/>
                <a:cs typeface="Calibri" pitchFamily="34" charset="-120"/>
              </a:rPr>
              <a:t>number →</a:t>
            </a:r>
            <a:endParaRPr lang="en-US" sz="1200" dirty="0"/>
          </a:p>
        </p:txBody>
      </p:sp>
      <p:sp>
        <p:nvSpPr>
          <p:cNvPr id="16" name="Shape 14"/>
          <p:cNvSpPr/>
          <p:nvPr/>
        </p:nvSpPr>
        <p:spPr>
          <a:xfrm>
            <a:off x="7315200" y="2468880"/>
            <a:ext cx="1280160" cy="822960"/>
          </a:xfrm>
          <a:prstGeom prst="roundRect">
            <a:avLst>
              <a:gd name="adj" fmla="val 8889"/>
            </a:avLst>
          </a:prstGeom>
          <a:solidFill>
            <a:srgbClr val="EEF1FE"/>
          </a:solidFill>
          <a:ln w="19050">
            <a:solidFill>
              <a:srgbClr val="4361EE"/>
            </a:solidFill>
            <a:prstDash val="solid"/>
          </a:ln>
        </p:spPr>
        <p:txBody>
          <a:bodyPr/>
          <a:lstStyle/>
          <a:p>
            <a:endParaRPr lang="en-AU"/>
          </a:p>
        </p:txBody>
      </p:sp>
      <p:sp>
        <p:nvSpPr>
          <p:cNvPr id="17" name="Text 15"/>
          <p:cNvSpPr/>
          <p:nvPr/>
        </p:nvSpPr>
        <p:spPr>
          <a:xfrm>
            <a:off x="7315200" y="2468880"/>
            <a:ext cx="1280160" cy="822960"/>
          </a:xfrm>
          <a:prstGeom prst="rect">
            <a:avLst/>
          </a:prstGeom>
          <a:noFill/>
          <a:ln/>
        </p:spPr>
        <p:txBody>
          <a:bodyPr wrap="square" lIns="0" tIns="0" rIns="0" bIns="0" rtlCol="0" anchor="ctr"/>
          <a:lstStyle/>
          <a:p>
            <a:pPr marL="0" indent="0" algn="ctr">
              <a:buNone/>
            </a:pPr>
            <a:r>
              <a:rPr lang="en-US" sz="1800" b="1" dirty="0">
                <a:solidFill>
                  <a:srgbClr val="111827"/>
                </a:solidFill>
                <a:latin typeface="Courier New" pitchFamily="34" charset="0"/>
                <a:ea typeface="Courier New" pitchFamily="34" charset="-122"/>
                <a:cs typeface="Courier New" pitchFamily="34" charset="-120"/>
              </a:rPr>
              <a:t>x</a:t>
            </a:r>
            <a:endParaRPr lang="en-US" sz="1800" dirty="0"/>
          </a:p>
        </p:txBody>
      </p:sp>
      <p:sp>
        <p:nvSpPr>
          <p:cNvPr id="18" name="Shape 16"/>
          <p:cNvSpPr/>
          <p:nvPr/>
        </p:nvSpPr>
        <p:spPr>
          <a:xfrm>
            <a:off x="8686800" y="3108960"/>
            <a:ext cx="1097280" cy="0"/>
          </a:xfrm>
          <a:prstGeom prst="line">
            <a:avLst/>
          </a:prstGeom>
          <a:noFill/>
          <a:ln w="25400">
            <a:solidFill>
              <a:srgbClr val="4B5563"/>
            </a:solidFill>
            <a:prstDash val="solid"/>
            <a:tailEnd type="triangle"/>
          </a:ln>
        </p:spPr>
        <p:txBody>
          <a:bodyPr/>
          <a:lstStyle/>
          <a:p>
            <a:endParaRPr lang="en-AU"/>
          </a:p>
        </p:txBody>
      </p:sp>
      <p:sp>
        <p:nvSpPr>
          <p:cNvPr id="19" name="Text 17"/>
          <p:cNvSpPr/>
          <p:nvPr/>
        </p:nvSpPr>
        <p:spPr>
          <a:xfrm>
            <a:off x="8686800" y="2587752"/>
            <a:ext cx="1097280" cy="274320"/>
          </a:xfrm>
          <a:prstGeom prst="rect">
            <a:avLst/>
          </a:prstGeom>
          <a:noFill/>
          <a:ln/>
        </p:spPr>
        <p:txBody>
          <a:bodyPr wrap="square" lIns="0" tIns="0" rIns="0" bIns="0" rtlCol="0" anchor="ctr"/>
          <a:lstStyle/>
          <a:p>
            <a:pPr marL="0" indent="0" algn="ctr">
              <a:buNone/>
            </a:pPr>
            <a:r>
              <a:rPr lang="en-US" sz="1300" b="1" dirty="0">
                <a:solidFill>
                  <a:srgbClr val="4361EE"/>
                </a:solidFill>
                <a:latin typeface="Courier New" pitchFamily="34" charset="0"/>
                <a:ea typeface="Courier New" pitchFamily="34" charset="-122"/>
                <a:cs typeface="Courier New" pitchFamily="34" charset="-120"/>
              </a:rPr>
              <a:t>+ 7</a:t>
            </a:r>
            <a:endParaRPr lang="en-US" sz="1300" dirty="0"/>
          </a:p>
        </p:txBody>
      </p:sp>
      <p:sp>
        <p:nvSpPr>
          <p:cNvPr id="20" name="Shape 18"/>
          <p:cNvSpPr/>
          <p:nvPr/>
        </p:nvSpPr>
        <p:spPr>
          <a:xfrm>
            <a:off x="9875520" y="2468880"/>
            <a:ext cx="1554480" cy="822960"/>
          </a:xfrm>
          <a:prstGeom prst="roundRect">
            <a:avLst>
              <a:gd name="adj" fmla="val 8889"/>
            </a:avLst>
          </a:prstGeom>
          <a:solidFill>
            <a:srgbClr val="FDEDED"/>
          </a:solidFill>
          <a:ln w="19050">
            <a:solidFill>
              <a:srgbClr val="EF4444"/>
            </a:solidFill>
            <a:prstDash val="solid"/>
          </a:ln>
        </p:spPr>
        <p:txBody>
          <a:bodyPr/>
          <a:lstStyle/>
          <a:p>
            <a:endParaRPr lang="en-AU"/>
          </a:p>
        </p:txBody>
      </p:sp>
      <p:sp>
        <p:nvSpPr>
          <p:cNvPr id="21" name="Text 19"/>
          <p:cNvSpPr/>
          <p:nvPr/>
        </p:nvSpPr>
        <p:spPr>
          <a:xfrm>
            <a:off x="9875520" y="2468880"/>
            <a:ext cx="1554480" cy="822960"/>
          </a:xfrm>
          <a:prstGeom prst="rect">
            <a:avLst/>
          </a:prstGeom>
          <a:noFill/>
          <a:ln/>
        </p:spPr>
        <p:txBody>
          <a:bodyPr wrap="square" lIns="0" tIns="0" rIns="0" bIns="0" rtlCol="0" anchor="ctr"/>
          <a:lstStyle/>
          <a:p>
            <a:pPr marL="0" indent="0" algn="ctr">
              <a:buNone/>
            </a:pPr>
            <a:r>
              <a:rPr lang="en-US" sz="1800" b="1" dirty="0">
                <a:solidFill>
                  <a:srgbClr val="111827"/>
                </a:solidFill>
                <a:latin typeface="Courier New" pitchFamily="34" charset="0"/>
                <a:ea typeface="Courier New" pitchFamily="34" charset="-122"/>
                <a:cs typeface="Courier New" pitchFamily="34" charset="-120"/>
              </a:rPr>
              <a:t>x + 7 = 12</a:t>
            </a:r>
            <a:endParaRPr lang="en-US" sz="1800" dirty="0"/>
          </a:p>
        </p:txBody>
      </p:sp>
      <p:sp>
        <p:nvSpPr>
          <p:cNvPr id="22" name="Shape 20"/>
          <p:cNvSpPr/>
          <p:nvPr/>
        </p:nvSpPr>
        <p:spPr>
          <a:xfrm>
            <a:off x="457200" y="3931920"/>
            <a:ext cx="11247120" cy="1737360"/>
          </a:xfrm>
          <a:prstGeom prst="roundRect">
            <a:avLst>
              <a:gd name="adj" fmla="val 5263"/>
            </a:avLst>
          </a:prstGeom>
          <a:solidFill>
            <a:srgbClr val="F3EEFE"/>
          </a:solidFill>
          <a:ln w="12700">
            <a:solidFill>
              <a:srgbClr val="8B5CF6"/>
            </a:solidFill>
            <a:prstDash val="solid"/>
          </a:ln>
        </p:spPr>
        <p:txBody>
          <a:bodyPr/>
          <a:lstStyle/>
          <a:p>
            <a:endParaRPr lang="en-AU"/>
          </a:p>
        </p:txBody>
      </p:sp>
      <p:sp>
        <p:nvSpPr>
          <p:cNvPr id="23" name="Text 21"/>
          <p:cNvSpPr/>
          <p:nvPr/>
        </p:nvSpPr>
        <p:spPr>
          <a:xfrm>
            <a:off x="777240" y="4114800"/>
            <a:ext cx="10607040" cy="365760"/>
          </a:xfrm>
          <a:prstGeom prst="rect">
            <a:avLst/>
          </a:prstGeom>
          <a:noFill/>
          <a:ln/>
        </p:spPr>
        <p:txBody>
          <a:bodyPr wrap="square" lIns="0" tIns="0" rIns="0" bIns="0" rtlCol="0" anchor="ctr"/>
          <a:lstStyle/>
          <a:p>
            <a:pPr marL="0" indent="0">
              <a:buNone/>
            </a:pPr>
            <a:r>
              <a:rPr lang="en-US" sz="1600" b="1" dirty="0">
                <a:solidFill>
                  <a:srgbClr val="5B21B6"/>
                </a:solidFill>
                <a:latin typeface="Calibri" pitchFamily="34" charset="0"/>
                <a:ea typeface="Calibri" pitchFamily="34" charset="-122"/>
                <a:cs typeface="Calibri" pitchFamily="34" charset="-120"/>
              </a:rPr>
              <a:t>Today's big question:</a:t>
            </a:r>
            <a:endParaRPr lang="en-US" sz="1600" dirty="0"/>
          </a:p>
        </p:txBody>
      </p:sp>
      <p:sp>
        <p:nvSpPr>
          <p:cNvPr id="24" name="Text 22"/>
          <p:cNvSpPr/>
          <p:nvPr/>
        </p:nvSpPr>
        <p:spPr>
          <a:xfrm>
            <a:off x="777240" y="4480560"/>
            <a:ext cx="10607040" cy="1097280"/>
          </a:xfrm>
          <a:prstGeom prst="rect">
            <a:avLst/>
          </a:prstGeom>
          <a:noFill/>
          <a:ln/>
        </p:spPr>
        <p:txBody>
          <a:bodyPr wrap="square" lIns="0" tIns="0" rIns="0" bIns="0" rtlCol="0" anchor="ctr"/>
          <a:lstStyle/>
          <a:p>
            <a:pPr marL="0" indent="0">
              <a:lnSpc>
                <a:spcPct val="115000"/>
              </a:lnSpc>
              <a:buNone/>
            </a:pPr>
            <a:r>
              <a:rPr lang="en-US" sz="1700" dirty="0">
                <a:solidFill>
                  <a:srgbClr val="111827"/>
                </a:solidFill>
                <a:latin typeface="Calibri" pitchFamily="34" charset="0"/>
                <a:ea typeface="Calibri" pitchFamily="34" charset="-122"/>
                <a:cs typeface="Calibri" pitchFamily="34" charset="-120"/>
              </a:rPr>
              <a:t>An equation tells us the result. How do we work backwards to find x?</a:t>
            </a:r>
            <a:endParaRPr lang="en-US" sz="1700" dirty="0"/>
          </a:p>
          <a:p>
            <a:pPr marL="0" indent="0">
              <a:lnSpc>
                <a:spcPct val="115000"/>
              </a:lnSpc>
              <a:buNone/>
            </a:pPr>
            <a:r>
              <a:rPr lang="en-US" sz="1700" dirty="0">
                <a:solidFill>
                  <a:srgbClr val="111827"/>
                </a:solidFill>
                <a:latin typeface="Calibri" pitchFamily="34" charset="0"/>
                <a:ea typeface="Calibri" pitchFamily="34" charset="-122"/>
                <a:cs typeface="Calibri" pitchFamily="34" charset="-120"/>
              </a:rPr>
              <a:t>That's exactly what both of today's methods do — undo the flow diagram to reveal x.</a:t>
            </a:r>
            <a:endParaRPr lang="en-US" sz="1700" dirty="0"/>
          </a:p>
        </p:txBody>
      </p:sp>
      <p:sp>
        <p:nvSpPr>
          <p:cNvPr id="25" name="Text 23"/>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26" name="Text 24"/>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4361EE"/>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EXPLICIT</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The Balance Method: The Golden Rule</a:t>
            </a:r>
            <a:endParaRPr lang="en-US" sz="3200" dirty="0"/>
          </a:p>
        </p:txBody>
      </p:sp>
      <p:sp>
        <p:nvSpPr>
          <p:cNvPr id="7" name="Shape 5"/>
          <p:cNvSpPr/>
          <p:nvPr/>
        </p:nvSpPr>
        <p:spPr>
          <a:xfrm>
            <a:off x="914400" y="1965960"/>
            <a:ext cx="3291840" cy="45720"/>
          </a:xfrm>
          <a:prstGeom prst="rect">
            <a:avLst/>
          </a:prstGeom>
          <a:solidFill>
            <a:srgbClr val="111827"/>
          </a:solidFill>
          <a:ln/>
        </p:spPr>
        <p:txBody>
          <a:bodyPr/>
          <a:lstStyle/>
          <a:p>
            <a:endParaRPr lang="en-AU"/>
          </a:p>
        </p:txBody>
      </p:sp>
      <p:sp>
        <p:nvSpPr>
          <p:cNvPr id="8" name="Shape 6"/>
          <p:cNvSpPr/>
          <p:nvPr/>
        </p:nvSpPr>
        <p:spPr>
          <a:xfrm>
            <a:off x="2359152" y="2011680"/>
            <a:ext cx="402336" cy="384048"/>
          </a:xfrm>
          <a:prstGeom prst="triangle">
            <a:avLst/>
          </a:prstGeom>
          <a:solidFill>
            <a:srgbClr val="111827"/>
          </a:solidFill>
          <a:ln/>
        </p:spPr>
        <p:txBody>
          <a:bodyPr/>
          <a:lstStyle/>
          <a:p>
            <a:endParaRPr lang="en-AU"/>
          </a:p>
        </p:txBody>
      </p:sp>
      <p:sp>
        <p:nvSpPr>
          <p:cNvPr id="9" name="Shape 7"/>
          <p:cNvSpPr/>
          <p:nvPr/>
        </p:nvSpPr>
        <p:spPr>
          <a:xfrm>
            <a:off x="2523744" y="2350008"/>
            <a:ext cx="73152" cy="502920"/>
          </a:xfrm>
          <a:prstGeom prst="rect">
            <a:avLst/>
          </a:prstGeom>
          <a:solidFill>
            <a:srgbClr val="4B5563"/>
          </a:solidFill>
          <a:ln/>
        </p:spPr>
        <p:txBody>
          <a:bodyPr/>
          <a:lstStyle/>
          <a:p>
            <a:endParaRPr lang="en-AU"/>
          </a:p>
        </p:txBody>
      </p:sp>
      <p:sp>
        <p:nvSpPr>
          <p:cNvPr id="10" name="Shape 8"/>
          <p:cNvSpPr/>
          <p:nvPr/>
        </p:nvSpPr>
        <p:spPr>
          <a:xfrm>
            <a:off x="2057400" y="2834640"/>
            <a:ext cx="1005840" cy="91440"/>
          </a:xfrm>
          <a:prstGeom prst="rect">
            <a:avLst/>
          </a:prstGeom>
          <a:solidFill>
            <a:srgbClr val="4B5563"/>
          </a:solidFill>
          <a:ln/>
        </p:spPr>
        <p:txBody>
          <a:bodyPr/>
          <a:lstStyle/>
          <a:p>
            <a:endParaRPr lang="en-AU"/>
          </a:p>
        </p:txBody>
      </p:sp>
      <p:sp>
        <p:nvSpPr>
          <p:cNvPr id="11" name="Shape 9"/>
          <p:cNvSpPr/>
          <p:nvPr/>
        </p:nvSpPr>
        <p:spPr>
          <a:xfrm>
            <a:off x="1600200" y="2011680"/>
            <a:ext cx="0" cy="320040"/>
          </a:xfrm>
          <a:prstGeom prst="line">
            <a:avLst/>
          </a:prstGeom>
          <a:noFill/>
          <a:ln w="19050">
            <a:solidFill>
              <a:srgbClr val="4B5563"/>
            </a:solidFill>
            <a:prstDash val="solid"/>
          </a:ln>
        </p:spPr>
        <p:txBody>
          <a:bodyPr/>
          <a:lstStyle/>
          <a:p>
            <a:endParaRPr lang="en-AU"/>
          </a:p>
        </p:txBody>
      </p:sp>
      <p:sp>
        <p:nvSpPr>
          <p:cNvPr id="12" name="Shape 10"/>
          <p:cNvSpPr/>
          <p:nvPr/>
        </p:nvSpPr>
        <p:spPr>
          <a:xfrm>
            <a:off x="3520440" y="2011680"/>
            <a:ext cx="0" cy="320040"/>
          </a:xfrm>
          <a:prstGeom prst="line">
            <a:avLst/>
          </a:prstGeom>
          <a:noFill/>
          <a:ln w="19050">
            <a:solidFill>
              <a:srgbClr val="4B5563"/>
            </a:solidFill>
            <a:prstDash val="solid"/>
          </a:ln>
        </p:spPr>
        <p:txBody>
          <a:bodyPr/>
          <a:lstStyle/>
          <a:p>
            <a:endParaRPr lang="en-AU"/>
          </a:p>
        </p:txBody>
      </p:sp>
      <p:sp>
        <p:nvSpPr>
          <p:cNvPr id="13" name="Shape 11"/>
          <p:cNvSpPr/>
          <p:nvPr/>
        </p:nvSpPr>
        <p:spPr>
          <a:xfrm>
            <a:off x="914400" y="2331720"/>
            <a:ext cx="1371600" cy="502920"/>
          </a:xfrm>
          <a:prstGeom prst="roundRect">
            <a:avLst>
              <a:gd name="adj" fmla="val 10909"/>
            </a:avLst>
          </a:prstGeom>
          <a:solidFill>
            <a:srgbClr val="4361EE"/>
          </a:solidFill>
          <a:ln/>
        </p:spPr>
        <p:txBody>
          <a:bodyPr/>
          <a:lstStyle/>
          <a:p>
            <a:endParaRPr lang="en-AU"/>
          </a:p>
        </p:txBody>
      </p:sp>
      <p:sp>
        <p:nvSpPr>
          <p:cNvPr id="14" name="Text 12"/>
          <p:cNvSpPr/>
          <p:nvPr/>
        </p:nvSpPr>
        <p:spPr>
          <a:xfrm>
            <a:off x="914400" y="2331720"/>
            <a:ext cx="1371600" cy="502920"/>
          </a:xfrm>
          <a:prstGeom prst="rect">
            <a:avLst/>
          </a:prstGeom>
          <a:noFill/>
          <a:ln/>
        </p:spPr>
        <p:txBody>
          <a:bodyPr wrap="square" lIns="0" tIns="0" rIns="0" bIns="0" rtlCol="0" anchor="ctr"/>
          <a:lstStyle/>
          <a:p>
            <a:pPr marL="0" indent="0" algn="ctr">
              <a:buNone/>
            </a:pPr>
            <a:r>
              <a:rPr lang="en-US" sz="1900" b="1" dirty="0">
                <a:solidFill>
                  <a:srgbClr val="FFFFFF"/>
                </a:solidFill>
                <a:latin typeface="Courier New" pitchFamily="34" charset="0"/>
                <a:ea typeface="Courier New" pitchFamily="34" charset="-122"/>
                <a:cs typeface="Courier New" pitchFamily="34" charset="-120"/>
              </a:rPr>
              <a:t>x + 5</a:t>
            </a:r>
            <a:endParaRPr lang="en-US" sz="1900" dirty="0"/>
          </a:p>
        </p:txBody>
      </p:sp>
      <p:sp>
        <p:nvSpPr>
          <p:cNvPr id="15" name="Shape 13"/>
          <p:cNvSpPr/>
          <p:nvPr/>
        </p:nvSpPr>
        <p:spPr>
          <a:xfrm>
            <a:off x="2834640" y="2331720"/>
            <a:ext cx="1371600" cy="502920"/>
          </a:xfrm>
          <a:prstGeom prst="roundRect">
            <a:avLst>
              <a:gd name="adj" fmla="val 10909"/>
            </a:avLst>
          </a:prstGeom>
          <a:solidFill>
            <a:srgbClr val="4361EE"/>
          </a:solidFill>
          <a:ln/>
        </p:spPr>
        <p:txBody>
          <a:bodyPr/>
          <a:lstStyle/>
          <a:p>
            <a:endParaRPr lang="en-AU"/>
          </a:p>
        </p:txBody>
      </p:sp>
      <p:sp>
        <p:nvSpPr>
          <p:cNvPr id="16" name="Text 14"/>
          <p:cNvSpPr/>
          <p:nvPr/>
        </p:nvSpPr>
        <p:spPr>
          <a:xfrm>
            <a:off x="2834640" y="2331720"/>
            <a:ext cx="1371600" cy="502920"/>
          </a:xfrm>
          <a:prstGeom prst="rect">
            <a:avLst/>
          </a:prstGeom>
          <a:noFill/>
          <a:ln/>
        </p:spPr>
        <p:txBody>
          <a:bodyPr wrap="square" lIns="0" tIns="0" rIns="0" bIns="0" rtlCol="0" anchor="ctr"/>
          <a:lstStyle/>
          <a:p>
            <a:pPr marL="0" indent="0" algn="ctr">
              <a:buNone/>
            </a:pPr>
            <a:r>
              <a:rPr lang="en-US" sz="1900" b="1" dirty="0">
                <a:solidFill>
                  <a:srgbClr val="FFFFFF"/>
                </a:solidFill>
                <a:latin typeface="Courier New" pitchFamily="34" charset="0"/>
                <a:ea typeface="Courier New" pitchFamily="34" charset="-122"/>
                <a:cs typeface="Courier New" pitchFamily="34" charset="-120"/>
              </a:rPr>
              <a:t>12</a:t>
            </a:r>
            <a:endParaRPr lang="en-US" sz="1900" dirty="0"/>
          </a:p>
        </p:txBody>
      </p:sp>
      <p:sp>
        <p:nvSpPr>
          <p:cNvPr id="17" name="Text 15"/>
          <p:cNvSpPr/>
          <p:nvPr/>
        </p:nvSpPr>
        <p:spPr>
          <a:xfrm>
            <a:off x="5852160" y="2011680"/>
            <a:ext cx="5852160" cy="1828800"/>
          </a:xfrm>
          <a:prstGeom prst="rect">
            <a:avLst/>
          </a:prstGeom>
          <a:noFill/>
          <a:ln/>
        </p:spPr>
        <p:txBody>
          <a:bodyPr wrap="square" lIns="0" tIns="0" rIns="0" bIns="0" rtlCol="0" anchor="ctr"/>
          <a:lstStyle/>
          <a:p>
            <a:pPr marL="0" indent="0">
              <a:lnSpc>
                <a:spcPct val="115000"/>
              </a:lnSpc>
              <a:buNone/>
            </a:pPr>
            <a:r>
              <a:rPr lang="en-US" sz="1800" dirty="0">
                <a:solidFill>
                  <a:srgbClr val="111827"/>
                </a:solidFill>
                <a:latin typeface="Calibri" pitchFamily="34" charset="0"/>
                <a:ea typeface="Calibri" pitchFamily="34" charset="-122"/>
                <a:cs typeface="Calibri" pitchFamily="34" charset="-120"/>
              </a:rPr>
              <a:t>An equation is like a balanced scale — both sides weigh the same.</a:t>
            </a:r>
            <a:endParaRPr lang="en-US" sz="1800" dirty="0"/>
          </a:p>
          <a:p>
            <a:pPr marL="0" indent="0">
              <a:lnSpc>
                <a:spcPct val="115000"/>
              </a:lnSpc>
              <a:buNone/>
            </a:pPr>
            <a:r>
              <a:rPr lang="en-US" sz="1800" dirty="0">
                <a:solidFill>
                  <a:srgbClr val="111827"/>
                </a:solidFill>
                <a:latin typeface="Calibri" pitchFamily="34" charset="0"/>
                <a:ea typeface="Calibri" pitchFamily="34" charset="-122"/>
                <a:cs typeface="Calibri" pitchFamily="34" charset="-120"/>
              </a:rPr>
              <a:t>If you change one side, you must make the exact same change to the other side, or it tips over.</a:t>
            </a:r>
            <a:endParaRPr lang="en-US" sz="1800" dirty="0"/>
          </a:p>
        </p:txBody>
      </p:sp>
      <p:sp>
        <p:nvSpPr>
          <p:cNvPr id="18" name="Shape 16"/>
          <p:cNvSpPr/>
          <p:nvPr/>
        </p:nvSpPr>
        <p:spPr>
          <a:xfrm>
            <a:off x="457200" y="4206240"/>
            <a:ext cx="11247120" cy="365760"/>
          </a:xfrm>
          <a:prstGeom prst="roundRect">
            <a:avLst>
              <a:gd name="adj" fmla="val 15000"/>
            </a:avLst>
          </a:prstGeom>
          <a:solidFill>
            <a:srgbClr val="FEF6E7"/>
          </a:solidFill>
          <a:ln w="12700">
            <a:solidFill>
              <a:srgbClr val="F59E0B"/>
            </a:solidFill>
            <a:prstDash val="solid"/>
          </a:ln>
        </p:spPr>
        <p:txBody>
          <a:bodyPr/>
          <a:lstStyle/>
          <a:p>
            <a:endParaRPr lang="en-AU"/>
          </a:p>
        </p:txBody>
      </p:sp>
      <p:sp>
        <p:nvSpPr>
          <p:cNvPr id="19" name="Text 17"/>
          <p:cNvSpPr/>
          <p:nvPr/>
        </p:nvSpPr>
        <p:spPr>
          <a:xfrm>
            <a:off x="457200" y="4206240"/>
            <a:ext cx="11247120" cy="365760"/>
          </a:xfrm>
          <a:prstGeom prst="rect">
            <a:avLst/>
          </a:prstGeom>
          <a:noFill/>
          <a:ln/>
        </p:spPr>
        <p:txBody>
          <a:bodyPr wrap="square" lIns="0" tIns="0" rIns="0" bIns="0" rtlCol="0" anchor="ctr"/>
          <a:lstStyle/>
          <a:p>
            <a:pPr marL="0" indent="0" algn="ctr">
              <a:buNone/>
            </a:pPr>
            <a:r>
              <a:rPr lang="en-US" sz="1200" b="1" dirty="0">
                <a:solidFill>
                  <a:srgbClr val="92610A"/>
                </a:solidFill>
                <a:latin typeface="Courier New" pitchFamily="34" charset="0"/>
                <a:ea typeface="Courier New" pitchFamily="34" charset="-122"/>
                <a:cs typeface="Courier New" pitchFamily="34" charset="-120"/>
              </a:rPr>
              <a:t>📋 COPY THIS INTO YOUR NOTES</a:t>
            </a:r>
            <a:endParaRPr lang="en-US" sz="1200" dirty="0"/>
          </a:p>
        </p:txBody>
      </p:sp>
      <p:sp>
        <p:nvSpPr>
          <p:cNvPr id="20" name="Shape 18"/>
          <p:cNvSpPr/>
          <p:nvPr/>
        </p:nvSpPr>
        <p:spPr>
          <a:xfrm>
            <a:off x="457200" y="4617720"/>
            <a:ext cx="11247120" cy="1051560"/>
          </a:xfrm>
          <a:prstGeom prst="roundRect">
            <a:avLst>
              <a:gd name="adj" fmla="val 8696"/>
            </a:avLst>
          </a:prstGeom>
          <a:solidFill>
            <a:srgbClr val="FEF6E7"/>
          </a:solidFill>
          <a:ln w="12700">
            <a:solidFill>
              <a:srgbClr val="F59E0B"/>
            </a:solidFill>
            <a:prstDash val="solid"/>
          </a:ln>
        </p:spPr>
        <p:txBody>
          <a:bodyPr/>
          <a:lstStyle/>
          <a:p>
            <a:endParaRPr lang="en-AU"/>
          </a:p>
        </p:txBody>
      </p:sp>
      <p:sp>
        <p:nvSpPr>
          <p:cNvPr id="21" name="Text 19"/>
          <p:cNvSpPr/>
          <p:nvPr/>
        </p:nvSpPr>
        <p:spPr>
          <a:xfrm>
            <a:off x="777240" y="4617720"/>
            <a:ext cx="10607040" cy="1051560"/>
          </a:xfrm>
          <a:prstGeom prst="rect">
            <a:avLst/>
          </a:prstGeom>
          <a:noFill/>
          <a:ln/>
        </p:spPr>
        <p:txBody>
          <a:bodyPr wrap="square" lIns="0" tIns="0" rIns="0" bIns="0" rtlCol="0" anchor="ctr"/>
          <a:lstStyle/>
          <a:p>
            <a:pPr marL="0" indent="0" algn="l">
              <a:lnSpc>
                <a:spcPct val="115000"/>
              </a:lnSpc>
              <a:buNone/>
            </a:pPr>
            <a:r>
              <a:rPr lang="en-US" sz="1700" b="1" dirty="0">
                <a:solidFill>
                  <a:srgbClr val="92610A"/>
                </a:solidFill>
                <a:latin typeface="Courier New" pitchFamily="34" charset="0"/>
                <a:ea typeface="Courier New" pitchFamily="34" charset="-122"/>
                <a:cs typeface="Courier New" pitchFamily="34" charset="-120"/>
              </a:rPr>
              <a:t>THE GOLDEN RULE:</a:t>
            </a:r>
            <a:endParaRPr lang="en-US" sz="1700" dirty="0"/>
          </a:p>
          <a:p>
            <a:pPr marL="0" indent="0" algn="l">
              <a:lnSpc>
                <a:spcPct val="115000"/>
              </a:lnSpc>
              <a:buNone/>
            </a:pPr>
            <a:r>
              <a:rPr lang="en-US" sz="1700" b="1" dirty="0">
                <a:solidFill>
                  <a:srgbClr val="92610A"/>
                </a:solidFill>
                <a:latin typeface="Courier New" pitchFamily="34" charset="0"/>
                <a:ea typeface="Courier New" pitchFamily="34" charset="-122"/>
                <a:cs typeface="Courier New" pitchFamily="34" charset="-120"/>
              </a:rPr>
              <a:t>Whatever you do to one side of the equation, you must do to the other side too.</a:t>
            </a:r>
            <a:endParaRPr lang="en-US" sz="1700" dirty="0"/>
          </a:p>
        </p:txBody>
      </p:sp>
      <p:sp>
        <p:nvSpPr>
          <p:cNvPr id="22" name="Text 20"/>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23" name="Text 21"/>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4361EE"/>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EXPLICIT</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Balance Method — Worked Example 1</a:t>
            </a:r>
            <a:endParaRPr lang="en-US" sz="3200" dirty="0"/>
          </a:p>
        </p:txBody>
      </p:sp>
      <p:sp>
        <p:nvSpPr>
          <p:cNvPr id="7" name="Text 5"/>
          <p:cNvSpPr/>
          <p:nvPr/>
        </p:nvSpPr>
        <p:spPr>
          <a:xfrm>
            <a:off x="457200" y="1600200"/>
            <a:ext cx="7315200" cy="457200"/>
          </a:xfrm>
          <a:prstGeom prst="rect">
            <a:avLst/>
          </a:prstGeom>
          <a:noFill/>
          <a:ln/>
        </p:spPr>
        <p:txBody>
          <a:bodyPr wrap="square" lIns="0" tIns="0" rIns="0" bIns="0" rtlCol="0" anchor="ctr"/>
          <a:lstStyle/>
          <a:p>
            <a:pPr marL="0" indent="0">
              <a:buNone/>
            </a:pPr>
            <a:r>
              <a:rPr lang="en-US" sz="2400" b="1" dirty="0">
                <a:solidFill>
                  <a:srgbClr val="111827"/>
                </a:solidFill>
                <a:latin typeface="Courier New" pitchFamily="34" charset="0"/>
                <a:ea typeface="Courier New" pitchFamily="34" charset="-122"/>
                <a:cs typeface="Courier New" pitchFamily="34" charset="-120"/>
              </a:rPr>
              <a:t>Solve:  x + 7 = 12</a:t>
            </a:r>
            <a:endParaRPr lang="en-US" sz="2400" dirty="0"/>
          </a:p>
        </p:txBody>
      </p:sp>
      <p:sp>
        <p:nvSpPr>
          <p:cNvPr id="8" name="Shape 6"/>
          <p:cNvSpPr/>
          <p:nvPr/>
        </p:nvSpPr>
        <p:spPr>
          <a:xfrm>
            <a:off x="457200" y="2286000"/>
            <a:ext cx="11247120" cy="777240"/>
          </a:xfrm>
          <a:prstGeom prst="roundRect">
            <a:avLst>
              <a:gd name="adj" fmla="val 9412"/>
            </a:avLst>
          </a:prstGeom>
          <a:solidFill>
            <a:srgbClr val="FAFBFF"/>
          </a:solidFill>
          <a:ln w="9525">
            <a:solidFill>
              <a:srgbClr val="E5E7EB"/>
            </a:solidFill>
            <a:prstDash val="solid"/>
          </a:ln>
        </p:spPr>
        <p:txBody>
          <a:bodyPr/>
          <a:lstStyle/>
          <a:p>
            <a:endParaRPr lang="en-AU"/>
          </a:p>
        </p:txBody>
      </p:sp>
      <p:sp>
        <p:nvSpPr>
          <p:cNvPr id="9" name="Text 7"/>
          <p:cNvSpPr/>
          <p:nvPr/>
        </p:nvSpPr>
        <p:spPr>
          <a:xfrm>
            <a:off x="731520" y="2286000"/>
            <a:ext cx="3291840" cy="777240"/>
          </a:xfrm>
          <a:prstGeom prst="rect">
            <a:avLst/>
          </a:prstGeom>
          <a:noFill/>
          <a:ln/>
        </p:spPr>
        <p:txBody>
          <a:bodyPr wrap="square" lIns="0" tIns="0" rIns="0" bIns="0" rtlCol="0" anchor="ctr"/>
          <a:lstStyle/>
          <a:p>
            <a:pPr marL="0" indent="0">
              <a:buNone/>
            </a:pPr>
            <a:r>
              <a:rPr lang="en-US" sz="1800" b="1" dirty="0">
                <a:solidFill>
                  <a:srgbClr val="111827"/>
                </a:solidFill>
                <a:latin typeface="Courier New" pitchFamily="34" charset="0"/>
                <a:ea typeface="Courier New" pitchFamily="34" charset="-122"/>
                <a:cs typeface="Courier New" pitchFamily="34" charset="-120"/>
              </a:rPr>
              <a:t>x + 7 = 12</a:t>
            </a:r>
            <a:endParaRPr lang="en-US" sz="1800" dirty="0"/>
          </a:p>
        </p:txBody>
      </p:sp>
      <p:sp>
        <p:nvSpPr>
          <p:cNvPr id="10" name="Text 8"/>
          <p:cNvSpPr/>
          <p:nvPr/>
        </p:nvSpPr>
        <p:spPr>
          <a:xfrm>
            <a:off x="4206240" y="2286000"/>
            <a:ext cx="7223760" cy="77724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Start with the equation.</a:t>
            </a:r>
            <a:endParaRPr lang="en-US" sz="1400" dirty="0"/>
          </a:p>
        </p:txBody>
      </p:sp>
      <p:sp>
        <p:nvSpPr>
          <p:cNvPr id="11" name="Shape 9"/>
          <p:cNvSpPr/>
          <p:nvPr/>
        </p:nvSpPr>
        <p:spPr>
          <a:xfrm>
            <a:off x="457200" y="3200400"/>
            <a:ext cx="11247120" cy="777240"/>
          </a:xfrm>
          <a:prstGeom prst="roundRect">
            <a:avLst>
              <a:gd name="adj" fmla="val 9412"/>
            </a:avLst>
          </a:prstGeom>
          <a:solidFill>
            <a:srgbClr val="FFFFFF"/>
          </a:solidFill>
          <a:ln w="9525">
            <a:solidFill>
              <a:srgbClr val="E5E7EB"/>
            </a:solidFill>
            <a:prstDash val="solid"/>
          </a:ln>
        </p:spPr>
        <p:txBody>
          <a:bodyPr/>
          <a:lstStyle/>
          <a:p>
            <a:endParaRPr lang="en-AU"/>
          </a:p>
        </p:txBody>
      </p:sp>
      <p:sp>
        <p:nvSpPr>
          <p:cNvPr id="12" name="Text 10"/>
          <p:cNvSpPr/>
          <p:nvPr/>
        </p:nvSpPr>
        <p:spPr>
          <a:xfrm>
            <a:off x="731520" y="3200400"/>
            <a:ext cx="3291840" cy="777240"/>
          </a:xfrm>
          <a:prstGeom prst="rect">
            <a:avLst/>
          </a:prstGeom>
          <a:noFill/>
          <a:ln/>
        </p:spPr>
        <p:txBody>
          <a:bodyPr wrap="square" lIns="0" tIns="0" rIns="0" bIns="0" rtlCol="0" anchor="ctr"/>
          <a:lstStyle/>
          <a:p>
            <a:pPr marL="0" indent="0">
              <a:buNone/>
            </a:pPr>
            <a:r>
              <a:rPr lang="en-US" sz="1800" b="1" dirty="0">
                <a:solidFill>
                  <a:srgbClr val="111827"/>
                </a:solidFill>
                <a:latin typeface="Courier New" pitchFamily="34" charset="0"/>
                <a:ea typeface="Courier New" pitchFamily="34" charset="-122"/>
                <a:cs typeface="Courier New" pitchFamily="34" charset="-120"/>
              </a:rPr>
              <a:t>x + 7 − 7 = 12 − 7</a:t>
            </a:r>
            <a:endParaRPr lang="en-US" sz="1800" dirty="0"/>
          </a:p>
        </p:txBody>
      </p:sp>
      <p:sp>
        <p:nvSpPr>
          <p:cNvPr id="13" name="Text 11"/>
          <p:cNvSpPr/>
          <p:nvPr/>
        </p:nvSpPr>
        <p:spPr>
          <a:xfrm>
            <a:off x="4206240" y="3200400"/>
            <a:ext cx="7223760" cy="77724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− 7 has been done to x, so subtract 7 from BOTH sides.</a:t>
            </a:r>
            <a:endParaRPr lang="en-US" sz="1400" dirty="0"/>
          </a:p>
        </p:txBody>
      </p:sp>
      <p:sp>
        <p:nvSpPr>
          <p:cNvPr id="14" name="Shape 12"/>
          <p:cNvSpPr/>
          <p:nvPr/>
        </p:nvSpPr>
        <p:spPr>
          <a:xfrm>
            <a:off x="457200" y="4114800"/>
            <a:ext cx="11247120" cy="777240"/>
          </a:xfrm>
          <a:prstGeom prst="roundRect">
            <a:avLst>
              <a:gd name="adj" fmla="val 9412"/>
            </a:avLst>
          </a:prstGeom>
          <a:solidFill>
            <a:srgbClr val="FAFBFF"/>
          </a:solidFill>
          <a:ln w="9525">
            <a:solidFill>
              <a:srgbClr val="E5E7EB"/>
            </a:solidFill>
            <a:prstDash val="solid"/>
          </a:ln>
        </p:spPr>
        <p:txBody>
          <a:bodyPr/>
          <a:lstStyle/>
          <a:p>
            <a:endParaRPr lang="en-AU"/>
          </a:p>
        </p:txBody>
      </p:sp>
      <p:sp>
        <p:nvSpPr>
          <p:cNvPr id="15" name="Text 13"/>
          <p:cNvSpPr/>
          <p:nvPr/>
        </p:nvSpPr>
        <p:spPr>
          <a:xfrm>
            <a:off x="731520" y="4114800"/>
            <a:ext cx="3291840" cy="777240"/>
          </a:xfrm>
          <a:prstGeom prst="rect">
            <a:avLst/>
          </a:prstGeom>
          <a:noFill/>
          <a:ln/>
        </p:spPr>
        <p:txBody>
          <a:bodyPr wrap="square" lIns="0" tIns="0" rIns="0" bIns="0" rtlCol="0" anchor="ctr"/>
          <a:lstStyle/>
          <a:p>
            <a:pPr marL="0" indent="0">
              <a:buNone/>
            </a:pPr>
            <a:r>
              <a:rPr lang="en-US" sz="1800" b="1" dirty="0">
                <a:solidFill>
                  <a:srgbClr val="111827"/>
                </a:solidFill>
                <a:latin typeface="Courier New" pitchFamily="34" charset="0"/>
                <a:ea typeface="Courier New" pitchFamily="34" charset="-122"/>
                <a:cs typeface="Courier New" pitchFamily="34" charset="-120"/>
              </a:rPr>
              <a:t>x = 5</a:t>
            </a:r>
            <a:endParaRPr lang="en-US" sz="1800" dirty="0"/>
          </a:p>
        </p:txBody>
      </p:sp>
      <p:sp>
        <p:nvSpPr>
          <p:cNvPr id="16" name="Text 14"/>
          <p:cNvSpPr/>
          <p:nvPr/>
        </p:nvSpPr>
        <p:spPr>
          <a:xfrm>
            <a:off x="4206240" y="4114800"/>
            <a:ext cx="7223760" cy="77724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Simplify both sides.</a:t>
            </a:r>
            <a:endParaRPr lang="en-US" sz="1400" dirty="0"/>
          </a:p>
        </p:txBody>
      </p:sp>
      <p:sp>
        <p:nvSpPr>
          <p:cNvPr id="17" name="Shape 15"/>
          <p:cNvSpPr/>
          <p:nvPr/>
        </p:nvSpPr>
        <p:spPr>
          <a:xfrm>
            <a:off x="457200" y="5029200"/>
            <a:ext cx="11247120" cy="777240"/>
          </a:xfrm>
          <a:prstGeom prst="roundRect">
            <a:avLst>
              <a:gd name="adj" fmla="val 9412"/>
            </a:avLst>
          </a:prstGeom>
          <a:solidFill>
            <a:srgbClr val="E8FBF3"/>
          </a:solidFill>
          <a:ln w="9525">
            <a:solidFill>
              <a:srgbClr val="E5E7EB"/>
            </a:solidFill>
            <a:prstDash val="solid"/>
          </a:ln>
        </p:spPr>
        <p:txBody>
          <a:bodyPr/>
          <a:lstStyle/>
          <a:p>
            <a:endParaRPr lang="en-AU"/>
          </a:p>
        </p:txBody>
      </p:sp>
      <p:sp>
        <p:nvSpPr>
          <p:cNvPr id="18" name="Text 16"/>
          <p:cNvSpPr/>
          <p:nvPr/>
        </p:nvSpPr>
        <p:spPr>
          <a:xfrm>
            <a:off x="731520" y="5029200"/>
            <a:ext cx="3291840" cy="777240"/>
          </a:xfrm>
          <a:prstGeom prst="rect">
            <a:avLst/>
          </a:prstGeom>
          <a:noFill/>
          <a:ln/>
        </p:spPr>
        <p:txBody>
          <a:bodyPr wrap="square" lIns="0" tIns="0" rIns="0" bIns="0" rtlCol="0" anchor="ctr"/>
          <a:lstStyle/>
          <a:p>
            <a:pPr marL="0" indent="0">
              <a:buNone/>
            </a:pPr>
            <a:r>
              <a:rPr lang="en-US" sz="1800" b="1" dirty="0">
                <a:solidFill>
                  <a:srgbClr val="10B981"/>
                </a:solidFill>
                <a:latin typeface="Courier New" pitchFamily="34" charset="0"/>
                <a:ea typeface="Courier New" pitchFamily="34" charset="-122"/>
                <a:cs typeface="Courier New" pitchFamily="34" charset="-120"/>
              </a:rPr>
              <a:t>Check: 5 + 7 = 12  ✓</a:t>
            </a:r>
            <a:endParaRPr lang="en-US" sz="1800" dirty="0"/>
          </a:p>
        </p:txBody>
      </p:sp>
      <p:sp>
        <p:nvSpPr>
          <p:cNvPr id="19" name="Text 17"/>
          <p:cNvSpPr/>
          <p:nvPr/>
        </p:nvSpPr>
        <p:spPr>
          <a:xfrm>
            <a:off x="4206240" y="5029200"/>
            <a:ext cx="7223760" cy="77724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Substitute x = 5 back into the original equation.</a:t>
            </a:r>
            <a:endParaRPr lang="en-US" sz="1400" dirty="0"/>
          </a:p>
        </p:txBody>
      </p:sp>
      <p:sp>
        <p:nvSpPr>
          <p:cNvPr id="20" name="Text 18"/>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21" name="Text 19"/>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4361EE"/>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EXPLICIT</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Balance Method — Worked Example 2</a:t>
            </a:r>
            <a:endParaRPr lang="en-US" sz="3200" dirty="0"/>
          </a:p>
        </p:txBody>
      </p:sp>
      <p:sp>
        <p:nvSpPr>
          <p:cNvPr id="7" name="Text 5"/>
          <p:cNvSpPr/>
          <p:nvPr/>
        </p:nvSpPr>
        <p:spPr>
          <a:xfrm>
            <a:off x="457200" y="1600200"/>
            <a:ext cx="7315200" cy="457200"/>
          </a:xfrm>
          <a:prstGeom prst="rect">
            <a:avLst/>
          </a:prstGeom>
          <a:noFill/>
          <a:ln/>
        </p:spPr>
        <p:txBody>
          <a:bodyPr wrap="square" lIns="0" tIns="0" rIns="0" bIns="0" rtlCol="0" anchor="ctr"/>
          <a:lstStyle/>
          <a:p>
            <a:pPr marL="0" indent="0">
              <a:buNone/>
            </a:pPr>
            <a:r>
              <a:rPr lang="en-US" sz="2400" b="1" dirty="0">
                <a:solidFill>
                  <a:srgbClr val="111827"/>
                </a:solidFill>
                <a:latin typeface="Courier New" pitchFamily="34" charset="0"/>
                <a:ea typeface="Courier New" pitchFamily="34" charset="-122"/>
                <a:cs typeface="Courier New" pitchFamily="34" charset="-120"/>
              </a:rPr>
              <a:t>Solve:  x − 4 = 9</a:t>
            </a:r>
            <a:endParaRPr lang="en-US" sz="2400" dirty="0"/>
          </a:p>
        </p:txBody>
      </p:sp>
      <p:sp>
        <p:nvSpPr>
          <p:cNvPr id="8" name="Shape 6"/>
          <p:cNvSpPr/>
          <p:nvPr/>
        </p:nvSpPr>
        <p:spPr>
          <a:xfrm>
            <a:off x="457200" y="2286000"/>
            <a:ext cx="11247120" cy="777240"/>
          </a:xfrm>
          <a:prstGeom prst="roundRect">
            <a:avLst>
              <a:gd name="adj" fmla="val 9412"/>
            </a:avLst>
          </a:prstGeom>
          <a:solidFill>
            <a:srgbClr val="FAFBFF"/>
          </a:solidFill>
          <a:ln w="9525">
            <a:solidFill>
              <a:srgbClr val="E5E7EB"/>
            </a:solidFill>
            <a:prstDash val="solid"/>
          </a:ln>
        </p:spPr>
        <p:txBody>
          <a:bodyPr/>
          <a:lstStyle/>
          <a:p>
            <a:endParaRPr lang="en-AU"/>
          </a:p>
        </p:txBody>
      </p:sp>
      <p:sp>
        <p:nvSpPr>
          <p:cNvPr id="9" name="Text 7"/>
          <p:cNvSpPr/>
          <p:nvPr/>
        </p:nvSpPr>
        <p:spPr>
          <a:xfrm>
            <a:off x="731520" y="2286000"/>
            <a:ext cx="3291840" cy="777240"/>
          </a:xfrm>
          <a:prstGeom prst="rect">
            <a:avLst/>
          </a:prstGeom>
          <a:noFill/>
          <a:ln/>
        </p:spPr>
        <p:txBody>
          <a:bodyPr wrap="square" lIns="0" tIns="0" rIns="0" bIns="0" rtlCol="0" anchor="ctr"/>
          <a:lstStyle/>
          <a:p>
            <a:pPr marL="0" indent="0">
              <a:buNone/>
            </a:pPr>
            <a:r>
              <a:rPr lang="en-US" sz="1800" b="1" dirty="0">
                <a:solidFill>
                  <a:srgbClr val="111827"/>
                </a:solidFill>
                <a:latin typeface="Courier New" pitchFamily="34" charset="0"/>
                <a:ea typeface="Courier New" pitchFamily="34" charset="-122"/>
                <a:cs typeface="Courier New" pitchFamily="34" charset="-120"/>
              </a:rPr>
              <a:t>x − 4 = 9</a:t>
            </a:r>
            <a:endParaRPr lang="en-US" sz="1800" dirty="0"/>
          </a:p>
        </p:txBody>
      </p:sp>
      <p:sp>
        <p:nvSpPr>
          <p:cNvPr id="10" name="Text 8"/>
          <p:cNvSpPr/>
          <p:nvPr/>
        </p:nvSpPr>
        <p:spPr>
          <a:xfrm>
            <a:off x="4206240" y="2286000"/>
            <a:ext cx="7223760" cy="77724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Start with the equation.</a:t>
            </a:r>
            <a:endParaRPr lang="en-US" sz="1400" dirty="0"/>
          </a:p>
        </p:txBody>
      </p:sp>
      <p:sp>
        <p:nvSpPr>
          <p:cNvPr id="11" name="Shape 9"/>
          <p:cNvSpPr/>
          <p:nvPr/>
        </p:nvSpPr>
        <p:spPr>
          <a:xfrm>
            <a:off x="457200" y="3200400"/>
            <a:ext cx="11247120" cy="777240"/>
          </a:xfrm>
          <a:prstGeom prst="roundRect">
            <a:avLst>
              <a:gd name="adj" fmla="val 9412"/>
            </a:avLst>
          </a:prstGeom>
          <a:solidFill>
            <a:srgbClr val="FFFFFF"/>
          </a:solidFill>
          <a:ln w="9525">
            <a:solidFill>
              <a:srgbClr val="E5E7EB"/>
            </a:solidFill>
            <a:prstDash val="solid"/>
          </a:ln>
        </p:spPr>
        <p:txBody>
          <a:bodyPr/>
          <a:lstStyle/>
          <a:p>
            <a:endParaRPr lang="en-AU"/>
          </a:p>
        </p:txBody>
      </p:sp>
      <p:sp>
        <p:nvSpPr>
          <p:cNvPr id="12" name="Text 10"/>
          <p:cNvSpPr/>
          <p:nvPr/>
        </p:nvSpPr>
        <p:spPr>
          <a:xfrm>
            <a:off x="731520" y="3200400"/>
            <a:ext cx="3291840" cy="777240"/>
          </a:xfrm>
          <a:prstGeom prst="rect">
            <a:avLst/>
          </a:prstGeom>
          <a:noFill/>
          <a:ln/>
        </p:spPr>
        <p:txBody>
          <a:bodyPr wrap="square" lIns="0" tIns="0" rIns="0" bIns="0" rtlCol="0" anchor="ctr"/>
          <a:lstStyle/>
          <a:p>
            <a:pPr marL="0" indent="0">
              <a:buNone/>
            </a:pPr>
            <a:r>
              <a:rPr lang="en-US" sz="1800" b="1" dirty="0">
                <a:solidFill>
                  <a:srgbClr val="111827"/>
                </a:solidFill>
                <a:latin typeface="Courier New" pitchFamily="34" charset="0"/>
                <a:ea typeface="Courier New" pitchFamily="34" charset="-122"/>
                <a:cs typeface="Courier New" pitchFamily="34" charset="-120"/>
              </a:rPr>
              <a:t>x − 4 + 4 = 9 + 4</a:t>
            </a:r>
            <a:endParaRPr lang="en-US" sz="1800" dirty="0"/>
          </a:p>
        </p:txBody>
      </p:sp>
      <p:sp>
        <p:nvSpPr>
          <p:cNvPr id="13" name="Text 11"/>
          <p:cNvSpPr/>
          <p:nvPr/>
        </p:nvSpPr>
        <p:spPr>
          <a:xfrm>
            <a:off x="4206240" y="3200400"/>
            <a:ext cx="7223760" cy="77724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− 4 has been done to x, so ADD 4 to both sides (the inverse).</a:t>
            </a:r>
            <a:endParaRPr lang="en-US" sz="1400" dirty="0"/>
          </a:p>
        </p:txBody>
      </p:sp>
      <p:sp>
        <p:nvSpPr>
          <p:cNvPr id="14" name="Shape 12"/>
          <p:cNvSpPr/>
          <p:nvPr/>
        </p:nvSpPr>
        <p:spPr>
          <a:xfrm>
            <a:off x="457200" y="4114800"/>
            <a:ext cx="11247120" cy="777240"/>
          </a:xfrm>
          <a:prstGeom prst="roundRect">
            <a:avLst>
              <a:gd name="adj" fmla="val 9412"/>
            </a:avLst>
          </a:prstGeom>
          <a:solidFill>
            <a:srgbClr val="FAFBFF"/>
          </a:solidFill>
          <a:ln w="9525">
            <a:solidFill>
              <a:srgbClr val="E5E7EB"/>
            </a:solidFill>
            <a:prstDash val="solid"/>
          </a:ln>
        </p:spPr>
        <p:txBody>
          <a:bodyPr/>
          <a:lstStyle/>
          <a:p>
            <a:endParaRPr lang="en-AU"/>
          </a:p>
        </p:txBody>
      </p:sp>
      <p:sp>
        <p:nvSpPr>
          <p:cNvPr id="15" name="Text 13"/>
          <p:cNvSpPr/>
          <p:nvPr/>
        </p:nvSpPr>
        <p:spPr>
          <a:xfrm>
            <a:off x="731520" y="4114800"/>
            <a:ext cx="3291840" cy="777240"/>
          </a:xfrm>
          <a:prstGeom prst="rect">
            <a:avLst/>
          </a:prstGeom>
          <a:noFill/>
          <a:ln/>
        </p:spPr>
        <p:txBody>
          <a:bodyPr wrap="square" lIns="0" tIns="0" rIns="0" bIns="0" rtlCol="0" anchor="ctr"/>
          <a:lstStyle/>
          <a:p>
            <a:pPr marL="0" indent="0">
              <a:buNone/>
            </a:pPr>
            <a:r>
              <a:rPr lang="en-US" sz="1800" b="1" dirty="0">
                <a:solidFill>
                  <a:srgbClr val="111827"/>
                </a:solidFill>
                <a:latin typeface="Courier New" pitchFamily="34" charset="0"/>
                <a:ea typeface="Courier New" pitchFamily="34" charset="-122"/>
                <a:cs typeface="Courier New" pitchFamily="34" charset="-120"/>
              </a:rPr>
              <a:t>x = 13</a:t>
            </a:r>
            <a:endParaRPr lang="en-US" sz="1800" dirty="0"/>
          </a:p>
        </p:txBody>
      </p:sp>
      <p:sp>
        <p:nvSpPr>
          <p:cNvPr id="16" name="Text 14"/>
          <p:cNvSpPr/>
          <p:nvPr/>
        </p:nvSpPr>
        <p:spPr>
          <a:xfrm>
            <a:off x="4206240" y="4114800"/>
            <a:ext cx="7223760" cy="77724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Simplify both sides.</a:t>
            </a:r>
            <a:endParaRPr lang="en-US" sz="1400" dirty="0"/>
          </a:p>
        </p:txBody>
      </p:sp>
      <p:sp>
        <p:nvSpPr>
          <p:cNvPr id="17" name="Shape 15"/>
          <p:cNvSpPr/>
          <p:nvPr/>
        </p:nvSpPr>
        <p:spPr>
          <a:xfrm>
            <a:off x="457200" y="5029200"/>
            <a:ext cx="11247120" cy="777240"/>
          </a:xfrm>
          <a:prstGeom prst="roundRect">
            <a:avLst>
              <a:gd name="adj" fmla="val 9412"/>
            </a:avLst>
          </a:prstGeom>
          <a:solidFill>
            <a:srgbClr val="E8FBF3"/>
          </a:solidFill>
          <a:ln w="9525">
            <a:solidFill>
              <a:srgbClr val="E5E7EB"/>
            </a:solidFill>
            <a:prstDash val="solid"/>
          </a:ln>
        </p:spPr>
        <p:txBody>
          <a:bodyPr/>
          <a:lstStyle/>
          <a:p>
            <a:endParaRPr lang="en-AU"/>
          </a:p>
        </p:txBody>
      </p:sp>
      <p:sp>
        <p:nvSpPr>
          <p:cNvPr id="18" name="Text 16"/>
          <p:cNvSpPr/>
          <p:nvPr/>
        </p:nvSpPr>
        <p:spPr>
          <a:xfrm>
            <a:off x="731520" y="5029200"/>
            <a:ext cx="3291840" cy="777240"/>
          </a:xfrm>
          <a:prstGeom prst="rect">
            <a:avLst/>
          </a:prstGeom>
          <a:noFill/>
          <a:ln/>
        </p:spPr>
        <p:txBody>
          <a:bodyPr wrap="square" lIns="0" tIns="0" rIns="0" bIns="0" rtlCol="0" anchor="ctr"/>
          <a:lstStyle/>
          <a:p>
            <a:pPr marL="0" indent="0">
              <a:buNone/>
            </a:pPr>
            <a:r>
              <a:rPr lang="en-US" sz="1800" b="1" dirty="0">
                <a:solidFill>
                  <a:srgbClr val="10B981"/>
                </a:solidFill>
                <a:latin typeface="Courier New" pitchFamily="34" charset="0"/>
                <a:ea typeface="Courier New" pitchFamily="34" charset="-122"/>
                <a:cs typeface="Courier New" pitchFamily="34" charset="-120"/>
              </a:rPr>
              <a:t>Check: 13 − 4 = 9  ✓</a:t>
            </a:r>
            <a:endParaRPr lang="en-US" sz="1800" dirty="0"/>
          </a:p>
        </p:txBody>
      </p:sp>
      <p:sp>
        <p:nvSpPr>
          <p:cNvPr id="19" name="Text 17"/>
          <p:cNvSpPr/>
          <p:nvPr/>
        </p:nvSpPr>
        <p:spPr>
          <a:xfrm>
            <a:off x="4206240" y="5029200"/>
            <a:ext cx="7223760" cy="77724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Substitute x = 13 back into the original equation.</a:t>
            </a:r>
            <a:endParaRPr lang="en-US" sz="1400" dirty="0"/>
          </a:p>
        </p:txBody>
      </p:sp>
      <p:sp>
        <p:nvSpPr>
          <p:cNvPr id="20" name="Text 18"/>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21" name="Text 19"/>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4361EE"/>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EXPLICIT</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Balance Method — Worked Example 3</a:t>
            </a:r>
            <a:endParaRPr lang="en-US" sz="3200" dirty="0"/>
          </a:p>
        </p:txBody>
      </p:sp>
      <p:sp>
        <p:nvSpPr>
          <p:cNvPr id="7" name="Text 5"/>
          <p:cNvSpPr/>
          <p:nvPr/>
        </p:nvSpPr>
        <p:spPr>
          <a:xfrm>
            <a:off x="457200" y="1600200"/>
            <a:ext cx="7315200" cy="457200"/>
          </a:xfrm>
          <a:prstGeom prst="rect">
            <a:avLst/>
          </a:prstGeom>
          <a:noFill/>
          <a:ln/>
        </p:spPr>
        <p:txBody>
          <a:bodyPr wrap="square" lIns="0" tIns="0" rIns="0" bIns="0" rtlCol="0" anchor="ctr"/>
          <a:lstStyle/>
          <a:p>
            <a:pPr marL="0" indent="0">
              <a:buNone/>
            </a:pPr>
            <a:r>
              <a:rPr lang="en-US" sz="2400" b="1" dirty="0">
                <a:solidFill>
                  <a:srgbClr val="111827"/>
                </a:solidFill>
                <a:latin typeface="Courier New" pitchFamily="34" charset="0"/>
                <a:ea typeface="Courier New" pitchFamily="34" charset="-122"/>
                <a:cs typeface="Courier New" pitchFamily="34" charset="-120"/>
              </a:rPr>
              <a:t>Solve:  3x = 15</a:t>
            </a:r>
            <a:endParaRPr lang="en-US" sz="2400" dirty="0"/>
          </a:p>
        </p:txBody>
      </p:sp>
      <p:sp>
        <p:nvSpPr>
          <p:cNvPr id="8" name="Shape 6"/>
          <p:cNvSpPr/>
          <p:nvPr/>
        </p:nvSpPr>
        <p:spPr>
          <a:xfrm>
            <a:off x="457200" y="2286000"/>
            <a:ext cx="11247120" cy="777240"/>
          </a:xfrm>
          <a:prstGeom prst="roundRect">
            <a:avLst>
              <a:gd name="adj" fmla="val 9412"/>
            </a:avLst>
          </a:prstGeom>
          <a:solidFill>
            <a:srgbClr val="FAFBFF"/>
          </a:solidFill>
          <a:ln w="9525">
            <a:solidFill>
              <a:srgbClr val="E5E7EB"/>
            </a:solidFill>
            <a:prstDash val="solid"/>
          </a:ln>
        </p:spPr>
        <p:txBody>
          <a:bodyPr/>
          <a:lstStyle/>
          <a:p>
            <a:endParaRPr lang="en-AU"/>
          </a:p>
        </p:txBody>
      </p:sp>
      <p:sp>
        <p:nvSpPr>
          <p:cNvPr id="9" name="Text 7"/>
          <p:cNvSpPr/>
          <p:nvPr/>
        </p:nvSpPr>
        <p:spPr>
          <a:xfrm>
            <a:off x="731520" y="2286000"/>
            <a:ext cx="3291840" cy="777240"/>
          </a:xfrm>
          <a:prstGeom prst="rect">
            <a:avLst/>
          </a:prstGeom>
          <a:noFill/>
          <a:ln/>
        </p:spPr>
        <p:txBody>
          <a:bodyPr wrap="square" lIns="0" tIns="0" rIns="0" bIns="0" rtlCol="0" anchor="ctr"/>
          <a:lstStyle/>
          <a:p>
            <a:pPr marL="0" indent="0">
              <a:buNone/>
            </a:pPr>
            <a:r>
              <a:rPr lang="en-US" sz="1800" b="1" dirty="0">
                <a:solidFill>
                  <a:srgbClr val="111827"/>
                </a:solidFill>
                <a:latin typeface="Courier New" pitchFamily="34" charset="0"/>
                <a:ea typeface="Courier New" pitchFamily="34" charset="-122"/>
                <a:cs typeface="Courier New" pitchFamily="34" charset="-120"/>
              </a:rPr>
              <a:t>3x = 15</a:t>
            </a:r>
            <a:endParaRPr lang="en-US" sz="1800" dirty="0"/>
          </a:p>
        </p:txBody>
      </p:sp>
      <p:sp>
        <p:nvSpPr>
          <p:cNvPr id="10" name="Text 8"/>
          <p:cNvSpPr/>
          <p:nvPr/>
        </p:nvSpPr>
        <p:spPr>
          <a:xfrm>
            <a:off x="4206240" y="2286000"/>
            <a:ext cx="7223760" cy="77724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Start with the equation. Remember 3x means 3 × x.</a:t>
            </a:r>
            <a:endParaRPr lang="en-US" sz="1400" dirty="0"/>
          </a:p>
        </p:txBody>
      </p:sp>
      <p:sp>
        <p:nvSpPr>
          <p:cNvPr id="11" name="Shape 9"/>
          <p:cNvSpPr/>
          <p:nvPr/>
        </p:nvSpPr>
        <p:spPr>
          <a:xfrm>
            <a:off x="457200" y="3200400"/>
            <a:ext cx="11247120" cy="777240"/>
          </a:xfrm>
          <a:prstGeom prst="roundRect">
            <a:avLst>
              <a:gd name="adj" fmla="val 9412"/>
            </a:avLst>
          </a:prstGeom>
          <a:solidFill>
            <a:srgbClr val="FFFFFF"/>
          </a:solidFill>
          <a:ln w="9525">
            <a:solidFill>
              <a:srgbClr val="E5E7EB"/>
            </a:solidFill>
            <a:prstDash val="solid"/>
          </a:ln>
        </p:spPr>
        <p:txBody>
          <a:bodyPr/>
          <a:lstStyle/>
          <a:p>
            <a:endParaRPr lang="en-AU"/>
          </a:p>
        </p:txBody>
      </p:sp>
      <p:sp>
        <p:nvSpPr>
          <p:cNvPr id="12" name="Text 10"/>
          <p:cNvSpPr/>
          <p:nvPr/>
        </p:nvSpPr>
        <p:spPr>
          <a:xfrm>
            <a:off x="731520" y="3200400"/>
            <a:ext cx="3291840" cy="777240"/>
          </a:xfrm>
          <a:prstGeom prst="rect">
            <a:avLst/>
          </a:prstGeom>
          <a:noFill/>
          <a:ln/>
        </p:spPr>
        <p:txBody>
          <a:bodyPr wrap="square" lIns="0" tIns="0" rIns="0" bIns="0" rtlCol="0" anchor="ctr"/>
          <a:lstStyle/>
          <a:p>
            <a:pPr marL="0" indent="0">
              <a:buNone/>
            </a:pPr>
            <a:r>
              <a:rPr lang="en-US" sz="1800" b="1" dirty="0">
                <a:solidFill>
                  <a:srgbClr val="111827"/>
                </a:solidFill>
                <a:latin typeface="Courier New" pitchFamily="34" charset="0"/>
                <a:ea typeface="Courier New" pitchFamily="34" charset="-122"/>
                <a:cs typeface="Courier New" pitchFamily="34" charset="-120"/>
              </a:rPr>
              <a:t>3x ÷ 3 = 15 ÷ 3</a:t>
            </a:r>
            <a:endParaRPr lang="en-US" sz="1800" dirty="0"/>
          </a:p>
        </p:txBody>
      </p:sp>
      <p:sp>
        <p:nvSpPr>
          <p:cNvPr id="13" name="Text 11"/>
          <p:cNvSpPr/>
          <p:nvPr/>
        </p:nvSpPr>
        <p:spPr>
          <a:xfrm>
            <a:off x="4206240" y="3200400"/>
            <a:ext cx="7223760" cy="77724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x has been multiplied by 3, so DIVIDE both sides by 3.</a:t>
            </a:r>
            <a:endParaRPr lang="en-US" sz="1400" dirty="0"/>
          </a:p>
        </p:txBody>
      </p:sp>
      <p:sp>
        <p:nvSpPr>
          <p:cNvPr id="14" name="Shape 12"/>
          <p:cNvSpPr/>
          <p:nvPr/>
        </p:nvSpPr>
        <p:spPr>
          <a:xfrm>
            <a:off x="457200" y="4114800"/>
            <a:ext cx="11247120" cy="777240"/>
          </a:xfrm>
          <a:prstGeom prst="roundRect">
            <a:avLst>
              <a:gd name="adj" fmla="val 9412"/>
            </a:avLst>
          </a:prstGeom>
          <a:solidFill>
            <a:srgbClr val="FAFBFF"/>
          </a:solidFill>
          <a:ln w="9525">
            <a:solidFill>
              <a:srgbClr val="E5E7EB"/>
            </a:solidFill>
            <a:prstDash val="solid"/>
          </a:ln>
        </p:spPr>
        <p:txBody>
          <a:bodyPr/>
          <a:lstStyle/>
          <a:p>
            <a:endParaRPr lang="en-AU"/>
          </a:p>
        </p:txBody>
      </p:sp>
      <p:sp>
        <p:nvSpPr>
          <p:cNvPr id="15" name="Text 13"/>
          <p:cNvSpPr/>
          <p:nvPr/>
        </p:nvSpPr>
        <p:spPr>
          <a:xfrm>
            <a:off x="731520" y="4114800"/>
            <a:ext cx="3291840" cy="777240"/>
          </a:xfrm>
          <a:prstGeom prst="rect">
            <a:avLst/>
          </a:prstGeom>
          <a:noFill/>
          <a:ln/>
        </p:spPr>
        <p:txBody>
          <a:bodyPr wrap="square" lIns="0" tIns="0" rIns="0" bIns="0" rtlCol="0" anchor="ctr"/>
          <a:lstStyle/>
          <a:p>
            <a:pPr marL="0" indent="0">
              <a:buNone/>
            </a:pPr>
            <a:r>
              <a:rPr lang="en-US" sz="1800" b="1" dirty="0">
                <a:solidFill>
                  <a:srgbClr val="111827"/>
                </a:solidFill>
                <a:latin typeface="Courier New" pitchFamily="34" charset="0"/>
                <a:ea typeface="Courier New" pitchFamily="34" charset="-122"/>
                <a:cs typeface="Courier New" pitchFamily="34" charset="-120"/>
              </a:rPr>
              <a:t>x = 5</a:t>
            </a:r>
            <a:endParaRPr lang="en-US" sz="1800" dirty="0"/>
          </a:p>
        </p:txBody>
      </p:sp>
      <p:sp>
        <p:nvSpPr>
          <p:cNvPr id="16" name="Text 14"/>
          <p:cNvSpPr/>
          <p:nvPr/>
        </p:nvSpPr>
        <p:spPr>
          <a:xfrm>
            <a:off x="4206240" y="4114800"/>
            <a:ext cx="7223760" cy="77724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Simplify both sides.</a:t>
            </a:r>
            <a:endParaRPr lang="en-US" sz="1400" dirty="0"/>
          </a:p>
        </p:txBody>
      </p:sp>
      <p:sp>
        <p:nvSpPr>
          <p:cNvPr id="17" name="Shape 15"/>
          <p:cNvSpPr/>
          <p:nvPr/>
        </p:nvSpPr>
        <p:spPr>
          <a:xfrm>
            <a:off x="457200" y="5029200"/>
            <a:ext cx="11247120" cy="777240"/>
          </a:xfrm>
          <a:prstGeom prst="roundRect">
            <a:avLst>
              <a:gd name="adj" fmla="val 9412"/>
            </a:avLst>
          </a:prstGeom>
          <a:solidFill>
            <a:srgbClr val="E8FBF3"/>
          </a:solidFill>
          <a:ln w="9525">
            <a:solidFill>
              <a:srgbClr val="E5E7EB"/>
            </a:solidFill>
            <a:prstDash val="solid"/>
          </a:ln>
        </p:spPr>
        <p:txBody>
          <a:bodyPr/>
          <a:lstStyle/>
          <a:p>
            <a:endParaRPr lang="en-AU"/>
          </a:p>
        </p:txBody>
      </p:sp>
      <p:sp>
        <p:nvSpPr>
          <p:cNvPr id="18" name="Text 16"/>
          <p:cNvSpPr/>
          <p:nvPr/>
        </p:nvSpPr>
        <p:spPr>
          <a:xfrm>
            <a:off x="731520" y="5029200"/>
            <a:ext cx="3291840" cy="777240"/>
          </a:xfrm>
          <a:prstGeom prst="rect">
            <a:avLst/>
          </a:prstGeom>
          <a:noFill/>
          <a:ln/>
        </p:spPr>
        <p:txBody>
          <a:bodyPr wrap="square" lIns="0" tIns="0" rIns="0" bIns="0" rtlCol="0" anchor="ctr"/>
          <a:lstStyle/>
          <a:p>
            <a:pPr marL="0" indent="0">
              <a:buNone/>
            </a:pPr>
            <a:r>
              <a:rPr lang="en-US" sz="1800" b="1" dirty="0">
                <a:solidFill>
                  <a:srgbClr val="10B981"/>
                </a:solidFill>
                <a:latin typeface="Courier New" pitchFamily="34" charset="0"/>
                <a:ea typeface="Courier New" pitchFamily="34" charset="-122"/>
                <a:cs typeface="Courier New" pitchFamily="34" charset="-120"/>
              </a:rPr>
              <a:t>Check: 3 × 5 = 15  ✓</a:t>
            </a:r>
            <a:endParaRPr lang="en-US" sz="1800" dirty="0"/>
          </a:p>
        </p:txBody>
      </p:sp>
      <p:sp>
        <p:nvSpPr>
          <p:cNvPr id="19" name="Text 17"/>
          <p:cNvSpPr/>
          <p:nvPr/>
        </p:nvSpPr>
        <p:spPr>
          <a:xfrm>
            <a:off x="4206240" y="5029200"/>
            <a:ext cx="7223760" cy="77724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Substitute x = 5 back into the original equation.</a:t>
            </a:r>
            <a:endParaRPr lang="en-US" sz="1400" dirty="0"/>
          </a:p>
        </p:txBody>
      </p:sp>
      <p:sp>
        <p:nvSpPr>
          <p:cNvPr id="20" name="Text 18"/>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21" name="Text 19"/>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4361EE"/>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EXPLICIT</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Balance Method — Worked Example 4</a:t>
            </a:r>
            <a:endParaRPr lang="en-US" sz="3200" dirty="0"/>
          </a:p>
        </p:txBody>
      </p:sp>
      <p:sp>
        <p:nvSpPr>
          <p:cNvPr id="7" name="Text 5"/>
          <p:cNvSpPr/>
          <p:nvPr/>
        </p:nvSpPr>
        <p:spPr>
          <a:xfrm>
            <a:off x="457200" y="1600200"/>
            <a:ext cx="7315200" cy="457200"/>
          </a:xfrm>
          <a:prstGeom prst="rect">
            <a:avLst/>
          </a:prstGeom>
          <a:noFill/>
          <a:ln/>
        </p:spPr>
        <p:txBody>
          <a:bodyPr wrap="square" lIns="0" tIns="0" rIns="0" bIns="0" rtlCol="0" anchor="ctr"/>
          <a:lstStyle/>
          <a:p>
            <a:pPr marL="0" indent="0">
              <a:buNone/>
            </a:pPr>
            <a:r>
              <a:rPr lang="en-US" sz="2400" b="1" dirty="0">
                <a:solidFill>
                  <a:srgbClr val="111827"/>
                </a:solidFill>
                <a:latin typeface="Courier New" pitchFamily="34" charset="0"/>
                <a:ea typeface="Courier New" pitchFamily="34" charset="-122"/>
                <a:cs typeface="Courier New" pitchFamily="34" charset="-120"/>
              </a:rPr>
              <a:t>Solve:  x ÷ 5 = 4</a:t>
            </a:r>
            <a:endParaRPr lang="en-US" sz="2400" dirty="0"/>
          </a:p>
        </p:txBody>
      </p:sp>
      <p:sp>
        <p:nvSpPr>
          <p:cNvPr id="8" name="Shape 6"/>
          <p:cNvSpPr/>
          <p:nvPr/>
        </p:nvSpPr>
        <p:spPr>
          <a:xfrm>
            <a:off x="457200" y="2286000"/>
            <a:ext cx="11247120" cy="777240"/>
          </a:xfrm>
          <a:prstGeom prst="roundRect">
            <a:avLst>
              <a:gd name="adj" fmla="val 9412"/>
            </a:avLst>
          </a:prstGeom>
          <a:solidFill>
            <a:srgbClr val="FAFBFF"/>
          </a:solidFill>
          <a:ln w="9525">
            <a:solidFill>
              <a:srgbClr val="E5E7EB"/>
            </a:solidFill>
            <a:prstDash val="solid"/>
          </a:ln>
        </p:spPr>
        <p:txBody>
          <a:bodyPr/>
          <a:lstStyle/>
          <a:p>
            <a:endParaRPr lang="en-AU"/>
          </a:p>
        </p:txBody>
      </p:sp>
      <p:sp>
        <p:nvSpPr>
          <p:cNvPr id="9" name="Text 7"/>
          <p:cNvSpPr/>
          <p:nvPr/>
        </p:nvSpPr>
        <p:spPr>
          <a:xfrm>
            <a:off x="731520" y="2286000"/>
            <a:ext cx="3291840" cy="777240"/>
          </a:xfrm>
          <a:prstGeom prst="rect">
            <a:avLst/>
          </a:prstGeom>
          <a:noFill/>
          <a:ln/>
        </p:spPr>
        <p:txBody>
          <a:bodyPr wrap="square" lIns="0" tIns="0" rIns="0" bIns="0" rtlCol="0" anchor="ctr"/>
          <a:lstStyle/>
          <a:p>
            <a:pPr marL="0" indent="0">
              <a:buNone/>
            </a:pPr>
            <a:r>
              <a:rPr lang="en-US" sz="1800" b="1" dirty="0">
                <a:solidFill>
                  <a:srgbClr val="111827"/>
                </a:solidFill>
                <a:latin typeface="Courier New" pitchFamily="34" charset="0"/>
                <a:ea typeface="Courier New" pitchFamily="34" charset="-122"/>
                <a:cs typeface="Courier New" pitchFamily="34" charset="-120"/>
              </a:rPr>
              <a:t>x ÷ 5 = 4</a:t>
            </a:r>
            <a:endParaRPr lang="en-US" sz="1800" dirty="0"/>
          </a:p>
        </p:txBody>
      </p:sp>
      <p:sp>
        <p:nvSpPr>
          <p:cNvPr id="10" name="Text 8"/>
          <p:cNvSpPr/>
          <p:nvPr/>
        </p:nvSpPr>
        <p:spPr>
          <a:xfrm>
            <a:off x="4206240" y="2286000"/>
            <a:ext cx="7223760" cy="77724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Start with the equation.</a:t>
            </a:r>
            <a:endParaRPr lang="en-US" sz="1400" dirty="0"/>
          </a:p>
        </p:txBody>
      </p:sp>
      <p:sp>
        <p:nvSpPr>
          <p:cNvPr id="11" name="Shape 9"/>
          <p:cNvSpPr/>
          <p:nvPr/>
        </p:nvSpPr>
        <p:spPr>
          <a:xfrm>
            <a:off x="457200" y="3200400"/>
            <a:ext cx="11247120" cy="777240"/>
          </a:xfrm>
          <a:prstGeom prst="roundRect">
            <a:avLst>
              <a:gd name="adj" fmla="val 9412"/>
            </a:avLst>
          </a:prstGeom>
          <a:solidFill>
            <a:srgbClr val="FFFFFF"/>
          </a:solidFill>
          <a:ln w="9525">
            <a:solidFill>
              <a:srgbClr val="E5E7EB"/>
            </a:solidFill>
            <a:prstDash val="solid"/>
          </a:ln>
        </p:spPr>
        <p:txBody>
          <a:bodyPr/>
          <a:lstStyle/>
          <a:p>
            <a:endParaRPr lang="en-AU"/>
          </a:p>
        </p:txBody>
      </p:sp>
      <p:sp>
        <p:nvSpPr>
          <p:cNvPr id="12" name="Text 10"/>
          <p:cNvSpPr/>
          <p:nvPr/>
        </p:nvSpPr>
        <p:spPr>
          <a:xfrm>
            <a:off x="731520" y="3200400"/>
            <a:ext cx="3291840" cy="777240"/>
          </a:xfrm>
          <a:prstGeom prst="rect">
            <a:avLst/>
          </a:prstGeom>
          <a:noFill/>
          <a:ln/>
        </p:spPr>
        <p:txBody>
          <a:bodyPr wrap="square" lIns="0" tIns="0" rIns="0" bIns="0" rtlCol="0" anchor="ctr"/>
          <a:lstStyle/>
          <a:p>
            <a:pPr marL="0" indent="0">
              <a:buNone/>
            </a:pPr>
            <a:r>
              <a:rPr lang="en-US" sz="1800" b="1" dirty="0">
                <a:solidFill>
                  <a:srgbClr val="111827"/>
                </a:solidFill>
                <a:latin typeface="Courier New" pitchFamily="34" charset="0"/>
                <a:ea typeface="Courier New" pitchFamily="34" charset="-122"/>
                <a:cs typeface="Courier New" pitchFamily="34" charset="-120"/>
              </a:rPr>
              <a:t>x ÷ 5 × 5 = 4 × 5</a:t>
            </a:r>
            <a:endParaRPr lang="en-US" sz="1800" dirty="0"/>
          </a:p>
        </p:txBody>
      </p:sp>
      <p:sp>
        <p:nvSpPr>
          <p:cNvPr id="13" name="Text 11"/>
          <p:cNvSpPr/>
          <p:nvPr/>
        </p:nvSpPr>
        <p:spPr>
          <a:xfrm>
            <a:off x="4206240" y="3200400"/>
            <a:ext cx="7223760" cy="77724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x has been divided by 5, so MULTIPLY both sides by 5.</a:t>
            </a:r>
            <a:endParaRPr lang="en-US" sz="1400" dirty="0"/>
          </a:p>
        </p:txBody>
      </p:sp>
      <p:sp>
        <p:nvSpPr>
          <p:cNvPr id="14" name="Shape 12"/>
          <p:cNvSpPr/>
          <p:nvPr/>
        </p:nvSpPr>
        <p:spPr>
          <a:xfrm>
            <a:off x="457200" y="4114800"/>
            <a:ext cx="11247120" cy="777240"/>
          </a:xfrm>
          <a:prstGeom prst="roundRect">
            <a:avLst>
              <a:gd name="adj" fmla="val 9412"/>
            </a:avLst>
          </a:prstGeom>
          <a:solidFill>
            <a:srgbClr val="FAFBFF"/>
          </a:solidFill>
          <a:ln w="9525">
            <a:solidFill>
              <a:srgbClr val="E5E7EB"/>
            </a:solidFill>
            <a:prstDash val="solid"/>
          </a:ln>
        </p:spPr>
        <p:txBody>
          <a:bodyPr/>
          <a:lstStyle/>
          <a:p>
            <a:endParaRPr lang="en-AU"/>
          </a:p>
        </p:txBody>
      </p:sp>
      <p:sp>
        <p:nvSpPr>
          <p:cNvPr id="15" name="Text 13"/>
          <p:cNvSpPr/>
          <p:nvPr/>
        </p:nvSpPr>
        <p:spPr>
          <a:xfrm>
            <a:off x="731520" y="4114800"/>
            <a:ext cx="3291840" cy="777240"/>
          </a:xfrm>
          <a:prstGeom prst="rect">
            <a:avLst/>
          </a:prstGeom>
          <a:noFill/>
          <a:ln/>
        </p:spPr>
        <p:txBody>
          <a:bodyPr wrap="square" lIns="0" tIns="0" rIns="0" bIns="0" rtlCol="0" anchor="ctr"/>
          <a:lstStyle/>
          <a:p>
            <a:pPr marL="0" indent="0">
              <a:buNone/>
            </a:pPr>
            <a:r>
              <a:rPr lang="en-US" sz="1800" b="1" dirty="0">
                <a:solidFill>
                  <a:srgbClr val="111827"/>
                </a:solidFill>
                <a:latin typeface="Courier New" pitchFamily="34" charset="0"/>
                <a:ea typeface="Courier New" pitchFamily="34" charset="-122"/>
                <a:cs typeface="Courier New" pitchFamily="34" charset="-120"/>
              </a:rPr>
              <a:t>x = 20</a:t>
            </a:r>
            <a:endParaRPr lang="en-US" sz="1800" dirty="0"/>
          </a:p>
        </p:txBody>
      </p:sp>
      <p:sp>
        <p:nvSpPr>
          <p:cNvPr id="16" name="Text 14"/>
          <p:cNvSpPr/>
          <p:nvPr/>
        </p:nvSpPr>
        <p:spPr>
          <a:xfrm>
            <a:off x="4206240" y="4114800"/>
            <a:ext cx="7223760" cy="77724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Simplify both sides.</a:t>
            </a:r>
            <a:endParaRPr lang="en-US" sz="1400" dirty="0"/>
          </a:p>
        </p:txBody>
      </p:sp>
      <p:sp>
        <p:nvSpPr>
          <p:cNvPr id="17" name="Shape 15"/>
          <p:cNvSpPr/>
          <p:nvPr/>
        </p:nvSpPr>
        <p:spPr>
          <a:xfrm>
            <a:off x="457200" y="5029200"/>
            <a:ext cx="11247120" cy="777240"/>
          </a:xfrm>
          <a:prstGeom prst="roundRect">
            <a:avLst>
              <a:gd name="adj" fmla="val 9412"/>
            </a:avLst>
          </a:prstGeom>
          <a:solidFill>
            <a:srgbClr val="E8FBF3"/>
          </a:solidFill>
          <a:ln w="9525">
            <a:solidFill>
              <a:srgbClr val="E5E7EB"/>
            </a:solidFill>
            <a:prstDash val="solid"/>
          </a:ln>
        </p:spPr>
        <p:txBody>
          <a:bodyPr/>
          <a:lstStyle/>
          <a:p>
            <a:endParaRPr lang="en-AU"/>
          </a:p>
        </p:txBody>
      </p:sp>
      <p:sp>
        <p:nvSpPr>
          <p:cNvPr id="18" name="Text 16"/>
          <p:cNvSpPr/>
          <p:nvPr/>
        </p:nvSpPr>
        <p:spPr>
          <a:xfrm>
            <a:off x="731520" y="5029200"/>
            <a:ext cx="3291840" cy="777240"/>
          </a:xfrm>
          <a:prstGeom prst="rect">
            <a:avLst/>
          </a:prstGeom>
          <a:noFill/>
          <a:ln/>
        </p:spPr>
        <p:txBody>
          <a:bodyPr wrap="square" lIns="0" tIns="0" rIns="0" bIns="0" rtlCol="0" anchor="ctr"/>
          <a:lstStyle/>
          <a:p>
            <a:pPr marL="0" indent="0">
              <a:buNone/>
            </a:pPr>
            <a:r>
              <a:rPr lang="en-US" sz="1800" b="1" dirty="0">
                <a:solidFill>
                  <a:srgbClr val="10B981"/>
                </a:solidFill>
                <a:latin typeface="Courier New" pitchFamily="34" charset="0"/>
                <a:ea typeface="Courier New" pitchFamily="34" charset="-122"/>
                <a:cs typeface="Courier New" pitchFamily="34" charset="-120"/>
              </a:rPr>
              <a:t>Check: 20 ÷ 5 = 4  ✓</a:t>
            </a:r>
            <a:endParaRPr lang="en-US" sz="1800" dirty="0"/>
          </a:p>
        </p:txBody>
      </p:sp>
      <p:sp>
        <p:nvSpPr>
          <p:cNvPr id="19" name="Text 17"/>
          <p:cNvSpPr/>
          <p:nvPr/>
        </p:nvSpPr>
        <p:spPr>
          <a:xfrm>
            <a:off x="4206240" y="5029200"/>
            <a:ext cx="7223760" cy="77724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Substitute x = 20 back into the original equation.</a:t>
            </a:r>
            <a:endParaRPr lang="en-US" sz="1400" dirty="0"/>
          </a:p>
        </p:txBody>
      </p:sp>
      <p:sp>
        <p:nvSpPr>
          <p:cNvPr id="20" name="Text 18"/>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21" name="Text 19"/>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4361EE"/>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EXPLICIT</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Balance Method — The Steps</a:t>
            </a:r>
            <a:endParaRPr lang="en-US" sz="3200" dirty="0"/>
          </a:p>
        </p:txBody>
      </p:sp>
      <p:sp>
        <p:nvSpPr>
          <p:cNvPr id="7" name="Shape 5"/>
          <p:cNvSpPr/>
          <p:nvPr/>
        </p:nvSpPr>
        <p:spPr>
          <a:xfrm>
            <a:off x="457200" y="1600200"/>
            <a:ext cx="11247120" cy="365760"/>
          </a:xfrm>
          <a:prstGeom prst="roundRect">
            <a:avLst>
              <a:gd name="adj" fmla="val 15000"/>
            </a:avLst>
          </a:prstGeom>
          <a:solidFill>
            <a:srgbClr val="FEF6E7"/>
          </a:solidFill>
          <a:ln w="12700">
            <a:solidFill>
              <a:srgbClr val="F59E0B"/>
            </a:solidFill>
            <a:prstDash val="solid"/>
          </a:ln>
        </p:spPr>
        <p:txBody>
          <a:bodyPr/>
          <a:lstStyle/>
          <a:p>
            <a:endParaRPr lang="en-AU"/>
          </a:p>
        </p:txBody>
      </p:sp>
      <p:sp>
        <p:nvSpPr>
          <p:cNvPr id="8" name="Text 6"/>
          <p:cNvSpPr/>
          <p:nvPr/>
        </p:nvSpPr>
        <p:spPr>
          <a:xfrm>
            <a:off x="457200" y="1600200"/>
            <a:ext cx="11247120" cy="365760"/>
          </a:xfrm>
          <a:prstGeom prst="rect">
            <a:avLst/>
          </a:prstGeom>
          <a:noFill/>
          <a:ln/>
        </p:spPr>
        <p:txBody>
          <a:bodyPr wrap="square" lIns="0" tIns="0" rIns="0" bIns="0" rtlCol="0" anchor="ctr"/>
          <a:lstStyle/>
          <a:p>
            <a:pPr marL="0" indent="0" algn="ctr">
              <a:buNone/>
            </a:pPr>
            <a:r>
              <a:rPr lang="en-US" sz="1200" b="1" dirty="0">
                <a:solidFill>
                  <a:srgbClr val="92610A"/>
                </a:solidFill>
                <a:latin typeface="Courier New" pitchFamily="34" charset="0"/>
                <a:ea typeface="Courier New" pitchFamily="34" charset="-122"/>
                <a:cs typeface="Courier New" pitchFamily="34" charset="-120"/>
              </a:rPr>
              <a:t>📋 COPY THIS INTO YOUR NOTES</a:t>
            </a:r>
            <a:endParaRPr lang="en-US" sz="1200" dirty="0"/>
          </a:p>
        </p:txBody>
      </p:sp>
      <p:sp>
        <p:nvSpPr>
          <p:cNvPr id="9" name="Shape 7"/>
          <p:cNvSpPr/>
          <p:nvPr/>
        </p:nvSpPr>
        <p:spPr>
          <a:xfrm>
            <a:off x="548640" y="2194560"/>
            <a:ext cx="548640" cy="548640"/>
          </a:xfrm>
          <a:prstGeom prst="ellipse">
            <a:avLst/>
          </a:prstGeom>
          <a:solidFill>
            <a:srgbClr val="4361EE"/>
          </a:solidFill>
          <a:ln/>
        </p:spPr>
        <p:txBody>
          <a:bodyPr/>
          <a:lstStyle/>
          <a:p>
            <a:endParaRPr lang="en-AU"/>
          </a:p>
        </p:txBody>
      </p:sp>
      <p:sp>
        <p:nvSpPr>
          <p:cNvPr id="10" name="Text 8"/>
          <p:cNvSpPr/>
          <p:nvPr/>
        </p:nvSpPr>
        <p:spPr>
          <a:xfrm>
            <a:off x="548640" y="21945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1</a:t>
            </a:r>
            <a:endParaRPr lang="en-US" sz="2000" dirty="0"/>
          </a:p>
        </p:txBody>
      </p:sp>
      <p:sp>
        <p:nvSpPr>
          <p:cNvPr id="11" name="Shape 9"/>
          <p:cNvSpPr/>
          <p:nvPr/>
        </p:nvSpPr>
        <p:spPr>
          <a:xfrm>
            <a:off x="1280160" y="2148840"/>
            <a:ext cx="10424160" cy="640080"/>
          </a:xfrm>
          <a:prstGeom prst="roundRect">
            <a:avLst>
              <a:gd name="adj" fmla="val 11429"/>
            </a:avLst>
          </a:prstGeom>
          <a:solidFill>
            <a:srgbClr val="FAFBFF"/>
          </a:solidFill>
          <a:ln w="9525">
            <a:solidFill>
              <a:srgbClr val="E5E7EB"/>
            </a:solidFill>
            <a:prstDash val="solid"/>
          </a:ln>
        </p:spPr>
        <p:txBody>
          <a:bodyPr/>
          <a:lstStyle/>
          <a:p>
            <a:endParaRPr lang="en-AU"/>
          </a:p>
        </p:txBody>
      </p:sp>
      <p:sp>
        <p:nvSpPr>
          <p:cNvPr id="12" name="Text 10"/>
          <p:cNvSpPr/>
          <p:nvPr/>
        </p:nvSpPr>
        <p:spPr>
          <a:xfrm>
            <a:off x="1508760" y="2148840"/>
            <a:ext cx="9966960" cy="640080"/>
          </a:xfrm>
          <a:prstGeom prst="rect">
            <a:avLst/>
          </a:prstGeom>
          <a:noFill/>
          <a:ln/>
        </p:spPr>
        <p:txBody>
          <a:bodyPr wrap="square" lIns="0" tIns="0" rIns="0" bIns="0" rtlCol="0" anchor="ctr"/>
          <a:lstStyle/>
          <a:p>
            <a:pPr marL="0" indent="0">
              <a:buNone/>
            </a:pPr>
            <a:r>
              <a:rPr lang="en-US" sz="1800" dirty="0">
                <a:solidFill>
                  <a:srgbClr val="111827"/>
                </a:solidFill>
                <a:latin typeface="Calibri" pitchFamily="34" charset="0"/>
                <a:ea typeface="Calibri" pitchFamily="34" charset="-122"/>
                <a:cs typeface="Calibri" pitchFamily="34" charset="-120"/>
              </a:rPr>
              <a:t>Identify what operation has been done to x.</a:t>
            </a:r>
            <a:endParaRPr lang="en-US" sz="1800" dirty="0"/>
          </a:p>
        </p:txBody>
      </p:sp>
      <p:sp>
        <p:nvSpPr>
          <p:cNvPr id="13" name="Shape 11"/>
          <p:cNvSpPr/>
          <p:nvPr/>
        </p:nvSpPr>
        <p:spPr>
          <a:xfrm>
            <a:off x="548640" y="3017520"/>
            <a:ext cx="548640" cy="548640"/>
          </a:xfrm>
          <a:prstGeom prst="ellipse">
            <a:avLst/>
          </a:prstGeom>
          <a:solidFill>
            <a:srgbClr val="4361EE"/>
          </a:solidFill>
          <a:ln/>
        </p:spPr>
        <p:txBody>
          <a:bodyPr/>
          <a:lstStyle/>
          <a:p>
            <a:endParaRPr lang="en-AU"/>
          </a:p>
        </p:txBody>
      </p:sp>
      <p:sp>
        <p:nvSpPr>
          <p:cNvPr id="14" name="Text 12"/>
          <p:cNvSpPr/>
          <p:nvPr/>
        </p:nvSpPr>
        <p:spPr>
          <a:xfrm>
            <a:off x="548640" y="301752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2</a:t>
            </a:r>
            <a:endParaRPr lang="en-US" sz="2000" dirty="0"/>
          </a:p>
        </p:txBody>
      </p:sp>
      <p:sp>
        <p:nvSpPr>
          <p:cNvPr id="15" name="Shape 13"/>
          <p:cNvSpPr/>
          <p:nvPr/>
        </p:nvSpPr>
        <p:spPr>
          <a:xfrm>
            <a:off x="1280160" y="2971800"/>
            <a:ext cx="10424160" cy="640080"/>
          </a:xfrm>
          <a:prstGeom prst="roundRect">
            <a:avLst>
              <a:gd name="adj" fmla="val 11429"/>
            </a:avLst>
          </a:prstGeom>
          <a:solidFill>
            <a:srgbClr val="FAFBFF"/>
          </a:solidFill>
          <a:ln w="9525">
            <a:solidFill>
              <a:srgbClr val="E5E7EB"/>
            </a:solidFill>
            <a:prstDash val="solid"/>
          </a:ln>
        </p:spPr>
        <p:txBody>
          <a:bodyPr/>
          <a:lstStyle/>
          <a:p>
            <a:endParaRPr lang="en-AU"/>
          </a:p>
        </p:txBody>
      </p:sp>
      <p:sp>
        <p:nvSpPr>
          <p:cNvPr id="16" name="Text 14"/>
          <p:cNvSpPr/>
          <p:nvPr/>
        </p:nvSpPr>
        <p:spPr>
          <a:xfrm>
            <a:off x="1508760" y="2971800"/>
            <a:ext cx="9966960" cy="640080"/>
          </a:xfrm>
          <a:prstGeom prst="rect">
            <a:avLst/>
          </a:prstGeom>
          <a:noFill/>
          <a:ln/>
        </p:spPr>
        <p:txBody>
          <a:bodyPr wrap="square" lIns="0" tIns="0" rIns="0" bIns="0" rtlCol="0" anchor="ctr"/>
          <a:lstStyle/>
          <a:p>
            <a:pPr marL="0" indent="0">
              <a:buNone/>
            </a:pPr>
            <a:r>
              <a:rPr lang="en-US" sz="1800" dirty="0">
                <a:solidFill>
                  <a:srgbClr val="111827"/>
                </a:solidFill>
                <a:latin typeface="Calibri" pitchFamily="34" charset="0"/>
                <a:ea typeface="Calibri" pitchFamily="34" charset="-122"/>
                <a:cs typeface="Calibri" pitchFamily="34" charset="-120"/>
              </a:rPr>
              <a:t>Do the OPPOSITE (inverse) operation to BOTH sides of the equation.</a:t>
            </a:r>
            <a:endParaRPr lang="en-US" sz="1800" dirty="0"/>
          </a:p>
        </p:txBody>
      </p:sp>
      <p:sp>
        <p:nvSpPr>
          <p:cNvPr id="17" name="Shape 15"/>
          <p:cNvSpPr/>
          <p:nvPr/>
        </p:nvSpPr>
        <p:spPr>
          <a:xfrm>
            <a:off x="548640" y="3840480"/>
            <a:ext cx="548640" cy="548640"/>
          </a:xfrm>
          <a:prstGeom prst="ellipse">
            <a:avLst/>
          </a:prstGeom>
          <a:solidFill>
            <a:srgbClr val="4361EE"/>
          </a:solidFill>
          <a:ln/>
        </p:spPr>
        <p:txBody>
          <a:bodyPr/>
          <a:lstStyle/>
          <a:p>
            <a:endParaRPr lang="en-AU"/>
          </a:p>
        </p:txBody>
      </p:sp>
      <p:sp>
        <p:nvSpPr>
          <p:cNvPr id="18" name="Text 16"/>
          <p:cNvSpPr/>
          <p:nvPr/>
        </p:nvSpPr>
        <p:spPr>
          <a:xfrm>
            <a:off x="548640" y="38404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3</a:t>
            </a:r>
            <a:endParaRPr lang="en-US" sz="2000" dirty="0"/>
          </a:p>
        </p:txBody>
      </p:sp>
      <p:sp>
        <p:nvSpPr>
          <p:cNvPr id="19" name="Shape 17"/>
          <p:cNvSpPr/>
          <p:nvPr/>
        </p:nvSpPr>
        <p:spPr>
          <a:xfrm>
            <a:off x="1280160" y="3794760"/>
            <a:ext cx="10424160" cy="640080"/>
          </a:xfrm>
          <a:prstGeom prst="roundRect">
            <a:avLst>
              <a:gd name="adj" fmla="val 11429"/>
            </a:avLst>
          </a:prstGeom>
          <a:solidFill>
            <a:srgbClr val="FAFBFF"/>
          </a:solidFill>
          <a:ln w="9525">
            <a:solidFill>
              <a:srgbClr val="E5E7EB"/>
            </a:solidFill>
            <a:prstDash val="solid"/>
          </a:ln>
        </p:spPr>
        <p:txBody>
          <a:bodyPr/>
          <a:lstStyle/>
          <a:p>
            <a:endParaRPr lang="en-AU"/>
          </a:p>
        </p:txBody>
      </p:sp>
      <p:sp>
        <p:nvSpPr>
          <p:cNvPr id="20" name="Text 18"/>
          <p:cNvSpPr/>
          <p:nvPr/>
        </p:nvSpPr>
        <p:spPr>
          <a:xfrm>
            <a:off x="1508760" y="3794760"/>
            <a:ext cx="9966960" cy="640080"/>
          </a:xfrm>
          <a:prstGeom prst="rect">
            <a:avLst/>
          </a:prstGeom>
          <a:noFill/>
          <a:ln/>
        </p:spPr>
        <p:txBody>
          <a:bodyPr wrap="square" lIns="0" tIns="0" rIns="0" bIns="0" rtlCol="0" anchor="ctr"/>
          <a:lstStyle/>
          <a:p>
            <a:pPr marL="0" indent="0">
              <a:buNone/>
            </a:pPr>
            <a:r>
              <a:rPr lang="en-US" sz="1800" dirty="0">
                <a:solidFill>
                  <a:srgbClr val="111827"/>
                </a:solidFill>
                <a:latin typeface="Calibri" pitchFamily="34" charset="0"/>
                <a:ea typeface="Calibri" pitchFamily="34" charset="-122"/>
                <a:cs typeface="Calibri" pitchFamily="34" charset="-120"/>
              </a:rPr>
              <a:t>Simplify both sides.</a:t>
            </a:r>
            <a:endParaRPr lang="en-US" sz="1800" dirty="0"/>
          </a:p>
        </p:txBody>
      </p:sp>
      <p:sp>
        <p:nvSpPr>
          <p:cNvPr id="21" name="Shape 19"/>
          <p:cNvSpPr/>
          <p:nvPr/>
        </p:nvSpPr>
        <p:spPr>
          <a:xfrm>
            <a:off x="548640" y="4663440"/>
            <a:ext cx="548640" cy="548640"/>
          </a:xfrm>
          <a:prstGeom prst="ellipse">
            <a:avLst/>
          </a:prstGeom>
          <a:solidFill>
            <a:srgbClr val="4361EE"/>
          </a:solidFill>
          <a:ln/>
        </p:spPr>
        <p:txBody>
          <a:bodyPr/>
          <a:lstStyle/>
          <a:p>
            <a:endParaRPr lang="en-AU"/>
          </a:p>
        </p:txBody>
      </p:sp>
      <p:sp>
        <p:nvSpPr>
          <p:cNvPr id="22" name="Text 20"/>
          <p:cNvSpPr/>
          <p:nvPr/>
        </p:nvSpPr>
        <p:spPr>
          <a:xfrm>
            <a:off x="548640" y="46634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4</a:t>
            </a:r>
            <a:endParaRPr lang="en-US" sz="2000" dirty="0"/>
          </a:p>
        </p:txBody>
      </p:sp>
      <p:sp>
        <p:nvSpPr>
          <p:cNvPr id="23" name="Shape 21"/>
          <p:cNvSpPr/>
          <p:nvPr/>
        </p:nvSpPr>
        <p:spPr>
          <a:xfrm>
            <a:off x="1280160" y="4617720"/>
            <a:ext cx="10424160" cy="640080"/>
          </a:xfrm>
          <a:prstGeom prst="roundRect">
            <a:avLst>
              <a:gd name="adj" fmla="val 11429"/>
            </a:avLst>
          </a:prstGeom>
          <a:solidFill>
            <a:srgbClr val="FAFBFF"/>
          </a:solidFill>
          <a:ln w="9525">
            <a:solidFill>
              <a:srgbClr val="E5E7EB"/>
            </a:solidFill>
            <a:prstDash val="solid"/>
          </a:ln>
        </p:spPr>
        <p:txBody>
          <a:bodyPr/>
          <a:lstStyle/>
          <a:p>
            <a:endParaRPr lang="en-AU"/>
          </a:p>
        </p:txBody>
      </p:sp>
      <p:sp>
        <p:nvSpPr>
          <p:cNvPr id="24" name="Text 22"/>
          <p:cNvSpPr/>
          <p:nvPr/>
        </p:nvSpPr>
        <p:spPr>
          <a:xfrm>
            <a:off x="1508760" y="4617720"/>
            <a:ext cx="9966960" cy="640080"/>
          </a:xfrm>
          <a:prstGeom prst="rect">
            <a:avLst/>
          </a:prstGeom>
          <a:noFill/>
          <a:ln/>
        </p:spPr>
        <p:txBody>
          <a:bodyPr wrap="square" lIns="0" tIns="0" rIns="0" bIns="0" rtlCol="0" anchor="ctr"/>
          <a:lstStyle/>
          <a:p>
            <a:pPr marL="0" indent="0">
              <a:buNone/>
            </a:pPr>
            <a:r>
              <a:rPr lang="en-US" sz="1800" dirty="0">
                <a:solidFill>
                  <a:srgbClr val="111827"/>
                </a:solidFill>
                <a:latin typeface="Calibri" pitchFamily="34" charset="0"/>
                <a:ea typeface="Calibri" pitchFamily="34" charset="-122"/>
                <a:cs typeface="Calibri" pitchFamily="34" charset="-120"/>
              </a:rPr>
              <a:t>Check your answer — substitute it back into the original equation.</a:t>
            </a:r>
            <a:endParaRPr lang="en-US" sz="1800" dirty="0"/>
          </a:p>
        </p:txBody>
      </p:sp>
      <p:sp>
        <p:nvSpPr>
          <p:cNvPr id="25" name="Text 23"/>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26" name="Text 24"/>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4361EE"/>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EXPLICIT</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The Flowchart Method: Building the Diagram</a:t>
            </a:r>
            <a:endParaRPr lang="en-US" sz="3200" dirty="0"/>
          </a:p>
        </p:txBody>
      </p:sp>
      <p:sp>
        <p:nvSpPr>
          <p:cNvPr id="7" name="Text 5"/>
          <p:cNvSpPr/>
          <p:nvPr/>
        </p:nvSpPr>
        <p:spPr>
          <a:xfrm>
            <a:off x="457200" y="1645920"/>
            <a:ext cx="11247120" cy="457200"/>
          </a:xfrm>
          <a:prstGeom prst="rect">
            <a:avLst/>
          </a:prstGeom>
          <a:noFill/>
          <a:ln/>
        </p:spPr>
        <p:txBody>
          <a:bodyPr wrap="square" lIns="0" tIns="0" rIns="0" bIns="0" rtlCol="0" anchor="ctr"/>
          <a:lstStyle/>
          <a:p>
            <a:pPr marL="0" indent="0">
              <a:buNone/>
            </a:pPr>
            <a:r>
              <a:rPr lang="en-US" sz="1700" dirty="0">
                <a:solidFill>
                  <a:srgbClr val="4B5563"/>
                </a:solidFill>
                <a:latin typeface="Calibri" pitchFamily="34" charset="0"/>
                <a:ea typeface="Calibri" pitchFamily="34" charset="-122"/>
                <a:cs typeface="Calibri" pitchFamily="34" charset="-120"/>
              </a:rPr>
              <a:t>Just like Double 3, we start by drawing the FORWARD flow diagram for the equation.</a:t>
            </a:r>
            <a:endParaRPr lang="en-US" sz="1700" dirty="0"/>
          </a:p>
        </p:txBody>
      </p:sp>
      <p:sp>
        <p:nvSpPr>
          <p:cNvPr id="8" name="Text 6"/>
          <p:cNvSpPr/>
          <p:nvPr/>
        </p:nvSpPr>
        <p:spPr>
          <a:xfrm>
            <a:off x="457200" y="2286000"/>
            <a:ext cx="5486400" cy="457200"/>
          </a:xfrm>
          <a:prstGeom prst="rect">
            <a:avLst/>
          </a:prstGeom>
          <a:noFill/>
          <a:ln/>
        </p:spPr>
        <p:txBody>
          <a:bodyPr wrap="square" lIns="0" tIns="0" rIns="0" bIns="0" rtlCol="0" anchor="ctr"/>
          <a:lstStyle/>
          <a:p>
            <a:pPr marL="0" indent="0">
              <a:buNone/>
            </a:pPr>
            <a:r>
              <a:rPr lang="en-US" sz="2200" b="1" dirty="0">
                <a:solidFill>
                  <a:srgbClr val="111827"/>
                </a:solidFill>
                <a:latin typeface="Courier New" pitchFamily="34" charset="0"/>
                <a:ea typeface="Courier New" pitchFamily="34" charset="-122"/>
                <a:cs typeface="Courier New" pitchFamily="34" charset="-120"/>
              </a:rPr>
              <a:t>Equation:  x − 6 = 8</a:t>
            </a:r>
            <a:endParaRPr lang="en-US" sz="2200" dirty="0"/>
          </a:p>
        </p:txBody>
      </p:sp>
      <p:sp>
        <p:nvSpPr>
          <p:cNvPr id="9" name="Shape 7"/>
          <p:cNvSpPr/>
          <p:nvPr/>
        </p:nvSpPr>
        <p:spPr>
          <a:xfrm>
            <a:off x="914400" y="3108960"/>
            <a:ext cx="1463040" cy="914400"/>
          </a:xfrm>
          <a:prstGeom prst="roundRect">
            <a:avLst>
              <a:gd name="adj" fmla="val 8000"/>
            </a:avLst>
          </a:prstGeom>
          <a:solidFill>
            <a:srgbClr val="EEF1FE"/>
          </a:solidFill>
          <a:ln w="19050">
            <a:solidFill>
              <a:srgbClr val="4361EE"/>
            </a:solidFill>
            <a:prstDash val="solid"/>
          </a:ln>
        </p:spPr>
        <p:txBody>
          <a:bodyPr/>
          <a:lstStyle/>
          <a:p>
            <a:endParaRPr lang="en-AU"/>
          </a:p>
        </p:txBody>
      </p:sp>
      <p:sp>
        <p:nvSpPr>
          <p:cNvPr id="10" name="Text 8"/>
          <p:cNvSpPr/>
          <p:nvPr/>
        </p:nvSpPr>
        <p:spPr>
          <a:xfrm>
            <a:off x="914400" y="3108960"/>
            <a:ext cx="1463040" cy="914400"/>
          </a:xfrm>
          <a:prstGeom prst="rect">
            <a:avLst/>
          </a:prstGeom>
          <a:noFill/>
          <a:ln/>
        </p:spPr>
        <p:txBody>
          <a:bodyPr wrap="square" lIns="0" tIns="0" rIns="0" bIns="0" rtlCol="0" anchor="ctr"/>
          <a:lstStyle/>
          <a:p>
            <a:pPr marL="0" indent="0" algn="ctr">
              <a:buNone/>
            </a:pPr>
            <a:r>
              <a:rPr lang="en-US" sz="1800" b="1" dirty="0">
                <a:solidFill>
                  <a:srgbClr val="111827"/>
                </a:solidFill>
                <a:latin typeface="Courier New" pitchFamily="34" charset="0"/>
                <a:ea typeface="Courier New" pitchFamily="34" charset="-122"/>
                <a:cs typeface="Courier New" pitchFamily="34" charset="-120"/>
              </a:rPr>
              <a:t>x</a:t>
            </a:r>
            <a:endParaRPr lang="en-US" sz="1800" dirty="0"/>
          </a:p>
        </p:txBody>
      </p:sp>
      <p:sp>
        <p:nvSpPr>
          <p:cNvPr id="11" name="Shape 9"/>
          <p:cNvSpPr/>
          <p:nvPr/>
        </p:nvSpPr>
        <p:spPr>
          <a:xfrm>
            <a:off x="2514600" y="3794760"/>
            <a:ext cx="1463040" cy="0"/>
          </a:xfrm>
          <a:prstGeom prst="line">
            <a:avLst/>
          </a:prstGeom>
          <a:noFill/>
          <a:ln w="25400">
            <a:solidFill>
              <a:srgbClr val="4B5563"/>
            </a:solidFill>
            <a:prstDash val="solid"/>
            <a:tailEnd type="triangle"/>
          </a:ln>
        </p:spPr>
        <p:txBody>
          <a:bodyPr/>
          <a:lstStyle/>
          <a:p>
            <a:endParaRPr lang="en-AU"/>
          </a:p>
        </p:txBody>
      </p:sp>
      <p:sp>
        <p:nvSpPr>
          <p:cNvPr id="12" name="Text 10"/>
          <p:cNvSpPr/>
          <p:nvPr/>
        </p:nvSpPr>
        <p:spPr>
          <a:xfrm>
            <a:off x="2514600" y="3273552"/>
            <a:ext cx="1463040" cy="274320"/>
          </a:xfrm>
          <a:prstGeom prst="rect">
            <a:avLst/>
          </a:prstGeom>
          <a:noFill/>
          <a:ln/>
        </p:spPr>
        <p:txBody>
          <a:bodyPr wrap="square" lIns="0" tIns="0" rIns="0" bIns="0" rtlCol="0" anchor="ctr"/>
          <a:lstStyle/>
          <a:p>
            <a:pPr marL="0" indent="0" algn="ctr">
              <a:buNone/>
            </a:pPr>
            <a:r>
              <a:rPr lang="en-US" sz="1300" b="1" dirty="0">
                <a:solidFill>
                  <a:srgbClr val="4361EE"/>
                </a:solidFill>
                <a:latin typeface="Courier New" pitchFamily="34" charset="0"/>
                <a:ea typeface="Courier New" pitchFamily="34" charset="-122"/>
                <a:cs typeface="Courier New" pitchFamily="34" charset="-120"/>
              </a:rPr>
              <a:t>− 6</a:t>
            </a:r>
            <a:endParaRPr lang="en-US" sz="1300" dirty="0"/>
          </a:p>
        </p:txBody>
      </p:sp>
      <p:sp>
        <p:nvSpPr>
          <p:cNvPr id="13" name="Shape 11"/>
          <p:cNvSpPr/>
          <p:nvPr/>
        </p:nvSpPr>
        <p:spPr>
          <a:xfrm>
            <a:off x="4114800" y="3108960"/>
            <a:ext cx="1737360" cy="914400"/>
          </a:xfrm>
          <a:prstGeom prst="roundRect">
            <a:avLst>
              <a:gd name="adj" fmla="val 8000"/>
            </a:avLst>
          </a:prstGeom>
          <a:solidFill>
            <a:srgbClr val="EEF1FE"/>
          </a:solidFill>
          <a:ln w="19050">
            <a:solidFill>
              <a:srgbClr val="4361EE"/>
            </a:solidFill>
            <a:prstDash val="solid"/>
          </a:ln>
        </p:spPr>
        <p:txBody>
          <a:bodyPr/>
          <a:lstStyle/>
          <a:p>
            <a:endParaRPr lang="en-AU"/>
          </a:p>
        </p:txBody>
      </p:sp>
      <p:sp>
        <p:nvSpPr>
          <p:cNvPr id="14" name="Text 12"/>
          <p:cNvSpPr/>
          <p:nvPr/>
        </p:nvSpPr>
        <p:spPr>
          <a:xfrm>
            <a:off x="4114800" y="3108960"/>
            <a:ext cx="1737360" cy="914400"/>
          </a:xfrm>
          <a:prstGeom prst="rect">
            <a:avLst/>
          </a:prstGeom>
          <a:noFill/>
          <a:ln/>
        </p:spPr>
        <p:txBody>
          <a:bodyPr wrap="square" lIns="0" tIns="0" rIns="0" bIns="0" rtlCol="0" anchor="ctr"/>
          <a:lstStyle/>
          <a:p>
            <a:pPr marL="0" indent="0" algn="ctr">
              <a:buNone/>
            </a:pPr>
            <a:r>
              <a:rPr lang="en-US" sz="1800" b="1" dirty="0">
                <a:solidFill>
                  <a:srgbClr val="111827"/>
                </a:solidFill>
                <a:latin typeface="Courier New" pitchFamily="34" charset="0"/>
                <a:ea typeface="Courier New" pitchFamily="34" charset="-122"/>
                <a:cs typeface="Courier New" pitchFamily="34" charset="-120"/>
              </a:rPr>
              <a:t>8</a:t>
            </a:r>
            <a:endParaRPr lang="en-US" sz="1800" dirty="0"/>
          </a:p>
        </p:txBody>
      </p:sp>
      <p:sp>
        <p:nvSpPr>
          <p:cNvPr id="15" name="Shape 13"/>
          <p:cNvSpPr/>
          <p:nvPr/>
        </p:nvSpPr>
        <p:spPr>
          <a:xfrm>
            <a:off x="457200" y="4389120"/>
            <a:ext cx="11247120" cy="1371600"/>
          </a:xfrm>
          <a:prstGeom prst="roundRect">
            <a:avLst>
              <a:gd name="adj" fmla="val 6667"/>
            </a:avLst>
          </a:prstGeom>
          <a:solidFill>
            <a:srgbClr val="EEF1FE"/>
          </a:solidFill>
          <a:ln w="12700">
            <a:solidFill>
              <a:srgbClr val="4361EE"/>
            </a:solidFill>
            <a:prstDash val="solid"/>
          </a:ln>
        </p:spPr>
        <p:txBody>
          <a:bodyPr/>
          <a:lstStyle/>
          <a:p>
            <a:endParaRPr lang="en-AU"/>
          </a:p>
        </p:txBody>
      </p:sp>
      <p:sp>
        <p:nvSpPr>
          <p:cNvPr id="16" name="Text 14"/>
          <p:cNvSpPr/>
          <p:nvPr/>
        </p:nvSpPr>
        <p:spPr>
          <a:xfrm>
            <a:off x="777240" y="4389120"/>
            <a:ext cx="10607040" cy="1371600"/>
          </a:xfrm>
          <a:prstGeom prst="rect">
            <a:avLst/>
          </a:prstGeom>
          <a:noFill/>
          <a:ln/>
        </p:spPr>
        <p:txBody>
          <a:bodyPr wrap="square" lIns="0" tIns="0" rIns="0" bIns="0" rtlCol="0" anchor="ctr"/>
          <a:lstStyle/>
          <a:p>
            <a:pPr marL="0" indent="0">
              <a:lnSpc>
                <a:spcPct val="115000"/>
              </a:lnSpc>
              <a:buNone/>
            </a:pPr>
            <a:r>
              <a:rPr lang="en-US" sz="1700" dirty="0">
                <a:solidFill>
                  <a:srgbClr val="111827"/>
                </a:solidFill>
                <a:latin typeface="Calibri" pitchFamily="34" charset="0"/>
                <a:ea typeface="Calibri" pitchFamily="34" charset="-122"/>
                <a:cs typeface="Calibri" pitchFamily="34" charset="-120"/>
              </a:rPr>
              <a:t>The forward diagram shows what happens to x, step by step, to produce the answer.</a:t>
            </a:r>
            <a:endParaRPr lang="en-US" sz="1700" dirty="0"/>
          </a:p>
          <a:p>
            <a:pPr marL="0" indent="0">
              <a:lnSpc>
                <a:spcPct val="115000"/>
              </a:lnSpc>
              <a:buNone/>
            </a:pPr>
            <a:r>
              <a:rPr lang="en-US" sz="1700" dirty="0">
                <a:solidFill>
                  <a:srgbClr val="111827"/>
                </a:solidFill>
                <a:latin typeface="Calibri" pitchFamily="34" charset="0"/>
                <a:ea typeface="Calibri" pitchFamily="34" charset="-122"/>
                <a:cs typeface="Calibri" pitchFamily="34" charset="-120"/>
              </a:rPr>
              <a:t>To solve the equation, we need to run the diagram backwards — that's called backtracking.</a:t>
            </a:r>
            <a:endParaRPr lang="en-US" sz="1700" dirty="0"/>
          </a:p>
        </p:txBody>
      </p:sp>
      <p:sp>
        <p:nvSpPr>
          <p:cNvPr id="17" name="Text 15"/>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18" name="Text 16"/>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4361EE"/>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EXPLICIT</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Flowchart Method — Reversing the Diagram</a:t>
            </a:r>
            <a:endParaRPr lang="en-US" sz="3200" dirty="0"/>
          </a:p>
        </p:txBody>
      </p:sp>
      <p:sp>
        <p:nvSpPr>
          <p:cNvPr id="7" name="Shape 5"/>
          <p:cNvSpPr/>
          <p:nvPr/>
        </p:nvSpPr>
        <p:spPr>
          <a:xfrm>
            <a:off x="457200" y="1600200"/>
            <a:ext cx="11247120" cy="365760"/>
          </a:xfrm>
          <a:prstGeom prst="roundRect">
            <a:avLst>
              <a:gd name="adj" fmla="val 15000"/>
            </a:avLst>
          </a:prstGeom>
          <a:solidFill>
            <a:srgbClr val="FEF6E7"/>
          </a:solidFill>
          <a:ln w="12700">
            <a:solidFill>
              <a:srgbClr val="F59E0B"/>
            </a:solidFill>
            <a:prstDash val="solid"/>
          </a:ln>
        </p:spPr>
        <p:txBody>
          <a:bodyPr/>
          <a:lstStyle/>
          <a:p>
            <a:endParaRPr lang="en-AU"/>
          </a:p>
        </p:txBody>
      </p:sp>
      <p:sp>
        <p:nvSpPr>
          <p:cNvPr id="8" name="Text 6"/>
          <p:cNvSpPr/>
          <p:nvPr/>
        </p:nvSpPr>
        <p:spPr>
          <a:xfrm>
            <a:off x="457200" y="1600200"/>
            <a:ext cx="11247120" cy="365760"/>
          </a:xfrm>
          <a:prstGeom prst="rect">
            <a:avLst/>
          </a:prstGeom>
          <a:noFill/>
          <a:ln/>
        </p:spPr>
        <p:txBody>
          <a:bodyPr wrap="square" lIns="0" tIns="0" rIns="0" bIns="0" rtlCol="0" anchor="ctr"/>
          <a:lstStyle/>
          <a:p>
            <a:pPr marL="0" indent="0" algn="ctr">
              <a:buNone/>
            </a:pPr>
            <a:r>
              <a:rPr lang="en-US" sz="1200" b="1" dirty="0">
                <a:solidFill>
                  <a:srgbClr val="92610A"/>
                </a:solidFill>
                <a:latin typeface="Courier New" pitchFamily="34" charset="0"/>
                <a:ea typeface="Courier New" pitchFamily="34" charset="-122"/>
                <a:cs typeface="Courier New" pitchFamily="34" charset="-120"/>
              </a:rPr>
              <a:t>📋 COPY THIS INTO YOUR NOTES</a:t>
            </a:r>
            <a:endParaRPr lang="en-US" sz="1200" dirty="0"/>
          </a:p>
        </p:txBody>
      </p:sp>
      <p:sp>
        <p:nvSpPr>
          <p:cNvPr id="9" name="Text 7"/>
          <p:cNvSpPr/>
          <p:nvPr/>
        </p:nvSpPr>
        <p:spPr>
          <a:xfrm>
            <a:off x="457200" y="2103120"/>
            <a:ext cx="11247120" cy="365760"/>
          </a:xfrm>
          <a:prstGeom prst="rect">
            <a:avLst/>
          </a:prstGeom>
          <a:noFill/>
          <a:ln/>
        </p:spPr>
        <p:txBody>
          <a:bodyPr wrap="square" lIns="0" tIns="0" rIns="0" bIns="0" rtlCol="0" anchor="ctr"/>
          <a:lstStyle/>
          <a:p>
            <a:pPr marL="0" indent="0">
              <a:buNone/>
            </a:pPr>
            <a:r>
              <a:rPr lang="en-US" sz="1500" i="1" dirty="0">
                <a:solidFill>
                  <a:srgbClr val="4B5563"/>
                </a:solidFill>
                <a:latin typeface="Calibri" pitchFamily="34" charset="0"/>
                <a:ea typeface="Calibri" pitchFamily="34" charset="-122"/>
                <a:cs typeface="Calibri" pitchFamily="34" charset="-120"/>
              </a:rPr>
              <a:t>To backtrack, swap every operation for its INVERSE (opposite) and reverse the arrows.</a:t>
            </a:r>
            <a:endParaRPr lang="en-US" sz="1500" dirty="0"/>
          </a:p>
        </p:txBody>
      </p:sp>
      <p:sp>
        <p:nvSpPr>
          <p:cNvPr id="10" name="Shape 8"/>
          <p:cNvSpPr/>
          <p:nvPr/>
        </p:nvSpPr>
        <p:spPr>
          <a:xfrm>
            <a:off x="1645920" y="2606040"/>
            <a:ext cx="5486400" cy="594360"/>
          </a:xfrm>
          <a:prstGeom prst="roundRect">
            <a:avLst/>
          </a:prstGeom>
          <a:solidFill>
            <a:srgbClr val="4361EE"/>
          </a:solidFill>
          <a:ln/>
        </p:spPr>
        <p:txBody>
          <a:bodyPr/>
          <a:lstStyle/>
          <a:p>
            <a:endParaRPr lang="en-AU"/>
          </a:p>
        </p:txBody>
      </p:sp>
      <p:sp>
        <p:nvSpPr>
          <p:cNvPr id="11" name="Text 9"/>
          <p:cNvSpPr/>
          <p:nvPr/>
        </p:nvSpPr>
        <p:spPr>
          <a:xfrm>
            <a:off x="1645920" y="2606040"/>
            <a:ext cx="2743200" cy="59436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OPERATION</a:t>
            </a:r>
            <a:endParaRPr lang="en-US" sz="1500" dirty="0"/>
          </a:p>
        </p:txBody>
      </p:sp>
      <p:sp>
        <p:nvSpPr>
          <p:cNvPr id="12" name="Text 10"/>
          <p:cNvSpPr/>
          <p:nvPr/>
        </p:nvSpPr>
        <p:spPr>
          <a:xfrm>
            <a:off x="4389120" y="2606040"/>
            <a:ext cx="2743200" cy="59436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INVERSE</a:t>
            </a:r>
            <a:endParaRPr lang="en-US" sz="1500" dirty="0"/>
          </a:p>
        </p:txBody>
      </p:sp>
      <p:sp>
        <p:nvSpPr>
          <p:cNvPr id="13" name="Shape 11"/>
          <p:cNvSpPr/>
          <p:nvPr/>
        </p:nvSpPr>
        <p:spPr>
          <a:xfrm>
            <a:off x="1645920" y="3200400"/>
            <a:ext cx="2743200" cy="594360"/>
          </a:xfrm>
          <a:prstGeom prst="rect">
            <a:avLst/>
          </a:prstGeom>
          <a:solidFill>
            <a:srgbClr val="FAFBFF"/>
          </a:solidFill>
          <a:ln w="9525">
            <a:solidFill>
              <a:srgbClr val="E5E7EB"/>
            </a:solidFill>
            <a:prstDash val="solid"/>
          </a:ln>
        </p:spPr>
        <p:txBody>
          <a:bodyPr/>
          <a:lstStyle/>
          <a:p>
            <a:endParaRPr lang="en-AU"/>
          </a:p>
        </p:txBody>
      </p:sp>
      <p:sp>
        <p:nvSpPr>
          <p:cNvPr id="14" name="Shape 12"/>
          <p:cNvSpPr/>
          <p:nvPr/>
        </p:nvSpPr>
        <p:spPr>
          <a:xfrm>
            <a:off x="4389120" y="3200400"/>
            <a:ext cx="2743200" cy="594360"/>
          </a:xfrm>
          <a:prstGeom prst="rect">
            <a:avLst/>
          </a:prstGeom>
          <a:solidFill>
            <a:srgbClr val="FAFBFF"/>
          </a:solidFill>
          <a:ln w="9525">
            <a:solidFill>
              <a:srgbClr val="E5E7EB"/>
            </a:solidFill>
            <a:prstDash val="solid"/>
          </a:ln>
        </p:spPr>
        <p:txBody>
          <a:bodyPr/>
          <a:lstStyle/>
          <a:p>
            <a:endParaRPr lang="en-AU"/>
          </a:p>
        </p:txBody>
      </p:sp>
      <p:sp>
        <p:nvSpPr>
          <p:cNvPr id="15" name="Text 13"/>
          <p:cNvSpPr/>
          <p:nvPr/>
        </p:nvSpPr>
        <p:spPr>
          <a:xfrm>
            <a:off x="1645920" y="3200400"/>
            <a:ext cx="2743200" cy="594360"/>
          </a:xfrm>
          <a:prstGeom prst="rect">
            <a:avLst/>
          </a:prstGeom>
          <a:noFill/>
          <a:ln/>
        </p:spPr>
        <p:txBody>
          <a:bodyPr wrap="square" lIns="0" tIns="0" rIns="0" bIns="0" rtlCol="0" anchor="ctr"/>
          <a:lstStyle/>
          <a:p>
            <a:pPr marL="0" indent="0" algn="ctr">
              <a:buNone/>
            </a:pPr>
            <a:r>
              <a:rPr lang="en-US" sz="1700" b="1" dirty="0">
                <a:solidFill>
                  <a:srgbClr val="111827"/>
                </a:solidFill>
                <a:latin typeface="Courier New" pitchFamily="34" charset="0"/>
                <a:ea typeface="Courier New" pitchFamily="34" charset="-122"/>
                <a:cs typeface="Courier New" pitchFamily="34" charset="-120"/>
              </a:rPr>
              <a:t>+  (add)</a:t>
            </a:r>
            <a:endParaRPr lang="en-US" sz="1700" dirty="0"/>
          </a:p>
        </p:txBody>
      </p:sp>
      <p:sp>
        <p:nvSpPr>
          <p:cNvPr id="16" name="Text 14"/>
          <p:cNvSpPr/>
          <p:nvPr/>
        </p:nvSpPr>
        <p:spPr>
          <a:xfrm>
            <a:off x="4389120" y="3200400"/>
            <a:ext cx="2743200" cy="594360"/>
          </a:xfrm>
          <a:prstGeom prst="rect">
            <a:avLst/>
          </a:prstGeom>
          <a:noFill/>
          <a:ln/>
        </p:spPr>
        <p:txBody>
          <a:bodyPr wrap="square" lIns="0" tIns="0" rIns="0" bIns="0" rtlCol="0" anchor="ctr"/>
          <a:lstStyle/>
          <a:p>
            <a:pPr marL="0" indent="0" algn="ctr">
              <a:buNone/>
            </a:pPr>
            <a:r>
              <a:rPr lang="en-US" sz="1700" b="1" dirty="0">
                <a:solidFill>
                  <a:srgbClr val="4361EE"/>
                </a:solidFill>
                <a:latin typeface="Courier New" pitchFamily="34" charset="0"/>
                <a:ea typeface="Courier New" pitchFamily="34" charset="-122"/>
                <a:cs typeface="Courier New" pitchFamily="34" charset="-120"/>
              </a:rPr>
              <a:t>−  (subtract)</a:t>
            </a:r>
            <a:endParaRPr lang="en-US" sz="1700" dirty="0"/>
          </a:p>
        </p:txBody>
      </p:sp>
      <p:sp>
        <p:nvSpPr>
          <p:cNvPr id="17" name="Shape 15"/>
          <p:cNvSpPr/>
          <p:nvPr/>
        </p:nvSpPr>
        <p:spPr>
          <a:xfrm>
            <a:off x="1645920" y="3794760"/>
            <a:ext cx="2743200" cy="594360"/>
          </a:xfrm>
          <a:prstGeom prst="rect">
            <a:avLst/>
          </a:prstGeom>
          <a:solidFill>
            <a:srgbClr val="FFFFFF"/>
          </a:solidFill>
          <a:ln w="9525">
            <a:solidFill>
              <a:srgbClr val="E5E7EB"/>
            </a:solidFill>
            <a:prstDash val="solid"/>
          </a:ln>
        </p:spPr>
        <p:txBody>
          <a:bodyPr/>
          <a:lstStyle/>
          <a:p>
            <a:endParaRPr lang="en-AU"/>
          </a:p>
        </p:txBody>
      </p:sp>
      <p:sp>
        <p:nvSpPr>
          <p:cNvPr id="18" name="Shape 16"/>
          <p:cNvSpPr/>
          <p:nvPr/>
        </p:nvSpPr>
        <p:spPr>
          <a:xfrm>
            <a:off x="4389120" y="3794760"/>
            <a:ext cx="2743200" cy="594360"/>
          </a:xfrm>
          <a:prstGeom prst="rect">
            <a:avLst/>
          </a:prstGeom>
          <a:solidFill>
            <a:srgbClr val="FFFFFF"/>
          </a:solidFill>
          <a:ln w="9525">
            <a:solidFill>
              <a:srgbClr val="E5E7EB"/>
            </a:solidFill>
            <a:prstDash val="solid"/>
          </a:ln>
        </p:spPr>
        <p:txBody>
          <a:bodyPr/>
          <a:lstStyle/>
          <a:p>
            <a:endParaRPr lang="en-AU"/>
          </a:p>
        </p:txBody>
      </p:sp>
      <p:sp>
        <p:nvSpPr>
          <p:cNvPr id="19" name="Text 17"/>
          <p:cNvSpPr/>
          <p:nvPr/>
        </p:nvSpPr>
        <p:spPr>
          <a:xfrm>
            <a:off x="1645920" y="3794760"/>
            <a:ext cx="2743200" cy="594360"/>
          </a:xfrm>
          <a:prstGeom prst="rect">
            <a:avLst/>
          </a:prstGeom>
          <a:noFill/>
          <a:ln/>
        </p:spPr>
        <p:txBody>
          <a:bodyPr wrap="square" lIns="0" tIns="0" rIns="0" bIns="0" rtlCol="0" anchor="ctr"/>
          <a:lstStyle/>
          <a:p>
            <a:pPr marL="0" indent="0" algn="ctr">
              <a:buNone/>
            </a:pPr>
            <a:r>
              <a:rPr lang="en-US" sz="1700" b="1" dirty="0">
                <a:solidFill>
                  <a:srgbClr val="111827"/>
                </a:solidFill>
                <a:latin typeface="Courier New" pitchFamily="34" charset="0"/>
                <a:ea typeface="Courier New" pitchFamily="34" charset="-122"/>
                <a:cs typeface="Courier New" pitchFamily="34" charset="-120"/>
              </a:rPr>
              <a:t>−  (subtract)</a:t>
            </a:r>
            <a:endParaRPr lang="en-US" sz="1700" dirty="0"/>
          </a:p>
        </p:txBody>
      </p:sp>
      <p:sp>
        <p:nvSpPr>
          <p:cNvPr id="20" name="Text 18"/>
          <p:cNvSpPr/>
          <p:nvPr/>
        </p:nvSpPr>
        <p:spPr>
          <a:xfrm>
            <a:off x="4389120" y="3794760"/>
            <a:ext cx="2743200" cy="594360"/>
          </a:xfrm>
          <a:prstGeom prst="rect">
            <a:avLst/>
          </a:prstGeom>
          <a:noFill/>
          <a:ln/>
        </p:spPr>
        <p:txBody>
          <a:bodyPr wrap="square" lIns="0" tIns="0" rIns="0" bIns="0" rtlCol="0" anchor="ctr"/>
          <a:lstStyle/>
          <a:p>
            <a:pPr marL="0" indent="0" algn="ctr">
              <a:buNone/>
            </a:pPr>
            <a:r>
              <a:rPr lang="en-US" sz="1700" b="1" dirty="0">
                <a:solidFill>
                  <a:srgbClr val="4361EE"/>
                </a:solidFill>
                <a:latin typeface="Courier New" pitchFamily="34" charset="0"/>
                <a:ea typeface="Courier New" pitchFamily="34" charset="-122"/>
                <a:cs typeface="Courier New" pitchFamily="34" charset="-120"/>
              </a:rPr>
              <a:t>+  (add)</a:t>
            </a:r>
            <a:endParaRPr lang="en-US" sz="1700" dirty="0"/>
          </a:p>
        </p:txBody>
      </p:sp>
      <p:sp>
        <p:nvSpPr>
          <p:cNvPr id="21" name="Shape 19"/>
          <p:cNvSpPr/>
          <p:nvPr/>
        </p:nvSpPr>
        <p:spPr>
          <a:xfrm>
            <a:off x="1645920" y="4389120"/>
            <a:ext cx="2743200" cy="594360"/>
          </a:xfrm>
          <a:prstGeom prst="rect">
            <a:avLst/>
          </a:prstGeom>
          <a:solidFill>
            <a:srgbClr val="FAFBFF"/>
          </a:solidFill>
          <a:ln w="9525">
            <a:solidFill>
              <a:srgbClr val="E5E7EB"/>
            </a:solidFill>
            <a:prstDash val="solid"/>
          </a:ln>
        </p:spPr>
        <p:txBody>
          <a:bodyPr/>
          <a:lstStyle/>
          <a:p>
            <a:endParaRPr lang="en-AU"/>
          </a:p>
        </p:txBody>
      </p:sp>
      <p:sp>
        <p:nvSpPr>
          <p:cNvPr id="22" name="Shape 20"/>
          <p:cNvSpPr/>
          <p:nvPr/>
        </p:nvSpPr>
        <p:spPr>
          <a:xfrm>
            <a:off x="4389120" y="4389120"/>
            <a:ext cx="2743200" cy="594360"/>
          </a:xfrm>
          <a:prstGeom prst="rect">
            <a:avLst/>
          </a:prstGeom>
          <a:solidFill>
            <a:srgbClr val="FAFBFF"/>
          </a:solidFill>
          <a:ln w="9525">
            <a:solidFill>
              <a:srgbClr val="E5E7EB"/>
            </a:solidFill>
            <a:prstDash val="solid"/>
          </a:ln>
        </p:spPr>
        <p:txBody>
          <a:bodyPr/>
          <a:lstStyle/>
          <a:p>
            <a:endParaRPr lang="en-AU"/>
          </a:p>
        </p:txBody>
      </p:sp>
      <p:sp>
        <p:nvSpPr>
          <p:cNvPr id="23" name="Text 21"/>
          <p:cNvSpPr/>
          <p:nvPr/>
        </p:nvSpPr>
        <p:spPr>
          <a:xfrm>
            <a:off x="1645920" y="4389120"/>
            <a:ext cx="2743200" cy="594360"/>
          </a:xfrm>
          <a:prstGeom prst="rect">
            <a:avLst/>
          </a:prstGeom>
          <a:noFill/>
          <a:ln/>
        </p:spPr>
        <p:txBody>
          <a:bodyPr wrap="square" lIns="0" tIns="0" rIns="0" bIns="0" rtlCol="0" anchor="ctr"/>
          <a:lstStyle/>
          <a:p>
            <a:pPr marL="0" indent="0" algn="ctr">
              <a:buNone/>
            </a:pPr>
            <a:r>
              <a:rPr lang="en-US" sz="1700" b="1" dirty="0">
                <a:solidFill>
                  <a:srgbClr val="111827"/>
                </a:solidFill>
                <a:latin typeface="Courier New" pitchFamily="34" charset="0"/>
                <a:ea typeface="Courier New" pitchFamily="34" charset="-122"/>
                <a:cs typeface="Courier New" pitchFamily="34" charset="-120"/>
              </a:rPr>
              <a:t>×  (multiply)</a:t>
            </a:r>
            <a:endParaRPr lang="en-US" sz="1700" dirty="0"/>
          </a:p>
        </p:txBody>
      </p:sp>
      <p:sp>
        <p:nvSpPr>
          <p:cNvPr id="24" name="Text 22"/>
          <p:cNvSpPr/>
          <p:nvPr/>
        </p:nvSpPr>
        <p:spPr>
          <a:xfrm>
            <a:off x="4389120" y="4389120"/>
            <a:ext cx="2743200" cy="594360"/>
          </a:xfrm>
          <a:prstGeom prst="rect">
            <a:avLst/>
          </a:prstGeom>
          <a:noFill/>
          <a:ln/>
        </p:spPr>
        <p:txBody>
          <a:bodyPr wrap="square" lIns="0" tIns="0" rIns="0" bIns="0" rtlCol="0" anchor="ctr"/>
          <a:lstStyle/>
          <a:p>
            <a:pPr marL="0" indent="0" algn="ctr">
              <a:buNone/>
            </a:pPr>
            <a:r>
              <a:rPr lang="en-US" sz="1700" b="1" dirty="0">
                <a:solidFill>
                  <a:srgbClr val="4361EE"/>
                </a:solidFill>
                <a:latin typeface="Courier New" pitchFamily="34" charset="0"/>
                <a:ea typeface="Courier New" pitchFamily="34" charset="-122"/>
                <a:cs typeface="Courier New" pitchFamily="34" charset="-120"/>
              </a:rPr>
              <a:t>÷  (divide)</a:t>
            </a:r>
            <a:endParaRPr lang="en-US" sz="1700" dirty="0"/>
          </a:p>
        </p:txBody>
      </p:sp>
      <p:sp>
        <p:nvSpPr>
          <p:cNvPr id="25" name="Shape 23"/>
          <p:cNvSpPr/>
          <p:nvPr/>
        </p:nvSpPr>
        <p:spPr>
          <a:xfrm>
            <a:off x="1645920" y="4983480"/>
            <a:ext cx="2743200" cy="594360"/>
          </a:xfrm>
          <a:prstGeom prst="rect">
            <a:avLst/>
          </a:prstGeom>
          <a:solidFill>
            <a:srgbClr val="FFFFFF"/>
          </a:solidFill>
          <a:ln w="9525">
            <a:solidFill>
              <a:srgbClr val="E5E7EB"/>
            </a:solidFill>
            <a:prstDash val="solid"/>
          </a:ln>
        </p:spPr>
        <p:txBody>
          <a:bodyPr/>
          <a:lstStyle/>
          <a:p>
            <a:endParaRPr lang="en-AU"/>
          </a:p>
        </p:txBody>
      </p:sp>
      <p:sp>
        <p:nvSpPr>
          <p:cNvPr id="26" name="Shape 24"/>
          <p:cNvSpPr/>
          <p:nvPr/>
        </p:nvSpPr>
        <p:spPr>
          <a:xfrm>
            <a:off x="4389120" y="4983480"/>
            <a:ext cx="2743200" cy="594360"/>
          </a:xfrm>
          <a:prstGeom prst="rect">
            <a:avLst/>
          </a:prstGeom>
          <a:solidFill>
            <a:srgbClr val="FFFFFF"/>
          </a:solidFill>
          <a:ln w="9525">
            <a:solidFill>
              <a:srgbClr val="E5E7EB"/>
            </a:solidFill>
            <a:prstDash val="solid"/>
          </a:ln>
        </p:spPr>
        <p:txBody>
          <a:bodyPr/>
          <a:lstStyle/>
          <a:p>
            <a:endParaRPr lang="en-AU"/>
          </a:p>
        </p:txBody>
      </p:sp>
      <p:sp>
        <p:nvSpPr>
          <p:cNvPr id="27" name="Text 25"/>
          <p:cNvSpPr/>
          <p:nvPr/>
        </p:nvSpPr>
        <p:spPr>
          <a:xfrm>
            <a:off x="1645920" y="4983480"/>
            <a:ext cx="2743200" cy="594360"/>
          </a:xfrm>
          <a:prstGeom prst="rect">
            <a:avLst/>
          </a:prstGeom>
          <a:noFill/>
          <a:ln/>
        </p:spPr>
        <p:txBody>
          <a:bodyPr wrap="square" lIns="0" tIns="0" rIns="0" bIns="0" rtlCol="0" anchor="ctr"/>
          <a:lstStyle/>
          <a:p>
            <a:pPr marL="0" indent="0" algn="ctr">
              <a:buNone/>
            </a:pPr>
            <a:r>
              <a:rPr lang="en-US" sz="1700" b="1" dirty="0">
                <a:solidFill>
                  <a:srgbClr val="111827"/>
                </a:solidFill>
                <a:latin typeface="Courier New" pitchFamily="34" charset="0"/>
                <a:ea typeface="Courier New" pitchFamily="34" charset="-122"/>
                <a:cs typeface="Courier New" pitchFamily="34" charset="-120"/>
              </a:rPr>
              <a:t>÷  (divide)</a:t>
            </a:r>
            <a:endParaRPr lang="en-US" sz="1700" dirty="0"/>
          </a:p>
        </p:txBody>
      </p:sp>
      <p:sp>
        <p:nvSpPr>
          <p:cNvPr id="28" name="Text 26"/>
          <p:cNvSpPr/>
          <p:nvPr/>
        </p:nvSpPr>
        <p:spPr>
          <a:xfrm>
            <a:off x="4389120" y="4983480"/>
            <a:ext cx="2743200" cy="594360"/>
          </a:xfrm>
          <a:prstGeom prst="rect">
            <a:avLst/>
          </a:prstGeom>
          <a:noFill/>
          <a:ln/>
        </p:spPr>
        <p:txBody>
          <a:bodyPr wrap="square" lIns="0" tIns="0" rIns="0" bIns="0" rtlCol="0" anchor="ctr"/>
          <a:lstStyle/>
          <a:p>
            <a:pPr marL="0" indent="0" algn="ctr">
              <a:buNone/>
            </a:pPr>
            <a:r>
              <a:rPr lang="en-US" sz="1700" b="1" dirty="0">
                <a:solidFill>
                  <a:srgbClr val="4361EE"/>
                </a:solidFill>
                <a:latin typeface="Courier New" pitchFamily="34" charset="0"/>
                <a:ea typeface="Courier New" pitchFamily="34" charset="-122"/>
                <a:cs typeface="Courier New" pitchFamily="34" charset="-120"/>
              </a:rPr>
              <a:t>×  (multiply)</a:t>
            </a:r>
            <a:endParaRPr lang="en-US" sz="1700" dirty="0"/>
          </a:p>
        </p:txBody>
      </p:sp>
      <p:sp>
        <p:nvSpPr>
          <p:cNvPr id="29" name="Text 27"/>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30" name="Text 28"/>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4361EE"/>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EXPLICIT</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Flowchart Method — Worked Example</a:t>
            </a:r>
            <a:endParaRPr lang="en-US" sz="3200" dirty="0"/>
          </a:p>
        </p:txBody>
      </p:sp>
      <p:sp>
        <p:nvSpPr>
          <p:cNvPr id="7" name="Text 5"/>
          <p:cNvSpPr/>
          <p:nvPr/>
        </p:nvSpPr>
        <p:spPr>
          <a:xfrm>
            <a:off x="457200" y="1554480"/>
            <a:ext cx="5486400" cy="457200"/>
          </a:xfrm>
          <a:prstGeom prst="rect">
            <a:avLst/>
          </a:prstGeom>
          <a:noFill/>
          <a:ln/>
        </p:spPr>
        <p:txBody>
          <a:bodyPr wrap="square" lIns="0" tIns="0" rIns="0" bIns="0" rtlCol="0" anchor="ctr"/>
          <a:lstStyle/>
          <a:p>
            <a:pPr marL="0" indent="0">
              <a:buNone/>
            </a:pPr>
            <a:r>
              <a:rPr lang="en-US" sz="2200" b="1" dirty="0">
                <a:solidFill>
                  <a:srgbClr val="111827"/>
                </a:solidFill>
                <a:latin typeface="Courier New" pitchFamily="34" charset="0"/>
                <a:ea typeface="Courier New" pitchFamily="34" charset="-122"/>
                <a:cs typeface="Courier New" pitchFamily="34" charset="-120"/>
              </a:rPr>
              <a:t>Solve:  x − 6 = 8</a:t>
            </a:r>
            <a:endParaRPr lang="en-US" sz="2200" dirty="0"/>
          </a:p>
        </p:txBody>
      </p:sp>
      <p:sp>
        <p:nvSpPr>
          <p:cNvPr id="8" name="Text 6"/>
          <p:cNvSpPr/>
          <p:nvPr/>
        </p:nvSpPr>
        <p:spPr>
          <a:xfrm>
            <a:off x="457200" y="2148840"/>
            <a:ext cx="2743200" cy="320040"/>
          </a:xfrm>
          <a:prstGeom prst="rect">
            <a:avLst/>
          </a:prstGeom>
          <a:noFill/>
          <a:ln/>
        </p:spPr>
        <p:txBody>
          <a:bodyPr wrap="square" lIns="0" tIns="0" rIns="0" bIns="0" rtlCol="0" anchor="ctr"/>
          <a:lstStyle/>
          <a:p>
            <a:pPr marL="0" indent="0">
              <a:buNone/>
            </a:pPr>
            <a:r>
              <a:rPr lang="en-US" sz="1200" b="1" kern="0" spc="100" dirty="0">
                <a:solidFill>
                  <a:srgbClr val="4B5563"/>
                </a:solidFill>
                <a:latin typeface="Courier New" pitchFamily="34" charset="0"/>
                <a:ea typeface="Courier New" pitchFamily="34" charset="-122"/>
                <a:cs typeface="Courier New" pitchFamily="34" charset="-120"/>
              </a:rPr>
              <a:t>FORWARD</a:t>
            </a:r>
            <a:endParaRPr lang="en-US" sz="1200" dirty="0"/>
          </a:p>
        </p:txBody>
      </p:sp>
      <p:sp>
        <p:nvSpPr>
          <p:cNvPr id="9" name="Shape 7"/>
          <p:cNvSpPr/>
          <p:nvPr/>
        </p:nvSpPr>
        <p:spPr>
          <a:xfrm>
            <a:off x="457200" y="2514600"/>
            <a:ext cx="1371600" cy="822960"/>
          </a:xfrm>
          <a:prstGeom prst="roundRect">
            <a:avLst>
              <a:gd name="adj" fmla="val 8889"/>
            </a:avLst>
          </a:prstGeom>
          <a:solidFill>
            <a:srgbClr val="EEF1FE"/>
          </a:solidFill>
          <a:ln w="19050">
            <a:solidFill>
              <a:srgbClr val="4361EE"/>
            </a:solidFill>
            <a:prstDash val="solid"/>
          </a:ln>
        </p:spPr>
        <p:txBody>
          <a:bodyPr/>
          <a:lstStyle/>
          <a:p>
            <a:endParaRPr lang="en-AU"/>
          </a:p>
        </p:txBody>
      </p:sp>
      <p:sp>
        <p:nvSpPr>
          <p:cNvPr id="10" name="Text 8"/>
          <p:cNvSpPr/>
          <p:nvPr/>
        </p:nvSpPr>
        <p:spPr>
          <a:xfrm>
            <a:off x="457200" y="2514600"/>
            <a:ext cx="1371600" cy="822960"/>
          </a:xfrm>
          <a:prstGeom prst="rect">
            <a:avLst/>
          </a:prstGeom>
          <a:noFill/>
          <a:ln/>
        </p:spPr>
        <p:txBody>
          <a:bodyPr wrap="square" lIns="0" tIns="0" rIns="0" bIns="0" rtlCol="0" anchor="ctr"/>
          <a:lstStyle/>
          <a:p>
            <a:pPr marL="0" indent="0" algn="ctr">
              <a:buNone/>
            </a:pPr>
            <a:r>
              <a:rPr lang="en-US" sz="1800" b="1" dirty="0">
                <a:solidFill>
                  <a:srgbClr val="111827"/>
                </a:solidFill>
                <a:latin typeface="Courier New" pitchFamily="34" charset="0"/>
                <a:ea typeface="Courier New" pitchFamily="34" charset="-122"/>
                <a:cs typeface="Courier New" pitchFamily="34" charset="-120"/>
              </a:rPr>
              <a:t>x</a:t>
            </a:r>
            <a:endParaRPr lang="en-US" sz="1800" dirty="0"/>
          </a:p>
        </p:txBody>
      </p:sp>
      <p:sp>
        <p:nvSpPr>
          <p:cNvPr id="11" name="Shape 9"/>
          <p:cNvSpPr/>
          <p:nvPr/>
        </p:nvSpPr>
        <p:spPr>
          <a:xfrm>
            <a:off x="1965960" y="3154680"/>
            <a:ext cx="1188720" cy="0"/>
          </a:xfrm>
          <a:prstGeom prst="line">
            <a:avLst/>
          </a:prstGeom>
          <a:noFill/>
          <a:ln w="25400">
            <a:solidFill>
              <a:srgbClr val="4B5563"/>
            </a:solidFill>
            <a:prstDash val="solid"/>
            <a:tailEnd type="triangle"/>
          </a:ln>
        </p:spPr>
        <p:txBody>
          <a:bodyPr/>
          <a:lstStyle/>
          <a:p>
            <a:endParaRPr lang="en-AU"/>
          </a:p>
        </p:txBody>
      </p:sp>
      <p:sp>
        <p:nvSpPr>
          <p:cNvPr id="12" name="Text 10"/>
          <p:cNvSpPr/>
          <p:nvPr/>
        </p:nvSpPr>
        <p:spPr>
          <a:xfrm>
            <a:off x="1965960" y="2633472"/>
            <a:ext cx="1188720" cy="274320"/>
          </a:xfrm>
          <a:prstGeom prst="rect">
            <a:avLst/>
          </a:prstGeom>
          <a:noFill/>
          <a:ln/>
        </p:spPr>
        <p:txBody>
          <a:bodyPr wrap="square" lIns="0" tIns="0" rIns="0" bIns="0" rtlCol="0" anchor="ctr"/>
          <a:lstStyle/>
          <a:p>
            <a:pPr marL="0" indent="0" algn="ctr">
              <a:buNone/>
            </a:pPr>
            <a:r>
              <a:rPr lang="en-US" sz="1300" b="1" dirty="0">
                <a:solidFill>
                  <a:srgbClr val="4361EE"/>
                </a:solidFill>
                <a:latin typeface="Courier New" pitchFamily="34" charset="0"/>
                <a:ea typeface="Courier New" pitchFamily="34" charset="-122"/>
                <a:cs typeface="Courier New" pitchFamily="34" charset="-120"/>
              </a:rPr>
              <a:t>− 6</a:t>
            </a:r>
            <a:endParaRPr lang="en-US" sz="1300" dirty="0"/>
          </a:p>
        </p:txBody>
      </p:sp>
      <p:sp>
        <p:nvSpPr>
          <p:cNvPr id="13" name="Shape 11"/>
          <p:cNvSpPr/>
          <p:nvPr/>
        </p:nvSpPr>
        <p:spPr>
          <a:xfrm>
            <a:off x="3291840" y="2514600"/>
            <a:ext cx="1554480" cy="822960"/>
          </a:xfrm>
          <a:prstGeom prst="roundRect">
            <a:avLst>
              <a:gd name="adj" fmla="val 8889"/>
            </a:avLst>
          </a:prstGeom>
          <a:solidFill>
            <a:srgbClr val="EEF1FE"/>
          </a:solidFill>
          <a:ln w="19050">
            <a:solidFill>
              <a:srgbClr val="4361EE"/>
            </a:solidFill>
            <a:prstDash val="solid"/>
          </a:ln>
        </p:spPr>
        <p:txBody>
          <a:bodyPr/>
          <a:lstStyle/>
          <a:p>
            <a:endParaRPr lang="en-AU"/>
          </a:p>
        </p:txBody>
      </p:sp>
      <p:sp>
        <p:nvSpPr>
          <p:cNvPr id="14" name="Text 12"/>
          <p:cNvSpPr/>
          <p:nvPr/>
        </p:nvSpPr>
        <p:spPr>
          <a:xfrm>
            <a:off x="3291840" y="2514600"/>
            <a:ext cx="1554480" cy="822960"/>
          </a:xfrm>
          <a:prstGeom prst="rect">
            <a:avLst/>
          </a:prstGeom>
          <a:noFill/>
          <a:ln/>
        </p:spPr>
        <p:txBody>
          <a:bodyPr wrap="square" lIns="0" tIns="0" rIns="0" bIns="0" rtlCol="0" anchor="ctr"/>
          <a:lstStyle/>
          <a:p>
            <a:pPr marL="0" indent="0" algn="ctr">
              <a:buNone/>
            </a:pPr>
            <a:r>
              <a:rPr lang="en-US" sz="1800" b="1" dirty="0">
                <a:solidFill>
                  <a:srgbClr val="111827"/>
                </a:solidFill>
                <a:latin typeface="Courier New" pitchFamily="34" charset="0"/>
                <a:ea typeface="Courier New" pitchFamily="34" charset="-122"/>
                <a:cs typeface="Courier New" pitchFamily="34" charset="-120"/>
              </a:rPr>
              <a:t>8</a:t>
            </a:r>
            <a:endParaRPr lang="en-US" sz="1800" dirty="0"/>
          </a:p>
        </p:txBody>
      </p:sp>
      <p:sp>
        <p:nvSpPr>
          <p:cNvPr id="15" name="Text 13"/>
          <p:cNvSpPr/>
          <p:nvPr/>
        </p:nvSpPr>
        <p:spPr>
          <a:xfrm>
            <a:off x="5486400" y="2148840"/>
            <a:ext cx="3657600" cy="320040"/>
          </a:xfrm>
          <a:prstGeom prst="rect">
            <a:avLst/>
          </a:prstGeom>
          <a:noFill/>
          <a:ln/>
        </p:spPr>
        <p:txBody>
          <a:bodyPr wrap="square" lIns="0" tIns="0" rIns="0" bIns="0" rtlCol="0" anchor="ctr"/>
          <a:lstStyle/>
          <a:p>
            <a:pPr marL="0" indent="0">
              <a:buNone/>
            </a:pPr>
            <a:r>
              <a:rPr lang="en-US" sz="1200" b="1" kern="0" spc="100" dirty="0">
                <a:solidFill>
                  <a:srgbClr val="4B5563"/>
                </a:solidFill>
                <a:latin typeface="Courier New" pitchFamily="34" charset="0"/>
                <a:ea typeface="Courier New" pitchFamily="34" charset="-122"/>
                <a:cs typeface="Courier New" pitchFamily="34" charset="-120"/>
              </a:rPr>
              <a:t>BACKWARD (backtrack)</a:t>
            </a:r>
            <a:endParaRPr lang="en-US" sz="1200" dirty="0"/>
          </a:p>
        </p:txBody>
      </p:sp>
      <p:sp>
        <p:nvSpPr>
          <p:cNvPr id="16" name="Shape 14"/>
          <p:cNvSpPr/>
          <p:nvPr/>
        </p:nvSpPr>
        <p:spPr>
          <a:xfrm>
            <a:off x="8961120" y="2514600"/>
            <a:ext cx="1554480" cy="822960"/>
          </a:xfrm>
          <a:prstGeom prst="roundRect">
            <a:avLst>
              <a:gd name="adj" fmla="val 8889"/>
            </a:avLst>
          </a:prstGeom>
          <a:solidFill>
            <a:srgbClr val="E8FBF3"/>
          </a:solidFill>
          <a:ln w="19050">
            <a:solidFill>
              <a:srgbClr val="10B981"/>
            </a:solidFill>
            <a:prstDash val="solid"/>
          </a:ln>
        </p:spPr>
        <p:txBody>
          <a:bodyPr/>
          <a:lstStyle/>
          <a:p>
            <a:endParaRPr lang="en-AU"/>
          </a:p>
        </p:txBody>
      </p:sp>
      <p:sp>
        <p:nvSpPr>
          <p:cNvPr id="17" name="Text 15"/>
          <p:cNvSpPr/>
          <p:nvPr/>
        </p:nvSpPr>
        <p:spPr>
          <a:xfrm>
            <a:off x="8961120" y="2514600"/>
            <a:ext cx="1554480" cy="822960"/>
          </a:xfrm>
          <a:prstGeom prst="rect">
            <a:avLst/>
          </a:prstGeom>
          <a:noFill/>
          <a:ln/>
        </p:spPr>
        <p:txBody>
          <a:bodyPr wrap="square" lIns="0" tIns="0" rIns="0" bIns="0" rtlCol="0" anchor="ctr"/>
          <a:lstStyle/>
          <a:p>
            <a:pPr marL="0" indent="0" algn="ctr">
              <a:buNone/>
            </a:pPr>
            <a:r>
              <a:rPr lang="en-US" sz="1800" b="1" dirty="0">
                <a:solidFill>
                  <a:srgbClr val="111827"/>
                </a:solidFill>
                <a:latin typeface="Courier New" pitchFamily="34" charset="0"/>
                <a:ea typeface="Courier New" pitchFamily="34" charset="-122"/>
                <a:cs typeface="Courier New" pitchFamily="34" charset="-120"/>
              </a:rPr>
              <a:t>x = 14</a:t>
            </a:r>
            <a:endParaRPr lang="en-US" sz="1800" dirty="0"/>
          </a:p>
        </p:txBody>
      </p:sp>
      <p:sp>
        <p:nvSpPr>
          <p:cNvPr id="18" name="Shape 16"/>
          <p:cNvSpPr/>
          <p:nvPr/>
        </p:nvSpPr>
        <p:spPr>
          <a:xfrm>
            <a:off x="7635240" y="3154680"/>
            <a:ext cx="1188720" cy="0"/>
          </a:xfrm>
          <a:prstGeom prst="line">
            <a:avLst/>
          </a:prstGeom>
          <a:noFill/>
          <a:ln w="25400">
            <a:solidFill>
              <a:srgbClr val="4B5563"/>
            </a:solidFill>
            <a:prstDash val="solid"/>
            <a:tailEnd type="triangle"/>
          </a:ln>
        </p:spPr>
        <p:txBody>
          <a:bodyPr/>
          <a:lstStyle/>
          <a:p>
            <a:endParaRPr lang="en-AU"/>
          </a:p>
        </p:txBody>
      </p:sp>
      <p:sp>
        <p:nvSpPr>
          <p:cNvPr id="19" name="Text 17"/>
          <p:cNvSpPr/>
          <p:nvPr/>
        </p:nvSpPr>
        <p:spPr>
          <a:xfrm>
            <a:off x="7635240" y="2633472"/>
            <a:ext cx="1188720" cy="274320"/>
          </a:xfrm>
          <a:prstGeom prst="rect">
            <a:avLst/>
          </a:prstGeom>
          <a:noFill/>
          <a:ln/>
        </p:spPr>
        <p:txBody>
          <a:bodyPr wrap="square" lIns="0" tIns="0" rIns="0" bIns="0" rtlCol="0" anchor="ctr"/>
          <a:lstStyle/>
          <a:p>
            <a:pPr marL="0" indent="0" algn="ctr">
              <a:buNone/>
            </a:pPr>
            <a:r>
              <a:rPr lang="en-US" sz="1300" b="1" dirty="0">
                <a:solidFill>
                  <a:srgbClr val="4361EE"/>
                </a:solidFill>
                <a:latin typeface="Courier New" pitchFamily="34" charset="0"/>
                <a:ea typeface="Courier New" pitchFamily="34" charset="-122"/>
                <a:cs typeface="Courier New" pitchFamily="34" charset="-120"/>
              </a:rPr>
              <a:t>+ 6</a:t>
            </a:r>
            <a:endParaRPr lang="en-US" sz="1300" dirty="0"/>
          </a:p>
        </p:txBody>
      </p:sp>
      <p:sp>
        <p:nvSpPr>
          <p:cNvPr id="20" name="Shape 18"/>
          <p:cNvSpPr/>
          <p:nvPr/>
        </p:nvSpPr>
        <p:spPr>
          <a:xfrm>
            <a:off x="5486400" y="2514600"/>
            <a:ext cx="1554480" cy="822960"/>
          </a:xfrm>
          <a:prstGeom prst="roundRect">
            <a:avLst>
              <a:gd name="adj" fmla="val 8889"/>
            </a:avLst>
          </a:prstGeom>
          <a:solidFill>
            <a:srgbClr val="EEF1FE"/>
          </a:solidFill>
          <a:ln w="19050">
            <a:solidFill>
              <a:srgbClr val="4361EE"/>
            </a:solidFill>
            <a:prstDash val="solid"/>
          </a:ln>
        </p:spPr>
        <p:txBody>
          <a:bodyPr/>
          <a:lstStyle/>
          <a:p>
            <a:endParaRPr lang="en-AU"/>
          </a:p>
        </p:txBody>
      </p:sp>
      <p:sp>
        <p:nvSpPr>
          <p:cNvPr id="21" name="Text 19"/>
          <p:cNvSpPr/>
          <p:nvPr/>
        </p:nvSpPr>
        <p:spPr>
          <a:xfrm>
            <a:off x="5486400" y="2514600"/>
            <a:ext cx="1554480" cy="822960"/>
          </a:xfrm>
          <a:prstGeom prst="rect">
            <a:avLst/>
          </a:prstGeom>
          <a:noFill/>
          <a:ln/>
        </p:spPr>
        <p:txBody>
          <a:bodyPr wrap="square" lIns="0" tIns="0" rIns="0" bIns="0" rtlCol="0" anchor="ctr"/>
          <a:lstStyle/>
          <a:p>
            <a:pPr marL="0" indent="0" algn="ctr">
              <a:buNone/>
            </a:pPr>
            <a:r>
              <a:rPr lang="en-US" sz="1800" b="1" dirty="0">
                <a:solidFill>
                  <a:srgbClr val="111827"/>
                </a:solidFill>
                <a:latin typeface="Courier New" pitchFamily="34" charset="0"/>
                <a:ea typeface="Courier New" pitchFamily="34" charset="-122"/>
                <a:cs typeface="Courier New" pitchFamily="34" charset="-120"/>
              </a:rPr>
              <a:t>8</a:t>
            </a:r>
            <a:endParaRPr lang="en-US" sz="1800" dirty="0"/>
          </a:p>
        </p:txBody>
      </p:sp>
      <p:sp>
        <p:nvSpPr>
          <p:cNvPr id="22" name="Shape 20"/>
          <p:cNvSpPr/>
          <p:nvPr/>
        </p:nvSpPr>
        <p:spPr>
          <a:xfrm>
            <a:off x="457200" y="3611880"/>
            <a:ext cx="11247120" cy="685800"/>
          </a:xfrm>
          <a:prstGeom prst="roundRect">
            <a:avLst>
              <a:gd name="adj" fmla="val 10667"/>
            </a:avLst>
          </a:prstGeom>
          <a:solidFill>
            <a:srgbClr val="FAFBFF"/>
          </a:solidFill>
          <a:ln w="9525">
            <a:solidFill>
              <a:srgbClr val="E5E7EB"/>
            </a:solidFill>
            <a:prstDash val="solid"/>
          </a:ln>
        </p:spPr>
        <p:txBody>
          <a:bodyPr/>
          <a:lstStyle/>
          <a:p>
            <a:endParaRPr lang="en-AU"/>
          </a:p>
        </p:txBody>
      </p:sp>
      <p:sp>
        <p:nvSpPr>
          <p:cNvPr id="23" name="Text 21"/>
          <p:cNvSpPr/>
          <p:nvPr/>
        </p:nvSpPr>
        <p:spPr>
          <a:xfrm>
            <a:off x="731520" y="3611880"/>
            <a:ext cx="3840480" cy="685800"/>
          </a:xfrm>
          <a:prstGeom prst="rect">
            <a:avLst/>
          </a:prstGeom>
          <a:noFill/>
          <a:ln/>
        </p:spPr>
        <p:txBody>
          <a:bodyPr wrap="square" lIns="0" tIns="0" rIns="0" bIns="0" rtlCol="0" anchor="ctr"/>
          <a:lstStyle/>
          <a:p>
            <a:pPr marL="0" indent="0">
              <a:buNone/>
            </a:pPr>
            <a:r>
              <a:rPr lang="en-US" sz="1600" b="1" dirty="0">
                <a:solidFill>
                  <a:srgbClr val="111827"/>
                </a:solidFill>
                <a:latin typeface="Courier New" pitchFamily="34" charset="0"/>
                <a:ea typeface="Courier New" pitchFamily="34" charset="-122"/>
                <a:cs typeface="Courier New" pitchFamily="34" charset="-120"/>
              </a:rPr>
              <a:t>Start at the answer (8)</a:t>
            </a:r>
            <a:endParaRPr lang="en-US" sz="1600" dirty="0"/>
          </a:p>
        </p:txBody>
      </p:sp>
      <p:sp>
        <p:nvSpPr>
          <p:cNvPr id="24" name="Text 22"/>
          <p:cNvSpPr/>
          <p:nvPr/>
        </p:nvSpPr>
        <p:spPr>
          <a:xfrm>
            <a:off x="4663440" y="3611880"/>
            <a:ext cx="6766560" cy="68580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and the reversed diagram: + 6 instead of − 6.</a:t>
            </a:r>
            <a:endParaRPr lang="en-US" sz="1400" dirty="0"/>
          </a:p>
        </p:txBody>
      </p:sp>
      <p:sp>
        <p:nvSpPr>
          <p:cNvPr id="25" name="Shape 23"/>
          <p:cNvSpPr/>
          <p:nvPr/>
        </p:nvSpPr>
        <p:spPr>
          <a:xfrm>
            <a:off x="457200" y="4434840"/>
            <a:ext cx="11247120" cy="685800"/>
          </a:xfrm>
          <a:prstGeom prst="roundRect">
            <a:avLst>
              <a:gd name="adj" fmla="val 10667"/>
            </a:avLst>
          </a:prstGeom>
          <a:solidFill>
            <a:srgbClr val="FFFFFF"/>
          </a:solidFill>
          <a:ln w="9525">
            <a:solidFill>
              <a:srgbClr val="E5E7EB"/>
            </a:solidFill>
            <a:prstDash val="solid"/>
          </a:ln>
        </p:spPr>
        <p:txBody>
          <a:bodyPr/>
          <a:lstStyle/>
          <a:p>
            <a:endParaRPr lang="en-AU"/>
          </a:p>
        </p:txBody>
      </p:sp>
      <p:sp>
        <p:nvSpPr>
          <p:cNvPr id="26" name="Text 24"/>
          <p:cNvSpPr/>
          <p:nvPr/>
        </p:nvSpPr>
        <p:spPr>
          <a:xfrm>
            <a:off x="731520" y="4434840"/>
            <a:ext cx="3840480" cy="685800"/>
          </a:xfrm>
          <a:prstGeom prst="rect">
            <a:avLst/>
          </a:prstGeom>
          <a:noFill/>
          <a:ln/>
        </p:spPr>
        <p:txBody>
          <a:bodyPr wrap="square" lIns="0" tIns="0" rIns="0" bIns="0" rtlCol="0" anchor="ctr"/>
          <a:lstStyle/>
          <a:p>
            <a:pPr marL="0" indent="0">
              <a:buNone/>
            </a:pPr>
            <a:r>
              <a:rPr lang="en-US" sz="1600" b="1" dirty="0">
                <a:solidFill>
                  <a:srgbClr val="111827"/>
                </a:solidFill>
                <a:latin typeface="Courier New" pitchFamily="34" charset="0"/>
                <a:ea typeface="Courier New" pitchFamily="34" charset="-122"/>
                <a:cs typeface="Courier New" pitchFamily="34" charset="-120"/>
              </a:rPr>
              <a:t>8 + 6 = 14</a:t>
            </a:r>
            <a:endParaRPr lang="en-US" sz="1600" dirty="0"/>
          </a:p>
        </p:txBody>
      </p:sp>
      <p:sp>
        <p:nvSpPr>
          <p:cNvPr id="27" name="Text 25"/>
          <p:cNvSpPr/>
          <p:nvPr/>
        </p:nvSpPr>
        <p:spPr>
          <a:xfrm>
            <a:off x="4663440" y="4434840"/>
            <a:ext cx="6766560" cy="68580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so x = 14.</a:t>
            </a:r>
            <a:endParaRPr lang="en-US" sz="1400" dirty="0"/>
          </a:p>
        </p:txBody>
      </p:sp>
      <p:sp>
        <p:nvSpPr>
          <p:cNvPr id="28" name="Shape 26"/>
          <p:cNvSpPr/>
          <p:nvPr/>
        </p:nvSpPr>
        <p:spPr>
          <a:xfrm>
            <a:off x="457200" y="5257800"/>
            <a:ext cx="11247120" cy="685800"/>
          </a:xfrm>
          <a:prstGeom prst="roundRect">
            <a:avLst>
              <a:gd name="adj" fmla="val 10667"/>
            </a:avLst>
          </a:prstGeom>
          <a:solidFill>
            <a:srgbClr val="E8FBF3"/>
          </a:solidFill>
          <a:ln w="9525">
            <a:solidFill>
              <a:srgbClr val="E5E7EB"/>
            </a:solidFill>
            <a:prstDash val="solid"/>
          </a:ln>
        </p:spPr>
        <p:txBody>
          <a:bodyPr/>
          <a:lstStyle/>
          <a:p>
            <a:endParaRPr lang="en-AU"/>
          </a:p>
        </p:txBody>
      </p:sp>
      <p:sp>
        <p:nvSpPr>
          <p:cNvPr id="29" name="Text 27"/>
          <p:cNvSpPr/>
          <p:nvPr/>
        </p:nvSpPr>
        <p:spPr>
          <a:xfrm>
            <a:off x="731520" y="5257800"/>
            <a:ext cx="3840480" cy="685800"/>
          </a:xfrm>
          <a:prstGeom prst="rect">
            <a:avLst/>
          </a:prstGeom>
          <a:noFill/>
          <a:ln/>
        </p:spPr>
        <p:txBody>
          <a:bodyPr wrap="square" lIns="0" tIns="0" rIns="0" bIns="0" rtlCol="0" anchor="ctr"/>
          <a:lstStyle/>
          <a:p>
            <a:pPr marL="0" indent="0">
              <a:buNone/>
            </a:pPr>
            <a:r>
              <a:rPr lang="en-US" sz="1600" b="1" dirty="0">
                <a:solidFill>
                  <a:srgbClr val="10B981"/>
                </a:solidFill>
                <a:latin typeface="Courier New" pitchFamily="34" charset="0"/>
                <a:ea typeface="Courier New" pitchFamily="34" charset="-122"/>
                <a:cs typeface="Courier New" pitchFamily="34" charset="-120"/>
              </a:rPr>
              <a:t>Check: 14 − 6 = 8  ✓</a:t>
            </a:r>
            <a:endParaRPr lang="en-US" sz="1600" dirty="0"/>
          </a:p>
        </p:txBody>
      </p:sp>
      <p:sp>
        <p:nvSpPr>
          <p:cNvPr id="30" name="Text 28"/>
          <p:cNvSpPr/>
          <p:nvPr/>
        </p:nvSpPr>
        <p:spPr>
          <a:xfrm>
            <a:off x="4663440" y="5257800"/>
            <a:ext cx="6766560" cy="68580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Substitute x = 14 back into the original equation.</a:t>
            </a:r>
            <a:endParaRPr lang="en-US" sz="1400" dirty="0"/>
          </a:p>
        </p:txBody>
      </p:sp>
      <p:sp>
        <p:nvSpPr>
          <p:cNvPr id="31" name="Shape 29"/>
          <p:cNvSpPr/>
          <p:nvPr/>
        </p:nvSpPr>
        <p:spPr>
          <a:xfrm>
            <a:off x="457200" y="6080760"/>
            <a:ext cx="11247120" cy="457200"/>
          </a:xfrm>
          <a:prstGeom prst="roundRect">
            <a:avLst>
              <a:gd name="adj" fmla="val 16000"/>
            </a:avLst>
          </a:prstGeom>
          <a:solidFill>
            <a:srgbClr val="F3EEFE"/>
          </a:solidFill>
          <a:ln/>
        </p:spPr>
        <p:txBody>
          <a:bodyPr/>
          <a:lstStyle/>
          <a:p>
            <a:endParaRPr lang="en-AU"/>
          </a:p>
        </p:txBody>
      </p:sp>
      <p:sp>
        <p:nvSpPr>
          <p:cNvPr id="32" name="Text 30"/>
          <p:cNvSpPr/>
          <p:nvPr/>
        </p:nvSpPr>
        <p:spPr>
          <a:xfrm>
            <a:off x="457200" y="6080760"/>
            <a:ext cx="11247120" cy="457200"/>
          </a:xfrm>
          <a:prstGeom prst="rect">
            <a:avLst/>
          </a:prstGeom>
          <a:noFill/>
          <a:ln/>
        </p:spPr>
        <p:txBody>
          <a:bodyPr wrap="square" lIns="0" tIns="0" rIns="0" bIns="0" rtlCol="0" anchor="ctr"/>
          <a:lstStyle/>
          <a:p>
            <a:pPr marL="0" indent="0" algn="ctr">
              <a:buNone/>
            </a:pPr>
            <a:r>
              <a:rPr lang="en-US" sz="1300" i="1" dirty="0">
                <a:solidFill>
                  <a:srgbClr val="5B21B6"/>
                </a:solidFill>
                <a:latin typeface="Calibri" pitchFamily="34" charset="0"/>
                <a:ea typeface="Calibri" pitchFamily="34" charset="-122"/>
                <a:cs typeface="Calibri" pitchFamily="34" charset="-120"/>
              </a:rPr>
              <a:t>Notice: this is the exact same answer we'd get with the balance method — both methods always agree.</a:t>
            </a:r>
            <a:endParaRPr lang="en-US" sz="1300" dirty="0"/>
          </a:p>
        </p:txBody>
      </p:sp>
      <p:sp>
        <p:nvSpPr>
          <p:cNvPr id="33" name="Text 31"/>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34" name="Text 32"/>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4361EE"/>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EXPLICIT</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Flowchart Method — The Steps</a:t>
            </a:r>
            <a:endParaRPr lang="en-US" sz="3200" dirty="0"/>
          </a:p>
        </p:txBody>
      </p:sp>
      <p:sp>
        <p:nvSpPr>
          <p:cNvPr id="7" name="Shape 5"/>
          <p:cNvSpPr/>
          <p:nvPr/>
        </p:nvSpPr>
        <p:spPr>
          <a:xfrm>
            <a:off x="457200" y="1600200"/>
            <a:ext cx="11247120" cy="365760"/>
          </a:xfrm>
          <a:prstGeom prst="roundRect">
            <a:avLst>
              <a:gd name="adj" fmla="val 15000"/>
            </a:avLst>
          </a:prstGeom>
          <a:solidFill>
            <a:srgbClr val="FEF6E7"/>
          </a:solidFill>
          <a:ln w="12700">
            <a:solidFill>
              <a:srgbClr val="F59E0B"/>
            </a:solidFill>
            <a:prstDash val="solid"/>
          </a:ln>
        </p:spPr>
        <p:txBody>
          <a:bodyPr/>
          <a:lstStyle/>
          <a:p>
            <a:endParaRPr lang="en-AU"/>
          </a:p>
        </p:txBody>
      </p:sp>
      <p:sp>
        <p:nvSpPr>
          <p:cNvPr id="8" name="Text 6"/>
          <p:cNvSpPr/>
          <p:nvPr/>
        </p:nvSpPr>
        <p:spPr>
          <a:xfrm>
            <a:off x="457200" y="1600200"/>
            <a:ext cx="11247120" cy="365760"/>
          </a:xfrm>
          <a:prstGeom prst="rect">
            <a:avLst/>
          </a:prstGeom>
          <a:noFill/>
          <a:ln/>
        </p:spPr>
        <p:txBody>
          <a:bodyPr wrap="square" lIns="0" tIns="0" rIns="0" bIns="0" rtlCol="0" anchor="ctr"/>
          <a:lstStyle/>
          <a:p>
            <a:pPr marL="0" indent="0" algn="ctr">
              <a:buNone/>
            </a:pPr>
            <a:r>
              <a:rPr lang="en-US" sz="1200" b="1" dirty="0">
                <a:solidFill>
                  <a:srgbClr val="92610A"/>
                </a:solidFill>
                <a:latin typeface="Courier New" pitchFamily="34" charset="0"/>
                <a:ea typeface="Courier New" pitchFamily="34" charset="-122"/>
                <a:cs typeface="Courier New" pitchFamily="34" charset="-120"/>
              </a:rPr>
              <a:t>📋 COPY THIS INTO YOUR NOTES</a:t>
            </a:r>
            <a:endParaRPr lang="en-US" sz="1200" dirty="0"/>
          </a:p>
        </p:txBody>
      </p:sp>
      <p:sp>
        <p:nvSpPr>
          <p:cNvPr id="9" name="Shape 7"/>
          <p:cNvSpPr/>
          <p:nvPr/>
        </p:nvSpPr>
        <p:spPr>
          <a:xfrm>
            <a:off x="548640" y="2194560"/>
            <a:ext cx="548640" cy="548640"/>
          </a:xfrm>
          <a:prstGeom prst="ellipse">
            <a:avLst/>
          </a:prstGeom>
          <a:solidFill>
            <a:srgbClr val="4361EE"/>
          </a:solidFill>
          <a:ln/>
        </p:spPr>
        <p:txBody>
          <a:bodyPr/>
          <a:lstStyle/>
          <a:p>
            <a:endParaRPr lang="en-AU"/>
          </a:p>
        </p:txBody>
      </p:sp>
      <p:sp>
        <p:nvSpPr>
          <p:cNvPr id="10" name="Text 8"/>
          <p:cNvSpPr/>
          <p:nvPr/>
        </p:nvSpPr>
        <p:spPr>
          <a:xfrm>
            <a:off x="548640" y="21945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1</a:t>
            </a:r>
            <a:endParaRPr lang="en-US" sz="2000" dirty="0"/>
          </a:p>
        </p:txBody>
      </p:sp>
      <p:sp>
        <p:nvSpPr>
          <p:cNvPr id="11" name="Shape 9"/>
          <p:cNvSpPr/>
          <p:nvPr/>
        </p:nvSpPr>
        <p:spPr>
          <a:xfrm>
            <a:off x="1280160" y="2148840"/>
            <a:ext cx="10424160" cy="640080"/>
          </a:xfrm>
          <a:prstGeom prst="roundRect">
            <a:avLst>
              <a:gd name="adj" fmla="val 11429"/>
            </a:avLst>
          </a:prstGeom>
          <a:solidFill>
            <a:srgbClr val="FAFBFF"/>
          </a:solidFill>
          <a:ln w="9525">
            <a:solidFill>
              <a:srgbClr val="E5E7EB"/>
            </a:solidFill>
            <a:prstDash val="solid"/>
          </a:ln>
        </p:spPr>
        <p:txBody>
          <a:bodyPr/>
          <a:lstStyle/>
          <a:p>
            <a:endParaRPr lang="en-AU"/>
          </a:p>
        </p:txBody>
      </p:sp>
      <p:sp>
        <p:nvSpPr>
          <p:cNvPr id="12" name="Text 10"/>
          <p:cNvSpPr/>
          <p:nvPr/>
        </p:nvSpPr>
        <p:spPr>
          <a:xfrm>
            <a:off x="1508760" y="2148840"/>
            <a:ext cx="9966960" cy="640080"/>
          </a:xfrm>
          <a:prstGeom prst="rect">
            <a:avLst/>
          </a:prstGeom>
          <a:noFill/>
          <a:ln/>
        </p:spPr>
        <p:txBody>
          <a:bodyPr wrap="square" lIns="0" tIns="0" rIns="0" bIns="0" rtlCol="0" anchor="ctr"/>
          <a:lstStyle/>
          <a:p>
            <a:pPr marL="0" indent="0">
              <a:buNone/>
            </a:pPr>
            <a:r>
              <a:rPr lang="en-US" sz="1600" dirty="0">
                <a:solidFill>
                  <a:srgbClr val="111827"/>
                </a:solidFill>
                <a:latin typeface="Calibri" pitchFamily="34" charset="0"/>
                <a:ea typeface="Calibri" pitchFamily="34" charset="-122"/>
                <a:cs typeface="Calibri" pitchFamily="34" charset="-120"/>
              </a:rPr>
              <a:t>Draw the FORWARD flow diagram for the equation: start → operation(s) → result.</a:t>
            </a:r>
            <a:endParaRPr lang="en-US" sz="1600" dirty="0"/>
          </a:p>
        </p:txBody>
      </p:sp>
      <p:sp>
        <p:nvSpPr>
          <p:cNvPr id="13" name="Shape 11"/>
          <p:cNvSpPr/>
          <p:nvPr/>
        </p:nvSpPr>
        <p:spPr>
          <a:xfrm>
            <a:off x="548640" y="3017520"/>
            <a:ext cx="548640" cy="548640"/>
          </a:xfrm>
          <a:prstGeom prst="ellipse">
            <a:avLst/>
          </a:prstGeom>
          <a:solidFill>
            <a:srgbClr val="4361EE"/>
          </a:solidFill>
          <a:ln/>
        </p:spPr>
        <p:txBody>
          <a:bodyPr/>
          <a:lstStyle/>
          <a:p>
            <a:endParaRPr lang="en-AU"/>
          </a:p>
        </p:txBody>
      </p:sp>
      <p:sp>
        <p:nvSpPr>
          <p:cNvPr id="14" name="Text 12"/>
          <p:cNvSpPr/>
          <p:nvPr/>
        </p:nvSpPr>
        <p:spPr>
          <a:xfrm>
            <a:off x="548640" y="301752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2</a:t>
            </a:r>
            <a:endParaRPr lang="en-US" sz="2000" dirty="0"/>
          </a:p>
        </p:txBody>
      </p:sp>
      <p:sp>
        <p:nvSpPr>
          <p:cNvPr id="15" name="Shape 13"/>
          <p:cNvSpPr/>
          <p:nvPr/>
        </p:nvSpPr>
        <p:spPr>
          <a:xfrm>
            <a:off x="1280160" y="2971800"/>
            <a:ext cx="10424160" cy="640080"/>
          </a:xfrm>
          <a:prstGeom prst="roundRect">
            <a:avLst>
              <a:gd name="adj" fmla="val 11429"/>
            </a:avLst>
          </a:prstGeom>
          <a:solidFill>
            <a:srgbClr val="FAFBFF"/>
          </a:solidFill>
          <a:ln w="9525">
            <a:solidFill>
              <a:srgbClr val="E5E7EB"/>
            </a:solidFill>
            <a:prstDash val="solid"/>
          </a:ln>
        </p:spPr>
        <p:txBody>
          <a:bodyPr/>
          <a:lstStyle/>
          <a:p>
            <a:endParaRPr lang="en-AU"/>
          </a:p>
        </p:txBody>
      </p:sp>
      <p:sp>
        <p:nvSpPr>
          <p:cNvPr id="16" name="Text 14"/>
          <p:cNvSpPr/>
          <p:nvPr/>
        </p:nvSpPr>
        <p:spPr>
          <a:xfrm>
            <a:off x="1508760" y="2971800"/>
            <a:ext cx="9966960" cy="640080"/>
          </a:xfrm>
          <a:prstGeom prst="rect">
            <a:avLst/>
          </a:prstGeom>
          <a:noFill/>
          <a:ln/>
        </p:spPr>
        <p:txBody>
          <a:bodyPr wrap="square" lIns="0" tIns="0" rIns="0" bIns="0" rtlCol="0" anchor="ctr"/>
          <a:lstStyle/>
          <a:p>
            <a:pPr marL="0" indent="0">
              <a:buNone/>
            </a:pPr>
            <a:r>
              <a:rPr lang="en-US" sz="1600" dirty="0">
                <a:solidFill>
                  <a:srgbClr val="111827"/>
                </a:solidFill>
                <a:latin typeface="Calibri" pitchFamily="34" charset="0"/>
                <a:ea typeface="Calibri" pitchFamily="34" charset="-122"/>
                <a:cs typeface="Calibri" pitchFamily="34" charset="-120"/>
              </a:rPr>
              <a:t>Reverse the diagram: swap each operation for its inverse, and reverse the arrows.</a:t>
            </a:r>
            <a:endParaRPr lang="en-US" sz="1600" dirty="0"/>
          </a:p>
        </p:txBody>
      </p:sp>
      <p:sp>
        <p:nvSpPr>
          <p:cNvPr id="17" name="Shape 15"/>
          <p:cNvSpPr/>
          <p:nvPr/>
        </p:nvSpPr>
        <p:spPr>
          <a:xfrm>
            <a:off x="548640" y="3840480"/>
            <a:ext cx="548640" cy="548640"/>
          </a:xfrm>
          <a:prstGeom prst="ellipse">
            <a:avLst/>
          </a:prstGeom>
          <a:solidFill>
            <a:srgbClr val="4361EE"/>
          </a:solidFill>
          <a:ln/>
        </p:spPr>
        <p:txBody>
          <a:bodyPr/>
          <a:lstStyle/>
          <a:p>
            <a:endParaRPr lang="en-AU"/>
          </a:p>
        </p:txBody>
      </p:sp>
      <p:sp>
        <p:nvSpPr>
          <p:cNvPr id="18" name="Text 16"/>
          <p:cNvSpPr/>
          <p:nvPr/>
        </p:nvSpPr>
        <p:spPr>
          <a:xfrm>
            <a:off x="548640" y="38404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3</a:t>
            </a:r>
            <a:endParaRPr lang="en-US" sz="2000" dirty="0"/>
          </a:p>
        </p:txBody>
      </p:sp>
      <p:sp>
        <p:nvSpPr>
          <p:cNvPr id="19" name="Shape 17"/>
          <p:cNvSpPr/>
          <p:nvPr/>
        </p:nvSpPr>
        <p:spPr>
          <a:xfrm>
            <a:off x="1280160" y="3794760"/>
            <a:ext cx="10424160" cy="640080"/>
          </a:xfrm>
          <a:prstGeom prst="roundRect">
            <a:avLst>
              <a:gd name="adj" fmla="val 11429"/>
            </a:avLst>
          </a:prstGeom>
          <a:solidFill>
            <a:srgbClr val="FAFBFF"/>
          </a:solidFill>
          <a:ln w="9525">
            <a:solidFill>
              <a:srgbClr val="E5E7EB"/>
            </a:solidFill>
            <a:prstDash val="solid"/>
          </a:ln>
        </p:spPr>
        <p:txBody>
          <a:bodyPr/>
          <a:lstStyle/>
          <a:p>
            <a:endParaRPr lang="en-AU"/>
          </a:p>
        </p:txBody>
      </p:sp>
      <p:sp>
        <p:nvSpPr>
          <p:cNvPr id="20" name="Text 18"/>
          <p:cNvSpPr/>
          <p:nvPr/>
        </p:nvSpPr>
        <p:spPr>
          <a:xfrm>
            <a:off x="1508760" y="3794760"/>
            <a:ext cx="9966960" cy="640080"/>
          </a:xfrm>
          <a:prstGeom prst="rect">
            <a:avLst/>
          </a:prstGeom>
          <a:noFill/>
          <a:ln/>
        </p:spPr>
        <p:txBody>
          <a:bodyPr wrap="square" lIns="0" tIns="0" rIns="0" bIns="0" rtlCol="0" anchor="ctr"/>
          <a:lstStyle/>
          <a:p>
            <a:pPr marL="0" indent="0">
              <a:buNone/>
            </a:pPr>
            <a:r>
              <a:rPr lang="en-US" sz="1600" dirty="0">
                <a:solidFill>
                  <a:srgbClr val="111827"/>
                </a:solidFill>
                <a:latin typeface="Calibri" pitchFamily="34" charset="0"/>
                <a:ea typeface="Calibri" pitchFamily="34" charset="-122"/>
                <a:cs typeface="Calibri" pitchFamily="34" charset="-120"/>
              </a:rPr>
              <a:t>Start from the result side and work backwards through the reversed diagram.</a:t>
            </a:r>
            <a:endParaRPr lang="en-US" sz="1600" dirty="0"/>
          </a:p>
        </p:txBody>
      </p:sp>
      <p:sp>
        <p:nvSpPr>
          <p:cNvPr id="21" name="Shape 19"/>
          <p:cNvSpPr/>
          <p:nvPr/>
        </p:nvSpPr>
        <p:spPr>
          <a:xfrm>
            <a:off x="548640" y="4663440"/>
            <a:ext cx="548640" cy="548640"/>
          </a:xfrm>
          <a:prstGeom prst="ellipse">
            <a:avLst/>
          </a:prstGeom>
          <a:solidFill>
            <a:srgbClr val="4361EE"/>
          </a:solidFill>
          <a:ln/>
        </p:spPr>
        <p:txBody>
          <a:bodyPr/>
          <a:lstStyle/>
          <a:p>
            <a:endParaRPr lang="en-AU"/>
          </a:p>
        </p:txBody>
      </p:sp>
      <p:sp>
        <p:nvSpPr>
          <p:cNvPr id="22" name="Text 20"/>
          <p:cNvSpPr/>
          <p:nvPr/>
        </p:nvSpPr>
        <p:spPr>
          <a:xfrm>
            <a:off x="548640" y="46634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4</a:t>
            </a:r>
            <a:endParaRPr lang="en-US" sz="2000" dirty="0"/>
          </a:p>
        </p:txBody>
      </p:sp>
      <p:sp>
        <p:nvSpPr>
          <p:cNvPr id="23" name="Shape 21"/>
          <p:cNvSpPr/>
          <p:nvPr/>
        </p:nvSpPr>
        <p:spPr>
          <a:xfrm>
            <a:off x="1280160" y="4617720"/>
            <a:ext cx="10424160" cy="640080"/>
          </a:xfrm>
          <a:prstGeom prst="roundRect">
            <a:avLst>
              <a:gd name="adj" fmla="val 11429"/>
            </a:avLst>
          </a:prstGeom>
          <a:solidFill>
            <a:srgbClr val="FAFBFF"/>
          </a:solidFill>
          <a:ln w="9525">
            <a:solidFill>
              <a:srgbClr val="E5E7EB"/>
            </a:solidFill>
            <a:prstDash val="solid"/>
          </a:ln>
        </p:spPr>
        <p:txBody>
          <a:bodyPr/>
          <a:lstStyle/>
          <a:p>
            <a:endParaRPr lang="en-AU"/>
          </a:p>
        </p:txBody>
      </p:sp>
      <p:sp>
        <p:nvSpPr>
          <p:cNvPr id="24" name="Text 22"/>
          <p:cNvSpPr/>
          <p:nvPr/>
        </p:nvSpPr>
        <p:spPr>
          <a:xfrm>
            <a:off x="1508760" y="4617720"/>
            <a:ext cx="9966960" cy="640080"/>
          </a:xfrm>
          <a:prstGeom prst="rect">
            <a:avLst/>
          </a:prstGeom>
          <a:noFill/>
          <a:ln/>
        </p:spPr>
        <p:txBody>
          <a:bodyPr wrap="square" lIns="0" tIns="0" rIns="0" bIns="0" rtlCol="0" anchor="ctr"/>
          <a:lstStyle/>
          <a:p>
            <a:pPr marL="0" indent="0">
              <a:buNone/>
            </a:pPr>
            <a:r>
              <a:rPr lang="en-US" sz="1600" dirty="0">
                <a:solidFill>
                  <a:srgbClr val="111827"/>
                </a:solidFill>
                <a:latin typeface="Calibri" pitchFamily="34" charset="0"/>
                <a:ea typeface="Calibri" pitchFamily="34" charset="-122"/>
                <a:cs typeface="Calibri" pitchFamily="34" charset="-120"/>
              </a:rPr>
              <a:t>Check your answer — substitute it back into the original equation.</a:t>
            </a:r>
            <a:endParaRPr lang="en-US" sz="1600" dirty="0"/>
          </a:p>
        </p:txBody>
      </p:sp>
      <p:sp>
        <p:nvSpPr>
          <p:cNvPr id="25" name="Text 23"/>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26" name="Text 24"/>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4361EE"/>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EXPLICIT</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Always Check: Verifying by Substitution</a:t>
            </a:r>
            <a:endParaRPr lang="en-US" sz="3200" dirty="0"/>
          </a:p>
        </p:txBody>
      </p:sp>
      <p:sp>
        <p:nvSpPr>
          <p:cNvPr id="7" name="Text 5"/>
          <p:cNvSpPr/>
          <p:nvPr/>
        </p:nvSpPr>
        <p:spPr>
          <a:xfrm>
            <a:off x="457200" y="1645920"/>
            <a:ext cx="11247120" cy="548640"/>
          </a:xfrm>
          <a:prstGeom prst="rect">
            <a:avLst/>
          </a:prstGeom>
          <a:noFill/>
          <a:ln/>
        </p:spPr>
        <p:txBody>
          <a:bodyPr wrap="square" lIns="0" tIns="0" rIns="0" bIns="0" rtlCol="0" anchor="ctr"/>
          <a:lstStyle/>
          <a:p>
            <a:pPr marL="0" indent="0">
              <a:buNone/>
            </a:pPr>
            <a:r>
              <a:rPr lang="en-US" sz="1700" dirty="0">
                <a:solidFill>
                  <a:srgbClr val="4B5563"/>
                </a:solidFill>
                <a:latin typeface="Calibri" pitchFamily="34" charset="0"/>
                <a:ea typeface="Calibri" pitchFamily="34" charset="-122"/>
                <a:cs typeface="Calibri" pitchFamily="34" charset="-120"/>
              </a:rPr>
              <a:t>Whichever method you use, the last step is always the same — substitute your answer back into the ORIGINAL equation.</a:t>
            </a:r>
            <a:endParaRPr lang="en-US" sz="1700" dirty="0"/>
          </a:p>
        </p:txBody>
      </p:sp>
      <p:sp>
        <p:nvSpPr>
          <p:cNvPr id="8" name="Shape 6"/>
          <p:cNvSpPr/>
          <p:nvPr/>
        </p:nvSpPr>
        <p:spPr>
          <a:xfrm>
            <a:off x="457200" y="2377440"/>
            <a:ext cx="11247120" cy="1828800"/>
          </a:xfrm>
          <a:prstGeom prst="roundRect">
            <a:avLst>
              <a:gd name="adj" fmla="val 5000"/>
            </a:avLst>
          </a:prstGeom>
          <a:solidFill>
            <a:srgbClr val="E8FBF3"/>
          </a:solidFill>
          <a:ln w="12700">
            <a:solidFill>
              <a:srgbClr val="10B981"/>
            </a:solidFill>
            <a:prstDash val="solid"/>
          </a:ln>
        </p:spPr>
        <p:txBody>
          <a:bodyPr/>
          <a:lstStyle/>
          <a:p>
            <a:endParaRPr lang="en-AU"/>
          </a:p>
        </p:txBody>
      </p:sp>
      <p:sp>
        <p:nvSpPr>
          <p:cNvPr id="9" name="Text 7"/>
          <p:cNvSpPr/>
          <p:nvPr/>
        </p:nvSpPr>
        <p:spPr>
          <a:xfrm>
            <a:off x="777240" y="2560320"/>
            <a:ext cx="10607040" cy="457200"/>
          </a:xfrm>
          <a:prstGeom prst="rect">
            <a:avLst/>
          </a:prstGeom>
          <a:noFill/>
          <a:ln/>
        </p:spPr>
        <p:txBody>
          <a:bodyPr wrap="square" lIns="0" tIns="0" rIns="0" bIns="0" rtlCol="0" anchor="ctr"/>
          <a:lstStyle/>
          <a:p>
            <a:pPr marL="0" indent="0">
              <a:buNone/>
            </a:pPr>
            <a:r>
              <a:rPr lang="en-US" sz="1700" b="1" dirty="0">
                <a:solidFill>
                  <a:srgbClr val="111827"/>
                </a:solidFill>
                <a:latin typeface="Courier New" pitchFamily="34" charset="0"/>
                <a:ea typeface="Courier New" pitchFamily="34" charset="-122"/>
                <a:cs typeface="Courier New" pitchFamily="34" charset="-120"/>
              </a:rPr>
              <a:t>Example:  a student says the solution to  x + 9 = 16  is  x = 7</a:t>
            </a:r>
            <a:endParaRPr lang="en-US" sz="1700" dirty="0"/>
          </a:p>
        </p:txBody>
      </p:sp>
      <p:sp>
        <p:nvSpPr>
          <p:cNvPr id="10" name="Text 8"/>
          <p:cNvSpPr/>
          <p:nvPr/>
        </p:nvSpPr>
        <p:spPr>
          <a:xfrm>
            <a:off x="777240" y="3063240"/>
            <a:ext cx="10607040" cy="457200"/>
          </a:xfrm>
          <a:prstGeom prst="rect">
            <a:avLst/>
          </a:prstGeom>
          <a:noFill/>
          <a:ln/>
        </p:spPr>
        <p:txBody>
          <a:bodyPr wrap="square" lIns="0" tIns="0" rIns="0" bIns="0" rtlCol="0" anchor="ctr"/>
          <a:lstStyle/>
          <a:p>
            <a:pPr marL="0" indent="0">
              <a:buNone/>
            </a:pPr>
            <a:r>
              <a:rPr lang="en-US" sz="1700" dirty="0">
                <a:solidFill>
                  <a:srgbClr val="047857"/>
                </a:solidFill>
                <a:latin typeface="Courier New" pitchFamily="34" charset="0"/>
                <a:ea typeface="Courier New" pitchFamily="34" charset="-122"/>
                <a:cs typeface="Courier New" pitchFamily="34" charset="-120"/>
              </a:rPr>
              <a:t>Substitute:  7 + 9 = 16   →   16 = 16  ✓ True — the solution is correct.</a:t>
            </a:r>
            <a:endParaRPr lang="en-US" sz="1700" dirty="0"/>
          </a:p>
        </p:txBody>
      </p:sp>
      <p:sp>
        <p:nvSpPr>
          <p:cNvPr id="11" name="Text 9"/>
          <p:cNvSpPr/>
          <p:nvPr/>
        </p:nvSpPr>
        <p:spPr>
          <a:xfrm>
            <a:off x="777240" y="3611880"/>
            <a:ext cx="10607040" cy="502920"/>
          </a:xfrm>
          <a:prstGeom prst="rect">
            <a:avLst/>
          </a:prstGeom>
          <a:noFill/>
          <a:ln/>
        </p:spPr>
        <p:txBody>
          <a:bodyPr wrap="square" lIns="0" tIns="0" rIns="0" bIns="0" rtlCol="0" anchor="ctr"/>
          <a:lstStyle/>
          <a:p>
            <a:pPr marL="0" indent="0">
              <a:buNone/>
            </a:pPr>
            <a:r>
              <a:rPr lang="en-US" sz="1400" i="1" dirty="0">
                <a:solidFill>
                  <a:srgbClr val="4B5563"/>
                </a:solidFill>
                <a:latin typeface="Calibri" pitchFamily="34" charset="0"/>
                <a:ea typeface="Calibri" pitchFamily="34" charset="-122"/>
                <a:cs typeface="Calibri" pitchFamily="34" charset="-120"/>
              </a:rPr>
              <a:t>If the two sides didn't match, that would tell us straight away that a mistake was made somewhere — and we'd go back and check our working.</a:t>
            </a:r>
            <a:endParaRPr lang="en-US" sz="1400" dirty="0"/>
          </a:p>
        </p:txBody>
      </p:sp>
      <p:sp>
        <p:nvSpPr>
          <p:cNvPr id="12" name="Shape 10"/>
          <p:cNvSpPr/>
          <p:nvPr/>
        </p:nvSpPr>
        <p:spPr>
          <a:xfrm>
            <a:off x="457200" y="4480560"/>
            <a:ext cx="11247120" cy="1188720"/>
          </a:xfrm>
          <a:prstGeom prst="roundRect">
            <a:avLst>
              <a:gd name="adj" fmla="val 7692"/>
            </a:avLst>
          </a:prstGeom>
          <a:solidFill>
            <a:srgbClr val="FDEDED"/>
          </a:solidFill>
          <a:ln w="12700">
            <a:solidFill>
              <a:srgbClr val="EF4444"/>
            </a:solidFill>
            <a:prstDash val="solid"/>
          </a:ln>
        </p:spPr>
        <p:txBody>
          <a:bodyPr/>
          <a:lstStyle/>
          <a:p>
            <a:endParaRPr lang="en-AU"/>
          </a:p>
        </p:txBody>
      </p:sp>
      <p:sp>
        <p:nvSpPr>
          <p:cNvPr id="13" name="Text 11"/>
          <p:cNvSpPr/>
          <p:nvPr/>
        </p:nvSpPr>
        <p:spPr>
          <a:xfrm>
            <a:off x="777240" y="4617720"/>
            <a:ext cx="10607040" cy="365760"/>
          </a:xfrm>
          <a:prstGeom prst="rect">
            <a:avLst/>
          </a:prstGeom>
          <a:noFill/>
          <a:ln/>
        </p:spPr>
        <p:txBody>
          <a:bodyPr wrap="square" lIns="0" tIns="0" rIns="0" bIns="0" rtlCol="0" anchor="ctr"/>
          <a:lstStyle/>
          <a:p>
            <a:pPr marL="0" indent="0">
              <a:buNone/>
            </a:pPr>
            <a:r>
              <a:rPr lang="en-US" sz="1600" b="1" dirty="0">
                <a:solidFill>
                  <a:srgbClr val="991B1B"/>
                </a:solidFill>
                <a:latin typeface="Calibri" pitchFamily="34" charset="0"/>
                <a:ea typeface="Calibri" pitchFamily="34" charset="-122"/>
                <a:cs typeface="Calibri" pitchFamily="34" charset="-120"/>
              </a:rPr>
              <a:t>Why bother checking?</a:t>
            </a:r>
            <a:endParaRPr lang="en-US" sz="1600" dirty="0"/>
          </a:p>
        </p:txBody>
      </p:sp>
      <p:sp>
        <p:nvSpPr>
          <p:cNvPr id="14" name="Text 12"/>
          <p:cNvSpPr/>
          <p:nvPr/>
        </p:nvSpPr>
        <p:spPr>
          <a:xfrm>
            <a:off x="777240" y="4983480"/>
            <a:ext cx="10607040" cy="640080"/>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It catches arithmetic slips, confirms you chose the correct inverse operation, and it's exactly what VC2M7A03 asks you to be able to do.</a:t>
            </a:r>
            <a:endParaRPr lang="en-US" sz="1500" dirty="0"/>
          </a:p>
        </p:txBody>
      </p:sp>
      <p:sp>
        <p:nvSpPr>
          <p:cNvPr id="15" name="Text 13"/>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16" name="Text 14"/>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4361EE"/>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EXPLICIT</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Think – Pair – Share</a:t>
            </a:r>
            <a:endParaRPr lang="en-US" sz="3200" dirty="0"/>
          </a:p>
        </p:txBody>
      </p:sp>
      <p:sp>
        <p:nvSpPr>
          <p:cNvPr id="7" name="Shape 5"/>
          <p:cNvSpPr/>
          <p:nvPr/>
        </p:nvSpPr>
        <p:spPr>
          <a:xfrm>
            <a:off x="457200" y="1828800"/>
            <a:ext cx="11247120" cy="1463040"/>
          </a:xfrm>
          <a:prstGeom prst="roundRect">
            <a:avLst>
              <a:gd name="adj" fmla="val 6250"/>
            </a:avLst>
          </a:prstGeom>
          <a:solidFill>
            <a:srgbClr val="EEF1FE"/>
          </a:solidFill>
          <a:ln w="12700">
            <a:solidFill>
              <a:srgbClr val="4361EE"/>
            </a:solidFill>
            <a:prstDash val="solid"/>
          </a:ln>
        </p:spPr>
        <p:txBody>
          <a:bodyPr/>
          <a:lstStyle/>
          <a:p>
            <a:endParaRPr lang="en-AU"/>
          </a:p>
        </p:txBody>
      </p:sp>
      <p:sp>
        <p:nvSpPr>
          <p:cNvPr id="8" name="Text 6"/>
          <p:cNvSpPr/>
          <p:nvPr/>
        </p:nvSpPr>
        <p:spPr>
          <a:xfrm>
            <a:off x="777240" y="1828800"/>
            <a:ext cx="10607040" cy="1463040"/>
          </a:xfrm>
          <a:prstGeom prst="rect">
            <a:avLst/>
          </a:prstGeom>
          <a:noFill/>
          <a:ln/>
        </p:spPr>
        <p:txBody>
          <a:bodyPr wrap="square" lIns="0" tIns="0" rIns="0" bIns="0" rtlCol="0" anchor="ctr"/>
          <a:lstStyle/>
          <a:p>
            <a:pPr marL="0" indent="0">
              <a:lnSpc>
                <a:spcPct val="120000"/>
              </a:lnSpc>
              <a:buNone/>
            </a:pPr>
            <a:r>
              <a:rPr lang="en-US" sz="2000" dirty="0">
                <a:solidFill>
                  <a:srgbClr val="111827"/>
                </a:solidFill>
                <a:latin typeface="Calibri" pitchFamily="34" charset="0"/>
                <a:ea typeface="Calibri" pitchFamily="34" charset="-122"/>
                <a:cs typeface="Calibri" pitchFamily="34" charset="-120"/>
              </a:rPr>
              <a:t>Which method — balance or flowchart — do you find easier to think through, and why?</a:t>
            </a:r>
            <a:endParaRPr lang="en-US" sz="2000" dirty="0"/>
          </a:p>
          <a:p>
            <a:pPr marL="0" indent="0">
              <a:lnSpc>
                <a:spcPct val="120000"/>
              </a:lnSpc>
              <a:buNone/>
            </a:pPr>
            <a:r>
              <a:rPr lang="en-US" sz="2000" dirty="0">
                <a:solidFill>
                  <a:srgbClr val="111827"/>
                </a:solidFill>
                <a:latin typeface="Calibri" pitchFamily="34" charset="0"/>
                <a:ea typeface="Calibri" pitchFamily="34" charset="-122"/>
                <a:cs typeface="Calibri" pitchFamily="34" charset="-120"/>
              </a:rPr>
              <a:t>Is there a type of equation where you'd choose one method over the other?</a:t>
            </a:r>
            <a:endParaRPr lang="en-US" sz="2000" dirty="0"/>
          </a:p>
        </p:txBody>
      </p:sp>
      <p:sp>
        <p:nvSpPr>
          <p:cNvPr id="9" name="Shape 7"/>
          <p:cNvSpPr/>
          <p:nvPr/>
        </p:nvSpPr>
        <p:spPr>
          <a:xfrm>
            <a:off x="457200" y="3657600"/>
            <a:ext cx="3596640" cy="1371600"/>
          </a:xfrm>
          <a:prstGeom prst="roundRect">
            <a:avLst>
              <a:gd name="adj" fmla="val 6667"/>
            </a:avLst>
          </a:prstGeom>
          <a:solidFill>
            <a:srgbClr val="FFFFFF"/>
          </a:solidFill>
          <a:ln w="19050">
            <a:solidFill>
              <a:srgbClr val="4361EE"/>
            </a:solidFill>
            <a:prstDash val="solid"/>
          </a:ln>
        </p:spPr>
        <p:txBody>
          <a:bodyPr/>
          <a:lstStyle/>
          <a:p>
            <a:endParaRPr lang="en-AU"/>
          </a:p>
        </p:txBody>
      </p:sp>
      <p:sp>
        <p:nvSpPr>
          <p:cNvPr id="10" name="Text 8"/>
          <p:cNvSpPr/>
          <p:nvPr/>
        </p:nvSpPr>
        <p:spPr>
          <a:xfrm>
            <a:off x="457200" y="3840480"/>
            <a:ext cx="3596640" cy="457200"/>
          </a:xfrm>
          <a:prstGeom prst="rect">
            <a:avLst/>
          </a:prstGeom>
          <a:noFill/>
          <a:ln/>
        </p:spPr>
        <p:txBody>
          <a:bodyPr wrap="square" lIns="0" tIns="0" rIns="0" bIns="0" rtlCol="0" anchor="ctr"/>
          <a:lstStyle/>
          <a:p>
            <a:pPr marL="0" indent="0" algn="ctr">
              <a:buNone/>
            </a:pPr>
            <a:r>
              <a:rPr lang="en-US" sz="2000" b="1" dirty="0">
                <a:solidFill>
                  <a:srgbClr val="4361EE"/>
                </a:solidFill>
                <a:latin typeface="Courier New" pitchFamily="34" charset="0"/>
                <a:ea typeface="Courier New" pitchFamily="34" charset="-122"/>
                <a:cs typeface="Courier New" pitchFamily="34" charset="-120"/>
              </a:rPr>
              <a:t>THINK</a:t>
            </a:r>
            <a:endParaRPr lang="en-US" sz="2000" dirty="0"/>
          </a:p>
        </p:txBody>
      </p:sp>
      <p:sp>
        <p:nvSpPr>
          <p:cNvPr id="11" name="Text 9"/>
          <p:cNvSpPr/>
          <p:nvPr/>
        </p:nvSpPr>
        <p:spPr>
          <a:xfrm>
            <a:off x="640080" y="4343400"/>
            <a:ext cx="3230880" cy="594360"/>
          </a:xfrm>
          <a:prstGeom prst="rect">
            <a:avLst/>
          </a:prstGeom>
          <a:noFill/>
          <a:ln/>
        </p:spPr>
        <p:txBody>
          <a:bodyPr wrap="square" lIns="0" tIns="0" rIns="0" bIns="0" rtlCol="0" anchor="ctr"/>
          <a:lstStyle/>
          <a:p>
            <a:pPr marL="0" indent="0" algn="ctr">
              <a:buNone/>
            </a:pPr>
            <a:r>
              <a:rPr lang="en-US" sz="1300" dirty="0">
                <a:solidFill>
                  <a:srgbClr val="4B5563"/>
                </a:solidFill>
                <a:latin typeface="Calibri" pitchFamily="34" charset="0"/>
                <a:ea typeface="Calibri" pitchFamily="34" charset="-122"/>
                <a:cs typeface="Calibri" pitchFamily="34" charset="-120"/>
              </a:rPr>
              <a:t>30 seconds, on your own</a:t>
            </a:r>
            <a:endParaRPr lang="en-US" sz="1300" dirty="0"/>
          </a:p>
        </p:txBody>
      </p:sp>
      <p:sp>
        <p:nvSpPr>
          <p:cNvPr id="12" name="Shape 10"/>
          <p:cNvSpPr/>
          <p:nvPr/>
        </p:nvSpPr>
        <p:spPr>
          <a:xfrm>
            <a:off x="4282440" y="3657600"/>
            <a:ext cx="3596640" cy="1371600"/>
          </a:xfrm>
          <a:prstGeom prst="roundRect">
            <a:avLst>
              <a:gd name="adj" fmla="val 6667"/>
            </a:avLst>
          </a:prstGeom>
          <a:solidFill>
            <a:srgbClr val="FFFFFF"/>
          </a:solidFill>
          <a:ln w="19050">
            <a:solidFill>
              <a:srgbClr val="F59E0B"/>
            </a:solidFill>
            <a:prstDash val="solid"/>
          </a:ln>
        </p:spPr>
        <p:txBody>
          <a:bodyPr/>
          <a:lstStyle/>
          <a:p>
            <a:endParaRPr lang="en-AU"/>
          </a:p>
        </p:txBody>
      </p:sp>
      <p:sp>
        <p:nvSpPr>
          <p:cNvPr id="13" name="Text 11"/>
          <p:cNvSpPr/>
          <p:nvPr/>
        </p:nvSpPr>
        <p:spPr>
          <a:xfrm>
            <a:off x="4282440" y="3840480"/>
            <a:ext cx="3596640" cy="457200"/>
          </a:xfrm>
          <a:prstGeom prst="rect">
            <a:avLst/>
          </a:prstGeom>
          <a:noFill/>
          <a:ln/>
        </p:spPr>
        <p:txBody>
          <a:bodyPr wrap="square" lIns="0" tIns="0" rIns="0" bIns="0" rtlCol="0" anchor="ctr"/>
          <a:lstStyle/>
          <a:p>
            <a:pPr marL="0" indent="0" algn="ctr">
              <a:buNone/>
            </a:pPr>
            <a:r>
              <a:rPr lang="en-US" sz="2000" b="1" dirty="0">
                <a:solidFill>
                  <a:srgbClr val="F59E0B"/>
                </a:solidFill>
                <a:latin typeface="Courier New" pitchFamily="34" charset="0"/>
                <a:ea typeface="Courier New" pitchFamily="34" charset="-122"/>
                <a:cs typeface="Courier New" pitchFamily="34" charset="-120"/>
              </a:rPr>
              <a:t>PAIR</a:t>
            </a:r>
            <a:endParaRPr lang="en-US" sz="2000" dirty="0"/>
          </a:p>
        </p:txBody>
      </p:sp>
      <p:sp>
        <p:nvSpPr>
          <p:cNvPr id="14" name="Text 12"/>
          <p:cNvSpPr/>
          <p:nvPr/>
        </p:nvSpPr>
        <p:spPr>
          <a:xfrm>
            <a:off x="4465320" y="4343400"/>
            <a:ext cx="3230880" cy="594360"/>
          </a:xfrm>
          <a:prstGeom prst="rect">
            <a:avLst/>
          </a:prstGeom>
          <a:noFill/>
          <a:ln/>
        </p:spPr>
        <p:txBody>
          <a:bodyPr wrap="square" lIns="0" tIns="0" rIns="0" bIns="0" rtlCol="0" anchor="ctr"/>
          <a:lstStyle/>
          <a:p>
            <a:pPr marL="0" indent="0" algn="ctr">
              <a:buNone/>
            </a:pPr>
            <a:r>
              <a:rPr lang="en-US" sz="1300" dirty="0">
                <a:solidFill>
                  <a:srgbClr val="4B5563"/>
                </a:solidFill>
                <a:latin typeface="Calibri" pitchFamily="34" charset="0"/>
                <a:ea typeface="Calibri" pitchFamily="34" charset="-122"/>
                <a:cs typeface="Calibri" pitchFamily="34" charset="-120"/>
              </a:rPr>
              <a:t>Compare with your neighbour</a:t>
            </a:r>
            <a:endParaRPr lang="en-US" sz="1300" dirty="0"/>
          </a:p>
        </p:txBody>
      </p:sp>
      <p:sp>
        <p:nvSpPr>
          <p:cNvPr id="15" name="Shape 13"/>
          <p:cNvSpPr/>
          <p:nvPr/>
        </p:nvSpPr>
        <p:spPr>
          <a:xfrm>
            <a:off x="8107680" y="3657600"/>
            <a:ext cx="3596640" cy="1371600"/>
          </a:xfrm>
          <a:prstGeom prst="roundRect">
            <a:avLst>
              <a:gd name="adj" fmla="val 6667"/>
            </a:avLst>
          </a:prstGeom>
          <a:solidFill>
            <a:srgbClr val="FFFFFF"/>
          </a:solidFill>
          <a:ln w="19050">
            <a:solidFill>
              <a:srgbClr val="10B981"/>
            </a:solidFill>
            <a:prstDash val="solid"/>
          </a:ln>
        </p:spPr>
        <p:txBody>
          <a:bodyPr/>
          <a:lstStyle/>
          <a:p>
            <a:endParaRPr lang="en-AU"/>
          </a:p>
        </p:txBody>
      </p:sp>
      <p:sp>
        <p:nvSpPr>
          <p:cNvPr id="16" name="Text 14"/>
          <p:cNvSpPr/>
          <p:nvPr/>
        </p:nvSpPr>
        <p:spPr>
          <a:xfrm>
            <a:off x="8107680" y="3840480"/>
            <a:ext cx="3596640" cy="457200"/>
          </a:xfrm>
          <a:prstGeom prst="rect">
            <a:avLst/>
          </a:prstGeom>
          <a:noFill/>
          <a:ln/>
        </p:spPr>
        <p:txBody>
          <a:bodyPr wrap="square" lIns="0" tIns="0" rIns="0" bIns="0" rtlCol="0" anchor="ctr"/>
          <a:lstStyle/>
          <a:p>
            <a:pPr marL="0" indent="0" algn="ctr">
              <a:buNone/>
            </a:pPr>
            <a:r>
              <a:rPr lang="en-US" sz="2000" b="1" dirty="0">
                <a:solidFill>
                  <a:srgbClr val="10B981"/>
                </a:solidFill>
                <a:latin typeface="Courier New" pitchFamily="34" charset="0"/>
                <a:ea typeface="Courier New" pitchFamily="34" charset="-122"/>
                <a:cs typeface="Courier New" pitchFamily="34" charset="-120"/>
              </a:rPr>
              <a:t>SHARE</a:t>
            </a:r>
            <a:endParaRPr lang="en-US" sz="2000" dirty="0"/>
          </a:p>
        </p:txBody>
      </p:sp>
      <p:sp>
        <p:nvSpPr>
          <p:cNvPr id="17" name="Text 15"/>
          <p:cNvSpPr/>
          <p:nvPr/>
        </p:nvSpPr>
        <p:spPr>
          <a:xfrm>
            <a:off x="8290560" y="4343400"/>
            <a:ext cx="3230880" cy="594360"/>
          </a:xfrm>
          <a:prstGeom prst="rect">
            <a:avLst/>
          </a:prstGeom>
          <a:noFill/>
          <a:ln/>
        </p:spPr>
        <p:txBody>
          <a:bodyPr wrap="square" lIns="0" tIns="0" rIns="0" bIns="0" rtlCol="0" anchor="ctr"/>
          <a:lstStyle/>
          <a:p>
            <a:pPr marL="0" indent="0" algn="ctr">
              <a:buNone/>
            </a:pPr>
            <a:r>
              <a:rPr lang="en-US" sz="1300" dirty="0">
                <a:solidFill>
                  <a:srgbClr val="4B5563"/>
                </a:solidFill>
                <a:latin typeface="Calibri" pitchFamily="34" charset="0"/>
                <a:ea typeface="Calibri" pitchFamily="34" charset="-122"/>
                <a:cs typeface="Calibri" pitchFamily="34" charset="-120"/>
              </a:rPr>
              <a:t>A few pairs report back</a:t>
            </a:r>
            <a:endParaRPr lang="en-US" sz="1300" dirty="0"/>
          </a:p>
        </p:txBody>
      </p:sp>
      <p:sp>
        <p:nvSpPr>
          <p:cNvPr id="18" name="Text 16"/>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19" name="Text 17"/>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8FBF3"/>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10B981"/>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APPLICATION</a:t>
            </a:r>
            <a:endParaRPr lang="en-US" sz="1200" dirty="0"/>
          </a:p>
        </p:txBody>
      </p:sp>
      <p:sp>
        <p:nvSpPr>
          <p:cNvPr id="4" name="Shape 2"/>
          <p:cNvSpPr/>
          <p:nvPr/>
        </p:nvSpPr>
        <p:spPr>
          <a:xfrm>
            <a:off x="9509760" y="365760"/>
            <a:ext cx="2194560" cy="384048"/>
          </a:xfrm>
          <a:prstGeom prst="roundRect">
            <a:avLst>
              <a:gd name="adj" fmla="val 19048"/>
            </a:avLst>
          </a:prstGeom>
          <a:solidFill>
            <a:srgbClr val="E8FBF3"/>
          </a:solidFill>
          <a:ln w="12700">
            <a:solidFill>
              <a:srgbClr val="10B981"/>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10B981"/>
                </a:solidFill>
                <a:latin typeface="Courier New" pitchFamily="34" charset="0"/>
                <a:ea typeface="Courier New" pitchFamily="34" charset="-122"/>
                <a:cs typeface="Courier New" pitchFamily="34" charset="-120"/>
              </a:rPr>
              <a:t>● DEVICES ON</a:t>
            </a:r>
            <a:endParaRPr lang="en-US" sz="1100" dirty="0"/>
          </a:p>
        </p:txBody>
      </p:sp>
      <p:sp>
        <p:nvSpPr>
          <p:cNvPr id="6" name="Text 4"/>
          <p:cNvSpPr/>
          <p:nvPr/>
        </p:nvSpPr>
        <p:spPr>
          <a:xfrm>
            <a:off x="5440680" y="1463040"/>
            <a:ext cx="1280160" cy="1097280"/>
          </a:xfrm>
          <a:prstGeom prst="rect">
            <a:avLst/>
          </a:prstGeom>
          <a:noFill/>
          <a:ln/>
        </p:spPr>
        <p:txBody>
          <a:bodyPr wrap="square" lIns="0" tIns="0" rIns="0" bIns="0" rtlCol="0" anchor="ctr"/>
          <a:lstStyle/>
          <a:p>
            <a:pPr marL="0" indent="0" algn="ctr">
              <a:buNone/>
            </a:pPr>
            <a:r>
              <a:rPr lang="en-US" sz="6000" dirty="0">
                <a:solidFill>
                  <a:srgbClr val="000000"/>
                </a:solidFill>
              </a:rPr>
              <a:t>🔓</a:t>
            </a:r>
            <a:endParaRPr lang="en-US" sz="6000" dirty="0"/>
          </a:p>
        </p:txBody>
      </p:sp>
      <p:sp>
        <p:nvSpPr>
          <p:cNvPr id="7" name="Text 5"/>
          <p:cNvSpPr/>
          <p:nvPr/>
        </p:nvSpPr>
        <p:spPr>
          <a:xfrm>
            <a:off x="457200" y="2651760"/>
            <a:ext cx="11247120" cy="822960"/>
          </a:xfrm>
          <a:prstGeom prst="rect">
            <a:avLst/>
          </a:prstGeom>
          <a:noFill/>
          <a:ln/>
        </p:spPr>
        <p:txBody>
          <a:bodyPr wrap="square" lIns="0" tIns="0" rIns="0" bIns="0" rtlCol="0" anchor="ctr"/>
          <a:lstStyle/>
          <a:p>
            <a:pPr marL="0" indent="0" algn="ctr">
              <a:buNone/>
            </a:pPr>
            <a:r>
              <a:rPr lang="en-US" sz="3800" b="1" dirty="0">
                <a:solidFill>
                  <a:srgbClr val="111827"/>
                </a:solidFill>
                <a:latin typeface="Bookman Old Style" pitchFamily="34" charset="0"/>
                <a:ea typeface="Bookman Old Style" pitchFamily="34" charset="-122"/>
                <a:cs typeface="Bookman Old Style" pitchFamily="34" charset="-120"/>
              </a:rPr>
              <a:t>Laptop Gate</a:t>
            </a:r>
            <a:endParaRPr lang="en-US" sz="3800" dirty="0"/>
          </a:p>
        </p:txBody>
      </p:sp>
      <p:sp>
        <p:nvSpPr>
          <p:cNvPr id="8" name="Text 6"/>
          <p:cNvSpPr/>
          <p:nvPr/>
        </p:nvSpPr>
        <p:spPr>
          <a:xfrm>
            <a:off x="457200" y="3520440"/>
            <a:ext cx="11247120" cy="457200"/>
          </a:xfrm>
          <a:prstGeom prst="rect">
            <a:avLst/>
          </a:prstGeom>
          <a:noFill/>
          <a:ln/>
        </p:spPr>
        <p:txBody>
          <a:bodyPr wrap="square" lIns="0" tIns="0" rIns="0" bIns="0" rtlCol="0" anchor="ctr"/>
          <a:lstStyle/>
          <a:p>
            <a:pPr marL="0" indent="0" algn="ctr">
              <a:buNone/>
            </a:pPr>
            <a:r>
              <a:rPr lang="en-US" sz="1800" dirty="0">
                <a:solidFill>
                  <a:srgbClr val="4B5563"/>
                </a:solidFill>
                <a:latin typeface="Calibri" pitchFamily="34" charset="0"/>
                <a:ea typeface="Calibri" pitchFamily="34" charset="-122"/>
                <a:cs typeface="Calibri" pitchFamily="34" charset="-120"/>
              </a:rPr>
              <a:t>Devices open now — log in to EduPortal and open Double 6's workbook.</a:t>
            </a:r>
            <a:endParaRPr lang="en-US" sz="1800" dirty="0"/>
          </a:p>
        </p:txBody>
      </p:sp>
      <p:sp>
        <p:nvSpPr>
          <p:cNvPr id="9" name="Shape 7"/>
          <p:cNvSpPr/>
          <p:nvPr/>
        </p:nvSpPr>
        <p:spPr>
          <a:xfrm>
            <a:off x="2194560" y="4206240"/>
            <a:ext cx="7772400" cy="1828800"/>
          </a:xfrm>
          <a:prstGeom prst="roundRect">
            <a:avLst>
              <a:gd name="adj" fmla="val 6000"/>
            </a:avLst>
          </a:prstGeom>
          <a:solidFill>
            <a:srgbClr val="FFFFFF"/>
          </a:solidFill>
          <a:ln w="19050">
            <a:solidFill>
              <a:srgbClr val="10B981"/>
            </a:solidFill>
            <a:prstDash val="solid"/>
          </a:ln>
        </p:spPr>
        <p:txBody>
          <a:bodyPr/>
          <a:lstStyle/>
          <a:p>
            <a:endParaRPr lang="en-AU"/>
          </a:p>
        </p:txBody>
      </p:sp>
      <p:sp>
        <p:nvSpPr>
          <p:cNvPr id="10" name="Text 8"/>
          <p:cNvSpPr/>
          <p:nvPr/>
        </p:nvSpPr>
        <p:spPr>
          <a:xfrm>
            <a:off x="2468880" y="4389120"/>
            <a:ext cx="7223760" cy="1463040"/>
          </a:xfrm>
          <a:prstGeom prst="rect">
            <a:avLst/>
          </a:prstGeom>
          <a:noFill/>
          <a:ln/>
        </p:spPr>
        <p:txBody>
          <a:bodyPr wrap="square" lIns="0" tIns="0" rIns="0" bIns="0" rtlCol="0" anchor="ctr"/>
          <a:lstStyle/>
          <a:p>
            <a:pPr marL="0" indent="0" algn="ctr">
              <a:lnSpc>
                <a:spcPct val="130000"/>
              </a:lnSpc>
              <a:buNone/>
            </a:pPr>
            <a:r>
              <a:rPr lang="en-US" sz="1500" dirty="0">
                <a:solidFill>
                  <a:srgbClr val="111827"/>
                </a:solidFill>
                <a:latin typeface="Calibri" pitchFamily="34" charset="0"/>
                <a:ea typeface="Calibri" pitchFamily="34" charset="-122"/>
                <a:cs typeface="Calibri" pitchFamily="34" charset="-120"/>
              </a:rPr>
              <a:t>➡ Open your workbook — choose your tier and work through:</a:t>
            </a:r>
            <a:endParaRPr lang="en-US" sz="1500" dirty="0"/>
          </a:p>
          <a:p>
            <a:pPr marL="0" indent="0" algn="ctr">
              <a:lnSpc>
                <a:spcPct val="130000"/>
              </a:lnSpc>
              <a:buNone/>
            </a:pPr>
            <a:r>
              <a:rPr lang="en-US" sz="1500" dirty="0">
                <a:solidFill>
                  <a:srgbClr val="111827"/>
                </a:solidFill>
                <a:latin typeface="Calibri" pitchFamily="34" charset="0"/>
                <a:ea typeface="Calibri" pitchFamily="34" charset="-122"/>
                <a:cs typeface="Calibri" pitchFamily="34" charset="-120"/>
              </a:rPr>
              <a:t>Task 1: Balance Method (+/−)   ·   Task 2: Balance Method (×/÷)</a:t>
            </a:r>
            <a:endParaRPr lang="en-US" sz="1500" dirty="0"/>
          </a:p>
          <a:p>
            <a:pPr marL="0" indent="0" algn="ctr">
              <a:lnSpc>
                <a:spcPct val="130000"/>
              </a:lnSpc>
              <a:buNone/>
            </a:pPr>
            <a:r>
              <a:rPr lang="en-US" sz="1500" dirty="0">
                <a:solidFill>
                  <a:srgbClr val="111827"/>
                </a:solidFill>
                <a:latin typeface="Calibri" pitchFamily="34" charset="0"/>
                <a:ea typeface="Calibri" pitchFamily="34" charset="-122"/>
                <a:cs typeface="Calibri" pitchFamily="34" charset="-120"/>
              </a:rPr>
              <a:t>Task 3: Flowchart Method   ·   Task 4: Verify by Substitution   ·   Task 5: Your Choice</a:t>
            </a:r>
            <a:endParaRPr lang="en-US" sz="1500" dirty="0"/>
          </a:p>
        </p:txBody>
      </p:sp>
      <p:sp>
        <p:nvSpPr>
          <p:cNvPr id="11" name="Text 9"/>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12" name="Text 10"/>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EEFE"/>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8B5CF6"/>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BRAIN BREAK</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2103120"/>
            <a:ext cx="11247120" cy="731520"/>
          </a:xfrm>
          <a:prstGeom prst="rect">
            <a:avLst/>
          </a:prstGeom>
          <a:noFill/>
          <a:ln/>
        </p:spPr>
        <p:txBody>
          <a:bodyPr wrap="square" lIns="0" tIns="0" rIns="0" bIns="0" rtlCol="0" anchor="ctr"/>
          <a:lstStyle/>
          <a:p>
            <a:pPr marL="0" indent="0" algn="ctr">
              <a:buNone/>
            </a:pPr>
            <a:r>
              <a:rPr lang="en-US" sz="3400" b="1" dirty="0">
                <a:solidFill>
                  <a:srgbClr val="5B21B6"/>
                </a:solidFill>
                <a:latin typeface="Bookman Old Style" pitchFamily="34" charset="0"/>
                <a:ea typeface="Bookman Old Style" pitchFamily="34" charset="-122"/>
                <a:cs typeface="Bookman Old Style" pitchFamily="34" charset="-120"/>
              </a:rPr>
              <a:t>⚡ 60-Second Brain Break</a:t>
            </a:r>
            <a:endParaRPr lang="en-US" sz="3400" dirty="0"/>
          </a:p>
        </p:txBody>
      </p:sp>
      <p:sp>
        <p:nvSpPr>
          <p:cNvPr id="7" name="Text 5"/>
          <p:cNvSpPr/>
          <p:nvPr/>
        </p:nvSpPr>
        <p:spPr>
          <a:xfrm>
            <a:off x="1371600" y="3017520"/>
            <a:ext cx="9418320" cy="2011680"/>
          </a:xfrm>
          <a:prstGeom prst="rect">
            <a:avLst/>
          </a:prstGeom>
          <a:noFill/>
          <a:ln/>
        </p:spPr>
        <p:txBody>
          <a:bodyPr wrap="square" lIns="0" tIns="0" rIns="0" bIns="0" rtlCol="0" anchor="ctr"/>
          <a:lstStyle/>
          <a:p>
            <a:pPr marL="0" indent="0" algn="ctr">
              <a:lnSpc>
                <a:spcPct val="130000"/>
              </a:lnSpc>
              <a:buNone/>
            </a:pPr>
            <a:r>
              <a:rPr lang="en-US" sz="2200" dirty="0">
                <a:solidFill>
                  <a:srgbClr val="111827"/>
                </a:solidFill>
                <a:latin typeface="Calibri" pitchFamily="34" charset="0"/>
                <a:ea typeface="Calibri" pitchFamily="34" charset="-122"/>
                <a:cs typeface="Calibri" pitchFamily="34" charset="-120"/>
              </a:rPr>
              <a:t>Stand up. Balance on one foot while you solve this in your head:</a:t>
            </a:r>
            <a:endParaRPr lang="en-US" sz="2200" dirty="0"/>
          </a:p>
          <a:p>
            <a:pPr marL="0" indent="0" algn="ctr">
              <a:lnSpc>
                <a:spcPct val="130000"/>
              </a:lnSpc>
              <a:buNone/>
            </a:pPr>
            <a:endParaRPr lang="en-US" sz="2200" dirty="0"/>
          </a:p>
          <a:p>
            <a:pPr marL="0" indent="0" algn="ctr">
              <a:lnSpc>
                <a:spcPct val="130000"/>
              </a:lnSpc>
              <a:buNone/>
            </a:pPr>
            <a:r>
              <a:rPr lang="en-US" sz="2200" dirty="0">
                <a:solidFill>
                  <a:srgbClr val="111827"/>
                </a:solidFill>
                <a:latin typeface="Calibri" pitchFamily="34" charset="0"/>
                <a:ea typeface="Calibri" pitchFamily="34" charset="-122"/>
                <a:cs typeface="Calibri" pitchFamily="34" charset="-120"/>
              </a:rPr>
              <a:t>x × 2 = 18   — what's x?</a:t>
            </a:r>
            <a:endParaRPr lang="en-US" sz="2200" dirty="0"/>
          </a:p>
          <a:p>
            <a:pPr marL="0" indent="0" algn="ctr">
              <a:lnSpc>
                <a:spcPct val="130000"/>
              </a:lnSpc>
              <a:buNone/>
            </a:pPr>
            <a:endParaRPr lang="en-US" sz="2200" dirty="0"/>
          </a:p>
          <a:p>
            <a:pPr marL="0" indent="0" algn="ctr">
              <a:lnSpc>
                <a:spcPct val="130000"/>
              </a:lnSpc>
              <a:buNone/>
            </a:pPr>
            <a:r>
              <a:rPr lang="en-US" sz="2200" dirty="0">
                <a:solidFill>
                  <a:srgbClr val="111827"/>
                </a:solidFill>
                <a:latin typeface="Calibri" pitchFamily="34" charset="0"/>
                <a:ea typeface="Calibri" pitchFamily="34" charset="-122"/>
                <a:cs typeface="Calibri" pitchFamily="34" charset="-120"/>
              </a:rPr>
              <a:t>Swap feet when you've got it.</a:t>
            </a:r>
            <a:endParaRPr lang="en-US" sz="2200" dirty="0"/>
          </a:p>
        </p:txBody>
      </p:sp>
      <p:sp>
        <p:nvSpPr>
          <p:cNvPr id="8" name="Text 6"/>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9" name="Text 7"/>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F59E0B"/>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RESPONSIVE</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Rapid Fire: Name the Inverse Operation</a:t>
            </a:r>
            <a:endParaRPr lang="en-US" sz="3200" dirty="0"/>
          </a:p>
        </p:txBody>
      </p:sp>
      <p:sp>
        <p:nvSpPr>
          <p:cNvPr id="7" name="Text 5"/>
          <p:cNvSpPr/>
          <p:nvPr/>
        </p:nvSpPr>
        <p:spPr>
          <a:xfrm>
            <a:off x="457200" y="1645920"/>
            <a:ext cx="11247120" cy="365760"/>
          </a:xfrm>
          <a:prstGeom prst="rect">
            <a:avLst/>
          </a:prstGeom>
          <a:noFill/>
          <a:ln/>
        </p:spPr>
        <p:txBody>
          <a:bodyPr wrap="square" lIns="0" tIns="0" rIns="0" bIns="0" rtlCol="0" anchor="ctr"/>
          <a:lstStyle/>
          <a:p>
            <a:pPr marL="0" indent="0">
              <a:buNone/>
            </a:pPr>
            <a:r>
              <a:rPr lang="en-US" sz="1500" i="1" dirty="0">
                <a:solidFill>
                  <a:srgbClr val="4B5563"/>
                </a:solidFill>
                <a:latin typeface="Calibri" pitchFamily="34" charset="0"/>
                <a:ea typeface="Calibri" pitchFamily="34" charset="-122"/>
                <a:cs typeface="Calibri" pitchFamily="34" charset="-120"/>
              </a:rPr>
              <a:t>Whole class — teacher says the operation, students call out its inverse, no hands up.</a:t>
            </a:r>
            <a:endParaRPr lang="en-US" sz="1500" dirty="0"/>
          </a:p>
        </p:txBody>
      </p:sp>
      <p:sp>
        <p:nvSpPr>
          <p:cNvPr id="8" name="Shape 6"/>
          <p:cNvSpPr/>
          <p:nvPr/>
        </p:nvSpPr>
        <p:spPr>
          <a:xfrm>
            <a:off x="457200" y="2286000"/>
            <a:ext cx="2606040" cy="1051560"/>
          </a:xfrm>
          <a:prstGeom prst="roundRect">
            <a:avLst>
              <a:gd name="adj" fmla="val 8696"/>
            </a:avLst>
          </a:prstGeom>
          <a:solidFill>
            <a:srgbClr val="FEF6E7"/>
          </a:solidFill>
          <a:ln w="12700">
            <a:solidFill>
              <a:srgbClr val="F59E0B"/>
            </a:solidFill>
            <a:prstDash val="solid"/>
          </a:ln>
        </p:spPr>
        <p:txBody>
          <a:bodyPr/>
          <a:lstStyle/>
          <a:p>
            <a:endParaRPr lang="en-AU"/>
          </a:p>
        </p:txBody>
      </p:sp>
      <p:sp>
        <p:nvSpPr>
          <p:cNvPr id="9" name="Text 7"/>
          <p:cNvSpPr/>
          <p:nvPr/>
        </p:nvSpPr>
        <p:spPr>
          <a:xfrm>
            <a:off x="457200" y="2286000"/>
            <a:ext cx="2606040" cy="1051560"/>
          </a:xfrm>
          <a:prstGeom prst="rect">
            <a:avLst/>
          </a:prstGeom>
          <a:noFill/>
          <a:ln/>
        </p:spPr>
        <p:txBody>
          <a:bodyPr wrap="square" lIns="0" tIns="0" rIns="0" bIns="0" rtlCol="0" anchor="ctr"/>
          <a:lstStyle/>
          <a:p>
            <a:pPr marL="0" indent="0" algn="ctr">
              <a:buNone/>
            </a:pPr>
            <a:r>
              <a:rPr lang="en-US" sz="2600" b="1" dirty="0">
                <a:solidFill>
                  <a:srgbClr val="92610A"/>
                </a:solidFill>
                <a:latin typeface="Courier New" pitchFamily="34" charset="0"/>
                <a:ea typeface="Courier New" pitchFamily="34" charset="-122"/>
                <a:cs typeface="Courier New" pitchFamily="34" charset="-120"/>
              </a:rPr>
              <a:t>+ 9</a:t>
            </a:r>
            <a:endParaRPr lang="en-US" sz="2600" dirty="0"/>
          </a:p>
        </p:txBody>
      </p:sp>
      <p:sp>
        <p:nvSpPr>
          <p:cNvPr id="10" name="Shape 8"/>
          <p:cNvSpPr/>
          <p:nvPr/>
        </p:nvSpPr>
        <p:spPr>
          <a:xfrm>
            <a:off x="3337560" y="2286000"/>
            <a:ext cx="2606040" cy="1051560"/>
          </a:xfrm>
          <a:prstGeom prst="roundRect">
            <a:avLst>
              <a:gd name="adj" fmla="val 8696"/>
            </a:avLst>
          </a:prstGeom>
          <a:solidFill>
            <a:srgbClr val="FEF6E7"/>
          </a:solidFill>
          <a:ln w="12700">
            <a:solidFill>
              <a:srgbClr val="F59E0B"/>
            </a:solidFill>
            <a:prstDash val="solid"/>
          </a:ln>
        </p:spPr>
        <p:txBody>
          <a:bodyPr/>
          <a:lstStyle/>
          <a:p>
            <a:endParaRPr lang="en-AU"/>
          </a:p>
        </p:txBody>
      </p:sp>
      <p:sp>
        <p:nvSpPr>
          <p:cNvPr id="11" name="Text 9"/>
          <p:cNvSpPr/>
          <p:nvPr/>
        </p:nvSpPr>
        <p:spPr>
          <a:xfrm>
            <a:off x="3337560" y="2286000"/>
            <a:ext cx="2606040" cy="1051560"/>
          </a:xfrm>
          <a:prstGeom prst="rect">
            <a:avLst/>
          </a:prstGeom>
          <a:noFill/>
          <a:ln/>
        </p:spPr>
        <p:txBody>
          <a:bodyPr wrap="square" lIns="0" tIns="0" rIns="0" bIns="0" rtlCol="0" anchor="ctr"/>
          <a:lstStyle/>
          <a:p>
            <a:pPr marL="0" indent="0" algn="ctr">
              <a:buNone/>
            </a:pPr>
            <a:r>
              <a:rPr lang="en-US" sz="2600" b="1" dirty="0">
                <a:solidFill>
                  <a:srgbClr val="92610A"/>
                </a:solidFill>
                <a:latin typeface="Courier New" pitchFamily="34" charset="0"/>
                <a:ea typeface="Courier New" pitchFamily="34" charset="-122"/>
                <a:cs typeface="Courier New" pitchFamily="34" charset="-120"/>
              </a:rPr>
              <a:t>× 6</a:t>
            </a:r>
            <a:endParaRPr lang="en-US" sz="2600" dirty="0"/>
          </a:p>
        </p:txBody>
      </p:sp>
      <p:sp>
        <p:nvSpPr>
          <p:cNvPr id="12" name="Shape 10"/>
          <p:cNvSpPr/>
          <p:nvPr/>
        </p:nvSpPr>
        <p:spPr>
          <a:xfrm>
            <a:off x="6217920" y="2286000"/>
            <a:ext cx="2606040" cy="1051560"/>
          </a:xfrm>
          <a:prstGeom prst="roundRect">
            <a:avLst>
              <a:gd name="adj" fmla="val 8696"/>
            </a:avLst>
          </a:prstGeom>
          <a:solidFill>
            <a:srgbClr val="FEF6E7"/>
          </a:solidFill>
          <a:ln w="12700">
            <a:solidFill>
              <a:srgbClr val="F59E0B"/>
            </a:solidFill>
            <a:prstDash val="solid"/>
          </a:ln>
        </p:spPr>
        <p:txBody>
          <a:bodyPr/>
          <a:lstStyle/>
          <a:p>
            <a:endParaRPr lang="en-AU"/>
          </a:p>
        </p:txBody>
      </p:sp>
      <p:sp>
        <p:nvSpPr>
          <p:cNvPr id="13" name="Text 11"/>
          <p:cNvSpPr/>
          <p:nvPr/>
        </p:nvSpPr>
        <p:spPr>
          <a:xfrm>
            <a:off x="6217920" y="2286000"/>
            <a:ext cx="2606040" cy="1051560"/>
          </a:xfrm>
          <a:prstGeom prst="rect">
            <a:avLst/>
          </a:prstGeom>
          <a:noFill/>
          <a:ln/>
        </p:spPr>
        <p:txBody>
          <a:bodyPr wrap="square" lIns="0" tIns="0" rIns="0" bIns="0" rtlCol="0" anchor="ctr"/>
          <a:lstStyle/>
          <a:p>
            <a:pPr marL="0" indent="0" algn="ctr">
              <a:buNone/>
            </a:pPr>
            <a:r>
              <a:rPr lang="en-US" sz="2600" b="1" dirty="0">
                <a:solidFill>
                  <a:srgbClr val="92610A"/>
                </a:solidFill>
                <a:latin typeface="Courier New" pitchFamily="34" charset="0"/>
                <a:ea typeface="Courier New" pitchFamily="34" charset="-122"/>
                <a:cs typeface="Courier New" pitchFamily="34" charset="-120"/>
              </a:rPr>
              <a:t>− 15</a:t>
            </a:r>
            <a:endParaRPr lang="en-US" sz="2600" dirty="0"/>
          </a:p>
        </p:txBody>
      </p:sp>
      <p:sp>
        <p:nvSpPr>
          <p:cNvPr id="14" name="Shape 12"/>
          <p:cNvSpPr/>
          <p:nvPr/>
        </p:nvSpPr>
        <p:spPr>
          <a:xfrm>
            <a:off x="9098280" y="2286000"/>
            <a:ext cx="2606040" cy="1051560"/>
          </a:xfrm>
          <a:prstGeom prst="roundRect">
            <a:avLst>
              <a:gd name="adj" fmla="val 8696"/>
            </a:avLst>
          </a:prstGeom>
          <a:solidFill>
            <a:srgbClr val="FEF6E7"/>
          </a:solidFill>
          <a:ln w="12700">
            <a:solidFill>
              <a:srgbClr val="F59E0B"/>
            </a:solidFill>
            <a:prstDash val="solid"/>
          </a:ln>
        </p:spPr>
        <p:txBody>
          <a:bodyPr/>
          <a:lstStyle/>
          <a:p>
            <a:endParaRPr lang="en-AU"/>
          </a:p>
        </p:txBody>
      </p:sp>
      <p:sp>
        <p:nvSpPr>
          <p:cNvPr id="15" name="Text 13"/>
          <p:cNvSpPr/>
          <p:nvPr/>
        </p:nvSpPr>
        <p:spPr>
          <a:xfrm>
            <a:off x="9098280" y="2286000"/>
            <a:ext cx="2606040" cy="1051560"/>
          </a:xfrm>
          <a:prstGeom prst="rect">
            <a:avLst/>
          </a:prstGeom>
          <a:noFill/>
          <a:ln/>
        </p:spPr>
        <p:txBody>
          <a:bodyPr wrap="square" lIns="0" tIns="0" rIns="0" bIns="0" rtlCol="0" anchor="ctr"/>
          <a:lstStyle/>
          <a:p>
            <a:pPr marL="0" indent="0" algn="ctr">
              <a:buNone/>
            </a:pPr>
            <a:r>
              <a:rPr lang="en-US" sz="2600" b="1" dirty="0">
                <a:solidFill>
                  <a:srgbClr val="92610A"/>
                </a:solidFill>
                <a:latin typeface="Courier New" pitchFamily="34" charset="0"/>
                <a:ea typeface="Courier New" pitchFamily="34" charset="-122"/>
                <a:cs typeface="Courier New" pitchFamily="34" charset="-120"/>
              </a:rPr>
              <a:t>÷ 8</a:t>
            </a:r>
            <a:endParaRPr lang="en-US" sz="2600" dirty="0"/>
          </a:p>
        </p:txBody>
      </p:sp>
      <p:sp>
        <p:nvSpPr>
          <p:cNvPr id="16" name="Shape 14"/>
          <p:cNvSpPr/>
          <p:nvPr/>
        </p:nvSpPr>
        <p:spPr>
          <a:xfrm>
            <a:off x="457200" y="3566160"/>
            <a:ext cx="2606040" cy="1051560"/>
          </a:xfrm>
          <a:prstGeom prst="roundRect">
            <a:avLst>
              <a:gd name="adj" fmla="val 8696"/>
            </a:avLst>
          </a:prstGeom>
          <a:solidFill>
            <a:srgbClr val="FEF6E7"/>
          </a:solidFill>
          <a:ln w="12700">
            <a:solidFill>
              <a:srgbClr val="F59E0B"/>
            </a:solidFill>
            <a:prstDash val="solid"/>
          </a:ln>
        </p:spPr>
        <p:txBody>
          <a:bodyPr/>
          <a:lstStyle/>
          <a:p>
            <a:endParaRPr lang="en-AU"/>
          </a:p>
        </p:txBody>
      </p:sp>
      <p:sp>
        <p:nvSpPr>
          <p:cNvPr id="17" name="Text 15"/>
          <p:cNvSpPr/>
          <p:nvPr/>
        </p:nvSpPr>
        <p:spPr>
          <a:xfrm>
            <a:off x="457200" y="3566160"/>
            <a:ext cx="2606040" cy="1051560"/>
          </a:xfrm>
          <a:prstGeom prst="rect">
            <a:avLst/>
          </a:prstGeom>
          <a:noFill/>
          <a:ln/>
        </p:spPr>
        <p:txBody>
          <a:bodyPr wrap="square" lIns="0" tIns="0" rIns="0" bIns="0" rtlCol="0" anchor="ctr"/>
          <a:lstStyle/>
          <a:p>
            <a:pPr marL="0" indent="0" algn="ctr">
              <a:buNone/>
            </a:pPr>
            <a:r>
              <a:rPr lang="en-US" sz="2600" b="1" dirty="0">
                <a:solidFill>
                  <a:srgbClr val="92610A"/>
                </a:solidFill>
                <a:latin typeface="Courier New" pitchFamily="34" charset="0"/>
                <a:ea typeface="Courier New" pitchFamily="34" charset="-122"/>
                <a:cs typeface="Courier New" pitchFamily="34" charset="-120"/>
              </a:rPr>
              <a:t>+ 20</a:t>
            </a:r>
            <a:endParaRPr lang="en-US" sz="2600" dirty="0"/>
          </a:p>
        </p:txBody>
      </p:sp>
      <p:sp>
        <p:nvSpPr>
          <p:cNvPr id="18" name="Shape 16"/>
          <p:cNvSpPr/>
          <p:nvPr/>
        </p:nvSpPr>
        <p:spPr>
          <a:xfrm>
            <a:off x="3337560" y="3566160"/>
            <a:ext cx="2606040" cy="1051560"/>
          </a:xfrm>
          <a:prstGeom prst="roundRect">
            <a:avLst>
              <a:gd name="adj" fmla="val 8696"/>
            </a:avLst>
          </a:prstGeom>
          <a:solidFill>
            <a:srgbClr val="FEF6E7"/>
          </a:solidFill>
          <a:ln w="12700">
            <a:solidFill>
              <a:srgbClr val="F59E0B"/>
            </a:solidFill>
            <a:prstDash val="solid"/>
          </a:ln>
        </p:spPr>
        <p:txBody>
          <a:bodyPr/>
          <a:lstStyle/>
          <a:p>
            <a:endParaRPr lang="en-AU"/>
          </a:p>
        </p:txBody>
      </p:sp>
      <p:sp>
        <p:nvSpPr>
          <p:cNvPr id="19" name="Text 17"/>
          <p:cNvSpPr/>
          <p:nvPr/>
        </p:nvSpPr>
        <p:spPr>
          <a:xfrm>
            <a:off x="3337560" y="3566160"/>
            <a:ext cx="2606040" cy="1051560"/>
          </a:xfrm>
          <a:prstGeom prst="rect">
            <a:avLst/>
          </a:prstGeom>
          <a:noFill/>
          <a:ln/>
        </p:spPr>
        <p:txBody>
          <a:bodyPr wrap="square" lIns="0" tIns="0" rIns="0" bIns="0" rtlCol="0" anchor="ctr"/>
          <a:lstStyle/>
          <a:p>
            <a:pPr marL="0" indent="0" algn="ctr">
              <a:buNone/>
            </a:pPr>
            <a:r>
              <a:rPr lang="en-US" sz="2600" b="1" dirty="0">
                <a:solidFill>
                  <a:srgbClr val="92610A"/>
                </a:solidFill>
                <a:latin typeface="Courier New" pitchFamily="34" charset="0"/>
                <a:ea typeface="Courier New" pitchFamily="34" charset="-122"/>
                <a:cs typeface="Courier New" pitchFamily="34" charset="-120"/>
              </a:rPr>
              <a:t>× 3</a:t>
            </a:r>
            <a:endParaRPr lang="en-US" sz="2600" dirty="0"/>
          </a:p>
        </p:txBody>
      </p:sp>
      <p:sp>
        <p:nvSpPr>
          <p:cNvPr id="20" name="Shape 18"/>
          <p:cNvSpPr/>
          <p:nvPr/>
        </p:nvSpPr>
        <p:spPr>
          <a:xfrm>
            <a:off x="6217920" y="3566160"/>
            <a:ext cx="2606040" cy="1051560"/>
          </a:xfrm>
          <a:prstGeom prst="roundRect">
            <a:avLst>
              <a:gd name="adj" fmla="val 8696"/>
            </a:avLst>
          </a:prstGeom>
          <a:solidFill>
            <a:srgbClr val="FEF6E7"/>
          </a:solidFill>
          <a:ln w="12700">
            <a:solidFill>
              <a:srgbClr val="F59E0B"/>
            </a:solidFill>
            <a:prstDash val="solid"/>
          </a:ln>
        </p:spPr>
        <p:txBody>
          <a:bodyPr/>
          <a:lstStyle/>
          <a:p>
            <a:endParaRPr lang="en-AU"/>
          </a:p>
        </p:txBody>
      </p:sp>
      <p:sp>
        <p:nvSpPr>
          <p:cNvPr id="21" name="Text 19"/>
          <p:cNvSpPr/>
          <p:nvPr/>
        </p:nvSpPr>
        <p:spPr>
          <a:xfrm>
            <a:off x="6217920" y="3566160"/>
            <a:ext cx="2606040" cy="1051560"/>
          </a:xfrm>
          <a:prstGeom prst="rect">
            <a:avLst/>
          </a:prstGeom>
          <a:noFill/>
          <a:ln/>
        </p:spPr>
        <p:txBody>
          <a:bodyPr wrap="square" lIns="0" tIns="0" rIns="0" bIns="0" rtlCol="0" anchor="ctr"/>
          <a:lstStyle/>
          <a:p>
            <a:pPr marL="0" indent="0" algn="ctr">
              <a:buNone/>
            </a:pPr>
            <a:r>
              <a:rPr lang="en-US" sz="2600" b="1" dirty="0">
                <a:solidFill>
                  <a:srgbClr val="92610A"/>
                </a:solidFill>
                <a:latin typeface="Courier New" pitchFamily="34" charset="0"/>
                <a:ea typeface="Courier New" pitchFamily="34" charset="-122"/>
                <a:cs typeface="Courier New" pitchFamily="34" charset="-120"/>
              </a:rPr>
              <a:t>− 4</a:t>
            </a:r>
            <a:endParaRPr lang="en-US" sz="2600" dirty="0"/>
          </a:p>
        </p:txBody>
      </p:sp>
      <p:sp>
        <p:nvSpPr>
          <p:cNvPr id="22" name="Shape 20"/>
          <p:cNvSpPr/>
          <p:nvPr/>
        </p:nvSpPr>
        <p:spPr>
          <a:xfrm>
            <a:off x="9098280" y="3566160"/>
            <a:ext cx="2606040" cy="1051560"/>
          </a:xfrm>
          <a:prstGeom prst="roundRect">
            <a:avLst>
              <a:gd name="adj" fmla="val 8696"/>
            </a:avLst>
          </a:prstGeom>
          <a:solidFill>
            <a:srgbClr val="FEF6E7"/>
          </a:solidFill>
          <a:ln w="12700">
            <a:solidFill>
              <a:srgbClr val="F59E0B"/>
            </a:solidFill>
            <a:prstDash val="solid"/>
          </a:ln>
        </p:spPr>
        <p:txBody>
          <a:bodyPr/>
          <a:lstStyle/>
          <a:p>
            <a:endParaRPr lang="en-AU"/>
          </a:p>
        </p:txBody>
      </p:sp>
      <p:sp>
        <p:nvSpPr>
          <p:cNvPr id="23" name="Text 21"/>
          <p:cNvSpPr/>
          <p:nvPr/>
        </p:nvSpPr>
        <p:spPr>
          <a:xfrm>
            <a:off x="9098280" y="3566160"/>
            <a:ext cx="2606040" cy="1051560"/>
          </a:xfrm>
          <a:prstGeom prst="rect">
            <a:avLst/>
          </a:prstGeom>
          <a:noFill/>
          <a:ln/>
        </p:spPr>
        <p:txBody>
          <a:bodyPr wrap="square" lIns="0" tIns="0" rIns="0" bIns="0" rtlCol="0" anchor="ctr"/>
          <a:lstStyle/>
          <a:p>
            <a:pPr marL="0" indent="0" algn="ctr">
              <a:buNone/>
            </a:pPr>
            <a:r>
              <a:rPr lang="en-US" sz="2600" b="1" dirty="0">
                <a:solidFill>
                  <a:srgbClr val="92610A"/>
                </a:solidFill>
                <a:latin typeface="Courier New" pitchFamily="34" charset="0"/>
                <a:ea typeface="Courier New" pitchFamily="34" charset="-122"/>
                <a:cs typeface="Courier New" pitchFamily="34" charset="-120"/>
              </a:rPr>
              <a:t>÷ 10</a:t>
            </a:r>
            <a:endParaRPr lang="en-US" sz="2600" dirty="0"/>
          </a:p>
        </p:txBody>
      </p:sp>
      <p:sp>
        <p:nvSpPr>
          <p:cNvPr id="24" name="Text 22"/>
          <p:cNvSpPr/>
          <p:nvPr/>
        </p:nvSpPr>
        <p:spPr>
          <a:xfrm>
            <a:off x="457200" y="5120640"/>
            <a:ext cx="11247120" cy="365760"/>
          </a:xfrm>
          <a:prstGeom prst="rect">
            <a:avLst/>
          </a:prstGeom>
          <a:noFill/>
          <a:ln/>
        </p:spPr>
        <p:txBody>
          <a:bodyPr wrap="square" lIns="0" tIns="0" rIns="0" bIns="0" rtlCol="0" anchor="ctr"/>
          <a:lstStyle/>
          <a:p>
            <a:pPr marL="0" indent="0">
              <a:buNone/>
            </a:pPr>
            <a:r>
              <a:rPr lang="en-US" sz="1200" dirty="0">
                <a:solidFill>
                  <a:srgbClr val="9CA3AF"/>
                </a:solidFill>
                <a:latin typeface="Courier New" pitchFamily="34" charset="0"/>
                <a:ea typeface="Courier New" pitchFamily="34" charset="-122"/>
                <a:cs typeface="Courier New" pitchFamily="34" charset="-120"/>
              </a:rPr>
              <a:t>Teacher answers (for pacing): − 9, ÷ 6, + 15, × 8, − 20, ÷ 3, + 4, × 10</a:t>
            </a:r>
            <a:endParaRPr lang="en-US" sz="1200" dirty="0"/>
          </a:p>
        </p:txBody>
      </p:sp>
      <p:sp>
        <p:nvSpPr>
          <p:cNvPr id="25" name="Text 23"/>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26" name="Text 24"/>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F59E0B"/>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RESPONSIVE</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Where This Fits: Unit Assessment</a:t>
            </a:r>
            <a:endParaRPr lang="en-US" sz="3200" dirty="0"/>
          </a:p>
        </p:txBody>
      </p:sp>
      <p:sp>
        <p:nvSpPr>
          <p:cNvPr id="7" name="Text 5"/>
          <p:cNvSpPr/>
          <p:nvPr/>
        </p:nvSpPr>
        <p:spPr>
          <a:xfrm>
            <a:off x="457200" y="1645920"/>
            <a:ext cx="11247120" cy="365760"/>
          </a:xfrm>
          <a:prstGeom prst="rect">
            <a:avLst/>
          </a:prstGeom>
          <a:noFill/>
          <a:ln/>
        </p:spPr>
        <p:txBody>
          <a:bodyPr wrap="square" lIns="0" tIns="0" rIns="0" bIns="0" rtlCol="0" anchor="ctr"/>
          <a:lstStyle/>
          <a:p>
            <a:pPr marL="0" indent="0">
              <a:buNone/>
            </a:pPr>
            <a:r>
              <a:rPr lang="en-US" sz="1500" i="1" dirty="0">
                <a:solidFill>
                  <a:srgbClr val="4B5563"/>
                </a:solidFill>
                <a:latin typeface="Calibri" pitchFamily="34" charset="0"/>
                <a:ea typeface="Calibri" pitchFamily="34" charset="-122"/>
                <a:cs typeface="Calibri" pitchFamily="34" charset="-120"/>
              </a:rPr>
              <a:t>Algebraic Techniques — progress checklist</a:t>
            </a:r>
            <a:endParaRPr lang="en-US" sz="1500" dirty="0"/>
          </a:p>
        </p:txBody>
      </p:sp>
      <p:sp>
        <p:nvSpPr>
          <p:cNvPr id="8" name="Shape 6"/>
          <p:cNvSpPr/>
          <p:nvPr/>
        </p:nvSpPr>
        <p:spPr>
          <a:xfrm>
            <a:off x="457200" y="2194560"/>
            <a:ext cx="11247120" cy="502920"/>
          </a:xfrm>
          <a:prstGeom prst="roundRect">
            <a:avLst>
              <a:gd name="adj" fmla="val 10909"/>
            </a:avLst>
          </a:prstGeom>
          <a:solidFill>
            <a:srgbClr val="FFFFFF"/>
          </a:solidFill>
          <a:ln w="9525">
            <a:solidFill>
              <a:srgbClr val="E5E7EB"/>
            </a:solidFill>
            <a:prstDash val="solid"/>
          </a:ln>
        </p:spPr>
        <p:txBody>
          <a:bodyPr/>
          <a:lstStyle/>
          <a:p>
            <a:endParaRPr lang="en-AU"/>
          </a:p>
        </p:txBody>
      </p:sp>
      <p:sp>
        <p:nvSpPr>
          <p:cNvPr id="9" name="Text 7"/>
          <p:cNvSpPr/>
          <p:nvPr/>
        </p:nvSpPr>
        <p:spPr>
          <a:xfrm>
            <a:off x="640080" y="2194560"/>
            <a:ext cx="457200" cy="502920"/>
          </a:xfrm>
          <a:prstGeom prst="rect">
            <a:avLst/>
          </a:prstGeom>
          <a:noFill/>
          <a:ln/>
        </p:spPr>
        <p:txBody>
          <a:bodyPr wrap="square" lIns="0" tIns="0" rIns="0" bIns="0" rtlCol="0" anchor="ctr"/>
          <a:lstStyle/>
          <a:p>
            <a:pPr marL="0" indent="0">
              <a:buNone/>
            </a:pPr>
            <a:r>
              <a:rPr lang="en-US" sz="1800" b="1" dirty="0">
                <a:solidFill>
                  <a:srgbClr val="10B981"/>
                </a:solidFill>
                <a:latin typeface="Courier New" pitchFamily="34" charset="0"/>
                <a:ea typeface="Courier New" pitchFamily="34" charset="-122"/>
                <a:cs typeface="Courier New" pitchFamily="34" charset="-120"/>
              </a:rPr>
              <a:t>✓</a:t>
            </a:r>
            <a:endParaRPr lang="en-US" sz="1800" dirty="0"/>
          </a:p>
        </p:txBody>
      </p:sp>
      <p:sp>
        <p:nvSpPr>
          <p:cNvPr id="10" name="Text 8"/>
          <p:cNvSpPr/>
          <p:nvPr/>
        </p:nvSpPr>
        <p:spPr>
          <a:xfrm>
            <a:off x="1143000" y="2194560"/>
            <a:ext cx="10332720" cy="502920"/>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Key algebra vocabulary (variable, term, expression, equation...)</a:t>
            </a:r>
            <a:endParaRPr lang="en-US" sz="1500" dirty="0"/>
          </a:p>
        </p:txBody>
      </p:sp>
      <p:sp>
        <p:nvSpPr>
          <p:cNvPr id="11" name="Shape 9"/>
          <p:cNvSpPr/>
          <p:nvPr/>
        </p:nvSpPr>
        <p:spPr>
          <a:xfrm>
            <a:off x="457200" y="2788920"/>
            <a:ext cx="11247120" cy="502920"/>
          </a:xfrm>
          <a:prstGeom prst="roundRect">
            <a:avLst>
              <a:gd name="adj" fmla="val 10909"/>
            </a:avLst>
          </a:prstGeom>
          <a:solidFill>
            <a:srgbClr val="FFFFFF"/>
          </a:solidFill>
          <a:ln w="9525">
            <a:solidFill>
              <a:srgbClr val="E5E7EB"/>
            </a:solidFill>
            <a:prstDash val="solid"/>
          </a:ln>
        </p:spPr>
        <p:txBody>
          <a:bodyPr/>
          <a:lstStyle/>
          <a:p>
            <a:endParaRPr lang="en-AU"/>
          </a:p>
        </p:txBody>
      </p:sp>
      <p:sp>
        <p:nvSpPr>
          <p:cNvPr id="12" name="Text 10"/>
          <p:cNvSpPr/>
          <p:nvPr/>
        </p:nvSpPr>
        <p:spPr>
          <a:xfrm>
            <a:off x="640080" y="2788920"/>
            <a:ext cx="457200" cy="502920"/>
          </a:xfrm>
          <a:prstGeom prst="rect">
            <a:avLst/>
          </a:prstGeom>
          <a:noFill/>
          <a:ln/>
        </p:spPr>
        <p:txBody>
          <a:bodyPr wrap="square" lIns="0" tIns="0" rIns="0" bIns="0" rtlCol="0" anchor="ctr"/>
          <a:lstStyle/>
          <a:p>
            <a:pPr marL="0" indent="0">
              <a:buNone/>
            </a:pPr>
            <a:r>
              <a:rPr lang="en-US" sz="1800" b="1" dirty="0">
                <a:solidFill>
                  <a:srgbClr val="10B981"/>
                </a:solidFill>
                <a:latin typeface="Courier New" pitchFamily="34" charset="0"/>
                <a:ea typeface="Courier New" pitchFamily="34" charset="-122"/>
                <a:cs typeface="Courier New" pitchFamily="34" charset="-120"/>
              </a:rPr>
              <a:t>✓</a:t>
            </a:r>
            <a:endParaRPr lang="en-US" sz="1800" dirty="0"/>
          </a:p>
        </p:txBody>
      </p:sp>
      <p:sp>
        <p:nvSpPr>
          <p:cNvPr id="13" name="Text 11"/>
          <p:cNvSpPr/>
          <p:nvPr/>
        </p:nvSpPr>
        <p:spPr>
          <a:xfrm>
            <a:off x="1143000" y="2788920"/>
            <a:ext cx="10332720" cy="502920"/>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Building and evaluating expressions</a:t>
            </a:r>
            <a:endParaRPr lang="en-US" sz="1500" dirty="0"/>
          </a:p>
        </p:txBody>
      </p:sp>
      <p:sp>
        <p:nvSpPr>
          <p:cNvPr id="14" name="Shape 12"/>
          <p:cNvSpPr/>
          <p:nvPr/>
        </p:nvSpPr>
        <p:spPr>
          <a:xfrm>
            <a:off x="457200" y="3383280"/>
            <a:ext cx="11247120" cy="502920"/>
          </a:xfrm>
          <a:prstGeom prst="roundRect">
            <a:avLst>
              <a:gd name="adj" fmla="val 10909"/>
            </a:avLst>
          </a:prstGeom>
          <a:solidFill>
            <a:srgbClr val="FFFFFF"/>
          </a:solidFill>
          <a:ln w="9525">
            <a:solidFill>
              <a:srgbClr val="E5E7EB"/>
            </a:solidFill>
            <a:prstDash val="solid"/>
          </a:ln>
        </p:spPr>
        <p:txBody>
          <a:bodyPr/>
          <a:lstStyle/>
          <a:p>
            <a:endParaRPr lang="en-AU"/>
          </a:p>
        </p:txBody>
      </p:sp>
      <p:sp>
        <p:nvSpPr>
          <p:cNvPr id="15" name="Text 13"/>
          <p:cNvSpPr/>
          <p:nvPr/>
        </p:nvSpPr>
        <p:spPr>
          <a:xfrm>
            <a:off x="640080" y="3383280"/>
            <a:ext cx="457200" cy="502920"/>
          </a:xfrm>
          <a:prstGeom prst="rect">
            <a:avLst/>
          </a:prstGeom>
          <a:noFill/>
          <a:ln/>
        </p:spPr>
        <p:txBody>
          <a:bodyPr wrap="square" lIns="0" tIns="0" rIns="0" bIns="0" rtlCol="0" anchor="ctr"/>
          <a:lstStyle/>
          <a:p>
            <a:pPr marL="0" indent="0">
              <a:buNone/>
            </a:pPr>
            <a:r>
              <a:rPr lang="en-US" sz="1800" b="1" dirty="0">
                <a:solidFill>
                  <a:srgbClr val="10B981"/>
                </a:solidFill>
                <a:latin typeface="Courier New" pitchFamily="34" charset="0"/>
                <a:ea typeface="Courier New" pitchFamily="34" charset="-122"/>
                <a:cs typeface="Courier New" pitchFamily="34" charset="-120"/>
              </a:rPr>
              <a:t>✓</a:t>
            </a:r>
            <a:endParaRPr lang="en-US" sz="1800" dirty="0"/>
          </a:p>
        </p:txBody>
      </p:sp>
      <p:sp>
        <p:nvSpPr>
          <p:cNvPr id="16" name="Text 14"/>
          <p:cNvSpPr/>
          <p:nvPr/>
        </p:nvSpPr>
        <p:spPr>
          <a:xfrm>
            <a:off x="1143000" y="3383280"/>
            <a:ext cx="10332720" cy="502920"/>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Building expressions with flow diagrams</a:t>
            </a:r>
            <a:endParaRPr lang="en-US" sz="1500" dirty="0"/>
          </a:p>
        </p:txBody>
      </p:sp>
      <p:sp>
        <p:nvSpPr>
          <p:cNvPr id="17" name="Shape 15"/>
          <p:cNvSpPr/>
          <p:nvPr/>
        </p:nvSpPr>
        <p:spPr>
          <a:xfrm>
            <a:off x="457200" y="3977640"/>
            <a:ext cx="11247120" cy="502920"/>
          </a:xfrm>
          <a:prstGeom prst="roundRect">
            <a:avLst>
              <a:gd name="adj" fmla="val 10909"/>
            </a:avLst>
          </a:prstGeom>
          <a:solidFill>
            <a:srgbClr val="FFFFFF"/>
          </a:solidFill>
          <a:ln w="9525">
            <a:solidFill>
              <a:srgbClr val="E5E7EB"/>
            </a:solidFill>
            <a:prstDash val="solid"/>
          </a:ln>
        </p:spPr>
        <p:txBody>
          <a:bodyPr/>
          <a:lstStyle/>
          <a:p>
            <a:endParaRPr lang="en-AU"/>
          </a:p>
        </p:txBody>
      </p:sp>
      <p:sp>
        <p:nvSpPr>
          <p:cNvPr id="18" name="Text 16"/>
          <p:cNvSpPr/>
          <p:nvPr/>
        </p:nvSpPr>
        <p:spPr>
          <a:xfrm>
            <a:off x="640080" y="3977640"/>
            <a:ext cx="457200" cy="502920"/>
          </a:xfrm>
          <a:prstGeom prst="rect">
            <a:avLst/>
          </a:prstGeom>
          <a:noFill/>
          <a:ln/>
        </p:spPr>
        <p:txBody>
          <a:bodyPr wrap="square" lIns="0" tIns="0" rIns="0" bIns="0" rtlCol="0" anchor="ctr"/>
          <a:lstStyle/>
          <a:p>
            <a:pPr marL="0" indent="0">
              <a:buNone/>
            </a:pPr>
            <a:r>
              <a:rPr lang="en-US" sz="1800" b="1" dirty="0">
                <a:solidFill>
                  <a:srgbClr val="10B981"/>
                </a:solidFill>
                <a:latin typeface="Courier New" pitchFamily="34" charset="0"/>
                <a:ea typeface="Courier New" pitchFamily="34" charset="-122"/>
                <a:cs typeface="Courier New" pitchFamily="34" charset="-120"/>
              </a:rPr>
              <a:t>✓</a:t>
            </a:r>
            <a:endParaRPr lang="en-US" sz="1800" dirty="0"/>
          </a:p>
        </p:txBody>
      </p:sp>
      <p:sp>
        <p:nvSpPr>
          <p:cNvPr id="19" name="Text 17"/>
          <p:cNvSpPr/>
          <p:nvPr/>
        </p:nvSpPr>
        <p:spPr>
          <a:xfrm>
            <a:off x="1143000" y="3977640"/>
            <a:ext cx="10332720" cy="502920"/>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Substitution &amp; patterns and rules</a:t>
            </a:r>
            <a:endParaRPr lang="en-US" sz="1500" dirty="0"/>
          </a:p>
        </p:txBody>
      </p:sp>
      <p:sp>
        <p:nvSpPr>
          <p:cNvPr id="20" name="Shape 18"/>
          <p:cNvSpPr/>
          <p:nvPr/>
        </p:nvSpPr>
        <p:spPr>
          <a:xfrm>
            <a:off x="457200" y="4572000"/>
            <a:ext cx="11247120" cy="502920"/>
          </a:xfrm>
          <a:prstGeom prst="roundRect">
            <a:avLst>
              <a:gd name="adj" fmla="val 10909"/>
            </a:avLst>
          </a:prstGeom>
          <a:solidFill>
            <a:srgbClr val="FEF6E7"/>
          </a:solidFill>
          <a:ln w="9525">
            <a:solidFill>
              <a:srgbClr val="E5E7EB"/>
            </a:solidFill>
            <a:prstDash val="solid"/>
          </a:ln>
        </p:spPr>
        <p:txBody>
          <a:bodyPr/>
          <a:lstStyle/>
          <a:p>
            <a:endParaRPr lang="en-AU"/>
          </a:p>
        </p:txBody>
      </p:sp>
      <p:sp>
        <p:nvSpPr>
          <p:cNvPr id="21" name="Text 19"/>
          <p:cNvSpPr/>
          <p:nvPr/>
        </p:nvSpPr>
        <p:spPr>
          <a:xfrm>
            <a:off x="640080" y="4572000"/>
            <a:ext cx="457200" cy="502920"/>
          </a:xfrm>
          <a:prstGeom prst="rect">
            <a:avLst/>
          </a:prstGeom>
          <a:noFill/>
          <a:ln/>
        </p:spPr>
        <p:txBody>
          <a:bodyPr wrap="square" lIns="0" tIns="0" rIns="0" bIns="0" rtlCol="0" anchor="ctr"/>
          <a:lstStyle/>
          <a:p>
            <a:pPr marL="0" indent="0">
              <a:buNone/>
            </a:pPr>
            <a:r>
              <a:rPr lang="en-US" sz="1800" b="1" dirty="0">
                <a:solidFill>
                  <a:srgbClr val="F59E0B"/>
                </a:solidFill>
                <a:latin typeface="Courier New" pitchFamily="34" charset="0"/>
                <a:ea typeface="Courier New" pitchFamily="34" charset="-122"/>
                <a:cs typeface="Courier New" pitchFamily="34" charset="-120"/>
              </a:rPr>
              <a:t>●</a:t>
            </a:r>
            <a:endParaRPr lang="en-US" sz="1800" dirty="0"/>
          </a:p>
        </p:txBody>
      </p:sp>
      <p:sp>
        <p:nvSpPr>
          <p:cNvPr id="22" name="Text 20"/>
          <p:cNvSpPr/>
          <p:nvPr/>
        </p:nvSpPr>
        <p:spPr>
          <a:xfrm>
            <a:off x="1143000" y="4572000"/>
            <a:ext cx="10332720" cy="502920"/>
          </a:xfrm>
          <a:prstGeom prst="rect">
            <a:avLst/>
          </a:prstGeom>
          <a:noFill/>
          <a:ln/>
        </p:spPr>
        <p:txBody>
          <a:bodyPr wrap="square" lIns="0" tIns="0" rIns="0" bIns="0" rtlCol="0" anchor="ctr"/>
          <a:lstStyle/>
          <a:p>
            <a:pPr marL="0" indent="0">
              <a:buNone/>
            </a:pPr>
            <a:r>
              <a:rPr lang="en-US" sz="1500" b="1" dirty="0">
                <a:solidFill>
                  <a:srgbClr val="92610A"/>
                </a:solidFill>
                <a:latin typeface="Calibri" pitchFamily="34" charset="0"/>
                <a:ea typeface="Calibri" pitchFamily="34" charset="-122"/>
                <a:cs typeface="Calibri" pitchFamily="34" charset="-120"/>
              </a:rPr>
              <a:t>Solving one-step equations (balance &amp; flowchart)</a:t>
            </a:r>
            <a:endParaRPr lang="en-US" sz="1500" dirty="0"/>
          </a:p>
        </p:txBody>
      </p:sp>
      <p:sp>
        <p:nvSpPr>
          <p:cNvPr id="23" name="Shape 21"/>
          <p:cNvSpPr/>
          <p:nvPr/>
        </p:nvSpPr>
        <p:spPr>
          <a:xfrm>
            <a:off x="457200" y="5166360"/>
            <a:ext cx="11247120" cy="502920"/>
          </a:xfrm>
          <a:prstGeom prst="roundRect">
            <a:avLst>
              <a:gd name="adj" fmla="val 10909"/>
            </a:avLst>
          </a:prstGeom>
          <a:solidFill>
            <a:srgbClr val="FFFFFF"/>
          </a:solidFill>
          <a:ln w="9525">
            <a:solidFill>
              <a:srgbClr val="E5E7EB"/>
            </a:solidFill>
            <a:prstDash val="solid"/>
          </a:ln>
        </p:spPr>
        <p:txBody>
          <a:bodyPr/>
          <a:lstStyle/>
          <a:p>
            <a:endParaRPr lang="en-AU"/>
          </a:p>
        </p:txBody>
      </p:sp>
      <p:sp>
        <p:nvSpPr>
          <p:cNvPr id="24" name="Text 22"/>
          <p:cNvSpPr/>
          <p:nvPr/>
        </p:nvSpPr>
        <p:spPr>
          <a:xfrm>
            <a:off x="640080" y="5166360"/>
            <a:ext cx="457200" cy="502920"/>
          </a:xfrm>
          <a:prstGeom prst="rect">
            <a:avLst/>
          </a:prstGeom>
          <a:noFill/>
          <a:ln/>
        </p:spPr>
        <p:txBody>
          <a:bodyPr wrap="square" lIns="0" tIns="0" rIns="0" bIns="0" rtlCol="0" anchor="ctr"/>
          <a:lstStyle/>
          <a:p>
            <a:pPr marL="0" indent="0">
              <a:buNone/>
            </a:pPr>
            <a:r>
              <a:rPr lang="en-US" sz="1800" b="1" dirty="0">
                <a:solidFill>
                  <a:srgbClr val="9CA3AF"/>
                </a:solidFill>
                <a:latin typeface="Courier New" pitchFamily="34" charset="0"/>
                <a:ea typeface="Courier New" pitchFamily="34" charset="-122"/>
                <a:cs typeface="Courier New" pitchFamily="34" charset="-120"/>
              </a:rPr>
              <a:t>○</a:t>
            </a:r>
            <a:endParaRPr lang="en-US" sz="1800" dirty="0"/>
          </a:p>
        </p:txBody>
      </p:sp>
      <p:sp>
        <p:nvSpPr>
          <p:cNvPr id="25" name="Text 23"/>
          <p:cNvSpPr/>
          <p:nvPr/>
        </p:nvSpPr>
        <p:spPr>
          <a:xfrm>
            <a:off x="1143000" y="5166360"/>
            <a:ext cx="10332720" cy="502920"/>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Applying equation-solving to further problems</a:t>
            </a:r>
            <a:endParaRPr lang="en-US" sz="1500" dirty="0"/>
          </a:p>
        </p:txBody>
      </p:sp>
      <p:sp>
        <p:nvSpPr>
          <p:cNvPr id="26" name="Shape 24"/>
          <p:cNvSpPr/>
          <p:nvPr/>
        </p:nvSpPr>
        <p:spPr>
          <a:xfrm>
            <a:off x="457200" y="5760720"/>
            <a:ext cx="11247120" cy="502920"/>
          </a:xfrm>
          <a:prstGeom prst="roundRect">
            <a:avLst>
              <a:gd name="adj" fmla="val 10909"/>
            </a:avLst>
          </a:prstGeom>
          <a:solidFill>
            <a:srgbClr val="FFFFFF"/>
          </a:solidFill>
          <a:ln w="9525">
            <a:solidFill>
              <a:srgbClr val="E5E7EB"/>
            </a:solidFill>
            <a:prstDash val="solid"/>
          </a:ln>
        </p:spPr>
        <p:txBody>
          <a:bodyPr/>
          <a:lstStyle/>
          <a:p>
            <a:endParaRPr lang="en-AU"/>
          </a:p>
        </p:txBody>
      </p:sp>
      <p:sp>
        <p:nvSpPr>
          <p:cNvPr id="27" name="Text 25"/>
          <p:cNvSpPr/>
          <p:nvPr/>
        </p:nvSpPr>
        <p:spPr>
          <a:xfrm>
            <a:off x="640080" y="5760720"/>
            <a:ext cx="457200" cy="502920"/>
          </a:xfrm>
          <a:prstGeom prst="rect">
            <a:avLst/>
          </a:prstGeom>
          <a:noFill/>
          <a:ln/>
        </p:spPr>
        <p:txBody>
          <a:bodyPr wrap="square" lIns="0" tIns="0" rIns="0" bIns="0" rtlCol="0" anchor="ctr"/>
          <a:lstStyle/>
          <a:p>
            <a:pPr marL="0" indent="0">
              <a:buNone/>
            </a:pPr>
            <a:r>
              <a:rPr lang="en-US" sz="1800" b="1" dirty="0">
                <a:solidFill>
                  <a:srgbClr val="9CA3AF"/>
                </a:solidFill>
                <a:latin typeface="Courier New" pitchFamily="34" charset="0"/>
                <a:ea typeface="Courier New" pitchFamily="34" charset="-122"/>
                <a:cs typeface="Courier New" pitchFamily="34" charset="-120"/>
              </a:rPr>
              <a:t>○</a:t>
            </a:r>
            <a:endParaRPr lang="en-US" sz="1800" dirty="0"/>
          </a:p>
        </p:txBody>
      </p:sp>
      <p:sp>
        <p:nvSpPr>
          <p:cNvPr id="28" name="Text 26"/>
          <p:cNvSpPr/>
          <p:nvPr/>
        </p:nvSpPr>
        <p:spPr>
          <a:xfrm>
            <a:off x="1143000" y="5760720"/>
            <a:ext cx="10332720" cy="502920"/>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Unit revision and assessment</a:t>
            </a:r>
            <a:endParaRPr lang="en-US" sz="1500" dirty="0"/>
          </a:p>
        </p:txBody>
      </p:sp>
      <p:sp>
        <p:nvSpPr>
          <p:cNvPr id="29" name="Text 27"/>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30" name="Text 28"/>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DEDED"/>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EF4444"/>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EXIT TICKET</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Exit Ticket — 3 Questions, Individually</a:t>
            </a:r>
            <a:endParaRPr lang="en-US" sz="3200" dirty="0"/>
          </a:p>
        </p:txBody>
      </p:sp>
      <p:sp>
        <p:nvSpPr>
          <p:cNvPr id="7" name="Text 5"/>
          <p:cNvSpPr/>
          <p:nvPr/>
        </p:nvSpPr>
        <p:spPr>
          <a:xfrm>
            <a:off x="457200" y="1600200"/>
            <a:ext cx="7315200" cy="365760"/>
          </a:xfrm>
          <a:prstGeom prst="rect">
            <a:avLst/>
          </a:prstGeom>
          <a:noFill/>
          <a:ln/>
        </p:spPr>
        <p:txBody>
          <a:bodyPr wrap="square" lIns="0" tIns="0" rIns="0" bIns="0" rtlCol="0" anchor="ctr"/>
          <a:lstStyle/>
          <a:p>
            <a:pPr marL="0" indent="0">
              <a:buNone/>
            </a:pPr>
            <a:r>
              <a:rPr lang="en-US" sz="1500" i="1" dirty="0">
                <a:solidFill>
                  <a:srgbClr val="4B5563"/>
                </a:solidFill>
                <a:latin typeface="Calibri" pitchFamily="34" charset="0"/>
                <a:ea typeface="Calibri" pitchFamily="34" charset="-122"/>
                <a:cs typeface="Calibri" pitchFamily="34" charset="-120"/>
              </a:rPr>
              <a:t>Solve on paper. Hand up before you leave.</a:t>
            </a:r>
            <a:endParaRPr lang="en-US" sz="1500" dirty="0"/>
          </a:p>
        </p:txBody>
      </p:sp>
      <p:sp>
        <p:nvSpPr>
          <p:cNvPr id="8" name="Shape 6"/>
          <p:cNvSpPr/>
          <p:nvPr/>
        </p:nvSpPr>
        <p:spPr>
          <a:xfrm>
            <a:off x="457200" y="2194560"/>
            <a:ext cx="11247120" cy="1051560"/>
          </a:xfrm>
          <a:prstGeom prst="roundRect">
            <a:avLst>
              <a:gd name="adj" fmla="val 8696"/>
            </a:avLst>
          </a:prstGeom>
          <a:solidFill>
            <a:srgbClr val="FFFFFF"/>
          </a:solidFill>
          <a:ln w="12700">
            <a:solidFill>
              <a:srgbClr val="EF4444"/>
            </a:solidFill>
            <a:prstDash val="solid"/>
          </a:ln>
        </p:spPr>
        <p:txBody>
          <a:bodyPr/>
          <a:lstStyle/>
          <a:p>
            <a:endParaRPr lang="en-AU"/>
          </a:p>
        </p:txBody>
      </p:sp>
      <p:sp>
        <p:nvSpPr>
          <p:cNvPr id="9" name="Shape 7"/>
          <p:cNvSpPr/>
          <p:nvPr/>
        </p:nvSpPr>
        <p:spPr>
          <a:xfrm>
            <a:off x="685800" y="2423160"/>
            <a:ext cx="594360" cy="594360"/>
          </a:xfrm>
          <a:prstGeom prst="ellipse">
            <a:avLst/>
          </a:prstGeom>
          <a:solidFill>
            <a:srgbClr val="EF4444"/>
          </a:solidFill>
          <a:ln/>
        </p:spPr>
        <p:txBody>
          <a:bodyPr/>
          <a:lstStyle/>
          <a:p>
            <a:endParaRPr lang="en-AU"/>
          </a:p>
        </p:txBody>
      </p:sp>
      <p:sp>
        <p:nvSpPr>
          <p:cNvPr id="10" name="Text 8"/>
          <p:cNvSpPr/>
          <p:nvPr/>
        </p:nvSpPr>
        <p:spPr>
          <a:xfrm>
            <a:off x="685800" y="242316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ourier New" pitchFamily="34" charset="0"/>
                <a:ea typeface="Courier New" pitchFamily="34" charset="-122"/>
                <a:cs typeface="Courier New" pitchFamily="34" charset="-120"/>
              </a:rPr>
              <a:t>1</a:t>
            </a:r>
            <a:endParaRPr lang="en-US" sz="2200" dirty="0"/>
          </a:p>
        </p:txBody>
      </p:sp>
      <p:sp>
        <p:nvSpPr>
          <p:cNvPr id="11" name="Text 9"/>
          <p:cNvSpPr/>
          <p:nvPr/>
        </p:nvSpPr>
        <p:spPr>
          <a:xfrm>
            <a:off x="1554480" y="2194560"/>
            <a:ext cx="9966960" cy="1051560"/>
          </a:xfrm>
          <a:prstGeom prst="rect">
            <a:avLst/>
          </a:prstGeom>
          <a:noFill/>
          <a:ln/>
        </p:spPr>
        <p:txBody>
          <a:bodyPr wrap="square" lIns="0" tIns="0" rIns="0" bIns="0" rtlCol="0" anchor="ctr"/>
          <a:lstStyle/>
          <a:p>
            <a:pPr marL="0" indent="0">
              <a:buNone/>
            </a:pPr>
            <a:r>
              <a:rPr lang="en-US" sz="1800" dirty="0">
                <a:solidFill>
                  <a:srgbClr val="111827"/>
                </a:solidFill>
                <a:latin typeface="Calibri" pitchFamily="34" charset="0"/>
                <a:ea typeface="Calibri" pitchFamily="34" charset="-122"/>
                <a:cs typeface="Calibri" pitchFamily="34" charset="-120"/>
              </a:rPr>
              <a:t>Solve using the BALANCE method:   x + 14 = 26</a:t>
            </a:r>
            <a:endParaRPr lang="en-US" sz="1800" dirty="0"/>
          </a:p>
        </p:txBody>
      </p:sp>
      <p:sp>
        <p:nvSpPr>
          <p:cNvPr id="12" name="Shape 10"/>
          <p:cNvSpPr/>
          <p:nvPr/>
        </p:nvSpPr>
        <p:spPr>
          <a:xfrm>
            <a:off x="457200" y="3429000"/>
            <a:ext cx="11247120" cy="1051560"/>
          </a:xfrm>
          <a:prstGeom prst="roundRect">
            <a:avLst>
              <a:gd name="adj" fmla="val 8696"/>
            </a:avLst>
          </a:prstGeom>
          <a:solidFill>
            <a:srgbClr val="FFFFFF"/>
          </a:solidFill>
          <a:ln w="12700">
            <a:solidFill>
              <a:srgbClr val="EF4444"/>
            </a:solidFill>
            <a:prstDash val="solid"/>
          </a:ln>
        </p:spPr>
        <p:txBody>
          <a:bodyPr/>
          <a:lstStyle/>
          <a:p>
            <a:endParaRPr lang="en-AU"/>
          </a:p>
        </p:txBody>
      </p:sp>
      <p:sp>
        <p:nvSpPr>
          <p:cNvPr id="13" name="Shape 11"/>
          <p:cNvSpPr/>
          <p:nvPr/>
        </p:nvSpPr>
        <p:spPr>
          <a:xfrm>
            <a:off x="685800" y="3657600"/>
            <a:ext cx="594360" cy="594360"/>
          </a:xfrm>
          <a:prstGeom prst="ellipse">
            <a:avLst/>
          </a:prstGeom>
          <a:solidFill>
            <a:srgbClr val="EF4444"/>
          </a:solidFill>
          <a:ln/>
        </p:spPr>
        <p:txBody>
          <a:bodyPr/>
          <a:lstStyle/>
          <a:p>
            <a:endParaRPr lang="en-AU"/>
          </a:p>
        </p:txBody>
      </p:sp>
      <p:sp>
        <p:nvSpPr>
          <p:cNvPr id="14" name="Text 12"/>
          <p:cNvSpPr/>
          <p:nvPr/>
        </p:nvSpPr>
        <p:spPr>
          <a:xfrm>
            <a:off x="685800" y="365760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ourier New" pitchFamily="34" charset="0"/>
                <a:ea typeface="Courier New" pitchFamily="34" charset="-122"/>
                <a:cs typeface="Courier New" pitchFamily="34" charset="-120"/>
              </a:rPr>
              <a:t>2</a:t>
            </a:r>
            <a:endParaRPr lang="en-US" sz="2200" dirty="0"/>
          </a:p>
        </p:txBody>
      </p:sp>
      <p:sp>
        <p:nvSpPr>
          <p:cNvPr id="15" name="Text 13"/>
          <p:cNvSpPr/>
          <p:nvPr/>
        </p:nvSpPr>
        <p:spPr>
          <a:xfrm>
            <a:off x="1554480" y="3429000"/>
            <a:ext cx="9966960" cy="1051560"/>
          </a:xfrm>
          <a:prstGeom prst="rect">
            <a:avLst/>
          </a:prstGeom>
          <a:noFill/>
          <a:ln/>
        </p:spPr>
        <p:txBody>
          <a:bodyPr wrap="square" lIns="0" tIns="0" rIns="0" bIns="0" rtlCol="0" anchor="ctr"/>
          <a:lstStyle/>
          <a:p>
            <a:pPr marL="0" indent="0">
              <a:buNone/>
            </a:pPr>
            <a:r>
              <a:rPr lang="en-US" sz="1800" dirty="0">
                <a:solidFill>
                  <a:srgbClr val="111827"/>
                </a:solidFill>
                <a:latin typeface="Calibri" pitchFamily="34" charset="0"/>
                <a:ea typeface="Calibri" pitchFamily="34" charset="-122"/>
                <a:cs typeface="Calibri" pitchFamily="34" charset="-120"/>
              </a:rPr>
              <a:t>Solve using the FLOWCHART method:   x ÷ 6 = 9</a:t>
            </a:r>
            <a:endParaRPr lang="en-US" sz="1800" dirty="0"/>
          </a:p>
        </p:txBody>
      </p:sp>
      <p:sp>
        <p:nvSpPr>
          <p:cNvPr id="16" name="Shape 14"/>
          <p:cNvSpPr/>
          <p:nvPr/>
        </p:nvSpPr>
        <p:spPr>
          <a:xfrm>
            <a:off x="457200" y="4663440"/>
            <a:ext cx="11247120" cy="1051560"/>
          </a:xfrm>
          <a:prstGeom prst="roundRect">
            <a:avLst>
              <a:gd name="adj" fmla="val 8696"/>
            </a:avLst>
          </a:prstGeom>
          <a:solidFill>
            <a:srgbClr val="FFFFFF"/>
          </a:solidFill>
          <a:ln w="12700">
            <a:solidFill>
              <a:srgbClr val="EF4444"/>
            </a:solidFill>
            <a:prstDash val="solid"/>
          </a:ln>
        </p:spPr>
        <p:txBody>
          <a:bodyPr/>
          <a:lstStyle/>
          <a:p>
            <a:endParaRPr lang="en-AU"/>
          </a:p>
        </p:txBody>
      </p:sp>
      <p:sp>
        <p:nvSpPr>
          <p:cNvPr id="17" name="Shape 15"/>
          <p:cNvSpPr/>
          <p:nvPr/>
        </p:nvSpPr>
        <p:spPr>
          <a:xfrm>
            <a:off x="685800" y="4892040"/>
            <a:ext cx="594360" cy="594360"/>
          </a:xfrm>
          <a:prstGeom prst="ellipse">
            <a:avLst/>
          </a:prstGeom>
          <a:solidFill>
            <a:srgbClr val="EF4444"/>
          </a:solidFill>
          <a:ln/>
        </p:spPr>
        <p:txBody>
          <a:bodyPr/>
          <a:lstStyle/>
          <a:p>
            <a:endParaRPr lang="en-AU"/>
          </a:p>
        </p:txBody>
      </p:sp>
      <p:sp>
        <p:nvSpPr>
          <p:cNvPr id="18" name="Text 16"/>
          <p:cNvSpPr/>
          <p:nvPr/>
        </p:nvSpPr>
        <p:spPr>
          <a:xfrm>
            <a:off x="685800" y="489204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ourier New" pitchFamily="34" charset="0"/>
                <a:ea typeface="Courier New" pitchFamily="34" charset="-122"/>
                <a:cs typeface="Courier New" pitchFamily="34" charset="-120"/>
              </a:rPr>
              <a:t>3</a:t>
            </a:r>
            <a:endParaRPr lang="en-US" sz="2200" dirty="0"/>
          </a:p>
        </p:txBody>
      </p:sp>
      <p:sp>
        <p:nvSpPr>
          <p:cNvPr id="19" name="Text 17"/>
          <p:cNvSpPr/>
          <p:nvPr/>
        </p:nvSpPr>
        <p:spPr>
          <a:xfrm>
            <a:off x="1554480" y="4663440"/>
            <a:ext cx="9966960" cy="1051560"/>
          </a:xfrm>
          <a:prstGeom prst="rect">
            <a:avLst/>
          </a:prstGeom>
          <a:noFill/>
          <a:ln/>
        </p:spPr>
        <p:txBody>
          <a:bodyPr wrap="square" lIns="0" tIns="0" rIns="0" bIns="0" rtlCol="0" anchor="ctr"/>
          <a:lstStyle/>
          <a:p>
            <a:pPr marL="0" indent="0">
              <a:buNone/>
            </a:pPr>
            <a:r>
              <a:rPr lang="en-US" sz="1800" dirty="0">
                <a:solidFill>
                  <a:srgbClr val="111827"/>
                </a:solidFill>
                <a:latin typeface="Calibri" pitchFamily="34" charset="0"/>
                <a:ea typeface="Calibri" pitchFamily="34" charset="-122"/>
                <a:cs typeface="Calibri" pitchFamily="34" charset="-120"/>
              </a:rPr>
              <a:t>A student says the solution to  x − 8 = 20  is  x = 12. Verify by substitution — are they correct?</a:t>
            </a:r>
            <a:endParaRPr lang="en-US" sz="1800" dirty="0"/>
          </a:p>
        </p:txBody>
      </p:sp>
      <p:sp>
        <p:nvSpPr>
          <p:cNvPr id="20" name="Text 18"/>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21" name="Text 19"/>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2286000" cy="384048"/>
          </a:xfrm>
          <a:prstGeom prst="roundRect">
            <a:avLst>
              <a:gd name="adj" fmla="val 19048"/>
            </a:avLst>
          </a:prstGeom>
          <a:solidFill>
            <a:srgbClr val="8B5CF6"/>
          </a:solidFill>
          <a:ln/>
        </p:spPr>
        <p:txBody>
          <a:bodyPr/>
          <a:lstStyle/>
          <a:p>
            <a:endParaRPr lang="en-AU"/>
          </a:p>
        </p:txBody>
      </p:sp>
      <p:sp>
        <p:nvSpPr>
          <p:cNvPr id="3" name="Text 1"/>
          <p:cNvSpPr/>
          <p:nvPr/>
        </p:nvSpPr>
        <p:spPr>
          <a:xfrm>
            <a:off x="457200" y="365760"/>
            <a:ext cx="22860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ourier New" pitchFamily="34" charset="0"/>
                <a:ea typeface="Courier New" pitchFamily="34" charset="-122"/>
                <a:cs typeface="Courier New" pitchFamily="34" charset="-120"/>
              </a:rPr>
              <a:t>NEXT STEPS</a:t>
            </a:r>
            <a:endParaRPr lang="en-US" sz="1200" dirty="0"/>
          </a:p>
        </p:txBody>
      </p:sp>
      <p:sp>
        <p:nvSpPr>
          <p:cNvPr id="4" name="Shape 2"/>
          <p:cNvSpPr/>
          <p:nvPr/>
        </p:nvSpPr>
        <p:spPr>
          <a:xfrm>
            <a:off x="9509760" y="365760"/>
            <a:ext cx="2194560" cy="384048"/>
          </a:xfrm>
          <a:prstGeom prst="roundRect">
            <a:avLst>
              <a:gd name="adj" fmla="val 19048"/>
            </a:avLst>
          </a:prstGeom>
          <a:solidFill>
            <a:srgbClr val="FDEDED"/>
          </a:solidFill>
          <a:ln w="12700">
            <a:solidFill>
              <a:srgbClr val="EF4444"/>
            </a:solidFill>
            <a:prstDash val="solid"/>
          </a:ln>
        </p:spPr>
        <p:txBody>
          <a:bodyPr/>
          <a:lstStyle/>
          <a:p>
            <a:endParaRPr lang="en-AU"/>
          </a:p>
        </p:txBody>
      </p:sp>
      <p:sp>
        <p:nvSpPr>
          <p:cNvPr id="5" name="Text 3"/>
          <p:cNvSpPr/>
          <p:nvPr/>
        </p:nvSpPr>
        <p:spPr>
          <a:xfrm>
            <a:off x="9509760" y="365760"/>
            <a:ext cx="2194560" cy="384048"/>
          </a:xfrm>
          <a:prstGeom prst="rect">
            <a:avLst/>
          </a:prstGeom>
          <a:noFill/>
          <a:ln/>
        </p:spPr>
        <p:txBody>
          <a:bodyPr wrap="square" lIns="0" tIns="0" rIns="0" bIns="0" rtlCol="0" anchor="ctr"/>
          <a:lstStyle/>
          <a:p>
            <a:pPr marL="0" indent="0" algn="ctr">
              <a:buNone/>
            </a:pPr>
            <a:r>
              <a:rPr lang="en-US" sz="1100" b="1" dirty="0">
                <a:solidFill>
                  <a:srgbClr val="EF4444"/>
                </a:solidFill>
                <a:latin typeface="Courier New" pitchFamily="34" charset="0"/>
                <a:ea typeface="Courier New" pitchFamily="34" charset="-122"/>
                <a:cs typeface="Courier New" pitchFamily="34" charset="-120"/>
              </a:rPr>
              <a:t>● DEVICES OFF</a:t>
            </a:r>
            <a:endParaRPr lang="en-US" sz="1100" dirty="0"/>
          </a:p>
        </p:txBody>
      </p:sp>
      <p:sp>
        <p:nvSpPr>
          <p:cNvPr id="6" name="Text 4"/>
          <p:cNvSpPr/>
          <p:nvPr/>
        </p:nvSpPr>
        <p:spPr>
          <a:xfrm>
            <a:off x="457200" y="960120"/>
            <a:ext cx="11247120" cy="822960"/>
          </a:xfrm>
          <a:prstGeom prst="rect">
            <a:avLst/>
          </a:prstGeom>
          <a:noFill/>
          <a:ln/>
        </p:spPr>
        <p:txBody>
          <a:bodyPr wrap="square" lIns="0" tIns="0" rIns="0" bIns="0" rtlCol="0" anchor="ctr"/>
          <a:lstStyle/>
          <a:p>
            <a:pPr marL="0" indent="0">
              <a:buNone/>
            </a:pPr>
            <a:r>
              <a:rPr lang="en-US" sz="3200" b="1" dirty="0">
                <a:solidFill>
                  <a:srgbClr val="111827"/>
                </a:solidFill>
                <a:latin typeface="Bookman Old Style" pitchFamily="34" charset="0"/>
                <a:ea typeface="Bookman Old Style" pitchFamily="34" charset="-122"/>
                <a:cs typeface="Bookman Old Style" pitchFamily="34" charset="-120"/>
              </a:rPr>
              <a:t>Next Steps</a:t>
            </a:r>
            <a:endParaRPr lang="en-US" sz="3200" dirty="0"/>
          </a:p>
        </p:txBody>
      </p:sp>
      <p:sp>
        <p:nvSpPr>
          <p:cNvPr id="7" name="Shape 5"/>
          <p:cNvSpPr/>
          <p:nvPr/>
        </p:nvSpPr>
        <p:spPr>
          <a:xfrm>
            <a:off x="457200" y="1828800"/>
            <a:ext cx="11247120" cy="1280160"/>
          </a:xfrm>
          <a:prstGeom prst="roundRect">
            <a:avLst>
              <a:gd name="adj" fmla="val 7143"/>
            </a:avLst>
          </a:prstGeom>
          <a:solidFill>
            <a:srgbClr val="EEF1FE"/>
          </a:solidFill>
          <a:ln w="12700">
            <a:solidFill>
              <a:srgbClr val="4361EE"/>
            </a:solidFill>
            <a:prstDash val="solid"/>
          </a:ln>
        </p:spPr>
        <p:txBody>
          <a:bodyPr/>
          <a:lstStyle/>
          <a:p>
            <a:endParaRPr lang="en-AU"/>
          </a:p>
        </p:txBody>
      </p:sp>
      <p:sp>
        <p:nvSpPr>
          <p:cNvPr id="8" name="Text 6"/>
          <p:cNvSpPr/>
          <p:nvPr/>
        </p:nvSpPr>
        <p:spPr>
          <a:xfrm>
            <a:off x="777240" y="1965960"/>
            <a:ext cx="10607040" cy="320040"/>
          </a:xfrm>
          <a:prstGeom prst="rect">
            <a:avLst/>
          </a:prstGeom>
          <a:noFill/>
          <a:ln/>
        </p:spPr>
        <p:txBody>
          <a:bodyPr wrap="square" lIns="0" tIns="0" rIns="0" bIns="0" rtlCol="0" anchor="ctr"/>
          <a:lstStyle/>
          <a:p>
            <a:pPr marL="0" indent="0">
              <a:buNone/>
            </a:pPr>
            <a:r>
              <a:rPr lang="en-US" sz="1300" b="1" kern="0" spc="100" dirty="0">
                <a:solidFill>
                  <a:srgbClr val="4361EE"/>
                </a:solidFill>
                <a:latin typeface="Courier New" pitchFamily="34" charset="0"/>
                <a:ea typeface="Courier New" pitchFamily="34" charset="-122"/>
                <a:cs typeface="Courier New" pitchFamily="34" charset="-120"/>
              </a:rPr>
              <a:t>NEXT DOUBLE</a:t>
            </a:r>
            <a:endParaRPr lang="en-US" sz="1300" dirty="0"/>
          </a:p>
        </p:txBody>
      </p:sp>
      <p:sp>
        <p:nvSpPr>
          <p:cNvPr id="9" name="Text 7"/>
          <p:cNvSpPr/>
          <p:nvPr/>
        </p:nvSpPr>
        <p:spPr>
          <a:xfrm>
            <a:off x="777240" y="2286000"/>
            <a:ext cx="10607040" cy="731520"/>
          </a:xfrm>
          <a:prstGeom prst="rect">
            <a:avLst/>
          </a:prstGeom>
          <a:noFill/>
          <a:ln/>
        </p:spPr>
        <p:txBody>
          <a:bodyPr wrap="square" lIns="0" tIns="0" rIns="0" bIns="0" rtlCol="0" anchor="ctr"/>
          <a:lstStyle/>
          <a:p>
            <a:pPr marL="0" indent="0">
              <a:lnSpc>
                <a:spcPct val="115000"/>
              </a:lnSpc>
              <a:buNone/>
            </a:pPr>
            <a:r>
              <a:rPr lang="en-US" sz="1500" dirty="0">
                <a:solidFill>
                  <a:srgbClr val="111827"/>
                </a:solidFill>
                <a:latin typeface="Calibri" pitchFamily="34" charset="0"/>
                <a:ea typeface="Calibri" pitchFamily="34" charset="-122"/>
                <a:cs typeface="Calibri" pitchFamily="34" charset="-120"/>
              </a:rPr>
              <a:t>Continuing the Algebraic Techniques unit — applying today's equation-solving skills to more complex problems as we build toward the unit assessment.</a:t>
            </a:r>
            <a:endParaRPr lang="en-US" sz="1500" dirty="0"/>
          </a:p>
        </p:txBody>
      </p:sp>
      <p:sp>
        <p:nvSpPr>
          <p:cNvPr id="10" name="Shape 8"/>
          <p:cNvSpPr/>
          <p:nvPr/>
        </p:nvSpPr>
        <p:spPr>
          <a:xfrm>
            <a:off x="457200" y="3291840"/>
            <a:ext cx="11247120" cy="1280160"/>
          </a:xfrm>
          <a:prstGeom prst="roundRect">
            <a:avLst>
              <a:gd name="adj" fmla="val 7143"/>
            </a:avLst>
          </a:prstGeom>
          <a:solidFill>
            <a:srgbClr val="FEF6E7"/>
          </a:solidFill>
          <a:ln w="12700">
            <a:solidFill>
              <a:srgbClr val="F59E0B"/>
            </a:solidFill>
            <a:prstDash val="solid"/>
          </a:ln>
        </p:spPr>
        <p:txBody>
          <a:bodyPr/>
          <a:lstStyle/>
          <a:p>
            <a:endParaRPr lang="en-AU"/>
          </a:p>
        </p:txBody>
      </p:sp>
      <p:sp>
        <p:nvSpPr>
          <p:cNvPr id="11" name="Text 9"/>
          <p:cNvSpPr/>
          <p:nvPr/>
        </p:nvSpPr>
        <p:spPr>
          <a:xfrm>
            <a:off x="777240" y="3429000"/>
            <a:ext cx="10607040" cy="320040"/>
          </a:xfrm>
          <a:prstGeom prst="rect">
            <a:avLst/>
          </a:prstGeom>
          <a:noFill/>
          <a:ln/>
        </p:spPr>
        <p:txBody>
          <a:bodyPr wrap="square" lIns="0" tIns="0" rIns="0" bIns="0" rtlCol="0" anchor="ctr"/>
          <a:lstStyle/>
          <a:p>
            <a:pPr marL="0" indent="0">
              <a:buNone/>
            </a:pPr>
            <a:r>
              <a:rPr lang="en-US" sz="1300" b="1" kern="0" spc="100" dirty="0">
                <a:solidFill>
                  <a:srgbClr val="F59E0B"/>
                </a:solidFill>
                <a:latin typeface="Courier New" pitchFamily="34" charset="0"/>
                <a:ea typeface="Courier New" pitchFamily="34" charset="-122"/>
                <a:cs typeface="Courier New" pitchFamily="34" charset="-120"/>
              </a:rPr>
              <a:t>HOMEWORK</a:t>
            </a:r>
            <a:endParaRPr lang="en-US" sz="1300" dirty="0"/>
          </a:p>
        </p:txBody>
      </p:sp>
      <p:sp>
        <p:nvSpPr>
          <p:cNvPr id="12" name="Text 10"/>
          <p:cNvSpPr/>
          <p:nvPr/>
        </p:nvSpPr>
        <p:spPr>
          <a:xfrm>
            <a:off x="777240" y="3749040"/>
            <a:ext cx="10607040" cy="731520"/>
          </a:xfrm>
          <a:prstGeom prst="rect">
            <a:avLst/>
          </a:prstGeom>
          <a:noFill/>
          <a:ln/>
        </p:spPr>
        <p:txBody>
          <a:bodyPr wrap="square" lIns="0" tIns="0" rIns="0" bIns="0" rtlCol="0" anchor="ctr"/>
          <a:lstStyle/>
          <a:p>
            <a:pPr marL="0" indent="0">
              <a:lnSpc>
                <a:spcPct val="115000"/>
              </a:lnSpc>
              <a:buNone/>
            </a:pPr>
            <a:r>
              <a:rPr lang="en-US" sz="1500" dirty="0">
                <a:solidFill>
                  <a:srgbClr val="111827"/>
                </a:solidFill>
                <a:latin typeface="Calibri" pitchFamily="34" charset="0"/>
                <a:ea typeface="Calibri" pitchFamily="34" charset="-122"/>
                <a:cs typeface="Calibri" pitchFamily="34" charset="-120"/>
              </a:rPr>
              <a:t>Complete any unfinished tier tasks in your workbook, plus your assigned Mathspace coursework on solving equations.</a:t>
            </a:r>
            <a:endParaRPr lang="en-US" sz="1500" dirty="0"/>
          </a:p>
        </p:txBody>
      </p:sp>
      <p:sp>
        <p:nvSpPr>
          <p:cNvPr id="13" name="Shape 11"/>
          <p:cNvSpPr/>
          <p:nvPr/>
        </p:nvSpPr>
        <p:spPr>
          <a:xfrm>
            <a:off x="457200" y="4754880"/>
            <a:ext cx="11247120" cy="1280160"/>
          </a:xfrm>
          <a:prstGeom prst="roundRect">
            <a:avLst>
              <a:gd name="adj" fmla="val 7143"/>
            </a:avLst>
          </a:prstGeom>
          <a:solidFill>
            <a:srgbClr val="E8FBF3"/>
          </a:solidFill>
          <a:ln w="12700">
            <a:solidFill>
              <a:srgbClr val="10B981"/>
            </a:solidFill>
            <a:prstDash val="solid"/>
          </a:ln>
        </p:spPr>
        <p:txBody>
          <a:bodyPr/>
          <a:lstStyle/>
          <a:p>
            <a:endParaRPr lang="en-AU"/>
          </a:p>
        </p:txBody>
      </p:sp>
      <p:sp>
        <p:nvSpPr>
          <p:cNvPr id="14" name="Text 12"/>
          <p:cNvSpPr/>
          <p:nvPr/>
        </p:nvSpPr>
        <p:spPr>
          <a:xfrm>
            <a:off x="777240" y="4892040"/>
            <a:ext cx="10607040" cy="320040"/>
          </a:xfrm>
          <a:prstGeom prst="rect">
            <a:avLst/>
          </a:prstGeom>
          <a:noFill/>
          <a:ln/>
        </p:spPr>
        <p:txBody>
          <a:bodyPr wrap="square" lIns="0" tIns="0" rIns="0" bIns="0" rtlCol="0" anchor="ctr"/>
          <a:lstStyle/>
          <a:p>
            <a:pPr marL="0" indent="0">
              <a:buNone/>
            </a:pPr>
            <a:r>
              <a:rPr lang="en-US" sz="1300" b="1" kern="0" spc="100" dirty="0">
                <a:solidFill>
                  <a:srgbClr val="10B981"/>
                </a:solidFill>
                <a:latin typeface="Courier New" pitchFamily="34" charset="0"/>
                <a:ea typeface="Courier New" pitchFamily="34" charset="-122"/>
                <a:cs typeface="Courier New" pitchFamily="34" charset="-120"/>
              </a:rPr>
              <a:t>NEED HELP?</a:t>
            </a:r>
            <a:endParaRPr lang="en-US" sz="1300" dirty="0"/>
          </a:p>
        </p:txBody>
      </p:sp>
      <p:sp>
        <p:nvSpPr>
          <p:cNvPr id="15" name="Text 13"/>
          <p:cNvSpPr/>
          <p:nvPr/>
        </p:nvSpPr>
        <p:spPr>
          <a:xfrm>
            <a:off x="777240" y="5212080"/>
            <a:ext cx="10607040" cy="731520"/>
          </a:xfrm>
          <a:prstGeom prst="rect">
            <a:avLst/>
          </a:prstGeom>
          <a:noFill/>
          <a:ln/>
        </p:spPr>
        <p:txBody>
          <a:bodyPr wrap="square" lIns="0" tIns="0" rIns="0" bIns="0" rtlCol="0" anchor="ctr"/>
          <a:lstStyle/>
          <a:p>
            <a:pPr marL="0" indent="0">
              <a:lnSpc>
                <a:spcPct val="115000"/>
              </a:lnSpc>
              <a:buNone/>
            </a:pPr>
            <a:r>
              <a:rPr lang="en-US" sz="1500" dirty="0">
                <a:solidFill>
                  <a:srgbClr val="111827"/>
                </a:solidFill>
                <a:latin typeface="Calibri" pitchFamily="34" charset="0"/>
                <a:ea typeface="Calibri" pitchFamily="34" charset="-122"/>
                <a:cs typeface="Calibri" pitchFamily="34" charset="-120"/>
              </a:rPr>
              <a:t>Re-read your notes page (Golden Rule + inverse operations table), rewatch a worked example in the slides, or see me before the next lesson.</a:t>
            </a:r>
            <a:endParaRPr lang="en-US" sz="1500" dirty="0"/>
          </a:p>
        </p:txBody>
      </p:sp>
      <p:sp>
        <p:nvSpPr>
          <p:cNvPr id="16" name="Text 14"/>
          <p:cNvSpPr/>
          <p:nvPr/>
        </p:nvSpPr>
        <p:spPr>
          <a:xfrm>
            <a:off x="457200" y="6473952"/>
            <a:ext cx="7772400" cy="274320"/>
          </a:xfrm>
          <a:prstGeom prst="rect">
            <a:avLst/>
          </a:prstGeom>
          <a:noFill/>
          <a:ln/>
        </p:spPr>
        <p:txBody>
          <a:bodyPr wrap="square" lIns="0" tIns="0" rIns="0" bIns="0" rtlCol="0" anchor="ctr"/>
          <a:lstStyle/>
          <a:p>
            <a:pPr marL="0" indent="0">
              <a:buNone/>
            </a:pPr>
            <a:r>
              <a:rPr lang="en-US" sz="900" dirty="0">
                <a:solidFill>
                  <a:srgbClr val="9CA3AF"/>
                </a:solidFill>
                <a:latin typeface="Courier New" pitchFamily="34" charset="0"/>
                <a:ea typeface="Courier New" pitchFamily="34" charset="-122"/>
                <a:cs typeface="Courier New" pitchFamily="34" charset="-120"/>
              </a:rPr>
              <a:t>Year 7 Mathematics · Algebraic Techniques · Double 6 · Mr Smith</a:t>
            </a:r>
            <a:endParaRPr lang="en-US" sz="900" dirty="0"/>
          </a:p>
        </p:txBody>
      </p:sp>
      <p:sp>
        <p:nvSpPr>
          <p:cNvPr id="17" name="Text 15"/>
          <p:cNvSpPr/>
          <p:nvPr/>
        </p:nvSpPr>
        <p:spPr>
          <a:xfrm>
            <a:off x="9418320" y="6473952"/>
            <a:ext cx="2286000" cy="274320"/>
          </a:xfrm>
          <a:prstGeom prst="rect">
            <a:avLst/>
          </a:prstGeom>
          <a:noFill/>
          <a:ln/>
        </p:spPr>
        <p:txBody>
          <a:bodyPr wrap="square" lIns="0" tIns="0" rIns="0" bIns="0" rtlCol="0" anchor="ctr"/>
          <a:lstStyle/>
          <a:p>
            <a:pPr marL="0" indent="0" algn="r">
              <a:buNone/>
            </a:pPr>
            <a:r>
              <a:rPr lang="en-US" sz="900" dirty="0">
                <a:solidFill>
                  <a:srgbClr val="9CA3AF"/>
                </a:solidFill>
                <a:latin typeface="Courier New" pitchFamily="34" charset="0"/>
                <a:ea typeface="Courier New" pitchFamily="34" charset="-122"/>
                <a:cs typeface="Courier New" pitchFamily="34" charset="-120"/>
              </a:rPr>
              <a:t>Slide 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2948</Words>
  <Application>Microsoft Office PowerPoint</Application>
  <PresentationFormat>Widescreen</PresentationFormat>
  <Paragraphs>343</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Bookman Old Style</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James Smith 5</cp:lastModifiedBy>
  <cp:revision>2</cp:revision>
  <dcterms:created xsi:type="dcterms:W3CDTF">2026-07-30T00:20:37Z</dcterms:created>
  <dcterms:modified xsi:type="dcterms:W3CDTF">2026-07-30T00:52:26Z</dcterms:modified>
</cp:coreProperties>
</file>