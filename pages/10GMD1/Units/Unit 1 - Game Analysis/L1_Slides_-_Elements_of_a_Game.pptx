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semester-long Game Programming course: students will analyse existing games, design their own, then build it. Today is entirely conceptual — no devices yet. Set expectations for the semester before diving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clue aloud without naming the game. Answers: 1) Minecraft, 2) Among Us, 3) Tetris. After reveal, ask: 'What kind of information did I actually give you?' Steer toward: rules, actions/mechanics, goal — this seeds the whole lesson. Timing: ~5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objective aloud. Emphasise this is the foundation for the whole unit — Lesson 2 onwards uses these exact elements as the framework for analysing real games, and eventually their own design document. Success criteria will be revisited at the exit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adapted from game designer Jesse Schell's framing. Discussion is designed to be genuinely ambiguous — no hint needed. A jigsaw alone lacks a real 'conflict' (no opposition or obstacle beyond the puzzle itself) but does have rules and outcome — let students argue it. Don't resolve it definitively; the point is noticing the ingredients, not reaching consensus.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slide only — full detail comes next. Have students read the seven labels aloud as a class before moving on. This is the master list; every subsequent slide expands one element with a game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nuance: objectives can be fixed (Chess) or open/player-defined (Minecraft, Sims). Both are still 'objectives' — the difference is who sets them. Save this distinction for students who ask; don't force it on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rules to fairness — a shared, known, consistently-enforced rule set is what separates a game from arbitrary play. This sets up a later lesson on rule design for their own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 students will lean on most heavily once they start designing — 'mechanics' is the word they'll use constantly from Lesson 2 onward. Worth a quick class brainstorm of verbs from a shared, well-known game (e.g. Fortnite: build, shoot, loot, heal).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flow theory conceptually (no need to name it): challenge has to roughly match player skill, or the game feels either boring or frustrating. Great lead-in for later difficulty-curve design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nuance for later design work: narrative is optional, not mandatory. Puzzle/arcade genres often skip it entirely; RPGs lean on it heavily. Avoid implying every good game needs a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aesthetics (art/sound/feel) from mechanics — students sometimes conflate 'graphics' with 'gameplay'. A game's mechanics can stay identical while its aesthetic completely changes (skins, reskins, mods).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is often the most overlooked element by students during their own designs later in the unit — worth emphasising it's just as important as mechanics. Good bridge into next lesson's discussion of player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energiser roughly halfway through the lesson, before moving into the application task. Keep it light — the goal is a mental reset, not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row live, asking students to suggest the content before revealing it, rather than reading it out. This models exactly the task they do next in their workbook — use it as the template they'll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during this task — the common failure mode is students picking a game they only know superficially, producing vague answers. Nudge toward a game they've played extensively. Devices open now for the first time this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links today's content directly to the unit's major assessment (the Game Design Document, built across the semester). Keep discussion brisk — roughly 5 minutes — since the exit ticket follows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is completed and auto-saved in the workbook. Use this to identify students who need Lesson 2 to open with a recap of the 7 elements before moving into game analysis proper.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homework task — it's deliberately light (15 minutes) and directly primes Lesson 2's content. Remind students the unit site (bookmark it) has full written notes on every element covered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4" name="Image 0" descr="/home/claude/game_prog/icon_gamepad_4361EE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457200" y="548640"/>
            <a:ext cx="1234440" cy="1234440"/>
          </a:xfrm>
          <a:prstGeom prst="rect">
            <a:avLst/>
          </a:prstGeom>
        </p:spPr>
      </p:pic>
      <p:pic>
        <p:nvPicPr>
          <p:cNvPr id="5" name="Image 1" descr="/home/claude/game_prog/icon_trophy_4361EE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2468880" y="548640"/>
            <a:ext cx="1234440" cy="1234440"/>
          </a:xfrm>
          <a:prstGeom prst="rect">
            <a:avLst/>
          </a:prstGeom>
        </p:spPr>
      </p:pic>
      <p:pic>
        <p:nvPicPr>
          <p:cNvPr id="6" name="Image 2" descr="/home/claude/game_prog/icon_book_4361EE.png">    </p:cNvPr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457200" y="2377440"/>
            <a:ext cx="1234440" cy="1234440"/>
          </a:xfrm>
          <a:prstGeom prst="rect">
            <a:avLst/>
          </a:prstGeom>
        </p:spPr>
      </p:pic>
      <p:pic>
        <p:nvPicPr>
          <p:cNvPr id="7" name="Image 3" descr="/home/claude/game_prog/icon_palette_4361EE.png">    </p:cNvPr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2468880" y="2377440"/>
            <a:ext cx="1234440" cy="1234440"/>
          </a:xfrm>
          <a:prstGeom prst="rect">
            <a:avLst/>
          </a:prstGeom>
        </p:spPr>
      </p:pic>
      <p:pic>
        <p:nvPicPr>
          <p:cNvPr id="8" name="Image 4" descr="/home/claude/game_prog/icon_puzzle_4361EE.png">    </p:cNvPr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457200" y="4206240"/>
            <a:ext cx="1234440" cy="1234440"/>
          </a:xfrm>
          <a:prstGeom prst="rect">
            <a:avLst/>
          </a:prstGeom>
        </p:spPr>
      </p:pic>
      <p:pic>
        <p:nvPicPr>
          <p:cNvPr id="9" name="Image 5" descr="/home/claude/game_prog/icon_dice_4361EE.pn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2468880" y="4206240"/>
            <a:ext cx="1234440" cy="12344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663440" y="13716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10 · DIGITAL TECHNOLOGIES</a:t>
            </a:r>
            <a:endParaRPr lang="en-US" sz="1400" dirty="0"/>
          </a:p>
        </p:txBody>
      </p:sp>
      <p:sp>
        <p:nvSpPr>
          <p:cNvPr id="11" name="Text 3"/>
          <p:cNvSpPr/>
          <p:nvPr/>
        </p:nvSpPr>
        <p:spPr>
          <a:xfrm>
            <a:off x="4663440" y="17830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5A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Game Programming</a:t>
            </a:r>
            <a:endParaRPr lang="en-US" sz="3000" dirty="0"/>
          </a:p>
        </p:txBody>
      </p:sp>
      <p:sp>
        <p:nvSpPr>
          <p:cNvPr id="12" name="Text 4"/>
          <p:cNvSpPr/>
          <p:nvPr/>
        </p:nvSpPr>
        <p:spPr>
          <a:xfrm>
            <a:off x="4663440" y="25146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Elements of a Game</a:t>
            </a:r>
            <a:endParaRPr lang="en-US" sz="4800" dirty="0"/>
          </a:p>
        </p:txBody>
      </p:sp>
      <p:sp>
        <p:nvSpPr>
          <p:cNvPr id="13" name="Shape 5"/>
          <p:cNvSpPr/>
          <p:nvPr/>
        </p:nvSpPr>
        <p:spPr>
          <a:xfrm>
            <a:off x="4663440" y="3977640"/>
            <a:ext cx="2926080" cy="0"/>
          </a:xfrm>
          <a:prstGeom prst="line">
            <a:avLst/>
          </a:prstGeom>
          <a:noFill/>
          <a:ln w="38100">
            <a:solidFill>
              <a:srgbClr val="4361EE"/>
            </a:solidFill>
            <a:prstDash val="solid"/>
          </a:ln>
        </p:spPr>
      </p:sp>
      <p:sp>
        <p:nvSpPr>
          <p:cNvPr id="14" name="Text 6"/>
          <p:cNvSpPr/>
          <p:nvPr/>
        </p:nvSpPr>
        <p:spPr>
          <a:xfrm>
            <a:off x="466344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Lesson 1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4663440" y="4572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 — Design — Build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466344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</a:t>
            </a:r>
            <a:endParaRPr lang="en-US" sz="1300" dirty="0"/>
          </a:p>
        </p:txBody>
      </p:sp>
      <p:sp>
        <p:nvSpPr>
          <p:cNvPr id="17" name="Text 9"/>
          <p:cNvSpPr/>
          <p:nvPr/>
        </p:nvSpPr>
        <p:spPr>
          <a:xfrm>
            <a:off x="46634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2026-07-20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 UP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DEDF2"/>
          </a:solidFill>
          <a:ln w="12700">
            <a:solidFill>
              <a:srgbClr val="5A5A6E"/>
            </a:solidFill>
            <a:prstDash val="solid"/>
          </a:ln>
        </p:spPr>
      </p:sp>
      <p:pic>
        <p:nvPicPr>
          <p:cNvPr id="5" name="Image 0" descr="/home/claude/game_prog/icon_laptop_5A5A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CLOSED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Warm Up: Guess the Game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describe a game using only its core features. In pairs, write down what you think the game is — no shouting out!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7F8FC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8346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31520" y="35204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resources, place blocks, survive the night, build anything you can imagine.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297680" y="260604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7F8FC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26280" y="28346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5262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572000" y="35204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players, one imposter, complete tasks or find who's lying before it's too late.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138160" y="260604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7F8FC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66760" y="283464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83667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412480" y="35204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three coloured blocks, they vanish, the stack keeps falling faster and faster.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Think/Pair/Share — 3 minutes. What clues gave it away?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DEDF2"/>
          </a:solidFill>
          <a:ln w="12700">
            <a:solidFill>
              <a:srgbClr val="5A5A6E"/>
            </a:solidFill>
            <a:prstDash val="solid"/>
          </a:ln>
        </p:spPr>
      </p:sp>
      <p:pic>
        <p:nvPicPr>
          <p:cNvPr id="5" name="Image 0" descr="/home/claude/game_prog/icon_laptop_5A5A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CLOSED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Learning Objective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EDF1FE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361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identify and describe the core elements that combine to create a game.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57200" y="2971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Success Criteria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57200" y="35204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5204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97280" y="3520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926080" y="35204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name and define at least five elements of a game.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4434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97280" y="4434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Developing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926080" y="44348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those elements work together in a real game.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57200" y="53492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53492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🟣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097280" y="5349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Extending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926080" y="53492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evaluate how changing one element would affect the player's experience.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&amp; MODEL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DEDF2"/>
          </a:solidFill>
          <a:ln w="12700">
            <a:solidFill>
              <a:srgbClr val="5A5A6E"/>
            </a:solidFill>
            <a:prstDash val="solid"/>
          </a:ln>
        </p:spPr>
      </p:sp>
      <p:pic>
        <p:nvPicPr>
          <p:cNvPr id="5" name="Image 0" descr="/home/claude/game_prog/icon_laptop_5A5A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CLOSED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Actually Makes Something a Game?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fun activity is a game. A game is a system built from a specific set of ingredients.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11247120" cy="310896"/>
          </a:xfrm>
          <a:prstGeom prst="roundRect">
            <a:avLst>
              <a:gd name="adj" fmla="val 17647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/home/claude/game_prog/icon_clipboard_F59E0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316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" y="237744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THIS INTO YOUR WORKBOOK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83464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 w="12700">
            <a:solidFill>
              <a:srgbClr val="D8DAE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30175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is a system in which players engage in </a:t>
            </a:r>
            <a:pPr indent="0" marL="0">
              <a:buNone/>
            </a:pPr>
            <a:r>
              <a:rPr lang="en-US" sz="18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artificial conflict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defined by </a:t>
            </a:r>
            <a:pPr indent="0" marL="0">
              <a:buNone/>
            </a:pPr>
            <a:r>
              <a:rPr lang="en-US" sz="18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that results in a </a:t>
            </a:r>
            <a:pPr indent="0" marL="0">
              <a:buNone/>
            </a:pPr>
            <a:r>
              <a:rPr lang="en-US" sz="18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definition — write it in your own words in your workbook.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534924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77240" y="53492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Is doing a jigsaw puzzle alone a game? What about running for exercise? Why or why not?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&amp; MODEL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DEDF2"/>
          </a:solidFill>
          <a:ln w="12700">
            <a:solidFill>
              <a:srgbClr val="5A5A6E"/>
            </a:solidFill>
            <a:prstDash val="solid"/>
          </a:ln>
        </p:spPr>
      </p:sp>
      <p:pic>
        <p:nvPicPr>
          <p:cNvPr id="5" name="Image 0" descr="/home/claude/game_prog/icon_laptop_5A5A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CLOSED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Seven Elements of Every Game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1938528"/>
            <a:ext cx="548640" cy="548640"/>
          </a:xfrm>
          <a:prstGeom prst="ellipse">
            <a:avLst/>
          </a:prstGeom>
          <a:solidFill>
            <a:srgbClr val="4361EE"/>
          </a:solidFill>
          <a:ln/>
        </p:spPr>
      </p:sp>
      <p:pic>
        <p:nvPicPr>
          <p:cNvPr id="12" name="Image 1" descr="/home/claude/game_prog/icon_bullsey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5740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256032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0080" y="2944368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player is trying to achieve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319272" y="173736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547872" y="1938528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7" name="Image 2" descr="/home/claude/game_prog/icon_gave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05740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02152" y="256032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Rules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3502152" y="2944368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players can and can't do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173736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9944" y="193852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2" name="Image 3" descr="/home/claude/game_prog/icon_gamepa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05740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64224" y="256032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Mechanics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364224" y="2944368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actions available to the player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9043416" y="173736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272016" y="1938528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7" name="Image 4" descr="/home/claude/game_prog/icon_mountai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057400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26296" y="256032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9226296" y="2944368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that make the goal hard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457200" y="388620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08736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2" name="Image 5" descr="/home/claude/game_prog/icon_boo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206240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0080" y="47091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Narrative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40080" y="5093208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or theme wrapped around play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3319272" y="388620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3547872" y="408736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7" name="Image 6" descr="/home/claude/game_prog/icon_palett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6744" y="4206240"/>
            <a:ext cx="310896" cy="31089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502152" y="47091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Aesthetics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3502152" y="5093208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game looks and sounds</a:t>
            </a:r>
            <a:endParaRPr lang="en-US" sz="1250" dirty="0"/>
          </a:p>
        </p:txBody>
      </p:sp>
      <p:sp>
        <p:nvSpPr>
          <p:cNvPr id="40" name="Shape 31"/>
          <p:cNvSpPr/>
          <p:nvPr/>
        </p:nvSpPr>
        <p:spPr>
          <a:xfrm>
            <a:off x="6181344" y="388620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 w="15875">
            <a:solidFill>
              <a:srgbClr val="990011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409944" y="4087368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42" name="Image 7" descr="/home/claude/game_prog/icon_chartlin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816" y="4206240"/>
            <a:ext cx="310896" cy="31089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364224" y="47091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Feedback</a:t>
            </a:r>
            <a:endParaRPr lang="en-US" sz="1600" dirty="0"/>
          </a:p>
        </p:txBody>
      </p:sp>
      <p:sp>
        <p:nvSpPr>
          <p:cNvPr id="44" name="Text 34"/>
          <p:cNvSpPr/>
          <p:nvPr/>
        </p:nvSpPr>
        <p:spPr>
          <a:xfrm>
            <a:off x="6364224" y="5093208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game tells you how you're doing</a:t>
            </a:r>
            <a:endParaRPr lang="en-US" sz="1250" dirty="0"/>
          </a:p>
        </p:txBody>
      </p:sp>
      <p:sp>
        <p:nvSpPr>
          <p:cNvPr id="45" name="Shape 35"/>
          <p:cNvSpPr/>
          <p:nvPr/>
        </p:nvSpPr>
        <p:spPr>
          <a:xfrm>
            <a:off x="9043416" y="3886200"/>
            <a:ext cx="2724912" cy="1965960"/>
          </a:xfrm>
          <a:prstGeom prst="roundRect">
            <a:avLst>
              <a:gd name="adj" fmla="val 4651"/>
            </a:avLst>
          </a:prstGeom>
          <a:solidFill>
            <a:srgbClr val="0D1117"/>
          </a:solidFill>
          <a:ln/>
        </p:spPr>
      </p:sp>
      <p:sp>
        <p:nvSpPr>
          <p:cNvPr id="46" name="Text 36"/>
          <p:cNvSpPr/>
          <p:nvPr/>
        </p:nvSpPr>
        <p:spPr>
          <a:xfrm>
            <a:off x="9226296" y="3886200"/>
            <a:ext cx="23591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unpack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slides →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&amp; MODEL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DEDF2"/>
          </a:solidFill>
          <a:ln w="12700">
            <a:solidFill>
              <a:srgbClr val="5A5A6E"/>
            </a:solidFill>
            <a:prstDash val="solid"/>
          </a:ln>
        </p:spPr>
      </p:sp>
      <p:pic>
        <p:nvPicPr>
          <p:cNvPr id="5" name="Image 0" descr="/home/claude/game_prog/icon_laptop_5A5A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CLOSED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777240"/>
            <a:ext cx="777240" cy="777240"/>
          </a:xfrm>
          <a:prstGeom prst="ellipse">
            <a:avLst/>
          </a:prstGeom>
          <a:solidFill>
            <a:srgbClr val="4361EE"/>
          </a:solidFill>
          <a:ln/>
        </p:spPr>
      </p:sp>
      <p:pic>
        <p:nvPicPr>
          <p:cNvPr id="10" name="Image 1" descr="/home/claude/game_prog/icon_bullsey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96926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777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12" name="Shape 8"/>
          <p:cNvSpPr/>
          <p:nvPr/>
        </p:nvSpPr>
        <p:spPr>
          <a:xfrm>
            <a:off x="457200" y="1783080"/>
            <a:ext cx="11247120" cy="310896"/>
          </a:xfrm>
          <a:prstGeom prst="roundRect">
            <a:avLst>
              <a:gd name="adj" fmla="val 17647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2" descr="/home/claude/game_prog/icon_clipboard_F59E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17830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THIS INTO YOUR WORKBOOK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1945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" y="21945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 goal the player is working toward — what does 'winning' or 'success' look like?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572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 practice: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02920" y="3822192"/>
            <a:ext cx="109728" cy="109728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36758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Chess: checkmate the opposing king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02920" y="4325112"/>
            <a:ext cx="109728" cy="109728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41788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Tetris: clear as many lines as possible before the stack tops out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02920" y="4828032"/>
            <a:ext cx="109728" cy="109728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4681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Minecraft: no single fixed objective — the player sets their own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172200" y="37033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💬 Discuss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00800" y="41605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game have no objective at all? What happens to a game if you remove the objective completely?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&amp; MODEL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DEDF2"/>
          </a:solidFill>
          <a:ln w="12700">
            <a:solidFill>
              <a:srgbClr val="5A5A6E"/>
            </a:solidFill>
            <a:prstDash val="solid"/>
          </a:ln>
        </p:spPr>
      </p:sp>
      <p:pic>
        <p:nvPicPr>
          <p:cNvPr id="5" name="Image 0" descr="/home/claude/game_prog/icon_laptop_5A5A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CLOSED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777240"/>
            <a:ext cx="777240" cy="7772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0" name="Image 1" descr="/home/claude/game_prog/icon_gave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96926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777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Rules</a:t>
            </a:r>
            <a:endParaRPr lang="en-US" sz="3200" dirty="0"/>
          </a:p>
        </p:txBody>
      </p:sp>
      <p:sp>
        <p:nvSpPr>
          <p:cNvPr id="12" name="Shape 8"/>
          <p:cNvSpPr/>
          <p:nvPr/>
        </p:nvSpPr>
        <p:spPr>
          <a:xfrm>
            <a:off x="457200" y="1783080"/>
            <a:ext cx="11247120" cy="310896"/>
          </a:xfrm>
          <a:prstGeom prst="roundRect">
            <a:avLst>
              <a:gd name="adj" fmla="val 17647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2" descr="/home/claude/game_prog/icon_clipboard_F59E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17830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THIS INTO YOUR WORKBOOK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1945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" y="21945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boundaries of the game — what actions are allowed, forbidden, or required.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572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 practice: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02920" y="38221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36758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Monopoly: you may only build houses if you own the full colour set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02920" y="432511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41788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(soccer): outfield players can't use their hands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02920" y="482803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4681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apply equally to every player — that's what makes it fair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172200" y="37033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💬 Discuss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00800" y="41605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rules need to be the SAME for every player? What happens to a game when one player secretly breaks a rule?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&amp; MODEL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DEDF2"/>
          </a:solidFill>
          <a:ln w="12700">
            <a:solidFill>
              <a:srgbClr val="5A5A6E"/>
            </a:solidFill>
            <a:prstDash val="solid"/>
          </a:ln>
        </p:spPr>
      </p:sp>
      <p:pic>
        <p:nvPicPr>
          <p:cNvPr id="5" name="Image 0" descr="/home/claude/game_prog/icon_laptop_5A5A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CLOSED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77724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0" name="Image 1" descr="/home/claude/game_prog/icon_gamepa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96926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777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Mechanics</a:t>
            </a:r>
            <a:endParaRPr lang="en-US" sz="3200" dirty="0"/>
          </a:p>
        </p:txBody>
      </p:sp>
      <p:sp>
        <p:nvSpPr>
          <p:cNvPr id="12" name="Shape 8"/>
          <p:cNvSpPr/>
          <p:nvPr/>
        </p:nvSpPr>
        <p:spPr>
          <a:xfrm>
            <a:off x="457200" y="1783080"/>
            <a:ext cx="11247120" cy="310896"/>
          </a:xfrm>
          <a:prstGeom prst="roundRect">
            <a:avLst>
              <a:gd name="adj" fmla="val 17647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2" descr="/home/claude/game_prog/icon_clipboard_F59E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17830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THIS INTO YOUR WORKBOOK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1945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" y="21945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actions the player can perform — the verbs of the game.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572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 practice: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02920" y="38221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36758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Mario: run, jump, stomp, grab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02920" y="432511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41788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Us: move, complete task, report body, vote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02920" y="48280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4681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game's mechanics are usually just a handful of verbs, combined in many ways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172200" y="37033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💬 Discuss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00800" y="41605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game you know well. Can you list its mechanics in five verbs or fewer?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&amp; MODEL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DEDF2"/>
          </a:solidFill>
          <a:ln w="12700">
            <a:solidFill>
              <a:srgbClr val="5A5A6E"/>
            </a:solidFill>
            <a:prstDash val="solid"/>
          </a:ln>
        </p:spPr>
      </p:sp>
      <p:pic>
        <p:nvPicPr>
          <p:cNvPr id="5" name="Image 0" descr="/home/claude/game_prog/icon_laptop_5A5A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CLOSED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777240"/>
            <a:ext cx="777240" cy="77724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0" name="Image 1" descr="/home/claude/game_prog/icon_mount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96926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777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</a:t>
            </a:r>
            <a:endParaRPr lang="en-US" sz="3200" dirty="0"/>
          </a:p>
        </p:txBody>
      </p:sp>
      <p:sp>
        <p:nvSpPr>
          <p:cNvPr id="12" name="Shape 8"/>
          <p:cNvSpPr/>
          <p:nvPr/>
        </p:nvSpPr>
        <p:spPr>
          <a:xfrm>
            <a:off x="457200" y="1783080"/>
            <a:ext cx="11247120" cy="310896"/>
          </a:xfrm>
          <a:prstGeom prst="roundRect">
            <a:avLst>
              <a:gd name="adj" fmla="val 17647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2" descr="/home/claude/game_prog/icon_clipboard_F59E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17830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THIS INTO YOUR WORKBOOK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1945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" y="21945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obstacles, difficulty, or opposition that stand between the player and the objective.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572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 practice: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02920" y="382219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36758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Souls: deliberately punishing enemies and precise timing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02920" y="432511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41788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Candy Crush: limited moves before you run out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02920" y="482803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4681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challenge, achieving the objective feels meaningless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172200" y="37033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💬 Discuss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00800" y="41605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 game with NO challenge at all stop being fun, even if it still has an objective?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&amp; MODEL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DEDF2"/>
          </a:solidFill>
          <a:ln w="12700">
            <a:solidFill>
              <a:srgbClr val="5A5A6E"/>
            </a:solidFill>
            <a:prstDash val="solid"/>
          </a:ln>
        </p:spPr>
      </p:sp>
      <p:pic>
        <p:nvPicPr>
          <p:cNvPr id="5" name="Image 0" descr="/home/claude/game_prog/icon_laptop_5A5A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CLOSED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777240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0" name="Image 1" descr="/home/claude/game_prog/icon_boo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96926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777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Narrative</a:t>
            </a:r>
            <a:endParaRPr lang="en-US" sz="3200" dirty="0"/>
          </a:p>
        </p:txBody>
      </p:sp>
      <p:sp>
        <p:nvSpPr>
          <p:cNvPr id="12" name="Shape 8"/>
          <p:cNvSpPr/>
          <p:nvPr/>
        </p:nvSpPr>
        <p:spPr>
          <a:xfrm>
            <a:off x="457200" y="1783080"/>
            <a:ext cx="11247120" cy="310896"/>
          </a:xfrm>
          <a:prstGeom prst="roundRect">
            <a:avLst>
              <a:gd name="adj" fmla="val 17647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2" descr="/home/claude/game_prog/icon_clipboard_F59E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17830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THIS INTO YOUR WORKBOOK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1945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" y="21945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story, characters, or theme that gives context and meaning to what the player is doing.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572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 practice: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02920" y="3822192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36758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Legend of Zelda: a hero's quest to rescue a kingdom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02920" y="4325112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41788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Tetris: almost no narrative at all — just falling blocks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02920" y="4828032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4681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game needs a strong story to be engaging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172200" y="37033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💬 Discuss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00800" y="41605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Tetris feel like it's 'missing something' without a story? Why do some genres lean on narrative more than others?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&amp; MODEL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DEDF2"/>
          </a:solidFill>
          <a:ln w="12700">
            <a:solidFill>
              <a:srgbClr val="5A5A6E"/>
            </a:solidFill>
            <a:prstDash val="solid"/>
          </a:ln>
        </p:spPr>
      </p:sp>
      <p:pic>
        <p:nvPicPr>
          <p:cNvPr id="5" name="Image 0" descr="/home/claude/game_prog/icon_laptop_5A5A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CLOSED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7772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game_prog/icon_palett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96926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777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Aesthetics</a:t>
            </a:r>
            <a:endParaRPr lang="en-US" sz="3200" dirty="0"/>
          </a:p>
        </p:txBody>
      </p:sp>
      <p:sp>
        <p:nvSpPr>
          <p:cNvPr id="12" name="Shape 8"/>
          <p:cNvSpPr/>
          <p:nvPr/>
        </p:nvSpPr>
        <p:spPr>
          <a:xfrm>
            <a:off x="457200" y="1783080"/>
            <a:ext cx="11247120" cy="310896"/>
          </a:xfrm>
          <a:prstGeom prst="roundRect">
            <a:avLst>
              <a:gd name="adj" fmla="val 17647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2" descr="/home/claude/game_prog/icon_clipboard_F59E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17830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THIS INTO YOUR WORKBOOK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1945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" y="21945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 and sound of the game — art style, colour, animation, music, and sound effects.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572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 practice: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02920" y="382219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36758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Minecraft: blocky, low-poly art style is instantly recognisable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02920" y="432511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41788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Hill: muted colours and unsettling sound design create dread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02920" y="482803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4681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Aesthetics shape mood before a player reads a single word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172200" y="37033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💬 Discuss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00800" y="41605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game and imagine its art style completely swapped (e.g. cartoon → realistic). Would it still feel like the same game?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&amp; MODEL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DEDF2"/>
          </a:solidFill>
          <a:ln w="12700">
            <a:solidFill>
              <a:srgbClr val="5A5A6E"/>
            </a:solidFill>
            <a:prstDash val="solid"/>
          </a:ln>
        </p:spPr>
      </p:sp>
      <p:pic>
        <p:nvPicPr>
          <p:cNvPr id="5" name="Image 0" descr="/home/claude/game_prog/icon_laptop_5A5A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CLOSED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777240"/>
            <a:ext cx="777240" cy="7772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0" name="Image 1" descr="/home/claude/game_prog/icon_chartlin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96926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777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Feedback</a:t>
            </a:r>
            <a:endParaRPr lang="en-US" sz="3200" dirty="0"/>
          </a:p>
        </p:txBody>
      </p:sp>
      <p:sp>
        <p:nvSpPr>
          <p:cNvPr id="12" name="Shape 8"/>
          <p:cNvSpPr/>
          <p:nvPr/>
        </p:nvSpPr>
        <p:spPr>
          <a:xfrm>
            <a:off x="457200" y="1783080"/>
            <a:ext cx="11247120" cy="310896"/>
          </a:xfrm>
          <a:prstGeom prst="roundRect">
            <a:avLst>
              <a:gd name="adj" fmla="val 17647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2" descr="/home/claude/game_prog/icon_clipboard_F59E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17830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THIS INTO YOUR WORKBOOK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1945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5875">
            <a:solidFill>
              <a:srgbClr val="99001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" y="21945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game communicates to the player — score counters, sound cues, animations, health bars.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572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 practice: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02920" y="3822192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36758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Pac-Man: a rising pitch sound and flashing screen signal danger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02920" y="4325112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41788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Fighting games: a health bar makes 'how close to losing' instantly visible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02920" y="4828032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4681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feedback tells players the RESULT of their action immediately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172200" y="370332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💬 Discuss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00800" y="41605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game with zero feedback — no score, no sound, no visual response to your actions. Could you even tell if you were winning?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pic>
        <p:nvPicPr>
          <p:cNvPr id="6" name="Image 0" descr="/home/claude/game_prog/icon_dice_8B5CF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46304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Brain Break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2286000" y="38404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name as many game mechanics as you can, out loud, as a table group.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repeats!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&amp; MODEL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DEDF2"/>
          </a:solidFill>
          <a:ln w="12700">
            <a:solidFill>
              <a:srgbClr val="5A5A6E"/>
            </a:solidFill>
            <a:prstDash val="solid"/>
          </a:ln>
        </p:spPr>
      </p:sp>
      <p:pic>
        <p:nvPicPr>
          <p:cNvPr id="5" name="Image 0" descr="/home/claude/game_prog/icon_laptop_5A5A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CLOSED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Worked Example: Breaking Down "Among Us"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apply all seven elements to one game together before you try it yourselves.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148840"/>
            <a:ext cx="1828800" cy="566928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148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86000" y="2148840"/>
            <a:ext cx="9418320" cy="566928"/>
          </a:xfrm>
          <a:prstGeom prst="rect">
            <a:avLst/>
          </a:prstGeom>
          <a:solidFill>
            <a:srgbClr val="F7F8FC"/>
          </a:solidFill>
          <a:ln w="6350">
            <a:solidFill>
              <a:srgbClr val="E2E4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214884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Crewmates: complete tasks or vote out impostors. Impostors: eliminate crew unnoticed.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743200"/>
            <a:ext cx="1828800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7432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Rules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286000" y="2743200"/>
            <a:ext cx="9418320" cy="566928"/>
          </a:xfrm>
          <a:prstGeom prst="rect">
            <a:avLst/>
          </a:prstGeom>
          <a:solidFill>
            <a:srgbClr val="F7F8FC"/>
          </a:solidFill>
          <a:ln w="6350">
            <a:solidFill>
              <a:srgbClr val="E2E4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68880" y="274320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Impostors can fake tasks; only the impostor can eliminate; voting is majority-based.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337560"/>
            <a:ext cx="1828800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3337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Mechanics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286000" y="3337560"/>
            <a:ext cx="9418320" cy="566928"/>
          </a:xfrm>
          <a:prstGeom prst="rect">
            <a:avLst/>
          </a:prstGeom>
          <a:solidFill>
            <a:srgbClr val="F7F8FC"/>
          </a:solidFill>
          <a:ln w="6350">
            <a:solidFill>
              <a:srgbClr val="E2E4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68880" y="333756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complete task, call meeting, vote, sabotage, vent (impostor only).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3931920"/>
            <a:ext cx="1828800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931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2286000" y="3931920"/>
            <a:ext cx="9418320" cy="566928"/>
          </a:xfrm>
          <a:prstGeom prst="rect">
            <a:avLst/>
          </a:prstGeom>
          <a:solidFill>
            <a:srgbClr val="F7F8FC"/>
          </a:solidFill>
          <a:ln w="6350">
            <a:solidFill>
              <a:srgbClr val="E2E4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68880" y="393192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must spot suspicious behaviour with limited information; impostor must deceive.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4526280"/>
            <a:ext cx="1828800" cy="5669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526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Narrative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2286000" y="4526280"/>
            <a:ext cx="9418320" cy="566928"/>
          </a:xfrm>
          <a:prstGeom prst="rect">
            <a:avLst/>
          </a:prstGeom>
          <a:solidFill>
            <a:srgbClr val="F7F8FC"/>
          </a:solidFill>
          <a:ln w="6350">
            <a:solidFill>
              <a:srgbClr val="E2E4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468880" y="452628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spaceship crew hunting a hidden threat — light sci-fi theme.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57200" y="5120640"/>
            <a:ext cx="182880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5120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Aesthetics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2286000" y="5120640"/>
            <a:ext cx="9418320" cy="566928"/>
          </a:xfrm>
          <a:prstGeom prst="rect">
            <a:avLst/>
          </a:prstGeom>
          <a:solidFill>
            <a:srgbClr val="F7F8FC"/>
          </a:solidFill>
          <a:ln w="6350">
            <a:solidFill>
              <a:srgbClr val="E2E4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468880" y="512064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colourful, cartoon-style avatars keep the tone light despite the tense premise.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57200" y="5715000"/>
            <a:ext cx="1828800" cy="56692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57150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Feedback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2286000" y="5715000"/>
            <a:ext cx="9418320" cy="566928"/>
          </a:xfrm>
          <a:prstGeom prst="rect">
            <a:avLst/>
          </a:prstGeom>
          <a:solidFill>
            <a:srgbClr val="F7F8FC"/>
          </a:solidFill>
          <a:ln w="6350">
            <a:solidFill>
              <a:srgbClr val="E2E4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468880" y="571500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progress bar, emergency meeting alarm, coloured vote results, ejection animation.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8FBF3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" name="Image 0" descr="/home/claude/game_prog/icon_laptop_10B9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Application: Deconstruct Your Own Game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E8FBF3"/>
          </a:solidFill>
          <a:ln w="15875">
            <a:solidFill>
              <a:srgbClr val="10B981"/>
            </a:solidFill>
            <a:prstDash val="solid"/>
          </a:ln>
        </p:spPr>
      </p:sp>
      <p:pic>
        <p:nvPicPr>
          <p:cNvPr id="11" name="Image 1" descr="/home/claude/game_prog/icon_laptop_10B9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02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16916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5C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➜ Open your workbook — Section 2: Deconstruct a Game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7200" y="2788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game you know well and break it down using all seven elements — just like we did with Among Us.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57200" y="338328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4360" y="33832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🟢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097280" y="3383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834640" y="33832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define 5 of the 7 elements in your chosen game.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" y="420624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42062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1097280" y="4206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Developing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2834640" y="4206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7 elements, with one specific example from the game for each.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57200" y="502920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94360" y="5029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🟣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1097280" y="5029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Extending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2834640" y="5029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7, then explain what would happen to the game if ONE element were removed.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~20 minutes. Work independently — pick a game only YOU can explain in detail.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95560" y="25603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8FBF3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" name="Image 0" descr="/home/claude/game_prog/icon_laptop_10B9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017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8752" y="25603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Share Back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EDF1FE"/>
          </a:solidFill>
          <a:ln w="15875">
            <a:solidFill>
              <a:srgbClr val="4361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18288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element from your game breakdown and share it with the person next to you. Can they guess which game you chose from that one clue?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Class discussion: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3840480"/>
            <a:ext cx="109728" cy="109728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element was hardest to pin down for your game? Why?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4434840"/>
            <a:ext cx="109728" cy="109728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251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anyone pick a game with a missing or very weak element?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51206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18" name="Image 1" descr="/home/claude/game_prog/icon_flag_8B5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4924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51206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2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checkpoint: by the end of this lesson you should be able to name all 7 elements from memory — this is the foundation for every task in this unit, including your major Game Design Document.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Exit Ticket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in your workbook before you leave — it's how I check today's learning.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03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From memory, list as many of the 7 elements as you can.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99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Pick one element and explain why it matters, in one sentence.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3895344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953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Rate your confidence against today's success criteria (🟢🟡🟣).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7F8FC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Programming  ·  Year 10 Digital Technologies  ·  Unit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7F8FC"/>
          </a:solidFill>
          <a:ln w="15875">
            <a:solidFill>
              <a:srgbClr val="4361EE"/>
            </a:solidFill>
            <a:prstDash val="solid"/>
          </a:ln>
        </p:spPr>
      </p:sp>
      <p:pic>
        <p:nvPicPr>
          <p:cNvPr id="8" name="Image 0" descr="/home/claude/game_prog/icon_flag_4361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Next Lesson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24688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2: Analysing Games — we'll use these 7 elements as a formal framework to critique two contrasting commercial games in depth.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7F8FC"/>
          </a:solidFill>
          <a:ln w="15875">
            <a:solidFill>
              <a:srgbClr val="EF4444"/>
            </a:solidFill>
            <a:prstDash val="solid"/>
          </a:ln>
        </p:spPr>
      </p:sp>
      <p:pic>
        <p:nvPicPr>
          <p:cNvPr id="12" name="Image 1" descr="/home/claude/game_prog/icon_trophy_EF44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Major Assessment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37960" y="24688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 Document — due end of term. Today's 7 elements become Section 1 of that document. No submission required yet.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393192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/home/claude/game_prog/icon_clipboard_F59E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605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9319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Play (or replay) one game for 15 minutes at home and jot down one example of each of the 7 elements — bring it to Lesson 2.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7200" y="50292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EDF1FE"/>
          </a:solidFill>
          <a:ln w="12700">
            <a:solidFill>
              <a:srgbClr val="4361EE"/>
            </a:solidFill>
            <a:prstDash val="solid"/>
          </a:ln>
        </p:spPr>
      </p:sp>
      <p:pic>
        <p:nvPicPr>
          <p:cNvPr id="19" name="Image 3" descr="/home/claude/game_prog/icon_comments_4361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5780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502920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 See the unit reference site for full notes and examples, or ask in the next lesson's warm-up recap.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2026-07-16T22:23:54Z</dcterms:created>
  <dcterms:modified xsi:type="dcterms:W3CDTF">2026-07-16T22:23:54Z</dcterms:modified>
</cp:coreProperties>
</file>