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Welcome slide. Recap in one sentence: last lesson we named the 7 elements every game is built from. Today we use those same 7 elements as a formal critique framework to compare two commercial games. This lesson is entirely conceptual until the application task — devices stay closed for the explicit teaching.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Fast-paced recap — keep it under 4 minutes. If a table stalls, prompt with "what does the player actually DO" (mechanics) or "how does the game look and sound" (aesthetics). This surfaces which elements are weakest in memory, which is useful diagnostic info before today's deeper analytical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objective aloud. Emphasise the shift from Lesson 1 (naming/describing elements) to Lesson 2 (judging and comparing them) — this is the move from knowledge to analysis on the way to their own design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Missing piece from "I didn't like the graphics" is the WHY tied to an element and its effect on the player. Push students toward: which element, what it does, and what effect that has. This sentence structure is formalised on the next-but-one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Key idea: comparing two totally unrelated games (Tetris vs FIFA) gives shallow, obvious answers. Comparing two games with a shared genre forces a much sharper, more useful comparison because most elements are already similar — the differences are the interesting part.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frame scaffolds the Developing/Extending tiers directly. Foundation students can drop the "effect on the player" clause and just describe + evidence. Point out this is a genuinely reusable academic-writing structure, not just a worksheet trick.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this table live with the class rather than revealing it — ask "what's Celeste's objective?" before showing the answer. Note both games share almost identical Objective and Rules — the interesting contrast starts at Mechanics.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moment to model turning a table into a critique sentence using the frame from two slides ago. Ask students to suggest a similar judgement for Narrative or Feedback before moving on — don't just deliver this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energiser about halfway through, before the application task. Keep it light — goal is a mental reset, not assessment. Good pairs count even if genre is loose (e.g. Minecraft vs Terraria).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Circulate and watch for students picking two games that aren't genuinely contrasting (e.g. two nearly identical mobile clones) — nudge them toward a pair with real design differences. Devices open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Links today's task directly to the major assessment (Game Design Document). Keep discussion brisk, roughly 5 minutes, since the exit ticket follows.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is completed and auto-saved in the workbook. Watch for weak critique sentences (missing the "effect on the player" clause) as a signal to revisit the frame briefly at the start of Lesson 3.</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End on the homework task — deliberately light, and directly primes Lesson 3's ideation task. Remind students the unit site has full written notes on today's comparative analysis method.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FFFFF"/>
          </a:solidFill>
          <a:ln/>
        </p:spPr>
      </p:sp>
      <p:sp>
        <p:nvSpPr>
          <p:cNvPr id="3" name="Text 1"/>
          <p:cNvSpPr/>
          <p:nvPr/>
        </p:nvSpPr>
        <p:spPr>
          <a:xfrm>
            <a:off x="640080" y="1463040"/>
            <a:ext cx="9144000" cy="365760"/>
          </a:xfrm>
          <a:prstGeom prst="rect">
            <a:avLst/>
          </a:prstGeom>
          <a:noFill/>
          <a:ln/>
        </p:spPr>
        <p:txBody>
          <a:bodyPr wrap="square" lIns="0" tIns="0" rIns="0" bIns="0" rtlCol="0" anchor="ctr"/>
          <a:lstStyle/>
          <a:p>
            <a:pPr indent="0" marL="0">
              <a:buNone/>
            </a:pPr>
            <a:r>
              <a:rPr lang="en-US" sz="1300" b="1" dirty="0">
                <a:solidFill>
                  <a:srgbClr val="4361EE"/>
                </a:solidFill>
                <a:latin typeface="Courier New" pitchFamily="34" charset="0"/>
                <a:ea typeface="Courier New" pitchFamily="34" charset="-122"/>
                <a:cs typeface="Courier New" pitchFamily="34" charset="-120"/>
              </a:rPr>
              <a:t>YEAR 10 · DIGITAL TECHNOLOGIES</a:t>
            </a:r>
            <a:endParaRPr lang="en-US" sz="1300" dirty="0"/>
          </a:p>
        </p:txBody>
      </p:sp>
      <p:sp>
        <p:nvSpPr>
          <p:cNvPr id="4" name="Text 2"/>
          <p:cNvSpPr/>
          <p:nvPr/>
        </p:nvSpPr>
        <p:spPr>
          <a:xfrm>
            <a:off x="640080" y="1874520"/>
            <a:ext cx="10515600" cy="640080"/>
          </a:xfrm>
          <a:prstGeom prst="rect">
            <a:avLst/>
          </a:prstGeom>
          <a:noFill/>
          <a:ln/>
        </p:spPr>
        <p:txBody>
          <a:bodyPr wrap="square" lIns="0" tIns="0" rIns="0" bIns="0" rtlCol="0" anchor="ctr"/>
          <a:lstStyle/>
          <a:p>
            <a:pPr indent="0" marL="0">
              <a:buNone/>
            </a:pPr>
            <a:r>
              <a:rPr lang="en-US" sz="2400" dirty="0">
                <a:solidFill>
                  <a:srgbClr val="5A5A6E"/>
                </a:solidFill>
                <a:latin typeface="Calibri" pitchFamily="34" charset="0"/>
                <a:ea typeface="Calibri" pitchFamily="34" charset="-122"/>
                <a:cs typeface="Calibri" pitchFamily="34" charset="-120"/>
              </a:rPr>
              <a:t>Game Programming</a:t>
            </a:r>
            <a:endParaRPr lang="en-US" sz="2400" dirty="0"/>
          </a:p>
        </p:txBody>
      </p:sp>
      <p:sp>
        <p:nvSpPr>
          <p:cNvPr id="5" name="Text 3"/>
          <p:cNvSpPr/>
          <p:nvPr/>
        </p:nvSpPr>
        <p:spPr>
          <a:xfrm>
            <a:off x="594360" y="2468880"/>
            <a:ext cx="10881360" cy="1371600"/>
          </a:xfrm>
          <a:prstGeom prst="rect">
            <a:avLst/>
          </a:prstGeom>
          <a:noFill/>
          <a:ln/>
        </p:spPr>
        <p:txBody>
          <a:bodyPr wrap="square" lIns="0" tIns="0" rIns="0" bIns="0" rtlCol="0" anchor="ctr"/>
          <a:lstStyle/>
          <a:p>
            <a:pPr indent="0" marL="0">
              <a:buNone/>
            </a:pPr>
            <a:r>
              <a:rPr lang="en-US" sz="5400" b="1" dirty="0">
                <a:solidFill>
                  <a:srgbClr val="1A1A2E"/>
                </a:solidFill>
                <a:latin typeface="Bookman Old Style" pitchFamily="34" charset="0"/>
                <a:ea typeface="Bookman Old Style" pitchFamily="34" charset="-122"/>
                <a:cs typeface="Bookman Old Style" pitchFamily="34" charset="-120"/>
              </a:rPr>
              <a:t>Analysing Games</a:t>
            </a:r>
            <a:endParaRPr lang="en-US" sz="5400" dirty="0"/>
          </a:p>
        </p:txBody>
      </p:sp>
      <p:sp>
        <p:nvSpPr>
          <p:cNvPr id="6" name="Text 4"/>
          <p:cNvSpPr/>
          <p:nvPr/>
        </p:nvSpPr>
        <p:spPr>
          <a:xfrm>
            <a:off x="640080" y="3886200"/>
            <a:ext cx="5486400" cy="365760"/>
          </a:xfrm>
          <a:prstGeom prst="rect">
            <a:avLst/>
          </a:prstGeom>
          <a:noFill/>
          <a:ln/>
        </p:spPr>
        <p:txBody>
          <a:bodyPr wrap="square" lIns="0" tIns="0" rIns="0" bIns="0" rtlCol="0" anchor="ctr"/>
          <a:lstStyle/>
          <a:p>
            <a:pPr indent="0" marL="0">
              <a:buNone/>
            </a:pPr>
            <a:r>
              <a:rPr lang="en-US" sz="1300" dirty="0">
                <a:solidFill>
                  <a:srgbClr val="5A5A6E"/>
                </a:solidFill>
                <a:latin typeface="Courier New" pitchFamily="34" charset="0"/>
                <a:ea typeface="Courier New" pitchFamily="34" charset="-122"/>
                <a:cs typeface="Courier New" pitchFamily="34" charset="-120"/>
              </a:rPr>
              <a:t>Unit 1 · Lesson 2</a:t>
            </a:r>
            <a:endParaRPr lang="en-US" sz="1300" dirty="0"/>
          </a:p>
        </p:txBody>
      </p:sp>
      <p:sp>
        <p:nvSpPr>
          <p:cNvPr id="7" name="Shape 5"/>
          <p:cNvSpPr/>
          <p:nvPr/>
        </p:nvSpPr>
        <p:spPr>
          <a:xfrm>
            <a:off x="640080" y="4434840"/>
            <a:ext cx="4206240" cy="457200"/>
          </a:xfrm>
          <a:prstGeom prst="roundRect">
            <a:avLst>
              <a:gd name="adj" fmla="val 50000"/>
            </a:avLst>
          </a:prstGeom>
          <a:solidFill>
            <a:srgbClr val="F7F8FC"/>
          </a:solidFill>
          <a:ln w="12700">
            <a:solidFill>
              <a:srgbClr val="10B981"/>
            </a:solidFill>
            <a:prstDash val="solid"/>
          </a:ln>
        </p:spPr>
      </p:sp>
      <p:sp>
        <p:nvSpPr>
          <p:cNvPr id="8" name="Text 6"/>
          <p:cNvSpPr/>
          <p:nvPr/>
        </p:nvSpPr>
        <p:spPr>
          <a:xfrm>
            <a:off x="640080" y="4434840"/>
            <a:ext cx="4206240" cy="457200"/>
          </a:xfrm>
          <a:prstGeom prst="rect">
            <a:avLst/>
          </a:prstGeom>
          <a:noFill/>
          <a:ln/>
        </p:spPr>
        <p:txBody>
          <a:bodyPr wrap="square" lIns="0" tIns="0" rIns="0" bIns="0" rtlCol="0" anchor="ctr"/>
          <a:lstStyle/>
          <a:p>
            <a:pPr algn="ctr" indent="0" marL="0">
              <a:buNone/>
            </a:pPr>
            <a:r>
              <a:rPr lang="en-US" sz="1200" b="1" dirty="0">
                <a:solidFill>
                  <a:srgbClr val="10B981"/>
                </a:solidFill>
                <a:latin typeface="Courier New" pitchFamily="34" charset="0"/>
                <a:ea typeface="Courier New" pitchFamily="34" charset="-122"/>
                <a:cs typeface="Courier New" pitchFamily="34" charset="-120"/>
              </a:rPr>
              <a:t>Analyse  →  Design  ·  Build</a:t>
            </a:r>
            <a:endParaRPr lang="en-US" sz="1200" dirty="0"/>
          </a:p>
        </p:txBody>
      </p:sp>
      <p:sp>
        <p:nvSpPr>
          <p:cNvPr id="9" name="Text 7"/>
          <p:cNvSpPr/>
          <p:nvPr/>
        </p:nvSpPr>
        <p:spPr>
          <a:xfrm>
            <a:off x="640080" y="6035040"/>
            <a:ext cx="4572000" cy="320040"/>
          </a:xfrm>
          <a:prstGeom prst="rect">
            <a:avLst/>
          </a:prstGeom>
          <a:noFill/>
          <a:ln/>
        </p:spPr>
        <p:txBody>
          <a:bodyPr wrap="square" lIns="0" tIns="0" rIns="0" bIns="0" rtlCol="0" anchor="ctr"/>
          <a:lstStyle/>
          <a:p>
            <a:pPr indent="0" marL="0">
              <a:buNone/>
            </a:pPr>
            <a:r>
              <a:rPr lang="en-US" sz="1300" dirty="0">
                <a:solidFill>
                  <a:srgbClr val="5A5A6E"/>
                </a:solidFill>
                <a:latin typeface="Calibri" pitchFamily="34" charset="0"/>
                <a:ea typeface="Calibri" pitchFamily="34" charset="-122"/>
                <a:cs typeface="Calibri" pitchFamily="34" charset="-120"/>
              </a:rPr>
              <a:t>Mr Smith</a:t>
            </a:r>
            <a:endParaRPr lang="en-US" sz="1300" dirty="0"/>
          </a:p>
        </p:txBody>
      </p:sp>
      <p:sp>
        <p:nvSpPr>
          <p:cNvPr id="10" name="Text 8"/>
          <p:cNvSpPr/>
          <p:nvPr/>
        </p:nvSpPr>
        <p:spPr>
          <a:xfrm>
            <a:off x="640080" y="6327648"/>
            <a:ext cx="4572000" cy="320040"/>
          </a:xfrm>
          <a:prstGeom prst="rect">
            <a:avLst/>
          </a:prstGeom>
          <a:noFill/>
          <a:ln/>
        </p:spPr>
        <p:txBody>
          <a:bodyPr wrap="square" lIns="0" tIns="0" rIns="0" bIns="0" rtlCol="0" anchor="ctr"/>
          <a:lstStyle/>
          <a:p>
            <a:pPr indent="0" marL="0">
              <a:buNone/>
            </a:pPr>
            <a:r>
              <a:rPr lang="en-US" sz="1100" dirty="0">
                <a:solidFill>
                  <a:srgbClr val="5A5A6E"/>
                </a:solidFill>
                <a:latin typeface="Courier New" pitchFamily="34" charset="0"/>
                <a:ea typeface="Courier New" pitchFamily="34" charset="-122"/>
                <a:cs typeface="Courier New" pitchFamily="34" charset="-120"/>
              </a:rPr>
              <a:t>2026-07-27</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F59E0B"/>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F59E0B"/>
                </a:solidFill>
                <a:latin typeface="Courier New" pitchFamily="34" charset="0"/>
                <a:ea typeface="Courier New" pitchFamily="34" charset="-122"/>
                <a:cs typeface="Courier New" pitchFamily="34" charset="-120"/>
              </a:rPr>
              <a:t>WARM UP</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2</a:t>
            </a:r>
            <a:endParaRPr lang="en-US" sz="900" dirty="0"/>
          </a:p>
        </p:txBody>
      </p:sp>
      <p:sp>
        <p:nvSpPr>
          <p:cNvPr id="9" name="Shape 6"/>
          <p:cNvSpPr/>
          <p:nvPr/>
        </p:nvSpPr>
        <p:spPr>
          <a:xfrm>
            <a:off x="457200" y="960120"/>
            <a:ext cx="457200" cy="457200"/>
          </a:xfrm>
          <a:prstGeom prst="ellipse">
            <a:avLst/>
          </a:prstGeom>
          <a:solidFill>
            <a:srgbClr val="F59E0B"/>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Warm Up: 60-Second Recall Relay</a:t>
            </a:r>
            <a:endParaRPr lang="en-US" sz="3200" dirty="0"/>
          </a:p>
        </p:txBody>
      </p:sp>
      <p:sp>
        <p:nvSpPr>
          <p:cNvPr id="12" name="Text 9"/>
          <p:cNvSpPr/>
          <p:nvPr/>
        </p:nvSpPr>
        <p:spPr>
          <a:xfrm>
            <a:off x="457200" y="1737360"/>
            <a:ext cx="10332720" cy="822960"/>
          </a:xfrm>
          <a:prstGeom prst="rect">
            <a:avLst/>
          </a:prstGeom>
          <a:noFill/>
          <a:ln/>
        </p:spPr>
        <p:txBody>
          <a:bodyPr wrap="square" lIns="0" tIns="0" rIns="0" bIns="0" rtlCol="0" anchor="ctr"/>
          <a:lstStyle/>
          <a:p>
            <a:pPr indent="0" marL="0">
              <a:buNone/>
            </a:pPr>
            <a:r>
              <a:rPr lang="en-US" sz="1800" dirty="0">
                <a:solidFill>
                  <a:srgbClr val="1A1A2E"/>
                </a:solidFill>
                <a:latin typeface="Calibri" pitchFamily="34" charset="0"/>
                <a:ea typeface="Calibri" pitchFamily="34" charset="-122"/>
                <a:cs typeface="Calibri" pitchFamily="34" charset="-120"/>
              </a:rPr>
              <a:t>In your table group, take turns naming ONE element of a game from last lesson — no repeats, no notes. Keep going round the table until you run out or time runs out.</a:t>
            </a:r>
            <a:endParaRPr lang="en-US" sz="1800" dirty="0"/>
          </a:p>
        </p:txBody>
      </p:sp>
      <p:sp>
        <p:nvSpPr>
          <p:cNvPr id="13" name="Shape 10"/>
          <p:cNvSpPr/>
          <p:nvPr/>
        </p:nvSpPr>
        <p:spPr>
          <a:xfrm>
            <a:off x="457200" y="2651760"/>
            <a:ext cx="10332720" cy="1920240"/>
          </a:xfrm>
          <a:prstGeom prst="roundRect">
            <a:avLst>
              <a:gd name="adj" fmla="val 3810"/>
            </a:avLst>
          </a:prstGeom>
          <a:solidFill>
            <a:srgbClr val="F7F8FC"/>
          </a:solidFill>
          <a:ln w="12700">
            <a:solidFill>
              <a:srgbClr val="DCE0EA"/>
            </a:solidFill>
            <a:prstDash val="solid"/>
          </a:ln>
        </p:spPr>
      </p:sp>
      <p:sp>
        <p:nvSpPr>
          <p:cNvPr id="14" name="Text 11"/>
          <p:cNvSpPr/>
          <p:nvPr/>
        </p:nvSpPr>
        <p:spPr>
          <a:xfrm>
            <a:off x="822960" y="2834640"/>
            <a:ext cx="4846320" cy="1554480"/>
          </a:xfrm>
          <a:prstGeom prst="rect">
            <a:avLst/>
          </a:prstGeom>
          <a:noFill/>
          <a:ln/>
        </p:spPr>
        <p:txBody>
          <a:bodyPr wrap="square" lIns="0" tIns="0" rIns="0" bIns="0" rtlCol="0" anchor="t"/>
          <a:lstStyle/>
          <a:p>
            <a:pPr marL="342900" indent="-342900">
              <a:buSzPct val="100000"/>
              <a:buChar char="•"/>
            </a:pPr>
            <a:r>
              <a:rPr lang="en-US" sz="1800" dirty="0">
                <a:solidFill>
                  <a:srgbClr val="5A5A6E"/>
                </a:solidFill>
                <a:latin typeface="Calibri" pitchFamily="34" charset="0"/>
                <a:ea typeface="Calibri" pitchFamily="34" charset="-122"/>
                <a:cs typeface="Calibri" pitchFamily="34" charset="-120"/>
              </a:rPr>
              <a:t>Objective</a:t>
            </a:r>
            <a:endParaRPr lang="en-US" sz="1800" dirty="0"/>
          </a:p>
          <a:p>
            <a:pPr marL="342900" indent="-342900">
              <a:buSzPct val="100000"/>
              <a:buChar char="•"/>
            </a:pPr>
            <a:r>
              <a:rPr lang="en-US" sz="1800" dirty="0">
                <a:solidFill>
                  <a:srgbClr val="5A5A6E"/>
                </a:solidFill>
                <a:latin typeface="Calibri" pitchFamily="34" charset="0"/>
                <a:ea typeface="Calibri" pitchFamily="34" charset="-122"/>
                <a:cs typeface="Calibri" pitchFamily="34" charset="-120"/>
              </a:rPr>
              <a:t>Rules</a:t>
            </a:r>
            <a:endParaRPr lang="en-US" sz="1800" dirty="0"/>
          </a:p>
          <a:p>
            <a:pPr marL="342900" indent="-342900">
              <a:buSzPct val="100000"/>
              <a:buChar char="•"/>
            </a:pPr>
            <a:r>
              <a:rPr lang="en-US" sz="1800" dirty="0">
                <a:solidFill>
                  <a:srgbClr val="5A5A6E"/>
                </a:solidFill>
                <a:latin typeface="Calibri" pitchFamily="34" charset="0"/>
                <a:ea typeface="Calibri" pitchFamily="34" charset="-122"/>
                <a:cs typeface="Calibri" pitchFamily="34" charset="-120"/>
              </a:rPr>
              <a:t>Mechanics</a:t>
            </a:r>
            <a:endParaRPr lang="en-US" sz="1800" dirty="0"/>
          </a:p>
          <a:p>
            <a:pPr marL="342900" indent="-342900">
              <a:buSzPct val="100000"/>
              <a:buChar char="•"/>
            </a:pPr>
            <a:r>
              <a:rPr lang="en-US" sz="1800" dirty="0">
                <a:solidFill>
                  <a:srgbClr val="5A5A6E"/>
                </a:solidFill>
                <a:latin typeface="Calibri" pitchFamily="34" charset="0"/>
                <a:ea typeface="Calibri" pitchFamily="34" charset="-122"/>
                <a:cs typeface="Calibri" pitchFamily="34" charset="-120"/>
              </a:rPr>
              <a:t>Challenge</a:t>
            </a:r>
            <a:endParaRPr lang="en-US" sz="1800" dirty="0"/>
          </a:p>
        </p:txBody>
      </p:sp>
      <p:sp>
        <p:nvSpPr>
          <p:cNvPr id="15" name="Text 12"/>
          <p:cNvSpPr/>
          <p:nvPr/>
        </p:nvSpPr>
        <p:spPr>
          <a:xfrm>
            <a:off x="6035040" y="2834640"/>
            <a:ext cx="4572000" cy="1554480"/>
          </a:xfrm>
          <a:prstGeom prst="rect">
            <a:avLst/>
          </a:prstGeom>
          <a:noFill/>
          <a:ln/>
        </p:spPr>
        <p:txBody>
          <a:bodyPr wrap="square" lIns="0" tIns="0" rIns="0" bIns="0" rtlCol="0" anchor="t"/>
          <a:lstStyle/>
          <a:p>
            <a:pPr marL="342900" indent="-342900">
              <a:buSzPct val="100000"/>
              <a:buChar char="•"/>
            </a:pPr>
            <a:r>
              <a:rPr lang="en-US" sz="1800" dirty="0">
                <a:solidFill>
                  <a:srgbClr val="5A5A6E"/>
                </a:solidFill>
                <a:latin typeface="Calibri" pitchFamily="34" charset="0"/>
                <a:ea typeface="Calibri" pitchFamily="34" charset="-122"/>
                <a:cs typeface="Calibri" pitchFamily="34" charset="-120"/>
              </a:rPr>
              <a:t>Narrative</a:t>
            </a:r>
            <a:endParaRPr lang="en-US" sz="1800" dirty="0"/>
          </a:p>
          <a:p>
            <a:pPr marL="342900" indent="-342900">
              <a:buSzPct val="100000"/>
              <a:buChar char="•"/>
            </a:pPr>
            <a:r>
              <a:rPr lang="en-US" sz="1800" dirty="0">
                <a:solidFill>
                  <a:srgbClr val="5A5A6E"/>
                </a:solidFill>
                <a:latin typeface="Calibri" pitchFamily="34" charset="0"/>
                <a:ea typeface="Calibri" pitchFamily="34" charset="-122"/>
                <a:cs typeface="Calibri" pitchFamily="34" charset="-120"/>
              </a:rPr>
              <a:t>Aesthetics</a:t>
            </a:r>
            <a:endParaRPr lang="en-US" sz="1800" dirty="0"/>
          </a:p>
          <a:p>
            <a:pPr marL="342900" indent="-342900">
              <a:buSzPct val="100000"/>
              <a:buChar char="•"/>
            </a:pPr>
            <a:r>
              <a:rPr lang="en-US" sz="1800" dirty="0">
                <a:solidFill>
                  <a:srgbClr val="5A5A6E"/>
                </a:solidFill>
                <a:latin typeface="Calibri" pitchFamily="34" charset="0"/>
                <a:ea typeface="Calibri" pitchFamily="34" charset="-122"/>
                <a:cs typeface="Calibri" pitchFamily="34" charset="-120"/>
              </a:rPr>
              <a:t>Feedback</a:t>
            </a:r>
            <a:endParaRPr lang="en-US" sz="1800" dirty="0"/>
          </a:p>
        </p:txBody>
      </p:sp>
      <p:pic>
        <p:nvPicPr>
          <p:cNvPr id="16" name="Image 1" descr="icons/clipboard_F59E0B.png">    </p:cNvPr>
          <p:cNvPicPr>
            <a:picLocks noChangeAspect="1"/>
          </p:cNvPicPr>
          <p:nvPr/>
        </p:nvPicPr>
        <p:blipFill>
          <a:blip r:embed="rId2"/>
          <a:stretch>
            <a:fillRect/>
          </a:stretch>
        </p:blipFill>
        <p:spPr>
          <a:xfrm>
            <a:off x="9784080" y="2926080"/>
            <a:ext cx="822960" cy="822960"/>
          </a:xfrm>
          <a:prstGeom prst="rect">
            <a:avLst/>
          </a:prstGeom>
        </p:spPr>
      </p:pic>
      <p:sp>
        <p:nvSpPr>
          <p:cNvPr id="17" name="Text 13"/>
          <p:cNvSpPr/>
          <p:nvPr/>
        </p:nvSpPr>
        <p:spPr>
          <a:xfrm>
            <a:off x="457200" y="4800600"/>
            <a:ext cx="10332720" cy="640080"/>
          </a:xfrm>
          <a:prstGeom prst="rect">
            <a:avLst/>
          </a:prstGeom>
          <a:noFill/>
          <a:ln/>
        </p:spPr>
        <p:txBody>
          <a:bodyPr wrap="square" lIns="0" tIns="0" rIns="0" bIns="0" rtlCol="0" anchor="ctr"/>
          <a:lstStyle/>
          <a:p>
            <a:pPr indent="0" marL="0">
              <a:buNone/>
            </a:pPr>
            <a:r>
              <a:rPr lang="en-US" sz="1600" i="1" dirty="0">
                <a:solidFill>
                  <a:srgbClr val="5A5A6E"/>
                </a:solidFill>
                <a:latin typeface="Calibri" pitchFamily="34" charset="0"/>
                <a:ea typeface="Calibri" pitchFamily="34" charset="-122"/>
                <a:cs typeface="Calibri" pitchFamily="34" charset="-120"/>
              </a:rPr>
              <a:t>💬 Discuss: which element was hardest to recall? Why might that be the one people forget first when designing?</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4361EE"/>
                </a:solidFill>
                <a:latin typeface="Courier New" pitchFamily="34" charset="0"/>
                <a:ea typeface="Courier New" pitchFamily="34" charset="-122"/>
                <a:cs typeface="Courier New" pitchFamily="34" charset="-120"/>
              </a:rPr>
              <a:t>OBJECTIVE</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3</a:t>
            </a:r>
            <a:endParaRPr lang="en-US" sz="900" dirty="0"/>
          </a:p>
        </p:txBody>
      </p:sp>
      <p:sp>
        <p:nvSpPr>
          <p:cNvPr id="9" name="Shape 6"/>
          <p:cNvSpPr/>
          <p:nvPr/>
        </p:nvSpPr>
        <p:spPr>
          <a:xfrm>
            <a:off x="457200" y="960120"/>
            <a:ext cx="457200" cy="457200"/>
          </a:xfrm>
          <a:prstGeom prst="ellipse">
            <a:avLst/>
          </a:prstGeom>
          <a:solidFill>
            <a:srgbClr val="4361EE"/>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Learning Objective</a:t>
            </a:r>
            <a:endParaRPr lang="en-US" sz="3200" dirty="0"/>
          </a:p>
        </p:txBody>
      </p:sp>
      <p:sp>
        <p:nvSpPr>
          <p:cNvPr id="12" name="Text 9"/>
          <p:cNvSpPr/>
          <p:nvPr/>
        </p:nvSpPr>
        <p:spPr>
          <a:xfrm>
            <a:off x="457200" y="1737360"/>
            <a:ext cx="10332720" cy="822960"/>
          </a:xfrm>
          <a:prstGeom prst="rect">
            <a:avLst/>
          </a:prstGeom>
          <a:noFill/>
          <a:ln/>
        </p:spPr>
        <p:txBody>
          <a:bodyPr wrap="square" lIns="0" tIns="0" rIns="0" bIns="0" rtlCol="0" anchor="ctr"/>
          <a:lstStyle/>
          <a:p>
            <a:pPr indent="0" marL="0">
              <a:buNone/>
            </a:pPr>
            <a:r>
              <a:rPr lang="en-US" sz="2000" dirty="0">
                <a:solidFill>
                  <a:srgbClr val="1A1A2E"/>
                </a:solidFill>
                <a:latin typeface="Calibri" pitchFamily="34" charset="0"/>
                <a:ea typeface="Calibri" pitchFamily="34" charset="-122"/>
                <a:cs typeface="Calibri" pitchFamily="34" charset="-120"/>
              </a:rPr>
              <a:t>To formally analyse and critique commercial games using the seven elements as an analytical framework.</a:t>
            </a:r>
            <a:endParaRPr lang="en-US" sz="2000" dirty="0"/>
          </a:p>
        </p:txBody>
      </p:sp>
      <p:sp>
        <p:nvSpPr>
          <p:cNvPr id="13" name="Text 10"/>
          <p:cNvSpPr/>
          <p:nvPr/>
        </p:nvSpPr>
        <p:spPr>
          <a:xfrm>
            <a:off x="457200" y="2697480"/>
            <a:ext cx="4572000" cy="365760"/>
          </a:xfrm>
          <a:prstGeom prst="rect">
            <a:avLst/>
          </a:prstGeom>
          <a:noFill/>
          <a:ln/>
        </p:spPr>
        <p:txBody>
          <a:bodyPr wrap="square" lIns="0" tIns="0" rIns="0" bIns="0" rtlCol="0" anchor="ctr"/>
          <a:lstStyle/>
          <a:p>
            <a:pPr indent="0" marL="0">
              <a:buNone/>
            </a:pPr>
            <a:r>
              <a:rPr lang="en-US" sz="1800" b="1" dirty="0">
                <a:solidFill>
                  <a:srgbClr val="1A1A2E"/>
                </a:solidFill>
                <a:latin typeface="Bookman Old Style" pitchFamily="34" charset="0"/>
                <a:ea typeface="Bookman Old Style" pitchFamily="34" charset="-122"/>
                <a:cs typeface="Bookman Old Style" pitchFamily="34" charset="-120"/>
              </a:rPr>
              <a:t>Success Criteria</a:t>
            </a:r>
            <a:endParaRPr lang="en-US" sz="1800" dirty="0"/>
          </a:p>
        </p:txBody>
      </p:sp>
      <p:sp>
        <p:nvSpPr>
          <p:cNvPr id="14" name="Shape 11"/>
          <p:cNvSpPr/>
          <p:nvPr/>
        </p:nvSpPr>
        <p:spPr>
          <a:xfrm>
            <a:off x="457200" y="3200400"/>
            <a:ext cx="10332720" cy="822960"/>
          </a:xfrm>
          <a:prstGeom prst="roundRect">
            <a:avLst>
              <a:gd name="adj" fmla="val 8889"/>
            </a:avLst>
          </a:prstGeom>
          <a:solidFill>
            <a:srgbClr val="FFFFFF"/>
          </a:solidFill>
          <a:ln w="15875">
            <a:solidFill>
              <a:srgbClr val="10B981"/>
            </a:solidFill>
            <a:prstDash val="solid"/>
          </a:ln>
        </p:spPr>
      </p:sp>
      <p:sp>
        <p:nvSpPr>
          <p:cNvPr id="15" name="Text 12"/>
          <p:cNvSpPr/>
          <p:nvPr/>
        </p:nvSpPr>
        <p:spPr>
          <a:xfrm>
            <a:off x="640080" y="3200400"/>
            <a:ext cx="548640" cy="82296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16" name="Text 13"/>
          <p:cNvSpPr/>
          <p:nvPr/>
        </p:nvSpPr>
        <p:spPr>
          <a:xfrm>
            <a:off x="1234440" y="3273552"/>
            <a:ext cx="1920240" cy="320040"/>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Foundation</a:t>
            </a:r>
            <a:endParaRPr lang="en-US" sz="1400" dirty="0"/>
          </a:p>
        </p:txBody>
      </p:sp>
      <p:sp>
        <p:nvSpPr>
          <p:cNvPr id="17" name="Text 14"/>
          <p:cNvSpPr/>
          <p:nvPr/>
        </p:nvSpPr>
        <p:spPr>
          <a:xfrm>
            <a:off x="1234440" y="3566160"/>
            <a:ext cx="9052560" cy="4114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I can compare two games across at least 5 of the 7 elements, describing what each game does.</a:t>
            </a:r>
            <a:endParaRPr lang="en-US" sz="1400" dirty="0"/>
          </a:p>
        </p:txBody>
      </p:sp>
      <p:sp>
        <p:nvSpPr>
          <p:cNvPr id="18" name="Shape 15"/>
          <p:cNvSpPr/>
          <p:nvPr/>
        </p:nvSpPr>
        <p:spPr>
          <a:xfrm>
            <a:off x="457200" y="4160520"/>
            <a:ext cx="10332720" cy="822960"/>
          </a:xfrm>
          <a:prstGeom prst="roundRect">
            <a:avLst>
              <a:gd name="adj" fmla="val 8889"/>
            </a:avLst>
          </a:prstGeom>
          <a:solidFill>
            <a:srgbClr val="FFFFFF"/>
          </a:solidFill>
          <a:ln w="15875">
            <a:solidFill>
              <a:srgbClr val="F59E0B"/>
            </a:solidFill>
            <a:prstDash val="solid"/>
          </a:ln>
        </p:spPr>
      </p:sp>
      <p:sp>
        <p:nvSpPr>
          <p:cNvPr id="19" name="Text 16"/>
          <p:cNvSpPr/>
          <p:nvPr/>
        </p:nvSpPr>
        <p:spPr>
          <a:xfrm>
            <a:off x="640080" y="4160520"/>
            <a:ext cx="548640" cy="82296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0" name="Text 17"/>
          <p:cNvSpPr/>
          <p:nvPr/>
        </p:nvSpPr>
        <p:spPr>
          <a:xfrm>
            <a:off x="1234440" y="4233672"/>
            <a:ext cx="1920240" cy="320040"/>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Developing</a:t>
            </a:r>
            <a:endParaRPr lang="en-US" sz="1400" dirty="0"/>
          </a:p>
        </p:txBody>
      </p:sp>
      <p:sp>
        <p:nvSpPr>
          <p:cNvPr id="21" name="Text 18"/>
          <p:cNvSpPr/>
          <p:nvPr/>
        </p:nvSpPr>
        <p:spPr>
          <a:xfrm>
            <a:off x="1234440" y="4526280"/>
            <a:ext cx="9052560" cy="4114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I can compare two contrasting games across all 7 elements and judge which handles each one more effectively.</a:t>
            </a:r>
            <a:endParaRPr lang="en-US" sz="1400" dirty="0"/>
          </a:p>
        </p:txBody>
      </p:sp>
      <p:sp>
        <p:nvSpPr>
          <p:cNvPr id="22" name="Shape 19"/>
          <p:cNvSpPr/>
          <p:nvPr/>
        </p:nvSpPr>
        <p:spPr>
          <a:xfrm>
            <a:off x="457200" y="5120640"/>
            <a:ext cx="10332720" cy="822960"/>
          </a:xfrm>
          <a:prstGeom prst="roundRect">
            <a:avLst>
              <a:gd name="adj" fmla="val 8889"/>
            </a:avLst>
          </a:prstGeom>
          <a:solidFill>
            <a:srgbClr val="FFFFFF"/>
          </a:solidFill>
          <a:ln w="15875">
            <a:solidFill>
              <a:srgbClr val="8B5CF6"/>
            </a:solidFill>
            <a:prstDash val="solid"/>
          </a:ln>
        </p:spPr>
      </p:sp>
      <p:sp>
        <p:nvSpPr>
          <p:cNvPr id="23" name="Text 20"/>
          <p:cNvSpPr/>
          <p:nvPr/>
        </p:nvSpPr>
        <p:spPr>
          <a:xfrm>
            <a:off x="640080" y="5120640"/>
            <a:ext cx="548640" cy="822960"/>
          </a:xfrm>
          <a:prstGeom prst="rect">
            <a:avLst/>
          </a:prstGeom>
          <a:noFill/>
          <a:ln/>
        </p:spPr>
        <p:txBody>
          <a:bodyPr wrap="square" lIns="0" tIns="0" rIns="0" bIns="0" rtlCol="0" anchor="ctr"/>
          <a:lstStyle/>
          <a:p>
            <a:pPr indent="0" marL="0">
              <a:buNone/>
            </a:pPr>
            <a:r>
              <a:rPr lang="en-US" sz="2200" dirty="0">
                <a:solidFill>
                  <a:srgbClr val="000000"/>
                </a:solidFill>
              </a:rPr>
              <a:t>🟣</a:t>
            </a:r>
            <a:endParaRPr lang="en-US" sz="2200" dirty="0"/>
          </a:p>
        </p:txBody>
      </p:sp>
      <p:sp>
        <p:nvSpPr>
          <p:cNvPr id="24" name="Text 21"/>
          <p:cNvSpPr/>
          <p:nvPr/>
        </p:nvSpPr>
        <p:spPr>
          <a:xfrm>
            <a:off x="1234440" y="5193792"/>
            <a:ext cx="1920240" cy="320040"/>
          </a:xfrm>
          <a:prstGeom prst="rect">
            <a:avLst/>
          </a:prstGeom>
          <a:noFill/>
          <a:ln/>
        </p:spPr>
        <p:txBody>
          <a:bodyPr wrap="square" lIns="0" tIns="0" rIns="0" bIns="0" rtlCol="0" anchor="ctr"/>
          <a:lstStyle/>
          <a:p>
            <a:pPr indent="0" marL="0">
              <a:buNone/>
            </a:pPr>
            <a:r>
              <a:rPr lang="en-US" sz="1400" b="1" dirty="0">
                <a:solidFill>
                  <a:srgbClr val="8B5CF6"/>
                </a:solidFill>
                <a:latin typeface="Calibri" pitchFamily="34" charset="0"/>
                <a:ea typeface="Calibri" pitchFamily="34" charset="-122"/>
                <a:cs typeface="Calibri" pitchFamily="34" charset="-120"/>
              </a:rPr>
              <a:t>Extending</a:t>
            </a:r>
            <a:endParaRPr lang="en-US" sz="1400" dirty="0"/>
          </a:p>
        </p:txBody>
      </p:sp>
      <p:sp>
        <p:nvSpPr>
          <p:cNvPr id="25" name="Text 22"/>
          <p:cNvSpPr/>
          <p:nvPr/>
        </p:nvSpPr>
        <p:spPr>
          <a:xfrm>
            <a:off x="1234440" y="5486400"/>
            <a:ext cx="9052560" cy="411480"/>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I can justify my judgements with specific evidence and explain what a weaker game could change to improve.</a:t>
            </a:r>
            <a:endParaRPr lang="en-US" sz="14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4</a:t>
            </a:r>
            <a:endParaRPr lang="en-US" sz="900" dirty="0"/>
          </a:p>
        </p:txBody>
      </p:sp>
      <p:sp>
        <p:nvSpPr>
          <p:cNvPr id="9" name="Shape 6"/>
          <p:cNvSpPr/>
          <p:nvPr/>
        </p:nvSpPr>
        <p:spPr>
          <a:xfrm>
            <a:off x="457200" y="960120"/>
            <a:ext cx="457200" cy="457200"/>
          </a:xfrm>
          <a:prstGeom prst="ellipse">
            <a:avLst/>
          </a:prstGeom>
          <a:solidFill>
            <a:srgbClr val="4361EE"/>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Describing vs. Critiquing</a:t>
            </a:r>
            <a:endParaRPr lang="en-US" sz="3200" dirty="0"/>
          </a:p>
        </p:txBody>
      </p:sp>
      <p:sp>
        <p:nvSpPr>
          <p:cNvPr id="12" name="Text 9"/>
          <p:cNvSpPr/>
          <p:nvPr/>
        </p:nvSpPr>
        <p:spPr>
          <a:xfrm>
            <a:off x="457200" y="1691640"/>
            <a:ext cx="10332720" cy="502920"/>
          </a:xfrm>
          <a:prstGeom prst="rect">
            <a:avLst/>
          </a:prstGeom>
          <a:noFill/>
          <a:ln/>
        </p:spPr>
        <p:txBody>
          <a:bodyPr wrap="square" lIns="0" tIns="0" rIns="0" bIns="0" rtlCol="0" anchor="ctr"/>
          <a:lstStyle/>
          <a:p>
            <a:pPr indent="0" marL="0">
              <a:buNone/>
            </a:pPr>
            <a:r>
              <a:rPr lang="en-US" sz="1800" dirty="0">
                <a:solidFill>
                  <a:srgbClr val="1A1A2E"/>
                </a:solidFill>
                <a:latin typeface="Calibri" pitchFamily="34" charset="0"/>
                <a:ea typeface="Calibri" pitchFamily="34" charset="-122"/>
                <a:cs typeface="Calibri" pitchFamily="34" charset="-120"/>
              </a:rPr>
              <a:t>Naming an element is not the same as judging it. A critique makes a call — and backs it up.</a:t>
            </a:r>
            <a:endParaRPr lang="en-US" sz="1800" dirty="0"/>
          </a:p>
        </p:txBody>
      </p:sp>
      <p:sp>
        <p:nvSpPr>
          <p:cNvPr id="13" name="Shape 10"/>
          <p:cNvSpPr/>
          <p:nvPr/>
        </p:nvSpPr>
        <p:spPr>
          <a:xfrm>
            <a:off x="457200" y="2377440"/>
            <a:ext cx="5029200" cy="2377440"/>
          </a:xfrm>
          <a:prstGeom prst="roundRect">
            <a:avLst>
              <a:gd name="adj" fmla="val 3846"/>
            </a:avLst>
          </a:prstGeom>
          <a:solidFill>
            <a:srgbClr val="F7F8FC"/>
          </a:solidFill>
          <a:ln w="19050">
            <a:solidFill>
              <a:srgbClr val="5A5A6E"/>
            </a:solidFill>
            <a:prstDash val="solid"/>
          </a:ln>
        </p:spPr>
      </p:sp>
      <p:sp>
        <p:nvSpPr>
          <p:cNvPr id="14" name="Text 11"/>
          <p:cNvSpPr/>
          <p:nvPr/>
        </p:nvSpPr>
        <p:spPr>
          <a:xfrm>
            <a:off x="731520" y="2560320"/>
            <a:ext cx="4572000" cy="365760"/>
          </a:xfrm>
          <a:prstGeom prst="rect">
            <a:avLst/>
          </a:prstGeom>
          <a:noFill/>
          <a:ln/>
        </p:spPr>
        <p:txBody>
          <a:bodyPr wrap="square" lIns="0" tIns="0" rIns="0" bIns="0" rtlCol="0" anchor="ctr"/>
          <a:lstStyle/>
          <a:p>
            <a:pPr indent="0" marL="0">
              <a:buNone/>
            </a:pPr>
            <a:r>
              <a:rPr lang="en-US" sz="2000" b="1" dirty="0">
                <a:solidFill>
                  <a:srgbClr val="5A5A6E"/>
                </a:solidFill>
                <a:latin typeface="Bookman Old Style" pitchFamily="34" charset="0"/>
                <a:ea typeface="Bookman Old Style" pitchFamily="34" charset="-122"/>
                <a:cs typeface="Bookman Old Style" pitchFamily="34" charset="-120"/>
              </a:rPr>
              <a:t>Describing</a:t>
            </a:r>
            <a:endParaRPr lang="en-US" sz="2000" dirty="0"/>
          </a:p>
        </p:txBody>
      </p:sp>
      <p:sp>
        <p:nvSpPr>
          <p:cNvPr id="15" name="Text 12"/>
          <p:cNvSpPr/>
          <p:nvPr/>
        </p:nvSpPr>
        <p:spPr>
          <a:xfrm>
            <a:off x="731520" y="2926080"/>
            <a:ext cx="4572000" cy="274320"/>
          </a:xfrm>
          <a:prstGeom prst="rect">
            <a:avLst/>
          </a:prstGeom>
          <a:noFill/>
          <a:ln/>
        </p:spPr>
        <p:txBody>
          <a:bodyPr wrap="square" lIns="0" tIns="0" rIns="0" bIns="0" rtlCol="0" anchor="ctr"/>
          <a:lstStyle/>
          <a:p>
            <a:pPr indent="0" marL="0">
              <a:buNone/>
            </a:pPr>
            <a:r>
              <a:rPr lang="en-US" sz="1100" dirty="0">
                <a:solidFill>
                  <a:srgbClr val="5A5A6E"/>
                </a:solidFill>
                <a:latin typeface="Courier New" pitchFamily="34" charset="0"/>
                <a:ea typeface="Courier New" pitchFamily="34" charset="-122"/>
                <a:cs typeface="Courier New" pitchFamily="34" charset="-120"/>
              </a:rPr>
              <a:t>What Lesson 1 did</a:t>
            </a:r>
            <a:endParaRPr lang="en-US" sz="1100" dirty="0"/>
          </a:p>
        </p:txBody>
      </p:sp>
      <p:sp>
        <p:nvSpPr>
          <p:cNvPr id="16" name="Text 13"/>
          <p:cNvSpPr/>
          <p:nvPr/>
        </p:nvSpPr>
        <p:spPr>
          <a:xfrm>
            <a:off x="731520" y="3291840"/>
            <a:ext cx="4480560" cy="1280160"/>
          </a:xfrm>
          <a:prstGeom prst="rect">
            <a:avLst/>
          </a:prstGeom>
          <a:noFill/>
          <a:ln/>
        </p:spPr>
        <p:txBody>
          <a:bodyPr wrap="square" lIns="0" tIns="0" rIns="0" bIns="0" rtlCol="0" anchor="ctr"/>
          <a:lstStyle/>
          <a:p>
            <a:pPr indent="0" marL="0">
              <a:buNone/>
            </a:pPr>
            <a:r>
              <a:rPr lang="en-US" sz="1500" i="1" dirty="0">
                <a:solidFill>
                  <a:srgbClr val="1A1A2E"/>
                </a:solidFill>
                <a:latin typeface="Calibri" pitchFamily="34" charset="0"/>
                <a:ea typeface="Calibri" pitchFamily="34" charset="-122"/>
                <a:cs typeface="Calibri" pitchFamily="34" charset="-120"/>
              </a:rPr>
              <a:t>"Tetris’s objective is to clear lines before the stack tops out."</a:t>
            </a:r>
            <a:endParaRPr lang="en-US" sz="1500" dirty="0"/>
          </a:p>
        </p:txBody>
      </p:sp>
      <p:sp>
        <p:nvSpPr>
          <p:cNvPr id="17" name="Shape 14"/>
          <p:cNvSpPr/>
          <p:nvPr/>
        </p:nvSpPr>
        <p:spPr>
          <a:xfrm>
            <a:off x="5715000" y="2377440"/>
            <a:ext cx="5029200" cy="2377440"/>
          </a:xfrm>
          <a:prstGeom prst="roundRect">
            <a:avLst>
              <a:gd name="adj" fmla="val 3846"/>
            </a:avLst>
          </a:prstGeom>
          <a:solidFill>
            <a:srgbClr val="F0F2FF"/>
          </a:solidFill>
          <a:ln w="19050">
            <a:solidFill>
              <a:srgbClr val="4361EE"/>
            </a:solidFill>
            <a:prstDash val="solid"/>
          </a:ln>
        </p:spPr>
      </p:sp>
      <p:sp>
        <p:nvSpPr>
          <p:cNvPr id="18" name="Text 15"/>
          <p:cNvSpPr/>
          <p:nvPr/>
        </p:nvSpPr>
        <p:spPr>
          <a:xfrm>
            <a:off x="5989320" y="2560320"/>
            <a:ext cx="4572000" cy="365760"/>
          </a:xfrm>
          <a:prstGeom prst="rect">
            <a:avLst/>
          </a:prstGeom>
          <a:noFill/>
          <a:ln/>
        </p:spPr>
        <p:txBody>
          <a:bodyPr wrap="square" lIns="0" tIns="0" rIns="0" bIns="0" rtlCol="0" anchor="ctr"/>
          <a:lstStyle/>
          <a:p>
            <a:pPr indent="0" marL="0">
              <a:buNone/>
            </a:pPr>
            <a:r>
              <a:rPr lang="en-US" sz="2000" b="1" dirty="0">
                <a:solidFill>
                  <a:srgbClr val="4361EE"/>
                </a:solidFill>
                <a:latin typeface="Bookman Old Style" pitchFamily="34" charset="0"/>
                <a:ea typeface="Bookman Old Style" pitchFamily="34" charset="-122"/>
                <a:cs typeface="Bookman Old Style" pitchFamily="34" charset="-120"/>
              </a:rPr>
              <a:t>Critiquing</a:t>
            </a:r>
            <a:endParaRPr lang="en-US" sz="2000" dirty="0"/>
          </a:p>
        </p:txBody>
      </p:sp>
      <p:sp>
        <p:nvSpPr>
          <p:cNvPr id="19" name="Text 16"/>
          <p:cNvSpPr/>
          <p:nvPr/>
        </p:nvSpPr>
        <p:spPr>
          <a:xfrm>
            <a:off x="5989320" y="2926080"/>
            <a:ext cx="4572000" cy="274320"/>
          </a:xfrm>
          <a:prstGeom prst="rect">
            <a:avLst/>
          </a:prstGeom>
          <a:noFill/>
          <a:ln/>
        </p:spPr>
        <p:txBody>
          <a:bodyPr wrap="square" lIns="0" tIns="0" rIns="0" bIns="0" rtlCol="0" anchor="ctr"/>
          <a:lstStyle/>
          <a:p>
            <a:pPr indent="0" marL="0">
              <a:buNone/>
            </a:pPr>
            <a:r>
              <a:rPr lang="en-US" sz="1100" dirty="0">
                <a:solidFill>
                  <a:srgbClr val="5A5A6E"/>
                </a:solidFill>
                <a:latin typeface="Courier New" pitchFamily="34" charset="0"/>
                <a:ea typeface="Courier New" pitchFamily="34" charset="-122"/>
                <a:cs typeface="Courier New" pitchFamily="34" charset="-120"/>
              </a:rPr>
              <a:t>What today does</a:t>
            </a:r>
            <a:endParaRPr lang="en-US" sz="1100" dirty="0"/>
          </a:p>
        </p:txBody>
      </p:sp>
      <p:sp>
        <p:nvSpPr>
          <p:cNvPr id="20" name="Text 17"/>
          <p:cNvSpPr/>
          <p:nvPr/>
        </p:nvSpPr>
        <p:spPr>
          <a:xfrm>
            <a:off x="5989320" y="3291840"/>
            <a:ext cx="4480560" cy="1280160"/>
          </a:xfrm>
          <a:prstGeom prst="rect">
            <a:avLst/>
          </a:prstGeom>
          <a:noFill/>
          <a:ln/>
        </p:spPr>
        <p:txBody>
          <a:bodyPr wrap="square" lIns="0" tIns="0" rIns="0" bIns="0" rtlCol="0" anchor="ctr"/>
          <a:lstStyle/>
          <a:p>
            <a:pPr indent="0" marL="0">
              <a:buNone/>
            </a:pPr>
            <a:r>
              <a:rPr lang="en-US" sz="1500" i="1" dirty="0">
                <a:solidFill>
                  <a:srgbClr val="1A1A2E"/>
                </a:solidFill>
                <a:latin typeface="Calibri" pitchFamily="34" charset="0"/>
                <a:ea typeface="Calibri" pitchFamily="34" charset="-122"/>
                <a:cs typeface="Calibri" pitchFamily="34" charset="-120"/>
              </a:rPr>
              <a:t>"Tetris’s open-ended objective works well because it lets skilled and casual players both set their own goal — unlike a fixed score target, it never feels ‘solved’."</a:t>
            </a:r>
            <a:endParaRPr lang="en-US" sz="1500" dirty="0"/>
          </a:p>
        </p:txBody>
      </p:sp>
      <p:sp>
        <p:nvSpPr>
          <p:cNvPr id="21" name="Text 18"/>
          <p:cNvSpPr/>
          <p:nvPr/>
        </p:nvSpPr>
        <p:spPr>
          <a:xfrm>
            <a:off x="457200" y="4983480"/>
            <a:ext cx="10332720" cy="548640"/>
          </a:xfrm>
          <a:prstGeom prst="rect">
            <a:avLst/>
          </a:prstGeom>
          <a:noFill/>
          <a:ln/>
        </p:spPr>
        <p:txBody>
          <a:bodyPr wrap="square" lIns="0" tIns="0" rIns="0" bIns="0" rtlCol="0" anchor="ctr"/>
          <a:lstStyle/>
          <a:p>
            <a:pPr indent="0" marL="0">
              <a:buNone/>
            </a:pPr>
            <a:r>
              <a:rPr lang="en-US" sz="1600" i="1" dirty="0">
                <a:solidFill>
                  <a:srgbClr val="5A5A6E"/>
                </a:solidFill>
                <a:latin typeface="Calibri" pitchFamily="34" charset="0"/>
                <a:ea typeface="Calibri" pitchFamily="34" charset="-122"/>
                <a:cs typeface="Calibri" pitchFamily="34" charset="-120"/>
              </a:rPr>
              <a:t>💬 Discuss: is "I didn’t like the graphics" a critique? What’s missing from it?</a:t>
            </a:r>
            <a:endParaRPr lang="en-US" sz="16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5</a:t>
            </a:r>
            <a:endParaRPr lang="en-US" sz="900" dirty="0"/>
          </a:p>
        </p:txBody>
      </p:sp>
      <p:sp>
        <p:nvSpPr>
          <p:cNvPr id="9" name="Shape 6"/>
          <p:cNvSpPr/>
          <p:nvPr/>
        </p:nvSpPr>
        <p:spPr>
          <a:xfrm>
            <a:off x="457200" y="960120"/>
            <a:ext cx="457200" cy="457200"/>
          </a:xfrm>
          <a:prstGeom prst="ellipse">
            <a:avLst/>
          </a:prstGeom>
          <a:solidFill>
            <a:srgbClr val="4361EE"/>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Why Compare CONTRASTING Games?</a:t>
            </a:r>
            <a:endParaRPr lang="en-US" sz="3200" dirty="0"/>
          </a:p>
        </p:txBody>
      </p:sp>
      <p:sp>
        <p:nvSpPr>
          <p:cNvPr id="12" name="Text 9"/>
          <p:cNvSpPr/>
          <p:nvPr/>
        </p:nvSpPr>
        <p:spPr>
          <a:xfrm>
            <a:off x="457200" y="1600200"/>
            <a:ext cx="5486400" cy="292608"/>
          </a:xfrm>
          <a:prstGeom prst="rect">
            <a:avLst/>
          </a:prstGeom>
          <a:noFill/>
          <a:ln/>
        </p:spPr>
        <p:txBody>
          <a:bodyPr wrap="square" lIns="0" tIns="0" rIns="0" bIns="0" rtlCol="0" anchor="ctr"/>
          <a:lstStyle/>
          <a:p>
            <a:pPr indent="0" marL="0">
              <a:buNone/>
            </a:pPr>
            <a:r>
              <a:rPr lang="en-US" sz="1100" b="1" dirty="0">
                <a:solidFill>
                  <a:srgbClr val="F59E0B"/>
                </a:solidFill>
                <a:latin typeface="Courier New" pitchFamily="34" charset="0"/>
                <a:ea typeface="Courier New" pitchFamily="34" charset="-122"/>
                <a:cs typeface="Courier New" pitchFamily="34" charset="-120"/>
              </a:rPr>
              <a:t>COPY THIS INTO YOUR WORKBOOK</a:t>
            </a:r>
            <a:endParaRPr lang="en-US" sz="1100" dirty="0"/>
          </a:p>
        </p:txBody>
      </p:sp>
      <p:sp>
        <p:nvSpPr>
          <p:cNvPr id="13" name="Text 10"/>
          <p:cNvSpPr/>
          <p:nvPr/>
        </p:nvSpPr>
        <p:spPr>
          <a:xfrm>
            <a:off x="457200" y="1920240"/>
            <a:ext cx="10332720" cy="731520"/>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A contrasting pair shares a genre or purpose but makes different design choices — comparing them shows how each choice changes the player’s experience.</a:t>
            </a:r>
            <a:endParaRPr lang="en-US" sz="1700" dirty="0"/>
          </a:p>
        </p:txBody>
      </p:sp>
      <p:sp>
        <p:nvSpPr>
          <p:cNvPr id="14" name="Text 11"/>
          <p:cNvSpPr/>
          <p:nvPr/>
        </p:nvSpPr>
        <p:spPr>
          <a:xfrm>
            <a:off x="457200" y="2743200"/>
            <a:ext cx="7315200" cy="320040"/>
          </a:xfrm>
          <a:prstGeom prst="rect">
            <a:avLst/>
          </a:prstGeom>
          <a:noFill/>
          <a:ln/>
        </p:spPr>
        <p:txBody>
          <a:bodyPr wrap="square" lIns="0" tIns="0" rIns="0" bIns="0" rtlCol="0" anchor="ctr"/>
          <a:lstStyle/>
          <a:p>
            <a:pPr indent="0" marL="0">
              <a:buNone/>
            </a:pPr>
            <a:r>
              <a:rPr lang="en-US" sz="1500" b="1" dirty="0">
                <a:solidFill>
                  <a:srgbClr val="5A5A6E"/>
                </a:solidFill>
                <a:latin typeface="Calibri" pitchFamily="34" charset="0"/>
                <a:ea typeface="Calibri" pitchFamily="34" charset="-122"/>
                <a:cs typeface="Calibri" pitchFamily="34" charset="-120"/>
              </a:rPr>
              <a:t>Good contrasting pairs (same genre, different execution):</a:t>
            </a:r>
            <a:endParaRPr lang="en-US" sz="1500" dirty="0"/>
          </a:p>
        </p:txBody>
      </p:sp>
      <p:sp>
        <p:nvSpPr>
          <p:cNvPr id="15" name="Shape 12"/>
          <p:cNvSpPr/>
          <p:nvPr/>
        </p:nvSpPr>
        <p:spPr>
          <a:xfrm>
            <a:off x="457200" y="3154680"/>
            <a:ext cx="10332720" cy="530352"/>
          </a:xfrm>
          <a:prstGeom prst="roundRect">
            <a:avLst>
              <a:gd name="adj" fmla="val 10345"/>
            </a:avLst>
          </a:prstGeom>
          <a:solidFill>
            <a:srgbClr val="F7F8FC"/>
          </a:solidFill>
          <a:ln w="12700">
            <a:solidFill>
              <a:srgbClr val="DCE0EA"/>
            </a:solidFill>
            <a:prstDash val="solid"/>
          </a:ln>
        </p:spPr>
      </p:sp>
      <p:sp>
        <p:nvSpPr>
          <p:cNvPr id="16" name="Text 13"/>
          <p:cNvSpPr/>
          <p:nvPr/>
        </p:nvSpPr>
        <p:spPr>
          <a:xfrm>
            <a:off x="640080" y="3154680"/>
            <a:ext cx="2103120" cy="530352"/>
          </a:xfrm>
          <a:prstGeom prst="rect">
            <a:avLst/>
          </a:prstGeom>
          <a:noFill/>
          <a:ln/>
        </p:spPr>
        <p:txBody>
          <a:bodyPr wrap="square" lIns="0" tIns="0" rIns="0" bIns="0" rtlCol="0" anchor="ctr"/>
          <a:lstStyle/>
          <a:p>
            <a:pPr indent="0" marL="0">
              <a:buNone/>
            </a:pPr>
            <a:r>
              <a:rPr lang="en-US" sz="1200" b="1" dirty="0">
                <a:solidFill>
                  <a:srgbClr val="4361EE"/>
                </a:solidFill>
                <a:latin typeface="Courier New" pitchFamily="34" charset="0"/>
                <a:ea typeface="Courier New" pitchFamily="34" charset="-122"/>
                <a:cs typeface="Courier New" pitchFamily="34" charset="-120"/>
              </a:rPr>
              <a:t>Platformers</a:t>
            </a:r>
            <a:endParaRPr lang="en-US" sz="1200" dirty="0"/>
          </a:p>
        </p:txBody>
      </p:sp>
      <p:sp>
        <p:nvSpPr>
          <p:cNvPr id="17" name="Text 14"/>
          <p:cNvSpPr/>
          <p:nvPr/>
        </p:nvSpPr>
        <p:spPr>
          <a:xfrm>
            <a:off x="2834640" y="3154680"/>
            <a:ext cx="374904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Super Mario Bros.</a:t>
            </a:r>
            <a:endParaRPr lang="en-US" sz="1500" dirty="0"/>
          </a:p>
        </p:txBody>
      </p:sp>
      <p:sp>
        <p:nvSpPr>
          <p:cNvPr id="18" name="Text 15"/>
          <p:cNvSpPr/>
          <p:nvPr/>
        </p:nvSpPr>
        <p:spPr>
          <a:xfrm>
            <a:off x="6537960" y="3154680"/>
            <a:ext cx="457200" cy="530352"/>
          </a:xfrm>
          <a:prstGeom prst="rect">
            <a:avLst/>
          </a:prstGeom>
          <a:noFill/>
          <a:ln/>
        </p:spPr>
        <p:txBody>
          <a:bodyPr wrap="square" lIns="0" tIns="0" rIns="0" bIns="0" rtlCol="0" anchor="ctr"/>
          <a:lstStyle/>
          <a:p>
            <a:pPr algn="ctr" indent="0" marL="0">
              <a:buNone/>
            </a:pPr>
            <a:r>
              <a:rPr lang="en-US" sz="1300" i="1" dirty="0">
                <a:solidFill>
                  <a:srgbClr val="5A5A6E"/>
                </a:solidFill>
                <a:latin typeface="Calibri" pitchFamily="34" charset="0"/>
                <a:ea typeface="Calibri" pitchFamily="34" charset="-122"/>
                <a:cs typeface="Calibri" pitchFamily="34" charset="-120"/>
              </a:rPr>
              <a:t>vs</a:t>
            </a:r>
            <a:endParaRPr lang="en-US" sz="1300" dirty="0"/>
          </a:p>
        </p:txBody>
      </p:sp>
      <p:sp>
        <p:nvSpPr>
          <p:cNvPr id="19" name="Text 16"/>
          <p:cNvSpPr/>
          <p:nvPr/>
        </p:nvSpPr>
        <p:spPr>
          <a:xfrm>
            <a:off x="7040880" y="3154680"/>
            <a:ext cx="365760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Celeste</a:t>
            </a:r>
            <a:endParaRPr lang="en-US" sz="1500" dirty="0"/>
          </a:p>
        </p:txBody>
      </p:sp>
      <p:sp>
        <p:nvSpPr>
          <p:cNvPr id="20" name="Shape 17"/>
          <p:cNvSpPr/>
          <p:nvPr/>
        </p:nvSpPr>
        <p:spPr>
          <a:xfrm>
            <a:off x="457200" y="3794760"/>
            <a:ext cx="10332720" cy="530352"/>
          </a:xfrm>
          <a:prstGeom prst="roundRect">
            <a:avLst>
              <a:gd name="adj" fmla="val 10345"/>
            </a:avLst>
          </a:prstGeom>
          <a:solidFill>
            <a:srgbClr val="F7F8FC"/>
          </a:solidFill>
          <a:ln w="12700">
            <a:solidFill>
              <a:srgbClr val="DCE0EA"/>
            </a:solidFill>
            <a:prstDash val="solid"/>
          </a:ln>
        </p:spPr>
      </p:sp>
      <p:sp>
        <p:nvSpPr>
          <p:cNvPr id="21" name="Text 18"/>
          <p:cNvSpPr/>
          <p:nvPr/>
        </p:nvSpPr>
        <p:spPr>
          <a:xfrm>
            <a:off x="640080" y="3794760"/>
            <a:ext cx="2103120" cy="530352"/>
          </a:xfrm>
          <a:prstGeom prst="rect">
            <a:avLst/>
          </a:prstGeom>
          <a:noFill/>
          <a:ln/>
        </p:spPr>
        <p:txBody>
          <a:bodyPr wrap="square" lIns="0" tIns="0" rIns="0" bIns="0" rtlCol="0" anchor="ctr"/>
          <a:lstStyle/>
          <a:p>
            <a:pPr indent="0" marL="0">
              <a:buNone/>
            </a:pPr>
            <a:r>
              <a:rPr lang="en-US" sz="1200" b="1" dirty="0">
                <a:solidFill>
                  <a:srgbClr val="4361EE"/>
                </a:solidFill>
                <a:latin typeface="Courier New" pitchFamily="34" charset="0"/>
                <a:ea typeface="Courier New" pitchFamily="34" charset="-122"/>
                <a:cs typeface="Courier New" pitchFamily="34" charset="-120"/>
              </a:rPr>
              <a:t>Battle Royale</a:t>
            </a:r>
            <a:endParaRPr lang="en-US" sz="1200" dirty="0"/>
          </a:p>
        </p:txBody>
      </p:sp>
      <p:sp>
        <p:nvSpPr>
          <p:cNvPr id="22" name="Text 19"/>
          <p:cNvSpPr/>
          <p:nvPr/>
        </p:nvSpPr>
        <p:spPr>
          <a:xfrm>
            <a:off x="2834640" y="3794760"/>
            <a:ext cx="374904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Fortnite</a:t>
            </a:r>
            <a:endParaRPr lang="en-US" sz="1500" dirty="0"/>
          </a:p>
        </p:txBody>
      </p:sp>
      <p:sp>
        <p:nvSpPr>
          <p:cNvPr id="23" name="Text 20"/>
          <p:cNvSpPr/>
          <p:nvPr/>
        </p:nvSpPr>
        <p:spPr>
          <a:xfrm>
            <a:off x="6537960" y="3794760"/>
            <a:ext cx="457200" cy="530352"/>
          </a:xfrm>
          <a:prstGeom prst="rect">
            <a:avLst/>
          </a:prstGeom>
          <a:noFill/>
          <a:ln/>
        </p:spPr>
        <p:txBody>
          <a:bodyPr wrap="square" lIns="0" tIns="0" rIns="0" bIns="0" rtlCol="0" anchor="ctr"/>
          <a:lstStyle/>
          <a:p>
            <a:pPr algn="ctr" indent="0" marL="0">
              <a:buNone/>
            </a:pPr>
            <a:r>
              <a:rPr lang="en-US" sz="1300" i="1" dirty="0">
                <a:solidFill>
                  <a:srgbClr val="5A5A6E"/>
                </a:solidFill>
                <a:latin typeface="Calibri" pitchFamily="34" charset="0"/>
                <a:ea typeface="Calibri" pitchFamily="34" charset="-122"/>
                <a:cs typeface="Calibri" pitchFamily="34" charset="-120"/>
              </a:rPr>
              <a:t>vs</a:t>
            </a:r>
            <a:endParaRPr lang="en-US" sz="1300" dirty="0"/>
          </a:p>
        </p:txBody>
      </p:sp>
      <p:sp>
        <p:nvSpPr>
          <p:cNvPr id="24" name="Text 21"/>
          <p:cNvSpPr/>
          <p:nvPr/>
        </p:nvSpPr>
        <p:spPr>
          <a:xfrm>
            <a:off x="7040880" y="3794760"/>
            <a:ext cx="365760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PUBG</a:t>
            </a:r>
            <a:endParaRPr lang="en-US" sz="1500" dirty="0"/>
          </a:p>
        </p:txBody>
      </p:sp>
      <p:sp>
        <p:nvSpPr>
          <p:cNvPr id="25" name="Shape 22"/>
          <p:cNvSpPr/>
          <p:nvPr/>
        </p:nvSpPr>
        <p:spPr>
          <a:xfrm>
            <a:off x="457200" y="4434840"/>
            <a:ext cx="10332720" cy="530352"/>
          </a:xfrm>
          <a:prstGeom prst="roundRect">
            <a:avLst>
              <a:gd name="adj" fmla="val 10345"/>
            </a:avLst>
          </a:prstGeom>
          <a:solidFill>
            <a:srgbClr val="F7F8FC"/>
          </a:solidFill>
          <a:ln w="12700">
            <a:solidFill>
              <a:srgbClr val="DCE0EA"/>
            </a:solidFill>
            <a:prstDash val="solid"/>
          </a:ln>
        </p:spPr>
      </p:sp>
      <p:sp>
        <p:nvSpPr>
          <p:cNvPr id="26" name="Text 23"/>
          <p:cNvSpPr/>
          <p:nvPr/>
        </p:nvSpPr>
        <p:spPr>
          <a:xfrm>
            <a:off x="640080" y="4434840"/>
            <a:ext cx="2103120" cy="530352"/>
          </a:xfrm>
          <a:prstGeom prst="rect">
            <a:avLst/>
          </a:prstGeom>
          <a:noFill/>
          <a:ln/>
        </p:spPr>
        <p:txBody>
          <a:bodyPr wrap="square" lIns="0" tIns="0" rIns="0" bIns="0" rtlCol="0" anchor="ctr"/>
          <a:lstStyle/>
          <a:p>
            <a:pPr indent="0" marL="0">
              <a:buNone/>
            </a:pPr>
            <a:r>
              <a:rPr lang="en-US" sz="1200" b="1" dirty="0">
                <a:solidFill>
                  <a:srgbClr val="4361EE"/>
                </a:solidFill>
                <a:latin typeface="Courier New" pitchFamily="34" charset="0"/>
                <a:ea typeface="Courier New" pitchFamily="34" charset="-122"/>
                <a:cs typeface="Courier New" pitchFamily="34" charset="-120"/>
              </a:rPr>
              <a:t>Puzzle</a:t>
            </a:r>
            <a:endParaRPr lang="en-US" sz="1200" dirty="0"/>
          </a:p>
        </p:txBody>
      </p:sp>
      <p:sp>
        <p:nvSpPr>
          <p:cNvPr id="27" name="Text 24"/>
          <p:cNvSpPr/>
          <p:nvPr/>
        </p:nvSpPr>
        <p:spPr>
          <a:xfrm>
            <a:off x="2834640" y="4434840"/>
            <a:ext cx="374904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Tetris</a:t>
            </a:r>
            <a:endParaRPr lang="en-US" sz="1500" dirty="0"/>
          </a:p>
        </p:txBody>
      </p:sp>
      <p:sp>
        <p:nvSpPr>
          <p:cNvPr id="28" name="Text 25"/>
          <p:cNvSpPr/>
          <p:nvPr/>
        </p:nvSpPr>
        <p:spPr>
          <a:xfrm>
            <a:off x="6537960" y="4434840"/>
            <a:ext cx="457200" cy="530352"/>
          </a:xfrm>
          <a:prstGeom prst="rect">
            <a:avLst/>
          </a:prstGeom>
          <a:noFill/>
          <a:ln/>
        </p:spPr>
        <p:txBody>
          <a:bodyPr wrap="square" lIns="0" tIns="0" rIns="0" bIns="0" rtlCol="0" anchor="ctr"/>
          <a:lstStyle/>
          <a:p>
            <a:pPr algn="ctr" indent="0" marL="0">
              <a:buNone/>
            </a:pPr>
            <a:r>
              <a:rPr lang="en-US" sz="1300" i="1" dirty="0">
                <a:solidFill>
                  <a:srgbClr val="5A5A6E"/>
                </a:solidFill>
                <a:latin typeface="Calibri" pitchFamily="34" charset="0"/>
                <a:ea typeface="Calibri" pitchFamily="34" charset="-122"/>
                <a:cs typeface="Calibri" pitchFamily="34" charset="-120"/>
              </a:rPr>
              <a:t>vs</a:t>
            </a:r>
            <a:endParaRPr lang="en-US" sz="1300" dirty="0"/>
          </a:p>
        </p:txBody>
      </p:sp>
      <p:sp>
        <p:nvSpPr>
          <p:cNvPr id="29" name="Text 26"/>
          <p:cNvSpPr/>
          <p:nvPr/>
        </p:nvSpPr>
        <p:spPr>
          <a:xfrm>
            <a:off x="7040880" y="4434840"/>
            <a:ext cx="365760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Dr. Mario</a:t>
            </a:r>
            <a:endParaRPr lang="en-US" sz="1500" dirty="0"/>
          </a:p>
        </p:txBody>
      </p:sp>
      <p:sp>
        <p:nvSpPr>
          <p:cNvPr id="30" name="Shape 27"/>
          <p:cNvSpPr/>
          <p:nvPr/>
        </p:nvSpPr>
        <p:spPr>
          <a:xfrm>
            <a:off x="457200" y="5074920"/>
            <a:ext cx="10332720" cy="530352"/>
          </a:xfrm>
          <a:prstGeom prst="roundRect">
            <a:avLst>
              <a:gd name="adj" fmla="val 10345"/>
            </a:avLst>
          </a:prstGeom>
          <a:solidFill>
            <a:srgbClr val="F7F8FC"/>
          </a:solidFill>
          <a:ln w="12700">
            <a:solidFill>
              <a:srgbClr val="DCE0EA"/>
            </a:solidFill>
            <a:prstDash val="solid"/>
          </a:ln>
        </p:spPr>
      </p:sp>
      <p:sp>
        <p:nvSpPr>
          <p:cNvPr id="31" name="Text 28"/>
          <p:cNvSpPr/>
          <p:nvPr/>
        </p:nvSpPr>
        <p:spPr>
          <a:xfrm>
            <a:off x="640080" y="5074920"/>
            <a:ext cx="2103120" cy="530352"/>
          </a:xfrm>
          <a:prstGeom prst="rect">
            <a:avLst/>
          </a:prstGeom>
          <a:noFill/>
          <a:ln/>
        </p:spPr>
        <p:txBody>
          <a:bodyPr wrap="square" lIns="0" tIns="0" rIns="0" bIns="0" rtlCol="0" anchor="ctr"/>
          <a:lstStyle/>
          <a:p>
            <a:pPr indent="0" marL="0">
              <a:buNone/>
            </a:pPr>
            <a:r>
              <a:rPr lang="en-US" sz="1200" b="1" dirty="0">
                <a:solidFill>
                  <a:srgbClr val="4361EE"/>
                </a:solidFill>
                <a:latin typeface="Courier New" pitchFamily="34" charset="0"/>
                <a:ea typeface="Courier New" pitchFamily="34" charset="-122"/>
                <a:cs typeface="Courier New" pitchFamily="34" charset="-120"/>
              </a:rPr>
              <a:t>Racing</a:t>
            </a:r>
            <a:endParaRPr lang="en-US" sz="1200" dirty="0"/>
          </a:p>
        </p:txBody>
      </p:sp>
      <p:sp>
        <p:nvSpPr>
          <p:cNvPr id="32" name="Text 29"/>
          <p:cNvSpPr/>
          <p:nvPr/>
        </p:nvSpPr>
        <p:spPr>
          <a:xfrm>
            <a:off x="2834640" y="5074920"/>
            <a:ext cx="374904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Mario Kart</a:t>
            </a:r>
            <a:endParaRPr lang="en-US" sz="1500" dirty="0"/>
          </a:p>
        </p:txBody>
      </p:sp>
      <p:sp>
        <p:nvSpPr>
          <p:cNvPr id="33" name="Text 30"/>
          <p:cNvSpPr/>
          <p:nvPr/>
        </p:nvSpPr>
        <p:spPr>
          <a:xfrm>
            <a:off x="6537960" y="5074920"/>
            <a:ext cx="457200" cy="530352"/>
          </a:xfrm>
          <a:prstGeom prst="rect">
            <a:avLst/>
          </a:prstGeom>
          <a:noFill/>
          <a:ln/>
        </p:spPr>
        <p:txBody>
          <a:bodyPr wrap="square" lIns="0" tIns="0" rIns="0" bIns="0" rtlCol="0" anchor="ctr"/>
          <a:lstStyle/>
          <a:p>
            <a:pPr algn="ctr" indent="0" marL="0">
              <a:buNone/>
            </a:pPr>
            <a:r>
              <a:rPr lang="en-US" sz="1300" i="1" dirty="0">
                <a:solidFill>
                  <a:srgbClr val="5A5A6E"/>
                </a:solidFill>
                <a:latin typeface="Calibri" pitchFamily="34" charset="0"/>
                <a:ea typeface="Calibri" pitchFamily="34" charset="-122"/>
                <a:cs typeface="Calibri" pitchFamily="34" charset="-120"/>
              </a:rPr>
              <a:t>vs</a:t>
            </a:r>
            <a:endParaRPr lang="en-US" sz="1300" dirty="0"/>
          </a:p>
        </p:txBody>
      </p:sp>
      <p:sp>
        <p:nvSpPr>
          <p:cNvPr id="34" name="Text 31"/>
          <p:cNvSpPr/>
          <p:nvPr/>
        </p:nvSpPr>
        <p:spPr>
          <a:xfrm>
            <a:off x="7040880" y="5074920"/>
            <a:ext cx="3657600" cy="530352"/>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Forza Horizon</a:t>
            </a:r>
            <a:endParaRPr lang="en-US" sz="15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6</a:t>
            </a:r>
            <a:endParaRPr lang="en-US" sz="900" dirty="0"/>
          </a:p>
        </p:txBody>
      </p:sp>
      <p:sp>
        <p:nvSpPr>
          <p:cNvPr id="9" name="Shape 6"/>
          <p:cNvSpPr/>
          <p:nvPr/>
        </p:nvSpPr>
        <p:spPr>
          <a:xfrm>
            <a:off x="457200" y="960120"/>
            <a:ext cx="457200" cy="457200"/>
          </a:xfrm>
          <a:prstGeom prst="ellipse">
            <a:avLst/>
          </a:prstGeom>
          <a:solidFill>
            <a:srgbClr val="4361EE"/>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The Critique Sentence Frame</a:t>
            </a:r>
            <a:endParaRPr lang="en-US" sz="3200" dirty="0"/>
          </a:p>
        </p:txBody>
      </p:sp>
      <p:sp>
        <p:nvSpPr>
          <p:cNvPr id="12" name="Text 9"/>
          <p:cNvSpPr/>
          <p:nvPr/>
        </p:nvSpPr>
        <p:spPr>
          <a:xfrm>
            <a:off x="457200" y="1600200"/>
            <a:ext cx="5486400" cy="292608"/>
          </a:xfrm>
          <a:prstGeom prst="rect">
            <a:avLst/>
          </a:prstGeom>
          <a:noFill/>
          <a:ln/>
        </p:spPr>
        <p:txBody>
          <a:bodyPr wrap="square" lIns="0" tIns="0" rIns="0" bIns="0" rtlCol="0" anchor="ctr"/>
          <a:lstStyle/>
          <a:p>
            <a:pPr indent="0" marL="0">
              <a:buNone/>
            </a:pPr>
            <a:r>
              <a:rPr lang="en-US" sz="1100" b="1" dirty="0">
                <a:solidFill>
                  <a:srgbClr val="F59E0B"/>
                </a:solidFill>
                <a:latin typeface="Courier New" pitchFamily="34" charset="0"/>
                <a:ea typeface="Courier New" pitchFamily="34" charset="-122"/>
                <a:cs typeface="Courier New" pitchFamily="34" charset="-120"/>
              </a:rPr>
              <a:t>COPY THIS INTO YOUR WORKBOOK</a:t>
            </a:r>
            <a:endParaRPr lang="en-US" sz="1100" dirty="0"/>
          </a:p>
        </p:txBody>
      </p:sp>
      <p:sp>
        <p:nvSpPr>
          <p:cNvPr id="13" name="Shape 10"/>
          <p:cNvSpPr/>
          <p:nvPr/>
        </p:nvSpPr>
        <p:spPr>
          <a:xfrm>
            <a:off x="457200" y="1965960"/>
            <a:ext cx="10332720" cy="1417320"/>
          </a:xfrm>
          <a:prstGeom prst="roundRect">
            <a:avLst>
              <a:gd name="adj" fmla="val 6452"/>
            </a:avLst>
          </a:prstGeom>
          <a:solidFill>
            <a:srgbClr val="EFF2FF"/>
          </a:solidFill>
          <a:ln w="19050">
            <a:solidFill>
              <a:srgbClr val="4361EE"/>
            </a:solidFill>
            <a:prstDash val="solid"/>
          </a:ln>
        </p:spPr>
      </p:sp>
      <p:sp>
        <p:nvSpPr>
          <p:cNvPr id="14" name="Text 11"/>
          <p:cNvSpPr/>
          <p:nvPr/>
        </p:nvSpPr>
        <p:spPr>
          <a:xfrm>
            <a:off x="731520" y="2194560"/>
            <a:ext cx="9784080" cy="1005840"/>
          </a:xfrm>
          <a:prstGeom prst="rect">
            <a:avLst/>
          </a:prstGeom>
          <a:noFill/>
          <a:ln/>
        </p:spPr>
        <p:txBody>
          <a:bodyPr wrap="square" lIns="0" tIns="0" rIns="0" bIns="0" rtlCol="0" anchor="ctr"/>
          <a:lstStyle/>
          <a:p>
            <a:pPr indent="0" marL="0">
              <a:buNone/>
            </a:pPr>
            <a:r>
              <a:rPr lang="en-US" sz="1900" dirty="0">
                <a:solidFill>
                  <a:srgbClr val="1A1A2E"/>
                </a:solidFill>
                <a:latin typeface="Calibri" pitchFamily="34" charset="0"/>
                <a:ea typeface="Calibri" pitchFamily="34" charset="-122"/>
                <a:cs typeface="Calibri" pitchFamily="34" charset="-120"/>
              </a:rPr>
              <a:t>[Game A]’s </a:t>
            </a:r>
            <a:pPr indent="0" marL="0">
              <a:buNone/>
            </a:pPr>
            <a:r>
              <a:rPr lang="en-US" sz="1900" b="1" dirty="0">
                <a:solidFill>
                  <a:srgbClr val="4361EE"/>
                </a:solidFill>
                <a:latin typeface="Calibri" pitchFamily="34" charset="0"/>
                <a:ea typeface="Calibri" pitchFamily="34" charset="-122"/>
                <a:cs typeface="Calibri" pitchFamily="34" charset="-120"/>
              </a:rPr>
              <a:t>[element]</a:t>
            </a:r>
            <a:pPr indent="0" marL="0">
              <a:buNone/>
            </a:pPr>
            <a:r>
              <a:rPr lang="en-US" sz="1900" dirty="0">
                <a:solidFill>
                  <a:srgbClr val="1A1A2E"/>
                </a:solidFill>
                <a:latin typeface="Calibri" pitchFamily="34" charset="0"/>
                <a:ea typeface="Calibri" pitchFamily="34" charset="-122"/>
                <a:cs typeface="Calibri" pitchFamily="34" charset="-120"/>
              </a:rPr>
              <a:t> works better than [Game B]’s because </a:t>
            </a:r>
            <a:pPr indent="0" marL="0">
              <a:buNone/>
            </a:pPr>
            <a:r>
              <a:rPr lang="en-US" sz="1900" b="1" dirty="0">
                <a:solidFill>
                  <a:srgbClr val="10B981"/>
                </a:solidFill>
                <a:latin typeface="Calibri" pitchFamily="34" charset="0"/>
                <a:ea typeface="Calibri" pitchFamily="34" charset="-122"/>
                <a:cs typeface="Calibri" pitchFamily="34" charset="-120"/>
              </a:rPr>
              <a:t>[evidence]</a:t>
            </a:r>
            <a:pPr indent="0" marL="0">
              <a:buNone/>
            </a:pPr>
            <a:r>
              <a:rPr lang="en-US" sz="1900" dirty="0">
                <a:solidFill>
                  <a:srgbClr val="1A1A2E"/>
                </a:solidFill>
                <a:latin typeface="Calibri" pitchFamily="34" charset="0"/>
                <a:ea typeface="Calibri" pitchFamily="34" charset="-122"/>
                <a:cs typeface="Calibri" pitchFamily="34" charset="-120"/>
              </a:rPr>
              <a:t>, which means </a:t>
            </a:r>
            <a:pPr indent="0" marL="0">
              <a:buNone/>
            </a:pPr>
            <a:r>
              <a:rPr lang="en-US" sz="1900" b="1" dirty="0">
                <a:solidFill>
                  <a:srgbClr val="8B5CF6"/>
                </a:solidFill>
                <a:latin typeface="Calibri" pitchFamily="34" charset="0"/>
                <a:ea typeface="Calibri" pitchFamily="34" charset="-122"/>
                <a:cs typeface="Calibri" pitchFamily="34" charset="-120"/>
              </a:rPr>
              <a:t>[effect on the player]</a:t>
            </a:r>
            <a:pPr indent="0" marL="0">
              <a:buNone/>
            </a:pPr>
            <a:r>
              <a:rPr lang="en-US" sz="1900" dirty="0">
                <a:solidFill>
                  <a:srgbClr val="1A1A2E"/>
                </a:solidFill>
                <a:latin typeface="Calibri" pitchFamily="34" charset="0"/>
                <a:ea typeface="Calibri" pitchFamily="34" charset="-122"/>
                <a:cs typeface="Calibri" pitchFamily="34" charset="-120"/>
              </a:rPr>
              <a:t>.</a:t>
            </a:r>
            <a:endParaRPr lang="en-US" sz="1900" dirty="0"/>
          </a:p>
        </p:txBody>
      </p:sp>
      <p:sp>
        <p:nvSpPr>
          <p:cNvPr id="15" name="Text 12"/>
          <p:cNvSpPr/>
          <p:nvPr/>
        </p:nvSpPr>
        <p:spPr>
          <a:xfrm>
            <a:off x="457200" y="3657600"/>
            <a:ext cx="10332720" cy="914400"/>
          </a:xfrm>
          <a:prstGeom prst="rect">
            <a:avLst/>
          </a:prstGeom>
          <a:noFill/>
          <a:ln/>
        </p:spPr>
        <p:txBody>
          <a:bodyPr wrap="square" lIns="0" tIns="0" rIns="0" bIns="0" rtlCol="0" anchor="ctr"/>
          <a:lstStyle/>
          <a:p>
            <a:pPr indent="0" marL="0">
              <a:buNone/>
            </a:pPr>
            <a:r>
              <a:rPr lang="en-US" sz="1600" i="1" dirty="0">
                <a:solidFill>
                  <a:srgbClr val="5A5A6E"/>
                </a:solidFill>
                <a:latin typeface="Calibri" pitchFamily="34" charset="0"/>
                <a:ea typeface="Calibri" pitchFamily="34" charset="-122"/>
                <a:cs typeface="Calibri" pitchFamily="34" charset="-120"/>
              </a:rPr>
              <a:t>Worked line: "Celeste’s challenge works better than Super Mario Bros.’ because it offers an optional assist mode, which means players of very different skill levels can still reach the same objective."</a:t>
            </a:r>
            <a:endParaRPr lang="en-US" sz="1600" dirty="0"/>
          </a:p>
        </p:txBody>
      </p:sp>
      <p:sp>
        <p:nvSpPr>
          <p:cNvPr id="16" name="Text 13"/>
          <p:cNvSpPr/>
          <p:nvPr/>
        </p:nvSpPr>
        <p:spPr>
          <a:xfrm>
            <a:off x="457200" y="4709160"/>
            <a:ext cx="10332720" cy="457200"/>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This is the exact structure you’ll use in today’s application task — and it’s in your workbook as a reusable sentence starter.</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7</a:t>
            </a:r>
            <a:endParaRPr lang="en-US" sz="900" dirty="0"/>
          </a:p>
        </p:txBody>
      </p:sp>
      <p:sp>
        <p:nvSpPr>
          <p:cNvPr id="9" name="Shape 6"/>
          <p:cNvSpPr/>
          <p:nvPr/>
        </p:nvSpPr>
        <p:spPr>
          <a:xfrm>
            <a:off x="457200" y="960120"/>
            <a:ext cx="457200" cy="457200"/>
          </a:xfrm>
          <a:prstGeom prst="ellipse">
            <a:avLst/>
          </a:prstGeom>
          <a:solidFill>
            <a:srgbClr val="4361EE"/>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2600" b="1" dirty="0">
                <a:solidFill>
                  <a:srgbClr val="1A1A2E"/>
                </a:solidFill>
                <a:latin typeface="Bookman Old Style" pitchFamily="34" charset="0"/>
                <a:ea typeface="Bookman Old Style" pitchFamily="34" charset="-122"/>
                <a:cs typeface="Bookman Old Style" pitchFamily="34" charset="-120"/>
              </a:rPr>
              <a:t>Worked Example: Mario Bros. vs. Celeste (1/2)</a:t>
            </a:r>
            <a:endParaRPr lang="en-US" sz="2600" dirty="0"/>
          </a:p>
        </p:txBody>
      </p:sp>
      <p:sp>
        <p:nvSpPr>
          <p:cNvPr id="12" name="Shape 9"/>
          <p:cNvSpPr/>
          <p:nvPr/>
        </p:nvSpPr>
        <p:spPr>
          <a:xfrm>
            <a:off x="457200" y="1737360"/>
            <a:ext cx="2377440" cy="457200"/>
          </a:xfrm>
          <a:prstGeom prst="roundRect">
            <a:avLst>
              <a:gd name="adj" fmla="val 12000"/>
            </a:avLst>
          </a:prstGeom>
          <a:solidFill>
            <a:srgbClr val="1A1A2E"/>
          </a:solidFill>
          <a:ln/>
        </p:spPr>
      </p:sp>
      <p:sp>
        <p:nvSpPr>
          <p:cNvPr id="13" name="Text 10"/>
          <p:cNvSpPr/>
          <p:nvPr/>
        </p:nvSpPr>
        <p:spPr>
          <a:xfrm>
            <a:off x="457200" y="1737360"/>
            <a:ext cx="23774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Element</a:t>
            </a:r>
            <a:endParaRPr lang="en-US" sz="1300" dirty="0"/>
          </a:p>
        </p:txBody>
      </p:sp>
      <p:sp>
        <p:nvSpPr>
          <p:cNvPr id="14" name="Shape 11"/>
          <p:cNvSpPr/>
          <p:nvPr/>
        </p:nvSpPr>
        <p:spPr>
          <a:xfrm>
            <a:off x="2880360" y="1737360"/>
            <a:ext cx="3886200" cy="457200"/>
          </a:xfrm>
          <a:prstGeom prst="roundRect">
            <a:avLst>
              <a:gd name="adj" fmla="val 12000"/>
            </a:avLst>
          </a:prstGeom>
          <a:solidFill>
            <a:srgbClr val="10B981"/>
          </a:solidFill>
          <a:ln/>
        </p:spPr>
      </p:sp>
      <p:sp>
        <p:nvSpPr>
          <p:cNvPr id="15" name="Text 12"/>
          <p:cNvSpPr/>
          <p:nvPr/>
        </p:nvSpPr>
        <p:spPr>
          <a:xfrm>
            <a:off x="2880360" y="1737360"/>
            <a:ext cx="3886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Super Mario Bros.</a:t>
            </a:r>
            <a:endParaRPr lang="en-US" sz="1300" dirty="0"/>
          </a:p>
        </p:txBody>
      </p:sp>
      <p:sp>
        <p:nvSpPr>
          <p:cNvPr id="16" name="Shape 13"/>
          <p:cNvSpPr/>
          <p:nvPr/>
        </p:nvSpPr>
        <p:spPr>
          <a:xfrm>
            <a:off x="6812280" y="1737360"/>
            <a:ext cx="3977640" cy="457200"/>
          </a:xfrm>
          <a:prstGeom prst="roundRect">
            <a:avLst>
              <a:gd name="adj" fmla="val 12000"/>
            </a:avLst>
          </a:prstGeom>
          <a:solidFill>
            <a:srgbClr val="8B5CF6"/>
          </a:solidFill>
          <a:ln/>
        </p:spPr>
      </p:sp>
      <p:sp>
        <p:nvSpPr>
          <p:cNvPr id="17" name="Text 14"/>
          <p:cNvSpPr/>
          <p:nvPr/>
        </p:nvSpPr>
        <p:spPr>
          <a:xfrm>
            <a:off x="6812280" y="1737360"/>
            <a:ext cx="3977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Celeste</a:t>
            </a:r>
            <a:endParaRPr lang="en-US" sz="1300" dirty="0"/>
          </a:p>
        </p:txBody>
      </p:sp>
      <p:sp>
        <p:nvSpPr>
          <p:cNvPr id="18" name="Shape 15"/>
          <p:cNvSpPr/>
          <p:nvPr/>
        </p:nvSpPr>
        <p:spPr>
          <a:xfrm>
            <a:off x="457200" y="2286000"/>
            <a:ext cx="10332720" cy="1005840"/>
          </a:xfrm>
          <a:prstGeom prst="rect">
            <a:avLst/>
          </a:prstGeom>
          <a:solidFill>
            <a:srgbClr val="FFFFFF"/>
          </a:solidFill>
          <a:ln w="9525">
            <a:solidFill>
              <a:srgbClr val="DCE0EA"/>
            </a:solidFill>
            <a:prstDash val="solid"/>
          </a:ln>
        </p:spPr>
      </p:sp>
      <p:sp>
        <p:nvSpPr>
          <p:cNvPr id="19" name="Text 16"/>
          <p:cNvSpPr/>
          <p:nvPr/>
        </p:nvSpPr>
        <p:spPr>
          <a:xfrm>
            <a:off x="594360" y="2286000"/>
            <a:ext cx="2103120" cy="1005840"/>
          </a:xfrm>
          <a:prstGeom prst="rect">
            <a:avLst/>
          </a:prstGeom>
          <a:noFill/>
          <a:ln/>
        </p:spPr>
        <p:txBody>
          <a:bodyPr wrap="square" lIns="0" tIns="0" rIns="0" bIns="0" rtlCol="0" anchor="ctr"/>
          <a:lstStyle/>
          <a:p>
            <a:pPr indent="0" marL="0">
              <a:buNone/>
            </a:pPr>
            <a:r>
              <a:rPr lang="en-US" sz="1400" b="1" dirty="0">
                <a:solidFill>
                  <a:srgbClr val="4361EE"/>
                </a:solidFill>
                <a:latin typeface="Calibri" pitchFamily="34" charset="0"/>
                <a:ea typeface="Calibri" pitchFamily="34" charset="-122"/>
                <a:cs typeface="Calibri" pitchFamily="34" charset="-120"/>
              </a:rPr>
              <a:t>Objective</a:t>
            </a:r>
            <a:endParaRPr lang="en-US" sz="1400" dirty="0"/>
          </a:p>
        </p:txBody>
      </p:sp>
      <p:sp>
        <p:nvSpPr>
          <p:cNvPr id="20" name="Text 17"/>
          <p:cNvSpPr/>
          <p:nvPr/>
        </p:nvSpPr>
        <p:spPr>
          <a:xfrm>
            <a:off x="2880360" y="2286000"/>
            <a:ext cx="379476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Reach the flag at the end of each level.</a:t>
            </a:r>
            <a:endParaRPr lang="en-US" sz="1300" dirty="0"/>
          </a:p>
        </p:txBody>
      </p:sp>
      <p:sp>
        <p:nvSpPr>
          <p:cNvPr id="21" name="Text 18"/>
          <p:cNvSpPr/>
          <p:nvPr/>
        </p:nvSpPr>
        <p:spPr>
          <a:xfrm>
            <a:off x="6812280" y="2286000"/>
            <a:ext cx="388620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Reach the top of the mountain, level by level.</a:t>
            </a:r>
            <a:endParaRPr lang="en-US" sz="1300" dirty="0"/>
          </a:p>
        </p:txBody>
      </p:sp>
      <p:sp>
        <p:nvSpPr>
          <p:cNvPr id="22" name="Shape 19"/>
          <p:cNvSpPr/>
          <p:nvPr/>
        </p:nvSpPr>
        <p:spPr>
          <a:xfrm>
            <a:off x="457200" y="3364992"/>
            <a:ext cx="10332720" cy="1005840"/>
          </a:xfrm>
          <a:prstGeom prst="rect">
            <a:avLst/>
          </a:prstGeom>
          <a:solidFill>
            <a:srgbClr val="F7F8FC"/>
          </a:solidFill>
          <a:ln w="9525">
            <a:solidFill>
              <a:srgbClr val="DCE0EA"/>
            </a:solidFill>
            <a:prstDash val="solid"/>
          </a:ln>
        </p:spPr>
      </p:sp>
      <p:sp>
        <p:nvSpPr>
          <p:cNvPr id="23" name="Text 20"/>
          <p:cNvSpPr/>
          <p:nvPr/>
        </p:nvSpPr>
        <p:spPr>
          <a:xfrm>
            <a:off x="594360" y="3364992"/>
            <a:ext cx="2103120" cy="1005840"/>
          </a:xfrm>
          <a:prstGeom prst="rect">
            <a:avLst/>
          </a:prstGeom>
          <a:noFill/>
          <a:ln/>
        </p:spPr>
        <p:txBody>
          <a:bodyPr wrap="square" lIns="0" tIns="0" rIns="0" bIns="0" rtlCol="0" anchor="ctr"/>
          <a:lstStyle/>
          <a:p>
            <a:pPr indent="0" marL="0">
              <a:buNone/>
            </a:pPr>
            <a:r>
              <a:rPr lang="en-US" sz="1400" b="1" dirty="0">
                <a:solidFill>
                  <a:srgbClr val="4361EE"/>
                </a:solidFill>
                <a:latin typeface="Calibri" pitchFamily="34" charset="0"/>
                <a:ea typeface="Calibri" pitchFamily="34" charset="-122"/>
                <a:cs typeface="Calibri" pitchFamily="34" charset="-120"/>
              </a:rPr>
              <a:t>Rules</a:t>
            </a:r>
            <a:endParaRPr lang="en-US" sz="1400" dirty="0"/>
          </a:p>
        </p:txBody>
      </p:sp>
      <p:sp>
        <p:nvSpPr>
          <p:cNvPr id="24" name="Text 21"/>
          <p:cNvSpPr/>
          <p:nvPr/>
        </p:nvSpPr>
        <p:spPr>
          <a:xfrm>
            <a:off x="2880360" y="3364992"/>
            <a:ext cx="379476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One hit from most enemies ends the attempt.</a:t>
            </a:r>
            <a:endParaRPr lang="en-US" sz="1300" dirty="0"/>
          </a:p>
        </p:txBody>
      </p:sp>
      <p:sp>
        <p:nvSpPr>
          <p:cNvPr id="25" name="Text 22"/>
          <p:cNvSpPr/>
          <p:nvPr/>
        </p:nvSpPr>
        <p:spPr>
          <a:xfrm>
            <a:off x="6812280" y="3364992"/>
            <a:ext cx="388620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Unlimited retries — death has almost no cost.</a:t>
            </a:r>
            <a:endParaRPr lang="en-US" sz="1300" dirty="0"/>
          </a:p>
        </p:txBody>
      </p:sp>
      <p:sp>
        <p:nvSpPr>
          <p:cNvPr id="26" name="Shape 23"/>
          <p:cNvSpPr/>
          <p:nvPr/>
        </p:nvSpPr>
        <p:spPr>
          <a:xfrm>
            <a:off x="457200" y="4443984"/>
            <a:ext cx="10332720" cy="1005840"/>
          </a:xfrm>
          <a:prstGeom prst="rect">
            <a:avLst/>
          </a:prstGeom>
          <a:solidFill>
            <a:srgbClr val="FFFFFF"/>
          </a:solidFill>
          <a:ln w="9525">
            <a:solidFill>
              <a:srgbClr val="DCE0EA"/>
            </a:solidFill>
            <a:prstDash val="solid"/>
          </a:ln>
        </p:spPr>
      </p:sp>
      <p:sp>
        <p:nvSpPr>
          <p:cNvPr id="27" name="Text 24"/>
          <p:cNvSpPr/>
          <p:nvPr/>
        </p:nvSpPr>
        <p:spPr>
          <a:xfrm>
            <a:off x="594360" y="4443984"/>
            <a:ext cx="2103120" cy="1005840"/>
          </a:xfrm>
          <a:prstGeom prst="rect">
            <a:avLst/>
          </a:prstGeom>
          <a:noFill/>
          <a:ln/>
        </p:spPr>
        <p:txBody>
          <a:bodyPr wrap="square" lIns="0" tIns="0" rIns="0" bIns="0" rtlCol="0" anchor="ctr"/>
          <a:lstStyle/>
          <a:p>
            <a:pPr indent="0" marL="0">
              <a:buNone/>
            </a:pPr>
            <a:r>
              <a:rPr lang="en-US" sz="1400" b="1" dirty="0">
                <a:solidFill>
                  <a:srgbClr val="4361EE"/>
                </a:solidFill>
                <a:latin typeface="Calibri" pitchFamily="34" charset="0"/>
                <a:ea typeface="Calibri" pitchFamily="34" charset="-122"/>
                <a:cs typeface="Calibri" pitchFamily="34" charset="-120"/>
              </a:rPr>
              <a:t>Mechanics</a:t>
            </a:r>
            <a:endParaRPr lang="en-US" sz="1400" dirty="0"/>
          </a:p>
        </p:txBody>
      </p:sp>
      <p:sp>
        <p:nvSpPr>
          <p:cNvPr id="28" name="Text 25"/>
          <p:cNvSpPr/>
          <p:nvPr/>
        </p:nvSpPr>
        <p:spPr>
          <a:xfrm>
            <a:off x="2880360" y="4443984"/>
            <a:ext cx="379476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Run, jump, stomp — simple, fixed toolkit.</a:t>
            </a:r>
            <a:endParaRPr lang="en-US" sz="1300" dirty="0"/>
          </a:p>
        </p:txBody>
      </p:sp>
      <p:sp>
        <p:nvSpPr>
          <p:cNvPr id="29" name="Text 26"/>
          <p:cNvSpPr/>
          <p:nvPr/>
        </p:nvSpPr>
        <p:spPr>
          <a:xfrm>
            <a:off x="6812280" y="4443984"/>
            <a:ext cx="388620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Run, jump, climb, air-dash — dash adds precision options.</a:t>
            </a:r>
            <a:endParaRPr lang="en-US" sz="1300" dirty="0"/>
          </a:p>
        </p:txBody>
      </p:sp>
      <p:sp>
        <p:nvSpPr>
          <p:cNvPr id="30" name="Text 27"/>
          <p:cNvSpPr/>
          <p:nvPr/>
        </p:nvSpPr>
        <p:spPr>
          <a:xfrm>
            <a:off x="457200" y="5074920"/>
            <a:ext cx="10332720" cy="548640"/>
          </a:xfrm>
          <a:prstGeom prst="rect">
            <a:avLst/>
          </a:prstGeom>
          <a:noFill/>
          <a:ln/>
        </p:spPr>
        <p:txBody>
          <a:bodyPr wrap="square" lIns="0" tIns="0" rIns="0" bIns="0" rtlCol="0" anchor="ctr"/>
          <a:lstStyle/>
          <a:p>
            <a:pPr indent="0" marL="0">
              <a:buNone/>
            </a:pPr>
            <a:r>
              <a:rPr lang="en-US" sz="1500" i="1" dirty="0">
                <a:solidFill>
                  <a:srgbClr val="5A5A6E"/>
                </a:solidFill>
                <a:latin typeface="Calibri" pitchFamily="34" charset="0"/>
                <a:ea typeface="Calibri" pitchFamily="34" charset="-122"/>
                <a:cs typeface="Calibri" pitchFamily="34" charset="-120"/>
              </a:rPr>
              <a:t>We’ll finish Challenge, Narrative, Aesthetics and Feedback on the next slide — then turn it into a critique judgement together.</a:t>
            </a:r>
            <a:endParaRPr lang="en-US" sz="15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4361EE"/>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4361EE"/>
                </a:solidFill>
                <a:latin typeface="Courier New" pitchFamily="34" charset="0"/>
                <a:ea typeface="Courier New" pitchFamily="34" charset="-122"/>
                <a:cs typeface="Courier New" pitchFamily="34" charset="-120"/>
              </a:rPr>
              <a:t>EXPLAIN &amp; MODEL</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8</a:t>
            </a:r>
            <a:endParaRPr lang="en-US" sz="900" dirty="0"/>
          </a:p>
        </p:txBody>
      </p:sp>
      <p:sp>
        <p:nvSpPr>
          <p:cNvPr id="9" name="Shape 6"/>
          <p:cNvSpPr/>
          <p:nvPr/>
        </p:nvSpPr>
        <p:spPr>
          <a:xfrm>
            <a:off x="457200" y="960120"/>
            <a:ext cx="457200" cy="457200"/>
          </a:xfrm>
          <a:prstGeom prst="ellipse">
            <a:avLst/>
          </a:prstGeom>
          <a:solidFill>
            <a:srgbClr val="4361EE"/>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2600" b="1" dirty="0">
                <a:solidFill>
                  <a:srgbClr val="1A1A2E"/>
                </a:solidFill>
                <a:latin typeface="Bookman Old Style" pitchFamily="34" charset="0"/>
                <a:ea typeface="Bookman Old Style" pitchFamily="34" charset="-122"/>
                <a:cs typeface="Bookman Old Style" pitchFamily="34" charset="-120"/>
              </a:rPr>
              <a:t>Worked Example: Mario Bros. vs. Celeste (2/2)</a:t>
            </a:r>
            <a:endParaRPr lang="en-US" sz="2600" dirty="0"/>
          </a:p>
        </p:txBody>
      </p:sp>
      <p:sp>
        <p:nvSpPr>
          <p:cNvPr id="12" name="Shape 9"/>
          <p:cNvSpPr/>
          <p:nvPr/>
        </p:nvSpPr>
        <p:spPr>
          <a:xfrm>
            <a:off x="457200" y="1737360"/>
            <a:ext cx="2377440" cy="457200"/>
          </a:xfrm>
          <a:prstGeom prst="roundRect">
            <a:avLst>
              <a:gd name="adj" fmla="val 12000"/>
            </a:avLst>
          </a:prstGeom>
          <a:solidFill>
            <a:srgbClr val="1A1A2E"/>
          </a:solidFill>
          <a:ln/>
        </p:spPr>
      </p:sp>
      <p:sp>
        <p:nvSpPr>
          <p:cNvPr id="13" name="Text 10"/>
          <p:cNvSpPr/>
          <p:nvPr/>
        </p:nvSpPr>
        <p:spPr>
          <a:xfrm>
            <a:off x="457200" y="1737360"/>
            <a:ext cx="23774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Element</a:t>
            </a:r>
            <a:endParaRPr lang="en-US" sz="1300" dirty="0"/>
          </a:p>
        </p:txBody>
      </p:sp>
      <p:sp>
        <p:nvSpPr>
          <p:cNvPr id="14" name="Shape 11"/>
          <p:cNvSpPr/>
          <p:nvPr/>
        </p:nvSpPr>
        <p:spPr>
          <a:xfrm>
            <a:off x="2880360" y="1737360"/>
            <a:ext cx="3886200" cy="457200"/>
          </a:xfrm>
          <a:prstGeom prst="roundRect">
            <a:avLst>
              <a:gd name="adj" fmla="val 12000"/>
            </a:avLst>
          </a:prstGeom>
          <a:solidFill>
            <a:srgbClr val="10B981"/>
          </a:solidFill>
          <a:ln/>
        </p:spPr>
      </p:sp>
      <p:sp>
        <p:nvSpPr>
          <p:cNvPr id="15" name="Text 12"/>
          <p:cNvSpPr/>
          <p:nvPr/>
        </p:nvSpPr>
        <p:spPr>
          <a:xfrm>
            <a:off x="2880360" y="1737360"/>
            <a:ext cx="388620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Super Mario Bros.</a:t>
            </a:r>
            <a:endParaRPr lang="en-US" sz="1300" dirty="0"/>
          </a:p>
        </p:txBody>
      </p:sp>
      <p:sp>
        <p:nvSpPr>
          <p:cNvPr id="16" name="Shape 13"/>
          <p:cNvSpPr/>
          <p:nvPr/>
        </p:nvSpPr>
        <p:spPr>
          <a:xfrm>
            <a:off x="6812280" y="1737360"/>
            <a:ext cx="3977640" cy="457200"/>
          </a:xfrm>
          <a:prstGeom prst="roundRect">
            <a:avLst>
              <a:gd name="adj" fmla="val 12000"/>
            </a:avLst>
          </a:prstGeom>
          <a:solidFill>
            <a:srgbClr val="8B5CF6"/>
          </a:solidFill>
          <a:ln/>
        </p:spPr>
      </p:sp>
      <p:sp>
        <p:nvSpPr>
          <p:cNvPr id="17" name="Text 14"/>
          <p:cNvSpPr/>
          <p:nvPr/>
        </p:nvSpPr>
        <p:spPr>
          <a:xfrm>
            <a:off x="6812280" y="1737360"/>
            <a:ext cx="3977640" cy="457200"/>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Celeste</a:t>
            </a:r>
            <a:endParaRPr lang="en-US" sz="1300" dirty="0"/>
          </a:p>
        </p:txBody>
      </p:sp>
      <p:sp>
        <p:nvSpPr>
          <p:cNvPr id="18" name="Shape 15"/>
          <p:cNvSpPr/>
          <p:nvPr/>
        </p:nvSpPr>
        <p:spPr>
          <a:xfrm>
            <a:off x="457200" y="2286000"/>
            <a:ext cx="10332720" cy="1005840"/>
          </a:xfrm>
          <a:prstGeom prst="rect">
            <a:avLst/>
          </a:prstGeom>
          <a:solidFill>
            <a:srgbClr val="FFFFFF"/>
          </a:solidFill>
          <a:ln w="9525">
            <a:solidFill>
              <a:srgbClr val="DCE0EA"/>
            </a:solidFill>
            <a:prstDash val="solid"/>
          </a:ln>
        </p:spPr>
      </p:sp>
      <p:sp>
        <p:nvSpPr>
          <p:cNvPr id="19" name="Text 16"/>
          <p:cNvSpPr/>
          <p:nvPr/>
        </p:nvSpPr>
        <p:spPr>
          <a:xfrm>
            <a:off x="594360" y="2286000"/>
            <a:ext cx="2103120" cy="1005840"/>
          </a:xfrm>
          <a:prstGeom prst="rect">
            <a:avLst/>
          </a:prstGeom>
          <a:noFill/>
          <a:ln/>
        </p:spPr>
        <p:txBody>
          <a:bodyPr wrap="square" lIns="0" tIns="0" rIns="0" bIns="0" rtlCol="0" anchor="ctr"/>
          <a:lstStyle/>
          <a:p>
            <a:pPr indent="0" marL="0">
              <a:buNone/>
            </a:pPr>
            <a:r>
              <a:rPr lang="en-US" sz="1400" b="1" dirty="0">
                <a:solidFill>
                  <a:srgbClr val="4361EE"/>
                </a:solidFill>
                <a:latin typeface="Calibri" pitchFamily="34" charset="0"/>
                <a:ea typeface="Calibri" pitchFamily="34" charset="-122"/>
                <a:cs typeface="Calibri" pitchFamily="34" charset="-120"/>
              </a:rPr>
              <a:t>Challenge</a:t>
            </a:r>
            <a:endParaRPr lang="en-US" sz="1400" dirty="0"/>
          </a:p>
        </p:txBody>
      </p:sp>
      <p:sp>
        <p:nvSpPr>
          <p:cNvPr id="20" name="Text 17"/>
          <p:cNvSpPr/>
          <p:nvPr/>
        </p:nvSpPr>
        <p:spPr>
          <a:xfrm>
            <a:off x="2880360" y="2286000"/>
            <a:ext cx="379476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Fixed difficulty — no way to ease a hard section.</a:t>
            </a:r>
            <a:endParaRPr lang="en-US" sz="1300" dirty="0"/>
          </a:p>
        </p:txBody>
      </p:sp>
      <p:sp>
        <p:nvSpPr>
          <p:cNvPr id="21" name="Text 18"/>
          <p:cNvSpPr/>
          <p:nvPr/>
        </p:nvSpPr>
        <p:spPr>
          <a:xfrm>
            <a:off x="6812280" y="2286000"/>
            <a:ext cx="388620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Optional Assist Mode adjusts speed/invincibility.</a:t>
            </a:r>
            <a:endParaRPr lang="en-US" sz="1300" dirty="0"/>
          </a:p>
        </p:txBody>
      </p:sp>
      <p:sp>
        <p:nvSpPr>
          <p:cNvPr id="22" name="Shape 19"/>
          <p:cNvSpPr/>
          <p:nvPr/>
        </p:nvSpPr>
        <p:spPr>
          <a:xfrm>
            <a:off x="457200" y="3364992"/>
            <a:ext cx="10332720" cy="1005840"/>
          </a:xfrm>
          <a:prstGeom prst="rect">
            <a:avLst/>
          </a:prstGeom>
          <a:solidFill>
            <a:srgbClr val="F7F8FC"/>
          </a:solidFill>
          <a:ln w="9525">
            <a:solidFill>
              <a:srgbClr val="DCE0EA"/>
            </a:solidFill>
            <a:prstDash val="solid"/>
          </a:ln>
        </p:spPr>
      </p:sp>
      <p:sp>
        <p:nvSpPr>
          <p:cNvPr id="23" name="Text 20"/>
          <p:cNvSpPr/>
          <p:nvPr/>
        </p:nvSpPr>
        <p:spPr>
          <a:xfrm>
            <a:off x="594360" y="3364992"/>
            <a:ext cx="2103120" cy="1005840"/>
          </a:xfrm>
          <a:prstGeom prst="rect">
            <a:avLst/>
          </a:prstGeom>
          <a:noFill/>
          <a:ln/>
        </p:spPr>
        <p:txBody>
          <a:bodyPr wrap="square" lIns="0" tIns="0" rIns="0" bIns="0" rtlCol="0" anchor="ctr"/>
          <a:lstStyle/>
          <a:p>
            <a:pPr indent="0" marL="0">
              <a:buNone/>
            </a:pPr>
            <a:r>
              <a:rPr lang="en-US" sz="1400" b="1" dirty="0">
                <a:solidFill>
                  <a:srgbClr val="4361EE"/>
                </a:solidFill>
                <a:latin typeface="Calibri" pitchFamily="34" charset="0"/>
                <a:ea typeface="Calibri" pitchFamily="34" charset="-122"/>
                <a:cs typeface="Calibri" pitchFamily="34" charset="-120"/>
              </a:rPr>
              <a:t>Narrative</a:t>
            </a:r>
            <a:endParaRPr lang="en-US" sz="1400" dirty="0"/>
          </a:p>
        </p:txBody>
      </p:sp>
      <p:sp>
        <p:nvSpPr>
          <p:cNvPr id="24" name="Text 21"/>
          <p:cNvSpPr/>
          <p:nvPr/>
        </p:nvSpPr>
        <p:spPr>
          <a:xfrm>
            <a:off x="2880360" y="3364992"/>
            <a:ext cx="379476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Rescue the princess — minimal, functional.</a:t>
            </a:r>
            <a:endParaRPr lang="en-US" sz="1300" dirty="0"/>
          </a:p>
        </p:txBody>
      </p:sp>
      <p:sp>
        <p:nvSpPr>
          <p:cNvPr id="25" name="Text 22"/>
          <p:cNvSpPr/>
          <p:nvPr/>
        </p:nvSpPr>
        <p:spPr>
          <a:xfrm>
            <a:off x="6812280" y="3364992"/>
            <a:ext cx="388620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A story about anxiety and self-doubt woven through levels.</a:t>
            </a:r>
            <a:endParaRPr lang="en-US" sz="1300" dirty="0"/>
          </a:p>
        </p:txBody>
      </p:sp>
      <p:sp>
        <p:nvSpPr>
          <p:cNvPr id="26" name="Shape 23"/>
          <p:cNvSpPr/>
          <p:nvPr/>
        </p:nvSpPr>
        <p:spPr>
          <a:xfrm>
            <a:off x="457200" y="4443984"/>
            <a:ext cx="10332720" cy="1005840"/>
          </a:xfrm>
          <a:prstGeom prst="rect">
            <a:avLst/>
          </a:prstGeom>
          <a:solidFill>
            <a:srgbClr val="FFFFFF"/>
          </a:solidFill>
          <a:ln w="9525">
            <a:solidFill>
              <a:srgbClr val="DCE0EA"/>
            </a:solidFill>
            <a:prstDash val="solid"/>
          </a:ln>
        </p:spPr>
      </p:sp>
      <p:sp>
        <p:nvSpPr>
          <p:cNvPr id="27" name="Text 24"/>
          <p:cNvSpPr/>
          <p:nvPr/>
        </p:nvSpPr>
        <p:spPr>
          <a:xfrm>
            <a:off x="594360" y="4443984"/>
            <a:ext cx="2103120" cy="1005840"/>
          </a:xfrm>
          <a:prstGeom prst="rect">
            <a:avLst/>
          </a:prstGeom>
          <a:noFill/>
          <a:ln/>
        </p:spPr>
        <p:txBody>
          <a:bodyPr wrap="square" lIns="0" tIns="0" rIns="0" bIns="0" rtlCol="0" anchor="ctr"/>
          <a:lstStyle/>
          <a:p>
            <a:pPr indent="0" marL="0">
              <a:buNone/>
            </a:pPr>
            <a:r>
              <a:rPr lang="en-US" sz="1400" b="1" dirty="0">
                <a:solidFill>
                  <a:srgbClr val="4361EE"/>
                </a:solidFill>
                <a:latin typeface="Calibri" pitchFamily="34" charset="0"/>
                <a:ea typeface="Calibri" pitchFamily="34" charset="-122"/>
                <a:cs typeface="Calibri" pitchFamily="34" charset="-120"/>
              </a:rPr>
              <a:t>Feedback</a:t>
            </a:r>
            <a:endParaRPr lang="en-US" sz="1400" dirty="0"/>
          </a:p>
        </p:txBody>
      </p:sp>
      <p:sp>
        <p:nvSpPr>
          <p:cNvPr id="28" name="Text 25"/>
          <p:cNvSpPr/>
          <p:nvPr/>
        </p:nvSpPr>
        <p:spPr>
          <a:xfrm>
            <a:off x="2880360" y="4443984"/>
            <a:ext cx="379476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Coin sound, life counter, simple death jingle.</a:t>
            </a:r>
            <a:endParaRPr lang="en-US" sz="1300" dirty="0"/>
          </a:p>
        </p:txBody>
      </p:sp>
      <p:sp>
        <p:nvSpPr>
          <p:cNvPr id="29" name="Text 26"/>
          <p:cNvSpPr/>
          <p:nvPr/>
        </p:nvSpPr>
        <p:spPr>
          <a:xfrm>
            <a:off x="6812280" y="4443984"/>
            <a:ext cx="3886200" cy="1005840"/>
          </a:xfrm>
          <a:prstGeom prst="rect">
            <a:avLst/>
          </a:prstGeom>
          <a:noFill/>
          <a:ln/>
        </p:spPr>
        <p:txBody>
          <a:bodyPr wrap="square" lIns="0" tIns="0" rIns="0" bIns="0" rtlCol="0" anchor="ctr"/>
          <a:lstStyle/>
          <a:p>
            <a:pPr indent="0" marL="0">
              <a:buNone/>
            </a:pPr>
            <a:r>
              <a:rPr lang="en-US" sz="1300" dirty="0">
                <a:solidFill>
                  <a:srgbClr val="1A1A2E"/>
                </a:solidFill>
                <a:latin typeface="Calibri" pitchFamily="34" charset="0"/>
                <a:ea typeface="Calibri" pitchFamily="34" charset="-122"/>
                <a:cs typeface="Calibri" pitchFamily="34" charset="-120"/>
              </a:rPr>
              <a:t>Death counter per screen — reframes failure as progress.</a:t>
            </a:r>
            <a:endParaRPr lang="en-US" sz="1300" dirty="0"/>
          </a:p>
        </p:txBody>
      </p:sp>
      <p:sp>
        <p:nvSpPr>
          <p:cNvPr id="30" name="Shape 27"/>
          <p:cNvSpPr/>
          <p:nvPr/>
        </p:nvSpPr>
        <p:spPr>
          <a:xfrm>
            <a:off x="457200" y="5074920"/>
            <a:ext cx="10332720" cy="1188720"/>
          </a:xfrm>
          <a:prstGeom prst="roundRect">
            <a:avLst>
              <a:gd name="adj" fmla="val 7692"/>
            </a:avLst>
          </a:prstGeom>
          <a:solidFill>
            <a:srgbClr val="EFF2FF"/>
          </a:solidFill>
          <a:ln w="15875">
            <a:solidFill>
              <a:srgbClr val="4361EE"/>
            </a:solidFill>
            <a:prstDash val="solid"/>
          </a:ln>
        </p:spPr>
      </p:sp>
      <p:sp>
        <p:nvSpPr>
          <p:cNvPr id="31" name="Text 28"/>
          <p:cNvSpPr/>
          <p:nvPr/>
        </p:nvSpPr>
        <p:spPr>
          <a:xfrm>
            <a:off x="685800" y="5212080"/>
            <a:ext cx="9875520" cy="914400"/>
          </a:xfrm>
          <a:prstGeom prst="rect">
            <a:avLst/>
          </a:prstGeom>
          <a:noFill/>
          <a:ln/>
        </p:spPr>
        <p:txBody>
          <a:bodyPr wrap="square" lIns="0" tIns="0" rIns="0" bIns="0" rtlCol="0" anchor="ctr"/>
          <a:lstStyle/>
          <a:p>
            <a:pPr indent="0" marL="0">
              <a:buNone/>
            </a:pPr>
            <a:r>
              <a:rPr lang="en-US" sz="1600" i="1" dirty="0">
                <a:solidFill>
                  <a:srgbClr val="1A1A2E"/>
                </a:solidFill>
                <a:latin typeface="Calibri" pitchFamily="34" charset="0"/>
                <a:ea typeface="Calibri" pitchFamily="34" charset="-122"/>
                <a:cs typeface="Calibri" pitchFamily="34" charset="-120"/>
              </a:rPr>
              <a:t>Celeste’s Challenge works better for a wider range of players than Super Mario Bros.’ because it offers an optional Assist Mode, which means players who’d otherwise quit can still experience the full narrative.</a:t>
            </a:r>
            <a:endParaRPr lang="en-US" sz="16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8B5CF6"/>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8B5CF6"/>
                </a:solidFill>
                <a:latin typeface="Courier New" pitchFamily="34" charset="0"/>
                <a:ea typeface="Courier New" pitchFamily="34" charset="-122"/>
                <a:cs typeface="Courier New" pitchFamily="34" charset="-120"/>
              </a:rPr>
              <a:t>REFLECT</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9</a:t>
            </a:r>
            <a:endParaRPr lang="en-US" sz="900" dirty="0"/>
          </a:p>
        </p:txBody>
      </p:sp>
      <p:sp>
        <p:nvSpPr>
          <p:cNvPr id="9" name="Shape 6"/>
          <p:cNvSpPr/>
          <p:nvPr/>
        </p:nvSpPr>
        <p:spPr>
          <a:xfrm>
            <a:off x="457200" y="960120"/>
            <a:ext cx="457200" cy="457200"/>
          </a:xfrm>
          <a:prstGeom prst="ellipse">
            <a:avLst/>
          </a:prstGeom>
          <a:solidFill>
            <a:srgbClr val="8B5CF6"/>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Brain Break</a:t>
            </a:r>
            <a:endParaRPr lang="en-US" sz="3200" dirty="0"/>
          </a:p>
        </p:txBody>
      </p:sp>
      <p:pic>
        <p:nvPicPr>
          <p:cNvPr id="12" name="Image 1" descr="icons/dice_8B5CF6.png">    </p:cNvPr>
          <p:cNvPicPr>
            <a:picLocks noChangeAspect="1"/>
          </p:cNvPicPr>
          <p:nvPr/>
        </p:nvPicPr>
        <p:blipFill>
          <a:blip r:embed="rId2"/>
          <a:stretch>
            <a:fillRect/>
          </a:stretch>
        </p:blipFill>
        <p:spPr>
          <a:xfrm>
            <a:off x="4937760" y="2194560"/>
            <a:ext cx="1280160" cy="1280160"/>
          </a:xfrm>
          <a:prstGeom prst="rect">
            <a:avLst/>
          </a:prstGeom>
        </p:spPr>
      </p:pic>
      <p:sp>
        <p:nvSpPr>
          <p:cNvPr id="13" name="Text 9"/>
          <p:cNvSpPr/>
          <p:nvPr/>
        </p:nvSpPr>
        <p:spPr>
          <a:xfrm>
            <a:off x="1097280" y="3657600"/>
            <a:ext cx="9966960" cy="914400"/>
          </a:xfrm>
          <a:prstGeom prst="rect">
            <a:avLst/>
          </a:prstGeom>
          <a:noFill/>
          <a:ln/>
        </p:spPr>
        <p:txBody>
          <a:bodyPr wrap="square" lIns="0" tIns="0" rIns="0" bIns="0" rtlCol="0" anchor="ctr"/>
          <a:lstStyle/>
          <a:p>
            <a:pPr algn="ctr" indent="0" marL="0">
              <a:buNone/>
            </a:pPr>
            <a:r>
              <a:rPr lang="en-US" sz="2000" dirty="0">
                <a:solidFill>
                  <a:srgbClr val="1A1A2E"/>
                </a:solidFill>
                <a:latin typeface="Calibri" pitchFamily="34" charset="0"/>
                <a:ea typeface="Calibri" pitchFamily="34" charset="-122"/>
                <a:cs typeface="Calibri" pitchFamily="34" charset="-120"/>
              </a:rPr>
              <a:t>60 seconds: as a table, name as many contrasting game pairs as you can (same genre, different execution). No repeats from the slide!</a:t>
            </a:r>
            <a:endParaRPr lang="en-US" sz="2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10B981"/>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10B981"/>
                </a:solidFill>
                <a:latin typeface="Courier New" pitchFamily="34" charset="0"/>
                <a:ea typeface="Courier New" pitchFamily="34" charset="-122"/>
                <a:cs typeface="Courier New" pitchFamily="34" charset="-120"/>
              </a:rPr>
              <a:t>APPLY</a:t>
            </a:r>
            <a:endParaRPr lang="en-US" sz="1000" dirty="0"/>
          </a:p>
        </p:txBody>
      </p:sp>
      <p:sp>
        <p:nvSpPr>
          <p:cNvPr id="4" name="Shape 2"/>
          <p:cNvSpPr/>
          <p:nvPr/>
        </p:nvSpPr>
        <p:spPr>
          <a:xfrm>
            <a:off x="9921240" y="256032"/>
            <a:ext cx="1737360" cy="329184"/>
          </a:xfrm>
          <a:prstGeom prst="roundRect">
            <a:avLst>
              <a:gd name="adj" fmla="val 50000"/>
            </a:avLst>
          </a:prstGeom>
          <a:solidFill>
            <a:srgbClr val="E9F9F1"/>
          </a:solidFill>
          <a:ln w="12700">
            <a:solidFill>
              <a:srgbClr val="10B981"/>
            </a:solidFill>
            <a:prstDash val="solid"/>
          </a:ln>
        </p:spPr>
      </p:sp>
      <p:pic>
        <p:nvPicPr>
          <p:cNvPr id="5" name="Image 0" descr="icons/checkcircle_10B981.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10B981"/>
                </a:solidFill>
                <a:latin typeface="Courier New" pitchFamily="34" charset="0"/>
                <a:ea typeface="Courier New" pitchFamily="34" charset="-122"/>
                <a:cs typeface="Courier New" pitchFamily="34" charset="-120"/>
              </a:rPr>
              <a:t>DEVICES ON</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10</a:t>
            </a:r>
            <a:endParaRPr lang="en-US" sz="900" dirty="0"/>
          </a:p>
        </p:txBody>
      </p:sp>
      <p:sp>
        <p:nvSpPr>
          <p:cNvPr id="9" name="Shape 6"/>
          <p:cNvSpPr/>
          <p:nvPr/>
        </p:nvSpPr>
        <p:spPr>
          <a:xfrm>
            <a:off x="457200" y="960120"/>
            <a:ext cx="457200" cy="457200"/>
          </a:xfrm>
          <a:prstGeom prst="ellipse">
            <a:avLst/>
          </a:prstGeom>
          <a:solidFill>
            <a:srgbClr val="10B981"/>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Application: Compare Two Games</a:t>
            </a:r>
            <a:endParaRPr lang="en-US" sz="3200" dirty="0"/>
          </a:p>
        </p:txBody>
      </p:sp>
      <p:sp>
        <p:nvSpPr>
          <p:cNvPr id="12" name="Text 9"/>
          <p:cNvSpPr/>
          <p:nvPr/>
        </p:nvSpPr>
        <p:spPr>
          <a:xfrm>
            <a:off x="457200" y="1691640"/>
            <a:ext cx="10332720" cy="365760"/>
          </a:xfrm>
          <a:prstGeom prst="rect">
            <a:avLst/>
          </a:prstGeom>
          <a:noFill/>
          <a:ln/>
        </p:spPr>
        <p:txBody>
          <a:bodyPr wrap="square" lIns="0" tIns="0" rIns="0" bIns="0" rtlCol="0" anchor="ctr"/>
          <a:lstStyle/>
          <a:p>
            <a:pPr indent="0" marL="0">
              <a:buNone/>
            </a:pPr>
            <a:r>
              <a:rPr lang="en-US" sz="1600" b="1" dirty="0">
                <a:solidFill>
                  <a:srgbClr val="10B981"/>
                </a:solidFill>
                <a:latin typeface="Calibri" pitchFamily="34" charset="0"/>
                <a:ea typeface="Calibri" pitchFamily="34" charset="-122"/>
                <a:cs typeface="Calibri" pitchFamily="34" charset="-120"/>
              </a:rPr>
              <a:t>➜ Open your workbook — Section 2: Comparative Analysis</a:t>
            </a:r>
            <a:endParaRPr lang="en-US" sz="1600" dirty="0"/>
          </a:p>
        </p:txBody>
      </p:sp>
      <p:sp>
        <p:nvSpPr>
          <p:cNvPr id="13" name="Text 10"/>
          <p:cNvSpPr/>
          <p:nvPr/>
        </p:nvSpPr>
        <p:spPr>
          <a:xfrm>
            <a:off x="457200" y="2148840"/>
            <a:ext cx="10332720" cy="731520"/>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Choose two contrasting commercial games in the same genre. Compare them across the seven elements, then write critique sentences using today’s frame.</a:t>
            </a:r>
            <a:endParaRPr lang="en-US" sz="1700" dirty="0"/>
          </a:p>
        </p:txBody>
      </p:sp>
      <p:sp>
        <p:nvSpPr>
          <p:cNvPr id="14" name="Shape 11"/>
          <p:cNvSpPr/>
          <p:nvPr/>
        </p:nvSpPr>
        <p:spPr>
          <a:xfrm>
            <a:off x="457200" y="3017520"/>
            <a:ext cx="10332720" cy="713232"/>
          </a:xfrm>
          <a:prstGeom prst="roundRect">
            <a:avLst>
              <a:gd name="adj" fmla="val 10256"/>
            </a:avLst>
          </a:prstGeom>
          <a:solidFill>
            <a:srgbClr val="FFFFFF"/>
          </a:solidFill>
          <a:ln w="15875">
            <a:solidFill>
              <a:srgbClr val="10B981"/>
            </a:solidFill>
            <a:prstDash val="solid"/>
          </a:ln>
        </p:spPr>
      </p:sp>
      <p:sp>
        <p:nvSpPr>
          <p:cNvPr id="15" name="Text 12"/>
          <p:cNvSpPr/>
          <p:nvPr/>
        </p:nvSpPr>
        <p:spPr>
          <a:xfrm>
            <a:off x="640080" y="3017520"/>
            <a:ext cx="502920" cy="713232"/>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16" name="Text 13"/>
          <p:cNvSpPr/>
          <p:nvPr/>
        </p:nvSpPr>
        <p:spPr>
          <a:xfrm>
            <a:off x="1188720" y="3017520"/>
            <a:ext cx="1645920" cy="713232"/>
          </a:xfrm>
          <a:prstGeom prst="rect">
            <a:avLst/>
          </a:prstGeom>
          <a:noFill/>
          <a:ln/>
        </p:spPr>
        <p:txBody>
          <a:bodyPr wrap="square" lIns="0" tIns="0" rIns="0" bIns="0" rtlCol="0" anchor="ctr"/>
          <a:lstStyle/>
          <a:p>
            <a:pPr indent="0" marL="0">
              <a:buNone/>
            </a:pPr>
            <a:r>
              <a:rPr lang="en-US" sz="1400" b="1" dirty="0">
                <a:solidFill>
                  <a:srgbClr val="10B981"/>
                </a:solidFill>
                <a:latin typeface="Calibri" pitchFamily="34" charset="0"/>
                <a:ea typeface="Calibri" pitchFamily="34" charset="-122"/>
                <a:cs typeface="Calibri" pitchFamily="34" charset="-120"/>
              </a:rPr>
              <a:t>Foundation</a:t>
            </a:r>
            <a:endParaRPr lang="en-US" sz="1400" dirty="0"/>
          </a:p>
        </p:txBody>
      </p:sp>
      <p:sp>
        <p:nvSpPr>
          <p:cNvPr id="17" name="Text 14"/>
          <p:cNvSpPr/>
          <p:nvPr/>
        </p:nvSpPr>
        <p:spPr>
          <a:xfrm>
            <a:off x="2834640" y="3017520"/>
            <a:ext cx="7772400" cy="7132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Compare 5 of the 7 elements across your two games, describing each.</a:t>
            </a:r>
            <a:endParaRPr lang="en-US" sz="1400" dirty="0"/>
          </a:p>
        </p:txBody>
      </p:sp>
      <p:sp>
        <p:nvSpPr>
          <p:cNvPr id="18" name="Shape 15"/>
          <p:cNvSpPr/>
          <p:nvPr/>
        </p:nvSpPr>
        <p:spPr>
          <a:xfrm>
            <a:off x="457200" y="3840480"/>
            <a:ext cx="10332720" cy="713232"/>
          </a:xfrm>
          <a:prstGeom prst="roundRect">
            <a:avLst>
              <a:gd name="adj" fmla="val 10256"/>
            </a:avLst>
          </a:prstGeom>
          <a:solidFill>
            <a:srgbClr val="FFFFFF"/>
          </a:solidFill>
          <a:ln w="15875">
            <a:solidFill>
              <a:srgbClr val="F59E0B"/>
            </a:solidFill>
            <a:prstDash val="solid"/>
          </a:ln>
        </p:spPr>
      </p:sp>
      <p:sp>
        <p:nvSpPr>
          <p:cNvPr id="19" name="Text 16"/>
          <p:cNvSpPr/>
          <p:nvPr/>
        </p:nvSpPr>
        <p:spPr>
          <a:xfrm>
            <a:off x="640080" y="3840480"/>
            <a:ext cx="502920" cy="713232"/>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20" name="Text 17"/>
          <p:cNvSpPr/>
          <p:nvPr/>
        </p:nvSpPr>
        <p:spPr>
          <a:xfrm>
            <a:off x="1188720" y="3840480"/>
            <a:ext cx="1645920" cy="713232"/>
          </a:xfrm>
          <a:prstGeom prst="rect">
            <a:avLst/>
          </a:prstGeom>
          <a:noFill/>
          <a:ln/>
        </p:spPr>
        <p:txBody>
          <a:bodyPr wrap="square" lIns="0" tIns="0" rIns="0" bIns="0" rtlCol="0" anchor="ctr"/>
          <a:lstStyle/>
          <a:p>
            <a:pPr indent="0" marL="0">
              <a:buNone/>
            </a:pPr>
            <a:r>
              <a:rPr lang="en-US" sz="1400" b="1" dirty="0">
                <a:solidFill>
                  <a:srgbClr val="F59E0B"/>
                </a:solidFill>
                <a:latin typeface="Calibri" pitchFamily="34" charset="0"/>
                <a:ea typeface="Calibri" pitchFamily="34" charset="-122"/>
                <a:cs typeface="Calibri" pitchFamily="34" charset="-120"/>
              </a:rPr>
              <a:t>Developing</a:t>
            </a:r>
            <a:endParaRPr lang="en-US" sz="1400" dirty="0"/>
          </a:p>
        </p:txBody>
      </p:sp>
      <p:sp>
        <p:nvSpPr>
          <p:cNvPr id="21" name="Text 18"/>
          <p:cNvSpPr/>
          <p:nvPr/>
        </p:nvSpPr>
        <p:spPr>
          <a:xfrm>
            <a:off x="2834640" y="3840480"/>
            <a:ext cx="7772400" cy="7132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Compare all 7 elements, with one critique sentence per element using the frame.</a:t>
            </a:r>
            <a:endParaRPr lang="en-US" sz="1400" dirty="0"/>
          </a:p>
        </p:txBody>
      </p:sp>
      <p:sp>
        <p:nvSpPr>
          <p:cNvPr id="22" name="Shape 19"/>
          <p:cNvSpPr/>
          <p:nvPr/>
        </p:nvSpPr>
        <p:spPr>
          <a:xfrm>
            <a:off x="457200" y="4663440"/>
            <a:ext cx="10332720" cy="713232"/>
          </a:xfrm>
          <a:prstGeom prst="roundRect">
            <a:avLst>
              <a:gd name="adj" fmla="val 10256"/>
            </a:avLst>
          </a:prstGeom>
          <a:solidFill>
            <a:srgbClr val="FFFFFF"/>
          </a:solidFill>
          <a:ln w="15875">
            <a:solidFill>
              <a:srgbClr val="8B5CF6"/>
            </a:solidFill>
            <a:prstDash val="solid"/>
          </a:ln>
        </p:spPr>
      </p:sp>
      <p:sp>
        <p:nvSpPr>
          <p:cNvPr id="23" name="Text 20"/>
          <p:cNvSpPr/>
          <p:nvPr/>
        </p:nvSpPr>
        <p:spPr>
          <a:xfrm>
            <a:off x="640080" y="4663440"/>
            <a:ext cx="502920" cy="713232"/>
          </a:xfrm>
          <a:prstGeom prst="rect">
            <a:avLst/>
          </a:prstGeom>
          <a:noFill/>
          <a:ln/>
        </p:spPr>
        <p:txBody>
          <a:bodyPr wrap="square" lIns="0" tIns="0" rIns="0" bIns="0" rtlCol="0" anchor="ctr"/>
          <a:lstStyle/>
          <a:p>
            <a:pPr indent="0" marL="0">
              <a:buNone/>
            </a:pPr>
            <a:r>
              <a:rPr lang="en-US" sz="2000" dirty="0">
                <a:solidFill>
                  <a:srgbClr val="000000"/>
                </a:solidFill>
              </a:rPr>
              <a:t>🟣</a:t>
            </a:r>
            <a:endParaRPr lang="en-US" sz="2000" dirty="0"/>
          </a:p>
        </p:txBody>
      </p:sp>
      <p:sp>
        <p:nvSpPr>
          <p:cNvPr id="24" name="Text 21"/>
          <p:cNvSpPr/>
          <p:nvPr/>
        </p:nvSpPr>
        <p:spPr>
          <a:xfrm>
            <a:off x="1188720" y="4663440"/>
            <a:ext cx="1645920" cy="713232"/>
          </a:xfrm>
          <a:prstGeom prst="rect">
            <a:avLst/>
          </a:prstGeom>
          <a:noFill/>
          <a:ln/>
        </p:spPr>
        <p:txBody>
          <a:bodyPr wrap="square" lIns="0" tIns="0" rIns="0" bIns="0" rtlCol="0" anchor="ctr"/>
          <a:lstStyle/>
          <a:p>
            <a:pPr indent="0" marL="0">
              <a:buNone/>
            </a:pPr>
            <a:r>
              <a:rPr lang="en-US" sz="1400" b="1" dirty="0">
                <a:solidFill>
                  <a:srgbClr val="8B5CF6"/>
                </a:solidFill>
                <a:latin typeface="Calibri" pitchFamily="34" charset="0"/>
                <a:ea typeface="Calibri" pitchFamily="34" charset="-122"/>
                <a:cs typeface="Calibri" pitchFamily="34" charset="-120"/>
              </a:rPr>
              <a:t>Extending</a:t>
            </a:r>
            <a:endParaRPr lang="en-US" sz="1400" dirty="0"/>
          </a:p>
        </p:txBody>
      </p:sp>
      <p:sp>
        <p:nvSpPr>
          <p:cNvPr id="25" name="Text 22"/>
          <p:cNvSpPr/>
          <p:nvPr/>
        </p:nvSpPr>
        <p:spPr>
          <a:xfrm>
            <a:off x="2834640" y="4663440"/>
            <a:ext cx="7772400" cy="713232"/>
          </a:xfrm>
          <a:prstGeom prst="rect">
            <a:avLst/>
          </a:prstGeom>
          <a:noFill/>
          <a:ln/>
        </p:spPr>
        <p:txBody>
          <a:bodyPr wrap="square" lIns="0" tIns="0" rIns="0" bIns="0" rtlCol="0" anchor="ctr"/>
          <a:lstStyle/>
          <a:p>
            <a:pPr indent="0" marL="0">
              <a:buNone/>
            </a:pPr>
            <a:r>
              <a:rPr lang="en-US" sz="1400" dirty="0">
                <a:solidFill>
                  <a:srgbClr val="1A1A2E"/>
                </a:solidFill>
                <a:latin typeface="Calibri" pitchFamily="34" charset="0"/>
                <a:ea typeface="Calibri" pitchFamily="34" charset="-122"/>
                <a:cs typeface="Calibri" pitchFamily="34" charset="-120"/>
              </a:rPr>
              <a:t>Complete all 7, then recommend one specific change the weaker game could make.</a:t>
            </a:r>
            <a:endParaRPr lang="en-US" sz="1400" dirty="0"/>
          </a:p>
        </p:txBody>
      </p:sp>
      <p:sp>
        <p:nvSpPr>
          <p:cNvPr id="26" name="Text 23"/>
          <p:cNvSpPr/>
          <p:nvPr/>
        </p:nvSpPr>
        <p:spPr>
          <a:xfrm>
            <a:off x="457200" y="5623560"/>
            <a:ext cx="10332720" cy="365760"/>
          </a:xfrm>
          <a:prstGeom prst="rect">
            <a:avLst/>
          </a:prstGeom>
          <a:noFill/>
          <a:ln/>
        </p:spPr>
        <p:txBody>
          <a:bodyPr wrap="square" lIns="0" tIns="0" rIns="0" bIns="0" rtlCol="0" anchor="ctr"/>
          <a:lstStyle/>
          <a:p>
            <a:pPr indent="0" marL="0">
              <a:buNone/>
            </a:pPr>
            <a:r>
              <a:rPr lang="en-US" sz="1400" i="1" dirty="0">
                <a:solidFill>
                  <a:srgbClr val="5A5A6E"/>
                </a:solidFill>
                <a:latin typeface="Calibri" pitchFamily="34" charset="0"/>
                <a:ea typeface="Calibri" pitchFamily="34" charset="-122"/>
                <a:cs typeface="Calibri" pitchFamily="34" charset="-120"/>
              </a:rPr>
              <a:t>Time: ~25 minutes. Pick two games you know well — vague answers usually mean an unfamiliar game.</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8B5CF6"/>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8B5CF6"/>
                </a:solidFill>
                <a:latin typeface="Courier New" pitchFamily="34" charset="0"/>
                <a:ea typeface="Courier New" pitchFamily="34" charset="-122"/>
                <a:cs typeface="Courier New" pitchFamily="34" charset="-120"/>
              </a:rPr>
              <a:t>REFLECT</a:t>
            </a:r>
            <a:endParaRPr lang="en-US" sz="1000" dirty="0"/>
          </a:p>
        </p:txBody>
      </p:sp>
      <p:sp>
        <p:nvSpPr>
          <p:cNvPr id="4" name="Shape 2"/>
          <p:cNvSpPr/>
          <p:nvPr/>
        </p:nvSpPr>
        <p:spPr>
          <a:xfrm>
            <a:off x="9921240" y="256032"/>
            <a:ext cx="1737360" cy="329184"/>
          </a:xfrm>
          <a:prstGeom prst="roundRect">
            <a:avLst>
              <a:gd name="adj" fmla="val 50000"/>
            </a:avLst>
          </a:prstGeom>
          <a:solidFill>
            <a:srgbClr val="E9F9F1"/>
          </a:solidFill>
          <a:ln w="12700">
            <a:solidFill>
              <a:srgbClr val="10B981"/>
            </a:solidFill>
            <a:prstDash val="solid"/>
          </a:ln>
        </p:spPr>
      </p:sp>
      <p:pic>
        <p:nvPicPr>
          <p:cNvPr id="5" name="Image 0" descr="icons/checkcircle_10B981.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10B981"/>
                </a:solidFill>
                <a:latin typeface="Courier New" pitchFamily="34" charset="0"/>
                <a:ea typeface="Courier New" pitchFamily="34" charset="-122"/>
                <a:cs typeface="Courier New" pitchFamily="34" charset="-120"/>
              </a:rPr>
              <a:t>DEVICES ON</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11</a:t>
            </a:r>
            <a:endParaRPr lang="en-US" sz="900" dirty="0"/>
          </a:p>
        </p:txBody>
      </p:sp>
      <p:sp>
        <p:nvSpPr>
          <p:cNvPr id="9" name="Shape 6"/>
          <p:cNvSpPr/>
          <p:nvPr/>
        </p:nvSpPr>
        <p:spPr>
          <a:xfrm>
            <a:off x="457200" y="960120"/>
            <a:ext cx="457200" cy="457200"/>
          </a:xfrm>
          <a:prstGeom prst="ellipse">
            <a:avLst/>
          </a:prstGeom>
          <a:solidFill>
            <a:srgbClr val="8B5CF6"/>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11</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Share Back</a:t>
            </a:r>
            <a:endParaRPr lang="en-US" sz="3200" dirty="0"/>
          </a:p>
        </p:txBody>
      </p:sp>
      <p:sp>
        <p:nvSpPr>
          <p:cNvPr id="12" name="Text 9"/>
          <p:cNvSpPr/>
          <p:nvPr/>
        </p:nvSpPr>
        <p:spPr>
          <a:xfrm>
            <a:off x="457200" y="1828800"/>
            <a:ext cx="10332720" cy="822960"/>
          </a:xfrm>
          <a:prstGeom prst="rect">
            <a:avLst/>
          </a:prstGeom>
          <a:noFill/>
          <a:ln/>
        </p:spPr>
        <p:txBody>
          <a:bodyPr wrap="square" lIns="0" tIns="0" rIns="0" bIns="0" rtlCol="0" anchor="ctr"/>
          <a:lstStyle/>
          <a:p>
            <a:pPr indent="0" marL="0">
              <a:buNone/>
            </a:pPr>
            <a:r>
              <a:rPr lang="en-US" sz="1900" dirty="0">
                <a:solidFill>
                  <a:srgbClr val="1A1A2E"/>
                </a:solidFill>
                <a:latin typeface="Calibri" pitchFamily="34" charset="0"/>
                <a:ea typeface="Calibri" pitchFamily="34" charset="-122"/>
                <a:cs typeface="Calibri" pitchFamily="34" charset="-120"/>
              </a:rPr>
              <a:t>Share your strongest critique sentence with the person next to you. Can they follow your evidence and see why you reached that judgement?</a:t>
            </a:r>
            <a:endParaRPr lang="en-US" sz="1900" dirty="0"/>
          </a:p>
        </p:txBody>
      </p:sp>
      <p:sp>
        <p:nvSpPr>
          <p:cNvPr id="13" name="Text 10"/>
          <p:cNvSpPr/>
          <p:nvPr/>
        </p:nvSpPr>
        <p:spPr>
          <a:xfrm>
            <a:off x="457200" y="2834640"/>
            <a:ext cx="5486400" cy="320040"/>
          </a:xfrm>
          <a:prstGeom prst="rect">
            <a:avLst/>
          </a:prstGeom>
          <a:noFill/>
          <a:ln/>
        </p:spPr>
        <p:txBody>
          <a:bodyPr wrap="square" lIns="0" tIns="0" rIns="0" bIns="0" rtlCol="0" anchor="ctr"/>
          <a:lstStyle/>
          <a:p>
            <a:pPr indent="0" marL="0">
              <a:buNone/>
            </a:pPr>
            <a:r>
              <a:rPr lang="en-US" sz="1600" b="1" dirty="0">
                <a:solidFill>
                  <a:srgbClr val="5A5A6E"/>
                </a:solidFill>
                <a:latin typeface="Calibri" pitchFamily="34" charset="0"/>
                <a:ea typeface="Calibri" pitchFamily="34" charset="-122"/>
                <a:cs typeface="Calibri" pitchFamily="34" charset="-120"/>
              </a:rPr>
              <a:t>Class discussion:</a:t>
            </a:r>
            <a:endParaRPr lang="en-US" sz="1600" dirty="0"/>
          </a:p>
        </p:txBody>
      </p:sp>
      <p:sp>
        <p:nvSpPr>
          <p:cNvPr id="14" name="Text 11"/>
          <p:cNvSpPr/>
          <p:nvPr/>
        </p:nvSpPr>
        <p:spPr>
          <a:xfrm>
            <a:off x="640080" y="3200400"/>
            <a:ext cx="9966960" cy="1005840"/>
          </a:xfrm>
          <a:prstGeom prst="rect">
            <a:avLst/>
          </a:prstGeom>
          <a:noFill/>
          <a:ln/>
        </p:spPr>
        <p:txBody>
          <a:bodyPr wrap="square" lIns="0" tIns="0" rIns="0" bIns="0" rtlCol="0" anchor="ctr"/>
          <a:lstStyle/>
          <a:p>
            <a:pPr marL="342900" indent="-342900">
              <a:spcAft>
                <a:spcPts val="1000"/>
              </a:spcAft>
              <a:buSzPct val="100000"/>
              <a:buChar char="▪"/>
            </a:pPr>
            <a:r>
              <a:rPr lang="en-US" sz="1700" dirty="0">
                <a:solidFill>
                  <a:srgbClr val="1A1A2E"/>
                </a:solidFill>
                <a:latin typeface="Calibri" pitchFamily="34" charset="0"/>
                <a:ea typeface="Calibri" pitchFamily="34" charset="-122"/>
                <a:cs typeface="Calibri" pitchFamily="34" charset="-120"/>
              </a:rPr>
              <a:t>Which element was hardest to compare fairly? Why?</a:t>
            </a:r>
            <a:endParaRPr lang="en-US" sz="1700" dirty="0"/>
          </a:p>
          <a:p>
            <a:pPr marL="342900" indent="-342900">
              <a:spcAft>
                <a:spcPts val="1000"/>
              </a:spcAft>
              <a:buSzPct val="100000"/>
              <a:buChar char="▪"/>
            </a:pPr>
            <a:r>
              <a:rPr lang="en-US" sz="1700" dirty="0">
                <a:solidFill>
                  <a:srgbClr val="1A1A2E"/>
                </a:solidFill>
                <a:latin typeface="Calibri" pitchFamily="34" charset="0"/>
                <a:ea typeface="Calibri" pitchFamily="34" charset="-122"/>
                <a:cs typeface="Calibri" pitchFamily="34" charset="-120"/>
              </a:rPr>
              <a:t>Did anyone disagree with a partner’s judgement — what evidence changed their mind?</a:t>
            </a:r>
            <a:endParaRPr lang="en-US" sz="1700" dirty="0"/>
          </a:p>
        </p:txBody>
      </p:sp>
      <p:sp>
        <p:nvSpPr>
          <p:cNvPr id="15" name="Shape 12"/>
          <p:cNvSpPr/>
          <p:nvPr/>
        </p:nvSpPr>
        <p:spPr>
          <a:xfrm>
            <a:off x="457200" y="4480560"/>
            <a:ext cx="10332720" cy="1188720"/>
          </a:xfrm>
          <a:prstGeom prst="roundRect">
            <a:avLst>
              <a:gd name="adj" fmla="val 7692"/>
            </a:avLst>
          </a:prstGeom>
          <a:solidFill>
            <a:srgbClr val="FFF3E0"/>
          </a:solidFill>
          <a:ln w="15875">
            <a:solidFill>
              <a:srgbClr val="F59E0B"/>
            </a:solidFill>
            <a:prstDash val="solid"/>
          </a:ln>
        </p:spPr>
      </p:sp>
      <p:sp>
        <p:nvSpPr>
          <p:cNvPr id="16" name="Text 13"/>
          <p:cNvSpPr/>
          <p:nvPr/>
        </p:nvSpPr>
        <p:spPr>
          <a:xfrm>
            <a:off x="731520" y="4617720"/>
            <a:ext cx="9784080" cy="914400"/>
          </a:xfrm>
          <a:prstGeom prst="rect">
            <a:avLst/>
          </a:prstGeom>
          <a:noFill/>
          <a:ln/>
        </p:spPr>
        <p:txBody>
          <a:bodyPr wrap="square" lIns="0" tIns="0" rIns="0" bIns="0" rtlCol="0" anchor="ctr"/>
          <a:lstStyle/>
          <a:p>
            <a:pPr indent="0" marL="0">
              <a:buNone/>
            </a:pPr>
            <a:r>
              <a:rPr lang="en-US" sz="1500" dirty="0">
                <a:solidFill>
                  <a:srgbClr val="1A1A2E"/>
                </a:solidFill>
                <a:latin typeface="Calibri" pitchFamily="34" charset="0"/>
                <a:ea typeface="Calibri" pitchFamily="34" charset="-122"/>
                <a:cs typeface="Calibri" pitchFamily="34" charset="-120"/>
              </a:rPr>
              <a:t>Unit checkpoint: your Game Design Document will open with a short critique of two commercial games — today’s comparison table and sentences are the raw material for that section.</a:t>
            </a:r>
            <a:endParaRPr lang="en-US" sz="15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8B5CF6"/>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8B5CF6"/>
                </a:solidFill>
                <a:latin typeface="Courier New" pitchFamily="34" charset="0"/>
                <a:ea typeface="Courier New" pitchFamily="34" charset="-122"/>
                <a:cs typeface="Courier New" pitchFamily="34" charset="-120"/>
              </a:rPr>
              <a:t>REFLECT</a:t>
            </a:r>
            <a:endParaRPr lang="en-US" sz="1000" dirty="0"/>
          </a:p>
        </p:txBody>
      </p:sp>
      <p:sp>
        <p:nvSpPr>
          <p:cNvPr id="4" name="Shape 2"/>
          <p:cNvSpPr/>
          <p:nvPr/>
        </p:nvSpPr>
        <p:spPr>
          <a:xfrm>
            <a:off x="9921240" y="256032"/>
            <a:ext cx="1737360" cy="329184"/>
          </a:xfrm>
          <a:prstGeom prst="roundRect">
            <a:avLst>
              <a:gd name="adj" fmla="val 50000"/>
            </a:avLst>
          </a:prstGeom>
          <a:solidFill>
            <a:srgbClr val="EDEDF2"/>
          </a:solidFill>
          <a:ln w="12700">
            <a:solidFill>
              <a:srgbClr val="5A5A6E"/>
            </a:solidFill>
            <a:prstDash val="solid"/>
          </a:ln>
        </p:spPr>
      </p:sp>
      <p:pic>
        <p:nvPicPr>
          <p:cNvPr id="5" name="Image 0" descr="icons/clipboard_5A5A6E.png">    </p:cNvPr>
          <p:cNvPicPr>
            <a:picLocks noChangeAspect="1"/>
          </p:cNvPicPr>
          <p:nvPr/>
        </p:nvPicPr>
        <p:blipFill>
          <a:blip r:embed="rId1"/>
          <a:stretch>
            <a:fillRect/>
          </a:stretch>
        </p:blipFill>
        <p:spPr>
          <a:xfrm>
            <a:off x="10030968" y="301752"/>
            <a:ext cx="237744" cy="237744"/>
          </a:xfrm>
          <a:prstGeom prst="rect">
            <a:avLst/>
          </a:prstGeom>
        </p:spPr>
      </p:pic>
      <p:sp>
        <p:nvSpPr>
          <p:cNvPr id="6" name="Text 3"/>
          <p:cNvSpPr/>
          <p:nvPr/>
        </p:nvSpPr>
        <p:spPr>
          <a:xfrm>
            <a:off x="10332720" y="256032"/>
            <a:ext cx="1325880" cy="329184"/>
          </a:xfrm>
          <a:prstGeom prst="rect">
            <a:avLst/>
          </a:prstGeom>
          <a:noFill/>
          <a:ln/>
        </p:spPr>
        <p:txBody>
          <a:bodyPr wrap="square" lIns="0" tIns="0" rIns="0" bIns="0" rtlCol="0" anchor="ctr"/>
          <a:lstStyle/>
          <a:p>
            <a:pPr algn="l" indent="0" marL="0">
              <a:buNone/>
            </a:pPr>
            <a:r>
              <a:rPr lang="en-US" sz="1000" b="1" dirty="0">
                <a:solidFill>
                  <a:srgbClr val="5A5A6E"/>
                </a:solidFill>
                <a:latin typeface="Courier New" pitchFamily="34" charset="0"/>
                <a:ea typeface="Courier New" pitchFamily="34" charset="-122"/>
                <a:cs typeface="Courier New" pitchFamily="34" charset="-120"/>
              </a:rPr>
              <a:t>DEVICES CLOSED</a:t>
            </a:r>
            <a:endParaRPr lang="en-US" sz="1000" dirty="0"/>
          </a:p>
        </p:txBody>
      </p:sp>
      <p:sp>
        <p:nvSpPr>
          <p:cNvPr id="7" name="Text 4"/>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8" name="Text 5"/>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12</a:t>
            </a:r>
            <a:endParaRPr lang="en-US" sz="900" dirty="0"/>
          </a:p>
        </p:txBody>
      </p:sp>
      <p:sp>
        <p:nvSpPr>
          <p:cNvPr id="9" name="Shape 6"/>
          <p:cNvSpPr/>
          <p:nvPr/>
        </p:nvSpPr>
        <p:spPr>
          <a:xfrm>
            <a:off x="457200" y="960120"/>
            <a:ext cx="457200" cy="457200"/>
          </a:xfrm>
          <a:prstGeom prst="ellipse">
            <a:avLst/>
          </a:prstGeom>
          <a:solidFill>
            <a:srgbClr val="EF4444"/>
          </a:solidFill>
          <a:ln/>
        </p:spPr>
      </p:sp>
      <p:sp>
        <p:nvSpPr>
          <p:cNvPr id="10" name="Text 7"/>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12</a:t>
            </a:r>
            <a:endParaRPr lang="en-US" sz="1600" dirty="0"/>
          </a:p>
        </p:txBody>
      </p:sp>
      <p:sp>
        <p:nvSpPr>
          <p:cNvPr id="11" name="Text 8"/>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Exit Ticket</a:t>
            </a:r>
            <a:endParaRPr lang="en-US" sz="3200" dirty="0"/>
          </a:p>
        </p:txBody>
      </p:sp>
      <p:sp>
        <p:nvSpPr>
          <p:cNvPr id="12" name="Text 9"/>
          <p:cNvSpPr/>
          <p:nvPr/>
        </p:nvSpPr>
        <p:spPr>
          <a:xfrm>
            <a:off x="457200" y="1737360"/>
            <a:ext cx="10332720" cy="457200"/>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Complete this in your workbook before you leave — it’s how I check today’s learning.</a:t>
            </a:r>
            <a:endParaRPr lang="en-US" sz="1700" dirty="0"/>
          </a:p>
        </p:txBody>
      </p:sp>
      <p:sp>
        <p:nvSpPr>
          <p:cNvPr id="13" name="Text 10"/>
          <p:cNvSpPr/>
          <p:nvPr/>
        </p:nvSpPr>
        <p:spPr>
          <a:xfrm>
            <a:off x="457200" y="2377440"/>
            <a:ext cx="10332720" cy="2011680"/>
          </a:xfrm>
          <a:prstGeom prst="rect">
            <a:avLst/>
          </a:prstGeom>
          <a:noFill/>
          <a:ln/>
        </p:spPr>
        <p:txBody>
          <a:bodyPr wrap="square" lIns="0" tIns="0" rIns="0" bIns="0" rtlCol="0" anchor="ctr"/>
          <a:lstStyle/>
          <a:p>
            <a:pPr indent="0" marL="0">
              <a:spcAft>
                <a:spcPts val="1600"/>
              </a:spcAft>
              <a:buNone/>
            </a:pPr>
            <a:r>
              <a:rPr lang="en-US" sz="1800" dirty="0">
                <a:solidFill>
                  <a:srgbClr val="1A1A2E"/>
                </a:solidFill>
                <a:latin typeface="Calibri" pitchFamily="34" charset="0"/>
                <a:ea typeface="Calibri" pitchFamily="34" charset="-122"/>
                <a:cs typeface="Calibri" pitchFamily="34" charset="-120"/>
              </a:rPr>
              <a:t>1.  Name one element where your two games differed most, and how.</a:t>
            </a:r>
            <a:endParaRPr lang="en-US" sz="1800" dirty="0"/>
          </a:p>
          <a:p>
            <a:pPr indent="0" marL="0">
              <a:spcAft>
                <a:spcPts val="1600"/>
              </a:spcAft>
              <a:buNone/>
            </a:pPr>
            <a:r>
              <a:rPr lang="en-US" sz="1800" dirty="0">
                <a:solidFill>
                  <a:srgbClr val="1A1A2E"/>
                </a:solidFill>
                <a:latin typeface="Calibri" pitchFamily="34" charset="0"/>
                <a:ea typeface="Calibri" pitchFamily="34" charset="-122"/>
                <a:cs typeface="Calibri" pitchFamily="34" charset="-120"/>
              </a:rPr>
              <a:t>2.  Write one full critique sentence using today’s frame.</a:t>
            </a:r>
            <a:endParaRPr lang="en-US" sz="1800" dirty="0"/>
          </a:p>
          <a:p>
            <a:pPr indent="0" marL="0">
              <a:buNone/>
            </a:pPr>
            <a:r>
              <a:rPr lang="en-US" sz="1800" dirty="0">
                <a:solidFill>
                  <a:srgbClr val="1A1A2E"/>
                </a:solidFill>
                <a:latin typeface="Calibri" pitchFamily="34" charset="0"/>
                <a:ea typeface="Calibri" pitchFamily="34" charset="-122"/>
                <a:cs typeface="Calibri" pitchFamily="34" charset="-120"/>
              </a:rPr>
              <a:t>3.  Rate your confidence against today’s success criteria (🟢🟡🟣).</a:t>
            </a:r>
            <a:endParaRPr lang="en-US" sz="1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457200" y="256032"/>
            <a:ext cx="1920240" cy="329184"/>
          </a:xfrm>
          <a:prstGeom prst="roundRect">
            <a:avLst>
              <a:gd name="adj" fmla="val 50000"/>
            </a:avLst>
          </a:prstGeom>
          <a:solidFill>
            <a:srgbClr val="F7F8FC"/>
          </a:solidFill>
          <a:ln w="15875">
            <a:solidFill>
              <a:srgbClr val="EF4444"/>
            </a:solidFill>
            <a:prstDash val="solid"/>
          </a:ln>
        </p:spPr>
      </p:sp>
      <p:sp>
        <p:nvSpPr>
          <p:cNvPr id="3" name="Text 1"/>
          <p:cNvSpPr/>
          <p:nvPr/>
        </p:nvSpPr>
        <p:spPr>
          <a:xfrm>
            <a:off x="457200" y="256032"/>
            <a:ext cx="1920240" cy="329184"/>
          </a:xfrm>
          <a:prstGeom prst="rect">
            <a:avLst/>
          </a:prstGeom>
          <a:noFill/>
          <a:ln/>
        </p:spPr>
        <p:txBody>
          <a:bodyPr wrap="square" lIns="0" tIns="0" rIns="0" bIns="0" rtlCol="0" anchor="ctr"/>
          <a:lstStyle/>
          <a:p>
            <a:pPr algn="ctr" indent="0" marL="0">
              <a:buNone/>
            </a:pPr>
            <a:r>
              <a:rPr lang="en-US" sz="1000" b="1" dirty="0">
                <a:solidFill>
                  <a:srgbClr val="EF4444"/>
                </a:solidFill>
                <a:latin typeface="Courier New" pitchFamily="34" charset="0"/>
                <a:ea typeface="Courier New" pitchFamily="34" charset="-122"/>
                <a:cs typeface="Courier New" pitchFamily="34" charset="-120"/>
              </a:rPr>
              <a:t>NEXT STEPS</a:t>
            </a:r>
            <a:endParaRPr lang="en-US" sz="1000" dirty="0"/>
          </a:p>
        </p:txBody>
      </p:sp>
      <p:sp>
        <p:nvSpPr>
          <p:cNvPr id="4" name="Text 2"/>
          <p:cNvSpPr/>
          <p:nvPr/>
        </p:nvSpPr>
        <p:spPr>
          <a:xfrm>
            <a:off x="457200" y="6510528"/>
            <a:ext cx="7772400" cy="274320"/>
          </a:xfrm>
          <a:prstGeom prst="rect">
            <a:avLst/>
          </a:prstGeom>
          <a:noFill/>
          <a:ln/>
        </p:spPr>
        <p:txBody>
          <a:bodyPr wrap="square" lIns="0" tIns="0" rIns="0" bIns="0" rtlCol="0" anchor="ctr"/>
          <a:lstStyle/>
          <a:p>
            <a:pPr indent="0" marL="0">
              <a:buNone/>
            </a:pPr>
            <a:r>
              <a:rPr lang="en-US" sz="900" dirty="0">
                <a:solidFill>
                  <a:srgbClr val="5A5A6E"/>
                </a:solidFill>
                <a:latin typeface="Courier New" pitchFamily="34" charset="0"/>
                <a:ea typeface="Courier New" pitchFamily="34" charset="-122"/>
                <a:cs typeface="Courier New" pitchFamily="34" charset="-120"/>
              </a:rPr>
              <a:t>Game Programming  ·  Year 10 Digital Technologies  ·  Unit 1</a:t>
            </a:r>
            <a:endParaRPr lang="en-US" sz="900" dirty="0"/>
          </a:p>
        </p:txBody>
      </p:sp>
      <p:sp>
        <p:nvSpPr>
          <p:cNvPr id="5" name="Text 3"/>
          <p:cNvSpPr/>
          <p:nvPr/>
        </p:nvSpPr>
        <p:spPr>
          <a:xfrm>
            <a:off x="11338560" y="6510528"/>
            <a:ext cx="457200" cy="274320"/>
          </a:xfrm>
          <a:prstGeom prst="rect">
            <a:avLst/>
          </a:prstGeom>
          <a:noFill/>
          <a:ln/>
        </p:spPr>
        <p:txBody>
          <a:bodyPr wrap="square" lIns="0" tIns="0" rIns="0" bIns="0" rtlCol="0" anchor="ctr"/>
          <a:lstStyle/>
          <a:p>
            <a:pPr algn="r" indent="0" marL="0">
              <a:buNone/>
            </a:pPr>
            <a:r>
              <a:rPr lang="en-US" sz="900" dirty="0">
                <a:solidFill>
                  <a:srgbClr val="5A5A6E"/>
                </a:solidFill>
                <a:latin typeface="Courier New" pitchFamily="34" charset="0"/>
                <a:ea typeface="Courier New" pitchFamily="34" charset="-122"/>
                <a:cs typeface="Courier New" pitchFamily="34" charset="-120"/>
              </a:rPr>
              <a:t>13</a:t>
            </a:r>
            <a:endParaRPr lang="en-US" sz="900" dirty="0"/>
          </a:p>
        </p:txBody>
      </p:sp>
      <p:sp>
        <p:nvSpPr>
          <p:cNvPr id="6" name="Shape 4"/>
          <p:cNvSpPr/>
          <p:nvPr/>
        </p:nvSpPr>
        <p:spPr>
          <a:xfrm>
            <a:off x="457200" y="960120"/>
            <a:ext cx="457200" cy="457200"/>
          </a:xfrm>
          <a:prstGeom prst="ellipse">
            <a:avLst/>
          </a:prstGeom>
          <a:solidFill>
            <a:srgbClr val="EF4444"/>
          </a:solidFill>
          <a:ln/>
        </p:spPr>
      </p:sp>
      <p:sp>
        <p:nvSpPr>
          <p:cNvPr id="7" name="Text 5"/>
          <p:cNvSpPr/>
          <p:nvPr/>
        </p:nvSpPr>
        <p:spPr>
          <a:xfrm>
            <a:off x="457200" y="960120"/>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13</a:t>
            </a:r>
            <a:endParaRPr lang="en-US" sz="1600" dirty="0"/>
          </a:p>
        </p:txBody>
      </p:sp>
      <p:sp>
        <p:nvSpPr>
          <p:cNvPr id="8" name="Text 6"/>
          <p:cNvSpPr/>
          <p:nvPr/>
        </p:nvSpPr>
        <p:spPr>
          <a:xfrm>
            <a:off x="1051560" y="777240"/>
            <a:ext cx="10195560" cy="822960"/>
          </a:xfrm>
          <a:prstGeom prst="rect">
            <a:avLst/>
          </a:prstGeom>
          <a:noFill/>
          <a:ln/>
        </p:spPr>
        <p:txBody>
          <a:bodyPr wrap="square" lIns="0" tIns="0" rIns="0" bIns="0" rtlCol="0" anchor="ctr"/>
          <a:lstStyle/>
          <a:p>
            <a:pPr indent="0" marL="0">
              <a:buNone/>
            </a:pPr>
            <a:r>
              <a:rPr lang="en-US" sz="3200" b="1" dirty="0">
                <a:solidFill>
                  <a:srgbClr val="1A1A2E"/>
                </a:solidFill>
                <a:latin typeface="Bookman Old Style" pitchFamily="34" charset="0"/>
                <a:ea typeface="Bookman Old Style" pitchFamily="34" charset="-122"/>
                <a:cs typeface="Bookman Old Style" pitchFamily="34" charset="-120"/>
              </a:rPr>
              <a:t>Next Steps</a:t>
            </a:r>
            <a:endParaRPr lang="en-US" sz="3200" dirty="0"/>
          </a:p>
        </p:txBody>
      </p:sp>
      <p:sp>
        <p:nvSpPr>
          <p:cNvPr id="9" name="Text 7"/>
          <p:cNvSpPr/>
          <p:nvPr/>
        </p:nvSpPr>
        <p:spPr>
          <a:xfrm>
            <a:off x="457200" y="1737360"/>
            <a:ext cx="3657600" cy="320040"/>
          </a:xfrm>
          <a:prstGeom prst="rect">
            <a:avLst/>
          </a:prstGeom>
          <a:noFill/>
          <a:ln/>
        </p:spPr>
        <p:txBody>
          <a:bodyPr wrap="square" lIns="0" tIns="0" rIns="0" bIns="0" rtlCol="0" anchor="ctr"/>
          <a:lstStyle/>
          <a:p>
            <a:pPr indent="0" marL="0">
              <a:buNone/>
            </a:pPr>
            <a:r>
              <a:rPr lang="en-US" sz="1500" b="1" dirty="0">
                <a:solidFill>
                  <a:srgbClr val="5A5A6E"/>
                </a:solidFill>
                <a:latin typeface="Calibri" pitchFamily="34" charset="0"/>
                <a:ea typeface="Calibri" pitchFamily="34" charset="-122"/>
                <a:cs typeface="Calibri" pitchFamily="34" charset="-120"/>
              </a:rPr>
              <a:t>Next Lesson</a:t>
            </a:r>
            <a:endParaRPr lang="en-US" sz="1500" dirty="0"/>
          </a:p>
        </p:txBody>
      </p:sp>
      <p:sp>
        <p:nvSpPr>
          <p:cNvPr id="10" name="Text 8"/>
          <p:cNvSpPr/>
          <p:nvPr/>
        </p:nvSpPr>
        <p:spPr>
          <a:xfrm>
            <a:off x="457200" y="2057400"/>
            <a:ext cx="10332720" cy="731520"/>
          </a:xfrm>
          <a:prstGeom prst="rect">
            <a:avLst/>
          </a:prstGeom>
          <a:noFill/>
          <a:ln/>
        </p:spPr>
        <p:txBody>
          <a:bodyPr wrap="square" lIns="0" tIns="0" rIns="0" bIns="0" rtlCol="0" anchor="ctr"/>
          <a:lstStyle/>
          <a:p>
            <a:pPr indent="0" marL="0">
              <a:buNone/>
            </a:pPr>
            <a:r>
              <a:rPr lang="en-US" sz="1700" dirty="0">
                <a:solidFill>
                  <a:srgbClr val="1A1A2E"/>
                </a:solidFill>
                <a:latin typeface="Calibri" pitchFamily="34" charset="0"/>
                <a:ea typeface="Calibri" pitchFamily="34" charset="-122"/>
                <a:cs typeface="Calibri" pitchFamily="34" charset="-120"/>
              </a:rPr>
              <a:t>Lesson 3: Generating Game Ideas — we’ll use structured ideation techniques, including word wheels, to invent your own original game concept.</a:t>
            </a:r>
            <a:endParaRPr lang="en-US" sz="1700" dirty="0"/>
          </a:p>
        </p:txBody>
      </p:sp>
      <p:sp>
        <p:nvSpPr>
          <p:cNvPr id="11" name="Text 9"/>
          <p:cNvSpPr/>
          <p:nvPr/>
        </p:nvSpPr>
        <p:spPr>
          <a:xfrm>
            <a:off x="457200" y="2926080"/>
            <a:ext cx="3657600" cy="320040"/>
          </a:xfrm>
          <a:prstGeom prst="rect">
            <a:avLst/>
          </a:prstGeom>
          <a:noFill/>
          <a:ln/>
        </p:spPr>
        <p:txBody>
          <a:bodyPr wrap="square" lIns="0" tIns="0" rIns="0" bIns="0" rtlCol="0" anchor="ctr"/>
          <a:lstStyle/>
          <a:p>
            <a:pPr indent="0" marL="0">
              <a:buNone/>
            </a:pPr>
            <a:r>
              <a:rPr lang="en-US" sz="1500" b="1" dirty="0">
                <a:solidFill>
                  <a:srgbClr val="5A5A6E"/>
                </a:solidFill>
                <a:latin typeface="Calibri" pitchFamily="34" charset="0"/>
                <a:ea typeface="Calibri" pitchFamily="34" charset="-122"/>
                <a:cs typeface="Calibri" pitchFamily="34" charset="-120"/>
              </a:rPr>
              <a:t>Major Assessment</a:t>
            </a:r>
            <a:endParaRPr lang="en-US" sz="1500" dirty="0"/>
          </a:p>
        </p:txBody>
      </p:sp>
      <p:sp>
        <p:nvSpPr>
          <p:cNvPr id="12" name="Text 10"/>
          <p:cNvSpPr/>
          <p:nvPr/>
        </p:nvSpPr>
        <p:spPr>
          <a:xfrm>
            <a:off x="457200" y="3246120"/>
            <a:ext cx="10332720" cy="640080"/>
          </a:xfrm>
          <a:prstGeom prst="rect">
            <a:avLst/>
          </a:prstGeom>
          <a:noFill/>
          <a:ln/>
        </p:spPr>
        <p:txBody>
          <a:bodyPr wrap="square" lIns="0" tIns="0" rIns="0" bIns="0" rtlCol="0" anchor="ctr"/>
          <a:lstStyle/>
          <a:p>
            <a:pPr indent="0" marL="0">
              <a:buNone/>
            </a:pPr>
            <a:r>
              <a:rPr lang="en-US" sz="1600" dirty="0">
                <a:solidFill>
                  <a:srgbClr val="1A1A2E"/>
                </a:solidFill>
                <a:latin typeface="Calibri" pitchFamily="34" charset="0"/>
                <a:ea typeface="Calibri" pitchFamily="34" charset="-122"/>
                <a:cs typeface="Calibri" pitchFamily="34" charset="-120"/>
              </a:rPr>
              <a:t>Game Design Document — due end of term. Today’s comparative analysis becomes Section 1 of that document. No submission required yet.</a:t>
            </a:r>
            <a:endParaRPr lang="en-US" sz="1600" dirty="0"/>
          </a:p>
        </p:txBody>
      </p:sp>
      <p:sp>
        <p:nvSpPr>
          <p:cNvPr id="13" name="Shape 11"/>
          <p:cNvSpPr/>
          <p:nvPr/>
        </p:nvSpPr>
        <p:spPr>
          <a:xfrm>
            <a:off x="457200" y="4069080"/>
            <a:ext cx="10332720" cy="914400"/>
          </a:xfrm>
          <a:prstGeom prst="roundRect">
            <a:avLst>
              <a:gd name="adj" fmla="val 10000"/>
            </a:avLst>
          </a:prstGeom>
          <a:solidFill>
            <a:srgbClr val="F7F8FC"/>
          </a:solidFill>
          <a:ln w="12700">
            <a:solidFill>
              <a:srgbClr val="DCE0EA"/>
            </a:solidFill>
            <a:prstDash val="solid"/>
          </a:ln>
        </p:spPr>
      </p:sp>
      <p:sp>
        <p:nvSpPr>
          <p:cNvPr id="14" name="Text 12"/>
          <p:cNvSpPr/>
          <p:nvPr/>
        </p:nvSpPr>
        <p:spPr>
          <a:xfrm>
            <a:off x="731520" y="4069080"/>
            <a:ext cx="9784080" cy="914400"/>
          </a:xfrm>
          <a:prstGeom prst="rect">
            <a:avLst/>
          </a:prstGeom>
          <a:noFill/>
          <a:ln/>
        </p:spPr>
        <p:txBody>
          <a:bodyPr wrap="square" lIns="0" tIns="0" rIns="0" bIns="0" rtlCol="0" anchor="ctr"/>
          <a:lstStyle/>
          <a:p>
            <a:pPr indent="0" marL="0">
              <a:buNone/>
            </a:pPr>
            <a:r>
              <a:rPr lang="en-US" sz="1500" i="1" dirty="0">
                <a:solidFill>
                  <a:srgbClr val="1A1A2E"/>
                </a:solidFill>
                <a:latin typeface="Calibri" pitchFamily="34" charset="0"/>
                <a:ea typeface="Calibri" pitchFamily="34" charset="-122"/>
                <a:cs typeface="Calibri" pitchFamily="34" charset="-120"/>
              </a:rPr>
              <a:t>Homework: jot down one game genre you’d love to design in — bring it to Lesson 3 as a starting point for ideation.</a:t>
            </a:r>
            <a:endParaRPr lang="en-US" sz="1500" dirty="0"/>
          </a:p>
        </p:txBody>
      </p:sp>
      <p:sp>
        <p:nvSpPr>
          <p:cNvPr id="15" name="Text 13"/>
          <p:cNvSpPr/>
          <p:nvPr/>
        </p:nvSpPr>
        <p:spPr>
          <a:xfrm>
            <a:off x="457200" y="5166360"/>
            <a:ext cx="10332720" cy="365760"/>
          </a:xfrm>
          <a:prstGeom prst="rect">
            <a:avLst/>
          </a:prstGeom>
          <a:noFill/>
          <a:ln/>
        </p:spPr>
        <p:txBody>
          <a:bodyPr wrap="square" lIns="0" tIns="0" rIns="0" bIns="0" rtlCol="0" anchor="ctr"/>
          <a:lstStyle/>
          <a:p>
            <a:pPr indent="0" marL="0">
              <a:buNone/>
            </a:pPr>
            <a:r>
              <a:rPr lang="en-US" sz="1300" dirty="0">
                <a:solidFill>
                  <a:srgbClr val="5A5A6E"/>
                </a:solidFill>
                <a:latin typeface="Calibri" pitchFamily="34" charset="0"/>
                <a:ea typeface="Calibri" pitchFamily="34" charset="-122"/>
                <a:cs typeface="Calibri" pitchFamily="34" charset="-120"/>
              </a:rPr>
              <a:t>Need help? See the unit reference site for full notes and examples.</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2026-07-30T02:10:35Z</dcterms:created>
  <dcterms:modified xsi:type="dcterms:W3CDTF">2026-07-30T02:10:35Z</dcterms:modified>
</cp:coreProperties>
</file>