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878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We move from analysing other people's games (Lesson 2) into inventing our own. Frame today as the start of the "Design" phase of the unit — today's output feeds directly into the Game Design Document. Devices closed until the application task.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loosen students up and prove that ANY random input can become a game idea in seconds — this directly sets up today's core lesson that structure and randomness help ideation rather than hurt it. Don't let anyone say "I can't think of anything" — push for something, however rough.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objective aloud. Note this is the first genuinely creative/generative task of the unit — Lessons 1 and 2 were about understanding and judging other people's games; today they build their own foundation.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idea that constraint and randomness are tools, not crutches — many professional designers deliberately use random prompts or limitations to escape their own habitual ideas. This reframes "random word wheel" as a legitimate design technique, not a gimmick.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 the wheel gives raw ingredients, not the design itself. Two students with "Horror + School + Building" could land on very different games (a haunted-house defence game vs. a horror version of The Sims). This distinguishes ideation (generating raw material) from design (shaping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technique appeals to students who already know a lot of games well — it uses their existing knowledge rather than pure randomness. Warn against surface-level mashups ("it looks like X but is Y") — push for combining actual MECHANICS, not just visuals.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Constraints work because a rule that removes something forces the designer to invent a NEW mechanic to compensate — e.g. "no undo" pushes toward permadeath mechanics and careful-decision gameplay. This is the most abstract of the three techniques — keep it as an option, not the default, for less confident students.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 the wheels live in front of the class (or use the workbook wheel on the projector) rather than presenting a pre-made result — this models exactly the task students do next. Ask students to suggest Rules, Narrative and Aesthetics for "Orbit Harvest" verbally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deliberately silly reset — also loosens the fear of "bad ideas" right before the real application task, since ideation works best when students aren't self-censoring early.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workbook wheel is interactive — students can re-spin as many times as they like before committing. Circulate for students who commit to their very first spin without considering alternatives, and for students who spin endlessly without ever committing — both need a gentle nudge.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partner can't repeat back the objective or a mechanic, that's useful diagnostic feedback — it usually means the idea is still too vague on paper. Keep discussion brisk, roughly 5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auto-saves in the workbook. Watch for one-word "pitches" with no objective or mechanic — this signals a student needs more scaffolding time on element definitions in Lesson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homework task — explaining an idea out loud to someone unfamiliar with it often surfaces gaps the student hadn't noticed. Remind students the unit site has full notes on all three ideation techniques.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63040"/>
            <a:ext cx="9144000" cy="365760"/>
          </a:xfrm>
          <a:prstGeom prst="rect">
            <a:avLst/>
          </a:prstGeom>
          <a:noFill/>
          <a:ln/>
        </p:spPr>
        <p:txBody>
          <a:bodyPr wrap="square" lIns="0" tIns="0" rIns="0" bIns="0" rtlCol="0" anchor="ctr"/>
          <a:lstStyle/>
          <a:p>
            <a:pPr marL="0" indent="0">
              <a:buNone/>
            </a:pPr>
            <a:r>
              <a:rPr lang="en-US" sz="1300" b="1" dirty="0">
                <a:solidFill>
                  <a:srgbClr val="8B5CF6"/>
                </a:solidFill>
                <a:latin typeface="Courier New" pitchFamily="34" charset="0"/>
                <a:ea typeface="Courier New" pitchFamily="34" charset="-122"/>
                <a:cs typeface="Courier New" pitchFamily="34" charset="-120"/>
              </a:rPr>
              <a:t>YEAR 10 · DIGITAL TECHNOLOGIES</a:t>
            </a:r>
            <a:endParaRPr lang="en-US" sz="1300" dirty="0"/>
          </a:p>
        </p:txBody>
      </p:sp>
      <p:sp>
        <p:nvSpPr>
          <p:cNvPr id="3" name="Text 1"/>
          <p:cNvSpPr/>
          <p:nvPr/>
        </p:nvSpPr>
        <p:spPr>
          <a:xfrm>
            <a:off x="640080" y="1874520"/>
            <a:ext cx="10515600" cy="640080"/>
          </a:xfrm>
          <a:prstGeom prst="rect">
            <a:avLst/>
          </a:prstGeom>
          <a:noFill/>
          <a:ln/>
        </p:spPr>
        <p:txBody>
          <a:bodyPr wrap="square" lIns="0" tIns="0" rIns="0" bIns="0" rtlCol="0" anchor="ctr"/>
          <a:lstStyle/>
          <a:p>
            <a:pPr marL="0" indent="0">
              <a:buNone/>
            </a:pPr>
            <a:r>
              <a:rPr lang="en-US" sz="2400" dirty="0">
                <a:solidFill>
                  <a:srgbClr val="5A5A6E"/>
                </a:solidFill>
                <a:latin typeface="Calibri" pitchFamily="34" charset="0"/>
                <a:ea typeface="Calibri" pitchFamily="34" charset="-122"/>
                <a:cs typeface="Calibri" pitchFamily="34" charset="-120"/>
              </a:rPr>
              <a:t>Game Programming</a:t>
            </a:r>
            <a:endParaRPr lang="en-US" sz="2400" dirty="0"/>
          </a:p>
        </p:txBody>
      </p:sp>
      <p:sp>
        <p:nvSpPr>
          <p:cNvPr id="4" name="Text 2"/>
          <p:cNvSpPr/>
          <p:nvPr/>
        </p:nvSpPr>
        <p:spPr>
          <a:xfrm>
            <a:off x="594360" y="2468880"/>
            <a:ext cx="10881360" cy="1371600"/>
          </a:xfrm>
          <a:prstGeom prst="rect">
            <a:avLst/>
          </a:prstGeom>
          <a:noFill/>
          <a:ln/>
        </p:spPr>
        <p:txBody>
          <a:bodyPr wrap="square" lIns="0" tIns="0" rIns="0" bIns="0" rtlCol="0" anchor="ctr"/>
          <a:lstStyle/>
          <a:p>
            <a:pPr marL="0" indent="0">
              <a:buNone/>
            </a:pPr>
            <a:r>
              <a:rPr lang="en-US" sz="5000" b="1" dirty="0">
                <a:solidFill>
                  <a:srgbClr val="1A1A2E"/>
                </a:solidFill>
                <a:latin typeface="Bookman Old Style" pitchFamily="34" charset="0"/>
                <a:ea typeface="Bookman Old Style" pitchFamily="34" charset="-122"/>
                <a:cs typeface="Bookman Old Style" pitchFamily="34" charset="-120"/>
              </a:rPr>
              <a:t>Generating Game Ideas</a:t>
            </a:r>
            <a:endParaRPr lang="en-US" sz="5000" dirty="0"/>
          </a:p>
        </p:txBody>
      </p:sp>
      <p:sp>
        <p:nvSpPr>
          <p:cNvPr id="5" name="Text 3"/>
          <p:cNvSpPr/>
          <p:nvPr/>
        </p:nvSpPr>
        <p:spPr>
          <a:xfrm>
            <a:off x="640080" y="3886200"/>
            <a:ext cx="5486400" cy="365760"/>
          </a:xfrm>
          <a:prstGeom prst="rect">
            <a:avLst/>
          </a:prstGeom>
          <a:noFill/>
          <a:ln/>
        </p:spPr>
        <p:txBody>
          <a:bodyPr wrap="square" lIns="0" tIns="0" rIns="0" bIns="0" rtlCol="0" anchor="ctr"/>
          <a:lstStyle/>
          <a:p>
            <a:pPr marL="0" indent="0">
              <a:buNone/>
            </a:pPr>
            <a:r>
              <a:rPr lang="en-US" sz="1300" dirty="0">
                <a:solidFill>
                  <a:srgbClr val="5A5A6E"/>
                </a:solidFill>
                <a:latin typeface="Courier New" pitchFamily="34" charset="0"/>
                <a:ea typeface="Courier New" pitchFamily="34" charset="-122"/>
                <a:cs typeface="Courier New" pitchFamily="34" charset="-120"/>
              </a:rPr>
              <a:t>Unit 1 · Lesson 3</a:t>
            </a:r>
            <a:endParaRPr lang="en-US" sz="1300" dirty="0"/>
          </a:p>
        </p:txBody>
      </p:sp>
      <p:sp>
        <p:nvSpPr>
          <p:cNvPr id="6" name="Shape 4"/>
          <p:cNvSpPr/>
          <p:nvPr/>
        </p:nvSpPr>
        <p:spPr>
          <a:xfrm>
            <a:off x="640080" y="4434840"/>
            <a:ext cx="4480560" cy="457200"/>
          </a:xfrm>
          <a:prstGeom prst="roundRect">
            <a:avLst>
              <a:gd name="adj" fmla="val 50000"/>
            </a:avLst>
          </a:prstGeom>
          <a:solidFill>
            <a:srgbClr val="F7F8FC"/>
          </a:solidFill>
          <a:ln w="12700">
            <a:solidFill>
              <a:srgbClr val="8B5CF6"/>
            </a:solidFill>
            <a:prstDash val="solid"/>
          </a:ln>
        </p:spPr>
        <p:txBody>
          <a:bodyPr/>
          <a:lstStyle/>
          <a:p>
            <a:endParaRPr lang="en-AU"/>
          </a:p>
        </p:txBody>
      </p:sp>
      <p:sp>
        <p:nvSpPr>
          <p:cNvPr id="7" name="Text 5"/>
          <p:cNvSpPr/>
          <p:nvPr/>
        </p:nvSpPr>
        <p:spPr>
          <a:xfrm>
            <a:off x="640080" y="4434840"/>
            <a:ext cx="4480560" cy="457200"/>
          </a:xfrm>
          <a:prstGeom prst="rect">
            <a:avLst/>
          </a:prstGeom>
          <a:noFill/>
          <a:ln/>
        </p:spPr>
        <p:txBody>
          <a:bodyPr wrap="square" lIns="0" tIns="0" rIns="0" bIns="0" rtlCol="0" anchor="ctr"/>
          <a:lstStyle/>
          <a:p>
            <a:pPr marL="0" indent="0" algn="ctr">
              <a:buNone/>
            </a:pPr>
            <a:r>
              <a:rPr lang="en-US" sz="1200" b="1" dirty="0">
                <a:solidFill>
                  <a:srgbClr val="8B5CF6"/>
                </a:solidFill>
                <a:latin typeface="Courier New" pitchFamily="34" charset="0"/>
                <a:ea typeface="Courier New" pitchFamily="34" charset="-122"/>
                <a:cs typeface="Courier New" pitchFamily="34" charset="-120"/>
              </a:rPr>
              <a:t>Analyse  ·  Design  →  Build</a:t>
            </a:r>
            <a:endParaRPr lang="en-US" sz="1200" dirty="0"/>
          </a:p>
        </p:txBody>
      </p:sp>
      <p:sp>
        <p:nvSpPr>
          <p:cNvPr id="8" name="Text 6"/>
          <p:cNvSpPr/>
          <p:nvPr/>
        </p:nvSpPr>
        <p:spPr>
          <a:xfrm>
            <a:off x="640080" y="6035040"/>
            <a:ext cx="4572000" cy="320040"/>
          </a:xfrm>
          <a:prstGeom prst="rect">
            <a:avLst/>
          </a:prstGeom>
          <a:noFill/>
          <a:ln/>
        </p:spPr>
        <p:txBody>
          <a:bodyPr wrap="square" lIns="0" tIns="0" rIns="0" bIns="0" rtlCol="0" anchor="ctr"/>
          <a:lstStyle/>
          <a:p>
            <a:pPr marL="0" indent="0">
              <a:buNone/>
            </a:pPr>
            <a:r>
              <a:rPr lang="en-US" sz="1300" dirty="0">
                <a:solidFill>
                  <a:srgbClr val="5A5A6E"/>
                </a:solidFill>
                <a:latin typeface="Calibri" pitchFamily="34" charset="0"/>
                <a:ea typeface="Calibri" pitchFamily="34" charset="-122"/>
                <a:cs typeface="Calibri" pitchFamily="34" charset="-120"/>
              </a:rPr>
              <a:t>Mr Smith</a:t>
            </a:r>
            <a:endParaRPr lang="en-US" sz="1300" dirty="0"/>
          </a:p>
        </p:txBody>
      </p:sp>
      <p:sp>
        <p:nvSpPr>
          <p:cNvPr id="9" name="Text 7"/>
          <p:cNvSpPr/>
          <p:nvPr/>
        </p:nvSpPr>
        <p:spPr>
          <a:xfrm>
            <a:off x="640080" y="6327648"/>
            <a:ext cx="4572000" cy="320040"/>
          </a:xfrm>
          <a:prstGeom prst="rect">
            <a:avLst/>
          </a:prstGeom>
          <a:noFill/>
          <a:ln/>
        </p:spPr>
        <p:txBody>
          <a:bodyPr wrap="square" lIns="0" tIns="0" rIns="0" bIns="0" rtlCol="0" anchor="ctr"/>
          <a:lstStyle/>
          <a:p>
            <a:pPr marL="0" indent="0">
              <a:buNone/>
            </a:pPr>
            <a:r>
              <a:rPr lang="en-US" sz="1100" dirty="0">
                <a:solidFill>
                  <a:srgbClr val="5A5A6E"/>
                </a:solidFill>
                <a:latin typeface="Courier New" pitchFamily="34" charset="0"/>
                <a:ea typeface="Courier New" pitchFamily="34" charset="-122"/>
                <a:cs typeface="Courier New" pitchFamily="34" charset="-120"/>
              </a:rPr>
              <a:t>2026-07-30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F59E0B"/>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F59E0B"/>
                </a:solidFill>
                <a:latin typeface="Courier New" pitchFamily="34" charset="0"/>
                <a:ea typeface="Courier New" pitchFamily="34" charset="-122"/>
                <a:cs typeface="Courier New" pitchFamily="34" charset="-120"/>
              </a:rPr>
              <a:t>WARM UP</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2</a:t>
            </a:r>
            <a:endParaRPr lang="en-US" sz="900" dirty="0"/>
          </a:p>
        </p:txBody>
      </p:sp>
      <p:sp>
        <p:nvSpPr>
          <p:cNvPr id="9" name="Shape 6"/>
          <p:cNvSpPr/>
          <p:nvPr/>
        </p:nvSpPr>
        <p:spPr>
          <a:xfrm>
            <a:off x="457200" y="960120"/>
            <a:ext cx="457200" cy="457200"/>
          </a:xfrm>
          <a:prstGeom prst="ellipse">
            <a:avLst/>
          </a:prstGeom>
          <a:solidFill>
            <a:srgbClr val="F59E0B"/>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Warm Up: One-Word Pitch</a:t>
            </a:r>
            <a:endParaRPr lang="en-US" sz="3200" dirty="0"/>
          </a:p>
        </p:txBody>
      </p:sp>
      <p:sp>
        <p:nvSpPr>
          <p:cNvPr id="12" name="Text 9"/>
          <p:cNvSpPr/>
          <p:nvPr/>
        </p:nvSpPr>
        <p:spPr>
          <a:xfrm>
            <a:off x="457200" y="1783080"/>
            <a:ext cx="10332720" cy="822960"/>
          </a:xfrm>
          <a:prstGeom prst="rect">
            <a:avLst/>
          </a:prstGeom>
          <a:noFill/>
          <a:ln/>
        </p:spPr>
        <p:txBody>
          <a:bodyPr wrap="square" lIns="0" tIns="0" rIns="0" bIns="0" rtlCol="0" anchor="ctr"/>
          <a:lstStyle/>
          <a:p>
            <a:pPr marL="0" indent="0">
              <a:buNone/>
            </a:pPr>
            <a:r>
              <a:rPr lang="en-US" sz="1800" dirty="0">
                <a:solidFill>
                  <a:srgbClr val="1A1A2E"/>
                </a:solidFill>
                <a:latin typeface="Calibri" pitchFamily="34" charset="0"/>
                <a:ea typeface="Calibri" pitchFamily="34" charset="-122"/>
                <a:cs typeface="Calibri" pitchFamily="34" charset="-120"/>
              </a:rPr>
              <a:t>In pairs: one person says a completely random word. The other has 15 seconds to turn it into a one-sentence game pitch. Swap and repeat three times.</a:t>
            </a:r>
            <a:endParaRPr lang="en-US" sz="1800" dirty="0"/>
          </a:p>
        </p:txBody>
      </p:sp>
      <p:sp>
        <p:nvSpPr>
          <p:cNvPr id="13" name="Shape 10"/>
          <p:cNvSpPr/>
          <p:nvPr/>
        </p:nvSpPr>
        <p:spPr>
          <a:xfrm>
            <a:off x="457200" y="2743200"/>
            <a:ext cx="10332720" cy="1554480"/>
          </a:xfrm>
          <a:prstGeom prst="roundRect">
            <a:avLst>
              <a:gd name="adj" fmla="val 4706"/>
            </a:avLst>
          </a:prstGeom>
          <a:solidFill>
            <a:srgbClr val="F7F8FC"/>
          </a:solidFill>
          <a:ln w="12700">
            <a:solidFill>
              <a:srgbClr val="DCE0EA"/>
            </a:solidFill>
            <a:prstDash val="solid"/>
          </a:ln>
        </p:spPr>
        <p:txBody>
          <a:bodyPr/>
          <a:lstStyle/>
          <a:p>
            <a:endParaRPr lang="en-AU"/>
          </a:p>
        </p:txBody>
      </p:sp>
      <p:sp>
        <p:nvSpPr>
          <p:cNvPr id="14" name="Text 11"/>
          <p:cNvSpPr/>
          <p:nvPr/>
        </p:nvSpPr>
        <p:spPr>
          <a:xfrm>
            <a:off x="777240" y="2926080"/>
            <a:ext cx="9692640" cy="1188720"/>
          </a:xfrm>
          <a:prstGeom prst="rect">
            <a:avLst/>
          </a:prstGeom>
          <a:noFill/>
          <a:ln/>
        </p:spPr>
        <p:txBody>
          <a:bodyPr wrap="square" lIns="0" tIns="0" rIns="0" bIns="0" rtlCol="0" anchor="ctr"/>
          <a:lstStyle/>
          <a:p>
            <a:pPr marL="0" indent="0">
              <a:buNone/>
            </a:pPr>
            <a:r>
              <a:rPr lang="en-US" sz="1700" i="1" dirty="0">
                <a:solidFill>
                  <a:srgbClr val="1A1A2E"/>
                </a:solidFill>
                <a:latin typeface="Calibri" pitchFamily="34" charset="0"/>
                <a:ea typeface="Calibri" pitchFamily="34" charset="-122"/>
                <a:cs typeface="Calibri" pitchFamily="34" charset="-120"/>
              </a:rPr>
              <a:t>Example: word = "umbrella" → "A game where you glide between floating islands using an umbrella, racing a storm that’s always one step behind you."</a:t>
            </a:r>
            <a:endParaRPr lang="en-US" sz="1700" dirty="0"/>
          </a:p>
        </p:txBody>
      </p:sp>
      <p:sp>
        <p:nvSpPr>
          <p:cNvPr id="15" name="Text 12"/>
          <p:cNvSpPr/>
          <p:nvPr/>
        </p:nvSpPr>
        <p:spPr>
          <a:xfrm>
            <a:off x="457200" y="4526280"/>
            <a:ext cx="10332720" cy="640080"/>
          </a:xfrm>
          <a:prstGeom prst="rect">
            <a:avLst/>
          </a:prstGeom>
          <a:noFill/>
          <a:ln/>
        </p:spPr>
        <p:txBody>
          <a:bodyPr wrap="square" lIns="0" tIns="0" rIns="0" bIns="0" rtlCol="0" anchor="ctr"/>
          <a:lstStyle/>
          <a:p>
            <a:pPr marL="0" indent="0">
              <a:buNone/>
            </a:pPr>
            <a:r>
              <a:rPr lang="en-US" sz="1600" i="1" dirty="0">
                <a:solidFill>
                  <a:srgbClr val="5A5A6E"/>
                </a:solidFill>
                <a:latin typeface="Calibri" pitchFamily="34" charset="0"/>
                <a:ea typeface="Calibri" pitchFamily="34" charset="-122"/>
                <a:cs typeface="Calibri" pitchFamily="34" charset="-120"/>
              </a:rPr>
              <a:t>💬 Discuss: which pitch surprised you most? What made it feel fresh rather than obvious?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4361EE"/>
                </a:solidFill>
                <a:latin typeface="Courier New" pitchFamily="34" charset="0"/>
                <a:ea typeface="Courier New" pitchFamily="34" charset="-122"/>
                <a:cs typeface="Courier New" pitchFamily="34" charset="-120"/>
              </a:rPr>
              <a:t>OBJECTIVE</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3</a:t>
            </a:r>
            <a:endParaRPr lang="en-US" sz="900" dirty="0"/>
          </a:p>
        </p:txBody>
      </p:sp>
      <p:sp>
        <p:nvSpPr>
          <p:cNvPr id="9" name="Shape 6"/>
          <p:cNvSpPr/>
          <p:nvPr/>
        </p:nvSpPr>
        <p:spPr>
          <a:xfrm>
            <a:off x="457200" y="960120"/>
            <a:ext cx="457200" cy="457200"/>
          </a:xfrm>
          <a:prstGeom prst="ellipse">
            <a:avLst/>
          </a:prstGeom>
          <a:solidFill>
            <a:srgbClr val="4361EE"/>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Learning Objective</a:t>
            </a:r>
            <a:endParaRPr lang="en-US" sz="3200" dirty="0"/>
          </a:p>
        </p:txBody>
      </p:sp>
      <p:sp>
        <p:nvSpPr>
          <p:cNvPr id="12" name="Text 9"/>
          <p:cNvSpPr/>
          <p:nvPr/>
        </p:nvSpPr>
        <p:spPr>
          <a:xfrm>
            <a:off x="457200" y="1737360"/>
            <a:ext cx="10332720" cy="82296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To generate an original game idea using structured ideation techniques, and define it using the seven elements.</a:t>
            </a:r>
            <a:endParaRPr lang="en-US" sz="2000" dirty="0"/>
          </a:p>
        </p:txBody>
      </p:sp>
      <p:sp>
        <p:nvSpPr>
          <p:cNvPr id="13" name="Text 10"/>
          <p:cNvSpPr/>
          <p:nvPr/>
        </p:nvSpPr>
        <p:spPr>
          <a:xfrm>
            <a:off x="457200" y="2697480"/>
            <a:ext cx="4572000" cy="365760"/>
          </a:xfrm>
          <a:prstGeom prst="rect">
            <a:avLst/>
          </a:prstGeom>
          <a:noFill/>
          <a:ln/>
        </p:spPr>
        <p:txBody>
          <a:bodyPr wrap="square" lIns="0" tIns="0" rIns="0" bIns="0" rtlCol="0" anchor="ctr"/>
          <a:lstStyle/>
          <a:p>
            <a:pPr marL="0" indent="0">
              <a:buNone/>
            </a:pPr>
            <a:r>
              <a:rPr lang="en-US" sz="1800" b="1" dirty="0">
                <a:solidFill>
                  <a:srgbClr val="1A1A2E"/>
                </a:solidFill>
                <a:latin typeface="Bookman Old Style" pitchFamily="34" charset="0"/>
                <a:ea typeface="Bookman Old Style" pitchFamily="34" charset="-122"/>
                <a:cs typeface="Bookman Old Style" pitchFamily="34" charset="-120"/>
              </a:rPr>
              <a:t>Success Criteria</a:t>
            </a:r>
            <a:endParaRPr lang="en-US" sz="1800" dirty="0"/>
          </a:p>
        </p:txBody>
      </p:sp>
      <p:sp>
        <p:nvSpPr>
          <p:cNvPr id="14" name="Shape 11"/>
          <p:cNvSpPr/>
          <p:nvPr/>
        </p:nvSpPr>
        <p:spPr>
          <a:xfrm>
            <a:off x="457200" y="3200400"/>
            <a:ext cx="10332720" cy="822960"/>
          </a:xfrm>
          <a:prstGeom prst="roundRect">
            <a:avLst>
              <a:gd name="adj" fmla="val 8889"/>
            </a:avLst>
          </a:prstGeom>
          <a:solidFill>
            <a:srgbClr val="FFFFFF"/>
          </a:solidFill>
          <a:ln w="15875">
            <a:solidFill>
              <a:srgbClr val="10B981"/>
            </a:solidFill>
            <a:prstDash val="solid"/>
          </a:ln>
        </p:spPr>
        <p:txBody>
          <a:bodyPr/>
          <a:lstStyle/>
          <a:p>
            <a:endParaRPr lang="en-AU"/>
          </a:p>
        </p:txBody>
      </p:sp>
      <p:sp>
        <p:nvSpPr>
          <p:cNvPr id="15" name="Text 12"/>
          <p:cNvSpPr/>
          <p:nvPr/>
        </p:nvSpPr>
        <p:spPr>
          <a:xfrm>
            <a:off x="640080" y="3200400"/>
            <a:ext cx="548640" cy="8229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6" name="Text 13"/>
          <p:cNvSpPr/>
          <p:nvPr/>
        </p:nvSpPr>
        <p:spPr>
          <a:xfrm>
            <a:off x="1234440" y="3273552"/>
            <a:ext cx="1920240" cy="32004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Foundation</a:t>
            </a:r>
            <a:endParaRPr lang="en-US" sz="1400" dirty="0"/>
          </a:p>
        </p:txBody>
      </p:sp>
      <p:sp>
        <p:nvSpPr>
          <p:cNvPr id="17" name="Text 14"/>
          <p:cNvSpPr/>
          <p:nvPr/>
        </p:nvSpPr>
        <p:spPr>
          <a:xfrm>
            <a:off x="1234440" y="3566160"/>
            <a:ext cx="9052560" cy="41148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I can use one ideation technique to generate a game concept and define at least 5 elements.</a:t>
            </a:r>
            <a:endParaRPr lang="en-US" sz="1400" dirty="0"/>
          </a:p>
        </p:txBody>
      </p:sp>
      <p:sp>
        <p:nvSpPr>
          <p:cNvPr id="18" name="Shape 15"/>
          <p:cNvSpPr/>
          <p:nvPr/>
        </p:nvSpPr>
        <p:spPr>
          <a:xfrm>
            <a:off x="457200" y="4160520"/>
            <a:ext cx="10332720" cy="822960"/>
          </a:xfrm>
          <a:prstGeom prst="roundRect">
            <a:avLst>
              <a:gd name="adj" fmla="val 8889"/>
            </a:avLst>
          </a:prstGeom>
          <a:solidFill>
            <a:srgbClr val="FFFFFF"/>
          </a:solidFill>
          <a:ln w="15875">
            <a:solidFill>
              <a:srgbClr val="F59E0B"/>
            </a:solidFill>
            <a:prstDash val="solid"/>
          </a:ln>
        </p:spPr>
        <p:txBody>
          <a:bodyPr/>
          <a:lstStyle/>
          <a:p>
            <a:endParaRPr lang="en-AU"/>
          </a:p>
        </p:txBody>
      </p:sp>
      <p:sp>
        <p:nvSpPr>
          <p:cNvPr id="19" name="Text 16"/>
          <p:cNvSpPr/>
          <p:nvPr/>
        </p:nvSpPr>
        <p:spPr>
          <a:xfrm>
            <a:off x="640080" y="4160520"/>
            <a:ext cx="548640" cy="8229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0" name="Text 17"/>
          <p:cNvSpPr/>
          <p:nvPr/>
        </p:nvSpPr>
        <p:spPr>
          <a:xfrm>
            <a:off x="1234440" y="4233672"/>
            <a:ext cx="1920240" cy="32004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Developing</a:t>
            </a:r>
            <a:endParaRPr lang="en-US" sz="1400" dirty="0"/>
          </a:p>
        </p:txBody>
      </p:sp>
      <p:sp>
        <p:nvSpPr>
          <p:cNvPr id="21" name="Text 18"/>
          <p:cNvSpPr/>
          <p:nvPr/>
        </p:nvSpPr>
        <p:spPr>
          <a:xfrm>
            <a:off x="1234440" y="4526280"/>
            <a:ext cx="9052560" cy="41148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I can use a technique to generate a concept and define all 7 elements clearly.</a:t>
            </a:r>
            <a:endParaRPr lang="en-US" sz="1400" dirty="0"/>
          </a:p>
        </p:txBody>
      </p:sp>
      <p:sp>
        <p:nvSpPr>
          <p:cNvPr id="22" name="Shape 19"/>
          <p:cNvSpPr/>
          <p:nvPr/>
        </p:nvSpPr>
        <p:spPr>
          <a:xfrm>
            <a:off x="457200" y="5120640"/>
            <a:ext cx="10332720" cy="822960"/>
          </a:xfrm>
          <a:prstGeom prst="roundRect">
            <a:avLst>
              <a:gd name="adj" fmla="val 8889"/>
            </a:avLst>
          </a:prstGeom>
          <a:solidFill>
            <a:srgbClr val="FFFFFF"/>
          </a:solidFill>
          <a:ln w="15875">
            <a:solidFill>
              <a:srgbClr val="8B5CF6"/>
            </a:solidFill>
            <a:prstDash val="solid"/>
          </a:ln>
        </p:spPr>
        <p:txBody>
          <a:bodyPr/>
          <a:lstStyle/>
          <a:p>
            <a:endParaRPr lang="en-AU"/>
          </a:p>
        </p:txBody>
      </p:sp>
      <p:sp>
        <p:nvSpPr>
          <p:cNvPr id="23" name="Text 20"/>
          <p:cNvSpPr/>
          <p:nvPr/>
        </p:nvSpPr>
        <p:spPr>
          <a:xfrm>
            <a:off x="640080" y="5120640"/>
            <a:ext cx="548640" cy="8229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4" name="Text 21"/>
          <p:cNvSpPr/>
          <p:nvPr/>
        </p:nvSpPr>
        <p:spPr>
          <a:xfrm>
            <a:off x="1234440" y="5193792"/>
            <a:ext cx="1920240" cy="320040"/>
          </a:xfrm>
          <a:prstGeom prst="rect">
            <a:avLst/>
          </a:prstGeom>
          <a:noFill/>
          <a:ln/>
        </p:spPr>
        <p:txBody>
          <a:bodyPr wrap="square" lIns="0" tIns="0" rIns="0" bIns="0" rtlCol="0" anchor="ctr"/>
          <a:lstStyle/>
          <a:p>
            <a:pPr marL="0" indent="0">
              <a:buNone/>
            </a:pPr>
            <a:r>
              <a:rPr lang="en-US" sz="1400" b="1" dirty="0">
                <a:solidFill>
                  <a:srgbClr val="8B5CF6"/>
                </a:solidFill>
                <a:latin typeface="Calibri" pitchFamily="34" charset="0"/>
                <a:ea typeface="Calibri" pitchFamily="34" charset="-122"/>
                <a:cs typeface="Calibri" pitchFamily="34" charset="-120"/>
              </a:rPr>
              <a:t>Extending</a:t>
            </a:r>
            <a:endParaRPr lang="en-US" sz="1400" dirty="0"/>
          </a:p>
        </p:txBody>
      </p:sp>
      <p:sp>
        <p:nvSpPr>
          <p:cNvPr id="25" name="Text 22"/>
          <p:cNvSpPr/>
          <p:nvPr/>
        </p:nvSpPr>
        <p:spPr>
          <a:xfrm>
            <a:off x="1234440" y="5486400"/>
            <a:ext cx="9052560" cy="41148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I can generate multiple concepts, select the strongest, and justify why it beats the alternatives.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4</a:t>
            </a:r>
            <a:endParaRPr lang="en-US" sz="900" dirty="0"/>
          </a:p>
        </p:txBody>
      </p:sp>
      <p:sp>
        <p:nvSpPr>
          <p:cNvPr id="9" name="Shape 6"/>
          <p:cNvSpPr/>
          <p:nvPr/>
        </p:nvSpPr>
        <p:spPr>
          <a:xfrm>
            <a:off x="457200" y="960120"/>
            <a:ext cx="457200" cy="457200"/>
          </a:xfrm>
          <a:prstGeom prst="ellipse">
            <a:avLst/>
          </a:prstGeom>
          <a:solidFill>
            <a:srgbClr val="4361EE"/>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The Blank Page Problem</a:t>
            </a:r>
            <a:endParaRPr lang="en-US" sz="3200" dirty="0"/>
          </a:p>
        </p:txBody>
      </p:sp>
      <p:sp>
        <p:nvSpPr>
          <p:cNvPr id="12" name="Text 9"/>
          <p:cNvSpPr/>
          <p:nvPr/>
        </p:nvSpPr>
        <p:spPr>
          <a:xfrm>
            <a:off x="457200" y="1783080"/>
            <a:ext cx="10332720" cy="822960"/>
          </a:xfrm>
          <a:prstGeom prst="rect">
            <a:avLst/>
          </a:prstGeom>
          <a:noFill/>
          <a:ln/>
        </p:spPr>
        <p:txBody>
          <a:bodyPr wrap="square" lIns="0" tIns="0" rIns="0" bIns="0" rtlCol="0" anchor="ctr"/>
          <a:lstStyle/>
          <a:p>
            <a:pPr marL="0" indent="0">
              <a:buNone/>
            </a:pPr>
            <a:r>
              <a:rPr lang="en-US" sz="1800" dirty="0">
                <a:solidFill>
                  <a:srgbClr val="1A1A2E"/>
                </a:solidFill>
                <a:latin typeface="Calibri" pitchFamily="34" charset="0"/>
                <a:ea typeface="Calibri" pitchFamily="34" charset="-122"/>
                <a:cs typeface="Calibri" pitchFamily="34" charset="-120"/>
              </a:rPr>
              <a:t>"Just think of a good game idea" rarely works — unlimited choice is paralysing. Professional designers almost never start from nothing.</a:t>
            </a:r>
            <a:endParaRPr lang="en-US" sz="1800" dirty="0"/>
          </a:p>
        </p:txBody>
      </p:sp>
      <p:sp>
        <p:nvSpPr>
          <p:cNvPr id="13" name="Shape 10"/>
          <p:cNvSpPr/>
          <p:nvPr/>
        </p:nvSpPr>
        <p:spPr>
          <a:xfrm>
            <a:off x="457200" y="2743200"/>
            <a:ext cx="10332720" cy="1737360"/>
          </a:xfrm>
          <a:prstGeom prst="roundRect">
            <a:avLst>
              <a:gd name="adj" fmla="val 5263"/>
            </a:avLst>
          </a:prstGeom>
          <a:solidFill>
            <a:srgbClr val="EFF2FF"/>
          </a:solidFill>
          <a:ln w="19050">
            <a:solidFill>
              <a:srgbClr val="4361EE"/>
            </a:solidFill>
            <a:prstDash val="solid"/>
          </a:ln>
        </p:spPr>
        <p:txBody>
          <a:bodyPr/>
          <a:lstStyle/>
          <a:p>
            <a:endParaRPr lang="en-AU"/>
          </a:p>
        </p:txBody>
      </p:sp>
      <p:sp>
        <p:nvSpPr>
          <p:cNvPr id="14" name="Text 11"/>
          <p:cNvSpPr/>
          <p:nvPr/>
        </p:nvSpPr>
        <p:spPr>
          <a:xfrm>
            <a:off x="731520" y="2880360"/>
            <a:ext cx="7315200" cy="274320"/>
          </a:xfrm>
          <a:prstGeom prst="rect">
            <a:avLst/>
          </a:prstGeom>
          <a:noFill/>
          <a:ln/>
        </p:spPr>
        <p:txBody>
          <a:bodyPr wrap="square" lIns="0" tIns="0" rIns="0" bIns="0" rtlCol="0" anchor="ctr"/>
          <a:lstStyle/>
          <a:p>
            <a:pPr marL="0" indent="0">
              <a:buNone/>
            </a:pPr>
            <a:r>
              <a:rPr lang="en-US" sz="1100" b="1" dirty="0">
                <a:solidFill>
                  <a:srgbClr val="F59E0B"/>
                </a:solidFill>
                <a:latin typeface="Courier New" pitchFamily="34" charset="0"/>
                <a:ea typeface="Courier New" pitchFamily="34" charset="-122"/>
                <a:cs typeface="Courier New" pitchFamily="34" charset="-120"/>
              </a:rPr>
              <a:t>COPY THIS INTO YOUR WORKBOOK</a:t>
            </a:r>
            <a:endParaRPr lang="en-US" sz="1100" dirty="0"/>
          </a:p>
        </p:txBody>
      </p:sp>
      <p:sp>
        <p:nvSpPr>
          <p:cNvPr id="15" name="Text 12"/>
          <p:cNvSpPr/>
          <p:nvPr/>
        </p:nvSpPr>
        <p:spPr>
          <a:xfrm>
            <a:off x="731520" y="3246120"/>
            <a:ext cx="9784080" cy="1097280"/>
          </a:xfrm>
          <a:prstGeom prst="rect">
            <a:avLst/>
          </a:prstGeom>
          <a:noFill/>
          <a:ln/>
        </p:spPr>
        <p:txBody>
          <a:bodyPr wrap="square" lIns="0" tIns="0" rIns="0" bIns="0" rtlCol="0" anchor="t"/>
          <a:lstStyle/>
          <a:p>
            <a:pPr marL="0" indent="0">
              <a:buNone/>
            </a:pPr>
            <a:r>
              <a:rPr lang="en-US" sz="1800" dirty="0">
                <a:solidFill>
                  <a:srgbClr val="1A1A2E"/>
                </a:solidFill>
                <a:latin typeface="Calibri" pitchFamily="34" charset="0"/>
                <a:ea typeface="Calibri" pitchFamily="34" charset="-122"/>
                <a:cs typeface="Calibri" pitchFamily="34" charset="-120"/>
              </a:rPr>
              <a:t>Ideation is the process of deliberately generating ideas using a technique or constraint — instead of waiting for inspiration to strike.</a:t>
            </a:r>
            <a:endParaRPr lang="en-US" sz="1800" dirty="0"/>
          </a:p>
        </p:txBody>
      </p:sp>
      <p:sp>
        <p:nvSpPr>
          <p:cNvPr id="16" name="Text 13"/>
          <p:cNvSpPr/>
          <p:nvPr/>
        </p:nvSpPr>
        <p:spPr>
          <a:xfrm>
            <a:off x="457200" y="4663440"/>
            <a:ext cx="10332720" cy="548640"/>
          </a:xfrm>
          <a:prstGeom prst="rect">
            <a:avLst/>
          </a:prstGeom>
          <a:noFill/>
          <a:ln/>
        </p:spPr>
        <p:txBody>
          <a:bodyPr wrap="square" lIns="0" tIns="0" rIns="0" bIns="0" rtlCol="0" anchor="ctr"/>
          <a:lstStyle/>
          <a:p>
            <a:pPr marL="0" indent="0">
              <a:buNone/>
            </a:pPr>
            <a:r>
              <a:rPr lang="en-US" sz="1600" dirty="0">
                <a:solidFill>
                  <a:srgbClr val="5A5A6E"/>
                </a:solidFill>
                <a:latin typeface="Calibri" pitchFamily="34" charset="0"/>
                <a:ea typeface="Calibri" pitchFamily="34" charset="-122"/>
                <a:cs typeface="Calibri" pitchFamily="34" charset="-120"/>
              </a:rPr>
              <a:t>Today we’ll use three techniques that force new, unexpected combinations of ideas — including one you’ll use live in your workbook.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5</a:t>
            </a:r>
            <a:endParaRPr lang="en-US" sz="900" dirty="0"/>
          </a:p>
        </p:txBody>
      </p:sp>
      <p:sp>
        <p:nvSpPr>
          <p:cNvPr id="9" name="Shape 6"/>
          <p:cNvSpPr/>
          <p:nvPr/>
        </p:nvSpPr>
        <p:spPr>
          <a:xfrm>
            <a:off x="457200" y="960120"/>
            <a:ext cx="457200" cy="457200"/>
          </a:xfrm>
          <a:prstGeom prst="ellipse">
            <a:avLst/>
          </a:prstGeom>
          <a:solidFill>
            <a:srgbClr val="4361EE"/>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Method 1: Word Wheels</a:t>
            </a:r>
            <a:endParaRPr lang="en-US" sz="3200" dirty="0"/>
          </a:p>
        </p:txBody>
      </p:sp>
      <p:sp>
        <p:nvSpPr>
          <p:cNvPr id="12" name="Text 9"/>
          <p:cNvSpPr/>
          <p:nvPr/>
        </p:nvSpPr>
        <p:spPr>
          <a:xfrm>
            <a:off x="457200" y="1737360"/>
            <a:ext cx="10332720" cy="548640"/>
          </a:xfrm>
          <a:prstGeom prst="rect">
            <a:avLst/>
          </a:prstGeom>
          <a:noFill/>
          <a:ln/>
        </p:spPr>
        <p:txBody>
          <a:bodyPr wrap="square" lIns="0" tIns="0" rIns="0" bIns="0" rtlCol="0" anchor="ctr"/>
          <a:lstStyle/>
          <a:p>
            <a:pPr marL="0" indent="0">
              <a:buNone/>
            </a:pPr>
            <a:r>
              <a:rPr lang="en-US" sz="1700" dirty="0">
                <a:solidFill>
                  <a:srgbClr val="1A1A2E"/>
                </a:solidFill>
                <a:latin typeface="Calibri" pitchFamily="34" charset="0"/>
                <a:ea typeface="Calibri" pitchFamily="34" charset="-122"/>
                <a:cs typeface="Calibri" pitchFamily="34" charset="-120"/>
              </a:rPr>
              <a:t>Spin three separate wheels — Theme, Setting, and Mechanic — and force the results together into one concept.</a:t>
            </a:r>
            <a:endParaRPr lang="en-US" sz="1700" dirty="0"/>
          </a:p>
        </p:txBody>
      </p:sp>
      <p:sp>
        <p:nvSpPr>
          <p:cNvPr id="13" name="Shape 10"/>
          <p:cNvSpPr/>
          <p:nvPr/>
        </p:nvSpPr>
        <p:spPr>
          <a:xfrm>
            <a:off x="457200" y="2377440"/>
            <a:ext cx="3319272" cy="2651760"/>
          </a:xfrm>
          <a:prstGeom prst="roundRect">
            <a:avLst>
              <a:gd name="adj" fmla="val 3448"/>
            </a:avLst>
          </a:prstGeom>
          <a:solidFill>
            <a:srgbClr val="F7F8FC"/>
          </a:solidFill>
          <a:ln w="19050">
            <a:solidFill>
              <a:srgbClr val="4361EE"/>
            </a:solidFill>
            <a:prstDash val="solid"/>
          </a:ln>
        </p:spPr>
        <p:txBody>
          <a:bodyPr/>
          <a:lstStyle/>
          <a:p>
            <a:endParaRPr lang="en-AU"/>
          </a:p>
        </p:txBody>
      </p:sp>
      <p:pic>
        <p:nvPicPr>
          <p:cNvPr id="14" name="Image 1" descr="icons/random_4361EE.png"/>
          <p:cNvPicPr>
            <a:picLocks noChangeAspect="1"/>
          </p:cNvPicPr>
          <p:nvPr/>
        </p:nvPicPr>
        <p:blipFill>
          <a:blip r:embed="rId4"/>
          <a:stretch>
            <a:fillRect/>
          </a:stretch>
        </p:blipFill>
        <p:spPr>
          <a:xfrm>
            <a:off x="1828800" y="2560320"/>
            <a:ext cx="548640" cy="548640"/>
          </a:xfrm>
          <a:prstGeom prst="rect">
            <a:avLst/>
          </a:prstGeom>
        </p:spPr>
      </p:pic>
      <p:sp>
        <p:nvSpPr>
          <p:cNvPr id="15" name="Text 11"/>
          <p:cNvSpPr/>
          <p:nvPr/>
        </p:nvSpPr>
        <p:spPr>
          <a:xfrm>
            <a:off x="457200" y="3200400"/>
            <a:ext cx="3319272" cy="320040"/>
          </a:xfrm>
          <a:prstGeom prst="rect">
            <a:avLst/>
          </a:prstGeom>
          <a:noFill/>
          <a:ln/>
        </p:spPr>
        <p:txBody>
          <a:bodyPr wrap="square" lIns="0" tIns="0" rIns="0" bIns="0" rtlCol="0" anchor="ctr"/>
          <a:lstStyle/>
          <a:p>
            <a:pPr marL="0" indent="0" algn="ctr">
              <a:buNone/>
            </a:pPr>
            <a:r>
              <a:rPr lang="en-US" sz="1300" b="1" dirty="0">
                <a:solidFill>
                  <a:srgbClr val="4361EE"/>
                </a:solidFill>
                <a:latin typeface="Courier New" pitchFamily="34" charset="0"/>
                <a:ea typeface="Courier New" pitchFamily="34" charset="-122"/>
                <a:cs typeface="Courier New" pitchFamily="34" charset="-120"/>
              </a:rPr>
              <a:t>THEME</a:t>
            </a:r>
            <a:endParaRPr lang="en-US" sz="1300" dirty="0"/>
          </a:p>
        </p:txBody>
      </p:sp>
      <p:sp>
        <p:nvSpPr>
          <p:cNvPr id="16" name="Text 12"/>
          <p:cNvSpPr/>
          <p:nvPr/>
        </p:nvSpPr>
        <p:spPr>
          <a:xfrm>
            <a:off x="685800" y="3566160"/>
            <a:ext cx="2862072" cy="1371600"/>
          </a:xfrm>
          <a:prstGeom prst="rect">
            <a:avLst/>
          </a:prstGeom>
          <a:noFill/>
          <a:ln/>
        </p:spPr>
        <p:txBody>
          <a:bodyPr wrap="square" lIns="0" tIns="0" rIns="0" bIns="0"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Underwater · Space · Horror · Farming · Mythology</a:t>
            </a:r>
            <a:endParaRPr lang="en-US" sz="1300" dirty="0"/>
          </a:p>
        </p:txBody>
      </p:sp>
      <p:sp>
        <p:nvSpPr>
          <p:cNvPr id="17" name="Shape 13"/>
          <p:cNvSpPr/>
          <p:nvPr/>
        </p:nvSpPr>
        <p:spPr>
          <a:xfrm>
            <a:off x="3959352" y="2377440"/>
            <a:ext cx="3319272" cy="2651760"/>
          </a:xfrm>
          <a:prstGeom prst="roundRect">
            <a:avLst>
              <a:gd name="adj" fmla="val 3448"/>
            </a:avLst>
          </a:prstGeom>
          <a:solidFill>
            <a:srgbClr val="F7F8FC"/>
          </a:solidFill>
          <a:ln w="19050">
            <a:solidFill>
              <a:srgbClr val="10B981"/>
            </a:solidFill>
            <a:prstDash val="solid"/>
          </a:ln>
        </p:spPr>
        <p:txBody>
          <a:bodyPr/>
          <a:lstStyle/>
          <a:p>
            <a:endParaRPr lang="en-AU"/>
          </a:p>
        </p:txBody>
      </p:sp>
      <p:pic>
        <p:nvPicPr>
          <p:cNvPr id="18" name="Image 2" descr="icons/random_10B981.png"/>
          <p:cNvPicPr>
            <a:picLocks noChangeAspect="1"/>
          </p:cNvPicPr>
          <p:nvPr/>
        </p:nvPicPr>
        <p:blipFill>
          <a:blip r:embed="rId4"/>
          <a:stretch>
            <a:fillRect/>
          </a:stretch>
        </p:blipFill>
        <p:spPr>
          <a:xfrm>
            <a:off x="5330952" y="2560320"/>
            <a:ext cx="548640" cy="548640"/>
          </a:xfrm>
          <a:prstGeom prst="rect">
            <a:avLst/>
          </a:prstGeom>
        </p:spPr>
      </p:pic>
      <p:sp>
        <p:nvSpPr>
          <p:cNvPr id="19" name="Text 14"/>
          <p:cNvSpPr/>
          <p:nvPr/>
        </p:nvSpPr>
        <p:spPr>
          <a:xfrm>
            <a:off x="3959352" y="3200400"/>
            <a:ext cx="3319272" cy="320040"/>
          </a:xfrm>
          <a:prstGeom prst="rect">
            <a:avLst/>
          </a:prstGeom>
          <a:noFill/>
          <a:ln/>
        </p:spPr>
        <p:txBody>
          <a:bodyPr wrap="square" lIns="0" tIns="0" rIns="0" bIns="0" rtlCol="0" anchor="ctr"/>
          <a:lstStyle/>
          <a:p>
            <a:pPr marL="0" indent="0" algn="ctr">
              <a:buNone/>
            </a:pPr>
            <a:r>
              <a:rPr lang="en-US" sz="1300" b="1" dirty="0">
                <a:solidFill>
                  <a:srgbClr val="10B981"/>
                </a:solidFill>
                <a:latin typeface="Courier New" pitchFamily="34" charset="0"/>
                <a:ea typeface="Courier New" pitchFamily="34" charset="-122"/>
                <a:cs typeface="Courier New" pitchFamily="34" charset="-120"/>
              </a:rPr>
              <a:t>SETTING</a:t>
            </a:r>
            <a:endParaRPr lang="en-US" sz="1300" dirty="0"/>
          </a:p>
        </p:txBody>
      </p:sp>
      <p:sp>
        <p:nvSpPr>
          <p:cNvPr id="20" name="Text 15"/>
          <p:cNvSpPr/>
          <p:nvPr/>
        </p:nvSpPr>
        <p:spPr>
          <a:xfrm>
            <a:off x="4187952" y="3566160"/>
            <a:ext cx="2862072" cy="1371600"/>
          </a:xfrm>
          <a:prstGeom prst="rect">
            <a:avLst/>
          </a:prstGeom>
          <a:noFill/>
          <a:ln/>
        </p:spPr>
        <p:txBody>
          <a:bodyPr wrap="square" lIns="0" tIns="0" rIns="0" bIns="0"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Abandoned city · Floating islands · School · Desert</a:t>
            </a:r>
            <a:endParaRPr lang="en-US" sz="1300" dirty="0"/>
          </a:p>
        </p:txBody>
      </p:sp>
      <p:sp>
        <p:nvSpPr>
          <p:cNvPr id="21" name="Shape 16"/>
          <p:cNvSpPr/>
          <p:nvPr/>
        </p:nvSpPr>
        <p:spPr>
          <a:xfrm>
            <a:off x="7461504" y="2377440"/>
            <a:ext cx="3319272" cy="2651760"/>
          </a:xfrm>
          <a:prstGeom prst="roundRect">
            <a:avLst>
              <a:gd name="adj" fmla="val 3448"/>
            </a:avLst>
          </a:prstGeom>
          <a:solidFill>
            <a:srgbClr val="F7F8FC"/>
          </a:solidFill>
          <a:ln w="19050">
            <a:solidFill>
              <a:srgbClr val="8B5CF6"/>
            </a:solidFill>
            <a:prstDash val="solid"/>
          </a:ln>
        </p:spPr>
        <p:txBody>
          <a:bodyPr/>
          <a:lstStyle/>
          <a:p>
            <a:endParaRPr lang="en-AU"/>
          </a:p>
        </p:txBody>
      </p:sp>
      <p:pic>
        <p:nvPicPr>
          <p:cNvPr id="22" name="Image 3" descr="icons/random_8B5CF6.png"/>
          <p:cNvPicPr>
            <a:picLocks noChangeAspect="1"/>
          </p:cNvPicPr>
          <p:nvPr/>
        </p:nvPicPr>
        <p:blipFill>
          <a:blip r:embed="rId4"/>
          <a:stretch>
            <a:fillRect/>
          </a:stretch>
        </p:blipFill>
        <p:spPr>
          <a:xfrm>
            <a:off x="8833104" y="2560320"/>
            <a:ext cx="548640" cy="548640"/>
          </a:xfrm>
          <a:prstGeom prst="rect">
            <a:avLst/>
          </a:prstGeom>
        </p:spPr>
      </p:pic>
      <p:sp>
        <p:nvSpPr>
          <p:cNvPr id="23" name="Text 17"/>
          <p:cNvSpPr/>
          <p:nvPr/>
        </p:nvSpPr>
        <p:spPr>
          <a:xfrm>
            <a:off x="7461504" y="3200400"/>
            <a:ext cx="3319272" cy="320040"/>
          </a:xfrm>
          <a:prstGeom prst="rect">
            <a:avLst/>
          </a:prstGeom>
          <a:noFill/>
          <a:ln/>
        </p:spPr>
        <p:txBody>
          <a:bodyPr wrap="square" lIns="0" tIns="0" rIns="0" bIns="0" rtlCol="0" anchor="ctr"/>
          <a:lstStyle/>
          <a:p>
            <a:pPr marL="0" indent="0" algn="ctr">
              <a:buNone/>
            </a:pPr>
            <a:r>
              <a:rPr lang="en-US" sz="1300" b="1" dirty="0">
                <a:solidFill>
                  <a:srgbClr val="8B5CF6"/>
                </a:solidFill>
                <a:latin typeface="Courier New" pitchFamily="34" charset="0"/>
                <a:ea typeface="Courier New" pitchFamily="34" charset="-122"/>
                <a:cs typeface="Courier New" pitchFamily="34" charset="-120"/>
              </a:rPr>
              <a:t>MECHANIC</a:t>
            </a:r>
            <a:endParaRPr lang="en-US" sz="1300" dirty="0"/>
          </a:p>
        </p:txBody>
      </p:sp>
      <p:sp>
        <p:nvSpPr>
          <p:cNvPr id="24" name="Text 18"/>
          <p:cNvSpPr/>
          <p:nvPr/>
        </p:nvSpPr>
        <p:spPr>
          <a:xfrm>
            <a:off x="7690104" y="3566160"/>
            <a:ext cx="2862072" cy="1371600"/>
          </a:xfrm>
          <a:prstGeom prst="rect">
            <a:avLst/>
          </a:prstGeom>
          <a:noFill/>
          <a:ln/>
        </p:spPr>
        <p:txBody>
          <a:bodyPr wrap="square" lIns="0" tIns="0" rIns="0" bIns="0"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Stealth · Racing · Building · Puzzle-solving</a:t>
            </a:r>
            <a:endParaRPr lang="en-US" sz="1300" dirty="0"/>
          </a:p>
        </p:txBody>
      </p:sp>
      <p:sp>
        <p:nvSpPr>
          <p:cNvPr id="25" name="Text 19"/>
          <p:cNvSpPr/>
          <p:nvPr/>
        </p:nvSpPr>
        <p:spPr>
          <a:xfrm>
            <a:off x="457200" y="5257800"/>
            <a:ext cx="10332720" cy="548640"/>
          </a:xfrm>
          <a:prstGeom prst="rect">
            <a:avLst/>
          </a:prstGeom>
          <a:noFill/>
          <a:ln/>
        </p:spPr>
        <p:txBody>
          <a:bodyPr wrap="square" lIns="0" tIns="0" rIns="0" bIns="0" rtlCol="0" anchor="ctr"/>
          <a:lstStyle/>
          <a:p>
            <a:pPr marL="0" indent="0">
              <a:buNone/>
            </a:pPr>
            <a:r>
              <a:rPr lang="en-US" sz="1500" i="1" dirty="0">
                <a:solidFill>
                  <a:srgbClr val="5A5A6E"/>
                </a:solidFill>
                <a:latin typeface="Calibri" pitchFamily="34" charset="0"/>
                <a:ea typeface="Calibri" pitchFamily="34" charset="-122"/>
                <a:cs typeface="Calibri" pitchFamily="34" charset="-120"/>
              </a:rPr>
              <a:t>💬 Discuss: could two students spin the exact same three results and still design completely different games? Why?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6</a:t>
            </a:r>
            <a:endParaRPr lang="en-US" sz="900" dirty="0"/>
          </a:p>
        </p:txBody>
      </p:sp>
      <p:sp>
        <p:nvSpPr>
          <p:cNvPr id="9" name="Shape 6"/>
          <p:cNvSpPr/>
          <p:nvPr/>
        </p:nvSpPr>
        <p:spPr>
          <a:xfrm>
            <a:off x="457200" y="960120"/>
            <a:ext cx="457200" cy="457200"/>
          </a:xfrm>
          <a:prstGeom prst="ellipse">
            <a:avLst/>
          </a:prstGeom>
          <a:solidFill>
            <a:srgbClr val="4361EE"/>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Method 2: The Mash-Up Method</a:t>
            </a:r>
            <a:endParaRPr lang="en-US" sz="3200" dirty="0"/>
          </a:p>
        </p:txBody>
      </p:sp>
      <p:sp>
        <p:nvSpPr>
          <p:cNvPr id="12" name="Text 9"/>
          <p:cNvSpPr/>
          <p:nvPr/>
        </p:nvSpPr>
        <p:spPr>
          <a:xfrm>
            <a:off x="457200" y="1737360"/>
            <a:ext cx="10332720" cy="548640"/>
          </a:xfrm>
          <a:prstGeom prst="rect">
            <a:avLst/>
          </a:prstGeom>
          <a:noFill/>
          <a:ln/>
        </p:spPr>
        <p:txBody>
          <a:bodyPr wrap="square" lIns="0" tIns="0" rIns="0" bIns="0" rtlCol="0" anchor="ctr"/>
          <a:lstStyle/>
          <a:p>
            <a:pPr marL="0" indent="0">
              <a:buNone/>
            </a:pPr>
            <a:r>
              <a:rPr lang="en-US" sz="1700" dirty="0">
                <a:solidFill>
                  <a:srgbClr val="1A1A2E"/>
                </a:solidFill>
                <a:latin typeface="Calibri" pitchFamily="34" charset="0"/>
                <a:ea typeface="Calibri" pitchFamily="34" charset="-122"/>
                <a:cs typeface="Calibri" pitchFamily="34" charset="-120"/>
              </a:rPr>
              <a:t>Take two existing games you know well and combine one element from each into something new.</a:t>
            </a:r>
            <a:endParaRPr lang="en-US" sz="1700" dirty="0"/>
          </a:p>
        </p:txBody>
      </p:sp>
      <p:sp>
        <p:nvSpPr>
          <p:cNvPr id="13" name="Shape 10"/>
          <p:cNvSpPr/>
          <p:nvPr/>
        </p:nvSpPr>
        <p:spPr>
          <a:xfrm>
            <a:off x="457200" y="2423160"/>
            <a:ext cx="10332720" cy="822960"/>
          </a:xfrm>
          <a:prstGeom prst="roundRect">
            <a:avLst>
              <a:gd name="adj" fmla="val 8889"/>
            </a:avLst>
          </a:prstGeom>
          <a:solidFill>
            <a:srgbClr val="F7F8FC"/>
          </a:solidFill>
          <a:ln w="12700">
            <a:solidFill>
              <a:srgbClr val="DCE0EA"/>
            </a:solidFill>
            <a:prstDash val="solid"/>
          </a:ln>
        </p:spPr>
        <p:txBody>
          <a:bodyPr/>
          <a:lstStyle/>
          <a:p>
            <a:endParaRPr lang="en-AU"/>
          </a:p>
        </p:txBody>
      </p:sp>
      <p:sp>
        <p:nvSpPr>
          <p:cNvPr id="14" name="Text 11"/>
          <p:cNvSpPr/>
          <p:nvPr/>
        </p:nvSpPr>
        <p:spPr>
          <a:xfrm>
            <a:off x="640080" y="2423160"/>
            <a:ext cx="2194560" cy="822960"/>
          </a:xfrm>
          <a:prstGeom prst="rect">
            <a:avLst/>
          </a:prstGeom>
          <a:noFill/>
          <a:ln/>
        </p:spPr>
        <p:txBody>
          <a:bodyPr wrap="square" lIns="0" tIns="0" rIns="0" bIns="0" rtlCol="0" anchor="ctr"/>
          <a:lstStyle/>
          <a:p>
            <a:pPr marL="0" indent="0">
              <a:buNone/>
            </a:pPr>
            <a:r>
              <a:rPr lang="en-US" sz="1500" b="1" dirty="0">
                <a:solidFill>
                  <a:srgbClr val="4361EE"/>
                </a:solidFill>
                <a:latin typeface="Calibri" pitchFamily="34" charset="0"/>
                <a:ea typeface="Calibri" pitchFamily="34" charset="-122"/>
                <a:cs typeface="Calibri" pitchFamily="34" charset="-120"/>
              </a:rPr>
              <a:t>Chess</a:t>
            </a:r>
            <a:endParaRPr lang="en-US" sz="1500" dirty="0"/>
          </a:p>
        </p:txBody>
      </p:sp>
      <p:sp>
        <p:nvSpPr>
          <p:cNvPr id="15" name="Text 12"/>
          <p:cNvSpPr/>
          <p:nvPr/>
        </p:nvSpPr>
        <p:spPr>
          <a:xfrm>
            <a:off x="2788920" y="2423160"/>
            <a:ext cx="365760" cy="822960"/>
          </a:xfrm>
          <a:prstGeom prst="rect">
            <a:avLst/>
          </a:prstGeom>
          <a:noFill/>
          <a:ln/>
        </p:spPr>
        <p:txBody>
          <a:bodyPr wrap="square" lIns="0" tIns="0" rIns="0" bIns="0"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16" name="Text 13"/>
          <p:cNvSpPr/>
          <p:nvPr/>
        </p:nvSpPr>
        <p:spPr>
          <a:xfrm>
            <a:off x="3108960" y="2423160"/>
            <a:ext cx="2377440" cy="822960"/>
          </a:xfrm>
          <a:prstGeom prst="rect">
            <a:avLst/>
          </a:prstGeom>
          <a:noFill/>
          <a:ln/>
        </p:spPr>
        <p:txBody>
          <a:bodyPr wrap="square" lIns="0" tIns="0" rIns="0" bIns="0" rtlCol="0" anchor="ctr"/>
          <a:lstStyle/>
          <a:p>
            <a:pPr marL="0" indent="0">
              <a:buNone/>
            </a:pPr>
            <a:r>
              <a:rPr lang="en-US" sz="1500" b="1" dirty="0">
                <a:solidFill>
                  <a:srgbClr val="8B5CF6"/>
                </a:solidFill>
                <a:latin typeface="Calibri" pitchFamily="34" charset="0"/>
                <a:ea typeface="Calibri" pitchFamily="34" charset="-122"/>
                <a:cs typeface="Calibri" pitchFamily="34" charset="-120"/>
              </a:rPr>
              <a:t>Battle Royale</a:t>
            </a:r>
            <a:endParaRPr lang="en-US" sz="1500" dirty="0"/>
          </a:p>
        </p:txBody>
      </p:sp>
      <p:sp>
        <p:nvSpPr>
          <p:cNvPr id="17" name="Text 14"/>
          <p:cNvSpPr/>
          <p:nvPr/>
        </p:nvSpPr>
        <p:spPr>
          <a:xfrm>
            <a:off x="5623560" y="2423160"/>
            <a:ext cx="4937760" cy="822960"/>
          </a:xfrm>
          <a:prstGeom prst="rect">
            <a:avLst/>
          </a:prstGeom>
          <a:noFill/>
          <a:ln/>
        </p:spPr>
        <p:txBody>
          <a:bodyPr wrap="square" lIns="0" tIns="0" rIns="0" bIns="0" rtlCol="0" anchor="ctr"/>
          <a:lstStyle/>
          <a:p>
            <a:pPr marL="0" indent="0">
              <a:buNone/>
            </a:pPr>
            <a:r>
              <a:rPr lang="en-US" sz="1400" i="1" dirty="0">
                <a:solidFill>
                  <a:srgbClr val="1A1A2E"/>
                </a:solidFill>
                <a:latin typeface="Calibri" pitchFamily="34" charset="0"/>
                <a:ea typeface="Calibri" pitchFamily="34" charset="-122"/>
                <a:cs typeface="Calibri" pitchFamily="34" charset="-120"/>
              </a:rPr>
              <a:t>→ A shrinking board where pieces are eliminated as the arena shrinks.</a:t>
            </a:r>
            <a:endParaRPr lang="en-US" sz="1400" dirty="0"/>
          </a:p>
        </p:txBody>
      </p:sp>
      <p:sp>
        <p:nvSpPr>
          <p:cNvPr id="18" name="Shape 15"/>
          <p:cNvSpPr/>
          <p:nvPr/>
        </p:nvSpPr>
        <p:spPr>
          <a:xfrm>
            <a:off x="457200" y="3383280"/>
            <a:ext cx="10332720" cy="822960"/>
          </a:xfrm>
          <a:prstGeom prst="roundRect">
            <a:avLst>
              <a:gd name="adj" fmla="val 8889"/>
            </a:avLst>
          </a:prstGeom>
          <a:solidFill>
            <a:srgbClr val="F7F8FC"/>
          </a:solidFill>
          <a:ln w="12700">
            <a:solidFill>
              <a:srgbClr val="DCE0EA"/>
            </a:solidFill>
            <a:prstDash val="solid"/>
          </a:ln>
        </p:spPr>
        <p:txBody>
          <a:bodyPr/>
          <a:lstStyle/>
          <a:p>
            <a:endParaRPr lang="en-AU"/>
          </a:p>
        </p:txBody>
      </p:sp>
      <p:sp>
        <p:nvSpPr>
          <p:cNvPr id="19" name="Text 16"/>
          <p:cNvSpPr/>
          <p:nvPr/>
        </p:nvSpPr>
        <p:spPr>
          <a:xfrm>
            <a:off x="640080" y="3383280"/>
            <a:ext cx="2194560" cy="822960"/>
          </a:xfrm>
          <a:prstGeom prst="rect">
            <a:avLst/>
          </a:prstGeom>
          <a:noFill/>
          <a:ln/>
        </p:spPr>
        <p:txBody>
          <a:bodyPr wrap="square" lIns="0" tIns="0" rIns="0" bIns="0" rtlCol="0" anchor="ctr"/>
          <a:lstStyle/>
          <a:p>
            <a:pPr marL="0" indent="0">
              <a:buNone/>
            </a:pPr>
            <a:r>
              <a:rPr lang="en-US" sz="1500" b="1" dirty="0">
                <a:solidFill>
                  <a:srgbClr val="4361EE"/>
                </a:solidFill>
                <a:latin typeface="Calibri" pitchFamily="34" charset="0"/>
                <a:ea typeface="Calibri" pitchFamily="34" charset="-122"/>
                <a:cs typeface="Calibri" pitchFamily="34" charset="-120"/>
              </a:rPr>
              <a:t>Minecraft</a:t>
            </a:r>
            <a:endParaRPr lang="en-US" sz="1500" dirty="0"/>
          </a:p>
        </p:txBody>
      </p:sp>
      <p:sp>
        <p:nvSpPr>
          <p:cNvPr id="20" name="Text 17"/>
          <p:cNvSpPr/>
          <p:nvPr/>
        </p:nvSpPr>
        <p:spPr>
          <a:xfrm>
            <a:off x="2788920" y="3383280"/>
            <a:ext cx="365760" cy="822960"/>
          </a:xfrm>
          <a:prstGeom prst="rect">
            <a:avLst/>
          </a:prstGeom>
          <a:noFill/>
          <a:ln/>
        </p:spPr>
        <p:txBody>
          <a:bodyPr wrap="square" lIns="0" tIns="0" rIns="0" bIns="0"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21" name="Text 18"/>
          <p:cNvSpPr/>
          <p:nvPr/>
        </p:nvSpPr>
        <p:spPr>
          <a:xfrm>
            <a:off x="3108960" y="3383280"/>
            <a:ext cx="2377440" cy="822960"/>
          </a:xfrm>
          <a:prstGeom prst="rect">
            <a:avLst/>
          </a:prstGeom>
          <a:noFill/>
          <a:ln/>
        </p:spPr>
        <p:txBody>
          <a:bodyPr wrap="square" lIns="0" tIns="0" rIns="0" bIns="0" rtlCol="0" anchor="ctr"/>
          <a:lstStyle/>
          <a:p>
            <a:pPr marL="0" indent="0">
              <a:buNone/>
            </a:pPr>
            <a:r>
              <a:rPr lang="en-US" sz="1500" b="1" dirty="0">
                <a:solidFill>
                  <a:srgbClr val="8B5CF6"/>
                </a:solidFill>
                <a:latin typeface="Calibri" pitchFamily="34" charset="0"/>
                <a:ea typeface="Calibri" pitchFamily="34" charset="-122"/>
                <a:cs typeface="Calibri" pitchFamily="34" charset="-120"/>
              </a:rPr>
              <a:t>Rhythm games</a:t>
            </a:r>
            <a:endParaRPr lang="en-US" sz="1500" dirty="0"/>
          </a:p>
        </p:txBody>
      </p:sp>
      <p:sp>
        <p:nvSpPr>
          <p:cNvPr id="22" name="Text 19"/>
          <p:cNvSpPr/>
          <p:nvPr/>
        </p:nvSpPr>
        <p:spPr>
          <a:xfrm>
            <a:off x="5623560" y="3383280"/>
            <a:ext cx="4937760" cy="822960"/>
          </a:xfrm>
          <a:prstGeom prst="rect">
            <a:avLst/>
          </a:prstGeom>
          <a:noFill/>
          <a:ln/>
        </p:spPr>
        <p:txBody>
          <a:bodyPr wrap="square" lIns="0" tIns="0" rIns="0" bIns="0" rtlCol="0" anchor="ctr"/>
          <a:lstStyle/>
          <a:p>
            <a:pPr marL="0" indent="0">
              <a:buNone/>
            </a:pPr>
            <a:r>
              <a:rPr lang="en-US" sz="1400" i="1" dirty="0">
                <a:solidFill>
                  <a:srgbClr val="1A1A2E"/>
                </a:solidFill>
                <a:latin typeface="Calibri" pitchFamily="34" charset="0"/>
                <a:ea typeface="Calibri" pitchFamily="34" charset="-122"/>
                <a:cs typeface="Calibri" pitchFamily="34" charset="-120"/>
              </a:rPr>
              <a:t>→ Building blocks in time with a beat, mistakes break your structure.</a:t>
            </a:r>
            <a:endParaRPr lang="en-US" sz="1400" dirty="0"/>
          </a:p>
        </p:txBody>
      </p:sp>
      <p:sp>
        <p:nvSpPr>
          <p:cNvPr id="23" name="Shape 20"/>
          <p:cNvSpPr/>
          <p:nvPr/>
        </p:nvSpPr>
        <p:spPr>
          <a:xfrm>
            <a:off x="457200" y="4343400"/>
            <a:ext cx="10332720" cy="822960"/>
          </a:xfrm>
          <a:prstGeom prst="roundRect">
            <a:avLst>
              <a:gd name="adj" fmla="val 8889"/>
            </a:avLst>
          </a:prstGeom>
          <a:solidFill>
            <a:srgbClr val="F7F8FC"/>
          </a:solidFill>
          <a:ln w="12700">
            <a:solidFill>
              <a:srgbClr val="DCE0EA"/>
            </a:solidFill>
            <a:prstDash val="solid"/>
          </a:ln>
        </p:spPr>
        <p:txBody>
          <a:bodyPr/>
          <a:lstStyle/>
          <a:p>
            <a:endParaRPr lang="en-AU"/>
          </a:p>
        </p:txBody>
      </p:sp>
      <p:sp>
        <p:nvSpPr>
          <p:cNvPr id="24" name="Text 21"/>
          <p:cNvSpPr/>
          <p:nvPr/>
        </p:nvSpPr>
        <p:spPr>
          <a:xfrm>
            <a:off x="640080" y="4343400"/>
            <a:ext cx="2194560" cy="822960"/>
          </a:xfrm>
          <a:prstGeom prst="rect">
            <a:avLst/>
          </a:prstGeom>
          <a:noFill/>
          <a:ln/>
        </p:spPr>
        <p:txBody>
          <a:bodyPr wrap="square" lIns="0" tIns="0" rIns="0" bIns="0" rtlCol="0" anchor="ctr"/>
          <a:lstStyle/>
          <a:p>
            <a:pPr marL="0" indent="0">
              <a:buNone/>
            </a:pPr>
            <a:r>
              <a:rPr lang="en-US" sz="1500" b="1" dirty="0">
                <a:solidFill>
                  <a:srgbClr val="4361EE"/>
                </a:solidFill>
                <a:latin typeface="Calibri" pitchFamily="34" charset="0"/>
                <a:ea typeface="Calibri" pitchFamily="34" charset="-122"/>
                <a:cs typeface="Calibri" pitchFamily="34" charset="-120"/>
              </a:rPr>
              <a:t>Among Us</a:t>
            </a:r>
            <a:endParaRPr lang="en-US" sz="1500" dirty="0"/>
          </a:p>
        </p:txBody>
      </p:sp>
      <p:sp>
        <p:nvSpPr>
          <p:cNvPr id="25" name="Text 22"/>
          <p:cNvSpPr/>
          <p:nvPr/>
        </p:nvSpPr>
        <p:spPr>
          <a:xfrm>
            <a:off x="2788920" y="4343400"/>
            <a:ext cx="365760" cy="822960"/>
          </a:xfrm>
          <a:prstGeom prst="rect">
            <a:avLst/>
          </a:prstGeom>
          <a:noFill/>
          <a:ln/>
        </p:spPr>
        <p:txBody>
          <a:bodyPr wrap="square" lIns="0" tIns="0" rIns="0" bIns="0"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26" name="Text 23"/>
          <p:cNvSpPr/>
          <p:nvPr/>
        </p:nvSpPr>
        <p:spPr>
          <a:xfrm>
            <a:off x="3108960" y="4343400"/>
            <a:ext cx="2377440" cy="822960"/>
          </a:xfrm>
          <a:prstGeom prst="rect">
            <a:avLst/>
          </a:prstGeom>
          <a:noFill/>
          <a:ln/>
        </p:spPr>
        <p:txBody>
          <a:bodyPr wrap="square" lIns="0" tIns="0" rIns="0" bIns="0" rtlCol="0" anchor="ctr"/>
          <a:lstStyle/>
          <a:p>
            <a:pPr marL="0" indent="0">
              <a:buNone/>
            </a:pPr>
            <a:r>
              <a:rPr lang="en-US" sz="1500" b="1" dirty="0">
                <a:solidFill>
                  <a:srgbClr val="8B5CF6"/>
                </a:solidFill>
                <a:latin typeface="Calibri" pitchFamily="34" charset="0"/>
                <a:ea typeface="Calibri" pitchFamily="34" charset="-122"/>
                <a:cs typeface="Calibri" pitchFamily="34" charset="-120"/>
              </a:rPr>
              <a:t>Racing games</a:t>
            </a:r>
            <a:endParaRPr lang="en-US" sz="1500" dirty="0"/>
          </a:p>
        </p:txBody>
      </p:sp>
      <p:sp>
        <p:nvSpPr>
          <p:cNvPr id="27" name="Text 24"/>
          <p:cNvSpPr/>
          <p:nvPr/>
        </p:nvSpPr>
        <p:spPr>
          <a:xfrm>
            <a:off x="5623560" y="4343400"/>
            <a:ext cx="4937760" cy="822960"/>
          </a:xfrm>
          <a:prstGeom prst="rect">
            <a:avLst/>
          </a:prstGeom>
          <a:noFill/>
          <a:ln/>
        </p:spPr>
        <p:txBody>
          <a:bodyPr wrap="square" lIns="0" tIns="0" rIns="0" bIns="0" rtlCol="0" anchor="ctr"/>
          <a:lstStyle/>
          <a:p>
            <a:pPr marL="0" indent="0">
              <a:buNone/>
            </a:pPr>
            <a:r>
              <a:rPr lang="en-US" sz="1400" i="1" dirty="0">
                <a:solidFill>
                  <a:srgbClr val="1A1A2E"/>
                </a:solidFill>
                <a:latin typeface="Calibri" pitchFamily="34" charset="0"/>
                <a:ea typeface="Calibri" pitchFamily="34" charset="-122"/>
                <a:cs typeface="Calibri" pitchFamily="34" charset="-120"/>
              </a:rPr>
              <a:t>→ A hidden saboteur is secretly slowing down one racer’s car.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7</a:t>
            </a:r>
            <a:endParaRPr lang="en-US" sz="900" dirty="0"/>
          </a:p>
        </p:txBody>
      </p:sp>
      <p:sp>
        <p:nvSpPr>
          <p:cNvPr id="9" name="Shape 6"/>
          <p:cNvSpPr/>
          <p:nvPr/>
        </p:nvSpPr>
        <p:spPr>
          <a:xfrm>
            <a:off x="457200" y="960120"/>
            <a:ext cx="457200" cy="457200"/>
          </a:xfrm>
          <a:prstGeom prst="ellipse">
            <a:avLst/>
          </a:prstGeom>
          <a:solidFill>
            <a:srgbClr val="4361EE"/>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Method 3: "What If" Constraints</a:t>
            </a:r>
            <a:endParaRPr lang="en-US" sz="3200" dirty="0"/>
          </a:p>
        </p:txBody>
      </p:sp>
      <p:sp>
        <p:nvSpPr>
          <p:cNvPr id="12" name="Text 9"/>
          <p:cNvSpPr/>
          <p:nvPr/>
        </p:nvSpPr>
        <p:spPr>
          <a:xfrm>
            <a:off x="457200" y="1737360"/>
            <a:ext cx="10332720" cy="822960"/>
          </a:xfrm>
          <a:prstGeom prst="rect">
            <a:avLst/>
          </a:prstGeom>
          <a:noFill/>
          <a:ln/>
        </p:spPr>
        <p:txBody>
          <a:bodyPr wrap="square" lIns="0" tIns="0" rIns="0" bIns="0" rtlCol="0" anchor="ctr"/>
          <a:lstStyle/>
          <a:p>
            <a:pPr marL="0" indent="0">
              <a:buNone/>
            </a:pPr>
            <a:r>
              <a:rPr lang="en-US" sz="1700" dirty="0">
                <a:solidFill>
                  <a:srgbClr val="1A1A2E"/>
                </a:solidFill>
                <a:latin typeface="Calibri" pitchFamily="34" charset="0"/>
                <a:ea typeface="Calibri" pitchFamily="34" charset="-122"/>
                <a:cs typeface="Calibri" pitchFamily="34" charset="-120"/>
              </a:rPr>
              <a:t>Take something players normally take for granted and remove or flip it. The constraint forces new mechanics to solve the problem it creates.</a:t>
            </a:r>
            <a:endParaRPr lang="en-US" sz="1700" dirty="0"/>
          </a:p>
        </p:txBody>
      </p:sp>
      <p:sp>
        <p:nvSpPr>
          <p:cNvPr id="13" name="Shape 10"/>
          <p:cNvSpPr/>
          <p:nvPr/>
        </p:nvSpPr>
        <p:spPr>
          <a:xfrm>
            <a:off x="457200" y="2743200"/>
            <a:ext cx="5029200" cy="1005840"/>
          </a:xfrm>
          <a:prstGeom prst="roundRect">
            <a:avLst>
              <a:gd name="adj" fmla="val 7273"/>
            </a:avLst>
          </a:prstGeom>
          <a:solidFill>
            <a:srgbClr val="FFFFFF"/>
          </a:solidFill>
          <a:ln w="15875">
            <a:solidFill>
              <a:srgbClr val="8B5CF6"/>
            </a:solidFill>
            <a:prstDash val="solid"/>
          </a:ln>
        </p:spPr>
        <p:txBody>
          <a:bodyPr/>
          <a:lstStyle/>
          <a:p>
            <a:endParaRPr lang="en-AU"/>
          </a:p>
        </p:txBody>
      </p:sp>
      <p:pic>
        <p:nvPicPr>
          <p:cNvPr id="14" name="Image 1" descr="icons/question_8B5CF6.png"/>
          <p:cNvPicPr>
            <a:picLocks noChangeAspect="1"/>
          </p:cNvPicPr>
          <p:nvPr/>
        </p:nvPicPr>
        <p:blipFill>
          <a:blip r:embed="rId4"/>
          <a:stretch>
            <a:fillRect/>
          </a:stretch>
        </p:blipFill>
        <p:spPr>
          <a:xfrm>
            <a:off x="640080" y="3017520"/>
            <a:ext cx="457200" cy="457200"/>
          </a:xfrm>
          <a:prstGeom prst="rect">
            <a:avLst/>
          </a:prstGeom>
        </p:spPr>
      </p:pic>
      <p:sp>
        <p:nvSpPr>
          <p:cNvPr id="15" name="Text 11"/>
          <p:cNvSpPr/>
          <p:nvPr/>
        </p:nvSpPr>
        <p:spPr>
          <a:xfrm>
            <a:off x="1234440" y="2743200"/>
            <a:ext cx="4069080" cy="1005840"/>
          </a:xfrm>
          <a:prstGeom prst="rect">
            <a:avLst/>
          </a:prstGeom>
          <a:noFill/>
          <a:ln/>
        </p:spPr>
        <p:txBody>
          <a:bodyPr wrap="square" lIns="0" tIns="0" rIns="0" bIns="0" rtlCol="0" anchor="ctr"/>
          <a:lstStyle/>
          <a:p>
            <a:pPr marL="0" indent="0">
              <a:buNone/>
            </a:pPr>
            <a:r>
              <a:rPr lang="en-US" sz="1400" i="1" dirty="0">
                <a:solidFill>
                  <a:srgbClr val="1A1A2E"/>
                </a:solidFill>
                <a:latin typeface="Calibri" pitchFamily="34" charset="0"/>
                <a:ea typeface="Calibri" pitchFamily="34" charset="-122"/>
                <a:cs typeface="Calibri" pitchFamily="34" charset="-120"/>
              </a:rPr>
              <a:t>What if the player couldn’t see more than one metre ahead?</a:t>
            </a:r>
            <a:endParaRPr lang="en-US" sz="1400" dirty="0"/>
          </a:p>
        </p:txBody>
      </p:sp>
      <p:sp>
        <p:nvSpPr>
          <p:cNvPr id="16" name="Shape 12"/>
          <p:cNvSpPr/>
          <p:nvPr/>
        </p:nvSpPr>
        <p:spPr>
          <a:xfrm>
            <a:off x="5715000" y="2743200"/>
            <a:ext cx="5029200" cy="1005840"/>
          </a:xfrm>
          <a:prstGeom prst="roundRect">
            <a:avLst>
              <a:gd name="adj" fmla="val 7273"/>
            </a:avLst>
          </a:prstGeom>
          <a:solidFill>
            <a:srgbClr val="FFFFFF"/>
          </a:solidFill>
          <a:ln w="15875">
            <a:solidFill>
              <a:srgbClr val="8B5CF6"/>
            </a:solidFill>
            <a:prstDash val="solid"/>
          </a:ln>
        </p:spPr>
        <p:txBody>
          <a:bodyPr/>
          <a:lstStyle/>
          <a:p>
            <a:endParaRPr lang="en-AU"/>
          </a:p>
        </p:txBody>
      </p:sp>
      <p:pic>
        <p:nvPicPr>
          <p:cNvPr id="17" name="Image 2" descr="icons/question_8B5CF6.png"/>
          <p:cNvPicPr>
            <a:picLocks noChangeAspect="1"/>
          </p:cNvPicPr>
          <p:nvPr/>
        </p:nvPicPr>
        <p:blipFill>
          <a:blip r:embed="rId4"/>
          <a:stretch>
            <a:fillRect/>
          </a:stretch>
        </p:blipFill>
        <p:spPr>
          <a:xfrm>
            <a:off x="5897880" y="3017520"/>
            <a:ext cx="457200" cy="457200"/>
          </a:xfrm>
          <a:prstGeom prst="rect">
            <a:avLst/>
          </a:prstGeom>
        </p:spPr>
      </p:pic>
      <p:sp>
        <p:nvSpPr>
          <p:cNvPr id="18" name="Text 13"/>
          <p:cNvSpPr/>
          <p:nvPr/>
        </p:nvSpPr>
        <p:spPr>
          <a:xfrm>
            <a:off x="6492240" y="2743200"/>
            <a:ext cx="4069080" cy="1005840"/>
          </a:xfrm>
          <a:prstGeom prst="rect">
            <a:avLst/>
          </a:prstGeom>
          <a:noFill/>
          <a:ln/>
        </p:spPr>
        <p:txBody>
          <a:bodyPr wrap="square" lIns="0" tIns="0" rIns="0" bIns="0" rtlCol="0" anchor="ctr"/>
          <a:lstStyle/>
          <a:p>
            <a:pPr marL="0" indent="0">
              <a:buNone/>
            </a:pPr>
            <a:r>
              <a:rPr lang="en-US" sz="1400" i="1" dirty="0">
                <a:solidFill>
                  <a:srgbClr val="1A1A2E"/>
                </a:solidFill>
                <a:latin typeface="Calibri" pitchFamily="34" charset="0"/>
                <a:ea typeface="Calibri" pitchFamily="34" charset="-122"/>
                <a:cs typeface="Calibri" pitchFamily="34" charset="-120"/>
              </a:rPr>
              <a:t>What if every action was permanent — no undo, no retry?</a:t>
            </a:r>
            <a:endParaRPr lang="en-US" sz="1400" dirty="0"/>
          </a:p>
        </p:txBody>
      </p:sp>
      <p:sp>
        <p:nvSpPr>
          <p:cNvPr id="19" name="Shape 14"/>
          <p:cNvSpPr/>
          <p:nvPr/>
        </p:nvSpPr>
        <p:spPr>
          <a:xfrm>
            <a:off x="457200" y="3931920"/>
            <a:ext cx="5029200" cy="1005840"/>
          </a:xfrm>
          <a:prstGeom prst="roundRect">
            <a:avLst>
              <a:gd name="adj" fmla="val 7273"/>
            </a:avLst>
          </a:prstGeom>
          <a:solidFill>
            <a:srgbClr val="FFFFFF"/>
          </a:solidFill>
          <a:ln w="15875">
            <a:solidFill>
              <a:srgbClr val="8B5CF6"/>
            </a:solidFill>
            <a:prstDash val="solid"/>
          </a:ln>
        </p:spPr>
        <p:txBody>
          <a:bodyPr/>
          <a:lstStyle/>
          <a:p>
            <a:endParaRPr lang="en-AU"/>
          </a:p>
        </p:txBody>
      </p:sp>
      <p:pic>
        <p:nvPicPr>
          <p:cNvPr id="20" name="Image 3" descr="icons/question_8B5CF6.png"/>
          <p:cNvPicPr>
            <a:picLocks noChangeAspect="1"/>
          </p:cNvPicPr>
          <p:nvPr/>
        </p:nvPicPr>
        <p:blipFill>
          <a:blip r:embed="rId4"/>
          <a:stretch>
            <a:fillRect/>
          </a:stretch>
        </p:blipFill>
        <p:spPr>
          <a:xfrm>
            <a:off x="640080" y="4206240"/>
            <a:ext cx="457200" cy="457200"/>
          </a:xfrm>
          <a:prstGeom prst="rect">
            <a:avLst/>
          </a:prstGeom>
        </p:spPr>
      </p:pic>
      <p:sp>
        <p:nvSpPr>
          <p:cNvPr id="21" name="Text 15"/>
          <p:cNvSpPr/>
          <p:nvPr/>
        </p:nvSpPr>
        <p:spPr>
          <a:xfrm>
            <a:off x="1234440" y="3931920"/>
            <a:ext cx="4069080" cy="1005840"/>
          </a:xfrm>
          <a:prstGeom prst="rect">
            <a:avLst/>
          </a:prstGeom>
          <a:noFill/>
          <a:ln/>
        </p:spPr>
        <p:txBody>
          <a:bodyPr wrap="square" lIns="0" tIns="0" rIns="0" bIns="0" rtlCol="0" anchor="ctr"/>
          <a:lstStyle/>
          <a:p>
            <a:pPr marL="0" indent="0">
              <a:buNone/>
            </a:pPr>
            <a:r>
              <a:rPr lang="en-US" sz="1400" i="1" dirty="0">
                <a:solidFill>
                  <a:srgbClr val="1A1A2E"/>
                </a:solidFill>
                <a:latin typeface="Calibri" pitchFamily="34" charset="0"/>
                <a:ea typeface="Calibri" pitchFamily="34" charset="-122"/>
                <a:cs typeface="Calibri" pitchFamily="34" charset="-120"/>
              </a:rPr>
              <a:t>What if two players had to share one controller, one input each?</a:t>
            </a:r>
            <a:endParaRPr lang="en-US" sz="1400" dirty="0"/>
          </a:p>
        </p:txBody>
      </p:sp>
      <p:sp>
        <p:nvSpPr>
          <p:cNvPr id="22" name="Shape 16"/>
          <p:cNvSpPr/>
          <p:nvPr/>
        </p:nvSpPr>
        <p:spPr>
          <a:xfrm>
            <a:off x="5715000" y="3931920"/>
            <a:ext cx="5029200" cy="1005840"/>
          </a:xfrm>
          <a:prstGeom prst="roundRect">
            <a:avLst>
              <a:gd name="adj" fmla="val 7273"/>
            </a:avLst>
          </a:prstGeom>
          <a:solidFill>
            <a:srgbClr val="FFFFFF"/>
          </a:solidFill>
          <a:ln w="15875">
            <a:solidFill>
              <a:srgbClr val="8B5CF6"/>
            </a:solidFill>
            <a:prstDash val="solid"/>
          </a:ln>
        </p:spPr>
        <p:txBody>
          <a:bodyPr/>
          <a:lstStyle/>
          <a:p>
            <a:endParaRPr lang="en-AU"/>
          </a:p>
        </p:txBody>
      </p:sp>
      <p:pic>
        <p:nvPicPr>
          <p:cNvPr id="23" name="Image 4" descr="icons/question_8B5CF6.png"/>
          <p:cNvPicPr>
            <a:picLocks noChangeAspect="1"/>
          </p:cNvPicPr>
          <p:nvPr/>
        </p:nvPicPr>
        <p:blipFill>
          <a:blip r:embed="rId4"/>
          <a:stretch>
            <a:fillRect/>
          </a:stretch>
        </p:blipFill>
        <p:spPr>
          <a:xfrm>
            <a:off x="5897880" y="4206240"/>
            <a:ext cx="457200" cy="457200"/>
          </a:xfrm>
          <a:prstGeom prst="rect">
            <a:avLst/>
          </a:prstGeom>
        </p:spPr>
      </p:pic>
      <p:sp>
        <p:nvSpPr>
          <p:cNvPr id="24" name="Text 17"/>
          <p:cNvSpPr/>
          <p:nvPr/>
        </p:nvSpPr>
        <p:spPr>
          <a:xfrm>
            <a:off x="6492240" y="3931920"/>
            <a:ext cx="4069080" cy="1005840"/>
          </a:xfrm>
          <a:prstGeom prst="rect">
            <a:avLst/>
          </a:prstGeom>
          <a:noFill/>
          <a:ln/>
        </p:spPr>
        <p:txBody>
          <a:bodyPr wrap="square" lIns="0" tIns="0" rIns="0" bIns="0" rtlCol="0" anchor="ctr"/>
          <a:lstStyle/>
          <a:p>
            <a:pPr marL="0" indent="0">
              <a:buNone/>
            </a:pPr>
            <a:r>
              <a:rPr lang="en-US" sz="1400" i="1" dirty="0">
                <a:solidFill>
                  <a:srgbClr val="1A1A2E"/>
                </a:solidFill>
                <a:latin typeface="Calibri" pitchFamily="34" charset="0"/>
                <a:ea typeface="Calibri" pitchFamily="34" charset="-122"/>
                <a:cs typeface="Calibri" pitchFamily="34" charset="-120"/>
              </a:rPr>
              <a:t>What if the game got easier the longer you played badly?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8</a:t>
            </a:r>
            <a:endParaRPr lang="en-US" sz="900" dirty="0"/>
          </a:p>
        </p:txBody>
      </p:sp>
      <p:sp>
        <p:nvSpPr>
          <p:cNvPr id="9" name="Shape 6"/>
          <p:cNvSpPr/>
          <p:nvPr/>
        </p:nvSpPr>
        <p:spPr>
          <a:xfrm>
            <a:off x="457200" y="960120"/>
            <a:ext cx="457200" cy="457200"/>
          </a:xfrm>
          <a:prstGeom prst="ellipse">
            <a:avLst/>
          </a:prstGeom>
          <a:solidFill>
            <a:srgbClr val="4361EE"/>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Worked Example: Spinning the Wheels</a:t>
            </a:r>
            <a:endParaRPr lang="en-US" sz="2800" dirty="0"/>
          </a:p>
        </p:txBody>
      </p:sp>
      <p:sp>
        <p:nvSpPr>
          <p:cNvPr id="12" name="Shape 9"/>
          <p:cNvSpPr/>
          <p:nvPr/>
        </p:nvSpPr>
        <p:spPr>
          <a:xfrm>
            <a:off x="457200" y="1737360"/>
            <a:ext cx="10332720" cy="640080"/>
          </a:xfrm>
          <a:prstGeom prst="roundRect">
            <a:avLst>
              <a:gd name="adj" fmla="val 11429"/>
            </a:avLst>
          </a:prstGeom>
          <a:solidFill>
            <a:srgbClr val="F7F8FC"/>
          </a:solidFill>
          <a:ln w="12700">
            <a:solidFill>
              <a:srgbClr val="DCE0EA"/>
            </a:solidFill>
            <a:prstDash val="solid"/>
          </a:ln>
        </p:spPr>
        <p:txBody>
          <a:bodyPr/>
          <a:lstStyle/>
          <a:p>
            <a:endParaRPr lang="en-AU"/>
          </a:p>
        </p:txBody>
      </p:sp>
      <p:sp>
        <p:nvSpPr>
          <p:cNvPr id="13" name="Text 10"/>
          <p:cNvSpPr/>
          <p:nvPr/>
        </p:nvSpPr>
        <p:spPr>
          <a:xfrm>
            <a:off x="731520" y="1737360"/>
            <a:ext cx="9784080" cy="640080"/>
          </a:xfrm>
          <a:prstGeom prst="rect">
            <a:avLst/>
          </a:prstGeom>
          <a:noFill/>
          <a:ln/>
        </p:spPr>
        <p:txBody>
          <a:bodyPr wrap="square" lIns="0" tIns="0" rIns="0" bIns="0" rtlCol="0" anchor="ctr"/>
          <a:lstStyle/>
          <a:p>
            <a:pPr marL="0" indent="0">
              <a:buNone/>
            </a:pPr>
            <a:r>
              <a:rPr lang="en-US" sz="1600" b="1" dirty="0">
                <a:solidFill>
                  <a:srgbClr val="4361EE"/>
                </a:solidFill>
                <a:latin typeface="Courier New" pitchFamily="34" charset="0"/>
                <a:ea typeface="Courier New" pitchFamily="34" charset="-122"/>
                <a:cs typeface="Courier New" pitchFamily="34" charset="-120"/>
              </a:rPr>
              <a:t>THEME: </a:t>
            </a:r>
            <a:r>
              <a:rPr lang="en-US" sz="1600" dirty="0">
                <a:solidFill>
                  <a:srgbClr val="1A1A2E"/>
                </a:solidFill>
                <a:latin typeface="Courier New" pitchFamily="34" charset="0"/>
                <a:ea typeface="Courier New" pitchFamily="34" charset="-122"/>
                <a:cs typeface="Courier New" pitchFamily="34" charset="-120"/>
              </a:rPr>
              <a:t>Space   </a:t>
            </a:r>
            <a:r>
              <a:rPr lang="en-US" sz="1600" b="1" dirty="0">
                <a:solidFill>
                  <a:srgbClr val="10B981"/>
                </a:solidFill>
                <a:latin typeface="Courier New" pitchFamily="34" charset="0"/>
                <a:ea typeface="Courier New" pitchFamily="34" charset="-122"/>
                <a:cs typeface="Courier New" pitchFamily="34" charset="-120"/>
              </a:rPr>
              <a:t>SETTING: </a:t>
            </a:r>
            <a:r>
              <a:rPr lang="en-US" sz="1600" dirty="0">
                <a:solidFill>
                  <a:srgbClr val="1A1A2E"/>
                </a:solidFill>
                <a:latin typeface="Courier New" pitchFamily="34" charset="0"/>
                <a:ea typeface="Courier New" pitchFamily="34" charset="-122"/>
                <a:cs typeface="Courier New" pitchFamily="34" charset="-120"/>
              </a:rPr>
              <a:t>Farm   </a:t>
            </a:r>
            <a:r>
              <a:rPr lang="en-US" sz="1600" b="1" dirty="0">
                <a:solidFill>
                  <a:srgbClr val="8B5CF6"/>
                </a:solidFill>
                <a:latin typeface="Courier New" pitchFamily="34" charset="0"/>
                <a:ea typeface="Courier New" pitchFamily="34" charset="-122"/>
                <a:cs typeface="Courier New" pitchFamily="34" charset="-120"/>
              </a:rPr>
              <a:t>MECHANIC: </a:t>
            </a:r>
            <a:r>
              <a:rPr lang="en-US" sz="1600" dirty="0">
                <a:solidFill>
                  <a:srgbClr val="1A1A2E"/>
                </a:solidFill>
                <a:latin typeface="Courier New" pitchFamily="34" charset="0"/>
                <a:ea typeface="Courier New" pitchFamily="34" charset="-122"/>
                <a:cs typeface="Courier New" pitchFamily="34" charset="-120"/>
              </a:rPr>
              <a:t>Racing</a:t>
            </a:r>
            <a:endParaRPr lang="en-US" sz="1600" dirty="0"/>
          </a:p>
        </p:txBody>
      </p:sp>
      <p:sp>
        <p:nvSpPr>
          <p:cNvPr id="14" name="Text 11"/>
          <p:cNvSpPr/>
          <p:nvPr/>
        </p:nvSpPr>
        <p:spPr>
          <a:xfrm>
            <a:off x="457200" y="2514600"/>
            <a:ext cx="10332720" cy="502920"/>
          </a:xfrm>
          <a:prstGeom prst="rect">
            <a:avLst/>
          </a:prstGeom>
          <a:noFill/>
          <a:ln/>
        </p:spPr>
        <p:txBody>
          <a:bodyPr wrap="square" lIns="0" tIns="0" rIns="0" bIns="0" rtlCol="0" anchor="ctr"/>
          <a:lstStyle/>
          <a:p>
            <a:pPr marL="0" indent="0">
              <a:buNone/>
            </a:pPr>
            <a:r>
              <a:rPr lang="en-US" sz="1600" i="1" dirty="0">
                <a:solidFill>
                  <a:srgbClr val="1A1A2E"/>
                </a:solidFill>
                <a:latin typeface="Calibri" pitchFamily="34" charset="0"/>
                <a:ea typeface="Calibri" pitchFamily="34" charset="-122"/>
                <a:cs typeface="Calibri" pitchFamily="34" charset="-120"/>
              </a:rPr>
              <a:t>→ Concept: "Orbit Harvest" — rival space-farmers race hover-tractors around a shared asteroid field to reach fertile plots first.</a:t>
            </a:r>
            <a:endParaRPr lang="en-US" sz="1600" dirty="0"/>
          </a:p>
        </p:txBody>
      </p:sp>
      <p:sp>
        <p:nvSpPr>
          <p:cNvPr id="15" name="Shape 12"/>
          <p:cNvSpPr/>
          <p:nvPr/>
        </p:nvSpPr>
        <p:spPr>
          <a:xfrm>
            <a:off x="457200" y="3154680"/>
            <a:ext cx="10332720" cy="585216"/>
          </a:xfrm>
          <a:prstGeom prst="rect">
            <a:avLst/>
          </a:prstGeom>
          <a:solidFill>
            <a:srgbClr val="FFFFFF"/>
          </a:solidFill>
          <a:ln w="9525">
            <a:solidFill>
              <a:srgbClr val="DCE0EA"/>
            </a:solidFill>
            <a:prstDash val="solid"/>
          </a:ln>
        </p:spPr>
        <p:txBody>
          <a:bodyPr/>
          <a:lstStyle/>
          <a:p>
            <a:endParaRPr lang="en-AU"/>
          </a:p>
        </p:txBody>
      </p:sp>
      <p:sp>
        <p:nvSpPr>
          <p:cNvPr id="16" name="Text 13"/>
          <p:cNvSpPr/>
          <p:nvPr/>
        </p:nvSpPr>
        <p:spPr>
          <a:xfrm>
            <a:off x="640080" y="3154680"/>
            <a:ext cx="2011680" cy="585216"/>
          </a:xfrm>
          <a:prstGeom prst="rect">
            <a:avLst/>
          </a:prstGeom>
          <a:noFill/>
          <a:ln/>
        </p:spPr>
        <p:txBody>
          <a:bodyPr wrap="square" lIns="0" tIns="0" rIns="0" bIns="0" rtlCol="0" anchor="ctr"/>
          <a:lstStyle/>
          <a:p>
            <a:pPr marL="0" indent="0">
              <a:buNone/>
            </a:pPr>
            <a:r>
              <a:rPr lang="en-US" sz="1400" b="1" dirty="0">
                <a:solidFill>
                  <a:srgbClr val="4361EE"/>
                </a:solidFill>
                <a:latin typeface="Calibri" pitchFamily="34" charset="0"/>
                <a:ea typeface="Calibri" pitchFamily="34" charset="-122"/>
                <a:cs typeface="Calibri" pitchFamily="34" charset="-120"/>
              </a:rPr>
              <a:t>Objective</a:t>
            </a:r>
            <a:endParaRPr lang="en-US" sz="1400" dirty="0"/>
          </a:p>
        </p:txBody>
      </p:sp>
      <p:sp>
        <p:nvSpPr>
          <p:cNvPr id="17" name="Text 14"/>
          <p:cNvSpPr/>
          <p:nvPr/>
        </p:nvSpPr>
        <p:spPr>
          <a:xfrm>
            <a:off x="2743200" y="3154680"/>
            <a:ext cx="7863840" cy="585216"/>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Reach and claim the most fertile plots before rivals.</a:t>
            </a:r>
            <a:endParaRPr lang="en-US" sz="1400" dirty="0"/>
          </a:p>
        </p:txBody>
      </p:sp>
      <p:sp>
        <p:nvSpPr>
          <p:cNvPr id="18" name="Shape 15"/>
          <p:cNvSpPr/>
          <p:nvPr/>
        </p:nvSpPr>
        <p:spPr>
          <a:xfrm>
            <a:off x="457200" y="3813048"/>
            <a:ext cx="10332720" cy="585216"/>
          </a:xfrm>
          <a:prstGeom prst="rect">
            <a:avLst/>
          </a:prstGeom>
          <a:solidFill>
            <a:srgbClr val="F7F8FC"/>
          </a:solidFill>
          <a:ln w="9525">
            <a:solidFill>
              <a:srgbClr val="DCE0EA"/>
            </a:solidFill>
            <a:prstDash val="solid"/>
          </a:ln>
        </p:spPr>
        <p:txBody>
          <a:bodyPr/>
          <a:lstStyle/>
          <a:p>
            <a:endParaRPr lang="en-AU"/>
          </a:p>
        </p:txBody>
      </p:sp>
      <p:sp>
        <p:nvSpPr>
          <p:cNvPr id="19" name="Text 16"/>
          <p:cNvSpPr/>
          <p:nvPr/>
        </p:nvSpPr>
        <p:spPr>
          <a:xfrm>
            <a:off x="640080" y="3813048"/>
            <a:ext cx="2011680" cy="585216"/>
          </a:xfrm>
          <a:prstGeom prst="rect">
            <a:avLst/>
          </a:prstGeom>
          <a:noFill/>
          <a:ln/>
        </p:spPr>
        <p:txBody>
          <a:bodyPr wrap="square" lIns="0" tIns="0" rIns="0" bIns="0" rtlCol="0" anchor="ctr"/>
          <a:lstStyle/>
          <a:p>
            <a:pPr marL="0" indent="0">
              <a:buNone/>
            </a:pPr>
            <a:r>
              <a:rPr lang="en-US" sz="1400" b="1" dirty="0">
                <a:solidFill>
                  <a:srgbClr val="4361EE"/>
                </a:solidFill>
                <a:latin typeface="Calibri" pitchFamily="34" charset="0"/>
                <a:ea typeface="Calibri" pitchFamily="34" charset="-122"/>
                <a:cs typeface="Calibri" pitchFamily="34" charset="-120"/>
              </a:rPr>
              <a:t>Mechanics</a:t>
            </a:r>
            <a:endParaRPr lang="en-US" sz="1400" dirty="0"/>
          </a:p>
        </p:txBody>
      </p:sp>
      <p:sp>
        <p:nvSpPr>
          <p:cNvPr id="20" name="Text 17"/>
          <p:cNvSpPr/>
          <p:nvPr/>
        </p:nvSpPr>
        <p:spPr>
          <a:xfrm>
            <a:off x="2743200" y="3813048"/>
            <a:ext cx="7863840" cy="585216"/>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Boost, drift, scan for fertile plots, plant.</a:t>
            </a:r>
            <a:endParaRPr lang="en-US" sz="1400" dirty="0"/>
          </a:p>
        </p:txBody>
      </p:sp>
      <p:sp>
        <p:nvSpPr>
          <p:cNvPr id="21" name="Shape 18"/>
          <p:cNvSpPr/>
          <p:nvPr/>
        </p:nvSpPr>
        <p:spPr>
          <a:xfrm>
            <a:off x="457200" y="4471416"/>
            <a:ext cx="10332720" cy="585216"/>
          </a:xfrm>
          <a:prstGeom prst="rect">
            <a:avLst/>
          </a:prstGeom>
          <a:solidFill>
            <a:srgbClr val="FFFFFF"/>
          </a:solidFill>
          <a:ln w="9525">
            <a:solidFill>
              <a:srgbClr val="DCE0EA"/>
            </a:solidFill>
            <a:prstDash val="solid"/>
          </a:ln>
        </p:spPr>
        <p:txBody>
          <a:bodyPr/>
          <a:lstStyle/>
          <a:p>
            <a:endParaRPr lang="en-AU"/>
          </a:p>
        </p:txBody>
      </p:sp>
      <p:sp>
        <p:nvSpPr>
          <p:cNvPr id="22" name="Text 19"/>
          <p:cNvSpPr/>
          <p:nvPr/>
        </p:nvSpPr>
        <p:spPr>
          <a:xfrm>
            <a:off x="640080" y="4471416"/>
            <a:ext cx="2011680" cy="585216"/>
          </a:xfrm>
          <a:prstGeom prst="rect">
            <a:avLst/>
          </a:prstGeom>
          <a:noFill/>
          <a:ln/>
        </p:spPr>
        <p:txBody>
          <a:bodyPr wrap="square" lIns="0" tIns="0" rIns="0" bIns="0" rtlCol="0" anchor="ctr"/>
          <a:lstStyle/>
          <a:p>
            <a:pPr marL="0" indent="0">
              <a:buNone/>
            </a:pPr>
            <a:r>
              <a:rPr lang="en-US" sz="1400" b="1" dirty="0">
                <a:solidFill>
                  <a:srgbClr val="4361EE"/>
                </a:solidFill>
                <a:latin typeface="Calibri" pitchFamily="34" charset="0"/>
                <a:ea typeface="Calibri" pitchFamily="34" charset="-122"/>
                <a:cs typeface="Calibri" pitchFamily="34" charset="-120"/>
              </a:rPr>
              <a:t>Challenge</a:t>
            </a:r>
            <a:endParaRPr lang="en-US" sz="1400" dirty="0"/>
          </a:p>
        </p:txBody>
      </p:sp>
      <p:sp>
        <p:nvSpPr>
          <p:cNvPr id="23" name="Text 20"/>
          <p:cNvSpPr/>
          <p:nvPr/>
        </p:nvSpPr>
        <p:spPr>
          <a:xfrm>
            <a:off x="2743200" y="4471416"/>
            <a:ext cx="7863840" cy="585216"/>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Limited fuel forces risky shortcuts through asteroid debris.</a:t>
            </a:r>
            <a:endParaRPr lang="en-US" sz="1400" dirty="0"/>
          </a:p>
        </p:txBody>
      </p:sp>
      <p:sp>
        <p:nvSpPr>
          <p:cNvPr id="24" name="Shape 21"/>
          <p:cNvSpPr/>
          <p:nvPr/>
        </p:nvSpPr>
        <p:spPr>
          <a:xfrm>
            <a:off x="457200" y="5129784"/>
            <a:ext cx="10332720" cy="585216"/>
          </a:xfrm>
          <a:prstGeom prst="rect">
            <a:avLst/>
          </a:prstGeom>
          <a:solidFill>
            <a:srgbClr val="F7F8FC"/>
          </a:solidFill>
          <a:ln w="9525">
            <a:solidFill>
              <a:srgbClr val="DCE0EA"/>
            </a:solidFill>
            <a:prstDash val="solid"/>
          </a:ln>
        </p:spPr>
        <p:txBody>
          <a:bodyPr/>
          <a:lstStyle/>
          <a:p>
            <a:endParaRPr lang="en-AU"/>
          </a:p>
        </p:txBody>
      </p:sp>
      <p:sp>
        <p:nvSpPr>
          <p:cNvPr id="25" name="Text 22"/>
          <p:cNvSpPr/>
          <p:nvPr/>
        </p:nvSpPr>
        <p:spPr>
          <a:xfrm>
            <a:off x="640080" y="5129784"/>
            <a:ext cx="2011680" cy="585216"/>
          </a:xfrm>
          <a:prstGeom prst="rect">
            <a:avLst/>
          </a:prstGeom>
          <a:noFill/>
          <a:ln/>
        </p:spPr>
        <p:txBody>
          <a:bodyPr wrap="square" lIns="0" tIns="0" rIns="0" bIns="0" rtlCol="0" anchor="ctr"/>
          <a:lstStyle/>
          <a:p>
            <a:pPr marL="0" indent="0">
              <a:buNone/>
            </a:pPr>
            <a:r>
              <a:rPr lang="en-US" sz="1400" b="1" dirty="0">
                <a:solidFill>
                  <a:srgbClr val="4361EE"/>
                </a:solidFill>
                <a:latin typeface="Calibri" pitchFamily="34" charset="0"/>
                <a:ea typeface="Calibri" pitchFamily="34" charset="-122"/>
                <a:cs typeface="Calibri" pitchFamily="34" charset="-120"/>
              </a:rPr>
              <a:t>Feedback</a:t>
            </a:r>
            <a:endParaRPr lang="en-US" sz="1400" dirty="0"/>
          </a:p>
        </p:txBody>
      </p:sp>
      <p:sp>
        <p:nvSpPr>
          <p:cNvPr id="26" name="Text 23"/>
          <p:cNvSpPr/>
          <p:nvPr/>
        </p:nvSpPr>
        <p:spPr>
          <a:xfrm>
            <a:off x="2743200" y="5129784"/>
            <a:ext cx="7863840" cy="585216"/>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Fuel gauge, claimed-plot counter, rival position radar.</a:t>
            </a:r>
            <a:endParaRPr lang="en-US" sz="1400" dirty="0"/>
          </a:p>
        </p:txBody>
      </p:sp>
      <p:sp>
        <p:nvSpPr>
          <p:cNvPr id="27" name="Text 24"/>
          <p:cNvSpPr/>
          <p:nvPr/>
        </p:nvSpPr>
        <p:spPr>
          <a:xfrm>
            <a:off x="457200" y="5852160"/>
            <a:ext cx="10332720" cy="365760"/>
          </a:xfrm>
          <a:prstGeom prst="rect">
            <a:avLst/>
          </a:prstGeom>
          <a:noFill/>
          <a:ln/>
        </p:spPr>
        <p:txBody>
          <a:bodyPr wrap="square" lIns="0" tIns="0" rIns="0" bIns="0" rtlCol="0" anchor="ctr"/>
          <a:lstStyle/>
          <a:p>
            <a:pPr marL="0" indent="0">
              <a:buNone/>
            </a:pPr>
            <a:r>
              <a:rPr lang="en-US" sz="1300" i="1" dirty="0">
                <a:solidFill>
                  <a:srgbClr val="5A5A6E"/>
                </a:solidFill>
                <a:latin typeface="Calibri" pitchFamily="34" charset="0"/>
                <a:ea typeface="Calibri" pitchFamily="34" charset="-122"/>
                <a:cs typeface="Calibri" pitchFamily="34" charset="-120"/>
              </a:rPr>
              <a:t>Notice: we only had to invent a handful of new details once the three wheel results were combined.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8B5CF6"/>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8B5CF6"/>
                </a:solidFill>
                <a:latin typeface="Courier New" pitchFamily="34" charset="0"/>
                <a:ea typeface="Courier New" pitchFamily="34" charset="-122"/>
                <a:cs typeface="Courier New" pitchFamily="34" charset="-120"/>
              </a:rPr>
              <a:t>REFLECT</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9</a:t>
            </a:r>
            <a:endParaRPr lang="en-US" sz="900" dirty="0"/>
          </a:p>
        </p:txBody>
      </p:sp>
      <p:sp>
        <p:nvSpPr>
          <p:cNvPr id="9" name="Shape 6"/>
          <p:cNvSpPr/>
          <p:nvPr/>
        </p:nvSpPr>
        <p:spPr>
          <a:xfrm>
            <a:off x="457200" y="960120"/>
            <a:ext cx="457200" cy="457200"/>
          </a:xfrm>
          <a:prstGeom prst="ellipse">
            <a:avLst/>
          </a:prstGeom>
          <a:solidFill>
            <a:srgbClr val="8B5CF6"/>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Brain Break</a:t>
            </a:r>
            <a:endParaRPr lang="en-US" sz="3200" dirty="0"/>
          </a:p>
        </p:txBody>
      </p:sp>
      <p:pic>
        <p:nvPicPr>
          <p:cNvPr id="12" name="Image 1" descr="icons/bolt_8B5CF6.png"/>
          <p:cNvPicPr>
            <a:picLocks noChangeAspect="1"/>
          </p:cNvPicPr>
          <p:nvPr/>
        </p:nvPicPr>
        <p:blipFill>
          <a:blip r:embed="rId4"/>
          <a:stretch>
            <a:fillRect/>
          </a:stretch>
        </p:blipFill>
        <p:spPr>
          <a:xfrm>
            <a:off x="4937760" y="2194560"/>
            <a:ext cx="1280160" cy="1280160"/>
          </a:xfrm>
          <a:prstGeom prst="rect">
            <a:avLst/>
          </a:prstGeom>
        </p:spPr>
      </p:pic>
      <p:sp>
        <p:nvSpPr>
          <p:cNvPr id="13" name="Text 9"/>
          <p:cNvSpPr/>
          <p:nvPr/>
        </p:nvSpPr>
        <p:spPr>
          <a:xfrm>
            <a:off x="1097280" y="3657600"/>
            <a:ext cx="9966960" cy="914400"/>
          </a:xfrm>
          <a:prstGeom prst="rect">
            <a:avLst/>
          </a:prstGeom>
          <a:noFill/>
          <a:ln/>
        </p:spPr>
        <p:txBody>
          <a:bodyPr wrap="square" lIns="0" tIns="0" rIns="0" bIns="0" rtlCol="0" anchor="ctr"/>
          <a:lstStyle/>
          <a:p>
            <a:pPr marL="0" indent="0" algn="ctr">
              <a:buNone/>
            </a:pPr>
            <a:r>
              <a:rPr lang="en-US" sz="2000" dirty="0">
                <a:solidFill>
                  <a:srgbClr val="1A1A2E"/>
                </a:solidFill>
                <a:latin typeface="Calibri" pitchFamily="34" charset="0"/>
                <a:ea typeface="Calibri" pitchFamily="34" charset="-122"/>
                <a:cs typeface="Calibri" pitchFamily="34" charset="-120"/>
              </a:rPr>
              <a:t>60 seconds: shout out the WORST possible game idea you can think of, as a table. Most ridiculous idea wins.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10B981"/>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10B981"/>
                </a:solidFill>
                <a:latin typeface="Courier New" pitchFamily="34" charset="0"/>
                <a:ea typeface="Courier New" pitchFamily="34" charset="-122"/>
                <a:cs typeface="Courier New" pitchFamily="34" charset="-120"/>
              </a:rPr>
              <a:t>APPLY</a:t>
            </a:r>
            <a:endParaRPr lang="en-US" sz="1000" dirty="0"/>
          </a:p>
        </p:txBody>
      </p:sp>
      <p:sp>
        <p:nvSpPr>
          <p:cNvPr id="4" name="Shape 2"/>
          <p:cNvSpPr/>
          <p:nvPr/>
        </p:nvSpPr>
        <p:spPr>
          <a:xfrm>
            <a:off x="9921240" y="256032"/>
            <a:ext cx="1737360" cy="329184"/>
          </a:xfrm>
          <a:prstGeom prst="roundRect">
            <a:avLst>
              <a:gd name="adj" fmla="val 50000"/>
            </a:avLst>
          </a:prstGeom>
          <a:solidFill>
            <a:srgbClr val="E9F9F1"/>
          </a:solidFill>
          <a:ln w="12700">
            <a:solidFill>
              <a:srgbClr val="10B981"/>
            </a:solidFill>
            <a:prstDash val="solid"/>
          </a:ln>
        </p:spPr>
        <p:txBody>
          <a:bodyPr/>
          <a:lstStyle/>
          <a:p>
            <a:endParaRPr lang="en-AU"/>
          </a:p>
        </p:txBody>
      </p:sp>
      <p:pic>
        <p:nvPicPr>
          <p:cNvPr id="5" name="Image 0" descr="icons/checkcircle_10B981.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10B981"/>
                </a:solidFill>
                <a:latin typeface="Courier New" pitchFamily="34" charset="0"/>
                <a:ea typeface="Courier New" pitchFamily="34" charset="-122"/>
                <a:cs typeface="Courier New" pitchFamily="34" charset="-120"/>
              </a:rPr>
              <a:t>DEVICES ON</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10</a:t>
            </a:r>
            <a:endParaRPr lang="en-US" sz="900" dirty="0"/>
          </a:p>
        </p:txBody>
      </p:sp>
      <p:sp>
        <p:nvSpPr>
          <p:cNvPr id="9" name="Shape 6"/>
          <p:cNvSpPr/>
          <p:nvPr/>
        </p:nvSpPr>
        <p:spPr>
          <a:xfrm>
            <a:off x="457200" y="960120"/>
            <a:ext cx="457200" cy="457200"/>
          </a:xfrm>
          <a:prstGeom prst="ellipse">
            <a:avLst/>
          </a:prstGeom>
          <a:solidFill>
            <a:srgbClr val="10B981"/>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Application: Invent Your Game</a:t>
            </a:r>
            <a:endParaRPr lang="en-US" sz="3200" dirty="0"/>
          </a:p>
        </p:txBody>
      </p:sp>
      <p:sp>
        <p:nvSpPr>
          <p:cNvPr id="12" name="Text 9"/>
          <p:cNvSpPr/>
          <p:nvPr/>
        </p:nvSpPr>
        <p:spPr>
          <a:xfrm>
            <a:off x="457200" y="1691640"/>
            <a:ext cx="10332720" cy="365760"/>
          </a:xfrm>
          <a:prstGeom prst="rect">
            <a:avLst/>
          </a:prstGeom>
          <a:noFill/>
          <a:ln/>
        </p:spPr>
        <p:txBody>
          <a:bodyPr wrap="square" lIns="0" tIns="0" rIns="0" bIns="0" rtlCol="0" anchor="ctr"/>
          <a:lstStyle/>
          <a:p>
            <a:pPr marL="0" indent="0">
              <a:buNone/>
            </a:pPr>
            <a:r>
              <a:rPr lang="en-US" sz="1600" b="1" dirty="0">
                <a:solidFill>
                  <a:srgbClr val="10B981"/>
                </a:solidFill>
                <a:latin typeface="Calibri" pitchFamily="34" charset="0"/>
                <a:ea typeface="Calibri" pitchFamily="34" charset="-122"/>
                <a:cs typeface="Calibri" pitchFamily="34" charset="-120"/>
              </a:rPr>
              <a:t>➜ Open your workbook — Section 2: Idea Generator</a:t>
            </a:r>
            <a:endParaRPr lang="en-US" sz="1600" dirty="0"/>
          </a:p>
        </p:txBody>
      </p:sp>
      <p:sp>
        <p:nvSpPr>
          <p:cNvPr id="13" name="Text 10"/>
          <p:cNvSpPr/>
          <p:nvPr/>
        </p:nvSpPr>
        <p:spPr>
          <a:xfrm>
            <a:off x="457200" y="2103120"/>
            <a:ext cx="10332720" cy="731520"/>
          </a:xfrm>
          <a:prstGeom prst="rect">
            <a:avLst/>
          </a:prstGeom>
          <a:noFill/>
          <a:ln/>
        </p:spPr>
        <p:txBody>
          <a:bodyPr wrap="square" lIns="0" tIns="0" rIns="0" bIns="0" rtlCol="0" anchor="ctr"/>
          <a:lstStyle/>
          <a:p>
            <a:pPr marL="0" indent="0">
              <a:buNone/>
            </a:pPr>
            <a:r>
              <a:rPr lang="en-US" sz="1700" dirty="0">
                <a:solidFill>
                  <a:srgbClr val="1A1A2E"/>
                </a:solidFill>
                <a:latin typeface="Calibri" pitchFamily="34" charset="0"/>
                <a:ea typeface="Calibri" pitchFamily="34" charset="-122"/>
                <a:cs typeface="Calibri" pitchFamily="34" charset="-120"/>
              </a:rPr>
              <a:t>Use one or more ideation techniques from today to generate a game concept. Then define your idea using all seven elements from Lesson 1.</a:t>
            </a:r>
            <a:endParaRPr lang="en-US" sz="1700" dirty="0"/>
          </a:p>
        </p:txBody>
      </p:sp>
      <p:sp>
        <p:nvSpPr>
          <p:cNvPr id="14" name="Shape 11"/>
          <p:cNvSpPr/>
          <p:nvPr/>
        </p:nvSpPr>
        <p:spPr>
          <a:xfrm>
            <a:off x="457200" y="2926080"/>
            <a:ext cx="10332720" cy="713232"/>
          </a:xfrm>
          <a:prstGeom prst="roundRect">
            <a:avLst>
              <a:gd name="adj" fmla="val 10256"/>
            </a:avLst>
          </a:prstGeom>
          <a:solidFill>
            <a:srgbClr val="FFFFFF"/>
          </a:solidFill>
          <a:ln w="15875">
            <a:solidFill>
              <a:srgbClr val="10B981"/>
            </a:solidFill>
            <a:prstDash val="solid"/>
          </a:ln>
        </p:spPr>
        <p:txBody>
          <a:bodyPr/>
          <a:lstStyle/>
          <a:p>
            <a:endParaRPr lang="en-AU"/>
          </a:p>
        </p:txBody>
      </p:sp>
      <p:sp>
        <p:nvSpPr>
          <p:cNvPr id="15" name="Text 12"/>
          <p:cNvSpPr/>
          <p:nvPr/>
        </p:nvSpPr>
        <p:spPr>
          <a:xfrm>
            <a:off x="640080" y="2926080"/>
            <a:ext cx="502920" cy="713232"/>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6" name="Text 13"/>
          <p:cNvSpPr/>
          <p:nvPr/>
        </p:nvSpPr>
        <p:spPr>
          <a:xfrm>
            <a:off x="1188720" y="2926080"/>
            <a:ext cx="1645920" cy="713232"/>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Foundation</a:t>
            </a:r>
            <a:endParaRPr lang="en-US" sz="1400" dirty="0"/>
          </a:p>
        </p:txBody>
      </p:sp>
      <p:sp>
        <p:nvSpPr>
          <p:cNvPr id="17" name="Text 14"/>
          <p:cNvSpPr/>
          <p:nvPr/>
        </p:nvSpPr>
        <p:spPr>
          <a:xfrm>
            <a:off x="2834640" y="2926080"/>
            <a:ext cx="7772400" cy="713232"/>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Use the word wheel once, then define at least 5 of the 7 elements for your idea.</a:t>
            </a:r>
            <a:endParaRPr lang="en-US" sz="1400" dirty="0"/>
          </a:p>
        </p:txBody>
      </p:sp>
      <p:sp>
        <p:nvSpPr>
          <p:cNvPr id="18" name="Shape 15"/>
          <p:cNvSpPr/>
          <p:nvPr/>
        </p:nvSpPr>
        <p:spPr>
          <a:xfrm>
            <a:off x="457200" y="3749040"/>
            <a:ext cx="10332720" cy="713232"/>
          </a:xfrm>
          <a:prstGeom prst="roundRect">
            <a:avLst>
              <a:gd name="adj" fmla="val 10256"/>
            </a:avLst>
          </a:prstGeom>
          <a:solidFill>
            <a:srgbClr val="FFFFFF"/>
          </a:solidFill>
          <a:ln w="15875">
            <a:solidFill>
              <a:srgbClr val="F59E0B"/>
            </a:solidFill>
            <a:prstDash val="solid"/>
          </a:ln>
        </p:spPr>
        <p:txBody>
          <a:bodyPr/>
          <a:lstStyle/>
          <a:p>
            <a:endParaRPr lang="en-AU"/>
          </a:p>
        </p:txBody>
      </p:sp>
      <p:sp>
        <p:nvSpPr>
          <p:cNvPr id="19" name="Text 16"/>
          <p:cNvSpPr/>
          <p:nvPr/>
        </p:nvSpPr>
        <p:spPr>
          <a:xfrm>
            <a:off x="640080" y="3749040"/>
            <a:ext cx="502920" cy="713232"/>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0" name="Text 17"/>
          <p:cNvSpPr/>
          <p:nvPr/>
        </p:nvSpPr>
        <p:spPr>
          <a:xfrm>
            <a:off x="1188720" y="3749040"/>
            <a:ext cx="1645920" cy="71323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Developing</a:t>
            </a:r>
            <a:endParaRPr lang="en-US" sz="1400" dirty="0"/>
          </a:p>
        </p:txBody>
      </p:sp>
      <p:sp>
        <p:nvSpPr>
          <p:cNvPr id="21" name="Text 18"/>
          <p:cNvSpPr/>
          <p:nvPr/>
        </p:nvSpPr>
        <p:spPr>
          <a:xfrm>
            <a:off x="2834640" y="3749040"/>
            <a:ext cx="7772400" cy="713232"/>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Use a technique to generate your idea, then define all 7 elements clearly.</a:t>
            </a:r>
            <a:endParaRPr lang="en-US" sz="1400" dirty="0"/>
          </a:p>
        </p:txBody>
      </p:sp>
      <p:sp>
        <p:nvSpPr>
          <p:cNvPr id="22" name="Shape 19"/>
          <p:cNvSpPr/>
          <p:nvPr/>
        </p:nvSpPr>
        <p:spPr>
          <a:xfrm>
            <a:off x="457200" y="4572000"/>
            <a:ext cx="10332720" cy="713232"/>
          </a:xfrm>
          <a:prstGeom prst="roundRect">
            <a:avLst>
              <a:gd name="adj" fmla="val 10256"/>
            </a:avLst>
          </a:prstGeom>
          <a:solidFill>
            <a:srgbClr val="FFFFFF"/>
          </a:solidFill>
          <a:ln w="15875">
            <a:solidFill>
              <a:srgbClr val="8B5CF6"/>
            </a:solidFill>
            <a:prstDash val="solid"/>
          </a:ln>
        </p:spPr>
        <p:txBody>
          <a:bodyPr/>
          <a:lstStyle/>
          <a:p>
            <a:endParaRPr lang="en-AU"/>
          </a:p>
        </p:txBody>
      </p:sp>
      <p:sp>
        <p:nvSpPr>
          <p:cNvPr id="23" name="Text 20"/>
          <p:cNvSpPr/>
          <p:nvPr/>
        </p:nvSpPr>
        <p:spPr>
          <a:xfrm>
            <a:off x="640080" y="4572000"/>
            <a:ext cx="502920" cy="713232"/>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4" name="Text 21"/>
          <p:cNvSpPr/>
          <p:nvPr/>
        </p:nvSpPr>
        <p:spPr>
          <a:xfrm>
            <a:off x="1188720" y="4572000"/>
            <a:ext cx="1645920" cy="713232"/>
          </a:xfrm>
          <a:prstGeom prst="rect">
            <a:avLst/>
          </a:prstGeom>
          <a:noFill/>
          <a:ln/>
        </p:spPr>
        <p:txBody>
          <a:bodyPr wrap="square" lIns="0" tIns="0" rIns="0" bIns="0" rtlCol="0" anchor="ctr"/>
          <a:lstStyle/>
          <a:p>
            <a:pPr marL="0" indent="0">
              <a:buNone/>
            </a:pPr>
            <a:r>
              <a:rPr lang="en-US" sz="1400" b="1" dirty="0">
                <a:solidFill>
                  <a:srgbClr val="8B5CF6"/>
                </a:solidFill>
                <a:latin typeface="Calibri" pitchFamily="34" charset="0"/>
                <a:ea typeface="Calibri" pitchFamily="34" charset="-122"/>
                <a:cs typeface="Calibri" pitchFamily="34" charset="-120"/>
              </a:rPr>
              <a:t>Extending</a:t>
            </a:r>
            <a:endParaRPr lang="en-US" sz="1400" dirty="0"/>
          </a:p>
        </p:txBody>
      </p:sp>
      <p:sp>
        <p:nvSpPr>
          <p:cNvPr id="25" name="Text 22"/>
          <p:cNvSpPr/>
          <p:nvPr/>
        </p:nvSpPr>
        <p:spPr>
          <a:xfrm>
            <a:off x="2834640" y="4572000"/>
            <a:ext cx="7772400" cy="713232"/>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Generate 2–3 concepts, then justify why you chose your final idea over the others.</a:t>
            </a:r>
            <a:endParaRPr lang="en-US" sz="1400" dirty="0"/>
          </a:p>
        </p:txBody>
      </p:sp>
      <p:sp>
        <p:nvSpPr>
          <p:cNvPr id="26" name="Text 23"/>
          <p:cNvSpPr/>
          <p:nvPr/>
        </p:nvSpPr>
        <p:spPr>
          <a:xfrm>
            <a:off x="457200" y="5532120"/>
            <a:ext cx="10332720" cy="365760"/>
          </a:xfrm>
          <a:prstGeom prst="rect">
            <a:avLst/>
          </a:prstGeom>
          <a:noFill/>
          <a:ln/>
        </p:spPr>
        <p:txBody>
          <a:bodyPr wrap="square" lIns="0" tIns="0" rIns="0" bIns="0" rtlCol="0" anchor="ctr"/>
          <a:lstStyle/>
          <a:p>
            <a:pPr marL="0" indent="0">
              <a:buNone/>
            </a:pPr>
            <a:r>
              <a:rPr lang="en-US" sz="1400" i="1" dirty="0">
                <a:solidFill>
                  <a:srgbClr val="5A5A6E"/>
                </a:solidFill>
                <a:latin typeface="Calibri" pitchFamily="34" charset="0"/>
                <a:ea typeface="Calibri" pitchFamily="34" charset="-122"/>
                <a:cs typeface="Calibri" pitchFamily="34" charset="-120"/>
              </a:rPr>
              <a:t>Time: ~25 minutes. If your first spin doesn’t inspire you, spin again — that’s a legitimate strategy.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8B5CF6"/>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8B5CF6"/>
                </a:solidFill>
                <a:latin typeface="Courier New" pitchFamily="34" charset="0"/>
                <a:ea typeface="Courier New" pitchFamily="34" charset="-122"/>
                <a:cs typeface="Courier New" pitchFamily="34" charset="-120"/>
              </a:rPr>
              <a:t>REFLECT</a:t>
            </a:r>
            <a:endParaRPr lang="en-US" sz="1000" dirty="0"/>
          </a:p>
        </p:txBody>
      </p:sp>
      <p:sp>
        <p:nvSpPr>
          <p:cNvPr id="4" name="Shape 2"/>
          <p:cNvSpPr/>
          <p:nvPr/>
        </p:nvSpPr>
        <p:spPr>
          <a:xfrm>
            <a:off x="9921240" y="256032"/>
            <a:ext cx="1737360" cy="329184"/>
          </a:xfrm>
          <a:prstGeom prst="roundRect">
            <a:avLst>
              <a:gd name="adj" fmla="val 50000"/>
            </a:avLst>
          </a:prstGeom>
          <a:solidFill>
            <a:srgbClr val="E9F9F1"/>
          </a:solidFill>
          <a:ln w="12700">
            <a:solidFill>
              <a:srgbClr val="10B981"/>
            </a:solidFill>
            <a:prstDash val="solid"/>
          </a:ln>
        </p:spPr>
        <p:txBody>
          <a:bodyPr/>
          <a:lstStyle/>
          <a:p>
            <a:endParaRPr lang="en-AU"/>
          </a:p>
        </p:txBody>
      </p:sp>
      <p:pic>
        <p:nvPicPr>
          <p:cNvPr id="5" name="Image 0" descr="icons/checkcircle_10B981.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10B981"/>
                </a:solidFill>
                <a:latin typeface="Courier New" pitchFamily="34" charset="0"/>
                <a:ea typeface="Courier New" pitchFamily="34" charset="-122"/>
                <a:cs typeface="Courier New" pitchFamily="34" charset="-120"/>
              </a:rPr>
              <a:t>DEVICES ON</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11</a:t>
            </a:r>
            <a:endParaRPr lang="en-US" sz="900" dirty="0"/>
          </a:p>
        </p:txBody>
      </p:sp>
      <p:sp>
        <p:nvSpPr>
          <p:cNvPr id="9" name="Shape 6"/>
          <p:cNvSpPr/>
          <p:nvPr/>
        </p:nvSpPr>
        <p:spPr>
          <a:xfrm>
            <a:off x="457200" y="960120"/>
            <a:ext cx="457200" cy="457200"/>
          </a:xfrm>
          <a:prstGeom prst="ellipse">
            <a:avLst/>
          </a:prstGeom>
          <a:solidFill>
            <a:srgbClr val="8B5CF6"/>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Share Back: 30-Second Pitch</a:t>
            </a:r>
            <a:endParaRPr lang="en-US" sz="3200" dirty="0"/>
          </a:p>
        </p:txBody>
      </p:sp>
      <p:sp>
        <p:nvSpPr>
          <p:cNvPr id="12" name="Text 9"/>
          <p:cNvSpPr/>
          <p:nvPr/>
        </p:nvSpPr>
        <p:spPr>
          <a:xfrm>
            <a:off x="457200" y="1828800"/>
            <a:ext cx="10332720" cy="822960"/>
          </a:xfrm>
          <a:prstGeom prst="rect">
            <a:avLst/>
          </a:prstGeom>
          <a:noFill/>
          <a:ln/>
        </p:spPr>
        <p:txBody>
          <a:bodyPr wrap="square" lIns="0" tIns="0" rIns="0" bIns="0" rtlCol="0" anchor="ctr"/>
          <a:lstStyle/>
          <a:p>
            <a:pPr marL="0" indent="0">
              <a:buNone/>
            </a:pPr>
            <a:r>
              <a:rPr lang="en-US" sz="1900" dirty="0">
                <a:solidFill>
                  <a:srgbClr val="1A1A2E"/>
                </a:solidFill>
                <a:latin typeface="Calibri" pitchFamily="34" charset="0"/>
                <a:ea typeface="Calibri" pitchFamily="34" charset="-122"/>
                <a:cs typeface="Calibri" pitchFamily="34" charset="-120"/>
              </a:rPr>
              <a:t>Pitch your game idea to the person next to you in 30 seconds — no notes. Can they repeat the objective and one mechanic back to you afterward?</a:t>
            </a:r>
            <a:endParaRPr lang="en-US" sz="1900" dirty="0"/>
          </a:p>
        </p:txBody>
      </p:sp>
      <p:sp>
        <p:nvSpPr>
          <p:cNvPr id="13" name="Text 10"/>
          <p:cNvSpPr/>
          <p:nvPr/>
        </p:nvSpPr>
        <p:spPr>
          <a:xfrm>
            <a:off x="457200" y="2834640"/>
            <a:ext cx="5486400" cy="320040"/>
          </a:xfrm>
          <a:prstGeom prst="rect">
            <a:avLst/>
          </a:prstGeom>
          <a:noFill/>
          <a:ln/>
        </p:spPr>
        <p:txBody>
          <a:bodyPr wrap="square" lIns="0" tIns="0" rIns="0" bIns="0" rtlCol="0" anchor="ctr"/>
          <a:lstStyle/>
          <a:p>
            <a:pPr marL="0" indent="0">
              <a:buNone/>
            </a:pPr>
            <a:r>
              <a:rPr lang="en-US" sz="1600" b="1" dirty="0">
                <a:solidFill>
                  <a:srgbClr val="5A5A6E"/>
                </a:solidFill>
                <a:latin typeface="Calibri" pitchFamily="34" charset="0"/>
                <a:ea typeface="Calibri" pitchFamily="34" charset="-122"/>
                <a:cs typeface="Calibri" pitchFamily="34" charset="-120"/>
              </a:rPr>
              <a:t>Class discussion:</a:t>
            </a:r>
            <a:endParaRPr lang="en-US" sz="1600" dirty="0"/>
          </a:p>
        </p:txBody>
      </p:sp>
      <p:sp>
        <p:nvSpPr>
          <p:cNvPr id="14" name="Text 11"/>
          <p:cNvSpPr/>
          <p:nvPr/>
        </p:nvSpPr>
        <p:spPr>
          <a:xfrm>
            <a:off x="640080" y="3200400"/>
            <a:ext cx="9966960" cy="100584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A1A2E"/>
                </a:solidFill>
                <a:latin typeface="Calibri" pitchFamily="34" charset="0"/>
                <a:ea typeface="Calibri" pitchFamily="34" charset="-122"/>
                <a:cs typeface="Calibri" pitchFamily="34" charset="-120"/>
              </a:rPr>
              <a:t>Which ideation technique got you unstuck fastest?</a:t>
            </a:r>
            <a:endParaRPr lang="en-US" sz="1700" dirty="0"/>
          </a:p>
          <a:p>
            <a:pPr marL="342900" indent="-342900">
              <a:spcAft>
                <a:spcPts val="1000"/>
              </a:spcAft>
              <a:buSzPct val="100000"/>
              <a:buChar char="▪"/>
            </a:pPr>
            <a:r>
              <a:rPr lang="en-US" sz="1700" dirty="0">
                <a:solidFill>
                  <a:srgbClr val="1A1A2E"/>
                </a:solidFill>
                <a:latin typeface="Calibri" pitchFamily="34" charset="0"/>
                <a:ea typeface="Calibri" pitchFamily="34" charset="-122"/>
                <a:cs typeface="Calibri" pitchFamily="34" charset="-120"/>
              </a:rPr>
              <a:t>Did your idea change after you tried to explain it out loud?</a:t>
            </a:r>
            <a:endParaRPr lang="en-US" sz="1700" dirty="0"/>
          </a:p>
        </p:txBody>
      </p:sp>
      <p:sp>
        <p:nvSpPr>
          <p:cNvPr id="15" name="Shape 12"/>
          <p:cNvSpPr/>
          <p:nvPr/>
        </p:nvSpPr>
        <p:spPr>
          <a:xfrm>
            <a:off x="457200" y="4480560"/>
            <a:ext cx="10332720" cy="1188720"/>
          </a:xfrm>
          <a:prstGeom prst="roundRect">
            <a:avLst>
              <a:gd name="adj" fmla="val 7692"/>
            </a:avLst>
          </a:prstGeom>
          <a:solidFill>
            <a:srgbClr val="FFF3E0"/>
          </a:solidFill>
          <a:ln w="15875">
            <a:solidFill>
              <a:srgbClr val="F59E0B"/>
            </a:solidFill>
            <a:prstDash val="solid"/>
          </a:ln>
        </p:spPr>
        <p:txBody>
          <a:bodyPr/>
          <a:lstStyle/>
          <a:p>
            <a:endParaRPr lang="en-AU"/>
          </a:p>
        </p:txBody>
      </p:sp>
      <p:sp>
        <p:nvSpPr>
          <p:cNvPr id="16" name="Text 13"/>
          <p:cNvSpPr/>
          <p:nvPr/>
        </p:nvSpPr>
        <p:spPr>
          <a:xfrm>
            <a:off x="731520" y="4617720"/>
            <a:ext cx="9784080" cy="914400"/>
          </a:xfrm>
          <a:prstGeom prst="rect">
            <a:avLst/>
          </a:prstGeom>
          <a:noFill/>
          <a:ln/>
        </p:spPr>
        <p:txBody>
          <a:bodyPr wrap="square" lIns="0" tIns="0" rIns="0" bIns="0" rtlCol="0" anchor="ctr"/>
          <a:lstStyle/>
          <a:p>
            <a:pPr marL="0" indent="0">
              <a:buNone/>
            </a:pPr>
            <a:r>
              <a:rPr lang="en-US" sz="1500" dirty="0">
                <a:solidFill>
                  <a:srgbClr val="1A1A2E"/>
                </a:solidFill>
                <a:latin typeface="Calibri" pitchFamily="34" charset="0"/>
                <a:ea typeface="Calibri" pitchFamily="34" charset="-122"/>
                <a:cs typeface="Calibri" pitchFamily="34" charset="-120"/>
              </a:rPr>
              <a:t>Unit checkpoint: your seven elements from today become the opening pitch section of your Game Design Document.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8B5CF6"/>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8B5CF6"/>
                </a:solidFill>
                <a:latin typeface="Courier New" pitchFamily="34" charset="0"/>
                <a:ea typeface="Courier New" pitchFamily="34" charset="-122"/>
                <a:cs typeface="Courier New" pitchFamily="34" charset="-120"/>
              </a:rPr>
              <a:t>REFLECT</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txBody>
          <a:bodyPr/>
          <a:lstStyle/>
          <a:p>
            <a:endParaRPr lang="en-AU"/>
          </a:p>
        </p:txBody>
      </p:sp>
      <p:pic>
        <p:nvPicPr>
          <p:cNvPr id="5" name="Image 0" descr="icons/clipboard_5A5A6E.png"/>
          <p:cNvPicPr>
            <a:picLocks noChangeAspect="1"/>
          </p:cNvPicPr>
          <p:nvPr/>
        </p:nvPicPr>
        <p:blipFill>
          <a:blip r:embed="rId3"/>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marL="0" indent="0" algn="l">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12</a:t>
            </a:r>
            <a:endParaRPr lang="en-US" sz="900" dirty="0"/>
          </a:p>
        </p:txBody>
      </p:sp>
      <p:sp>
        <p:nvSpPr>
          <p:cNvPr id="9" name="Shape 6"/>
          <p:cNvSpPr/>
          <p:nvPr/>
        </p:nvSpPr>
        <p:spPr>
          <a:xfrm>
            <a:off x="457200" y="960120"/>
            <a:ext cx="457200" cy="457200"/>
          </a:xfrm>
          <a:prstGeom prst="ellipse">
            <a:avLst/>
          </a:prstGeom>
          <a:solidFill>
            <a:srgbClr val="EF4444"/>
          </a:solidFill>
          <a:ln/>
        </p:spPr>
        <p:txBody>
          <a:bodyPr/>
          <a:lstStyle/>
          <a:p>
            <a:endParaRPr lang="en-AU"/>
          </a:p>
        </p:txBody>
      </p:sp>
      <p:sp>
        <p:nvSpPr>
          <p:cNvPr id="10" name="Text 7"/>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Exit Ticket</a:t>
            </a:r>
            <a:endParaRPr lang="en-US" sz="3200" dirty="0"/>
          </a:p>
        </p:txBody>
      </p:sp>
      <p:sp>
        <p:nvSpPr>
          <p:cNvPr id="12" name="Text 9"/>
          <p:cNvSpPr/>
          <p:nvPr/>
        </p:nvSpPr>
        <p:spPr>
          <a:xfrm>
            <a:off x="457200" y="1737360"/>
            <a:ext cx="10332720" cy="457200"/>
          </a:xfrm>
          <a:prstGeom prst="rect">
            <a:avLst/>
          </a:prstGeom>
          <a:noFill/>
          <a:ln/>
        </p:spPr>
        <p:txBody>
          <a:bodyPr wrap="square" lIns="0" tIns="0" rIns="0" bIns="0" rtlCol="0" anchor="ctr"/>
          <a:lstStyle/>
          <a:p>
            <a:pPr marL="0" indent="0">
              <a:buNone/>
            </a:pPr>
            <a:r>
              <a:rPr lang="en-US" sz="1700" dirty="0">
                <a:solidFill>
                  <a:srgbClr val="1A1A2E"/>
                </a:solidFill>
                <a:latin typeface="Calibri" pitchFamily="34" charset="0"/>
                <a:ea typeface="Calibri" pitchFamily="34" charset="-122"/>
                <a:cs typeface="Calibri" pitchFamily="34" charset="-120"/>
              </a:rPr>
              <a:t>Complete this in your workbook before you leave — it’s how I check today’s learning.</a:t>
            </a:r>
            <a:endParaRPr lang="en-US" sz="1700" dirty="0"/>
          </a:p>
        </p:txBody>
      </p:sp>
      <p:sp>
        <p:nvSpPr>
          <p:cNvPr id="13" name="Text 10"/>
          <p:cNvSpPr/>
          <p:nvPr/>
        </p:nvSpPr>
        <p:spPr>
          <a:xfrm>
            <a:off x="457200" y="2377440"/>
            <a:ext cx="10332720" cy="2011680"/>
          </a:xfrm>
          <a:prstGeom prst="rect">
            <a:avLst/>
          </a:prstGeom>
          <a:noFill/>
          <a:ln/>
        </p:spPr>
        <p:txBody>
          <a:bodyPr wrap="square" lIns="0" tIns="0" rIns="0" bIns="0" rtlCol="0" anchor="ctr"/>
          <a:lstStyle/>
          <a:p>
            <a:pPr marL="0" indent="0">
              <a:spcAft>
                <a:spcPts val="1600"/>
              </a:spcAft>
              <a:buNone/>
            </a:pPr>
            <a:r>
              <a:rPr lang="en-US" sz="1800" dirty="0">
                <a:solidFill>
                  <a:srgbClr val="1A1A2E"/>
                </a:solidFill>
                <a:latin typeface="Calibri" pitchFamily="34" charset="0"/>
                <a:ea typeface="Calibri" pitchFamily="34" charset="-122"/>
                <a:cs typeface="Calibri" pitchFamily="34" charset="-120"/>
              </a:rPr>
              <a:t>1.  Name the ideation technique you used today.</a:t>
            </a:r>
            <a:endParaRPr lang="en-US" sz="1800" dirty="0"/>
          </a:p>
          <a:p>
            <a:pPr marL="0" indent="0">
              <a:spcAft>
                <a:spcPts val="1600"/>
              </a:spcAft>
              <a:buNone/>
            </a:pPr>
            <a:r>
              <a:rPr lang="en-US" sz="1800" dirty="0">
                <a:solidFill>
                  <a:srgbClr val="1A1A2E"/>
                </a:solidFill>
                <a:latin typeface="Calibri" pitchFamily="34" charset="0"/>
                <a:ea typeface="Calibri" pitchFamily="34" charset="-122"/>
                <a:cs typeface="Calibri" pitchFamily="34" charset="-120"/>
              </a:rPr>
              <a:t>2.  In one sentence, pitch the game idea you developed.</a:t>
            </a:r>
            <a:endParaRPr lang="en-US" sz="1800" dirty="0"/>
          </a:p>
          <a:p>
            <a:pPr marL="0" indent="0">
              <a:buNone/>
            </a:pPr>
            <a:r>
              <a:rPr lang="en-US" sz="1800" dirty="0">
                <a:solidFill>
                  <a:srgbClr val="1A1A2E"/>
                </a:solidFill>
                <a:latin typeface="Calibri" pitchFamily="34" charset="0"/>
                <a:ea typeface="Calibri" pitchFamily="34" charset="-122"/>
                <a:cs typeface="Calibri" pitchFamily="34" charset="-120"/>
              </a:rPr>
              <a:t>3.  Rate your confidence against today’s success criteria (🟢🟡🟣).</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EF4444"/>
            </a:solidFill>
            <a:prstDash val="solid"/>
          </a:ln>
        </p:spPr>
        <p:txBody>
          <a:bodyPr/>
          <a:lstStyle/>
          <a:p>
            <a:endParaRPr lang="en-AU"/>
          </a:p>
        </p:txBody>
      </p:sp>
      <p:sp>
        <p:nvSpPr>
          <p:cNvPr id="3" name="Text 1"/>
          <p:cNvSpPr/>
          <p:nvPr/>
        </p:nvSpPr>
        <p:spPr>
          <a:xfrm>
            <a:off x="457200" y="256032"/>
            <a:ext cx="1920240" cy="329184"/>
          </a:xfrm>
          <a:prstGeom prst="rect">
            <a:avLst/>
          </a:prstGeom>
          <a:noFill/>
          <a:ln/>
        </p:spPr>
        <p:txBody>
          <a:bodyPr wrap="square" lIns="0" tIns="0" rIns="0" bIns="0" rtlCol="0" anchor="ctr"/>
          <a:lstStyle/>
          <a:p>
            <a:pPr marL="0" indent="0" algn="ctr">
              <a:buNone/>
            </a:pPr>
            <a:r>
              <a:rPr lang="en-US" sz="1000" b="1" dirty="0">
                <a:solidFill>
                  <a:srgbClr val="EF4444"/>
                </a:solidFill>
                <a:latin typeface="Courier New" pitchFamily="34" charset="0"/>
                <a:ea typeface="Courier New" pitchFamily="34" charset="-122"/>
                <a:cs typeface="Courier New" pitchFamily="34" charset="-120"/>
              </a:rPr>
              <a:t>NEXT STEPS</a:t>
            </a:r>
            <a:endParaRPr lang="en-US" sz="1000" dirty="0"/>
          </a:p>
        </p:txBody>
      </p:sp>
      <p:sp>
        <p:nvSpPr>
          <p:cNvPr id="4" name="Text 2"/>
          <p:cNvSpPr/>
          <p:nvPr/>
        </p:nvSpPr>
        <p:spPr>
          <a:xfrm>
            <a:off x="457200" y="6510528"/>
            <a:ext cx="7772400" cy="274320"/>
          </a:xfrm>
          <a:prstGeom prst="rect">
            <a:avLst/>
          </a:prstGeom>
          <a:noFill/>
          <a:ln/>
        </p:spPr>
        <p:txBody>
          <a:bodyPr wrap="square" lIns="0" tIns="0" rIns="0" bIns="0" rtlCol="0" anchor="ctr"/>
          <a:lstStyle/>
          <a:p>
            <a:pPr marL="0" indent="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5" name="Text 3"/>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A5A6E"/>
                </a:solidFill>
                <a:latin typeface="Courier New" pitchFamily="34" charset="0"/>
                <a:ea typeface="Courier New" pitchFamily="34" charset="-122"/>
                <a:cs typeface="Courier New" pitchFamily="34" charset="-120"/>
              </a:rPr>
              <a:t>13</a:t>
            </a:r>
            <a:endParaRPr lang="en-US" sz="900" dirty="0"/>
          </a:p>
        </p:txBody>
      </p:sp>
      <p:sp>
        <p:nvSpPr>
          <p:cNvPr id="6" name="Shape 4"/>
          <p:cNvSpPr/>
          <p:nvPr/>
        </p:nvSpPr>
        <p:spPr>
          <a:xfrm>
            <a:off x="457200" y="960120"/>
            <a:ext cx="457200" cy="457200"/>
          </a:xfrm>
          <a:prstGeom prst="ellipse">
            <a:avLst/>
          </a:prstGeom>
          <a:solidFill>
            <a:srgbClr val="EF4444"/>
          </a:solidFill>
          <a:ln/>
        </p:spPr>
        <p:txBody>
          <a:bodyPr/>
          <a:lstStyle/>
          <a:p>
            <a:endParaRPr lang="en-AU"/>
          </a:p>
        </p:txBody>
      </p:sp>
      <p:sp>
        <p:nvSpPr>
          <p:cNvPr id="7" name="Text 5"/>
          <p:cNvSpPr/>
          <p:nvPr/>
        </p:nvSpPr>
        <p:spPr>
          <a:xfrm>
            <a:off x="457200" y="960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8" name="Text 6"/>
          <p:cNvSpPr/>
          <p:nvPr/>
        </p:nvSpPr>
        <p:spPr>
          <a:xfrm>
            <a:off x="1051560" y="777240"/>
            <a:ext cx="10195560" cy="822960"/>
          </a:xfrm>
          <a:prstGeom prst="rect">
            <a:avLst/>
          </a:prstGeom>
          <a:noFill/>
          <a:ln/>
        </p:spPr>
        <p:txBody>
          <a:bodyPr wrap="square" lIns="0" tIns="0" rIns="0" bIns="0" rtlCol="0" anchor="ctr"/>
          <a:lstStyle/>
          <a:p>
            <a:pPr marL="0" indent="0">
              <a:buNone/>
            </a:pPr>
            <a:r>
              <a:rPr lang="en-US" sz="3200" b="1" dirty="0">
                <a:solidFill>
                  <a:srgbClr val="1A1A2E"/>
                </a:solidFill>
                <a:latin typeface="Bookman Old Style" pitchFamily="34" charset="0"/>
                <a:ea typeface="Bookman Old Style" pitchFamily="34" charset="-122"/>
                <a:cs typeface="Bookman Old Style" pitchFamily="34" charset="-120"/>
              </a:rPr>
              <a:t>Next Steps</a:t>
            </a:r>
            <a:endParaRPr lang="en-US" sz="3200" dirty="0"/>
          </a:p>
        </p:txBody>
      </p:sp>
      <p:sp>
        <p:nvSpPr>
          <p:cNvPr id="9" name="Text 7"/>
          <p:cNvSpPr/>
          <p:nvPr/>
        </p:nvSpPr>
        <p:spPr>
          <a:xfrm>
            <a:off x="457200" y="1737360"/>
            <a:ext cx="3657600" cy="320040"/>
          </a:xfrm>
          <a:prstGeom prst="rect">
            <a:avLst/>
          </a:prstGeom>
          <a:noFill/>
          <a:ln/>
        </p:spPr>
        <p:txBody>
          <a:bodyPr wrap="square" lIns="0" tIns="0" rIns="0" bIns="0" rtlCol="0" anchor="ctr"/>
          <a:lstStyle/>
          <a:p>
            <a:pPr marL="0" indent="0">
              <a:buNone/>
            </a:pPr>
            <a:r>
              <a:rPr lang="en-US" b="1" dirty="0">
                <a:solidFill>
                  <a:srgbClr val="5A5A6E"/>
                </a:solidFill>
                <a:latin typeface="Calibri" pitchFamily="34" charset="0"/>
                <a:ea typeface="Calibri" pitchFamily="34" charset="-122"/>
                <a:cs typeface="Calibri" pitchFamily="34" charset="-120"/>
              </a:rPr>
              <a:t>Next Lesson</a:t>
            </a:r>
            <a:endParaRPr lang="en-US" dirty="0"/>
          </a:p>
        </p:txBody>
      </p:sp>
      <p:sp>
        <p:nvSpPr>
          <p:cNvPr id="10" name="Text 8"/>
          <p:cNvSpPr/>
          <p:nvPr/>
        </p:nvSpPr>
        <p:spPr>
          <a:xfrm>
            <a:off x="457200" y="2057400"/>
            <a:ext cx="10332720" cy="73152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Lesson 4: we’ll take your game idea and start sketching it as a paper prototype before any digital building begins.</a:t>
            </a:r>
            <a:endParaRPr lang="en-US" sz="2000" dirty="0"/>
          </a:p>
        </p:txBody>
      </p:sp>
      <p:sp>
        <p:nvSpPr>
          <p:cNvPr id="11" name="Text 9"/>
          <p:cNvSpPr/>
          <p:nvPr/>
        </p:nvSpPr>
        <p:spPr>
          <a:xfrm>
            <a:off x="457200" y="2926080"/>
            <a:ext cx="3657600" cy="320040"/>
          </a:xfrm>
          <a:prstGeom prst="rect">
            <a:avLst/>
          </a:prstGeom>
          <a:noFill/>
          <a:ln/>
        </p:spPr>
        <p:txBody>
          <a:bodyPr wrap="square" lIns="0" tIns="0" rIns="0" bIns="0" rtlCol="0" anchor="ctr"/>
          <a:lstStyle/>
          <a:p>
            <a:pPr marL="0" indent="0">
              <a:buNone/>
            </a:pPr>
            <a:r>
              <a:rPr lang="en-US" b="1" dirty="0">
                <a:solidFill>
                  <a:srgbClr val="5A5A6E"/>
                </a:solidFill>
                <a:latin typeface="Calibri" pitchFamily="34" charset="0"/>
                <a:ea typeface="Calibri" pitchFamily="34" charset="-122"/>
                <a:cs typeface="Calibri" pitchFamily="34" charset="-120"/>
              </a:rPr>
              <a:t>Major Assessment</a:t>
            </a:r>
            <a:endParaRPr lang="en-US" dirty="0"/>
          </a:p>
        </p:txBody>
      </p:sp>
      <p:sp>
        <p:nvSpPr>
          <p:cNvPr id="12" name="Text 10"/>
          <p:cNvSpPr/>
          <p:nvPr/>
        </p:nvSpPr>
        <p:spPr>
          <a:xfrm>
            <a:off x="457200" y="3246120"/>
            <a:ext cx="10332720" cy="64008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Game Design Document — Today’s seven elements become the opening pitch section. No submission required yet.</a:t>
            </a:r>
            <a:endParaRPr lang="en-US" sz="2000" dirty="0"/>
          </a:p>
        </p:txBody>
      </p:sp>
      <p:sp>
        <p:nvSpPr>
          <p:cNvPr id="13" name="Shape 11"/>
          <p:cNvSpPr/>
          <p:nvPr/>
        </p:nvSpPr>
        <p:spPr>
          <a:xfrm>
            <a:off x="457200" y="4160520"/>
            <a:ext cx="10332720" cy="914400"/>
          </a:xfrm>
          <a:prstGeom prst="roundRect">
            <a:avLst>
              <a:gd name="adj" fmla="val 10000"/>
            </a:avLst>
          </a:prstGeom>
          <a:solidFill>
            <a:srgbClr val="F7F8FC"/>
          </a:solidFill>
          <a:ln w="12700">
            <a:solidFill>
              <a:srgbClr val="DCE0EA"/>
            </a:solidFill>
            <a:prstDash val="solid"/>
          </a:ln>
        </p:spPr>
        <p:txBody>
          <a:bodyPr/>
          <a:lstStyle/>
          <a:p>
            <a:endParaRPr lang="en-AU"/>
          </a:p>
        </p:txBody>
      </p:sp>
      <p:sp>
        <p:nvSpPr>
          <p:cNvPr id="14" name="Text 12"/>
          <p:cNvSpPr/>
          <p:nvPr/>
        </p:nvSpPr>
        <p:spPr>
          <a:xfrm>
            <a:off x="731520" y="4069080"/>
            <a:ext cx="9784080" cy="914400"/>
          </a:xfrm>
          <a:prstGeom prst="rect">
            <a:avLst/>
          </a:prstGeom>
          <a:noFill/>
          <a:ln/>
        </p:spPr>
        <p:txBody>
          <a:bodyPr wrap="square" lIns="0" tIns="0" rIns="0" bIns="0" rtlCol="0" anchor="ctr"/>
          <a:lstStyle/>
          <a:p>
            <a:pPr marL="0" indent="0">
              <a:buNone/>
            </a:pPr>
            <a:r>
              <a:rPr lang="en-US" i="1" dirty="0">
                <a:solidFill>
                  <a:srgbClr val="1A1A2E"/>
                </a:solidFill>
                <a:latin typeface="Calibri" pitchFamily="34" charset="0"/>
                <a:ea typeface="Calibri" pitchFamily="34" charset="-122"/>
                <a:cs typeface="Calibri" pitchFamily="34" charset="-120"/>
              </a:rPr>
              <a:t>Homework: describe your game idea to a family member or friend — note down one question they asked that you couldn’t answer yet.</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1753</Words>
  <Application>Microsoft Office PowerPoint</Application>
  <PresentationFormat>Widescreen</PresentationFormat>
  <Paragraphs>186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James Smith 5</cp:lastModifiedBy>
  <cp:revision>2</cp:revision>
  <dcterms:created xsi:type="dcterms:W3CDTF">2026-07-30T02:12:04Z</dcterms:created>
  <dcterms:modified xsi:type="dcterms:W3CDTF">2026-07-31T01:40:42Z</dcterms:modified>
</cp:coreProperties>
</file>