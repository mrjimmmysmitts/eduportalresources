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956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5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D5.2 · DESIGN TOOLS &amp; TECHNIQUES II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Year 11 Applied Computing — Unit 2 · AoS1 Innovative Solutions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Pseudocode &amp; Site Maps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Representing the functionality of your solution — the logic behind the screen.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LESSON 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1100" dirty="0"/>
          </a:p>
        </p:txBody>
      </p:sp>
      <p:pic>
        <p:nvPicPr>
          <p:cNvPr id="9" name="Image 0" descr="icons/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4688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WARM 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warm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Which Tool Fits?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0972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 — think and discuss as a table.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68580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SCENARIO 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 shopping app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2971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needs to check if a discount code is valid before applying it.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5196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448056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SCENARIO 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8056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 community website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80560" y="2971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 12 pages a visitor needs to find their way between.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046720" y="20116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827532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SCENARIO 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7532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 quiz game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75320" y="2971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needs to decide pass or fail depending on score.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416052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2"/>
          <p:cNvSpPr/>
          <p:nvPr/>
        </p:nvSpPr>
        <p:spPr>
          <a:xfrm>
            <a:off x="73152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DISCUSS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" y="46177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each scenario: would you sketch it (mock-up), map its logic (pseudocode), or map its structure (site map)? You already know mock-ups from last lesson — today adds two new tools.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WARM 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Two New Tools, Same Job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represent functionality — how a solution behaves, not how it looks.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6F8FA"/>
          </a:solidFill>
          <a:ln w="190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2" name="Image 0" descr="icons/pseudo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876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361EE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Pseudocode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2971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Represents logic and decisions — best for scenario 1 and 3, where the solution has to decide something.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4937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Fits: programs, apps, anything with rules, checks, or calculations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2057400"/>
            <a:ext cx="5669280" cy="3566160"/>
          </a:xfrm>
          <a:prstGeom prst="roundRect">
            <a:avLst>
              <a:gd name="adj" fmla="val 2564"/>
            </a:avLst>
          </a:prstGeom>
          <a:solidFill>
            <a:srgbClr val="F6F8FA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7" name="Image 1" descr="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3317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8660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5CF6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Site Map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355080" y="2971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Represents structure and navigation — best for scenario 2, where a user needs to move between sections.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355080" y="4937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Fits: websites, apps with multiple screens, multimedia, anything with sections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Today's Objective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be able to represent the functionality of part of my solution using pseudocode or a site map, matched to the type of solution I am building.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5720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246120"/>
            <a:ext cx="1920240" cy="329184"/>
          </a:xfrm>
          <a:prstGeom prst="roundRect">
            <a:avLst>
              <a:gd name="adj" fmla="val 19444"/>
            </a:avLst>
          </a:prstGeom>
          <a:solidFill>
            <a:srgbClr val="E3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457200" y="3246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🟢 FOUNDATION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56032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can explain what pseudocode or a site map is used for and choose the right one for my solution.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4114800"/>
            <a:ext cx="1920240" cy="329184"/>
          </a:xfrm>
          <a:prstGeom prst="roundRect">
            <a:avLst>
              <a:gd name="adj" fmla="val 19444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457200" y="4114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🟡 DEVELOPING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560320" y="4069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can write pseudocode using correct keywords, or build a site map showing structure and navigation.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983480"/>
            <a:ext cx="1920240" cy="329184"/>
          </a:xfrm>
          <a:prstGeom prst="roundRect">
            <a:avLst>
              <a:gd name="adj" fmla="val 1944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457200" y="4983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🟣 EXTENDING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560320" y="4937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 can trace through pseudocode by hand, or trace a user path through my site map, and justify my design choices.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9144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What is Pseudocode?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📋 Copy this into your notes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777240" y="2011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Pseudocode is a way of writing out the steps and decisions a solution needs to make, using plain English mixed with simple programming structure. It is not a real programming language — it is written for humans to read, planned before any code is typed.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720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WHY PLAN IN PSEUDOCODE FIRST?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45720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35570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logic can be checked before a single line of real code is written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417880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45720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412394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Mistakes are far cheaper to fix on paper than after building the solution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57200" y="4745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4400" y="469087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doesn't lock you into one programming language — any language can follow it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2"/>
          <p:cNvSpPr/>
          <p:nvPr/>
        </p:nvSpPr>
        <p:spPr>
          <a:xfrm>
            <a:off x="73152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THINK–PAIR–SHARE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31520" y="592531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Have you ever written out steps before doing something complicated — a recipe, a route, a routine? How is that similar to pseudocode?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Pseudocode Conventions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📋 Copy this into your notes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194767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Assignment — storing a value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5577840" cy="566928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streak ← streak + 1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57200" y="25877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=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261518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Comparison — checking if equal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587752"/>
            <a:ext cx="5577840" cy="566928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263640" y="258775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IF answer = correctAnswer THEN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55264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57200" y="32552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INPUT / DISPLAY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23160" y="328269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Getting data in / showing data out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255264"/>
            <a:ext cx="5577840" cy="566928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6263640" y="325526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INPUT userName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922776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57200" y="39227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IF / ELSE / ENDIF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23160" y="395020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decision with two possible paths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922776"/>
            <a:ext cx="5577840" cy="566928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6263640" y="3922776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IF score &gt;= 50 THEN … ELSE … ENDIF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590288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457200" y="45902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WHILE / ENDWHILE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423160" y="46177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Repeating while a condition holds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4590288"/>
            <a:ext cx="5577840" cy="566928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6263640" y="459028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WHILE attempts &lt; 3 …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25780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457200" y="5257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AND / OR / NOT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423160" y="52852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Combining or reversing conditions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5257800"/>
            <a:ext cx="5577840" cy="566928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6263640" y="525780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IF age &gt;= 13 AND age &lt;= 17 THEN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98932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5C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Comments — use # or // to explain a choice, e.g. what a keyword means in your pseudocode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Worked Example — Streak Checker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habit-tracker app decides whether to keep a user’s streak going.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6309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ALGORITHM checkStreak()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BEGIN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INPUT taskDoneToday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IF taskDoneToday = True THEN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  streak ← streak + 1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  DISPLAY "Streak continues: " + streak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ELSE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  streak ← 0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  DISPLAY "Streak reset"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ENDIF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END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1965960"/>
            <a:ext cx="4069080" cy="4480560"/>
          </a:xfrm>
          <a:prstGeom prst="roundRect">
            <a:avLst>
              <a:gd name="adj" fmla="val 179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86384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READ IT ALOUD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Notice: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0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 / END mark the start and 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354787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35478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Indentation shows what is inside the IF block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426110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42611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 stores a value, = only compares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497433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49743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 is one team’s choice — yours might use PRINT or SHOW instead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9144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What is a Site Map?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📋 Copy this into your notes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777240" y="2011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site map shows how the information in a solution is organised into sections, and how a user moves between them. It is sometimes called a hierarchy or tree diagram — it maps structure and navigation, not logic.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720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 SITE MAP HELPS YOU DECIDE: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45720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35570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many sections or screens the solution actually needs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417880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45720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412394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those sections should be grouped and nested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57200" y="4745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4400" y="469087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a user gets from the main page to the section they want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2"/>
          <p:cNvSpPr/>
          <p:nvPr/>
        </p:nvSpPr>
        <p:spPr>
          <a:xfrm>
            <a:off x="73152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DISCUSS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31520" y="592531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Think of an app or website you use often. Could you draw its structure from memory? How many taps to your favourite feature?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Worked Example — Habit Tracker Site Map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4937760" y="17830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Home Screen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2331720"/>
            <a:ext cx="0" cy="320040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1371600" y="2651760"/>
            <a:ext cx="9418320" cy="0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1965960" y="2651760"/>
            <a:ext cx="0" cy="320040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914400" y="297180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 Streaks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651760"/>
            <a:ext cx="0" cy="320040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3566160" y="297180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3566160" y="2971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Habit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2651760"/>
            <a:ext cx="0" cy="320040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6217920" y="297180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217920" y="2971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Reminders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21240" y="2651760"/>
            <a:ext cx="0" cy="320040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8869680" y="297180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8869680" y="2971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3474720"/>
            <a:ext cx="0" cy="274320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1234440" y="3749040"/>
            <a:ext cx="1554480" cy="0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1234440" y="3749040"/>
            <a:ext cx="0" cy="274320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45720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Streak Detail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88920" y="3749040"/>
            <a:ext cx="0" cy="274320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2125980" y="40233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201168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Streak History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68580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READ IT ALOUD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349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Home Screen sits at the top. My Streaks, Add Habit, Reminders and Profile all branch directly from it — that’s one tap away. Streak Detail and Streak History branch from My Streaks — that’s two taps from Home. Depth like this is exactly what a site map reveals before any screen is built.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Choosing Your Track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question decides which tool you’ll use today.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77240" y="19659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 your solution decide things (checks, calculations, rules) or does it mainly hold sections a user moves between?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8ECFD"/>
          </a:solidFill>
          <a:ln w="190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6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Mostly decisions/logic → PSEUDOCODE TRACK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e.g. a scoring system, a login check, a calculator, a game rule engine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F1EBF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309360" y="3246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Mostly sections/navigation → SITE MAP TRACK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e.g. a multi-page website, an information hub, a portfolio, a multimedia guide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85800" y="48463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sure? Some solutions need both — pick whichever part of your project you’re working on next.</a:t>
            </a:r>
            <a:endParaRPr lang="en-US" sz="1250" dirty="0"/>
          </a:p>
        </p:txBody>
      </p:sp>
      <p:pic>
        <p:nvPicPr>
          <p:cNvPr id="21" name="Image 0" descr="icons/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623560"/>
            <a:ext cx="50292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5156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LAPTOP GATE — devices on now. Open your workbook.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BRAIN BREAK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brainbr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097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60-Second Stretch: Human Site Map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457200" y="1965960"/>
            <a:ext cx="11247120" cy="3566160"/>
          </a:xfrm>
          <a:prstGeom prst="roundRect">
            <a:avLst>
              <a:gd name="adj" fmla="val 2564"/>
            </a:avLst>
          </a:prstGeom>
          <a:solidFill>
            <a:srgbClr val="E3FBF3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77724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17320" y="22860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student stands at the front — they are the "Home Screen"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77240" y="3035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7772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17320" y="303580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more students stand behind them, hands on their shoulders — they are the top-level sections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77240" y="37856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77724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17320" y="3785616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more student links onto a top-level section — they are one level deeper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777240" y="45354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77724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417320" y="453542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"go!", the group calls out their own navigation path from Home to where they’re standing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ON</a:t>
            </a:r>
            <a:endParaRPr lang="en-US" sz="1000" dirty="0"/>
          </a:p>
        </p:txBody>
      </p:sp>
      <p:pic>
        <p:nvPicPr>
          <p:cNvPr id="9" name="Image 0" descr="icons/appl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Open Your Workbook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09728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L8_DesignToolsTechniquesII_workbook.html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685800" y="22128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68580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2588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Your Track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325880" y="246888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E3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1325880" y="2468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🟢 FOUNDATION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46120" y="21214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the part of your solution you’re representing and pick pseudocode or site map.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0175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685800" y="3218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68580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32588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It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1325880" y="347472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1"/>
          <p:cNvSpPr/>
          <p:nvPr/>
        </p:nvSpPr>
        <p:spPr>
          <a:xfrm>
            <a:off x="1325880" y="3474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🟡 DEVELOPING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246120" y="31272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Pseudocode track: build your algorithm line by line. Site map track: build your hierarchy tree.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4"/>
          <p:cNvSpPr/>
          <p:nvPr/>
        </p:nvSpPr>
        <p:spPr>
          <a:xfrm>
            <a:off x="685800" y="4224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5"/>
          <p:cNvSpPr/>
          <p:nvPr/>
        </p:nvSpPr>
        <p:spPr>
          <a:xfrm>
            <a:off x="68580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2588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Trace &amp; Justify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1325880" y="448056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8"/>
          <p:cNvSpPr/>
          <p:nvPr/>
        </p:nvSpPr>
        <p:spPr>
          <a:xfrm>
            <a:off x="1325880" y="44805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🟣 EXTENDING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246120" y="41330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Trace an example through your work by hand, and justify one design decision.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57200" y="50292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1"/>
          <p:cNvSpPr/>
          <p:nvPr/>
        </p:nvSpPr>
        <p:spPr>
          <a:xfrm>
            <a:off x="685800" y="5230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Text 32"/>
          <p:cNvSpPr/>
          <p:nvPr/>
        </p:nvSpPr>
        <p:spPr>
          <a:xfrm>
            <a:off x="68580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325880" y="5120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Sign-Off Checklist</a:t>
            </a:r>
            <a:endParaRPr lang="en-US" sz="1450" dirty="0"/>
          </a:p>
        </p:txBody>
      </p:sp>
      <p:sp>
        <p:nvSpPr>
          <p:cNvPr id="37" name="Shape 34"/>
          <p:cNvSpPr/>
          <p:nvPr/>
        </p:nvSpPr>
        <p:spPr>
          <a:xfrm>
            <a:off x="1325880" y="548640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5"/>
          <p:cNvSpPr/>
          <p:nvPr/>
        </p:nvSpPr>
        <p:spPr>
          <a:xfrm>
            <a:off x="1325880" y="5486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🟡 DEVELOPING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3246120" y="5138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 every required element is genuinely present before moving 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ON</a:t>
            </a:r>
            <a:endParaRPr lang="en-US" sz="1000" dirty="0"/>
          </a:p>
        </p:txBody>
      </p:sp>
      <p:pic>
        <p:nvPicPr>
          <p:cNvPr id="9" name="Image 0" descr="icons/pseudo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4361EE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Task Card — Pseudocode Track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16916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the decision, check, or calculation your solution needs to make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7280" y="24688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 line builder to write each step — pick a keyword, then describe what happens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5720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97280" y="32461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indentation to show what sits inside an IF or WHILE block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57200" y="4023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97280" y="40233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Trace your pseudocode by hand with one example input and record what it outputs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1"/>
          <p:cNvSpPr/>
          <p:nvPr/>
        </p:nvSpPr>
        <p:spPr>
          <a:xfrm>
            <a:off x="777240" y="50749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IF stock &lt; reorderLevel THEN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DISPLAY "Reorder needed"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ELSE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  DISPLAY "Stock OK"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4EF0C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ENDIF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ON</a:t>
            </a:r>
            <a:endParaRPr lang="en-US" sz="1000" dirty="0"/>
          </a:p>
        </p:txBody>
      </p:sp>
      <p:pic>
        <p:nvPicPr>
          <p:cNvPr id="9" name="Image 0" descr="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8B5CF6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Task Card — Site Map Track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16916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the part of your solution this site map will represent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7280" y="24688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with your Home / Main page as the top node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5720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97280" y="32461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each section as a node and choose its parent — the tree preview builds itself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57200" y="4023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97280" y="40233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Trace the shortest and longest paths from Home and note how many taps/clicks each takes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1"/>
          <p:cNvSpPr/>
          <p:nvPr/>
        </p:nvSpPr>
        <p:spPr>
          <a:xfrm>
            <a:off x="73152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REMEMBER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node except Home needs a parent — that’s what makes it a hierarchy. If a section doesn’t clearly belong under one parent, that’s worth a note for your reflection.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RESPONSIVE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ON</a:t>
            </a:r>
            <a:endParaRPr lang="en-US" sz="1000" dirty="0"/>
          </a:p>
        </p:txBody>
      </p:sp>
      <p:pic>
        <p:nvPicPr>
          <p:cNvPr id="9" name="Image 0" descr="icons/sw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Peer Trace-Through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09728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Swap workbooks (or screens) with a neighbouring group for 4 minutes.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43000" y="2039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their pseudocode or site map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43000" y="2377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you follow the logic or the structure without asking them to explain it?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43000" y="29077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Try their trace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43000" y="3246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 their worked example — do you get the same output or path they recorded?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143000" y="37764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one gap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4300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76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 out one step, keyword, or connection that needs clarifying.</a:t>
            </a:r>
            <a:endParaRPr lang="en-US" sz="1250" dirty="0"/>
          </a:p>
        </p:txBody>
      </p:sp>
      <p:pic>
        <p:nvPicPr>
          <p:cNvPr id="24" name="Image 1" descr="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920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0584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ASSESSMENT CHECKPOINT — Milestone 2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57200" y="53492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DEAE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3"/>
          <p:cNvSpPr/>
          <p:nvPr/>
        </p:nvSpPr>
        <p:spPr>
          <a:xfrm>
            <a:off x="731520" y="5349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Week 7 you need: mock-up or storyboard (done), pseudocode and/or site map for key parts of your solution (today), evaluation criteria (next lesson). Keep every design document — they all feed into your preferred design.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10" name="Image 0" descr="icons/exitti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Exit Ticket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43000" y="12984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Devices off — complete Section 5 from memory. No looking back.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17830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1"/>
          <p:cNvSpPr/>
          <p:nvPr/>
        </p:nvSpPr>
        <p:spPr>
          <a:xfrm>
            <a:off x="731520" y="2011680"/>
            <a:ext cx="1828800" cy="329184"/>
          </a:xfrm>
          <a:prstGeom prst="roundRect">
            <a:avLst>
              <a:gd name="adj" fmla="val 19444"/>
            </a:avLst>
          </a:prstGeom>
          <a:solidFill>
            <a:srgbClr val="E3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731520" y="2011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🟢 FOUNDATION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1520" y="24688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your own words, what is pseudocode used for?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5"/>
          <p:cNvSpPr/>
          <p:nvPr/>
        </p:nvSpPr>
        <p:spPr>
          <a:xfrm>
            <a:off x="731520" y="3611880"/>
            <a:ext cx="1828800" cy="329184"/>
          </a:xfrm>
          <a:prstGeom prst="roundRect">
            <a:avLst>
              <a:gd name="adj" fmla="val 19444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731520" y="36118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🟡 DEVELOPING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1520" y="40690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the difference between ← and = in pseudocode?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49834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19"/>
          <p:cNvSpPr/>
          <p:nvPr/>
        </p:nvSpPr>
        <p:spPr>
          <a:xfrm>
            <a:off x="731520" y="5212080"/>
            <a:ext cx="1828800" cy="329184"/>
          </a:xfrm>
          <a:prstGeom prst="roundRect">
            <a:avLst>
              <a:gd name="adj" fmla="val 1944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0"/>
          <p:cNvSpPr/>
          <p:nvPr/>
        </p:nvSpPr>
        <p:spPr>
          <a:xfrm>
            <a:off x="731520" y="52120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🟣 EXTENDING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would you build a site map before designing individual screens?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y11-ac-u2-l8-design-tools-techniques-ii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79992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Mr Smith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54887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3200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320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11512" y="3200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811512" y="320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F444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DEVICES OFF</a:t>
            </a:r>
            <a:endParaRPr lang="en-US" sz="1000" dirty="0"/>
          </a:p>
        </p:txBody>
      </p:sp>
      <p:pic>
        <p:nvPicPr>
          <p:cNvPr id="9" name="Image 0" descr="icons/next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0D111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Looking Ahead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E8ECFD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777240" y="1828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NEXT LESSON — EVALUATION CRITERIA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21488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Writing the criteria you’ll use to judge whether your finished solution actually works — building directly on today’s design documents.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777240" y="30175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11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YOUR DESIGN WORK IS NOW A WORKING REFERENCE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7240" y="3337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your pseudocode and/or site map alongside your mock-up and storyboard — together they form the design evidence for your preferred design, due Week 7.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25196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FEF3E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777240" y="4389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BEFORE DISMISSING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" y="4754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☐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97280" y="47548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Workbook saved (check the Saved ✓ confirmation)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" y="51023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☐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51023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Section 5 sign-off checklist genuinely ticked, not rushed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" y="54498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☐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97280" y="544982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1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Bring today’s design work to next lesson — you’ll reference it directly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60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HOMEWORK: none set — all work stays in class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1797</Words>
  <Application>Microsoft Office PowerPoint</Application>
  <PresentationFormat>Widescreen</PresentationFormat>
  <Paragraphs>306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DM Mono</vt:lpstr>
      <vt:lpstr>DM Sans</vt:lpstr>
      <vt:lpstr>DM Serif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James Smith 5</cp:lastModifiedBy>
  <cp:revision>2</cp:revision>
  <dcterms:created xsi:type="dcterms:W3CDTF">2026-07-28T23:47:14Z</dcterms:created>
  <dcterms:modified xsi:type="dcterms:W3CDTF">2026-07-29T02:10:49Z</dcterms:modified>
</cp:coreProperties>
</file>