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D6.1 · EVALUATION CRITERIA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 11 Applied Computing — Unit 2 · AoS1 Innovative Solutions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Deciding What "Good" Looks Like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evaluation criteria now, so you can judge your design ideas fairly — and evaluate your finished solution later.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LESSON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100" dirty="0"/>
          </a:p>
        </p:txBody>
      </p:sp>
      <p:pic>
        <p:nvPicPr>
          <p:cNvPr id="9" name="Image 0" descr="icons/eval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4688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WARM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warm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Good, According to Who?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discuss as a table.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011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"This app is good." Two people could both believe that and mean completely different things. What might each of them actually be judging?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gamer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judging a new release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51960" y="3429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parent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48056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judging a learning app for their kid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46720" y="3429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business owner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7532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judging their new booking system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507492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DISCUSS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486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person, name one thing they’d actually check or measure — not just "it feels good".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WARM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Testing vs Evaluation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already do one of these every lesson without naming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12" name="Image 0" descr="icons/te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Testing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 that the solution works. Does it run without crashing? Does this input give the right output?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Happens while building, and immediately gives a pass/fail answer.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2057400"/>
            <a:ext cx="566928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7" name="Image 1" descr="icons/evalu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317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35508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 that a working solution actually satisfies the user’s needs, against criteria decided in advance.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5508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Happens after the solution works, often weeks or months later, over real use.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obj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Today's Objective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be able to write evaluation criteria for my solution that are specific, measurable, and linked back to my specifications.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603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explain the difference between testing and evaluation, and between efficiency and effectiveness.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114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560320" y="4069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write evaluation criteria with a time frame, data required, data-collection method, and a clear judgement.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98348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560320" y="4937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justify why each criterion matters, and identify whether it needs an objective or subjective evaluation method.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eval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112" y="914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Are Evaluation Criteria?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011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 criteria are the standards you decide, in advance, that your finished solution needs to meet in order to count as successful. You write them now, during design — not after the solution is built.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WHY WRITE THEM NOW, BEFORE BUILDING?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5570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guide your design decisions — you build toward the standard, not backward from whatever you happened to make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57200" y="42336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41788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Deciding "good enough" after the fact is far easier to fool yourself on than deciding it in advance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7200" y="48554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criteria you write today will be used to evaluate your finished solution later in the project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THINK–PAIR–SHARE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1520" y="5971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back at your Lesson 5 specifications — which requirement would be hardest to judge fairly without a criterion written in advance?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Efficiency vs Effectiveness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19050">
            <a:solidFill>
              <a:srgbClr val="4361EE"/>
            </a:solidFill>
            <a:prstDash val="solid"/>
          </a:ln>
        </p:spPr>
      </p:sp>
      <p:pic>
        <p:nvPicPr>
          <p:cNvPr id="12" name="Image 0" descr="icons/effici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61E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well resources are used to produce the outcome.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Speed — how fast a task completes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Productivity — output in a given time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Profitability — income vs running cost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Labour — how much people-effort it takes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35040" y="196596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0" name="Image 1" descr="icons/effective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4028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B98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Effectiveness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35508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well the outcome actually meets the user’s needs.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55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Completeness, accuracy, clarity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3550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Attractiveness, readability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355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Accessibility, usability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35508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Timeliness, relevance, communication of message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112" y="914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Writing a Criterion — The Structure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965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46120" y="1965960"/>
            <a:ext cx="8458200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9659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quality being judged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6243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Time frame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46120" y="2624328"/>
            <a:ext cx="8458200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26243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it will be checked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3282696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2826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Data required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46120" y="3282696"/>
            <a:ext cx="8458200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3" name="Text 20"/>
          <p:cNvSpPr/>
          <p:nvPr/>
        </p:nvSpPr>
        <p:spPr>
          <a:xfrm>
            <a:off x="3429000" y="32826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evidence is needed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7200" y="3941064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9410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Collection method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46120" y="3941064"/>
            <a:ext cx="8458200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7" name="Text 24"/>
          <p:cNvSpPr/>
          <p:nvPr/>
        </p:nvSpPr>
        <p:spPr>
          <a:xfrm>
            <a:off x="3429000" y="3941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that evidence is gathered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57200" y="4599432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599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Judgement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246120" y="4599432"/>
            <a:ext cx="8458200" cy="56692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1" name="Text 28"/>
          <p:cNvSpPr/>
          <p:nvPr/>
        </p:nvSpPr>
        <p:spPr>
          <a:xfrm>
            <a:off x="3429000" y="45994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exact line between met and not met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5468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PART STUDENTS SKIP — DON’T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31520" y="573328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app should be easy to use" is not a judgement — it doesn’t say what result counts as met. "If 8 out of 10 users rate it 4/5 or higher for ease of use" does.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Worked Example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habit-tracker app, evaluated three months after launch.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83464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116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Criterion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8412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01168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 feature keeps users coming 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283464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24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Time frame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2724912"/>
            <a:ext cx="8412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72491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months after launch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283464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43814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Data required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3438144"/>
            <a:ext cx="8412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43814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active user logs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51376"/>
            <a:ext cx="283464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5137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Collection method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91840" y="4151376"/>
            <a:ext cx="8412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15137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analytics 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64608"/>
            <a:ext cx="283464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8646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Judgement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4864608"/>
            <a:ext cx="8412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864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60%+ of users who set a habit are still logging in weekly, criterion is met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788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NOTICE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" y="60167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an effectiveness criterion (usability/engagement) using an objective method — analytics data, not opinion.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112" y="914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Objective vs Subjective Methods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920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8ECFD"/>
          </a:solidFill>
          <a:ln w="19050">
            <a:solidFill>
              <a:srgbClr val="436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 — use whenever you can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2514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Fact-based, measurable results: analytics data, load times, error counts, log files. Hard to argue with.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35040" y="1920240"/>
            <a:ext cx="5669280" cy="1691640"/>
          </a:xfrm>
          <a:prstGeom prst="roundRect">
            <a:avLst>
              <a:gd name="adj" fmla="val 4324"/>
            </a:avLst>
          </a:prstGeom>
          <a:solidFill>
            <a:srgbClr val="FEF3E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084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SUBJECTIVE — use when objective isn’t possible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09360" y="2514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Opinions and judgements: interviews, surveys, ratings. Needed for things like "feels easy to use", but should still ask for a number where possible.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criterion needs a matching collection method — if you can’t say how you’d gather the evidence, the criterion isn’t finished yet.</a:t>
            </a:r>
            <a:endParaRPr lang="en-US" sz="1450" dirty="0"/>
          </a:p>
        </p:txBody>
      </p:sp>
      <p:pic>
        <p:nvPicPr>
          <p:cNvPr id="20" name="Image 1" descr="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51560" y="5074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LAPTOP GATE — devices on now. Open your workbook.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BRAIN BREAK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brainbr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097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60-Second Stretch: Judge the Judgement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11247120" cy="3566160"/>
          </a:xfrm>
          <a:prstGeom prst="roundRect">
            <a:avLst>
              <a:gd name="adj" fmla="val 2564"/>
            </a:avLst>
          </a:prstGeom>
          <a:solidFill>
            <a:srgbClr val="E3FBF3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22860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 up. Teacher reads out a vague criterion, e.g. "The website should look nice."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77240" y="3035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303580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think it’s measurable, move to the left side of the room. If it’s too vague, move right.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77240" y="3785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378561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person from the larger group explains what’s missing — or defends why it works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77240" y="45354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17320" y="453542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for two more examples, then sit back down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Open Your Workbook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972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L9_EvaluationCriteria_workbook.html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212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258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 to Your Specifications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325880" y="246888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5880" y="2468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29000" y="21214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Pull 3–4 requirements from Lesson 5 that most need a criterion.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218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3258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Criteria Table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325880" y="347472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2588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29000" y="31272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full criteria — time frame, data, method, and a real judgement line for each.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2588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 &amp; Justify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1325880" y="448056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25880" y="4480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429000" y="413308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 each as efficiency/effectiveness and objective/subjective, and justify one choice.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57200" y="50292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" y="5230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32588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Sign-Off Checklist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1325880" y="548640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25880" y="5486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429000" y="5138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every criterion is genuinely measurable before moving 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361E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Start From Your Specifications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16916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your Lesson 5 specifications — your functional and non-functional requirements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468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3–4 requirements that would be easy to fool yourself about without a clear standard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97280" y="3246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one, ask: what result would prove this requirement was actually met?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4023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Carry those straight into your criteria table — each becomes one criterion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Requirement: "The system must let a user check in within 10 seconds." Criterion: time from app-open to check-in confirmed, measured via a stopwatch across 10 test users, met if the average is under 10 seconds.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361E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Build Your Criteria Table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16916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criteria builder to add one row per requirement you picked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468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every column — a criterion with no judgement line isn’t finished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97280" y="3246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 each row as efficiency or effectiveness, and objective or subjective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4023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Check: could someone else read your judgement line and know exactly what to check?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DEAE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WATCH FOR THIS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Criteria that just restate the requirement ("the system will be fast") without a number or method aren’t finished — they’re a requirement wearing a criterion’s name.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RESPONSIVE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sw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Peer Criteria Check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with a neighbouring group for 4 minutes.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43000" y="2039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one criterion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2377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the one you’re least sure about from their table.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43000" y="2907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 to break it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" y="3246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Could two people apply their judgement line and disagree on the result? If so, it’s not specific enough yet.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143000" y="37764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fix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300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Suggest what number, method, or wording would close the gap.</a:t>
            </a:r>
            <a:endParaRPr lang="en-US" sz="1250" dirty="0"/>
          </a:p>
        </p:txBody>
      </p:sp>
      <p:pic>
        <p:nvPicPr>
          <p:cNvPr id="24" name="Image 1" descr="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92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ASSESSMENT CHECKPOINT — Milestone 2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5349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DEAE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1520" y="5349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Week 7 you need a preferred design, chosen and justified using these criteria against your design ideas from Lessons 7–8. Keep this table — you’ll use it again at the very end of the project to evaluate your finished solution.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10" name="Image 0" descr="icons/exit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4300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complete Section 4 from memory. No looking back.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0116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011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2468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difference between testing and evaluation?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6118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11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" y="40690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five parts of a written evaluation criterion.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9834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2120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2120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 an example of a criterion that sounds fine but isn’t actually measurable, and explain why.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y11-ac-u2-l9-evaluation-criteria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next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Looking Ahead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28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NEXT LESSON — CHOOSING YOUR PREFERRED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2148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the criteria you wrote today to compare your design ideas from Lessons 7–8, and justify which one your group will build.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17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CRITERIA TABLE IS NOW A WORKING REFERENCE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3337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it alongside your problem statement, specifications, Gantt chart, and design ideas — together they form the evidence for your preferred design, due Week 7.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25196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389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BEFORE DISMISSING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Workbook saved (check the Saved ✓ confirmation)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5102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51023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criterion has a genuine, specific judgement line — not a restated requirement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54498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7280" y="544982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this table to next lesson — you’ll use it directly to choose your preferred design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HOMEWORK: none set — all work stays in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2026-07-29T05:01:34Z</dcterms:created>
  <dcterms:modified xsi:type="dcterms:W3CDTF">2026-07-29T05:01:34Z</dcterms:modified>
</cp:coreProperties>
</file>