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This lesson is D4.2 — building on Lesson 5's specification (functional/non-functional requirements, constraints, scope) to produce a full project plan: task list, Gantt chart with dependencies and critical path, and named task ownership.
FIRST HALF (devices OFF): Slides 2-9, explicit teaching. Paper notes only.
SECOND HALF (from the Laptop Gate slide): students open the digital workbook and build their actual project plan across Sections 1-5.
Timing guide: ~35-40 min explicit, 5 min brain break, ~55-60 min application — this is a hands-on, build-your-plan lesson, so the application half should run long.
Ask students to bring their Lesson 5 workbook (specification, functional requirements) — today's task list is built directly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hints beyond the prompt — let groups work it out. Give 90 seconds individual think time, then 2 minutes group comparison.
Key ideas to draw out via cold-call (don't state them yourself yet): boiling the kettle and toasting can happen at the same time (parallel); tea can't steep until the kettle has boiled (dependency); washing the apple can happen any time it's convenient (has slack).
Segue: "Today you're going to do exactly this for your own project — except the steps are real tasks, and getting the order wrong costs weeks, not minutes."
Timing: 4-5 min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criterion aloud or ask a student to read it. Quick thumb-vote on which tier is their personal goal today - no need to press for public answers.
Remind students: criteria map to workbook sections - Sections 1-2 cover problem statement + task list, Section 3 is the Gantt chart build, Section 4 is critical path.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NOTES phase. Students copy the three milestones down - they'll refer back to this framing across the whole unit.
Ask: "Why check coordination at these three specific points, rather than just at the very end?" (Because each phase depends on the previous one being properly finished - catching a problem early is cheaper than catching it late.)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ask a group to name one functional requirement from their L5 workbook, then challenge the class to turn it into a schedulable task using the template on screen.
Emphasise the non-building tasks box - groups very commonly forget to schedule testing, integration and documentation time, then run out of runway for it later.
Timing: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this is the exact table from the reference site - students should recognise it and use it to sanity-check their own duration estimates.
Ask a show of hands: "Who thinks their group will need more than 2 weeks to build their core feature?" - normalise realistic estimates over optimistic ones.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the warm-up: ask which breakfast steps were dependent and which were parallel - map them onto this slide's two columns.
Cold-call a group to name one dependency and one parallel pair from their own emerging task list.
Timing: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ask students to add up the duration along the Design-&gt;Build core-&gt;Testing chain (2+3+2=7 weeks) vs the Colour scheme chain (1 week, feeds into nothing further shown) to see why the first is critical.
This diagram matches the one on the reference site - point students there if they want to revisit it during the application half.
Timing: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 slide: left is monitoring cadence (when the plan gets revisited), right is individual accountability (who owns each task).
Cold-call: "Why might a task with no named owner be the first thing to slip?" (No one feels personally responsible for noticing it's behind.)
Bridge: "Now you have everything you need - task list, time estimates, dependencies, critical path, ownership. Let's build it."
Timing: 4 min. Move to brain break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physical + verbal reset before the application half. 2 minutes.
The personal critical-path question keeps the concept warm without adding new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as groups move between workbook sections. This lesson is application-heavy by design - expect the bulk of the remaining time to be spent here.
Budget roughly: 10 min Section 1, 12 min Section 2, 20-25 min Section 3 (the Gantt build is the biggest task), 10 min Section 4.
Remind groups the Gantt visual in the workbook updates live as they type - a good way to sanity-check their own plan visually.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listen for problem statements that have quietly become solution statements - redirect with 'what's the underlying problem, not what you're building for it?'
Groups without new peer feedback from L5 can proceed with their existing statement, lightly re-checked against the three criteria.
Timing: ~8-10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1-2 groups to read out one task each; ask the class whether it's specific enough to schedule (has a clear start and end point).
Watch for groups pasting their functional requirements in verbatim without turning them into schedulable work - push for the actual build/test/integrate action.
Timing: ~10-12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task of the lesson - allow the most time here, roughly 20-25 minutes.
Circulate checking for: vague task names, missing owners, missing dependencies (groups often only fill start/duration and skip the dependency field), and start weeks that don't leave enough room before the relevant checkpoint.
Groups that finish early should move straight to Section 4 (critical path) rather than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checking that the critical path listed actually matches the chart built in Section 3 - a common error is naming the longest single task rather than the longest dependency chain.
Push back gently on vague contingencies ("we'll manage") - ask for a specific trigger and a specific fallback.
Timing: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self-check, not a rubber stamp - remind students not to tick a box unless it's actually true of their plan.
Use this as your cue to start moving between groups for quick individual sign-off conversations, prioritising groups who signal they're ready first.
Timing: ~5-8 min, running in parallel with your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visible 3-minute timer. Remind students feedback should be specific ('this task has no owner') not vague ('looks good').
After this: exit ticket, devices off.
Timing: 5 min including swap-back.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on paper or have students complete the digital exit ticket without scrolling back.
Q11 (critical path) is the real test of today's content - listen for the idea that non-critical delays have slack, not just a repeated definition.
Timing: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dismissing: spot-check that every group has a finalised problem statement, a Gantt chart with named owners and dependencies, and a clearly marked critical path.
Groups that haven't finished their plan should treat completing it as their first priority next lesson, before design work begins - the design phase depends on knowing what's actually being built and by when.
No formal homework beyond finishing an incomplete plan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4206240" cy="6858000"/>
          </a:xfrm>
          <a:prstGeom prst="rect">
            <a:avLst/>
          </a:prstGeom>
          <a:solidFill>
            <a:srgbClr val="EEF1FD"/>
          </a:solidFill>
          <a:ln/>
        </p:spPr>
      </p:sp>
      <p:pic>
        <p:nvPicPr>
          <p:cNvPr id="4" name="Image 0" descr="icon_projectdiagram_4361EE.png">    </p:cNvPr>
          <p:cNvPicPr>
            <a:picLocks noChangeAspect="1"/>
          </p:cNvPicPr>
          <p:nvPr/>
        </p:nvPicPr>
        <p:blipFill>
          <a:blip r:embed="rId1"/>
          <a:stretch>
            <a:fillRect/>
          </a:stretch>
        </p:blipFill>
        <p:spPr>
          <a:xfrm>
            <a:off x="1417320" y="914400"/>
            <a:ext cx="1371600" cy="1371600"/>
          </a:xfrm>
          <a:prstGeom prst="rect">
            <a:avLst/>
          </a:prstGeom>
        </p:spPr>
      </p:pic>
      <p:sp>
        <p:nvSpPr>
          <p:cNvPr id="5" name="Text 2"/>
          <p:cNvSpPr/>
          <p:nvPr/>
        </p:nvSpPr>
        <p:spPr>
          <a:xfrm>
            <a:off x="640080" y="2606040"/>
            <a:ext cx="2926080" cy="365760"/>
          </a:xfrm>
          <a:prstGeom prst="rect">
            <a:avLst/>
          </a:prstGeom>
          <a:noFill/>
          <a:ln/>
        </p:spPr>
        <p:txBody>
          <a:bodyPr wrap="square" lIns="0" tIns="0" rIns="0" bIns="0" rtlCol="0" anchor="ctr"/>
          <a:lstStyle/>
          <a:p>
            <a:pPr algn="ctr" indent="0" marL="0">
              <a:buNone/>
            </a:pPr>
            <a:r>
              <a:rPr lang="en-US" sz="1500" b="1" spc="200" kern="0" dirty="0">
                <a:solidFill>
                  <a:srgbClr val="4361EE"/>
                </a:solidFill>
                <a:latin typeface="DM Mono" pitchFamily="34" charset="0"/>
                <a:ea typeface="DM Mono" pitchFamily="34" charset="-122"/>
                <a:cs typeface="DM Mono" pitchFamily="34" charset="-120"/>
              </a:rPr>
              <a:t>D4.2</a:t>
            </a:r>
            <a:endParaRPr lang="en-US" sz="1500" dirty="0"/>
          </a:p>
        </p:txBody>
      </p:sp>
      <p:sp>
        <p:nvSpPr>
          <p:cNvPr id="6" name="Text 3"/>
          <p:cNvSpPr/>
          <p:nvPr/>
        </p:nvSpPr>
        <p:spPr>
          <a:xfrm>
            <a:off x="640080" y="2971800"/>
            <a:ext cx="2926080" cy="365760"/>
          </a:xfrm>
          <a:prstGeom prst="rect">
            <a:avLst/>
          </a:prstGeom>
          <a:noFill/>
          <a:ln/>
        </p:spPr>
        <p:txBody>
          <a:bodyPr wrap="square" lIns="0" tIns="0" rIns="0" bIns="0" rtlCol="0" anchor="ctr"/>
          <a:lstStyle/>
          <a:p>
            <a:pPr algn="ctr" indent="0" marL="0">
              <a:buNone/>
            </a:pPr>
            <a:r>
              <a:rPr lang="en-US" sz="1200" dirty="0">
                <a:solidFill>
                  <a:srgbClr val="57606A"/>
                </a:solidFill>
                <a:latin typeface="Calibri" pitchFamily="34" charset="0"/>
                <a:ea typeface="Calibri" pitchFamily="34" charset="-122"/>
                <a:cs typeface="Calibri" pitchFamily="34" charset="-120"/>
              </a:rPr>
              <a:t>AoS1  Innovative Solutions</a:t>
            </a:r>
            <a:endParaRPr lang="en-US" sz="1200" dirty="0"/>
          </a:p>
        </p:txBody>
      </p:sp>
      <p:sp>
        <p:nvSpPr>
          <p:cNvPr id="7" name="Text 4"/>
          <p:cNvSpPr/>
          <p:nvPr/>
        </p:nvSpPr>
        <p:spPr>
          <a:xfrm>
            <a:off x="640080" y="4297680"/>
            <a:ext cx="2926080" cy="320040"/>
          </a:xfrm>
          <a:prstGeom prst="rect">
            <a:avLst/>
          </a:prstGeom>
          <a:solidFill>
            <a:srgbClr val="4361EE"/>
          </a:solidFill>
          <a:ln/>
        </p:spPr>
        <p:txBody>
          <a:bodyPr wrap="square" lIns="0" tIns="0" rIns="0" bIns="0" rtlCol="0" anchor="ctr"/>
          <a:lstStyle/>
          <a:p>
            <a:pPr algn="ctr" indent="0" marL="0">
              <a:buNone/>
            </a:pPr>
            <a:r>
              <a:rPr lang="en-US" sz="1200" b="1" spc="150" kern="0" dirty="0">
                <a:solidFill>
                  <a:srgbClr val="FFFFFF"/>
                </a:solidFill>
                <a:latin typeface="DM Mono" pitchFamily="34" charset="0"/>
                <a:ea typeface="DM Mono" pitchFamily="34" charset="-122"/>
                <a:cs typeface="DM Mono" pitchFamily="34" charset="-120"/>
              </a:rPr>
              <a:t>LESSON 6</a:t>
            </a:r>
            <a:endParaRPr lang="en-US" sz="1200" dirty="0"/>
          </a:p>
        </p:txBody>
      </p:sp>
      <p:sp>
        <p:nvSpPr>
          <p:cNvPr id="8" name="Text 5"/>
          <p:cNvSpPr/>
          <p:nvPr/>
        </p:nvSpPr>
        <p:spPr>
          <a:xfrm>
            <a:off x="4572000" y="1280160"/>
            <a:ext cx="7040880" cy="1554480"/>
          </a:xfrm>
          <a:prstGeom prst="rect">
            <a:avLst/>
          </a:prstGeom>
          <a:noFill/>
          <a:ln/>
        </p:spPr>
        <p:txBody>
          <a:bodyPr wrap="square" lIns="0" tIns="0" rIns="0" bIns="0" rtlCol="0" anchor="t"/>
          <a:lstStyle/>
          <a:p>
            <a:pPr indent="0" marL="0">
              <a:buNone/>
            </a:pPr>
            <a:r>
              <a:rPr lang="en-US" sz="3400" b="1" dirty="0">
                <a:solidFill>
                  <a:srgbClr val="0D1117"/>
                </a:solidFill>
                <a:latin typeface="Georgia" pitchFamily="34" charset="0"/>
                <a:ea typeface="Georgia" pitchFamily="34" charset="-122"/>
                <a:cs typeface="Georgia" pitchFamily="34" charset="-120"/>
              </a:rPr>
              <a:t>Project Planning
</a:t>
            </a:r>
            <a:endParaRPr lang="en-US" sz="3400" dirty="0"/>
          </a:p>
          <a:p>
            <a:pPr indent="0" marL="0">
              <a:buNone/>
            </a:pPr>
            <a:r>
              <a:rPr lang="en-US" sz="3400" b="1" dirty="0">
                <a:solidFill>
                  <a:srgbClr val="4361EE"/>
                </a:solidFill>
                <a:latin typeface="Georgia" pitchFamily="34" charset="0"/>
                <a:ea typeface="Georgia" pitchFamily="34" charset="-122"/>
                <a:cs typeface="Georgia" pitchFamily="34" charset="-120"/>
              </a:rPr>
              <a:t>&amp; Gantt Charts</a:t>
            </a:r>
            <a:endParaRPr lang="en-US" sz="3400" dirty="0"/>
          </a:p>
        </p:txBody>
      </p:sp>
      <p:sp>
        <p:nvSpPr>
          <p:cNvPr id="9" name="Text 6"/>
          <p:cNvSpPr/>
          <p:nvPr/>
        </p:nvSpPr>
        <p:spPr>
          <a:xfrm>
            <a:off x="4572000" y="2880360"/>
            <a:ext cx="6766560" cy="822960"/>
          </a:xfrm>
          <a:prstGeom prst="rect">
            <a:avLst/>
          </a:prstGeom>
          <a:noFill/>
          <a:ln/>
        </p:spPr>
        <p:txBody>
          <a:bodyPr wrap="square" lIns="0" tIns="0" rIns="0" bIns="0" rtlCol="0" anchor="t"/>
          <a:lstStyle/>
          <a:p>
            <a:pPr indent="0" marL="0">
              <a:buNone/>
            </a:pPr>
            <a:r>
              <a:rPr lang="en-US" sz="1600" dirty="0">
                <a:solidFill>
                  <a:srgbClr val="57606A"/>
                </a:solidFill>
                <a:latin typeface="Calibri" pitchFamily="34" charset="0"/>
                <a:ea typeface="Calibri" pitchFamily="34" charset="-122"/>
                <a:cs typeface="Calibri" pitchFamily="34" charset="-120"/>
              </a:rPr>
              <a:t>Turning your specification into a working task list, sequencing it into a Gantt chart, and assigning individual accountability for every task.</a:t>
            </a:r>
            <a:endParaRPr lang="en-US" sz="1600" dirty="0"/>
          </a:p>
        </p:txBody>
      </p:sp>
      <p:sp>
        <p:nvSpPr>
          <p:cNvPr id="10" name="Text 7"/>
          <p:cNvSpPr/>
          <p:nvPr/>
        </p:nvSpPr>
        <p:spPr>
          <a:xfrm>
            <a:off x="4572000" y="5669280"/>
            <a:ext cx="6400800" cy="32004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Year 11 Applied Computing — Unit 2</a:t>
            </a:r>
            <a:endParaRPr lang="en-US" sz="1300" dirty="0"/>
          </a:p>
        </p:txBody>
      </p:sp>
      <p:sp>
        <p:nvSpPr>
          <p:cNvPr id="11" name="Text 8"/>
          <p:cNvSpPr/>
          <p:nvPr/>
        </p:nvSpPr>
        <p:spPr>
          <a:xfrm>
            <a:off x="4572000" y="5989320"/>
            <a:ext cx="6400800" cy="274320"/>
          </a:xfrm>
          <a:prstGeom prst="rect">
            <a:avLst/>
          </a:prstGeom>
          <a:noFill/>
          <a:ln/>
        </p:spPr>
        <p:txBody>
          <a:bodyPr wrap="square" lIns="0" tIns="0" rIns="0" bIns="0" rtlCol="0" anchor="ctr"/>
          <a:lstStyle/>
          <a:p>
            <a:pPr indent="0" marL="0">
              <a:buNone/>
            </a:pPr>
            <a:r>
              <a:rPr lang="en-US" sz="1000" dirty="0">
                <a:solidFill>
                  <a:srgbClr val="57606A"/>
                </a:solidFill>
                <a:latin typeface="Courier New" pitchFamily="34" charset="0"/>
                <a:ea typeface="Courier New" pitchFamily="34" charset="-122"/>
                <a:cs typeface="Courier New" pitchFamily="34" charset="-120"/>
              </a:rPr>
              <a:t>y11-ac-u2-l6-project-planning</a:t>
            </a:r>
            <a:endParaRPr lang="en-US" sz="1000" dirty="0"/>
          </a:p>
        </p:txBody>
      </p:sp>
      <p:sp>
        <p:nvSpPr>
          <p:cNvPr id="12" name="Text 9"/>
          <p:cNvSpPr/>
          <p:nvPr/>
        </p:nvSpPr>
        <p:spPr>
          <a:xfrm>
            <a:off x="4572000" y="6263640"/>
            <a:ext cx="6400800" cy="274320"/>
          </a:xfrm>
          <a:prstGeom prst="rect">
            <a:avLst/>
          </a:prstGeom>
          <a:noFill/>
          <a:ln/>
        </p:spPr>
        <p:txBody>
          <a:bodyPr wrap="square" lIns="0" tIns="0" rIns="0" bIns="0" rtlCol="0" anchor="ctr"/>
          <a:lstStyle/>
          <a:p>
            <a:pPr indent="0" marL="0">
              <a:buNone/>
            </a:pPr>
            <a:r>
              <a:rPr lang="en-US" sz="1000" dirty="0">
                <a:solidFill>
                  <a:srgbClr val="57606A"/>
                </a:solidFill>
                <a:latin typeface="Courier New" pitchFamily="34" charset="0"/>
                <a:ea typeface="Courier New" pitchFamily="34" charset="-122"/>
                <a:cs typeface="Courier New" pitchFamily="34" charset="-120"/>
              </a:rPr>
              <a:t>Mr Smith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F59E0B"/>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600" b="1" dirty="0">
                <a:solidFill>
                  <a:srgbClr val="0D1117"/>
                </a:solidFill>
                <a:latin typeface="Georgia" pitchFamily="34" charset="0"/>
                <a:ea typeface="Georgia" pitchFamily="34" charset="-122"/>
                <a:cs typeface="Georgia" pitchFamily="34" charset="-120"/>
              </a:rPr>
              <a:t>The Critical Path — Making Breakfast</a:t>
            </a:r>
            <a:endParaRPr lang="en-US" sz="2600" dirty="0"/>
          </a:p>
        </p:txBody>
      </p:sp>
      <p:sp>
        <p:nvSpPr>
          <p:cNvPr id="5" name="Text 3"/>
          <p:cNvSpPr/>
          <p:nvPr/>
        </p:nvSpPr>
        <p:spPr>
          <a:xfrm>
            <a:off x="457200" y="1417320"/>
            <a:ext cx="11247120" cy="82296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You need toast, tea, and a piece of fruit before you leave. Toast takes 3 minutes. Tea takes 4 minutes to steep once the kettle boils (2 min). Washing an apple takes 30 seconds. You only have one pair of hands, but some jobs don't need them the whole time.</a:t>
            </a:r>
            <a:endParaRPr lang="en-US" sz="1600" dirty="0"/>
          </a:p>
        </p:txBody>
      </p:sp>
      <p:sp>
        <p:nvSpPr>
          <p:cNvPr id="6" name="Shape 4"/>
          <p:cNvSpPr/>
          <p:nvPr/>
        </p:nvSpPr>
        <p:spPr>
          <a:xfrm>
            <a:off x="457200" y="2514600"/>
            <a:ext cx="3611880" cy="2286000"/>
          </a:xfrm>
          <a:prstGeom prst="roundRect">
            <a:avLst>
              <a:gd name="adj" fmla="val 3200"/>
            </a:avLst>
          </a:prstGeom>
          <a:solidFill>
            <a:srgbClr val="F6F8FA"/>
          </a:solidFill>
          <a:ln w="12700">
            <a:solidFill>
              <a:srgbClr val="D0D7DE"/>
            </a:solidFill>
            <a:prstDash val="solid"/>
          </a:ln>
        </p:spPr>
      </p:sp>
      <p:sp>
        <p:nvSpPr>
          <p:cNvPr id="7" name="Shape 5"/>
          <p:cNvSpPr/>
          <p:nvPr/>
        </p:nvSpPr>
        <p:spPr>
          <a:xfrm>
            <a:off x="731520" y="2788920"/>
            <a:ext cx="502920" cy="502920"/>
          </a:xfrm>
          <a:prstGeom prst="ellipse">
            <a:avLst/>
          </a:prstGeom>
          <a:solidFill>
            <a:srgbClr val="F59E0B"/>
          </a:solidFill>
          <a:ln/>
        </p:spPr>
      </p:sp>
      <p:sp>
        <p:nvSpPr>
          <p:cNvPr id="8" name="Text 6"/>
          <p:cNvSpPr/>
          <p:nvPr/>
        </p:nvSpPr>
        <p:spPr>
          <a:xfrm>
            <a:off x="731520" y="2788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731520" y="3429000"/>
            <a:ext cx="3063240" cy="365760"/>
          </a:xfrm>
          <a:prstGeom prst="rect">
            <a:avLst/>
          </a:prstGeom>
          <a:noFill/>
          <a:ln/>
        </p:spPr>
        <p:txBody>
          <a:bodyPr wrap="square" lIns="0" tIns="0" rIns="0" bIns="0" rtlCol="0" anchor="ctr"/>
          <a:lstStyle/>
          <a:p>
            <a:pPr indent="0" marL="0">
              <a:buNone/>
            </a:pPr>
            <a:r>
              <a:rPr lang="en-US" sz="1700" b="1" dirty="0">
                <a:solidFill>
                  <a:srgbClr val="0D1117"/>
                </a:solidFill>
                <a:latin typeface="Calibri" pitchFamily="34" charset="0"/>
                <a:ea typeface="Calibri" pitchFamily="34" charset="-122"/>
                <a:cs typeface="Calibri" pitchFamily="34" charset="-120"/>
              </a:rPr>
              <a:t>List the steps</a:t>
            </a:r>
            <a:endParaRPr lang="en-US" sz="1700" dirty="0"/>
          </a:p>
        </p:txBody>
      </p:sp>
      <p:sp>
        <p:nvSpPr>
          <p:cNvPr id="10" name="Text 8"/>
          <p:cNvSpPr/>
          <p:nvPr/>
        </p:nvSpPr>
        <p:spPr>
          <a:xfrm>
            <a:off x="731520" y="3840480"/>
            <a:ext cx="3063240" cy="868680"/>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Write down every step needed to have toast, tea, and fruit ready.</a:t>
            </a:r>
            <a:endParaRPr lang="en-US" sz="1400" dirty="0"/>
          </a:p>
        </p:txBody>
      </p:sp>
      <p:sp>
        <p:nvSpPr>
          <p:cNvPr id="11" name="Shape 9"/>
          <p:cNvSpPr/>
          <p:nvPr/>
        </p:nvSpPr>
        <p:spPr>
          <a:xfrm>
            <a:off x="4343400" y="2514600"/>
            <a:ext cx="3611880" cy="2286000"/>
          </a:xfrm>
          <a:prstGeom prst="roundRect">
            <a:avLst>
              <a:gd name="adj" fmla="val 3200"/>
            </a:avLst>
          </a:prstGeom>
          <a:solidFill>
            <a:srgbClr val="F6F8FA"/>
          </a:solidFill>
          <a:ln w="12700">
            <a:solidFill>
              <a:srgbClr val="D0D7DE"/>
            </a:solidFill>
            <a:prstDash val="solid"/>
          </a:ln>
        </p:spPr>
      </p:sp>
      <p:sp>
        <p:nvSpPr>
          <p:cNvPr id="12" name="Shape 10"/>
          <p:cNvSpPr/>
          <p:nvPr/>
        </p:nvSpPr>
        <p:spPr>
          <a:xfrm>
            <a:off x="4617720" y="2788920"/>
            <a:ext cx="502920" cy="502920"/>
          </a:xfrm>
          <a:prstGeom prst="ellipse">
            <a:avLst/>
          </a:prstGeom>
          <a:solidFill>
            <a:srgbClr val="F59E0B"/>
          </a:solidFill>
          <a:ln/>
        </p:spPr>
      </p:sp>
      <p:sp>
        <p:nvSpPr>
          <p:cNvPr id="13" name="Text 11"/>
          <p:cNvSpPr/>
          <p:nvPr/>
        </p:nvSpPr>
        <p:spPr>
          <a:xfrm>
            <a:off x="4617720" y="2788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4" name="Text 12"/>
          <p:cNvSpPr/>
          <p:nvPr/>
        </p:nvSpPr>
        <p:spPr>
          <a:xfrm>
            <a:off x="4617720" y="3429000"/>
            <a:ext cx="3063240" cy="365760"/>
          </a:xfrm>
          <a:prstGeom prst="rect">
            <a:avLst/>
          </a:prstGeom>
          <a:noFill/>
          <a:ln/>
        </p:spPr>
        <p:txBody>
          <a:bodyPr wrap="square" lIns="0" tIns="0" rIns="0" bIns="0" rtlCol="0" anchor="ctr"/>
          <a:lstStyle/>
          <a:p>
            <a:pPr indent="0" marL="0">
              <a:buNone/>
            </a:pPr>
            <a:r>
              <a:rPr lang="en-US" sz="1700" b="1" dirty="0">
                <a:solidFill>
                  <a:srgbClr val="0D1117"/>
                </a:solidFill>
                <a:latin typeface="Calibri" pitchFamily="34" charset="0"/>
                <a:ea typeface="Calibri" pitchFamily="34" charset="-122"/>
                <a:cs typeface="Calibri" pitchFamily="34" charset="-120"/>
              </a:rPr>
              <a:t>Spot what waits</a:t>
            </a:r>
            <a:endParaRPr lang="en-US" sz="1700" dirty="0"/>
          </a:p>
        </p:txBody>
      </p:sp>
      <p:sp>
        <p:nvSpPr>
          <p:cNvPr id="15" name="Text 13"/>
          <p:cNvSpPr/>
          <p:nvPr/>
        </p:nvSpPr>
        <p:spPr>
          <a:xfrm>
            <a:off x="4617720" y="3840480"/>
            <a:ext cx="3063240" cy="868680"/>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Which steps can only start once another step finishes?</a:t>
            </a:r>
            <a:endParaRPr lang="en-US" sz="1400" dirty="0"/>
          </a:p>
        </p:txBody>
      </p:sp>
      <p:sp>
        <p:nvSpPr>
          <p:cNvPr id="16" name="Shape 14"/>
          <p:cNvSpPr/>
          <p:nvPr/>
        </p:nvSpPr>
        <p:spPr>
          <a:xfrm>
            <a:off x="8229600" y="2514600"/>
            <a:ext cx="3611880" cy="2286000"/>
          </a:xfrm>
          <a:prstGeom prst="roundRect">
            <a:avLst>
              <a:gd name="adj" fmla="val 3200"/>
            </a:avLst>
          </a:prstGeom>
          <a:solidFill>
            <a:srgbClr val="F6F8FA"/>
          </a:solidFill>
          <a:ln w="12700">
            <a:solidFill>
              <a:srgbClr val="D0D7DE"/>
            </a:solidFill>
            <a:prstDash val="solid"/>
          </a:ln>
        </p:spPr>
      </p:sp>
      <p:sp>
        <p:nvSpPr>
          <p:cNvPr id="17" name="Shape 15"/>
          <p:cNvSpPr/>
          <p:nvPr/>
        </p:nvSpPr>
        <p:spPr>
          <a:xfrm>
            <a:off x="8503920" y="2788920"/>
            <a:ext cx="502920" cy="502920"/>
          </a:xfrm>
          <a:prstGeom prst="ellipse">
            <a:avLst/>
          </a:prstGeom>
          <a:solidFill>
            <a:srgbClr val="F59E0B"/>
          </a:solidFill>
          <a:ln/>
        </p:spPr>
      </p:sp>
      <p:sp>
        <p:nvSpPr>
          <p:cNvPr id="18" name="Text 16"/>
          <p:cNvSpPr/>
          <p:nvPr/>
        </p:nvSpPr>
        <p:spPr>
          <a:xfrm>
            <a:off x="8503920" y="2788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Text 17"/>
          <p:cNvSpPr/>
          <p:nvPr/>
        </p:nvSpPr>
        <p:spPr>
          <a:xfrm>
            <a:off x="8503920" y="3429000"/>
            <a:ext cx="3063240" cy="365760"/>
          </a:xfrm>
          <a:prstGeom prst="rect">
            <a:avLst/>
          </a:prstGeom>
          <a:noFill/>
          <a:ln/>
        </p:spPr>
        <p:txBody>
          <a:bodyPr wrap="square" lIns="0" tIns="0" rIns="0" bIns="0" rtlCol="0" anchor="ctr"/>
          <a:lstStyle/>
          <a:p>
            <a:pPr indent="0" marL="0">
              <a:buNone/>
            </a:pPr>
            <a:r>
              <a:rPr lang="en-US" sz="1700" b="1" dirty="0">
                <a:solidFill>
                  <a:srgbClr val="0D1117"/>
                </a:solidFill>
                <a:latin typeface="Calibri" pitchFamily="34" charset="0"/>
                <a:ea typeface="Calibri" pitchFamily="34" charset="-122"/>
                <a:cs typeface="Calibri" pitchFamily="34" charset="-120"/>
              </a:rPr>
              <a:t>Spot what's free</a:t>
            </a:r>
            <a:endParaRPr lang="en-US" sz="1700" dirty="0"/>
          </a:p>
        </p:txBody>
      </p:sp>
      <p:sp>
        <p:nvSpPr>
          <p:cNvPr id="20" name="Text 18"/>
          <p:cNvSpPr/>
          <p:nvPr/>
        </p:nvSpPr>
        <p:spPr>
          <a:xfrm>
            <a:off x="8503920" y="3840480"/>
            <a:ext cx="3063240" cy="868680"/>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Which steps can happen at the same time as something else?</a:t>
            </a:r>
            <a:endParaRPr lang="en-US" sz="1400" dirty="0"/>
          </a:p>
        </p:txBody>
      </p:sp>
      <p:sp>
        <p:nvSpPr>
          <p:cNvPr id="21" name="Text 19"/>
          <p:cNvSpPr/>
          <p:nvPr/>
        </p:nvSpPr>
        <p:spPr>
          <a:xfrm>
            <a:off x="457200" y="5074920"/>
            <a:ext cx="11247120" cy="365760"/>
          </a:xfrm>
          <a:prstGeom prst="rect">
            <a:avLst/>
          </a:prstGeom>
          <a:noFill/>
          <a:ln/>
        </p:spPr>
        <p:txBody>
          <a:bodyPr wrap="square" lIns="0" tIns="0" rIns="0" bIns="0" rtlCol="0" anchor="ctr"/>
          <a:lstStyle/>
          <a:p>
            <a:pPr indent="0" marL="0">
              <a:buNone/>
            </a:pPr>
            <a:r>
              <a:rPr lang="en-US" sz="1300" i="1" dirty="0">
                <a:solidFill>
                  <a:srgbClr val="57606A"/>
                </a:solidFill>
                <a:latin typeface="Calibri" pitchFamily="34" charset="0"/>
                <a:ea typeface="Calibri" pitchFamily="34" charset="-122"/>
                <a:cs typeface="Calibri" pitchFamily="34" charset="-120"/>
              </a:rPr>
              <a:t>Devices OFF — sketch this individually (2 min), then compare with your group</a:t>
            </a:r>
            <a:endParaRPr lang="en-US" sz="1300" dirty="0"/>
          </a:p>
        </p:txBody>
      </p:sp>
      <p:sp>
        <p:nvSpPr>
          <p:cNvPr id="22" name="Text 20"/>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3" name="Text 21"/>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4361EE"/>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OBJECTIVE</a:t>
            </a:r>
            <a:endParaRPr lang="en-US" sz="1200" dirty="0"/>
          </a:p>
        </p:txBody>
      </p:sp>
      <p:sp>
        <p:nvSpPr>
          <p:cNvPr id="4" name="Text 2"/>
          <p:cNvSpPr/>
          <p:nvPr/>
        </p:nvSpPr>
        <p:spPr>
          <a:xfrm>
            <a:off x="457200" y="868680"/>
            <a:ext cx="11247120" cy="50292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Learning Objective</a:t>
            </a:r>
            <a:endParaRPr lang="en-US" sz="2400" dirty="0"/>
          </a:p>
        </p:txBody>
      </p:sp>
      <p:sp>
        <p:nvSpPr>
          <p:cNvPr id="5" name="Shape 3"/>
          <p:cNvSpPr/>
          <p:nvPr/>
        </p:nvSpPr>
        <p:spPr>
          <a:xfrm>
            <a:off x="457200" y="1417320"/>
            <a:ext cx="11247120" cy="960120"/>
          </a:xfrm>
          <a:prstGeom prst="roundRect">
            <a:avLst>
              <a:gd name="adj" fmla="val 7619"/>
            </a:avLst>
          </a:prstGeom>
          <a:solidFill>
            <a:srgbClr val="EEF1FD"/>
          </a:solidFill>
          <a:ln/>
        </p:spPr>
      </p:sp>
      <p:sp>
        <p:nvSpPr>
          <p:cNvPr id="6" name="Text 4"/>
          <p:cNvSpPr/>
          <p:nvPr/>
        </p:nvSpPr>
        <p:spPr>
          <a:xfrm>
            <a:off x="731520" y="1508760"/>
            <a:ext cx="10698480" cy="822960"/>
          </a:xfrm>
          <a:prstGeom prst="rect">
            <a:avLst/>
          </a:prstGeom>
          <a:noFill/>
          <a:ln/>
        </p:spPr>
        <p:txBody>
          <a:bodyPr wrap="square" lIns="0" tIns="0" rIns="0" bIns="0" rtlCol="0" anchor="ctr"/>
          <a:lstStyle/>
          <a:p>
            <a:pPr indent="0" marL="0">
              <a:buNone/>
            </a:pPr>
            <a:r>
              <a:rPr lang="en-US" sz="1700" dirty="0">
                <a:solidFill>
                  <a:srgbClr val="0D1117"/>
                </a:solidFill>
                <a:latin typeface="Calibri" pitchFamily="34" charset="0"/>
                <a:ea typeface="Calibri" pitchFamily="34" charset="-122"/>
                <a:cs typeface="Calibri" pitchFamily="34" charset="-120"/>
              </a:rPr>
              <a:t>To be able to construct a project plan (Gantt chart) that breaks a solution into tasks, sequences them with dependencies, identifies the critical path, and assigns individual accountability — and to finalise a problem statement ready for review.</a:t>
            </a:r>
            <a:endParaRPr lang="en-US" sz="1700" dirty="0"/>
          </a:p>
        </p:txBody>
      </p:sp>
      <p:sp>
        <p:nvSpPr>
          <p:cNvPr id="7" name="Shape 5"/>
          <p:cNvSpPr/>
          <p:nvPr/>
        </p:nvSpPr>
        <p:spPr>
          <a:xfrm>
            <a:off x="457200" y="2697480"/>
            <a:ext cx="2148840" cy="310896"/>
          </a:xfrm>
          <a:prstGeom prst="roundRect">
            <a:avLst>
              <a:gd name="adj" fmla="val 14706"/>
            </a:avLst>
          </a:prstGeom>
          <a:solidFill>
            <a:srgbClr val="FFFFFF"/>
          </a:solidFill>
          <a:ln w="12700">
            <a:solidFill>
              <a:srgbClr val="10B981"/>
            </a:solidFill>
            <a:prstDash val="solid"/>
          </a:ln>
        </p:spPr>
      </p:sp>
      <p:sp>
        <p:nvSpPr>
          <p:cNvPr id="8" name="Text 6"/>
          <p:cNvSpPr/>
          <p:nvPr/>
        </p:nvSpPr>
        <p:spPr>
          <a:xfrm>
            <a:off x="457200" y="2697480"/>
            <a:ext cx="2148840" cy="31089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 Foundation</a:t>
            </a:r>
            <a:endParaRPr lang="en-US" sz="1100" dirty="0"/>
          </a:p>
        </p:txBody>
      </p:sp>
      <p:sp>
        <p:nvSpPr>
          <p:cNvPr id="9" name="Text 7"/>
          <p:cNvSpPr/>
          <p:nvPr/>
        </p:nvSpPr>
        <p:spPr>
          <a:xfrm>
            <a:off x="2743200" y="2651760"/>
            <a:ext cx="896112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I can list my project's major tasks and estimate a rough time allocation for each.</a:t>
            </a:r>
            <a:endParaRPr lang="en-US" sz="1500" dirty="0"/>
          </a:p>
        </p:txBody>
      </p:sp>
      <p:sp>
        <p:nvSpPr>
          <p:cNvPr id="10" name="Shape 8"/>
          <p:cNvSpPr/>
          <p:nvPr/>
        </p:nvSpPr>
        <p:spPr>
          <a:xfrm>
            <a:off x="457200" y="3355848"/>
            <a:ext cx="2148840" cy="310896"/>
          </a:xfrm>
          <a:prstGeom prst="roundRect">
            <a:avLst>
              <a:gd name="adj" fmla="val 14706"/>
            </a:avLst>
          </a:prstGeom>
          <a:solidFill>
            <a:srgbClr val="FFFFFF"/>
          </a:solidFill>
          <a:ln w="12700">
            <a:solidFill>
              <a:srgbClr val="F59E0B"/>
            </a:solidFill>
            <a:prstDash val="solid"/>
          </a:ln>
        </p:spPr>
      </p:sp>
      <p:sp>
        <p:nvSpPr>
          <p:cNvPr id="11" name="Text 9"/>
          <p:cNvSpPr/>
          <p:nvPr/>
        </p:nvSpPr>
        <p:spPr>
          <a:xfrm>
            <a:off x="457200" y="3355848"/>
            <a:ext cx="2148840" cy="310896"/>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 Developing</a:t>
            </a:r>
            <a:endParaRPr lang="en-US" sz="1100" dirty="0"/>
          </a:p>
        </p:txBody>
      </p:sp>
      <p:sp>
        <p:nvSpPr>
          <p:cNvPr id="12" name="Text 10"/>
          <p:cNvSpPr/>
          <p:nvPr/>
        </p:nvSpPr>
        <p:spPr>
          <a:xfrm>
            <a:off x="2743200" y="3310128"/>
            <a:ext cx="896112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I can sequence tasks into a Gantt chart showing dependencies, milestones, and named owners.</a:t>
            </a:r>
            <a:endParaRPr lang="en-US" sz="1500" dirty="0"/>
          </a:p>
        </p:txBody>
      </p:sp>
      <p:sp>
        <p:nvSpPr>
          <p:cNvPr id="13" name="Shape 11"/>
          <p:cNvSpPr/>
          <p:nvPr/>
        </p:nvSpPr>
        <p:spPr>
          <a:xfrm>
            <a:off x="457200" y="4014216"/>
            <a:ext cx="2148840" cy="310896"/>
          </a:xfrm>
          <a:prstGeom prst="roundRect">
            <a:avLst>
              <a:gd name="adj" fmla="val 14706"/>
            </a:avLst>
          </a:prstGeom>
          <a:solidFill>
            <a:srgbClr val="FFFFFF"/>
          </a:solidFill>
          <a:ln w="12700">
            <a:solidFill>
              <a:srgbClr val="8B5CF6"/>
            </a:solidFill>
            <a:prstDash val="solid"/>
          </a:ln>
        </p:spPr>
      </p:sp>
      <p:sp>
        <p:nvSpPr>
          <p:cNvPr id="14" name="Text 12"/>
          <p:cNvSpPr/>
          <p:nvPr/>
        </p:nvSpPr>
        <p:spPr>
          <a:xfrm>
            <a:off x="457200" y="4014216"/>
            <a:ext cx="2148840" cy="310896"/>
          </a:xfrm>
          <a:prstGeom prst="rect">
            <a:avLst/>
          </a:prstGeom>
          <a:noFill/>
          <a:ln/>
        </p:spPr>
        <p:txBody>
          <a:bodyPr wrap="square" lIns="0" tIns="0" rIns="0" bIns="0" rtlCol="0" anchor="ctr"/>
          <a:lstStyle/>
          <a:p>
            <a:pPr algn="ctr" indent="0" marL="0">
              <a:buNone/>
            </a:pPr>
            <a:r>
              <a:rPr lang="en-US" sz="1100" b="1" dirty="0">
                <a:solidFill>
                  <a:srgbClr val="8B5CF6"/>
                </a:solidFill>
                <a:latin typeface="Calibri" pitchFamily="34" charset="0"/>
                <a:ea typeface="Calibri" pitchFamily="34" charset="-122"/>
                <a:cs typeface="Calibri" pitchFamily="34" charset="-120"/>
              </a:rPr>
              <a:t>🟣 Extending</a:t>
            </a:r>
            <a:endParaRPr lang="en-US" sz="1100" dirty="0"/>
          </a:p>
        </p:txBody>
      </p:sp>
      <p:sp>
        <p:nvSpPr>
          <p:cNvPr id="15" name="Text 13"/>
          <p:cNvSpPr/>
          <p:nvPr/>
        </p:nvSpPr>
        <p:spPr>
          <a:xfrm>
            <a:off x="2743200" y="3968496"/>
            <a:ext cx="896112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I can identify my critical path and justify a contingency for its riskiest dependency.</a:t>
            </a:r>
            <a:endParaRPr lang="en-US" sz="1500" dirty="0"/>
          </a:p>
        </p:txBody>
      </p:sp>
      <p:sp>
        <p:nvSpPr>
          <p:cNvPr id="16" name="Shape 14"/>
          <p:cNvSpPr/>
          <p:nvPr/>
        </p:nvSpPr>
        <p:spPr>
          <a:xfrm>
            <a:off x="457200" y="4846320"/>
            <a:ext cx="11247120" cy="1371600"/>
          </a:xfrm>
          <a:prstGeom prst="roundRect">
            <a:avLst>
              <a:gd name="adj" fmla="val 5333"/>
            </a:avLst>
          </a:prstGeom>
          <a:solidFill>
            <a:srgbClr val="F6F8FA"/>
          </a:solidFill>
          <a:ln w="12700">
            <a:solidFill>
              <a:srgbClr val="D0D7DE"/>
            </a:solidFill>
            <a:prstDash val="solid"/>
          </a:ln>
        </p:spPr>
      </p:sp>
      <p:sp>
        <p:nvSpPr>
          <p:cNvPr id="17" name="Text 15"/>
          <p:cNvSpPr/>
          <p:nvPr/>
        </p:nvSpPr>
        <p:spPr>
          <a:xfrm>
            <a:off x="731520" y="4983480"/>
            <a:ext cx="4572000" cy="320040"/>
          </a:xfrm>
          <a:prstGeom prst="rect">
            <a:avLst/>
          </a:prstGeom>
          <a:noFill/>
          <a:ln/>
        </p:spPr>
        <p:txBody>
          <a:bodyPr wrap="square" lIns="0" tIns="0" rIns="0" bIns="0" rtlCol="0" anchor="ctr"/>
          <a:lstStyle/>
          <a:p>
            <a:pPr indent="0" marL="0">
              <a:buNone/>
            </a:pPr>
            <a:r>
              <a:rPr lang="en-US" sz="1200" b="1" spc="100" kern="0" dirty="0">
                <a:solidFill>
                  <a:srgbClr val="4361EE"/>
                </a:solidFill>
                <a:latin typeface="DM Mono" pitchFamily="34" charset="0"/>
                <a:ea typeface="DM Mono" pitchFamily="34" charset="-122"/>
                <a:cs typeface="DM Mono" pitchFamily="34" charset="-120"/>
              </a:rPr>
              <a:t>Where this fits</a:t>
            </a:r>
            <a:endParaRPr lang="en-US" sz="1200" dirty="0"/>
          </a:p>
        </p:txBody>
      </p:sp>
      <p:sp>
        <p:nvSpPr>
          <p:cNvPr id="18" name="Text 16"/>
          <p:cNvSpPr/>
          <p:nvPr/>
        </p:nvSpPr>
        <p:spPr>
          <a:xfrm>
            <a:off x="731520" y="5303520"/>
            <a:ext cx="10698480" cy="822960"/>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Lesson 5 gave you a strengthened concept and a first-draft specification — functional requirements, non-functional requirements, constraints, and scope. Today you turn that specification into a real, buildable plan: what needs to happen, in what order, and who is doing it.</a:t>
            </a:r>
            <a:endParaRPr lang="en-US" sz="1400" dirty="0"/>
          </a:p>
        </p:txBody>
      </p:sp>
      <p:sp>
        <p:nvSpPr>
          <p:cNvPr id="19" name="Text 17"/>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0" name="Text 18"/>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10B981"/>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457200" y="868680"/>
            <a:ext cx="11247120" cy="50292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D4.2 · Why Project Plans Matter</a:t>
            </a:r>
            <a:endParaRPr lang="en-US" sz="2400" dirty="0"/>
          </a:p>
        </p:txBody>
      </p:sp>
      <p:sp>
        <p:nvSpPr>
          <p:cNvPr id="5" name="Text 3"/>
          <p:cNvSpPr/>
          <p:nvPr/>
        </p:nvSpPr>
        <p:spPr>
          <a:xfrm>
            <a:off x="457200" y="1463040"/>
            <a:ext cx="11247120" cy="77724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A good idea and a good specification don't automatically turn into a finished solution. Without a shared plan for who does what, when, and in what order, groups typically discover coordination problems only once it's too late to fix them.</a:t>
            </a:r>
            <a:endParaRPr lang="en-US" sz="1600" dirty="0"/>
          </a:p>
        </p:txBody>
      </p:sp>
      <p:sp>
        <p:nvSpPr>
          <p:cNvPr id="6" name="Shape 4"/>
          <p:cNvSpPr/>
          <p:nvPr/>
        </p:nvSpPr>
        <p:spPr>
          <a:xfrm>
            <a:off x="457200" y="2468880"/>
            <a:ext cx="3611880" cy="2148840"/>
          </a:xfrm>
          <a:prstGeom prst="roundRect">
            <a:avLst>
              <a:gd name="adj" fmla="val 3404"/>
            </a:avLst>
          </a:prstGeom>
          <a:solidFill>
            <a:srgbClr val="F6F8FA"/>
          </a:solidFill>
          <a:ln w="12700">
            <a:solidFill>
              <a:srgbClr val="D0D7DE"/>
            </a:solidFill>
            <a:prstDash val="solid"/>
          </a:ln>
        </p:spPr>
      </p:sp>
      <p:sp>
        <p:nvSpPr>
          <p:cNvPr id="7" name="Shape 5"/>
          <p:cNvSpPr/>
          <p:nvPr/>
        </p:nvSpPr>
        <p:spPr>
          <a:xfrm>
            <a:off x="731520" y="2743200"/>
            <a:ext cx="457200" cy="457200"/>
          </a:xfrm>
          <a:prstGeom prst="ellipse">
            <a:avLst/>
          </a:prstGeom>
          <a:solidFill>
            <a:srgbClr val="4361EE"/>
          </a:solidFill>
          <a:ln/>
        </p:spPr>
      </p:sp>
      <p:sp>
        <p:nvSpPr>
          <p:cNvPr id="8" name="Text 6"/>
          <p:cNvSpPr/>
          <p:nvPr/>
        </p:nvSpPr>
        <p:spPr>
          <a:xfrm>
            <a:off x="731520"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731520" y="3337560"/>
            <a:ext cx="3063240" cy="502920"/>
          </a:xfrm>
          <a:prstGeom prst="rect">
            <a:avLst/>
          </a:prstGeom>
          <a:noFill/>
          <a:ln/>
        </p:spPr>
        <p:txBody>
          <a:bodyPr wrap="square" lIns="0" tIns="0" rIns="0" bIns="0" rtlCol="0" anchor="ctr"/>
          <a:lstStyle/>
          <a:p>
            <a:pPr indent="0" marL="0">
              <a:buNone/>
            </a:pPr>
            <a:r>
              <a:rPr lang="en-US" sz="1600" b="1" dirty="0">
                <a:solidFill>
                  <a:srgbClr val="0D1117"/>
                </a:solidFill>
                <a:latin typeface="Calibri" pitchFamily="34" charset="0"/>
                <a:ea typeface="Calibri" pitchFamily="34" charset="-122"/>
                <a:cs typeface="Calibri" pitchFamily="34" charset="-120"/>
              </a:rPr>
              <a:t>Problem &amp; Project Plan</a:t>
            </a:r>
            <a:endParaRPr lang="en-US" sz="1600" dirty="0"/>
          </a:p>
        </p:txBody>
      </p:sp>
      <p:sp>
        <p:nvSpPr>
          <p:cNvPr id="10" name="Text 8"/>
          <p:cNvSpPr/>
          <p:nvPr/>
        </p:nvSpPr>
        <p:spPr>
          <a:xfrm>
            <a:off x="731520" y="3840480"/>
            <a:ext cx="3063240" cy="68580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This one — refined problem statement, task list, and Gantt chart.</a:t>
            </a:r>
            <a:endParaRPr lang="en-US" sz="1300" dirty="0"/>
          </a:p>
        </p:txBody>
      </p:sp>
      <p:sp>
        <p:nvSpPr>
          <p:cNvPr id="11" name="Shape 9"/>
          <p:cNvSpPr/>
          <p:nvPr/>
        </p:nvSpPr>
        <p:spPr>
          <a:xfrm>
            <a:off x="4343400" y="2468880"/>
            <a:ext cx="3611880" cy="2148840"/>
          </a:xfrm>
          <a:prstGeom prst="roundRect">
            <a:avLst>
              <a:gd name="adj" fmla="val 3404"/>
            </a:avLst>
          </a:prstGeom>
          <a:solidFill>
            <a:srgbClr val="F6F8FA"/>
          </a:solidFill>
          <a:ln w="12700">
            <a:solidFill>
              <a:srgbClr val="D0D7DE"/>
            </a:solidFill>
            <a:prstDash val="solid"/>
          </a:ln>
        </p:spPr>
      </p:sp>
      <p:sp>
        <p:nvSpPr>
          <p:cNvPr id="12" name="Shape 10"/>
          <p:cNvSpPr/>
          <p:nvPr/>
        </p:nvSpPr>
        <p:spPr>
          <a:xfrm>
            <a:off x="4617720" y="2743200"/>
            <a:ext cx="457200" cy="457200"/>
          </a:xfrm>
          <a:prstGeom prst="ellipse">
            <a:avLst/>
          </a:prstGeom>
          <a:solidFill>
            <a:srgbClr val="4361EE"/>
          </a:solidFill>
          <a:ln/>
        </p:spPr>
      </p:sp>
      <p:sp>
        <p:nvSpPr>
          <p:cNvPr id="13" name="Text 11"/>
          <p:cNvSpPr/>
          <p:nvPr/>
        </p:nvSpPr>
        <p:spPr>
          <a:xfrm>
            <a:off x="4617720"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4617720" y="3337560"/>
            <a:ext cx="3063240" cy="502920"/>
          </a:xfrm>
          <a:prstGeom prst="rect">
            <a:avLst/>
          </a:prstGeom>
          <a:noFill/>
          <a:ln/>
        </p:spPr>
        <p:txBody>
          <a:bodyPr wrap="square" lIns="0" tIns="0" rIns="0" bIns="0" rtlCol="0" anchor="ctr"/>
          <a:lstStyle/>
          <a:p>
            <a:pPr indent="0" marL="0">
              <a:buNone/>
            </a:pPr>
            <a:r>
              <a:rPr lang="en-US" sz="1600" b="1" dirty="0">
                <a:solidFill>
                  <a:srgbClr val="0D1117"/>
                </a:solidFill>
                <a:latin typeface="Calibri" pitchFamily="34" charset="0"/>
                <a:ea typeface="Calibri" pitchFamily="34" charset="-122"/>
                <a:cs typeface="Calibri" pitchFamily="34" charset="-120"/>
              </a:rPr>
              <a:t>Preferred Design</a:t>
            </a:r>
            <a:endParaRPr lang="en-US" sz="1600" dirty="0"/>
          </a:p>
        </p:txBody>
      </p:sp>
      <p:sp>
        <p:nvSpPr>
          <p:cNvPr id="15" name="Text 13"/>
          <p:cNvSpPr/>
          <p:nvPr/>
        </p:nvSpPr>
        <p:spPr>
          <a:xfrm>
            <a:off x="4617720" y="3840480"/>
            <a:ext cx="3063240" cy="68580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Design ideas explored, evaluation criteria confirmed.</a:t>
            </a:r>
            <a:endParaRPr lang="en-US" sz="1300" dirty="0"/>
          </a:p>
        </p:txBody>
      </p:sp>
      <p:sp>
        <p:nvSpPr>
          <p:cNvPr id="16" name="Shape 14"/>
          <p:cNvSpPr/>
          <p:nvPr/>
        </p:nvSpPr>
        <p:spPr>
          <a:xfrm>
            <a:off x="8229600" y="2468880"/>
            <a:ext cx="3611880" cy="2148840"/>
          </a:xfrm>
          <a:prstGeom prst="roundRect">
            <a:avLst>
              <a:gd name="adj" fmla="val 3404"/>
            </a:avLst>
          </a:prstGeom>
          <a:solidFill>
            <a:srgbClr val="F6F8FA"/>
          </a:solidFill>
          <a:ln w="12700">
            <a:solidFill>
              <a:srgbClr val="D0D7DE"/>
            </a:solidFill>
            <a:prstDash val="solid"/>
          </a:ln>
        </p:spPr>
      </p:sp>
      <p:sp>
        <p:nvSpPr>
          <p:cNvPr id="17" name="Shape 15"/>
          <p:cNvSpPr/>
          <p:nvPr/>
        </p:nvSpPr>
        <p:spPr>
          <a:xfrm>
            <a:off x="8503920" y="2743200"/>
            <a:ext cx="457200" cy="457200"/>
          </a:xfrm>
          <a:prstGeom prst="ellipse">
            <a:avLst/>
          </a:prstGeom>
          <a:solidFill>
            <a:srgbClr val="4361EE"/>
          </a:solidFill>
          <a:ln/>
        </p:spPr>
      </p:sp>
      <p:sp>
        <p:nvSpPr>
          <p:cNvPr id="18" name="Text 16"/>
          <p:cNvSpPr/>
          <p:nvPr/>
        </p:nvSpPr>
        <p:spPr>
          <a:xfrm>
            <a:off x="8503920"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9" name="Text 17"/>
          <p:cNvSpPr/>
          <p:nvPr/>
        </p:nvSpPr>
        <p:spPr>
          <a:xfrm>
            <a:off x="8503920" y="3337560"/>
            <a:ext cx="3063240" cy="502920"/>
          </a:xfrm>
          <a:prstGeom prst="rect">
            <a:avLst/>
          </a:prstGeom>
          <a:noFill/>
          <a:ln/>
        </p:spPr>
        <p:txBody>
          <a:bodyPr wrap="square" lIns="0" tIns="0" rIns="0" bIns="0" rtlCol="0" anchor="ctr"/>
          <a:lstStyle/>
          <a:p>
            <a:pPr indent="0" marL="0">
              <a:buNone/>
            </a:pPr>
            <a:r>
              <a:rPr lang="en-US" sz="1600" b="1" dirty="0">
                <a:solidFill>
                  <a:srgbClr val="0D1117"/>
                </a:solidFill>
                <a:latin typeface="Calibri" pitchFamily="34" charset="0"/>
                <a:ea typeface="Calibri" pitchFamily="34" charset="-122"/>
                <a:cs typeface="Calibri" pitchFamily="34" charset="-120"/>
              </a:rPr>
              <a:t>Build Substantially Complete</a:t>
            </a:r>
            <a:endParaRPr lang="en-US" sz="1600" dirty="0"/>
          </a:p>
        </p:txBody>
      </p:sp>
      <p:sp>
        <p:nvSpPr>
          <p:cNvPr id="20" name="Text 18"/>
          <p:cNvSpPr/>
          <p:nvPr/>
        </p:nvSpPr>
        <p:spPr>
          <a:xfrm>
            <a:off x="8503920" y="3840480"/>
            <a:ext cx="3063240" cy="68580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Proof of concept ready, before testing begins.</a:t>
            </a:r>
            <a:endParaRPr lang="en-US" sz="1300" dirty="0"/>
          </a:p>
        </p:txBody>
      </p:sp>
      <p:sp>
        <p:nvSpPr>
          <p:cNvPr id="21" name="Shape 19"/>
          <p:cNvSpPr/>
          <p:nvPr/>
        </p:nvSpPr>
        <p:spPr>
          <a:xfrm>
            <a:off x="457200" y="4846320"/>
            <a:ext cx="11247120" cy="1371600"/>
          </a:xfrm>
          <a:prstGeom prst="roundRect">
            <a:avLst>
              <a:gd name="adj" fmla="val 5333"/>
            </a:avLst>
          </a:prstGeom>
          <a:solidFill>
            <a:srgbClr val="E9FBF3"/>
          </a:solidFill>
          <a:ln/>
        </p:spPr>
      </p:sp>
      <p:sp>
        <p:nvSpPr>
          <p:cNvPr id="22" name="Text 20"/>
          <p:cNvSpPr/>
          <p:nvPr/>
        </p:nvSpPr>
        <p:spPr>
          <a:xfrm>
            <a:off x="731520" y="4983480"/>
            <a:ext cx="10698480" cy="109728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Each milestone exists so a group's coordination is checked before moving into a phase that depends on the last one being genuinely finished — not just because a date arrived. Today builds the plan for the first one.</a:t>
            </a:r>
            <a:endParaRPr lang="en-US" sz="1500" dirty="0"/>
          </a:p>
        </p:txBody>
      </p:sp>
      <p:sp>
        <p:nvSpPr>
          <p:cNvPr id="23" name="Text 21"/>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4" name="Text 22"/>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10B981"/>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457200" y="868680"/>
            <a:ext cx="11247120" cy="50292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From Specification to Task List</a:t>
            </a:r>
            <a:endParaRPr lang="en-US" sz="2400" dirty="0"/>
          </a:p>
        </p:txBody>
      </p:sp>
      <p:pic>
        <p:nvPicPr>
          <p:cNvPr id="5" name="Image 0" descr="icon_tasks_4361EE.png">    </p:cNvPr>
          <p:cNvPicPr>
            <a:picLocks noChangeAspect="1"/>
          </p:cNvPicPr>
          <p:nvPr/>
        </p:nvPicPr>
        <p:blipFill>
          <a:blip r:embed="rId1"/>
          <a:stretch>
            <a:fillRect/>
          </a:stretch>
        </p:blipFill>
        <p:spPr>
          <a:xfrm>
            <a:off x="10378440" y="822960"/>
            <a:ext cx="1005840" cy="1005840"/>
          </a:xfrm>
          <a:prstGeom prst="rect">
            <a:avLst/>
          </a:prstGeom>
        </p:spPr>
      </p:pic>
      <p:sp>
        <p:nvSpPr>
          <p:cNvPr id="6" name="Text 3"/>
          <p:cNvSpPr/>
          <p:nvPr/>
        </p:nvSpPr>
        <p:spPr>
          <a:xfrm>
            <a:off x="457200" y="1463040"/>
            <a:ext cx="10881360" cy="73152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Your functional requirements describe what the solution must do. A task list breaks the work of building it into discrete, assignable pieces — including work that isn't a functional requirement itself.</a:t>
            </a:r>
            <a:endParaRPr lang="en-US" sz="1600" dirty="0"/>
          </a:p>
        </p:txBody>
      </p:sp>
      <p:sp>
        <p:nvSpPr>
          <p:cNvPr id="7" name="Shape 4"/>
          <p:cNvSpPr/>
          <p:nvPr/>
        </p:nvSpPr>
        <p:spPr>
          <a:xfrm>
            <a:off x="457200" y="2377440"/>
            <a:ext cx="5440680" cy="1554480"/>
          </a:xfrm>
          <a:prstGeom prst="roundRect">
            <a:avLst>
              <a:gd name="adj" fmla="val 4706"/>
            </a:avLst>
          </a:prstGeom>
          <a:solidFill>
            <a:srgbClr val="FDECEC"/>
          </a:solidFill>
          <a:ln w="12700">
            <a:solidFill>
              <a:srgbClr val="EF4444"/>
            </a:solidFill>
            <a:prstDash val="solid"/>
          </a:ln>
        </p:spPr>
      </p:sp>
      <p:sp>
        <p:nvSpPr>
          <p:cNvPr id="8" name="Text 5"/>
          <p:cNvSpPr/>
          <p:nvPr/>
        </p:nvSpPr>
        <p:spPr>
          <a:xfrm>
            <a:off x="731520" y="2514600"/>
            <a:ext cx="4937760" cy="320040"/>
          </a:xfrm>
          <a:prstGeom prst="rect">
            <a:avLst/>
          </a:prstGeom>
          <a:noFill/>
          <a:ln/>
        </p:spPr>
        <p:txBody>
          <a:bodyPr wrap="square" lIns="0" tIns="0" rIns="0" bIns="0" rtlCol="0" anchor="ctr"/>
          <a:lstStyle/>
          <a:p>
            <a:pPr indent="0" marL="0">
              <a:buNone/>
            </a:pPr>
            <a:r>
              <a:rPr lang="en-US" sz="1100" b="1" spc="100" kern="0" dirty="0">
                <a:solidFill>
                  <a:srgbClr val="EF4444"/>
                </a:solidFill>
                <a:latin typeface="DM Mono" pitchFamily="34" charset="0"/>
                <a:ea typeface="DM Mono" pitchFamily="34" charset="-122"/>
                <a:cs typeface="DM Mono" pitchFamily="34" charset="-120"/>
              </a:rPr>
              <a:t>TOO VAGUE TO SCHEDULE</a:t>
            </a:r>
            <a:endParaRPr lang="en-US" sz="1100" dirty="0"/>
          </a:p>
        </p:txBody>
      </p:sp>
      <p:sp>
        <p:nvSpPr>
          <p:cNvPr id="9" name="Text 6"/>
          <p:cNvSpPr/>
          <p:nvPr/>
        </p:nvSpPr>
        <p:spPr>
          <a:xfrm>
            <a:off x="731520" y="2880360"/>
            <a:ext cx="4937760" cy="914400"/>
          </a:xfrm>
          <a:prstGeom prst="rect">
            <a:avLst/>
          </a:prstGeom>
          <a:noFill/>
          <a:ln/>
        </p:spPr>
        <p:txBody>
          <a:bodyPr wrap="square" lIns="0" tIns="0" rIns="0" bIns="0" rtlCol="0" anchor="ctr"/>
          <a:lstStyle/>
          <a:p>
            <a:pPr indent="0" marL="0">
              <a:buNone/>
            </a:pPr>
            <a:r>
              <a:rPr lang="en-US" sz="1600" i="1" dirty="0">
                <a:solidFill>
                  <a:srgbClr val="0D1117"/>
                </a:solidFill>
                <a:latin typeface="Calibri" pitchFamily="34" charset="0"/>
                <a:ea typeface="Calibri" pitchFamily="34" charset="-122"/>
                <a:cs typeface="Calibri" pitchFamily="34" charset="-120"/>
              </a:rPr>
              <a:t>"Build the app."</a:t>
            </a:r>
            <a:endParaRPr lang="en-US" sz="1600" dirty="0"/>
          </a:p>
        </p:txBody>
      </p:sp>
      <p:sp>
        <p:nvSpPr>
          <p:cNvPr id="10" name="Shape 7"/>
          <p:cNvSpPr/>
          <p:nvPr/>
        </p:nvSpPr>
        <p:spPr>
          <a:xfrm>
            <a:off x="6263640" y="2377440"/>
            <a:ext cx="5440680" cy="1554480"/>
          </a:xfrm>
          <a:prstGeom prst="roundRect">
            <a:avLst>
              <a:gd name="adj" fmla="val 4706"/>
            </a:avLst>
          </a:prstGeom>
          <a:solidFill>
            <a:srgbClr val="E9FBF3"/>
          </a:solidFill>
          <a:ln w="12700">
            <a:solidFill>
              <a:srgbClr val="10B981"/>
            </a:solidFill>
            <a:prstDash val="solid"/>
          </a:ln>
        </p:spPr>
      </p:sp>
      <p:sp>
        <p:nvSpPr>
          <p:cNvPr id="11" name="Text 8"/>
          <p:cNvSpPr/>
          <p:nvPr/>
        </p:nvSpPr>
        <p:spPr>
          <a:xfrm>
            <a:off x="6537960" y="2514600"/>
            <a:ext cx="4937760" cy="320040"/>
          </a:xfrm>
          <a:prstGeom prst="rect">
            <a:avLst/>
          </a:prstGeom>
          <a:noFill/>
          <a:ln/>
        </p:spPr>
        <p:txBody>
          <a:bodyPr wrap="square" lIns="0" tIns="0" rIns="0" bIns="0" rtlCol="0" anchor="ctr"/>
          <a:lstStyle/>
          <a:p>
            <a:pPr indent="0" marL="0">
              <a:buNone/>
            </a:pPr>
            <a:r>
              <a:rPr lang="en-US" sz="1100" b="1" spc="100" kern="0" dirty="0">
                <a:solidFill>
                  <a:srgbClr val="10B981"/>
                </a:solidFill>
                <a:latin typeface="DM Mono" pitchFamily="34" charset="0"/>
                <a:ea typeface="DM Mono" pitchFamily="34" charset="-122"/>
                <a:cs typeface="DM Mono" pitchFamily="34" charset="-120"/>
              </a:rPr>
              <a:t>SCHEDULABLE TASK</a:t>
            </a:r>
            <a:endParaRPr lang="en-US" sz="1100" dirty="0"/>
          </a:p>
        </p:txBody>
      </p:sp>
      <p:sp>
        <p:nvSpPr>
          <p:cNvPr id="12" name="Text 9"/>
          <p:cNvSpPr/>
          <p:nvPr/>
        </p:nvSpPr>
        <p:spPr>
          <a:xfrm>
            <a:off x="6537960" y="2880360"/>
            <a:ext cx="4937760" cy="960120"/>
          </a:xfrm>
          <a:prstGeom prst="rect">
            <a:avLst/>
          </a:prstGeom>
          <a:noFill/>
          <a:ln/>
        </p:spPr>
        <p:txBody>
          <a:bodyPr wrap="square" lIns="0" tIns="0" rIns="0" bIns="0" rtlCol="0" anchor="ctr"/>
          <a:lstStyle/>
          <a:p>
            <a:pPr indent="0" marL="0">
              <a:buNone/>
            </a:pPr>
            <a:r>
              <a:rPr lang="en-US" sz="1500" i="1" dirty="0">
                <a:solidFill>
                  <a:srgbClr val="0D1117"/>
                </a:solidFill>
                <a:latin typeface="Calibri" pitchFamily="34" charset="0"/>
                <a:ea typeface="Calibri" pitchFamily="34" charset="-122"/>
                <a:cs typeface="Calibri" pitchFamily="34" charset="-120"/>
              </a:rPr>
              <a:t>"Build the check-in notification screen and connect it to the reminder trigger."</a:t>
            </a:r>
            <a:endParaRPr lang="en-US" sz="1500" dirty="0"/>
          </a:p>
        </p:txBody>
      </p:sp>
      <p:sp>
        <p:nvSpPr>
          <p:cNvPr id="13" name="Shape 10"/>
          <p:cNvSpPr/>
          <p:nvPr/>
        </p:nvSpPr>
        <p:spPr>
          <a:xfrm>
            <a:off x="457200" y="4160520"/>
            <a:ext cx="11247120" cy="2011680"/>
          </a:xfrm>
          <a:prstGeom prst="roundRect">
            <a:avLst>
              <a:gd name="adj" fmla="val 3636"/>
            </a:avLst>
          </a:prstGeom>
          <a:solidFill>
            <a:srgbClr val="F6F8FA"/>
          </a:solidFill>
          <a:ln w="12700">
            <a:solidFill>
              <a:srgbClr val="D0D7DE"/>
            </a:solidFill>
            <a:prstDash val="solid"/>
          </a:ln>
        </p:spPr>
      </p:sp>
      <p:sp>
        <p:nvSpPr>
          <p:cNvPr id="14" name="Text 11"/>
          <p:cNvSpPr/>
          <p:nvPr/>
        </p:nvSpPr>
        <p:spPr>
          <a:xfrm>
            <a:off x="731520" y="4297680"/>
            <a:ext cx="10698480" cy="320040"/>
          </a:xfrm>
          <a:prstGeom prst="rect">
            <a:avLst/>
          </a:prstGeom>
          <a:noFill/>
          <a:ln/>
        </p:spPr>
        <p:txBody>
          <a:bodyPr wrap="square" lIns="0" tIns="0" rIns="0" bIns="0" rtlCol="0" anchor="ctr"/>
          <a:lstStyle/>
          <a:p>
            <a:pPr indent="0" marL="0">
              <a:buNone/>
            </a:pPr>
            <a:r>
              <a:rPr lang="en-US" sz="1300" b="1" spc="50" kern="0" dirty="0">
                <a:solidFill>
                  <a:srgbClr val="4361EE"/>
                </a:solidFill>
                <a:latin typeface="DM Mono" pitchFamily="34" charset="0"/>
                <a:ea typeface="DM Mono" pitchFamily="34" charset="-122"/>
                <a:cs typeface="DM Mono" pitchFamily="34" charset="-120"/>
              </a:rPr>
              <a:t>Don't forget the non-building tasks</a:t>
            </a:r>
            <a:endParaRPr lang="en-US" sz="1300" dirty="0"/>
          </a:p>
        </p:txBody>
      </p:sp>
      <p:sp>
        <p:nvSpPr>
          <p:cNvPr id="15" name="Text 12"/>
          <p:cNvSpPr/>
          <p:nvPr/>
        </p:nvSpPr>
        <p:spPr>
          <a:xfrm>
            <a:off x="731520" y="4663440"/>
            <a:ext cx="10698480" cy="1417320"/>
          </a:xfrm>
          <a:prstGeom prst="rect">
            <a:avLst/>
          </a:prstGeom>
          <a:noFill/>
          <a:ln/>
        </p:spPr>
        <p:txBody>
          <a:bodyPr wrap="square" lIns="0" tIns="0" rIns="0" bIns="0" rtlCol="0" anchor="t"/>
          <a:lstStyle/>
          <a:p>
            <a:pPr indent="0" marL="0">
              <a:buNone/>
            </a:pPr>
            <a:r>
              <a:rPr lang="en-US" sz="1500" dirty="0">
                <a:solidFill>
                  <a:srgbClr val="0D1117"/>
                </a:solidFill>
                <a:latin typeface="Calibri" pitchFamily="34" charset="0"/>
                <a:ea typeface="Calibri" pitchFamily="34" charset="-122"/>
                <a:cs typeface="Calibri" pitchFamily="34" charset="-120"/>
              </a:rPr>
              <a:t>A realistic task list usually includes: </a:t>
            </a:r>
            <a:pPr indent="0" marL="0">
              <a:buNone/>
            </a:pPr>
            <a:r>
              <a:rPr lang="en-US" sz="1500" b="1" dirty="0">
                <a:solidFill>
                  <a:srgbClr val="0D1117"/>
                </a:solidFill>
                <a:latin typeface="Calibri" pitchFamily="34" charset="0"/>
                <a:ea typeface="Calibri" pitchFamily="34" charset="-122"/>
                <a:cs typeface="Calibri" pitchFamily="34" charset="-120"/>
              </a:rPr>
              <a:t>finalising the design</a:t>
            </a:r>
            <a:pPr indent="0" marL="0">
              <a:buNone/>
            </a:pPr>
            <a:r>
              <a:rPr lang="en-US" sz="1500" dirty="0">
                <a:solidFill>
                  <a:srgbClr val="0D1117"/>
                </a:solidFill>
                <a:latin typeface="Calibri" pitchFamily="34" charset="0"/>
                <a:ea typeface="Calibri" pitchFamily="34" charset="-122"/>
                <a:cs typeface="Calibri" pitchFamily="34" charset="-120"/>
              </a:rPr>
              <a:t>, </a:t>
            </a:r>
            <a:pPr indent="0" marL="0">
              <a:buNone/>
            </a:pPr>
            <a:r>
              <a:rPr lang="en-US" sz="1500" b="1" dirty="0">
                <a:solidFill>
                  <a:srgbClr val="0D1117"/>
                </a:solidFill>
                <a:latin typeface="Calibri" pitchFamily="34" charset="0"/>
                <a:ea typeface="Calibri" pitchFamily="34" charset="-122"/>
                <a:cs typeface="Calibri" pitchFamily="34" charset="-120"/>
              </a:rPr>
              <a:t>learning a new tool</a:t>
            </a:r>
            <a:pPr indent="0" marL="0">
              <a:buNone/>
            </a:pPr>
            <a:r>
              <a:rPr lang="en-US" sz="1500" dirty="0">
                <a:solidFill>
                  <a:srgbClr val="0D1117"/>
                </a:solidFill>
                <a:latin typeface="Calibri" pitchFamily="34" charset="0"/>
                <a:ea typeface="Calibri" pitchFamily="34" charset="-122"/>
                <a:cs typeface="Calibri" pitchFamily="34" charset="-120"/>
              </a:rPr>
              <a:t>, </a:t>
            </a:r>
            <a:pPr indent="0" marL="0">
              <a:buNone/>
            </a:pPr>
            <a:r>
              <a:rPr lang="en-US" sz="1500" b="1" dirty="0">
                <a:solidFill>
                  <a:srgbClr val="0D1117"/>
                </a:solidFill>
                <a:latin typeface="Calibri" pitchFamily="34" charset="0"/>
                <a:ea typeface="Calibri" pitchFamily="34" charset="-122"/>
                <a:cs typeface="Calibri" pitchFamily="34" charset="-120"/>
              </a:rPr>
              <a:t>building each major feature</a:t>
            </a:r>
            <a:pPr indent="0" marL="0">
              <a:buNone/>
            </a:pPr>
            <a:r>
              <a:rPr lang="en-US" sz="1500" dirty="0">
                <a:solidFill>
                  <a:srgbClr val="0D1117"/>
                </a:solidFill>
                <a:latin typeface="Calibri" pitchFamily="34" charset="0"/>
                <a:ea typeface="Calibri" pitchFamily="34" charset="-122"/>
                <a:cs typeface="Calibri" pitchFamily="34" charset="-120"/>
              </a:rPr>
              <a:t>, </a:t>
            </a:r>
            <a:pPr indent="0" marL="0">
              <a:buNone/>
            </a:pPr>
            <a:r>
              <a:rPr lang="en-US" sz="1500" b="1" dirty="0">
                <a:solidFill>
                  <a:srgbClr val="0D1117"/>
                </a:solidFill>
                <a:latin typeface="Calibri" pitchFamily="34" charset="0"/>
                <a:ea typeface="Calibri" pitchFamily="34" charset="-122"/>
                <a:cs typeface="Calibri" pitchFamily="34" charset="-120"/>
              </a:rPr>
              <a:t>integrating features together</a:t>
            </a:r>
            <a:pPr indent="0" marL="0">
              <a:buNone/>
            </a:pPr>
            <a:r>
              <a:rPr lang="en-US" sz="1500" dirty="0">
                <a:solidFill>
                  <a:srgbClr val="0D1117"/>
                </a:solidFill>
                <a:latin typeface="Calibri" pitchFamily="34" charset="0"/>
                <a:ea typeface="Calibri" pitchFamily="34" charset="-122"/>
                <a:cs typeface="Calibri" pitchFamily="34" charset="-120"/>
              </a:rPr>
              <a:t>, </a:t>
            </a:r>
            <a:pPr indent="0" marL="0">
              <a:buNone/>
            </a:pPr>
            <a:r>
              <a:rPr lang="en-US" sz="1500" b="1" dirty="0">
                <a:solidFill>
                  <a:srgbClr val="0D1117"/>
                </a:solidFill>
                <a:latin typeface="Calibri" pitchFamily="34" charset="0"/>
                <a:ea typeface="Calibri" pitchFamily="34" charset="-122"/>
                <a:cs typeface="Calibri" pitchFamily="34" charset="-120"/>
              </a:rPr>
              <a:t>user testing</a:t>
            </a:r>
            <a:pPr indent="0" marL="0">
              <a:buNone/>
            </a:pPr>
            <a:r>
              <a:rPr lang="en-US" sz="1500" dirty="0">
                <a:solidFill>
                  <a:srgbClr val="0D1117"/>
                </a:solidFill>
                <a:latin typeface="Calibri" pitchFamily="34" charset="0"/>
                <a:ea typeface="Calibri" pitchFamily="34" charset="-122"/>
                <a:cs typeface="Calibri" pitchFamily="34" charset="-120"/>
              </a:rPr>
              <a:t>, </a:t>
            </a:r>
            <a:pPr indent="0" marL="0">
              <a:buNone/>
            </a:pPr>
            <a:r>
              <a:rPr lang="en-US" sz="1500" b="1" dirty="0">
                <a:solidFill>
                  <a:srgbClr val="0D1117"/>
                </a:solidFill>
                <a:latin typeface="Calibri" pitchFamily="34" charset="0"/>
                <a:ea typeface="Calibri" pitchFamily="34" charset="-122"/>
                <a:cs typeface="Calibri" pitchFamily="34" charset="-120"/>
              </a:rPr>
              <a:t>expert review</a:t>
            </a:r>
            <a:pPr indent="0" marL="0">
              <a:buNone/>
            </a:pPr>
            <a:r>
              <a:rPr lang="en-US" sz="1500" dirty="0">
                <a:solidFill>
                  <a:srgbClr val="0D1117"/>
                </a:solidFill>
                <a:latin typeface="Calibri" pitchFamily="34" charset="0"/>
                <a:ea typeface="Calibri" pitchFamily="34" charset="-122"/>
                <a:cs typeface="Calibri" pitchFamily="34" charset="-120"/>
              </a:rPr>
              <a:t>, and </a:t>
            </a:r>
            <a:pPr indent="0" marL="0">
              <a:buNone/>
            </a:pPr>
            <a:r>
              <a:rPr lang="en-US" sz="1500" b="1" dirty="0">
                <a:solidFill>
                  <a:srgbClr val="0D1117"/>
                </a:solidFill>
                <a:latin typeface="Calibri" pitchFamily="34" charset="0"/>
                <a:ea typeface="Calibri" pitchFamily="34" charset="-122"/>
                <a:cs typeface="Calibri" pitchFamily="34" charset="-120"/>
              </a:rPr>
              <a:t>preparing the final submission</a:t>
            </a:r>
            <a:pPr indent="0" marL="0">
              <a:buNone/>
            </a:pPr>
            <a:r>
              <a:rPr lang="en-US" sz="1500" dirty="0">
                <a:solidFill>
                  <a:srgbClr val="0D1117"/>
                </a:solidFill>
                <a:latin typeface="Calibri" pitchFamily="34" charset="0"/>
                <a:ea typeface="Calibri" pitchFamily="34" charset="-122"/>
                <a:cs typeface="Calibri" pitchFamily="34" charset="-120"/>
              </a:rPr>
              <a:t> — not just "build feature X" items.</a:t>
            </a:r>
            <a:endParaRPr lang="en-US" sz="1500" dirty="0"/>
          </a:p>
        </p:txBody>
      </p:sp>
      <p:sp>
        <p:nvSpPr>
          <p:cNvPr id="16" name="Text 13"/>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7" name="Text 14"/>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10B981"/>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457200" y="868680"/>
            <a:ext cx="11247120" cy="50292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Estimating Time Allocation</a:t>
            </a:r>
            <a:endParaRPr lang="en-US" sz="2400" dirty="0"/>
          </a:p>
        </p:txBody>
      </p:sp>
      <p:pic>
        <p:nvPicPr>
          <p:cNvPr id="5" name="Image 0" descr="icon_calendarweek_10B981.png">    </p:cNvPr>
          <p:cNvPicPr>
            <a:picLocks noChangeAspect="1"/>
          </p:cNvPicPr>
          <p:nvPr/>
        </p:nvPicPr>
        <p:blipFill>
          <a:blip r:embed="rId1"/>
          <a:stretch>
            <a:fillRect/>
          </a:stretch>
        </p:blipFill>
        <p:spPr>
          <a:xfrm>
            <a:off x="10378440" y="822960"/>
            <a:ext cx="1005840" cy="1005840"/>
          </a:xfrm>
          <a:prstGeom prst="rect">
            <a:avLst/>
          </a:prstGeom>
        </p:spPr>
      </p:pic>
      <p:sp>
        <p:nvSpPr>
          <p:cNvPr id="6" name="Text 3"/>
          <p:cNvSpPr/>
          <p:nvPr/>
        </p:nvSpPr>
        <p:spPr>
          <a:xfrm>
            <a:off x="457200" y="1463040"/>
            <a:ext cx="10881360" cy="73152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Because your doubles run on a fixed fortnightly rhythm, the most useful unit for time allocation is which week(s) a task happens in — sized against the runway actually left before each checkpoint.</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11247120" cy="2834640"/>
        </p:xfrm>
        <a:graphic>
          <a:graphicData uri="http://schemas.openxmlformats.org/drawingml/2006/table">
            <a:tbl>
              <a:tblPr/>
              <a:tblGrid>
                <a:gridCol w="3291840"/>
                <a:gridCol w="795528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Upcoming checkpoint</a:t>
                      </a:r>
                      <a:endParaRPr lang="en-US" sz="14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solidFill>
                      <a:srgbClr val="4361E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What's expected by then</a:t>
                      </a:r>
                      <a:endParaRPr lang="en-US" sz="14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solidFill>
                      <a:srgbClr val="4361EE"/>
                    </a:solidFill>
                  </a:tcPr>
                </a:tc>
              </a:tr>
              <a:tr h="566928">
                <a:tc>
                  <a:txBody>
                    <a:bodyPr/>
                    <a:lstStyle/>
                    <a:p>
                      <a:pPr indent="0" marL="0">
                        <a:buNone/>
                      </a:pPr>
                      <a:r>
                        <a:rPr lang="en-US" sz="1300" b="1" dirty="0">
                          <a:solidFill>
                            <a:srgbClr val="0D1117"/>
                          </a:solidFill>
                          <a:latin typeface="Calibri" pitchFamily="34" charset="0"/>
                          <a:ea typeface="Calibri" pitchFamily="34" charset="-122"/>
                          <a:cs typeface="Calibri" pitchFamily="34" charset="-120"/>
                        </a:rPr>
                        <a:t>Preferred design milestone</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c>
                  <a:txBody>
                    <a:bodyPr/>
                    <a:lstStyle/>
                    <a:p>
                      <a:pPr indent="0" marL="0">
                        <a:buNone/>
                      </a:pPr>
                      <a:r>
                        <a:rPr lang="en-US" sz="1300" dirty="0">
                          <a:solidFill>
                            <a:srgbClr val="57606A"/>
                          </a:solidFill>
                          <a:latin typeface="Calibri" pitchFamily="34" charset="0"/>
                          <a:ea typeface="Calibri" pitchFamily="34" charset="-122"/>
                          <a:cs typeface="Calibri" pitchFamily="34" charset="-120"/>
                        </a:rPr>
                        <a:t>Design ideas explored and a preferred design confirmed, with evaluation criteria set.</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r>
              <a:tr h="566928">
                <a:tc>
                  <a:txBody>
                    <a:bodyPr/>
                    <a:lstStyle/>
                    <a:p>
                      <a:pPr indent="0" marL="0">
                        <a:buNone/>
                      </a:pPr>
                      <a:r>
                        <a:rPr lang="en-US" sz="1300" b="1" dirty="0">
                          <a:solidFill>
                            <a:srgbClr val="0D1117"/>
                          </a:solidFill>
                          <a:latin typeface="Calibri" pitchFamily="34" charset="0"/>
                          <a:ea typeface="Calibri" pitchFamily="34" charset="-122"/>
                          <a:cs typeface="Calibri" pitchFamily="34" charset="-120"/>
                        </a:rPr>
                        <a:t>Development begins</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c>
                  <a:txBody>
                    <a:bodyPr/>
                    <a:lstStyle/>
                    <a:p>
                      <a:pPr indent="0" marL="0">
                        <a:buNone/>
                      </a:pPr>
                      <a:r>
                        <a:rPr lang="en-US" sz="1300" dirty="0">
                          <a:solidFill>
                            <a:srgbClr val="57606A"/>
                          </a:solidFill>
                          <a:latin typeface="Calibri" pitchFamily="34" charset="0"/>
                          <a:ea typeface="Calibri" pitchFamily="34" charset="-122"/>
                          <a:cs typeface="Calibri" pitchFamily="34" charset="-120"/>
                        </a:rPr>
                        <a:t>Tools and techniques chosen; the build phase starts.</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r>
              <a:tr h="566928">
                <a:tc>
                  <a:txBody>
                    <a:bodyPr/>
                    <a:lstStyle/>
                    <a:p>
                      <a:pPr indent="0" marL="0">
                        <a:buNone/>
                      </a:pPr>
                      <a:r>
                        <a:rPr lang="en-US" sz="1300" b="1" dirty="0">
                          <a:solidFill>
                            <a:srgbClr val="0D1117"/>
                          </a:solidFill>
                          <a:latin typeface="Calibri" pitchFamily="34" charset="0"/>
                          <a:ea typeface="Calibri" pitchFamily="34" charset="-122"/>
                          <a:cs typeface="Calibri" pitchFamily="34" charset="-120"/>
                        </a:rPr>
                        <a:t>Mid-build check-in</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c>
                  <a:txBody>
                    <a:bodyPr/>
                    <a:lstStyle/>
                    <a:p>
                      <a:pPr indent="0" marL="0">
                        <a:buNone/>
                      </a:pPr>
                      <a:r>
                        <a:rPr lang="en-US" sz="1300" dirty="0">
                          <a:solidFill>
                            <a:srgbClr val="57606A"/>
                          </a:solidFill>
                          <a:latin typeface="Calibri" pitchFamily="34" charset="0"/>
                          <a:ea typeface="Calibri" pitchFamily="34" charset="-122"/>
                          <a:cs typeface="Calibri" pitchFamily="34" charset="-120"/>
                        </a:rPr>
                        <a:t>Gantt chart revisited — task status updated, at-risk dependencies flagged.</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r>
              <a:tr h="566928">
                <a:tc>
                  <a:txBody>
                    <a:bodyPr/>
                    <a:lstStyle/>
                    <a:p>
                      <a:pPr indent="0" marL="0">
                        <a:buNone/>
                      </a:pPr>
                      <a:r>
                        <a:rPr lang="en-US" sz="1300" b="1" dirty="0">
                          <a:solidFill>
                            <a:srgbClr val="0D1117"/>
                          </a:solidFill>
                          <a:latin typeface="Calibri" pitchFamily="34" charset="0"/>
                          <a:ea typeface="Calibri" pitchFamily="34" charset="-122"/>
                          <a:cs typeface="Calibri" pitchFamily="34" charset="-120"/>
                        </a:rPr>
                        <a:t>Build-complete milestone</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c>
                  <a:txBody>
                    <a:bodyPr/>
                    <a:lstStyle/>
                    <a:p>
                      <a:pPr indent="0" marL="0">
                        <a:buNone/>
                      </a:pPr>
                      <a:r>
                        <a:rPr lang="en-US" sz="1300" dirty="0">
                          <a:solidFill>
                            <a:srgbClr val="57606A"/>
                          </a:solidFill>
                          <a:latin typeface="Calibri" pitchFamily="34" charset="0"/>
                          <a:ea typeface="Calibri" pitchFamily="34" charset="-122"/>
                          <a:cs typeface="Calibri" pitchFamily="34" charset="-120"/>
                        </a:rPr>
                        <a:t>Proof of concept, prototype, or product substantially finished, ready for testing.</a:t>
                      </a:r>
                      <a:endParaRPr lang="en-US" sz="1300" dirty="0">
                        <a:latin typeface="Calibri" charset="0"/>
                        <a:ea typeface="Calibri" charset="0"/>
                        <a:cs typeface="Calibri" charset="0"/>
                      </a:endParaRPr>
                    </a:p>
                  </a:txBody>
                  <a:tcPr marL="91440" marR="91440" marT="45720" marB="45720">
                    <a:lnL w="12700" cap="flat" cmpd="sng" algn="ctr">
                      <a:solidFill>
                        <a:srgbClr val="D0D7DE"/>
                      </a:solidFill>
                      <a:prstDash val="solid"/>
                      <a:round/>
                      <a:headEnd type="none" w="med" len="med"/>
                      <a:tailEnd type="none" w="med" len="med"/>
                    </a:lnL>
                    <a:lnR w="12700" cap="flat" cmpd="sng" algn="ctr">
                      <a:solidFill>
                        <a:srgbClr val="D0D7DE"/>
                      </a:solidFill>
                      <a:prstDash val="solid"/>
                      <a:round/>
                      <a:headEnd type="none" w="med" len="med"/>
                      <a:tailEnd type="none" w="med" len="med"/>
                    </a:lnR>
                    <a:lnT w="12700" cap="flat" cmpd="sng" algn="ctr">
                      <a:solidFill>
                        <a:srgbClr val="D0D7DE"/>
                      </a:solidFill>
                      <a:prstDash val="solid"/>
                      <a:round/>
                      <a:headEnd type="none" w="med" len="med"/>
                      <a:tailEnd type="none" w="med" len="med"/>
                    </a:lnT>
                    <a:lnB w="12700" cap="flat" cmpd="sng" algn="ctr">
                      <a:solidFill>
                        <a:srgbClr val="D0D7DE"/>
                      </a:solidFill>
                      <a:prstDash val="solid"/>
                      <a:round/>
                      <a:headEnd type="none" w="med" len="med"/>
                      <a:tailEnd type="none" w="med" len="med"/>
                    </a:lnB>
                  </a:tcPr>
                </a:tc>
              </a:tr>
            </a:tbl>
          </a:graphicData>
        </a:graphic>
      </p:graphicFrame>
      <p:sp>
        <p:nvSpPr>
          <p:cNvPr id="8" name="Shape 4"/>
          <p:cNvSpPr/>
          <p:nvPr/>
        </p:nvSpPr>
        <p:spPr>
          <a:xfrm>
            <a:off x="457200" y="5394960"/>
            <a:ext cx="11247120" cy="868680"/>
          </a:xfrm>
          <a:prstGeom prst="roundRect">
            <a:avLst>
              <a:gd name="adj" fmla="val 8421"/>
            </a:avLst>
          </a:prstGeom>
          <a:solidFill>
            <a:srgbClr val="FEF6E7"/>
          </a:solidFill>
          <a:ln/>
        </p:spPr>
      </p:sp>
      <p:sp>
        <p:nvSpPr>
          <p:cNvPr id="9" name="Text 5"/>
          <p:cNvSpPr/>
          <p:nvPr/>
        </p:nvSpPr>
        <p:spPr>
          <a:xfrm>
            <a:off x="731520" y="5468112"/>
            <a:ext cx="10698480" cy="731520"/>
          </a:xfrm>
          <a:prstGeom prst="rect">
            <a:avLst/>
          </a:prstGeom>
          <a:noFill/>
          <a:ln/>
        </p:spPr>
        <p:txBody>
          <a:bodyPr wrap="square" lIns="0" tIns="0" rIns="0" bIns="0" rtlCol="0" anchor="ctr"/>
          <a:lstStyle/>
          <a:p>
            <a:pPr indent="0" marL="0">
              <a:buNone/>
            </a:pPr>
            <a:r>
              <a:rPr lang="en-US" sz="1400" dirty="0">
                <a:solidFill>
                  <a:srgbClr val="0D1117"/>
                </a:solidFill>
                <a:latin typeface="Calibri" pitchFamily="34" charset="0"/>
                <a:ea typeface="Calibri" pitchFamily="34" charset="-122"/>
                <a:cs typeface="Calibri" pitchFamily="34" charset="-120"/>
              </a:rPr>
              <a:t>Estimate honestly, not optimistically: if every task is "1 week", that usually means integration and testing haven't been accounted for. Build in a little slack on your riskiest tasks.</a:t>
            </a:r>
            <a:endParaRPr lang="en-US" sz="1400" dirty="0"/>
          </a:p>
        </p:txBody>
      </p:sp>
      <p:sp>
        <p:nvSpPr>
          <p:cNvPr id="10" name="Text 6"/>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1" name="Text 7"/>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10B981"/>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457200" y="868680"/>
            <a:ext cx="11247120" cy="50292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Dependencies &amp; Sequencing</a:t>
            </a:r>
            <a:endParaRPr lang="en-US" sz="2400" dirty="0"/>
          </a:p>
        </p:txBody>
      </p:sp>
      <p:pic>
        <p:nvPicPr>
          <p:cNvPr id="5" name="Image 0" descr="icon_link_F59E0B.png">    </p:cNvPr>
          <p:cNvPicPr>
            <a:picLocks noChangeAspect="1"/>
          </p:cNvPicPr>
          <p:nvPr/>
        </p:nvPicPr>
        <p:blipFill>
          <a:blip r:embed="rId1"/>
          <a:stretch>
            <a:fillRect/>
          </a:stretch>
        </p:blipFill>
        <p:spPr>
          <a:xfrm>
            <a:off x="10378440" y="822960"/>
            <a:ext cx="1005840" cy="1005840"/>
          </a:xfrm>
          <a:prstGeom prst="rect">
            <a:avLst/>
          </a:prstGeom>
        </p:spPr>
      </p:pic>
      <p:sp>
        <p:nvSpPr>
          <p:cNvPr id="6" name="Text 3"/>
          <p:cNvSpPr/>
          <p:nvPr/>
        </p:nvSpPr>
        <p:spPr>
          <a:xfrm>
            <a:off x="457200" y="1463040"/>
            <a:ext cx="10881360" cy="73152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Some tasks can only start once another finishes — a dependency. Others don't rely on each other at all, and can run in parallel. Spotting the difference turns a list into an actual schedule.</a:t>
            </a:r>
            <a:endParaRPr lang="en-US" sz="1600" dirty="0"/>
          </a:p>
        </p:txBody>
      </p:sp>
      <p:sp>
        <p:nvSpPr>
          <p:cNvPr id="7" name="Shape 4"/>
          <p:cNvSpPr/>
          <p:nvPr/>
        </p:nvSpPr>
        <p:spPr>
          <a:xfrm>
            <a:off x="457200" y="2331720"/>
            <a:ext cx="11247120" cy="1051560"/>
          </a:xfrm>
          <a:prstGeom prst="roundRect">
            <a:avLst>
              <a:gd name="adj" fmla="val 6957"/>
            </a:avLst>
          </a:prstGeom>
          <a:solidFill>
            <a:srgbClr val="EEF1FD"/>
          </a:solidFill>
          <a:ln/>
        </p:spPr>
      </p:sp>
      <p:sp>
        <p:nvSpPr>
          <p:cNvPr id="8" name="Text 5"/>
          <p:cNvSpPr/>
          <p:nvPr/>
        </p:nvSpPr>
        <p:spPr>
          <a:xfrm>
            <a:off x="731520" y="2423160"/>
            <a:ext cx="10698480" cy="274320"/>
          </a:xfrm>
          <a:prstGeom prst="rect">
            <a:avLst/>
          </a:prstGeom>
          <a:noFill/>
          <a:ln/>
        </p:spPr>
        <p:txBody>
          <a:bodyPr wrap="square" lIns="0" tIns="0" rIns="0" bIns="0" rtlCol="0" anchor="ctr"/>
          <a:lstStyle/>
          <a:p>
            <a:pPr indent="0" marL="0">
              <a:buNone/>
            </a:pPr>
            <a:r>
              <a:rPr lang="en-US" sz="1200" b="1" spc="100" kern="0" dirty="0">
                <a:solidFill>
                  <a:srgbClr val="4361EE"/>
                </a:solidFill>
                <a:latin typeface="DM Mono" pitchFamily="34" charset="0"/>
                <a:ea typeface="DM Mono" pitchFamily="34" charset="-122"/>
                <a:cs typeface="DM Mono" pitchFamily="34" charset="-120"/>
              </a:rPr>
              <a:t>Back to breakfast</a:t>
            </a:r>
            <a:endParaRPr lang="en-US" sz="1200" dirty="0"/>
          </a:p>
        </p:txBody>
      </p:sp>
      <p:sp>
        <p:nvSpPr>
          <p:cNvPr id="9" name="Text 6"/>
          <p:cNvSpPr/>
          <p:nvPr/>
        </p:nvSpPr>
        <p:spPr>
          <a:xfrm>
            <a:off x="731520" y="2697480"/>
            <a:ext cx="10698480" cy="640080"/>
          </a:xfrm>
          <a:prstGeom prst="rect">
            <a:avLst/>
          </a:prstGeom>
          <a:noFill/>
          <a:ln/>
        </p:spPr>
        <p:txBody>
          <a:bodyPr wrap="square" lIns="0" tIns="0" rIns="0" bIns="0" rtlCol="0" anchor="ctr"/>
          <a:lstStyle/>
          <a:p>
            <a:pPr indent="0" marL="0">
              <a:buNone/>
            </a:pPr>
            <a:r>
              <a:rPr lang="en-US" sz="1400" dirty="0">
                <a:solidFill>
                  <a:srgbClr val="0D1117"/>
                </a:solidFill>
                <a:latin typeface="Calibri" pitchFamily="34" charset="0"/>
                <a:ea typeface="Calibri" pitchFamily="34" charset="-122"/>
                <a:cs typeface="Calibri" pitchFamily="34" charset="-120"/>
              </a:rPr>
              <a:t>Boiling the kettle doesn't depend on the toaster, so they run at the same time. Buttering the toast, though, depends on the toast finishing first. Total time is set by the longest chain of steps that do depend on each other — not the sum of every step.</a:t>
            </a:r>
            <a:endParaRPr lang="en-US" sz="1400" dirty="0"/>
          </a:p>
        </p:txBody>
      </p:sp>
      <p:sp>
        <p:nvSpPr>
          <p:cNvPr id="10" name="Shape 7"/>
          <p:cNvSpPr/>
          <p:nvPr/>
        </p:nvSpPr>
        <p:spPr>
          <a:xfrm>
            <a:off x="457200" y="3566160"/>
            <a:ext cx="5440680" cy="2514600"/>
          </a:xfrm>
          <a:prstGeom prst="roundRect">
            <a:avLst>
              <a:gd name="adj" fmla="val 2909"/>
            </a:avLst>
          </a:prstGeom>
          <a:solidFill>
            <a:srgbClr val="FDECEC"/>
          </a:solidFill>
          <a:ln w="12700">
            <a:solidFill>
              <a:srgbClr val="EF4444"/>
            </a:solidFill>
            <a:prstDash val="solid"/>
          </a:ln>
        </p:spPr>
      </p:sp>
      <p:sp>
        <p:nvSpPr>
          <p:cNvPr id="11" name="Text 8"/>
          <p:cNvSpPr/>
          <p:nvPr/>
        </p:nvSpPr>
        <p:spPr>
          <a:xfrm>
            <a:off x="731520" y="3703320"/>
            <a:ext cx="4892040" cy="320040"/>
          </a:xfrm>
          <a:prstGeom prst="rect">
            <a:avLst/>
          </a:prstGeom>
          <a:noFill/>
          <a:ln/>
        </p:spPr>
        <p:txBody>
          <a:bodyPr wrap="square" lIns="0" tIns="0" rIns="0" bIns="0" rtlCol="0" anchor="ctr"/>
          <a:lstStyle/>
          <a:p>
            <a:pPr indent="0" marL="0">
              <a:buNone/>
            </a:pPr>
            <a:r>
              <a:rPr lang="en-US" sz="1200" b="1" spc="100" kern="0" dirty="0">
                <a:solidFill>
                  <a:srgbClr val="EF4444"/>
                </a:solidFill>
                <a:latin typeface="DM Mono" pitchFamily="34" charset="0"/>
                <a:ea typeface="DM Mono" pitchFamily="34" charset="-122"/>
                <a:cs typeface="DM Mono" pitchFamily="34" charset="-120"/>
              </a:rPr>
              <a:t>DEPENDENT (SEQUENTIAL)</a:t>
            </a:r>
            <a:endParaRPr lang="en-US" sz="1200" dirty="0"/>
          </a:p>
        </p:txBody>
      </p:sp>
      <p:sp>
        <p:nvSpPr>
          <p:cNvPr id="12" name="Text 9"/>
          <p:cNvSpPr/>
          <p:nvPr/>
        </p:nvSpPr>
        <p:spPr>
          <a:xfrm>
            <a:off x="731520" y="4114800"/>
            <a:ext cx="4892040" cy="868680"/>
          </a:xfrm>
          <a:prstGeom prst="rect">
            <a:avLst/>
          </a:prstGeom>
          <a:noFill/>
          <a:ln/>
        </p:spPr>
        <p:txBody>
          <a:bodyPr wrap="square" lIns="0" tIns="0" rIns="0" bIns="0" rtlCol="0" anchor="ctr"/>
          <a:lstStyle/>
          <a:p>
            <a:pPr marL="342900" indent="-342900">
              <a:buSzPct val="100000"/>
              <a:buChar char="•"/>
            </a:pPr>
            <a:r>
              <a:rPr lang="en-US" sz="1400" dirty="0">
                <a:solidFill>
                  <a:srgbClr val="0D1117"/>
                </a:solidFill>
                <a:latin typeface="Calibri" pitchFamily="34" charset="0"/>
                <a:ea typeface="Calibri" pitchFamily="34" charset="-122"/>
                <a:cs typeface="Calibri" pitchFamily="34" charset="-120"/>
              </a:rPr>
              <a:t>Connecting the notification feature to the database can't start until the schema is built.</a:t>
            </a:r>
            <a:endParaRPr lang="en-US" sz="1400" dirty="0"/>
          </a:p>
        </p:txBody>
      </p:sp>
      <p:sp>
        <p:nvSpPr>
          <p:cNvPr id="13" name="Text 10"/>
          <p:cNvSpPr/>
          <p:nvPr/>
        </p:nvSpPr>
        <p:spPr>
          <a:xfrm>
            <a:off x="731520" y="5029200"/>
            <a:ext cx="4892040" cy="868680"/>
          </a:xfrm>
          <a:prstGeom prst="rect">
            <a:avLst/>
          </a:prstGeom>
          <a:noFill/>
          <a:ln/>
        </p:spPr>
        <p:txBody>
          <a:bodyPr wrap="square" lIns="0" tIns="0" rIns="0" bIns="0" rtlCol="0" anchor="ctr"/>
          <a:lstStyle/>
          <a:p>
            <a:pPr marL="342900" indent="-342900">
              <a:buSzPct val="100000"/>
              <a:buChar char="•"/>
            </a:pPr>
            <a:r>
              <a:rPr lang="en-US" sz="1400" dirty="0">
                <a:solidFill>
                  <a:srgbClr val="0D1117"/>
                </a:solidFill>
                <a:latin typeface="Calibri" pitchFamily="34" charset="0"/>
                <a:ea typeface="Calibri" pitchFamily="34" charset="-122"/>
                <a:cs typeface="Calibri" pitchFamily="34" charset="-120"/>
              </a:rPr>
              <a:t>User testing can't start until a working build exists.</a:t>
            </a:r>
            <a:endParaRPr lang="en-US" sz="1400" dirty="0"/>
          </a:p>
        </p:txBody>
      </p:sp>
      <p:sp>
        <p:nvSpPr>
          <p:cNvPr id="14" name="Shape 11"/>
          <p:cNvSpPr/>
          <p:nvPr/>
        </p:nvSpPr>
        <p:spPr>
          <a:xfrm>
            <a:off x="6355080" y="3566160"/>
            <a:ext cx="5440680" cy="2514600"/>
          </a:xfrm>
          <a:prstGeom prst="roundRect">
            <a:avLst>
              <a:gd name="adj" fmla="val 2909"/>
            </a:avLst>
          </a:prstGeom>
          <a:solidFill>
            <a:srgbClr val="E9FBF3"/>
          </a:solidFill>
          <a:ln w="12700">
            <a:solidFill>
              <a:srgbClr val="10B981"/>
            </a:solidFill>
            <a:prstDash val="solid"/>
          </a:ln>
        </p:spPr>
      </p:sp>
      <p:sp>
        <p:nvSpPr>
          <p:cNvPr id="15" name="Text 12"/>
          <p:cNvSpPr/>
          <p:nvPr/>
        </p:nvSpPr>
        <p:spPr>
          <a:xfrm>
            <a:off x="6629400" y="3703320"/>
            <a:ext cx="4892040" cy="320040"/>
          </a:xfrm>
          <a:prstGeom prst="rect">
            <a:avLst/>
          </a:prstGeom>
          <a:noFill/>
          <a:ln/>
        </p:spPr>
        <p:txBody>
          <a:bodyPr wrap="square" lIns="0" tIns="0" rIns="0" bIns="0" rtlCol="0" anchor="ctr"/>
          <a:lstStyle/>
          <a:p>
            <a:pPr indent="0" marL="0">
              <a:buNone/>
            </a:pPr>
            <a:r>
              <a:rPr lang="en-US" sz="1200" b="1" spc="100" kern="0" dirty="0">
                <a:solidFill>
                  <a:srgbClr val="10B981"/>
                </a:solidFill>
                <a:latin typeface="DM Mono" pitchFamily="34" charset="0"/>
                <a:ea typeface="DM Mono" pitchFamily="34" charset="-122"/>
                <a:cs typeface="DM Mono" pitchFamily="34" charset="-120"/>
              </a:rPr>
              <a:t>INDEPENDENT (PARALLEL)</a:t>
            </a:r>
            <a:endParaRPr lang="en-US" sz="1200" dirty="0"/>
          </a:p>
        </p:txBody>
      </p:sp>
      <p:sp>
        <p:nvSpPr>
          <p:cNvPr id="16" name="Text 13"/>
          <p:cNvSpPr/>
          <p:nvPr/>
        </p:nvSpPr>
        <p:spPr>
          <a:xfrm>
            <a:off x="6629400" y="4114800"/>
            <a:ext cx="4892040" cy="868680"/>
          </a:xfrm>
          <a:prstGeom prst="rect">
            <a:avLst/>
          </a:prstGeom>
          <a:noFill/>
          <a:ln/>
        </p:spPr>
        <p:txBody>
          <a:bodyPr wrap="square" lIns="0" tIns="0" rIns="0" bIns="0" rtlCol="0" anchor="ctr"/>
          <a:lstStyle/>
          <a:p>
            <a:pPr marL="342900" indent="-342900">
              <a:buSzPct val="100000"/>
              <a:buChar char="•"/>
            </a:pPr>
            <a:r>
              <a:rPr lang="en-US" sz="1400" dirty="0">
                <a:solidFill>
                  <a:srgbClr val="0D1117"/>
                </a:solidFill>
                <a:latin typeface="Calibri" pitchFamily="34" charset="0"/>
                <a:ea typeface="Calibri" pitchFamily="34" charset="-122"/>
                <a:cs typeface="Calibri" pitchFamily="34" charset="-120"/>
              </a:rPr>
              <a:t>Designing the colour scheme and researching a notification library can happen together.</a:t>
            </a:r>
            <a:endParaRPr lang="en-US" sz="1400" dirty="0"/>
          </a:p>
        </p:txBody>
      </p:sp>
      <p:sp>
        <p:nvSpPr>
          <p:cNvPr id="17" name="Text 14"/>
          <p:cNvSpPr/>
          <p:nvPr/>
        </p:nvSpPr>
        <p:spPr>
          <a:xfrm>
            <a:off x="6629400" y="5029200"/>
            <a:ext cx="4892040" cy="868680"/>
          </a:xfrm>
          <a:prstGeom prst="rect">
            <a:avLst/>
          </a:prstGeom>
          <a:noFill/>
          <a:ln/>
        </p:spPr>
        <p:txBody>
          <a:bodyPr wrap="square" lIns="0" tIns="0" rIns="0" bIns="0" rtlCol="0" anchor="ctr"/>
          <a:lstStyle/>
          <a:p>
            <a:pPr marL="342900" indent="-342900">
              <a:buSzPct val="100000"/>
              <a:buChar char="•"/>
            </a:pPr>
            <a:r>
              <a:rPr lang="en-US" sz="1400" dirty="0">
                <a:solidFill>
                  <a:srgbClr val="0D1117"/>
                </a:solidFill>
                <a:latin typeface="Calibri" pitchFamily="34" charset="0"/>
                <a:ea typeface="Calibri" pitchFamily="34" charset="-122"/>
                <a:cs typeface="Calibri" pitchFamily="34" charset="-120"/>
              </a:rPr>
              <a:t>Two members building two unconnected features.</a:t>
            </a:r>
            <a:endParaRPr lang="en-US" sz="1400" dirty="0"/>
          </a:p>
        </p:txBody>
      </p:sp>
      <p:sp>
        <p:nvSpPr>
          <p:cNvPr id="18" name="Text 15"/>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9" name="Text 16"/>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10B981"/>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457200" y="868680"/>
            <a:ext cx="11247120" cy="50292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The Critical Path</a:t>
            </a:r>
            <a:endParaRPr lang="en-US" sz="2400" dirty="0"/>
          </a:p>
        </p:txBody>
      </p:sp>
      <p:pic>
        <p:nvPicPr>
          <p:cNvPr id="5" name="Image 0" descr="icon_route_EF4444.png">    </p:cNvPr>
          <p:cNvPicPr>
            <a:picLocks noChangeAspect="1"/>
          </p:cNvPicPr>
          <p:nvPr/>
        </p:nvPicPr>
        <p:blipFill>
          <a:blip r:embed="rId1"/>
          <a:stretch>
            <a:fillRect/>
          </a:stretch>
        </p:blipFill>
        <p:spPr>
          <a:xfrm>
            <a:off x="10378440" y="822960"/>
            <a:ext cx="1005840" cy="1005840"/>
          </a:xfrm>
          <a:prstGeom prst="rect">
            <a:avLst/>
          </a:prstGeom>
        </p:spPr>
      </p:pic>
      <p:sp>
        <p:nvSpPr>
          <p:cNvPr id="6" name="Text 3"/>
          <p:cNvSpPr/>
          <p:nvPr/>
        </p:nvSpPr>
        <p:spPr>
          <a:xfrm>
            <a:off x="457200" y="1463040"/>
            <a:ext cx="10881360" cy="73152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The longest chain of dependent tasks from start to finish. A delay anywhere on it delays the whole project — a delay off it usually doesn't, as long as it finishes before whatever depends on it needs it.</a:t>
            </a:r>
            <a:endParaRPr lang="en-US" sz="1600" dirty="0"/>
          </a:p>
        </p:txBody>
      </p:sp>
      <p:sp>
        <p:nvSpPr>
          <p:cNvPr id="7" name="Text 4"/>
          <p:cNvSpPr/>
          <p:nvPr/>
        </p:nvSpPr>
        <p:spPr>
          <a:xfrm>
            <a:off x="192024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Wk1</a:t>
            </a:r>
            <a:endParaRPr lang="en-US" sz="1000" dirty="0"/>
          </a:p>
        </p:txBody>
      </p:sp>
      <p:sp>
        <p:nvSpPr>
          <p:cNvPr id="8" name="Text 5"/>
          <p:cNvSpPr/>
          <p:nvPr/>
        </p:nvSpPr>
        <p:spPr>
          <a:xfrm>
            <a:off x="300736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Wk2</a:t>
            </a:r>
            <a:endParaRPr lang="en-US" sz="1000" dirty="0"/>
          </a:p>
        </p:txBody>
      </p:sp>
      <p:sp>
        <p:nvSpPr>
          <p:cNvPr id="9" name="Text 6"/>
          <p:cNvSpPr/>
          <p:nvPr/>
        </p:nvSpPr>
        <p:spPr>
          <a:xfrm>
            <a:off x="409448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Wk3</a:t>
            </a:r>
            <a:endParaRPr lang="en-US" sz="1000" dirty="0"/>
          </a:p>
        </p:txBody>
      </p:sp>
      <p:sp>
        <p:nvSpPr>
          <p:cNvPr id="10" name="Text 7"/>
          <p:cNvSpPr/>
          <p:nvPr/>
        </p:nvSpPr>
        <p:spPr>
          <a:xfrm>
            <a:off x="518160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Wk4</a:t>
            </a:r>
            <a:endParaRPr lang="en-US" sz="1000" dirty="0"/>
          </a:p>
        </p:txBody>
      </p:sp>
      <p:sp>
        <p:nvSpPr>
          <p:cNvPr id="11" name="Text 8"/>
          <p:cNvSpPr/>
          <p:nvPr/>
        </p:nvSpPr>
        <p:spPr>
          <a:xfrm>
            <a:off x="626872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Wk5</a:t>
            </a:r>
            <a:endParaRPr lang="en-US" sz="1000" dirty="0"/>
          </a:p>
        </p:txBody>
      </p:sp>
      <p:sp>
        <p:nvSpPr>
          <p:cNvPr id="12" name="Text 9"/>
          <p:cNvSpPr/>
          <p:nvPr/>
        </p:nvSpPr>
        <p:spPr>
          <a:xfrm>
            <a:off x="735584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Wk6</a:t>
            </a:r>
            <a:endParaRPr lang="en-US" sz="1000" dirty="0"/>
          </a:p>
        </p:txBody>
      </p:sp>
      <p:sp>
        <p:nvSpPr>
          <p:cNvPr id="13" name="Text 10"/>
          <p:cNvSpPr/>
          <p:nvPr/>
        </p:nvSpPr>
        <p:spPr>
          <a:xfrm>
            <a:off x="844296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Wk7</a:t>
            </a:r>
            <a:endParaRPr lang="en-US" sz="1000" dirty="0"/>
          </a:p>
        </p:txBody>
      </p:sp>
      <p:sp>
        <p:nvSpPr>
          <p:cNvPr id="14" name="Text 11"/>
          <p:cNvSpPr/>
          <p:nvPr/>
        </p:nvSpPr>
        <p:spPr>
          <a:xfrm>
            <a:off x="953008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Wk8</a:t>
            </a:r>
            <a:endParaRPr lang="en-US" sz="1000" dirty="0"/>
          </a:p>
        </p:txBody>
      </p:sp>
      <p:sp>
        <p:nvSpPr>
          <p:cNvPr id="15" name="Text 12"/>
          <p:cNvSpPr/>
          <p:nvPr/>
        </p:nvSpPr>
        <p:spPr>
          <a:xfrm>
            <a:off x="10617200" y="2377440"/>
            <a:ext cx="1087120" cy="274320"/>
          </a:xfrm>
          <a:prstGeom prst="rect">
            <a:avLst/>
          </a:prstGeom>
          <a:noFill/>
          <a:ln/>
        </p:spPr>
        <p:txBody>
          <a:bodyPr wrap="square" lIns="0" tIns="0" rIns="0" bIns="0" rtlCol="0" anchor="ctr"/>
          <a:lstStyle/>
          <a:p>
            <a:pPr algn="ctr" indent="0" marL="0">
              <a:buNone/>
            </a:pPr>
            <a:r>
              <a:rPr lang="en-US" sz="1000" dirty="0">
                <a:solidFill>
                  <a:srgbClr val="57606A"/>
                </a:solidFill>
                <a:latin typeface="DM Mono" pitchFamily="34" charset="0"/>
                <a:ea typeface="DM Mono" pitchFamily="34" charset="-122"/>
                <a:cs typeface="DM Mono" pitchFamily="34" charset="-120"/>
              </a:rPr>
              <a:t>Wk9</a:t>
            </a:r>
            <a:endParaRPr lang="en-US" sz="1000" dirty="0"/>
          </a:p>
        </p:txBody>
      </p:sp>
      <p:sp>
        <p:nvSpPr>
          <p:cNvPr id="16" name="Text 13"/>
          <p:cNvSpPr/>
          <p:nvPr/>
        </p:nvSpPr>
        <p:spPr>
          <a:xfrm>
            <a:off x="457200" y="2697480"/>
            <a:ext cx="1371600" cy="50292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Design</a:t>
            </a:r>
            <a:endParaRPr lang="en-US" sz="1300" dirty="0"/>
          </a:p>
        </p:txBody>
      </p:sp>
      <p:sp>
        <p:nvSpPr>
          <p:cNvPr id="17" name="Shape 14"/>
          <p:cNvSpPr/>
          <p:nvPr/>
        </p:nvSpPr>
        <p:spPr>
          <a:xfrm>
            <a:off x="1965960" y="2752344"/>
            <a:ext cx="2082800" cy="320040"/>
          </a:xfrm>
          <a:prstGeom prst="roundRect">
            <a:avLst>
              <a:gd name="adj" fmla="val 14286"/>
            </a:avLst>
          </a:prstGeom>
          <a:solidFill>
            <a:srgbClr val="EF4444"/>
          </a:solidFill>
          <a:ln/>
        </p:spPr>
      </p:sp>
      <p:sp>
        <p:nvSpPr>
          <p:cNvPr id="18" name="Text 15"/>
          <p:cNvSpPr/>
          <p:nvPr/>
        </p:nvSpPr>
        <p:spPr>
          <a:xfrm>
            <a:off x="457200" y="3291840"/>
            <a:ext cx="1371600" cy="50292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Colour scheme</a:t>
            </a:r>
            <a:endParaRPr lang="en-US" sz="1300" dirty="0"/>
          </a:p>
        </p:txBody>
      </p:sp>
      <p:sp>
        <p:nvSpPr>
          <p:cNvPr id="19" name="Shape 16"/>
          <p:cNvSpPr/>
          <p:nvPr/>
        </p:nvSpPr>
        <p:spPr>
          <a:xfrm>
            <a:off x="1965960" y="3346704"/>
            <a:ext cx="995680" cy="320040"/>
          </a:xfrm>
          <a:prstGeom prst="roundRect">
            <a:avLst>
              <a:gd name="adj" fmla="val 14286"/>
            </a:avLst>
          </a:prstGeom>
          <a:solidFill>
            <a:srgbClr val="9BA3AF"/>
          </a:solidFill>
          <a:ln/>
        </p:spPr>
      </p:sp>
      <p:sp>
        <p:nvSpPr>
          <p:cNvPr id="20" name="Text 17"/>
          <p:cNvSpPr/>
          <p:nvPr/>
        </p:nvSpPr>
        <p:spPr>
          <a:xfrm>
            <a:off x="457200" y="3886200"/>
            <a:ext cx="1371600" cy="50292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Build core</a:t>
            </a:r>
            <a:endParaRPr lang="en-US" sz="1300" dirty="0"/>
          </a:p>
        </p:txBody>
      </p:sp>
      <p:sp>
        <p:nvSpPr>
          <p:cNvPr id="21" name="Shape 18"/>
          <p:cNvSpPr/>
          <p:nvPr/>
        </p:nvSpPr>
        <p:spPr>
          <a:xfrm>
            <a:off x="4140200" y="3941064"/>
            <a:ext cx="3169920" cy="320040"/>
          </a:xfrm>
          <a:prstGeom prst="roundRect">
            <a:avLst>
              <a:gd name="adj" fmla="val 14286"/>
            </a:avLst>
          </a:prstGeom>
          <a:solidFill>
            <a:srgbClr val="EF4444"/>
          </a:solidFill>
          <a:ln/>
        </p:spPr>
      </p:sp>
      <p:sp>
        <p:nvSpPr>
          <p:cNvPr id="22" name="Text 19"/>
          <p:cNvSpPr/>
          <p:nvPr/>
        </p:nvSpPr>
        <p:spPr>
          <a:xfrm>
            <a:off x="457200" y="4480560"/>
            <a:ext cx="1371600" cy="50292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Testing</a:t>
            </a:r>
            <a:endParaRPr lang="en-US" sz="1300" dirty="0"/>
          </a:p>
        </p:txBody>
      </p:sp>
      <p:sp>
        <p:nvSpPr>
          <p:cNvPr id="23" name="Shape 20"/>
          <p:cNvSpPr/>
          <p:nvPr/>
        </p:nvSpPr>
        <p:spPr>
          <a:xfrm>
            <a:off x="7401560" y="4535424"/>
            <a:ext cx="2082800" cy="320040"/>
          </a:xfrm>
          <a:prstGeom prst="roundRect">
            <a:avLst>
              <a:gd name="adj" fmla="val 14286"/>
            </a:avLst>
          </a:prstGeom>
          <a:solidFill>
            <a:srgbClr val="EF4444"/>
          </a:solidFill>
          <a:ln/>
        </p:spPr>
      </p:sp>
      <p:sp>
        <p:nvSpPr>
          <p:cNvPr id="24" name="Text 21"/>
          <p:cNvSpPr/>
          <p:nvPr/>
        </p:nvSpPr>
        <p:spPr>
          <a:xfrm>
            <a:off x="457200" y="5166360"/>
            <a:ext cx="11247120" cy="457200"/>
          </a:xfrm>
          <a:prstGeom prst="rect">
            <a:avLst/>
          </a:prstGeom>
          <a:noFill/>
          <a:ln/>
        </p:spPr>
        <p:txBody>
          <a:bodyPr wrap="square" lIns="0" tIns="0" rIns="0" bIns="0" rtlCol="0" anchor="ctr"/>
          <a:lstStyle/>
          <a:p>
            <a:pPr indent="0" marL="0">
              <a:buNone/>
            </a:pPr>
            <a:r>
              <a:rPr lang="en-US" sz="1300" i="1" dirty="0">
                <a:solidFill>
                  <a:srgbClr val="57606A"/>
                </a:solidFill>
                <a:latin typeface="Calibri" pitchFamily="34" charset="0"/>
                <a:ea typeface="Calibri" pitchFamily="34" charset="-122"/>
                <a:cs typeface="Calibri" pitchFamily="34" charset="-120"/>
              </a:rPr>
              <a:t>Red = critical path (Design → Build core → Testing). Colour scheme runs in parallel with slack — it could slip a week without affecting the finish date.</a:t>
            </a:r>
            <a:endParaRPr lang="en-US" sz="1300" dirty="0"/>
          </a:p>
        </p:txBody>
      </p:sp>
      <p:sp>
        <p:nvSpPr>
          <p:cNvPr id="25" name="Shape 22"/>
          <p:cNvSpPr/>
          <p:nvPr/>
        </p:nvSpPr>
        <p:spPr>
          <a:xfrm>
            <a:off x="457200" y="5989320"/>
            <a:ext cx="11247120" cy="594360"/>
          </a:xfrm>
          <a:prstGeom prst="roundRect">
            <a:avLst>
              <a:gd name="adj" fmla="val 12308"/>
            </a:avLst>
          </a:prstGeom>
          <a:solidFill>
            <a:srgbClr val="EEF1FD"/>
          </a:solidFill>
          <a:ln/>
        </p:spPr>
      </p:sp>
      <p:sp>
        <p:nvSpPr>
          <p:cNvPr id="26" name="Text 23"/>
          <p:cNvSpPr/>
          <p:nvPr/>
        </p:nvSpPr>
        <p:spPr>
          <a:xfrm>
            <a:off x="731520" y="6035040"/>
            <a:ext cx="10698480" cy="50292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Finding it: trace forward through every dependency chain, add up durations along each, and the longest total is your critical path.</a:t>
            </a:r>
            <a:endParaRPr lang="en-US" sz="1300" dirty="0"/>
          </a:p>
        </p:txBody>
      </p:sp>
      <p:sp>
        <p:nvSpPr>
          <p:cNvPr id="27" name="Text 24"/>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8" name="Text 25"/>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10B981"/>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EXPLICIT</a:t>
            </a:r>
            <a:endParaRPr lang="en-US" sz="1200" dirty="0"/>
          </a:p>
        </p:txBody>
      </p:sp>
      <p:sp>
        <p:nvSpPr>
          <p:cNvPr id="4" name="Text 2"/>
          <p:cNvSpPr/>
          <p:nvPr/>
        </p:nvSpPr>
        <p:spPr>
          <a:xfrm>
            <a:off x="457200" y="868680"/>
            <a:ext cx="11247120" cy="50292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Monitoring &amp; Task Delegation</a:t>
            </a:r>
            <a:endParaRPr lang="en-US" sz="2400" dirty="0"/>
          </a:p>
        </p:txBody>
      </p:sp>
      <p:sp>
        <p:nvSpPr>
          <p:cNvPr id="5" name="Shape 3"/>
          <p:cNvSpPr/>
          <p:nvPr/>
        </p:nvSpPr>
        <p:spPr>
          <a:xfrm>
            <a:off x="457200" y="1508760"/>
            <a:ext cx="5440680" cy="4480560"/>
          </a:xfrm>
          <a:prstGeom prst="roundRect">
            <a:avLst>
              <a:gd name="adj" fmla="val 1633"/>
            </a:avLst>
          </a:prstGeom>
          <a:solidFill>
            <a:srgbClr val="F6F8FA"/>
          </a:solidFill>
          <a:ln w="12700">
            <a:solidFill>
              <a:srgbClr val="D0D7DE"/>
            </a:solidFill>
            <a:prstDash val="solid"/>
          </a:ln>
        </p:spPr>
      </p:sp>
      <p:pic>
        <p:nvPicPr>
          <p:cNvPr id="6" name="Image 0" descr="icon_calendarweek_10B981.png">    </p:cNvPr>
          <p:cNvPicPr>
            <a:picLocks noChangeAspect="1"/>
          </p:cNvPicPr>
          <p:nvPr/>
        </p:nvPicPr>
        <p:blipFill>
          <a:blip r:embed="rId1"/>
          <a:stretch>
            <a:fillRect/>
          </a:stretch>
        </p:blipFill>
        <p:spPr>
          <a:xfrm>
            <a:off x="731520" y="1737360"/>
            <a:ext cx="685800" cy="685800"/>
          </a:xfrm>
          <a:prstGeom prst="rect">
            <a:avLst/>
          </a:prstGeom>
        </p:spPr>
      </p:pic>
      <p:sp>
        <p:nvSpPr>
          <p:cNvPr id="7" name="Text 4"/>
          <p:cNvSpPr/>
          <p:nvPr/>
        </p:nvSpPr>
        <p:spPr>
          <a:xfrm>
            <a:off x="1554480" y="1828800"/>
            <a:ext cx="4114800" cy="457200"/>
          </a:xfrm>
          <a:prstGeom prst="rect">
            <a:avLst/>
          </a:prstGeom>
          <a:noFill/>
          <a:ln/>
        </p:spPr>
        <p:txBody>
          <a:bodyPr wrap="square" lIns="0" tIns="0" rIns="0" bIns="0" rtlCol="0" anchor="ctr"/>
          <a:lstStyle/>
          <a:p>
            <a:pPr indent="0" marL="0">
              <a:buNone/>
            </a:pPr>
            <a:r>
              <a:rPr lang="en-US" sz="1800" b="1" dirty="0">
                <a:solidFill>
                  <a:srgbClr val="0D1117"/>
                </a:solidFill>
                <a:latin typeface="Georgia" pitchFamily="34" charset="0"/>
                <a:ea typeface="Georgia" pitchFamily="34" charset="-122"/>
                <a:cs typeface="Georgia" pitchFamily="34" charset="-120"/>
              </a:rPr>
              <a:t>Monitoring</a:t>
            </a:r>
            <a:endParaRPr lang="en-US" sz="1800" dirty="0"/>
          </a:p>
        </p:txBody>
      </p:sp>
      <p:sp>
        <p:nvSpPr>
          <p:cNvPr id="8" name="Text 5"/>
          <p:cNvSpPr/>
          <p:nvPr/>
        </p:nvSpPr>
        <p:spPr>
          <a:xfrm>
            <a:off x="731520" y="2606040"/>
            <a:ext cx="4892040" cy="914400"/>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A Gantt chart is revisited at defined points, not written once and filed away. Your class formally revisits it at the mid-build check-in and again at the start of Term 4.</a:t>
            </a:r>
            <a:endParaRPr lang="en-US" sz="1400" dirty="0"/>
          </a:p>
        </p:txBody>
      </p:sp>
      <p:sp>
        <p:nvSpPr>
          <p:cNvPr id="9" name="Shape 6"/>
          <p:cNvSpPr/>
          <p:nvPr/>
        </p:nvSpPr>
        <p:spPr>
          <a:xfrm>
            <a:off x="731520" y="3611880"/>
            <a:ext cx="4892040" cy="2194560"/>
          </a:xfrm>
          <a:prstGeom prst="roundRect">
            <a:avLst>
              <a:gd name="adj" fmla="val 2500"/>
            </a:avLst>
          </a:prstGeom>
          <a:solidFill>
            <a:srgbClr val="FEF6E7"/>
          </a:solidFill>
          <a:ln/>
        </p:spPr>
      </p:sp>
      <p:sp>
        <p:nvSpPr>
          <p:cNvPr id="10" name="Text 7"/>
          <p:cNvSpPr/>
          <p:nvPr/>
        </p:nvSpPr>
        <p:spPr>
          <a:xfrm>
            <a:off x="914400" y="3749040"/>
            <a:ext cx="4526280" cy="274320"/>
          </a:xfrm>
          <a:prstGeom prst="rect">
            <a:avLst/>
          </a:prstGeom>
          <a:noFill/>
          <a:ln/>
        </p:spPr>
        <p:txBody>
          <a:bodyPr wrap="square" lIns="0" tIns="0" rIns="0" bIns="0" rtlCol="0" anchor="ctr"/>
          <a:lstStyle/>
          <a:p>
            <a:pPr indent="0" marL="0">
              <a:buNone/>
            </a:pPr>
            <a:r>
              <a:rPr lang="en-US" sz="1200" b="1" spc="50" kern="0" dirty="0">
                <a:solidFill>
                  <a:srgbClr val="F59E0B"/>
                </a:solidFill>
                <a:latin typeface="DM Mono" pitchFamily="34" charset="0"/>
                <a:ea typeface="DM Mono" pitchFamily="34" charset="-122"/>
                <a:cs typeface="DM Mono" pitchFamily="34" charset="-120"/>
              </a:rPr>
              <a:t>What monitoring looks like</a:t>
            </a:r>
            <a:endParaRPr lang="en-US" sz="1200" dirty="0"/>
          </a:p>
        </p:txBody>
      </p:sp>
      <p:sp>
        <p:nvSpPr>
          <p:cNvPr id="11" name="Text 8"/>
          <p:cNvSpPr/>
          <p:nvPr/>
        </p:nvSpPr>
        <p:spPr>
          <a:xfrm>
            <a:off x="914400" y="4069080"/>
            <a:ext cx="4526280" cy="1600200"/>
          </a:xfrm>
          <a:prstGeom prst="rect">
            <a:avLst/>
          </a:prstGeom>
          <a:noFill/>
          <a:ln/>
        </p:spPr>
        <p:txBody>
          <a:bodyPr wrap="square" lIns="0" tIns="0" rIns="0" bIns="0" rtlCol="0" anchor="ctr"/>
          <a:lstStyle/>
          <a:p>
            <a:pPr indent="0" marL="0">
              <a:buNone/>
            </a:pPr>
            <a:r>
              <a:rPr lang="en-US" sz="1400" dirty="0">
                <a:solidFill>
                  <a:srgbClr val="0D1117"/>
                </a:solidFill>
                <a:latin typeface="Calibri" pitchFamily="34" charset="0"/>
                <a:ea typeface="Calibri" pitchFamily="34" charset="-122"/>
                <a:cs typeface="Calibri" pitchFamily="34" charset="-120"/>
              </a:rPr>
              <a:t>Update task status (done / in progress / not started) and flag anything at risk of missing its date — with a reason and what the group intends to do, not just a red flag on its own.</a:t>
            </a:r>
            <a:endParaRPr lang="en-US" sz="1400" dirty="0"/>
          </a:p>
        </p:txBody>
      </p:sp>
      <p:sp>
        <p:nvSpPr>
          <p:cNvPr id="12" name="Shape 9"/>
          <p:cNvSpPr/>
          <p:nvPr/>
        </p:nvSpPr>
        <p:spPr>
          <a:xfrm>
            <a:off x="6263640" y="1508760"/>
            <a:ext cx="5440680" cy="4480560"/>
          </a:xfrm>
          <a:prstGeom prst="roundRect">
            <a:avLst>
              <a:gd name="adj" fmla="val 1633"/>
            </a:avLst>
          </a:prstGeom>
          <a:solidFill>
            <a:srgbClr val="F6F8FA"/>
          </a:solidFill>
          <a:ln w="12700">
            <a:solidFill>
              <a:srgbClr val="D0D7DE"/>
            </a:solidFill>
            <a:prstDash val="solid"/>
          </a:ln>
        </p:spPr>
      </p:sp>
      <p:pic>
        <p:nvPicPr>
          <p:cNvPr id="13" name="Image 1" descr="icon_usercheck_8B5CF6.png">    </p:cNvPr>
          <p:cNvPicPr>
            <a:picLocks noChangeAspect="1"/>
          </p:cNvPicPr>
          <p:nvPr/>
        </p:nvPicPr>
        <p:blipFill>
          <a:blip r:embed="rId2"/>
          <a:stretch>
            <a:fillRect/>
          </a:stretch>
        </p:blipFill>
        <p:spPr>
          <a:xfrm>
            <a:off x="6537960" y="1737360"/>
            <a:ext cx="685800" cy="685800"/>
          </a:xfrm>
          <a:prstGeom prst="rect">
            <a:avLst/>
          </a:prstGeom>
        </p:spPr>
      </p:pic>
      <p:sp>
        <p:nvSpPr>
          <p:cNvPr id="14" name="Text 10"/>
          <p:cNvSpPr/>
          <p:nvPr/>
        </p:nvSpPr>
        <p:spPr>
          <a:xfrm>
            <a:off x="7360920" y="1828800"/>
            <a:ext cx="4206240" cy="457200"/>
          </a:xfrm>
          <a:prstGeom prst="rect">
            <a:avLst/>
          </a:prstGeom>
          <a:noFill/>
          <a:ln/>
        </p:spPr>
        <p:txBody>
          <a:bodyPr wrap="square" lIns="0" tIns="0" rIns="0" bIns="0" rtlCol="0" anchor="ctr"/>
          <a:lstStyle/>
          <a:p>
            <a:pPr indent="0" marL="0">
              <a:buNone/>
            </a:pPr>
            <a:r>
              <a:rPr lang="en-US" sz="1800" b="1" dirty="0">
                <a:solidFill>
                  <a:srgbClr val="0D1117"/>
                </a:solidFill>
                <a:latin typeface="Georgia" pitchFamily="34" charset="0"/>
                <a:ea typeface="Georgia" pitchFamily="34" charset="-122"/>
                <a:cs typeface="Georgia" pitchFamily="34" charset="-120"/>
              </a:rPr>
              <a:t>Accountability</a:t>
            </a:r>
            <a:endParaRPr lang="en-US" sz="1800" dirty="0"/>
          </a:p>
        </p:txBody>
      </p:sp>
      <p:sp>
        <p:nvSpPr>
          <p:cNvPr id="15" name="Text 11"/>
          <p:cNvSpPr/>
          <p:nvPr/>
        </p:nvSpPr>
        <p:spPr>
          <a:xfrm>
            <a:off x="6537960" y="2606040"/>
            <a:ext cx="4892040" cy="914400"/>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"The group" is not an owner. Every task needs a named person responsible — otherwise tasks quietly become no one's job until it's too late.</a:t>
            </a:r>
            <a:endParaRPr lang="en-US" sz="1400" dirty="0"/>
          </a:p>
        </p:txBody>
      </p:sp>
      <p:sp>
        <p:nvSpPr>
          <p:cNvPr id="16" name="Shape 12"/>
          <p:cNvSpPr/>
          <p:nvPr/>
        </p:nvSpPr>
        <p:spPr>
          <a:xfrm>
            <a:off x="6537960" y="3611880"/>
            <a:ext cx="2331720" cy="1463040"/>
          </a:xfrm>
          <a:prstGeom prst="roundRect">
            <a:avLst>
              <a:gd name="adj" fmla="val 3750"/>
            </a:avLst>
          </a:prstGeom>
          <a:solidFill>
            <a:srgbClr val="FDECEC"/>
          </a:solidFill>
          <a:ln w="12700">
            <a:solidFill>
              <a:srgbClr val="EF4444"/>
            </a:solidFill>
            <a:prstDash val="solid"/>
          </a:ln>
        </p:spPr>
      </p:sp>
      <p:sp>
        <p:nvSpPr>
          <p:cNvPr id="17" name="Text 13"/>
          <p:cNvSpPr/>
          <p:nvPr/>
        </p:nvSpPr>
        <p:spPr>
          <a:xfrm>
            <a:off x="6675120" y="3749040"/>
            <a:ext cx="2057400" cy="1188720"/>
          </a:xfrm>
          <a:prstGeom prst="rect">
            <a:avLst/>
          </a:prstGeom>
          <a:noFill/>
          <a:ln/>
        </p:spPr>
        <p:txBody>
          <a:bodyPr wrap="square" lIns="0" tIns="0" rIns="0" bIns="0" rtlCol="0" anchor="ctr"/>
          <a:lstStyle/>
          <a:p>
            <a:pPr indent="0" marL="0">
              <a:buNone/>
            </a:pPr>
            <a:r>
              <a:rPr lang="en-US" sz="1200" i="1" dirty="0">
                <a:solidFill>
                  <a:srgbClr val="EF4444"/>
                </a:solidFill>
                <a:latin typeface="Calibri" pitchFamily="34" charset="0"/>
                <a:ea typeface="Calibri" pitchFamily="34" charset="-122"/>
                <a:cs typeface="Calibri" pitchFamily="34" charset="-120"/>
              </a:rPr>
              <a:t>Owner: (blank / "everyone")</a:t>
            </a:r>
            <a:endParaRPr lang="en-US" sz="1200" dirty="0"/>
          </a:p>
        </p:txBody>
      </p:sp>
      <p:sp>
        <p:nvSpPr>
          <p:cNvPr id="18" name="Shape 14"/>
          <p:cNvSpPr/>
          <p:nvPr/>
        </p:nvSpPr>
        <p:spPr>
          <a:xfrm>
            <a:off x="9006840" y="3611880"/>
            <a:ext cx="2377440" cy="1463040"/>
          </a:xfrm>
          <a:prstGeom prst="roundRect">
            <a:avLst>
              <a:gd name="adj" fmla="val 3750"/>
            </a:avLst>
          </a:prstGeom>
          <a:solidFill>
            <a:srgbClr val="E9FBF3"/>
          </a:solidFill>
          <a:ln w="12700">
            <a:solidFill>
              <a:srgbClr val="10B981"/>
            </a:solidFill>
            <a:prstDash val="solid"/>
          </a:ln>
        </p:spPr>
      </p:sp>
      <p:sp>
        <p:nvSpPr>
          <p:cNvPr id="19" name="Text 15"/>
          <p:cNvSpPr/>
          <p:nvPr/>
        </p:nvSpPr>
        <p:spPr>
          <a:xfrm>
            <a:off x="9144000" y="3749040"/>
            <a:ext cx="2103120" cy="1188720"/>
          </a:xfrm>
          <a:prstGeom prst="rect">
            <a:avLst/>
          </a:prstGeom>
          <a:noFill/>
          <a:ln/>
        </p:spPr>
        <p:txBody>
          <a:bodyPr wrap="square" lIns="0" tIns="0" rIns="0" bIns="0" rtlCol="0" anchor="ctr"/>
          <a:lstStyle/>
          <a:p>
            <a:pPr indent="0" marL="0">
              <a:buNone/>
            </a:pPr>
            <a:r>
              <a:rPr lang="en-US" sz="1200" i="1" dirty="0">
                <a:solidFill>
                  <a:srgbClr val="10B981"/>
                </a:solidFill>
                <a:latin typeface="Calibri" pitchFamily="34" charset="0"/>
                <a:ea typeface="Calibri" pitchFamily="34" charset="-122"/>
                <a:cs typeface="Calibri" pitchFamily="34" charset="-120"/>
              </a:rPr>
              <a:t>Owner: named member + backup for testing</a:t>
            </a:r>
            <a:endParaRPr lang="en-US" sz="1200" dirty="0"/>
          </a:p>
        </p:txBody>
      </p:sp>
      <p:sp>
        <p:nvSpPr>
          <p:cNvPr id="20" name="Text 16"/>
          <p:cNvSpPr/>
          <p:nvPr/>
        </p:nvSpPr>
        <p:spPr>
          <a:xfrm>
            <a:off x="6537960" y="5212080"/>
            <a:ext cx="4892040" cy="68580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This is also the point to be honest about skill gaps — surface them now, not mid-build.</a:t>
            </a:r>
            <a:endParaRPr lang="en-US" sz="1300" dirty="0"/>
          </a:p>
        </p:txBody>
      </p:sp>
      <p:sp>
        <p:nvSpPr>
          <p:cNvPr id="21" name="Text 17"/>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2" name="Text 18"/>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D"/>
        </a:solidFill>
      </p:bgPr>
    </p:bg>
    <p:spTree>
      <p:nvGrpSpPr>
        <p:cNvPr id="1" name=""/>
        <p:cNvGrpSpPr/>
        <p:nvPr/>
      </p:nvGrpSpPr>
      <p:grpSpPr>
        <a:xfrm>
          <a:off x="0" y="0"/>
          <a:ext cx="0" cy="0"/>
          <a:chOff x="0" y="0"/>
          <a:chExt cx="0" cy="0"/>
        </a:xfrm>
      </p:grpSpPr>
      <p:pic>
        <p:nvPicPr>
          <p:cNvPr id="2" name="Image 0" descr="icon_brain_8B5CF6.png">    </p:cNvPr>
          <p:cNvPicPr>
            <a:picLocks noChangeAspect="1"/>
          </p:cNvPicPr>
          <p:nvPr/>
        </p:nvPicPr>
        <p:blipFill>
          <a:blip r:embed="rId1"/>
          <a:stretch>
            <a:fillRect/>
          </a:stretch>
        </p:blipFill>
        <p:spPr>
          <a:xfrm>
            <a:off x="5394960" y="1371600"/>
            <a:ext cx="1371600" cy="1371600"/>
          </a:xfrm>
          <a:prstGeom prst="rect">
            <a:avLst/>
          </a:prstGeom>
        </p:spPr>
      </p:pic>
      <p:sp>
        <p:nvSpPr>
          <p:cNvPr id="3" name="Text 0"/>
          <p:cNvSpPr/>
          <p:nvPr/>
        </p:nvSpPr>
        <p:spPr>
          <a:xfrm>
            <a:off x="1371600" y="2926080"/>
            <a:ext cx="9418320" cy="640080"/>
          </a:xfrm>
          <a:prstGeom prst="rect">
            <a:avLst/>
          </a:prstGeom>
          <a:noFill/>
          <a:ln/>
        </p:spPr>
        <p:txBody>
          <a:bodyPr wrap="square" lIns="0" tIns="0" rIns="0" bIns="0" rtlCol="0" anchor="ctr"/>
          <a:lstStyle/>
          <a:p>
            <a:pPr algn="ctr" indent="0" marL="0">
              <a:buNone/>
            </a:pPr>
            <a:r>
              <a:rPr lang="en-US" sz="3000" b="1" dirty="0">
                <a:solidFill>
                  <a:srgbClr val="0D1117"/>
                </a:solidFill>
                <a:latin typeface="Georgia" pitchFamily="34" charset="0"/>
                <a:ea typeface="Georgia" pitchFamily="34" charset="-122"/>
                <a:cs typeface="Georgia" pitchFamily="34" charset="-120"/>
              </a:rPr>
              <a:t>Brain Break</a:t>
            </a:r>
            <a:endParaRPr lang="en-US" sz="3000" dirty="0"/>
          </a:p>
        </p:txBody>
      </p:sp>
      <p:sp>
        <p:nvSpPr>
          <p:cNvPr id="4" name="Text 1"/>
          <p:cNvSpPr/>
          <p:nvPr/>
        </p:nvSpPr>
        <p:spPr>
          <a:xfrm>
            <a:off x="2194560" y="3657600"/>
            <a:ext cx="7772400" cy="822960"/>
          </a:xfrm>
          <a:prstGeom prst="rect">
            <a:avLst/>
          </a:prstGeom>
          <a:noFill/>
          <a:ln/>
        </p:spPr>
        <p:txBody>
          <a:bodyPr wrap="square" lIns="0" tIns="0" rIns="0" bIns="0" rtlCol="0" anchor="ctr"/>
          <a:lstStyle/>
          <a:p>
            <a:pPr algn="ctr" indent="0" marL="0">
              <a:buNone/>
            </a:pPr>
            <a:r>
              <a:rPr lang="en-US" sz="1600" dirty="0">
                <a:solidFill>
                  <a:srgbClr val="57606A"/>
                </a:solidFill>
                <a:latin typeface="Calibri" pitchFamily="34" charset="0"/>
                <a:ea typeface="Calibri" pitchFamily="34" charset="-122"/>
                <a:cs typeface="Calibri" pitchFamily="34" charset="-120"/>
              </a:rPr>
              <a:t>Stand up, stretch, and tell a neighbour one task from your own life (school or home) that you think is on today's critical path for you personally.</a:t>
            </a:r>
            <a:endParaRPr lang="en-US" sz="1600" dirty="0"/>
          </a:p>
        </p:txBody>
      </p:sp>
      <p:sp>
        <p:nvSpPr>
          <p:cNvPr id="5" name="Text 2"/>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6" name="Text 3"/>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8B5CF6"/>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Shape 2"/>
          <p:cNvSpPr/>
          <p:nvPr/>
        </p:nvSpPr>
        <p:spPr>
          <a:xfrm>
            <a:off x="457200" y="868680"/>
            <a:ext cx="11247120" cy="502920"/>
          </a:xfrm>
          <a:prstGeom prst="roundRect">
            <a:avLst>
              <a:gd name="adj" fmla="val 10909"/>
            </a:avLst>
          </a:prstGeom>
          <a:solidFill>
            <a:srgbClr val="EF4444"/>
          </a:solidFill>
          <a:ln/>
        </p:spPr>
      </p:sp>
      <p:sp>
        <p:nvSpPr>
          <p:cNvPr id="5" name="Text 3"/>
          <p:cNvSpPr/>
          <p:nvPr/>
        </p:nvSpPr>
        <p:spPr>
          <a:xfrm>
            <a:off x="457200" y="868680"/>
            <a:ext cx="112471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 LAPTOP GATE — Devices ON from here</a:t>
            </a:r>
            <a:endParaRPr lang="en-US" sz="1800" dirty="0"/>
          </a:p>
        </p:txBody>
      </p:sp>
      <p:sp>
        <p:nvSpPr>
          <p:cNvPr id="6" name="Text 4"/>
          <p:cNvSpPr/>
          <p:nvPr/>
        </p:nvSpPr>
        <p:spPr>
          <a:xfrm>
            <a:off x="457200" y="1600200"/>
            <a:ext cx="11247120" cy="548640"/>
          </a:xfrm>
          <a:prstGeom prst="rect">
            <a:avLst/>
          </a:prstGeom>
          <a:noFill/>
          <a:ln/>
        </p:spPr>
        <p:txBody>
          <a:bodyPr wrap="square" lIns="0" tIns="0" rIns="0" bIns="0" rtlCol="0" anchor="ctr"/>
          <a:lstStyle/>
          <a:p>
            <a:pPr indent="0" marL="0">
              <a:buNone/>
            </a:pPr>
            <a:r>
              <a:rPr lang="en-US" sz="2600" b="1" dirty="0">
                <a:solidFill>
                  <a:srgbClr val="0D1117"/>
                </a:solidFill>
                <a:latin typeface="Georgia" pitchFamily="34" charset="0"/>
                <a:ea typeface="Georgia" pitchFamily="34" charset="-122"/>
                <a:cs typeface="Georgia" pitchFamily="34" charset="-120"/>
              </a:rPr>
              <a:t>Building Your Project Plan</a:t>
            </a:r>
            <a:endParaRPr lang="en-US" sz="2600" dirty="0"/>
          </a:p>
        </p:txBody>
      </p:sp>
      <p:sp>
        <p:nvSpPr>
          <p:cNvPr id="7" name="Text 5"/>
          <p:cNvSpPr/>
          <p:nvPr/>
        </p:nvSpPr>
        <p:spPr>
          <a:xfrm>
            <a:off x="457200" y="2194560"/>
            <a:ext cx="11247120" cy="54864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Open the workbook. Bring your Lesson 5 specification (functional requirements, constraints, scope) and your paper notes from today's explicit teaching.</a:t>
            </a:r>
            <a:endParaRPr lang="en-US" sz="1600" dirty="0"/>
          </a:p>
        </p:txBody>
      </p:sp>
      <p:sp>
        <p:nvSpPr>
          <p:cNvPr id="8" name="Shape 6"/>
          <p:cNvSpPr/>
          <p:nvPr/>
        </p:nvSpPr>
        <p:spPr>
          <a:xfrm>
            <a:off x="457200" y="2971800"/>
            <a:ext cx="2697480" cy="2651760"/>
          </a:xfrm>
          <a:prstGeom prst="roundRect">
            <a:avLst>
              <a:gd name="adj" fmla="val 2759"/>
            </a:avLst>
          </a:prstGeom>
          <a:solidFill>
            <a:srgbClr val="F6F8FA"/>
          </a:solidFill>
          <a:ln w="12700">
            <a:solidFill>
              <a:srgbClr val="D0D7DE"/>
            </a:solidFill>
            <a:prstDash val="solid"/>
          </a:ln>
        </p:spPr>
      </p:sp>
      <p:sp>
        <p:nvSpPr>
          <p:cNvPr id="9" name="Shape 7"/>
          <p:cNvSpPr/>
          <p:nvPr/>
        </p:nvSpPr>
        <p:spPr>
          <a:xfrm>
            <a:off x="685800" y="3200400"/>
            <a:ext cx="457200" cy="457200"/>
          </a:xfrm>
          <a:prstGeom prst="ellipse">
            <a:avLst/>
          </a:prstGeom>
          <a:solidFill>
            <a:srgbClr val="4361EE"/>
          </a:solidFill>
          <a:ln/>
        </p:spPr>
      </p:sp>
      <p:sp>
        <p:nvSpPr>
          <p:cNvPr id="10" name="Text 8"/>
          <p:cNvSpPr/>
          <p:nvPr/>
        </p:nvSpPr>
        <p:spPr>
          <a:xfrm>
            <a:off x="685800" y="3200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1" name="Text 9"/>
          <p:cNvSpPr/>
          <p:nvPr/>
        </p:nvSpPr>
        <p:spPr>
          <a:xfrm>
            <a:off x="685800" y="3794760"/>
            <a:ext cx="2240280" cy="640080"/>
          </a:xfrm>
          <a:prstGeom prst="rect">
            <a:avLst/>
          </a:prstGeom>
          <a:noFill/>
          <a:ln/>
        </p:spPr>
        <p:txBody>
          <a:bodyPr wrap="square" lIns="0" tIns="0" rIns="0" bIns="0" rtlCol="0" anchor="ctr"/>
          <a:lstStyle/>
          <a:p>
            <a:pPr indent="0" marL="0">
              <a:buNone/>
            </a:pPr>
            <a:r>
              <a:rPr lang="en-US" sz="1500" b="1" dirty="0">
                <a:solidFill>
                  <a:srgbClr val="0D1117"/>
                </a:solidFill>
                <a:latin typeface="Calibri" pitchFamily="34" charset="0"/>
                <a:ea typeface="Calibri" pitchFamily="34" charset="-122"/>
                <a:cs typeface="Calibri" pitchFamily="34" charset="-120"/>
              </a:rPr>
              <a:t>Problem Statement</a:t>
            </a:r>
            <a:endParaRPr lang="en-US" sz="1500" dirty="0"/>
          </a:p>
        </p:txBody>
      </p:sp>
      <p:sp>
        <p:nvSpPr>
          <p:cNvPr id="12" name="Text 10"/>
          <p:cNvSpPr/>
          <p:nvPr/>
        </p:nvSpPr>
        <p:spPr>
          <a:xfrm>
            <a:off x="685800" y="4434840"/>
            <a:ext cx="2240280" cy="105156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Finalise it, checked against the criteria.</a:t>
            </a:r>
            <a:endParaRPr lang="en-US" sz="1300" dirty="0"/>
          </a:p>
        </p:txBody>
      </p:sp>
      <p:sp>
        <p:nvSpPr>
          <p:cNvPr id="13" name="Shape 11"/>
          <p:cNvSpPr/>
          <p:nvPr/>
        </p:nvSpPr>
        <p:spPr>
          <a:xfrm>
            <a:off x="3337560" y="2971800"/>
            <a:ext cx="2697480" cy="2651760"/>
          </a:xfrm>
          <a:prstGeom prst="roundRect">
            <a:avLst>
              <a:gd name="adj" fmla="val 2759"/>
            </a:avLst>
          </a:prstGeom>
          <a:solidFill>
            <a:srgbClr val="F6F8FA"/>
          </a:solidFill>
          <a:ln w="12700">
            <a:solidFill>
              <a:srgbClr val="D0D7DE"/>
            </a:solidFill>
            <a:prstDash val="solid"/>
          </a:ln>
        </p:spPr>
      </p:sp>
      <p:sp>
        <p:nvSpPr>
          <p:cNvPr id="14" name="Shape 12"/>
          <p:cNvSpPr/>
          <p:nvPr/>
        </p:nvSpPr>
        <p:spPr>
          <a:xfrm>
            <a:off x="3566160" y="3200400"/>
            <a:ext cx="457200" cy="457200"/>
          </a:xfrm>
          <a:prstGeom prst="ellipse">
            <a:avLst/>
          </a:prstGeom>
          <a:solidFill>
            <a:srgbClr val="4361EE"/>
          </a:solidFill>
          <a:ln/>
        </p:spPr>
      </p:sp>
      <p:sp>
        <p:nvSpPr>
          <p:cNvPr id="15" name="Text 13"/>
          <p:cNvSpPr/>
          <p:nvPr/>
        </p:nvSpPr>
        <p:spPr>
          <a:xfrm>
            <a:off x="3566160" y="3200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6" name="Text 14"/>
          <p:cNvSpPr/>
          <p:nvPr/>
        </p:nvSpPr>
        <p:spPr>
          <a:xfrm>
            <a:off x="3566160" y="3794760"/>
            <a:ext cx="2240280" cy="640080"/>
          </a:xfrm>
          <a:prstGeom prst="rect">
            <a:avLst/>
          </a:prstGeom>
          <a:noFill/>
          <a:ln/>
        </p:spPr>
        <p:txBody>
          <a:bodyPr wrap="square" lIns="0" tIns="0" rIns="0" bIns="0" rtlCol="0" anchor="ctr"/>
          <a:lstStyle/>
          <a:p>
            <a:pPr indent="0" marL="0">
              <a:buNone/>
            </a:pPr>
            <a:r>
              <a:rPr lang="en-US" sz="1500" b="1" dirty="0">
                <a:solidFill>
                  <a:srgbClr val="0D1117"/>
                </a:solidFill>
                <a:latin typeface="Calibri" pitchFamily="34" charset="0"/>
                <a:ea typeface="Calibri" pitchFamily="34" charset="-122"/>
                <a:cs typeface="Calibri" pitchFamily="34" charset="-120"/>
              </a:rPr>
              <a:t>Task List</a:t>
            </a:r>
            <a:endParaRPr lang="en-US" sz="1500" dirty="0"/>
          </a:p>
        </p:txBody>
      </p:sp>
      <p:sp>
        <p:nvSpPr>
          <p:cNvPr id="17" name="Text 15"/>
          <p:cNvSpPr/>
          <p:nvPr/>
        </p:nvSpPr>
        <p:spPr>
          <a:xfrm>
            <a:off x="3566160" y="4434840"/>
            <a:ext cx="2240280" cy="105156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Break your spec into 6+ schedulable tasks.</a:t>
            </a:r>
            <a:endParaRPr lang="en-US" sz="1300" dirty="0"/>
          </a:p>
        </p:txBody>
      </p:sp>
      <p:sp>
        <p:nvSpPr>
          <p:cNvPr id="18" name="Shape 16"/>
          <p:cNvSpPr/>
          <p:nvPr/>
        </p:nvSpPr>
        <p:spPr>
          <a:xfrm>
            <a:off x="6217920" y="2971800"/>
            <a:ext cx="2697480" cy="2651760"/>
          </a:xfrm>
          <a:prstGeom prst="roundRect">
            <a:avLst>
              <a:gd name="adj" fmla="val 2759"/>
            </a:avLst>
          </a:prstGeom>
          <a:solidFill>
            <a:srgbClr val="F6F8FA"/>
          </a:solidFill>
          <a:ln w="12700">
            <a:solidFill>
              <a:srgbClr val="D0D7DE"/>
            </a:solidFill>
            <a:prstDash val="solid"/>
          </a:ln>
        </p:spPr>
      </p:sp>
      <p:sp>
        <p:nvSpPr>
          <p:cNvPr id="19" name="Shape 17"/>
          <p:cNvSpPr/>
          <p:nvPr/>
        </p:nvSpPr>
        <p:spPr>
          <a:xfrm>
            <a:off x="6446520" y="3200400"/>
            <a:ext cx="457200" cy="457200"/>
          </a:xfrm>
          <a:prstGeom prst="ellipse">
            <a:avLst/>
          </a:prstGeom>
          <a:solidFill>
            <a:srgbClr val="4361EE"/>
          </a:solidFill>
          <a:ln/>
        </p:spPr>
      </p:sp>
      <p:sp>
        <p:nvSpPr>
          <p:cNvPr id="20" name="Text 18"/>
          <p:cNvSpPr/>
          <p:nvPr/>
        </p:nvSpPr>
        <p:spPr>
          <a:xfrm>
            <a:off x="6446520" y="3200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1" name="Text 19"/>
          <p:cNvSpPr/>
          <p:nvPr/>
        </p:nvSpPr>
        <p:spPr>
          <a:xfrm>
            <a:off x="6446520" y="3794760"/>
            <a:ext cx="2240280" cy="640080"/>
          </a:xfrm>
          <a:prstGeom prst="rect">
            <a:avLst/>
          </a:prstGeom>
          <a:noFill/>
          <a:ln/>
        </p:spPr>
        <p:txBody>
          <a:bodyPr wrap="square" lIns="0" tIns="0" rIns="0" bIns="0" rtlCol="0" anchor="ctr"/>
          <a:lstStyle/>
          <a:p>
            <a:pPr indent="0" marL="0">
              <a:buNone/>
            </a:pPr>
            <a:r>
              <a:rPr lang="en-US" sz="1500" b="1" dirty="0">
                <a:solidFill>
                  <a:srgbClr val="0D1117"/>
                </a:solidFill>
                <a:latin typeface="Calibri" pitchFamily="34" charset="0"/>
                <a:ea typeface="Calibri" pitchFamily="34" charset="-122"/>
                <a:cs typeface="Calibri" pitchFamily="34" charset="-120"/>
              </a:rPr>
              <a:t>Gantt Chart</a:t>
            </a:r>
            <a:endParaRPr lang="en-US" sz="1500" dirty="0"/>
          </a:p>
        </p:txBody>
      </p:sp>
      <p:sp>
        <p:nvSpPr>
          <p:cNvPr id="22" name="Text 20"/>
          <p:cNvSpPr/>
          <p:nvPr/>
        </p:nvSpPr>
        <p:spPr>
          <a:xfrm>
            <a:off x="6446520" y="4434840"/>
            <a:ext cx="2240280" cy="105156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Owner, weeks, dependencies, milestones.</a:t>
            </a:r>
            <a:endParaRPr lang="en-US" sz="1300" dirty="0"/>
          </a:p>
        </p:txBody>
      </p:sp>
      <p:sp>
        <p:nvSpPr>
          <p:cNvPr id="23" name="Shape 21"/>
          <p:cNvSpPr/>
          <p:nvPr/>
        </p:nvSpPr>
        <p:spPr>
          <a:xfrm>
            <a:off x="9098280" y="2971800"/>
            <a:ext cx="2697480" cy="2651760"/>
          </a:xfrm>
          <a:prstGeom prst="roundRect">
            <a:avLst>
              <a:gd name="adj" fmla="val 2759"/>
            </a:avLst>
          </a:prstGeom>
          <a:solidFill>
            <a:srgbClr val="F6F8FA"/>
          </a:solidFill>
          <a:ln w="12700">
            <a:solidFill>
              <a:srgbClr val="D0D7DE"/>
            </a:solidFill>
            <a:prstDash val="solid"/>
          </a:ln>
        </p:spPr>
      </p:sp>
      <p:sp>
        <p:nvSpPr>
          <p:cNvPr id="24" name="Shape 22"/>
          <p:cNvSpPr/>
          <p:nvPr/>
        </p:nvSpPr>
        <p:spPr>
          <a:xfrm>
            <a:off x="9326880" y="3200400"/>
            <a:ext cx="457200" cy="457200"/>
          </a:xfrm>
          <a:prstGeom prst="ellipse">
            <a:avLst/>
          </a:prstGeom>
          <a:solidFill>
            <a:srgbClr val="4361EE"/>
          </a:solidFill>
          <a:ln/>
        </p:spPr>
      </p:sp>
      <p:sp>
        <p:nvSpPr>
          <p:cNvPr id="25" name="Text 23"/>
          <p:cNvSpPr/>
          <p:nvPr/>
        </p:nvSpPr>
        <p:spPr>
          <a:xfrm>
            <a:off x="9326880" y="3200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6" name="Text 24"/>
          <p:cNvSpPr/>
          <p:nvPr/>
        </p:nvSpPr>
        <p:spPr>
          <a:xfrm>
            <a:off x="9326880" y="3794760"/>
            <a:ext cx="2240280" cy="640080"/>
          </a:xfrm>
          <a:prstGeom prst="rect">
            <a:avLst/>
          </a:prstGeom>
          <a:noFill/>
          <a:ln/>
        </p:spPr>
        <p:txBody>
          <a:bodyPr wrap="square" lIns="0" tIns="0" rIns="0" bIns="0" rtlCol="0" anchor="ctr"/>
          <a:lstStyle/>
          <a:p>
            <a:pPr indent="0" marL="0">
              <a:buNone/>
            </a:pPr>
            <a:r>
              <a:rPr lang="en-US" sz="1500" b="1" dirty="0">
                <a:solidFill>
                  <a:srgbClr val="0D1117"/>
                </a:solidFill>
                <a:latin typeface="Calibri" pitchFamily="34" charset="0"/>
                <a:ea typeface="Calibri" pitchFamily="34" charset="-122"/>
                <a:cs typeface="Calibri" pitchFamily="34" charset="-120"/>
              </a:rPr>
              <a:t>Critical Path</a:t>
            </a:r>
            <a:endParaRPr lang="en-US" sz="1500" dirty="0"/>
          </a:p>
        </p:txBody>
      </p:sp>
      <p:sp>
        <p:nvSpPr>
          <p:cNvPr id="27" name="Text 25"/>
          <p:cNvSpPr/>
          <p:nvPr/>
        </p:nvSpPr>
        <p:spPr>
          <a:xfrm>
            <a:off x="9326880" y="4434840"/>
            <a:ext cx="2240280" cy="1051560"/>
          </a:xfrm>
          <a:prstGeom prst="rect">
            <a:avLst/>
          </a:prstGeom>
          <a:noFill/>
          <a:ln/>
        </p:spPr>
        <p:txBody>
          <a:bodyPr wrap="square" lIns="0" tIns="0" rIns="0" bIns="0" rtlCol="0" anchor="ctr"/>
          <a:lstStyle/>
          <a:p>
            <a:pPr indent="0" marL="0">
              <a:buNone/>
            </a:pPr>
            <a:r>
              <a:rPr lang="en-US" sz="1300" dirty="0">
                <a:solidFill>
                  <a:srgbClr val="57606A"/>
                </a:solidFill>
                <a:latin typeface="Calibri" pitchFamily="34" charset="0"/>
                <a:ea typeface="Calibri" pitchFamily="34" charset="-122"/>
                <a:cs typeface="Calibri" pitchFamily="34" charset="-120"/>
              </a:rPr>
              <a:t>Trace it and plan a contingency.</a:t>
            </a:r>
            <a:endParaRPr lang="en-US" sz="1300" dirty="0"/>
          </a:p>
        </p:txBody>
      </p:sp>
      <p:sp>
        <p:nvSpPr>
          <p:cNvPr id="28" name="Text 26"/>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9" name="Text 27"/>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8B5CF6"/>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Finalise Your Problem Statement</a:t>
            </a:r>
            <a:endParaRPr lang="en-US" sz="2400" dirty="0"/>
          </a:p>
        </p:txBody>
      </p:sp>
      <p:sp>
        <p:nvSpPr>
          <p:cNvPr id="5" name="Text 3"/>
          <p:cNvSpPr/>
          <p:nvPr/>
        </p:nvSpPr>
        <p:spPr>
          <a:xfrm>
            <a:off x="457200" y="1417320"/>
            <a:ext cx="11247120" cy="365760"/>
          </a:xfrm>
          <a:prstGeom prst="rect">
            <a:avLst/>
          </a:prstGeom>
          <a:noFill/>
          <a:ln/>
        </p:spPr>
        <p:txBody>
          <a:bodyPr wrap="square" lIns="0" tIns="0" rIns="0" bIns="0" rtlCol="0" anchor="ctr"/>
          <a:lstStyle/>
          <a:p>
            <a:pPr indent="0" marL="0">
              <a:buNone/>
            </a:pPr>
            <a:r>
              <a:rPr lang="en-US" sz="1500" b="1" dirty="0">
                <a:solidFill>
                  <a:srgbClr val="4361EE"/>
                </a:solidFill>
                <a:latin typeface="Calibri" pitchFamily="34" charset="0"/>
                <a:ea typeface="Calibri" pitchFamily="34" charset="-122"/>
                <a:cs typeface="Calibri" pitchFamily="34" charset="-120"/>
              </a:rPr>
              <a:t>📋 Open your workbook — Section 1</a:t>
            </a:r>
            <a:endParaRPr lang="en-US" sz="1500" dirty="0"/>
          </a:p>
        </p:txBody>
      </p:sp>
      <p:sp>
        <p:nvSpPr>
          <p:cNvPr id="6" name="Shape 4"/>
          <p:cNvSpPr/>
          <p:nvPr/>
        </p:nvSpPr>
        <p:spPr>
          <a:xfrm>
            <a:off x="457200" y="1965960"/>
            <a:ext cx="2286000" cy="310896"/>
          </a:xfrm>
          <a:prstGeom prst="roundRect">
            <a:avLst>
              <a:gd name="adj" fmla="val 14706"/>
            </a:avLst>
          </a:prstGeom>
          <a:solidFill>
            <a:srgbClr val="FFFFFF"/>
          </a:solidFill>
          <a:ln w="12700">
            <a:solidFill>
              <a:srgbClr val="10B981"/>
            </a:solidFill>
            <a:prstDash val="solid"/>
          </a:ln>
        </p:spPr>
      </p:sp>
      <p:sp>
        <p:nvSpPr>
          <p:cNvPr id="7" name="Text 5"/>
          <p:cNvSpPr/>
          <p:nvPr/>
        </p:nvSpPr>
        <p:spPr>
          <a:xfrm>
            <a:off x="457200" y="1965960"/>
            <a:ext cx="2286000" cy="31089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 Foundation</a:t>
            </a:r>
            <a:endParaRPr lang="en-US" sz="1100" dirty="0"/>
          </a:p>
        </p:txBody>
      </p:sp>
      <p:sp>
        <p:nvSpPr>
          <p:cNvPr id="8" name="Text 6"/>
          <p:cNvSpPr/>
          <p:nvPr/>
        </p:nvSpPr>
        <p:spPr>
          <a:xfrm>
            <a:off x="2880360" y="1920240"/>
            <a:ext cx="882396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Write your finalised problem statement, incorporating any peer feedback from Lesson 5.</a:t>
            </a:r>
            <a:endParaRPr lang="en-US" sz="1500" dirty="0"/>
          </a:p>
        </p:txBody>
      </p:sp>
      <p:sp>
        <p:nvSpPr>
          <p:cNvPr id="9" name="Shape 7"/>
          <p:cNvSpPr/>
          <p:nvPr/>
        </p:nvSpPr>
        <p:spPr>
          <a:xfrm>
            <a:off x="457200" y="2697480"/>
            <a:ext cx="2286000" cy="310896"/>
          </a:xfrm>
          <a:prstGeom prst="roundRect">
            <a:avLst>
              <a:gd name="adj" fmla="val 14706"/>
            </a:avLst>
          </a:prstGeom>
          <a:solidFill>
            <a:srgbClr val="FFFFFF"/>
          </a:solidFill>
          <a:ln w="12700">
            <a:solidFill>
              <a:srgbClr val="F59E0B"/>
            </a:solidFill>
            <a:prstDash val="solid"/>
          </a:ln>
        </p:spPr>
      </p:sp>
      <p:sp>
        <p:nvSpPr>
          <p:cNvPr id="10" name="Text 8"/>
          <p:cNvSpPr/>
          <p:nvPr/>
        </p:nvSpPr>
        <p:spPr>
          <a:xfrm>
            <a:off x="457200" y="2697480"/>
            <a:ext cx="2286000" cy="310896"/>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 Developing</a:t>
            </a:r>
            <a:endParaRPr lang="en-US" sz="1100" dirty="0"/>
          </a:p>
        </p:txBody>
      </p:sp>
      <p:sp>
        <p:nvSpPr>
          <p:cNvPr id="11" name="Text 9"/>
          <p:cNvSpPr/>
          <p:nvPr/>
        </p:nvSpPr>
        <p:spPr>
          <a:xfrm>
            <a:off x="2880360" y="2651760"/>
            <a:ext cx="882396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Check it against three criteria: names a specific user group, states the problem (not the solution), and is backed by evidence.</a:t>
            </a:r>
            <a:endParaRPr lang="en-US" sz="1500" dirty="0"/>
          </a:p>
        </p:txBody>
      </p:sp>
      <p:sp>
        <p:nvSpPr>
          <p:cNvPr id="12" name="Shape 10"/>
          <p:cNvSpPr/>
          <p:nvPr/>
        </p:nvSpPr>
        <p:spPr>
          <a:xfrm>
            <a:off x="457200" y="3566160"/>
            <a:ext cx="11247120" cy="2286000"/>
          </a:xfrm>
          <a:prstGeom prst="roundRect">
            <a:avLst>
              <a:gd name="adj" fmla="val 3200"/>
            </a:avLst>
          </a:prstGeom>
          <a:solidFill>
            <a:srgbClr val="EEF1FD"/>
          </a:solidFill>
          <a:ln/>
        </p:spPr>
      </p:sp>
      <p:sp>
        <p:nvSpPr>
          <p:cNvPr id="13" name="Text 11"/>
          <p:cNvSpPr/>
          <p:nvPr/>
        </p:nvSpPr>
        <p:spPr>
          <a:xfrm>
            <a:off x="731520" y="3703320"/>
            <a:ext cx="10698480" cy="320040"/>
          </a:xfrm>
          <a:prstGeom prst="rect">
            <a:avLst/>
          </a:prstGeom>
          <a:noFill/>
          <a:ln/>
        </p:spPr>
        <p:txBody>
          <a:bodyPr wrap="square" lIns="0" tIns="0" rIns="0" bIns="0" rtlCol="0" anchor="ctr"/>
          <a:lstStyle/>
          <a:p>
            <a:pPr indent="0" marL="0">
              <a:buNone/>
            </a:pPr>
            <a:r>
              <a:rPr lang="en-US" sz="1200" b="1" spc="100" kern="0" dirty="0">
                <a:solidFill>
                  <a:srgbClr val="4361EE"/>
                </a:solidFill>
                <a:latin typeface="DM Mono" pitchFamily="34" charset="0"/>
                <a:ea typeface="DM Mono" pitchFamily="34" charset="-122"/>
                <a:cs typeface="DM Mono" pitchFamily="34" charset="-120"/>
              </a:rPr>
              <a:t>Common failure mode</a:t>
            </a:r>
            <a:endParaRPr lang="en-US" sz="1200" dirty="0"/>
          </a:p>
        </p:txBody>
      </p:sp>
      <p:sp>
        <p:nvSpPr>
          <p:cNvPr id="14" name="Text 12"/>
          <p:cNvSpPr/>
          <p:nvPr/>
        </p:nvSpPr>
        <p:spPr>
          <a:xfrm>
            <a:off x="731520" y="4023360"/>
            <a:ext cx="10698480" cy="173736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A problem statement that quietly describes the solution ("students need a reminder app") instead of the problem ("students forget equipment because they pack the night before, not the morning of") makes it harder to notice if the solution drifts away from the actual need later.</a:t>
            </a:r>
            <a:endParaRPr lang="en-US" sz="1500" dirty="0"/>
          </a:p>
        </p:txBody>
      </p:sp>
      <p:sp>
        <p:nvSpPr>
          <p:cNvPr id="15" name="Text 13"/>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6" name="Text 14"/>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8B5CF6"/>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Break Your Specification Into Tasks</a:t>
            </a:r>
            <a:endParaRPr lang="en-US" sz="2400" dirty="0"/>
          </a:p>
        </p:txBody>
      </p:sp>
      <p:sp>
        <p:nvSpPr>
          <p:cNvPr id="5" name="Text 3"/>
          <p:cNvSpPr/>
          <p:nvPr/>
        </p:nvSpPr>
        <p:spPr>
          <a:xfrm>
            <a:off x="457200" y="1417320"/>
            <a:ext cx="11247120" cy="365760"/>
          </a:xfrm>
          <a:prstGeom prst="rect">
            <a:avLst/>
          </a:prstGeom>
          <a:noFill/>
          <a:ln/>
        </p:spPr>
        <p:txBody>
          <a:bodyPr wrap="square" lIns="0" tIns="0" rIns="0" bIns="0" rtlCol="0" anchor="ctr"/>
          <a:lstStyle/>
          <a:p>
            <a:pPr indent="0" marL="0">
              <a:buNone/>
            </a:pPr>
            <a:r>
              <a:rPr lang="en-US" sz="1500" b="1" dirty="0">
                <a:solidFill>
                  <a:srgbClr val="4361EE"/>
                </a:solidFill>
                <a:latin typeface="Calibri" pitchFamily="34" charset="0"/>
                <a:ea typeface="Calibri" pitchFamily="34" charset="-122"/>
                <a:cs typeface="Calibri" pitchFamily="34" charset="-120"/>
              </a:rPr>
              <a:t>📋 Open your workbook — Section 2</a:t>
            </a:r>
            <a:endParaRPr lang="en-US" sz="1500" dirty="0"/>
          </a:p>
        </p:txBody>
      </p:sp>
      <p:sp>
        <p:nvSpPr>
          <p:cNvPr id="6" name="Shape 4"/>
          <p:cNvSpPr/>
          <p:nvPr/>
        </p:nvSpPr>
        <p:spPr>
          <a:xfrm>
            <a:off x="457200" y="1965960"/>
            <a:ext cx="2651760" cy="310896"/>
          </a:xfrm>
          <a:prstGeom prst="roundRect">
            <a:avLst>
              <a:gd name="adj" fmla="val 14706"/>
            </a:avLst>
          </a:prstGeom>
          <a:solidFill>
            <a:srgbClr val="FFFFFF"/>
          </a:solidFill>
          <a:ln w="12700">
            <a:solidFill>
              <a:srgbClr val="F59E0B"/>
            </a:solidFill>
            <a:prstDash val="solid"/>
          </a:ln>
        </p:spPr>
      </p:sp>
      <p:sp>
        <p:nvSpPr>
          <p:cNvPr id="7" name="Text 5"/>
          <p:cNvSpPr/>
          <p:nvPr/>
        </p:nvSpPr>
        <p:spPr>
          <a:xfrm>
            <a:off x="457200" y="1965960"/>
            <a:ext cx="2651760" cy="310896"/>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 Developing</a:t>
            </a:r>
            <a:endParaRPr lang="en-US" sz="1100" dirty="0"/>
          </a:p>
        </p:txBody>
      </p:sp>
      <p:sp>
        <p:nvSpPr>
          <p:cNvPr id="8" name="Text 6"/>
          <p:cNvSpPr/>
          <p:nvPr/>
        </p:nvSpPr>
        <p:spPr>
          <a:xfrm>
            <a:off x="3246120" y="1920240"/>
            <a:ext cx="845820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List at least six tasks — include design, build, AND testing work, not just features.</a:t>
            </a:r>
            <a:endParaRPr lang="en-US" sz="1500" dirty="0"/>
          </a:p>
        </p:txBody>
      </p:sp>
      <p:sp>
        <p:nvSpPr>
          <p:cNvPr id="9" name="Shape 7"/>
          <p:cNvSpPr/>
          <p:nvPr/>
        </p:nvSpPr>
        <p:spPr>
          <a:xfrm>
            <a:off x="457200" y="2743200"/>
            <a:ext cx="11247120" cy="1280160"/>
          </a:xfrm>
          <a:prstGeom prst="roundRect">
            <a:avLst>
              <a:gd name="adj" fmla="val 5714"/>
            </a:avLst>
          </a:prstGeom>
          <a:solidFill>
            <a:srgbClr val="F6F8FA"/>
          </a:solidFill>
          <a:ln w="12700">
            <a:solidFill>
              <a:srgbClr val="D0D7DE"/>
            </a:solidFill>
            <a:prstDash val="solid"/>
          </a:ln>
        </p:spPr>
      </p:sp>
      <p:sp>
        <p:nvSpPr>
          <p:cNvPr id="10" name="Text 8"/>
          <p:cNvSpPr/>
          <p:nvPr/>
        </p:nvSpPr>
        <p:spPr>
          <a:xfrm>
            <a:off x="731520" y="2880360"/>
            <a:ext cx="10698480" cy="274320"/>
          </a:xfrm>
          <a:prstGeom prst="rect">
            <a:avLst/>
          </a:prstGeom>
          <a:noFill/>
          <a:ln/>
        </p:spPr>
        <p:txBody>
          <a:bodyPr wrap="square" lIns="0" tIns="0" rIns="0" bIns="0" rtlCol="0" anchor="ctr"/>
          <a:lstStyle/>
          <a:p>
            <a:pPr indent="0" marL="0">
              <a:buNone/>
            </a:pPr>
            <a:r>
              <a:rPr lang="en-US" sz="1100" b="1" spc="100" kern="0" dirty="0">
                <a:solidFill>
                  <a:srgbClr val="57606A"/>
                </a:solidFill>
                <a:latin typeface="DM Mono" pitchFamily="34" charset="0"/>
                <a:ea typeface="DM Mono" pitchFamily="34" charset="-122"/>
                <a:cs typeface="DM Mono" pitchFamily="34" charset="-120"/>
              </a:rPr>
              <a:t>TEMPLATE</a:t>
            </a:r>
            <a:endParaRPr lang="en-US" sz="1100" dirty="0"/>
          </a:p>
        </p:txBody>
      </p:sp>
      <p:sp>
        <p:nvSpPr>
          <p:cNvPr id="11" name="Text 9"/>
          <p:cNvSpPr/>
          <p:nvPr/>
        </p:nvSpPr>
        <p:spPr>
          <a:xfrm>
            <a:off x="731520" y="3200400"/>
            <a:ext cx="10698480" cy="73152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A task turning [functional requirement] into buildable work: name the feature, then the specific action needed to build, connect, or test it.</a:t>
            </a:r>
            <a:endParaRPr lang="en-US" sz="1500" dirty="0"/>
          </a:p>
        </p:txBody>
      </p:sp>
      <p:sp>
        <p:nvSpPr>
          <p:cNvPr id="12" name="Shape 10"/>
          <p:cNvSpPr/>
          <p:nvPr/>
        </p:nvSpPr>
        <p:spPr>
          <a:xfrm>
            <a:off x="457200" y="4206240"/>
            <a:ext cx="11247120" cy="1645920"/>
          </a:xfrm>
          <a:prstGeom prst="roundRect">
            <a:avLst>
              <a:gd name="adj" fmla="val 4444"/>
            </a:avLst>
          </a:prstGeom>
          <a:solidFill>
            <a:srgbClr val="FEF6E7"/>
          </a:solidFill>
          <a:ln/>
        </p:spPr>
      </p:sp>
      <p:sp>
        <p:nvSpPr>
          <p:cNvPr id="13" name="Text 11"/>
          <p:cNvSpPr/>
          <p:nvPr/>
        </p:nvSpPr>
        <p:spPr>
          <a:xfrm>
            <a:off x="731520" y="4343400"/>
            <a:ext cx="10698480" cy="274320"/>
          </a:xfrm>
          <a:prstGeom prst="rect">
            <a:avLst/>
          </a:prstGeom>
          <a:noFill/>
          <a:ln/>
        </p:spPr>
        <p:txBody>
          <a:bodyPr wrap="square" lIns="0" tIns="0" rIns="0" bIns="0" rtlCol="0" anchor="ctr"/>
          <a:lstStyle/>
          <a:p>
            <a:pPr indent="0" marL="0">
              <a:buNone/>
            </a:pPr>
            <a:r>
              <a:rPr lang="en-US" sz="1200" b="1" spc="50" kern="0" dirty="0">
                <a:solidFill>
                  <a:srgbClr val="F59E0B"/>
                </a:solidFill>
                <a:latin typeface="DM Mono" pitchFamily="34" charset="0"/>
                <a:ea typeface="DM Mono" pitchFamily="34" charset="-122"/>
                <a:cs typeface="DM Mono" pitchFamily="34" charset="-120"/>
              </a:rPr>
              <a:t>Watch for this</a:t>
            </a:r>
            <a:endParaRPr lang="en-US" sz="1200" dirty="0"/>
          </a:p>
        </p:txBody>
      </p:sp>
      <p:sp>
        <p:nvSpPr>
          <p:cNvPr id="14" name="Text 12"/>
          <p:cNvSpPr/>
          <p:nvPr/>
        </p:nvSpPr>
        <p:spPr>
          <a:xfrm>
            <a:off x="731520" y="4663440"/>
            <a:ext cx="10698480" cy="109728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Groups often list only "build feature X" tasks and forget design, integration, testing, and submission-prep tasks — these still need to be scheduled and owned, even though they're not functional requirements themselves.</a:t>
            </a:r>
            <a:endParaRPr lang="en-US" sz="1500" dirty="0"/>
          </a:p>
        </p:txBody>
      </p:sp>
      <p:sp>
        <p:nvSpPr>
          <p:cNvPr id="15" name="Text 13"/>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6" name="Text 14"/>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8B5CF6"/>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Build Your Gantt Chart</a:t>
            </a:r>
            <a:endParaRPr lang="en-US" sz="2400" dirty="0"/>
          </a:p>
        </p:txBody>
      </p:sp>
      <p:sp>
        <p:nvSpPr>
          <p:cNvPr id="5" name="Text 3"/>
          <p:cNvSpPr/>
          <p:nvPr/>
        </p:nvSpPr>
        <p:spPr>
          <a:xfrm>
            <a:off x="457200" y="1417320"/>
            <a:ext cx="11247120" cy="365760"/>
          </a:xfrm>
          <a:prstGeom prst="rect">
            <a:avLst/>
          </a:prstGeom>
          <a:noFill/>
          <a:ln/>
        </p:spPr>
        <p:txBody>
          <a:bodyPr wrap="square" lIns="0" tIns="0" rIns="0" bIns="0" rtlCol="0" anchor="ctr"/>
          <a:lstStyle/>
          <a:p>
            <a:pPr indent="0" marL="0">
              <a:buNone/>
            </a:pPr>
            <a:r>
              <a:rPr lang="en-US" sz="1500" b="1" dirty="0">
                <a:solidFill>
                  <a:srgbClr val="4361EE"/>
                </a:solidFill>
                <a:latin typeface="Calibri" pitchFamily="34" charset="0"/>
                <a:ea typeface="Calibri" pitchFamily="34" charset="-122"/>
                <a:cs typeface="Calibri" pitchFamily="34" charset="-120"/>
              </a:rPr>
              <a:t>📋 Open your workbook — Section 3</a:t>
            </a:r>
            <a:endParaRPr lang="en-US" sz="1500" dirty="0"/>
          </a:p>
        </p:txBody>
      </p:sp>
      <p:sp>
        <p:nvSpPr>
          <p:cNvPr id="6" name="Shape 4"/>
          <p:cNvSpPr/>
          <p:nvPr/>
        </p:nvSpPr>
        <p:spPr>
          <a:xfrm>
            <a:off x="457200" y="1965960"/>
            <a:ext cx="2651760" cy="310896"/>
          </a:xfrm>
          <a:prstGeom prst="roundRect">
            <a:avLst>
              <a:gd name="adj" fmla="val 14706"/>
            </a:avLst>
          </a:prstGeom>
          <a:solidFill>
            <a:srgbClr val="FFFFFF"/>
          </a:solidFill>
          <a:ln w="12700">
            <a:solidFill>
              <a:srgbClr val="F59E0B"/>
            </a:solidFill>
            <a:prstDash val="solid"/>
          </a:ln>
        </p:spPr>
      </p:sp>
      <p:sp>
        <p:nvSpPr>
          <p:cNvPr id="7" name="Text 5"/>
          <p:cNvSpPr/>
          <p:nvPr/>
        </p:nvSpPr>
        <p:spPr>
          <a:xfrm>
            <a:off x="457200" y="1965960"/>
            <a:ext cx="2651760" cy="310896"/>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 Developing</a:t>
            </a:r>
            <a:endParaRPr lang="en-US" sz="1100" dirty="0"/>
          </a:p>
        </p:txBody>
      </p:sp>
      <p:sp>
        <p:nvSpPr>
          <p:cNvPr id="8" name="Text 6"/>
          <p:cNvSpPr/>
          <p:nvPr/>
        </p:nvSpPr>
        <p:spPr>
          <a:xfrm>
            <a:off x="3246120" y="1920240"/>
            <a:ext cx="845820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For each task: name it, assign an owner, set a start week (5–17) and duration, note dependencies, flag milestones.</a:t>
            </a:r>
            <a:endParaRPr lang="en-US" sz="1500" dirty="0"/>
          </a:p>
        </p:txBody>
      </p:sp>
      <p:sp>
        <p:nvSpPr>
          <p:cNvPr id="9" name="Shape 7"/>
          <p:cNvSpPr/>
          <p:nvPr/>
        </p:nvSpPr>
        <p:spPr>
          <a:xfrm>
            <a:off x="457200" y="2788920"/>
            <a:ext cx="1764792" cy="502920"/>
          </a:xfrm>
          <a:prstGeom prst="roundRect">
            <a:avLst>
              <a:gd name="adj" fmla="val 9091"/>
            </a:avLst>
          </a:prstGeom>
          <a:solidFill>
            <a:srgbClr val="4361EE"/>
          </a:solidFill>
          <a:ln/>
        </p:spPr>
      </p:sp>
      <p:sp>
        <p:nvSpPr>
          <p:cNvPr id="10" name="Text 8"/>
          <p:cNvSpPr/>
          <p:nvPr/>
        </p:nvSpPr>
        <p:spPr>
          <a:xfrm>
            <a:off x="457200" y="2788920"/>
            <a:ext cx="17647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11" name="Shape 9"/>
          <p:cNvSpPr/>
          <p:nvPr/>
        </p:nvSpPr>
        <p:spPr>
          <a:xfrm>
            <a:off x="2331720" y="2788920"/>
            <a:ext cx="1764792" cy="502920"/>
          </a:xfrm>
          <a:prstGeom prst="roundRect">
            <a:avLst>
              <a:gd name="adj" fmla="val 9091"/>
            </a:avLst>
          </a:prstGeom>
          <a:solidFill>
            <a:srgbClr val="4361EE"/>
          </a:solidFill>
          <a:ln/>
        </p:spPr>
      </p:sp>
      <p:sp>
        <p:nvSpPr>
          <p:cNvPr id="12" name="Text 10"/>
          <p:cNvSpPr/>
          <p:nvPr/>
        </p:nvSpPr>
        <p:spPr>
          <a:xfrm>
            <a:off x="2331720" y="2788920"/>
            <a:ext cx="17647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p>
        </p:txBody>
      </p:sp>
      <p:sp>
        <p:nvSpPr>
          <p:cNvPr id="13" name="Shape 11"/>
          <p:cNvSpPr/>
          <p:nvPr/>
        </p:nvSpPr>
        <p:spPr>
          <a:xfrm>
            <a:off x="4206240" y="2788920"/>
            <a:ext cx="1764792" cy="502920"/>
          </a:xfrm>
          <a:prstGeom prst="roundRect">
            <a:avLst>
              <a:gd name="adj" fmla="val 9091"/>
            </a:avLst>
          </a:prstGeom>
          <a:solidFill>
            <a:srgbClr val="4361EE"/>
          </a:solidFill>
          <a:ln/>
        </p:spPr>
      </p:sp>
      <p:sp>
        <p:nvSpPr>
          <p:cNvPr id="14" name="Text 12"/>
          <p:cNvSpPr/>
          <p:nvPr/>
        </p:nvSpPr>
        <p:spPr>
          <a:xfrm>
            <a:off x="4206240" y="2788920"/>
            <a:ext cx="17647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 week</a:t>
            </a:r>
            <a:endParaRPr lang="en-US" sz="1200" dirty="0"/>
          </a:p>
        </p:txBody>
      </p:sp>
      <p:sp>
        <p:nvSpPr>
          <p:cNvPr id="15" name="Shape 13"/>
          <p:cNvSpPr/>
          <p:nvPr/>
        </p:nvSpPr>
        <p:spPr>
          <a:xfrm>
            <a:off x="6080760" y="2788920"/>
            <a:ext cx="1764792" cy="502920"/>
          </a:xfrm>
          <a:prstGeom prst="roundRect">
            <a:avLst>
              <a:gd name="adj" fmla="val 9091"/>
            </a:avLst>
          </a:prstGeom>
          <a:solidFill>
            <a:srgbClr val="4361EE"/>
          </a:solidFill>
          <a:ln/>
        </p:spPr>
      </p:sp>
      <p:sp>
        <p:nvSpPr>
          <p:cNvPr id="16" name="Text 14"/>
          <p:cNvSpPr/>
          <p:nvPr/>
        </p:nvSpPr>
        <p:spPr>
          <a:xfrm>
            <a:off x="6080760" y="2788920"/>
            <a:ext cx="17647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Duration</a:t>
            </a:r>
            <a:endParaRPr lang="en-US" sz="1200" dirty="0"/>
          </a:p>
        </p:txBody>
      </p:sp>
      <p:sp>
        <p:nvSpPr>
          <p:cNvPr id="17" name="Shape 15"/>
          <p:cNvSpPr/>
          <p:nvPr/>
        </p:nvSpPr>
        <p:spPr>
          <a:xfrm>
            <a:off x="7955280" y="2788920"/>
            <a:ext cx="1764792" cy="502920"/>
          </a:xfrm>
          <a:prstGeom prst="roundRect">
            <a:avLst>
              <a:gd name="adj" fmla="val 9091"/>
            </a:avLst>
          </a:prstGeom>
          <a:solidFill>
            <a:srgbClr val="4361EE"/>
          </a:solidFill>
          <a:ln/>
        </p:spPr>
      </p:sp>
      <p:sp>
        <p:nvSpPr>
          <p:cNvPr id="18" name="Text 16"/>
          <p:cNvSpPr/>
          <p:nvPr/>
        </p:nvSpPr>
        <p:spPr>
          <a:xfrm>
            <a:off x="7955280" y="2788920"/>
            <a:ext cx="17647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Depends on</a:t>
            </a:r>
            <a:endParaRPr lang="en-US" sz="1200" dirty="0"/>
          </a:p>
        </p:txBody>
      </p:sp>
      <p:sp>
        <p:nvSpPr>
          <p:cNvPr id="19" name="Shape 17"/>
          <p:cNvSpPr/>
          <p:nvPr/>
        </p:nvSpPr>
        <p:spPr>
          <a:xfrm>
            <a:off x="9829800" y="2788920"/>
            <a:ext cx="1764792" cy="502920"/>
          </a:xfrm>
          <a:prstGeom prst="roundRect">
            <a:avLst>
              <a:gd name="adj" fmla="val 9091"/>
            </a:avLst>
          </a:prstGeom>
          <a:solidFill>
            <a:srgbClr val="4361EE"/>
          </a:solidFill>
          <a:ln/>
        </p:spPr>
      </p:sp>
      <p:sp>
        <p:nvSpPr>
          <p:cNvPr id="20" name="Text 18"/>
          <p:cNvSpPr/>
          <p:nvPr/>
        </p:nvSpPr>
        <p:spPr>
          <a:xfrm>
            <a:off x="9829800" y="2788920"/>
            <a:ext cx="17647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Milestone?</a:t>
            </a:r>
            <a:endParaRPr lang="en-US" sz="1200" dirty="0"/>
          </a:p>
        </p:txBody>
      </p:sp>
      <p:sp>
        <p:nvSpPr>
          <p:cNvPr id="21" name="Shape 19"/>
          <p:cNvSpPr/>
          <p:nvPr/>
        </p:nvSpPr>
        <p:spPr>
          <a:xfrm>
            <a:off x="457200" y="3520440"/>
            <a:ext cx="11247120" cy="1371600"/>
          </a:xfrm>
          <a:prstGeom prst="roundRect">
            <a:avLst>
              <a:gd name="adj" fmla="val 5333"/>
            </a:avLst>
          </a:prstGeom>
          <a:solidFill>
            <a:srgbClr val="E9FBF3"/>
          </a:solidFill>
          <a:ln w="12700">
            <a:solidFill>
              <a:srgbClr val="10B981"/>
            </a:solidFill>
            <a:prstDash val="solid"/>
          </a:ln>
        </p:spPr>
      </p:sp>
      <p:sp>
        <p:nvSpPr>
          <p:cNvPr id="22" name="Text 20"/>
          <p:cNvSpPr/>
          <p:nvPr/>
        </p:nvSpPr>
        <p:spPr>
          <a:xfrm>
            <a:off x="731520" y="3657600"/>
            <a:ext cx="10698480" cy="274320"/>
          </a:xfrm>
          <a:prstGeom prst="rect">
            <a:avLst/>
          </a:prstGeom>
          <a:noFill/>
          <a:ln/>
        </p:spPr>
        <p:txBody>
          <a:bodyPr wrap="square" lIns="0" tIns="0" rIns="0" bIns="0" rtlCol="0" anchor="ctr"/>
          <a:lstStyle/>
          <a:p>
            <a:pPr indent="0" marL="0">
              <a:buNone/>
            </a:pPr>
            <a:r>
              <a:rPr lang="en-US" sz="1200" b="1" spc="50" kern="0" dirty="0">
                <a:solidFill>
                  <a:srgbClr val="10B981"/>
                </a:solidFill>
                <a:latin typeface="DM Mono" pitchFamily="34" charset="0"/>
                <a:ea typeface="DM Mono" pitchFamily="34" charset="-122"/>
                <a:cs typeface="DM Mono" pitchFamily="34" charset="-120"/>
              </a:rPr>
              <a:t>Watch it build as you type</a:t>
            </a:r>
            <a:endParaRPr lang="en-US" sz="1200" dirty="0"/>
          </a:p>
        </p:txBody>
      </p:sp>
      <p:sp>
        <p:nvSpPr>
          <p:cNvPr id="23" name="Text 21"/>
          <p:cNvSpPr/>
          <p:nvPr/>
        </p:nvSpPr>
        <p:spPr>
          <a:xfrm>
            <a:off x="731520" y="3977640"/>
            <a:ext cx="10698480" cy="82296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The workbook draws a live visual bar chart below your table as you fill it in — a quick way to sanity-check whether your plan actually makes sense before your teacher reviews it.</a:t>
            </a:r>
            <a:endParaRPr lang="en-US" sz="1500" dirty="0"/>
          </a:p>
        </p:txBody>
      </p:sp>
      <p:sp>
        <p:nvSpPr>
          <p:cNvPr id="24" name="Shape 22"/>
          <p:cNvSpPr/>
          <p:nvPr/>
        </p:nvSpPr>
        <p:spPr>
          <a:xfrm>
            <a:off x="457200" y="5074920"/>
            <a:ext cx="11247120" cy="1417320"/>
          </a:xfrm>
          <a:prstGeom prst="roundRect">
            <a:avLst>
              <a:gd name="adj" fmla="val 5161"/>
            </a:avLst>
          </a:prstGeom>
          <a:solidFill>
            <a:srgbClr val="F6F8FA"/>
          </a:solidFill>
          <a:ln w="12700">
            <a:solidFill>
              <a:srgbClr val="D0D7DE"/>
            </a:solidFill>
            <a:prstDash val="solid"/>
          </a:ln>
        </p:spPr>
      </p:sp>
      <p:sp>
        <p:nvSpPr>
          <p:cNvPr id="25" name="Text 23"/>
          <p:cNvSpPr/>
          <p:nvPr/>
        </p:nvSpPr>
        <p:spPr>
          <a:xfrm>
            <a:off x="731520" y="5212080"/>
            <a:ext cx="10698480" cy="274320"/>
          </a:xfrm>
          <a:prstGeom prst="rect">
            <a:avLst/>
          </a:prstGeom>
          <a:noFill/>
          <a:ln/>
        </p:spPr>
        <p:txBody>
          <a:bodyPr wrap="square" lIns="0" tIns="0" rIns="0" bIns="0" rtlCol="0" anchor="ctr"/>
          <a:lstStyle/>
          <a:p>
            <a:pPr indent="0" marL="0">
              <a:buNone/>
            </a:pPr>
            <a:r>
              <a:rPr lang="en-US" sz="1200" b="1" spc="50" kern="0" dirty="0">
                <a:solidFill>
                  <a:srgbClr val="57606A"/>
                </a:solidFill>
                <a:latin typeface="DM Mono" pitchFamily="34" charset="0"/>
                <a:ea typeface="DM Mono" pitchFamily="34" charset="-122"/>
                <a:cs typeface="DM Mono" pitchFamily="34" charset="-120"/>
              </a:rPr>
              <a:t>This is the biggest task today</a:t>
            </a:r>
            <a:endParaRPr lang="en-US" sz="1200" dirty="0"/>
          </a:p>
        </p:txBody>
      </p:sp>
      <p:sp>
        <p:nvSpPr>
          <p:cNvPr id="26" name="Text 24"/>
          <p:cNvSpPr/>
          <p:nvPr/>
        </p:nvSpPr>
        <p:spPr>
          <a:xfrm>
            <a:off x="731520" y="5532120"/>
            <a:ext cx="10698480" cy="91440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Budget the largest share of your remaining time here. It's fine to revise rows as you go — a Gantt chart is a working draft today, not a finished document.</a:t>
            </a:r>
            <a:endParaRPr lang="en-US" sz="1500" dirty="0"/>
          </a:p>
        </p:txBody>
      </p:sp>
      <p:sp>
        <p:nvSpPr>
          <p:cNvPr id="27" name="Text 25"/>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8" name="Text 26"/>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8B5CF6"/>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Critical Path &amp; Contingency</a:t>
            </a:r>
            <a:endParaRPr lang="en-US" sz="2400" dirty="0"/>
          </a:p>
        </p:txBody>
      </p:sp>
      <p:sp>
        <p:nvSpPr>
          <p:cNvPr id="5" name="Text 3"/>
          <p:cNvSpPr/>
          <p:nvPr/>
        </p:nvSpPr>
        <p:spPr>
          <a:xfrm>
            <a:off x="457200" y="1417320"/>
            <a:ext cx="11247120" cy="365760"/>
          </a:xfrm>
          <a:prstGeom prst="rect">
            <a:avLst/>
          </a:prstGeom>
          <a:noFill/>
          <a:ln/>
        </p:spPr>
        <p:txBody>
          <a:bodyPr wrap="square" lIns="0" tIns="0" rIns="0" bIns="0" rtlCol="0" anchor="ctr"/>
          <a:lstStyle/>
          <a:p>
            <a:pPr indent="0" marL="0">
              <a:buNone/>
            </a:pPr>
            <a:r>
              <a:rPr lang="en-US" sz="1500" b="1" dirty="0">
                <a:solidFill>
                  <a:srgbClr val="4361EE"/>
                </a:solidFill>
                <a:latin typeface="Calibri" pitchFamily="34" charset="0"/>
                <a:ea typeface="Calibri" pitchFamily="34" charset="-122"/>
                <a:cs typeface="Calibri" pitchFamily="34" charset="-120"/>
              </a:rPr>
              <a:t>📋 Open your workbook — Section 4</a:t>
            </a:r>
            <a:endParaRPr lang="en-US" sz="1500" dirty="0"/>
          </a:p>
        </p:txBody>
      </p:sp>
      <p:sp>
        <p:nvSpPr>
          <p:cNvPr id="6" name="Shape 4"/>
          <p:cNvSpPr/>
          <p:nvPr/>
        </p:nvSpPr>
        <p:spPr>
          <a:xfrm>
            <a:off x="457200" y="1965960"/>
            <a:ext cx="2286000" cy="310896"/>
          </a:xfrm>
          <a:prstGeom prst="roundRect">
            <a:avLst>
              <a:gd name="adj" fmla="val 14706"/>
            </a:avLst>
          </a:prstGeom>
          <a:solidFill>
            <a:srgbClr val="FFFFFF"/>
          </a:solidFill>
          <a:ln w="12700">
            <a:solidFill>
              <a:srgbClr val="F59E0B"/>
            </a:solidFill>
            <a:prstDash val="solid"/>
          </a:ln>
        </p:spPr>
      </p:sp>
      <p:sp>
        <p:nvSpPr>
          <p:cNvPr id="7" name="Text 5"/>
          <p:cNvSpPr/>
          <p:nvPr/>
        </p:nvSpPr>
        <p:spPr>
          <a:xfrm>
            <a:off x="457200" y="1965960"/>
            <a:ext cx="2286000" cy="310896"/>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 Developing</a:t>
            </a:r>
            <a:endParaRPr lang="en-US" sz="1100" dirty="0"/>
          </a:p>
        </p:txBody>
      </p:sp>
      <p:sp>
        <p:nvSpPr>
          <p:cNvPr id="8" name="Text 6"/>
          <p:cNvSpPr/>
          <p:nvPr/>
        </p:nvSpPr>
        <p:spPr>
          <a:xfrm>
            <a:off x="2880360" y="1920240"/>
            <a:ext cx="882396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Trace the longest dependency chain in your Gantt chart. List the tasks in order and the total duration.</a:t>
            </a:r>
            <a:endParaRPr lang="en-US" sz="1500" dirty="0"/>
          </a:p>
        </p:txBody>
      </p:sp>
      <p:sp>
        <p:nvSpPr>
          <p:cNvPr id="9" name="Shape 7"/>
          <p:cNvSpPr/>
          <p:nvPr/>
        </p:nvSpPr>
        <p:spPr>
          <a:xfrm>
            <a:off x="457200" y="2697480"/>
            <a:ext cx="2286000" cy="310896"/>
          </a:xfrm>
          <a:prstGeom prst="roundRect">
            <a:avLst>
              <a:gd name="adj" fmla="val 14706"/>
            </a:avLst>
          </a:prstGeom>
          <a:solidFill>
            <a:srgbClr val="FFFFFF"/>
          </a:solidFill>
          <a:ln w="12700">
            <a:solidFill>
              <a:srgbClr val="8B5CF6"/>
            </a:solidFill>
            <a:prstDash val="solid"/>
          </a:ln>
        </p:spPr>
      </p:sp>
      <p:sp>
        <p:nvSpPr>
          <p:cNvPr id="10" name="Text 8"/>
          <p:cNvSpPr/>
          <p:nvPr/>
        </p:nvSpPr>
        <p:spPr>
          <a:xfrm>
            <a:off x="457200" y="2697480"/>
            <a:ext cx="2286000" cy="310896"/>
          </a:xfrm>
          <a:prstGeom prst="rect">
            <a:avLst/>
          </a:prstGeom>
          <a:noFill/>
          <a:ln/>
        </p:spPr>
        <p:txBody>
          <a:bodyPr wrap="square" lIns="0" tIns="0" rIns="0" bIns="0" rtlCol="0" anchor="ctr"/>
          <a:lstStyle/>
          <a:p>
            <a:pPr algn="ctr" indent="0" marL="0">
              <a:buNone/>
            </a:pPr>
            <a:r>
              <a:rPr lang="en-US" sz="1100" b="1" dirty="0">
                <a:solidFill>
                  <a:srgbClr val="8B5CF6"/>
                </a:solidFill>
                <a:latin typeface="Calibri" pitchFamily="34" charset="0"/>
                <a:ea typeface="Calibri" pitchFamily="34" charset="-122"/>
                <a:cs typeface="Calibri" pitchFamily="34" charset="-120"/>
              </a:rPr>
              <a:t>🟣 Extending</a:t>
            </a:r>
            <a:endParaRPr lang="en-US" sz="1100" dirty="0"/>
          </a:p>
        </p:txBody>
      </p:sp>
      <p:sp>
        <p:nvSpPr>
          <p:cNvPr id="11" name="Text 9"/>
          <p:cNvSpPr/>
          <p:nvPr/>
        </p:nvSpPr>
        <p:spPr>
          <a:xfrm>
            <a:off x="2880360" y="2651760"/>
            <a:ext cx="882396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Name your riskiest dependency and propose one specific, concrete contingency if it slips.</a:t>
            </a:r>
            <a:endParaRPr lang="en-US" sz="1500" dirty="0"/>
          </a:p>
        </p:txBody>
      </p:sp>
      <p:sp>
        <p:nvSpPr>
          <p:cNvPr id="12" name="Shape 10"/>
          <p:cNvSpPr/>
          <p:nvPr/>
        </p:nvSpPr>
        <p:spPr>
          <a:xfrm>
            <a:off x="457200" y="3429000"/>
            <a:ext cx="2286000" cy="310896"/>
          </a:xfrm>
          <a:prstGeom prst="roundRect">
            <a:avLst>
              <a:gd name="adj" fmla="val 14706"/>
            </a:avLst>
          </a:prstGeom>
          <a:solidFill>
            <a:srgbClr val="FFFFFF"/>
          </a:solidFill>
          <a:ln w="12700">
            <a:solidFill>
              <a:srgbClr val="8B5CF6"/>
            </a:solidFill>
            <a:prstDash val="solid"/>
          </a:ln>
        </p:spPr>
      </p:sp>
      <p:sp>
        <p:nvSpPr>
          <p:cNvPr id="13" name="Text 11"/>
          <p:cNvSpPr/>
          <p:nvPr/>
        </p:nvSpPr>
        <p:spPr>
          <a:xfrm>
            <a:off x="457200" y="3429000"/>
            <a:ext cx="2286000" cy="310896"/>
          </a:xfrm>
          <a:prstGeom prst="rect">
            <a:avLst/>
          </a:prstGeom>
          <a:noFill/>
          <a:ln/>
        </p:spPr>
        <p:txBody>
          <a:bodyPr wrap="square" lIns="0" tIns="0" rIns="0" bIns="0" rtlCol="0" anchor="ctr"/>
          <a:lstStyle/>
          <a:p>
            <a:pPr algn="ctr" indent="0" marL="0">
              <a:buNone/>
            </a:pPr>
            <a:r>
              <a:rPr lang="en-US" sz="1100" b="1" dirty="0">
                <a:solidFill>
                  <a:srgbClr val="8B5CF6"/>
                </a:solidFill>
                <a:latin typeface="Calibri" pitchFamily="34" charset="0"/>
                <a:ea typeface="Calibri" pitchFamily="34" charset="-122"/>
                <a:cs typeface="Calibri" pitchFamily="34" charset="-120"/>
              </a:rPr>
              <a:t>🟣 Extending</a:t>
            </a:r>
            <a:endParaRPr lang="en-US" sz="1100" dirty="0"/>
          </a:p>
        </p:txBody>
      </p:sp>
      <p:sp>
        <p:nvSpPr>
          <p:cNvPr id="14" name="Text 12"/>
          <p:cNvSpPr/>
          <p:nvPr/>
        </p:nvSpPr>
        <p:spPr>
          <a:xfrm>
            <a:off x="2880360" y="3383280"/>
            <a:ext cx="8823960" cy="54864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Identify a task you assumed was critical but actually has slack — explain why.</a:t>
            </a:r>
            <a:endParaRPr lang="en-US" sz="1500" dirty="0"/>
          </a:p>
        </p:txBody>
      </p:sp>
      <p:sp>
        <p:nvSpPr>
          <p:cNvPr id="15" name="Shape 13"/>
          <p:cNvSpPr/>
          <p:nvPr/>
        </p:nvSpPr>
        <p:spPr>
          <a:xfrm>
            <a:off x="457200" y="4297680"/>
            <a:ext cx="11247120" cy="2194560"/>
          </a:xfrm>
          <a:prstGeom prst="roundRect">
            <a:avLst>
              <a:gd name="adj" fmla="val 3333"/>
            </a:avLst>
          </a:prstGeom>
          <a:solidFill>
            <a:srgbClr val="FDECEC"/>
          </a:solidFill>
          <a:ln w="12700">
            <a:solidFill>
              <a:srgbClr val="EF4444"/>
            </a:solidFill>
            <a:prstDash val="solid"/>
          </a:ln>
        </p:spPr>
      </p:sp>
      <p:sp>
        <p:nvSpPr>
          <p:cNvPr id="16" name="Text 14"/>
          <p:cNvSpPr/>
          <p:nvPr/>
        </p:nvSpPr>
        <p:spPr>
          <a:xfrm>
            <a:off x="731520" y="4434840"/>
            <a:ext cx="10698480" cy="320040"/>
          </a:xfrm>
          <a:prstGeom prst="rect">
            <a:avLst/>
          </a:prstGeom>
          <a:noFill/>
          <a:ln/>
        </p:spPr>
        <p:txBody>
          <a:bodyPr wrap="square" lIns="0" tIns="0" rIns="0" bIns="0" rtlCol="0" anchor="ctr"/>
          <a:lstStyle/>
          <a:p>
            <a:pPr indent="0" marL="0">
              <a:buNone/>
            </a:pPr>
            <a:r>
              <a:rPr lang="en-US" sz="1200" b="1" spc="50" kern="0" dirty="0">
                <a:solidFill>
                  <a:srgbClr val="EF4444"/>
                </a:solidFill>
                <a:latin typeface="DM Mono" pitchFamily="34" charset="0"/>
                <a:ea typeface="DM Mono" pitchFamily="34" charset="-122"/>
                <a:cs typeface="DM Mono" pitchFamily="34" charset="-120"/>
              </a:rPr>
              <a:t>A contingency is a plan, not a hope</a:t>
            </a:r>
            <a:endParaRPr lang="en-US" sz="1200" dirty="0"/>
          </a:p>
        </p:txBody>
      </p:sp>
      <p:sp>
        <p:nvSpPr>
          <p:cNvPr id="17" name="Text 15"/>
          <p:cNvSpPr/>
          <p:nvPr/>
        </p:nvSpPr>
        <p:spPr>
          <a:xfrm>
            <a:off x="731520" y="4754880"/>
            <a:ext cx="10698480" cy="164592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"We'll try to work faster" is not a contingency. "If the notification library isn't working by Week 9, we'll fall back to a simpler on-screen reminder instead of a push notification" is — it names a trigger and a concrete alternative.</a:t>
            </a:r>
            <a:endParaRPr lang="en-US" sz="1500" dirty="0"/>
          </a:p>
        </p:txBody>
      </p:sp>
      <p:sp>
        <p:nvSpPr>
          <p:cNvPr id="18" name="Text 16"/>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9" name="Text 17"/>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8B5CF6"/>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400" b="1" dirty="0">
                <a:solidFill>
                  <a:srgbClr val="0D1117"/>
                </a:solidFill>
                <a:latin typeface="Georgia" pitchFamily="34" charset="0"/>
                <a:ea typeface="Georgia" pitchFamily="34" charset="-122"/>
                <a:cs typeface="Georgia" pitchFamily="34" charset="-120"/>
              </a:rPr>
              <a:t>Sign-Off Checklist</a:t>
            </a:r>
            <a:endParaRPr lang="en-US" sz="2400" dirty="0"/>
          </a:p>
        </p:txBody>
      </p:sp>
      <p:sp>
        <p:nvSpPr>
          <p:cNvPr id="5" name="Text 3"/>
          <p:cNvSpPr/>
          <p:nvPr/>
        </p:nvSpPr>
        <p:spPr>
          <a:xfrm>
            <a:off x="457200" y="1417320"/>
            <a:ext cx="11247120" cy="365760"/>
          </a:xfrm>
          <a:prstGeom prst="rect">
            <a:avLst/>
          </a:prstGeom>
          <a:noFill/>
          <a:ln/>
        </p:spPr>
        <p:txBody>
          <a:bodyPr wrap="square" lIns="0" tIns="0" rIns="0" bIns="0" rtlCol="0" anchor="ctr"/>
          <a:lstStyle/>
          <a:p>
            <a:pPr indent="0" marL="0">
              <a:buNone/>
            </a:pPr>
            <a:r>
              <a:rPr lang="en-US" sz="1500" b="1" dirty="0">
                <a:solidFill>
                  <a:srgbClr val="4361EE"/>
                </a:solidFill>
                <a:latin typeface="Calibri" pitchFamily="34" charset="0"/>
                <a:ea typeface="Calibri" pitchFamily="34" charset="-122"/>
                <a:cs typeface="Calibri" pitchFamily="34" charset="-120"/>
              </a:rPr>
              <a:t>📋 Open your workbook — Section 5</a:t>
            </a:r>
            <a:endParaRPr lang="en-US" sz="1500" dirty="0"/>
          </a:p>
        </p:txBody>
      </p:sp>
      <p:pic>
        <p:nvPicPr>
          <p:cNvPr id="6" name="Image 0" descr="icon_clipboardcheck_4361EE.png">    </p:cNvPr>
          <p:cNvPicPr>
            <a:picLocks noChangeAspect="1"/>
          </p:cNvPicPr>
          <p:nvPr/>
        </p:nvPicPr>
        <p:blipFill>
          <a:blip r:embed="rId1"/>
          <a:stretch>
            <a:fillRect/>
          </a:stretch>
        </p:blipFill>
        <p:spPr>
          <a:xfrm>
            <a:off x="10424160" y="1371600"/>
            <a:ext cx="914400" cy="914400"/>
          </a:xfrm>
          <a:prstGeom prst="rect">
            <a:avLst/>
          </a:prstGeom>
        </p:spPr>
      </p:pic>
      <p:sp>
        <p:nvSpPr>
          <p:cNvPr id="7" name="Shape 4"/>
          <p:cNvSpPr/>
          <p:nvPr/>
        </p:nvSpPr>
        <p:spPr>
          <a:xfrm>
            <a:off x="457200" y="2286000"/>
            <a:ext cx="365760" cy="365760"/>
          </a:xfrm>
          <a:prstGeom prst="roundRect">
            <a:avLst>
              <a:gd name="adj" fmla="val 12500"/>
            </a:avLst>
          </a:prstGeom>
          <a:solidFill>
            <a:srgbClr val="FFFFFF"/>
          </a:solidFill>
          <a:ln w="19050">
            <a:solidFill>
              <a:srgbClr val="10B981"/>
            </a:solidFill>
            <a:prstDash val="solid"/>
          </a:ln>
        </p:spPr>
      </p:sp>
      <p:sp>
        <p:nvSpPr>
          <p:cNvPr id="8" name="Text 5"/>
          <p:cNvSpPr/>
          <p:nvPr/>
        </p:nvSpPr>
        <p:spPr>
          <a:xfrm>
            <a:off x="1005840" y="2212848"/>
            <a:ext cx="10698480" cy="50292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Every task has a named owner — not "the group".</a:t>
            </a:r>
            <a:endParaRPr lang="en-US" sz="1500" dirty="0"/>
          </a:p>
        </p:txBody>
      </p:sp>
      <p:sp>
        <p:nvSpPr>
          <p:cNvPr id="9" name="Shape 6"/>
          <p:cNvSpPr/>
          <p:nvPr/>
        </p:nvSpPr>
        <p:spPr>
          <a:xfrm>
            <a:off x="457200" y="2907792"/>
            <a:ext cx="365760" cy="365760"/>
          </a:xfrm>
          <a:prstGeom prst="roundRect">
            <a:avLst>
              <a:gd name="adj" fmla="val 12500"/>
            </a:avLst>
          </a:prstGeom>
          <a:solidFill>
            <a:srgbClr val="FFFFFF"/>
          </a:solidFill>
          <a:ln w="19050">
            <a:solidFill>
              <a:srgbClr val="10B981"/>
            </a:solidFill>
            <a:prstDash val="solid"/>
          </a:ln>
        </p:spPr>
      </p:sp>
      <p:sp>
        <p:nvSpPr>
          <p:cNvPr id="10" name="Text 7"/>
          <p:cNvSpPr/>
          <p:nvPr/>
        </p:nvSpPr>
        <p:spPr>
          <a:xfrm>
            <a:off x="1005840" y="2834640"/>
            <a:ext cx="10698480" cy="50292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Dependencies are marked between tasks that genuinely rely on each other.</a:t>
            </a:r>
            <a:endParaRPr lang="en-US" sz="1500" dirty="0"/>
          </a:p>
        </p:txBody>
      </p:sp>
      <p:sp>
        <p:nvSpPr>
          <p:cNvPr id="11" name="Shape 8"/>
          <p:cNvSpPr/>
          <p:nvPr/>
        </p:nvSpPr>
        <p:spPr>
          <a:xfrm>
            <a:off x="457200" y="3529584"/>
            <a:ext cx="365760" cy="365760"/>
          </a:xfrm>
          <a:prstGeom prst="roundRect">
            <a:avLst>
              <a:gd name="adj" fmla="val 12500"/>
            </a:avLst>
          </a:prstGeom>
          <a:solidFill>
            <a:srgbClr val="FFFFFF"/>
          </a:solidFill>
          <a:ln w="19050">
            <a:solidFill>
              <a:srgbClr val="10B981"/>
            </a:solidFill>
            <a:prstDash val="solid"/>
          </a:ln>
        </p:spPr>
      </p:sp>
      <p:sp>
        <p:nvSpPr>
          <p:cNvPr id="12" name="Text 9"/>
          <p:cNvSpPr/>
          <p:nvPr/>
        </p:nvSpPr>
        <p:spPr>
          <a:xfrm>
            <a:off x="1005840" y="3456432"/>
            <a:ext cx="10698480" cy="50292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The critical path is identified and its total duration is realistic.</a:t>
            </a:r>
            <a:endParaRPr lang="en-US" sz="1500" dirty="0"/>
          </a:p>
        </p:txBody>
      </p:sp>
      <p:sp>
        <p:nvSpPr>
          <p:cNvPr id="13" name="Shape 10"/>
          <p:cNvSpPr/>
          <p:nvPr/>
        </p:nvSpPr>
        <p:spPr>
          <a:xfrm>
            <a:off x="457200" y="4151376"/>
            <a:ext cx="365760" cy="365760"/>
          </a:xfrm>
          <a:prstGeom prst="roundRect">
            <a:avLst>
              <a:gd name="adj" fmla="val 12500"/>
            </a:avLst>
          </a:prstGeom>
          <a:solidFill>
            <a:srgbClr val="FFFFFF"/>
          </a:solidFill>
          <a:ln w="19050">
            <a:solidFill>
              <a:srgbClr val="10B981"/>
            </a:solidFill>
            <a:prstDash val="solid"/>
          </a:ln>
        </p:spPr>
      </p:sp>
      <p:sp>
        <p:nvSpPr>
          <p:cNvPr id="14" name="Text 11"/>
          <p:cNvSpPr/>
          <p:nvPr/>
        </p:nvSpPr>
        <p:spPr>
          <a:xfrm>
            <a:off x="1005840" y="4078224"/>
            <a:ext cx="10698480" cy="50292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Time estimates fit within the weeks actually remaining before each checkpoint.</a:t>
            </a:r>
            <a:endParaRPr lang="en-US" sz="1500" dirty="0"/>
          </a:p>
        </p:txBody>
      </p:sp>
      <p:sp>
        <p:nvSpPr>
          <p:cNvPr id="15" name="Shape 12"/>
          <p:cNvSpPr/>
          <p:nvPr/>
        </p:nvSpPr>
        <p:spPr>
          <a:xfrm>
            <a:off x="457200" y="4983480"/>
            <a:ext cx="2286000" cy="310896"/>
          </a:xfrm>
          <a:prstGeom prst="roundRect">
            <a:avLst>
              <a:gd name="adj" fmla="val 14706"/>
            </a:avLst>
          </a:prstGeom>
          <a:solidFill>
            <a:srgbClr val="FFFFFF"/>
          </a:solidFill>
          <a:ln w="12700">
            <a:solidFill>
              <a:srgbClr val="8B5CF6"/>
            </a:solidFill>
            <a:prstDash val="solid"/>
          </a:ln>
        </p:spPr>
      </p:sp>
      <p:sp>
        <p:nvSpPr>
          <p:cNvPr id="16" name="Text 13"/>
          <p:cNvSpPr/>
          <p:nvPr/>
        </p:nvSpPr>
        <p:spPr>
          <a:xfrm>
            <a:off x="457200" y="4983480"/>
            <a:ext cx="2286000" cy="310896"/>
          </a:xfrm>
          <a:prstGeom prst="rect">
            <a:avLst/>
          </a:prstGeom>
          <a:noFill/>
          <a:ln/>
        </p:spPr>
        <p:txBody>
          <a:bodyPr wrap="square" lIns="0" tIns="0" rIns="0" bIns="0" rtlCol="0" anchor="ctr"/>
          <a:lstStyle/>
          <a:p>
            <a:pPr algn="ctr" indent="0" marL="0">
              <a:buNone/>
            </a:pPr>
            <a:r>
              <a:rPr lang="en-US" sz="1100" b="1" dirty="0">
                <a:solidFill>
                  <a:srgbClr val="8B5CF6"/>
                </a:solidFill>
                <a:latin typeface="Calibri" pitchFamily="34" charset="0"/>
                <a:ea typeface="Calibri" pitchFamily="34" charset="-122"/>
                <a:cs typeface="Calibri" pitchFamily="34" charset="-120"/>
              </a:rPr>
              <a:t>🟣 Extending</a:t>
            </a:r>
            <a:endParaRPr lang="en-US" sz="1100" dirty="0"/>
          </a:p>
        </p:txBody>
      </p:sp>
      <p:sp>
        <p:nvSpPr>
          <p:cNvPr id="17" name="Text 14"/>
          <p:cNvSpPr/>
          <p:nvPr/>
        </p:nvSpPr>
        <p:spPr>
          <a:xfrm>
            <a:off x="2880360" y="4937760"/>
            <a:ext cx="8823960" cy="68580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Which member owns updating this Gantt chart at the mid-build check-in, and how will the rest of the group hear about changes?</a:t>
            </a:r>
            <a:endParaRPr lang="en-US" sz="1500" dirty="0"/>
          </a:p>
        </p:txBody>
      </p:sp>
      <p:sp>
        <p:nvSpPr>
          <p:cNvPr id="18" name="Shape 15"/>
          <p:cNvSpPr/>
          <p:nvPr/>
        </p:nvSpPr>
        <p:spPr>
          <a:xfrm>
            <a:off x="457200" y="5760720"/>
            <a:ext cx="11247120" cy="777240"/>
          </a:xfrm>
          <a:prstGeom prst="roundRect">
            <a:avLst>
              <a:gd name="adj" fmla="val 9412"/>
            </a:avLst>
          </a:prstGeom>
          <a:solidFill>
            <a:srgbClr val="EEF1FD"/>
          </a:solidFill>
          <a:ln/>
        </p:spPr>
      </p:sp>
      <p:sp>
        <p:nvSpPr>
          <p:cNvPr id="19" name="Text 16"/>
          <p:cNvSpPr/>
          <p:nvPr/>
        </p:nvSpPr>
        <p:spPr>
          <a:xfrm>
            <a:off x="731520" y="5806440"/>
            <a:ext cx="10698480" cy="640080"/>
          </a:xfrm>
          <a:prstGeom prst="rect">
            <a:avLst/>
          </a:prstGeom>
          <a:noFill/>
          <a:ln/>
        </p:spPr>
        <p:txBody>
          <a:bodyPr wrap="square" lIns="0" tIns="0" rIns="0" bIns="0" rtlCol="0" anchor="ctr"/>
          <a:lstStyle/>
          <a:p>
            <a:pPr indent="0" marL="0">
              <a:buNone/>
            </a:pPr>
            <a:r>
              <a:rPr lang="en-US" sz="1400" dirty="0">
                <a:solidFill>
                  <a:srgbClr val="0D1117"/>
                </a:solidFill>
                <a:latin typeface="Calibri" pitchFamily="34" charset="0"/>
                <a:ea typeface="Calibri" pitchFamily="34" charset="-122"/>
                <a:cs typeface="Calibri" pitchFamily="34" charset="-120"/>
              </a:rPr>
              <a:t>Once every box is genuinely ticked, flag your group to your teacher for a quick review of the plan.</a:t>
            </a:r>
            <a:endParaRPr lang="en-US" sz="1400" dirty="0"/>
          </a:p>
        </p:txBody>
      </p:sp>
      <p:sp>
        <p:nvSpPr>
          <p:cNvPr id="20" name="Text 17"/>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21" name="Text 18"/>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F59E0B"/>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RESPONSIVE</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600" b="1" dirty="0">
                <a:solidFill>
                  <a:srgbClr val="0D1117"/>
                </a:solidFill>
                <a:latin typeface="Georgia" pitchFamily="34" charset="0"/>
                <a:ea typeface="Georgia" pitchFamily="34" charset="-122"/>
                <a:cs typeface="Georgia" pitchFamily="34" charset="-120"/>
              </a:rPr>
              <a:t>Quick Peer Share</a:t>
            </a:r>
            <a:endParaRPr lang="en-US" sz="2600" dirty="0"/>
          </a:p>
        </p:txBody>
      </p:sp>
      <p:sp>
        <p:nvSpPr>
          <p:cNvPr id="5" name="Text 3"/>
          <p:cNvSpPr/>
          <p:nvPr/>
        </p:nvSpPr>
        <p:spPr>
          <a:xfrm>
            <a:off x="457200" y="1508760"/>
            <a:ext cx="11247120" cy="45720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Swap workbooks (or screens) with a neighbouring group for 3 minutes.</a:t>
            </a:r>
            <a:endParaRPr lang="en-US" sz="1600" dirty="0"/>
          </a:p>
        </p:txBody>
      </p:sp>
      <p:sp>
        <p:nvSpPr>
          <p:cNvPr id="6" name="Shape 4"/>
          <p:cNvSpPr/>
          <p:nvPr/>
        </p:nvSpPr>
        <p:spPr>
          <a:xfrm>
            <a:off x="457200" y="2331720"/>
            <a:ext cx="502920" cy="502920"/>
          </a:xfrm>
          <a:prstGeom prst="ellipse">
            <a:avLst/>
          </a:prstGeom>
          <a:solidFill>
            <a:srgbClr val="4361EE"/>
          </a:solidFill>
          <a:ln/>
        </p:spPr>
      </p:sp>
      <p:sp>
        <p:nvSpPr>
          <p:cNvPr id="7" name="Text 5"/>
          <p:cNvSpPr/>
          <p:nvPr/>
        </p:nvSpPr>
        <p:spPr>
          <a:xfrm>
            <a:off x="457200" y="2331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1143000" y="2286000"/>
            <a:ext cx="10561320" cy="640080"/>
          </a:xfrm>
          <a:prstGeom prst="rect">
            <a:avLst/>
          </a:prstGeom>
          <a:noFill/>
          <a:ln/>
        </p:spPr>
        <p:txBody>
          <a:bodyPr wrap="square" lIns="0" tIns="0" rIns="0" bIns="0" rtlCol="0" anchor="ctr"/>
          <a:lstStyle/>
          <a:p>
            <a:pPr indent="0" marL="0">
              <a:buNone/>
            </a:pPr>
            <a:r>
              <a:rPr lang="en-US" sz="1600" dirty="0">
                <a:solidFill>
                  <a:srgbClr val="0D1117"/>
                </a:solidFill>
                <a:latin typeface="Calibri" pitchFamily="34" charset="0"/>
                <a:ea typeface="Calibri" pitchFamily="34" charset="-122"/>
                <a:cs typeface="Calibri" pitchFamily="34" charset="-120"/>
              </a:rPr>
              <a:t>Check every task on their Gantt chart has a named owner — not "the group".</a:t>
            </a:r>
            <a:endParaRPr lang="en-US" sz="1600" dirty="0"/>
          </a:p>
        </p:txBody>
      </p:sp>
      <p:sp>
        <p:nvSpPr>
          <p:cNvPr id="9" name="Shape 7"/>
          <p:cNvSpPr/>
          <p:nvPr/>
        </p:nvSpPr>
        <p:spPr>
          <a:xfrm>
            <a:off x="457200" y="3246120"/>
            <a:ext cx="502920" cy="502920"/>
          </a:xfrm>
          <a:prstGeom prst="ellipse">
            <a:avLst/>
          </a:prstGeom>
          <a:solidFill>
            <a:srgbClr val="4361EE"/>
          </a:solidFill>
          <a:ln/>
        </p:spPr>
      </p:sp>
      <p:sp>
        <p:nvSpPr>
          <p:cNvPr id="10" name="Text 8"/>
          <p:cNvSpPr/>
          <p:nvPr/>
        </p:nvSpPr>
        <p:spPr>
          <a:xfrm>
            <a:off x="457200" y="3246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1" name="Text 9"/>
          <p:cNvSpPr/>
          <p:nvPr/>
        </p:nvSpPr>
        <p:spPr>
          <a:xfrm>
            <a:off x="1143000" y="3200400"/>
            <a:ext cx="10561320" cy="640080"/>
          </a:xfrm>
          <a:prstGeom prst="rect">
            <a:avLst/>
          </a:prstGeom>
          <a:noFill/>
          <a:ln/>
        </p:spPr>
        <p:txBody>
          <a:bodyPr wrap="square" lIns="0" tIns="0" rIns="0" bIns="0" rtlCol="0" anchor="ctr"/>
          <a:lstStyle/>
          <a:p>
            <a:pPr indent="0" marL="0">
              <a:buNone/>
            </a:pPr>
            <a:r>
              <a:rPr lang="en-US" sz="1600" dirty="0">
                <a:solidFill>
                  <a:srgbClr val="0D1117"/>
                </a:solidFill>
                <a:latin typeface="Calibri" pitchFamily="34" charset="0"/>
                <a:ea typeface="Calibri" pitchFamily="34" charset="-122"/>
                <a:cs typeface="Calibri" pitchFamily="34" charset="-120"/>
              </a:rPr>
              <a:t>Trace their critical path yourself. Does it match what they wrote in Section 4?</a:t>
            </a:r>
            <a:endParaRPr lang="en-US" sz="1600" dirty="0"/>
          </a:p>
        </p:txBody>
      </p:sp>
      <p:sp>
        <p:nvSpPr>
          <p:cNvPr id="12" name="Shape 10"/>
          <p:cNvSpPr/>
          <p:nvPr/>
        </p:nvSpPr>
        <p:spPr>
          <a:xfrm>
            <a:off x="457200" y="4160520"/>
            <a:ext cx="502920" cy="502920"/>
          </a:xfrm>
          <a:prstGeom prst="ellipse">
            <a:avLst/>
          </a:prstGeom>
          <a:solidFill>
            <a:srgbClr val="4361EE"/>
          </a:solidFill>
          <a:ln/>
        </p:spPr>
      </p:sp>
      <p:sp>
        <p:nvSpPr>
          <p:cNvPr id="13" name="Text 11"/>
          <p:cNvSpPr/>
          <p:nvPr/>
        </p:nvSpPr>
        <p:spPr>
          <a:xfrm>
            <a:off x="457200" y="4160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4" name="Text 12"/>
          <p:cNvSpPr/>
          <p:nvPr/>
        </p:nvSpPr>
        <p:spPr>
          <a:xfrm>
            <a:off x="1143000" y="4114800"/>
            <a:ext cx="10561320" cy="640080"/>
          </a:xfrm>
          <a:prstGeom prst="rect">
            <a:avLst/>
          </a:prstGeom>
          <a:noFill/>
          <a:ln/>
        </p:spPr>
        <p:txBody>
          <a:bodyPr wrap="square" lIns="0" tIns="0" rIns="0" bIns="0" rtlCol="0" anchor="ctr"/>
          <a:lstStyle/>
          <a:p>
            <a:pPr indent="0" marL="0">
              <a:buNone/>
            </a:pPr>
            <a:r>
              <a:rPr lang="en-US" sz="1600" dirty="0">
                <a:solidFill>
                  <a:srgbClr val="0D1117"/>
                </a:solidFill>
                <a:latin typeface="Calibri" pitchFamily="34" charset="0"/>
                <a:ea typeface="Calibri" pitchFamily="34" charset="-122"/>
                <a:cs typeface="Calibri" pitchFamily="34" charset="-120"/>
              </a:rPr>
              <a:t>Name one dependency you think they might have missed.</a:t>
            </a:r>
            <a:endParaRPr lang="en-US" sz="1600" dirty="0"/>
          </a:p>
        </p:txBody>
      </p:sp>
      <p:sp>
        <p:nvSpPr>
          <p:cNvPr id="15" name="Shape 13"/>
          <p:cNvSpPr/>
          <p:nvPr/>
        </p:nvSpPr>
        <p:spPr>
          <a:xfrm>
            <a:off x="457200" y="5212080"/>
            <a:ext cx="11247120" cy="777240"/>
          </a:xfrm>
          <a:prstGeom prst="roundRect">
            <a:avLst>
              <a:gd name="adj" fmla="val 9412"/>
            </a:avLst>
          </a:prstGeom>
          <a:solidFill>
            <a:srgbClr val="EEF1FD"/>
          </a:solidFill>
          <a:ln/>
        </p:spPr>
      </p:sp>
      <p:sp>
        <p:nvSpPr>
          <p:cNvPr id="16" name="Text 14"/>
          <p:cNvSpPr/>
          <p:nvPr/>
        </p:nvSpPr>
        <p:spPr>
          <a:xfrm>
            <a:off x="731520" y="5257800"/>
            <a:ext cx="10698480" cy="640080"/>
          </a:xfrm>
          <a:prstGeom prst="rect">
            <a:avLst/>
          </a:prstGeom>
          <a:noFill/>
          <a:ln/>
        </p:spPr>
        <p:txBody>
          <a:bodyPr wrap="square" lIns="0" tIns="0" rIns="0" bIns="0" rtlCol="0" anchor="ctr"/>
          <a:lstStyle/>
          <a:p>
            <a:pPr indent="0" marL="0">
              <a:buNone/>
            </a:pPr>
            <a:r>
              <a:rPr lang="en-US" sz="1400" dirty="0">
                <a:solidFill>
                  <a:srgbClr val="0D1117"/>
                </a:solidFill>
                <a:latin typeface="Calibri" pitchFamily="34" charset="0"/>
                <a:ea typeface="Calibri" pitchFamily="34" charset="-122"/>
                <a:cs typeface="Calibri" pitchFamily="34" charset="-120"/>
              </a:rPr>
              <a:t>Peer feedback, not marking — fresh eyes catching a missed dependency or vague owner beats finding it after the mid-build check-in.</a:t>
            </a:r>
            <a:endParaRPr lang="en-US" sz="1400" dirty="0"/>
          </a:p>
        </p:txBody>
      </p:sp>
      <p:sp>
        <p:nvSpPr>
          <p:cNvPr id="17" name="Text 15"/>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8" name="Text 16"/>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EF4444"/>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EXIT TICKET</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600" b="1" dirty="0">
                <a:solidFill>
                  <a:srgbClr val="0D1117"/>
                </a:solidFill>
                <a:latin typeface="Georgia" pitchFamily="34" charset="0"/>
                <a:ea typeface="Georgia" pitchFamily="34" charset="-122"/>
                <a:cs typeface="Georgia" pitchFamily="34" charset="-120"/>
              </a:rPr>
              <a:t>Exit Ticket</a:t>
            </a:r>
            <a:endParaRPr lang="en-US" sz="2600" dirty="0"/>
          </a:p>
        </p:txBody>
      </p:sp>
      <p:sp>
        <p:nvSpPr>
          <p:cNvPr id="5" name="Text 3"/>
          <p:cNvSpPr/>
          <p:nvPr/>
        </p:nvSpPr>
        <p:spPr>
          <a:xfrm>
            <a:off x="457200" y="1508760"/>
            <a:ext cx="11247120" cy="457200"/>
          </a:xfrm>
          <a:prstGeom prst="rect">
            <a:avLst/>
          </a:prstGeom>
          <a:noFill/>
          <a:ln/>
        </p:spPr>
        <p:txBody>
          <a:bodyPr wrap="square" lIns="0" tIns="0" rIns="0" bIns="0" rtlCol="0" anchor="ctr"/>
          <a:lstStyle/>
          <a:p>
            <a:pPr indent="0" marL="0">
              <a:buNone/>
            </a:pPr>
            <a:r>
              <a:rPr lang="en-US" sz="1600" dirty="0">
                <a:solidFill>
                  <a:srgbClr val="57606A"/>
                </a:solidFill>
                <a:latin typeface="Calibri" pitchFamily="34" charset="0"/>
                <a:ea typeface="Calibri" pitchFamily="34" charset="-122"/>
                <a:cs typeface="Calibri" pitchFamily="34" charset="-120"/>
              </a:rPr>
              <a:t>Devices OFF — complete Section 6 from memory. No looking back.</a:t>
            </a:r>
            <a:endParaRPr lang="en-US" sz="1600" dirty="0"/>
          </a:p>
        </p:txBody>
      </p:sp>
      <p:sp>
        <p:nvSpPr>
          <p:cNvPr id="6" name="Shape 4"/>
          <p:cNvSpPr/>
          <p:nvPr/>
        </p:nvSpPr>
        <p:spPr>
          <a:xfrm>
            <a:off x="457200" y="2286000"/>
            <a:ext cx="2286000" cy="310896"/>
          </a:xfrm>
          <a:prstGeom prst="roundRect">
            <a:avLst>
              <a:gd name="adj" fmla="val 14706"/>
            </a:avLst>
          </a:prstGeom>
          <a:solidFill>
            <a:srgbClr val="FFFFFF"/>
          </a:solidFill>
          <a:ln w="12700">
            <a:solidFill>
              <a:srgbClr val="10B981"/>
            </a:solidFill>
            <a:prstDash val="solid"/>
          </a:ln>
        </p:spPr>
      </p:sp>
      <p:sp>
        <p:nvSpPr>
          <p:cNvPr id="7" name="Text 5"/>
          <p:cNvSpPr/>
          <p:nvPr/>
        </p:nvSpPr>
        <p:spPr>
          <a:xfrm>
            <a:off x="457200" y="2286000"/>
            <a:ext cx="2286000" cy="31089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 Foundation</a:t>
            </a:r>
            <a:endParaRPr lang="en-US" sz="1100" dirty="0"/>
          </a:p>
        </p:txBody>
      </p:sp>
      <p:sp>
        <p:nvSpPr>
          <p:cNvPr id="8" name="Text 6"/>
          <p:cNvSpPr/>
          <p:nvPr/>
        </p:nvSpPr>
        <p:spPr>
          <a:xfrm>
            <a:off x="2880360" y="2148840"/>
            <a:ext cx="8823960" cy="822960"/>
          </a:xfrm>
          <a:prstGeom prst="rect">
            <a:avLst/>
          </a:prstGeom>
          <a:noFill/>
          <a:ln/>
        </p:spPr>
        <p:txBody>
          <a:bodyPr wrap="square" lIns="0" tIns="0" rIns="0" bIns="0" rtlCol="0" anchor="ctr"/>
          <a:lstStyle/>
          <a:p>
            <a:pPr indent="0" marL="0">
              <a:buNone/>
            </a:pPr>
            <a:r>
              <a:rPr lang="en-US" sz="1600" dirty="0">
                <a:solidFill>
                  <a:srgbClr val="0D1117"/>
                </a:solidFill>
                <a:latin typeface="Calibri" pitchFamily="34" charset="0"/>
                <a:ea typeface="Calibri" pitchFamily="34" charset="-122"/>
                <a:cs typeface="Calibri" pitchFamily="34" charset="-120"/>
              </a:rPr>
              <a:t>In your own words, what is a dependency between two tasks?</a:t>
            </a:r>
            <a:endParaRPr lang="en-US" sz="1600" dirty="0"/>
          </a:p>
        </p:txBody>
      </p:sp>
      <p:sp>
        <p:nvSpPr>
          <p:cNvPr id="9" name="Shape 7"/>
          <p:cNvSpPr/>
          <p:nvPr/>
        </p:nvSpPr>
        <p:spPr>
          <a:xfrm>
            <a:off x="457200" y="3337560"/>
            <a:ext cx="2286000" cy="310896"/>
          </a:xfrm>
          <a:prstGeom prst="roundRect">
            <a:avLst>
              <a:gd name="adj" fmla="val 14706"/>
            </a:avLst>
          </a:prstGeom>
          <a:solidFill>
            <a:srgbClr val="FFFFFF"/>
          </a:solidFill>
          <a:ln w="12700">
            <a:solidFill>
              <a:srgbClr val="F59E0B"/>
            </a:solidFill>
            <a:prstDash val="solid"/>
          </a:ln>
        </p:spPr>
      </p:sp>
      <p:sp>
        <p:nvSpPr>
          <p:cNvPr id="10" name="Text 8"/>
          <p:cNvSpPr/>
          <p:nvPr/>
        </p:nvSpPr>
        <p:spPr>
          <a:xfrm>
            <a:off x="457200" y="3337560"/>
            <a:ext cx="2286000" cy="310896"/>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 Developing</a:t>
            </a:r>
            <a:endParaRPr lang="en-US" sz="1100" dirty="0"/>
          </a:p>
        </p:txBody>
      </p:sp>
      <p:sp>
        <p:nvSpPr>
          <p:cNvPr id="11" name="Text 9"/>
          <p:cNvSpPr/>
          <p:nvPr/>
        </p:nvSpPr>
        <p:spPr>
          <a:xfrm>
            <a:off x="2880360" y="3200400"/>
            <a:ext cx="8823960" cy="822960"/>
          </a:xfrm>
          <a:prstGeom prst="rect">
            <a:avLst/>
          </a:prstGeom>
          <a:noFill/>
          <a:ln/>
        </p:spPr>
        <p:txBody>
          <a:bodyPr wrap="square" lIns="0" tIns="0" rIns="0" bIns="0" rtlCol="0" anchor="ctr"/>
          <a:lstStyle/>
          <a:p>
            <a:pPr indent="0" marL="0">
              <a:buNone/>
            </a:pPr>
            <a:r>
              <a:rPr lang="en-US" sz="1600" dirty="0">
                <a:solidFill>
                  <a:srgbClr val="0D1117"/>
                </a:solidFill>
                <a:latin typeface="Calibri" pitchFamily="34" charset="0"/>
                <a:ea typeface="Calibri" pitchFamily="34" charset="-122"/>
                <a:cs typeface="Calibri" pitchFamily="34" charset="-120"/>
              </a:rPr>
              <a:t>What is the critical path, and why does a delay on it affect the whole project when a delay elsewhere might not?</a:t>
            </a:r>
            <a:endParaRPr lang="en-US" sz="1600" dirty="0"/>
          </a:p>
        </p:txBody>
      </p:sp>
      <p:sp>
        <p:nvSpPr>
          <p:cNvPr id="12" name="Shape 10"/>
          <p:cNvSpPr/>
          <p:nvPr/>
        </p:nvSpPr>
        <p:spPr>
          <a:xfrm>
            <a:off x="457200" y="4389120"/>
            <a:ext cx="2286000" cy="310896"/>
          </a:xfrm>
          <a:prstGeom prst="roundRect">
            <a:avLst>
              <a:gd name="adj" fmla="val 14706"/>
            </a:avLst>
          </a:prstGeom>
          <a:solidFill>
            <a:srgbClr val="FFFFFF"/>
          </a:solidFill>
          <a:ln w="12700">
            <a:solidFill>
              <a:srgbClr val="8B5CF6"/>
            </a:solidFill>
            <a:prstDash val="solid"/>
          </a:ln>
        </p:spPr>
      </p:sp>
      <p:sp>
        <p:nvSpPr>
          <p:cNvPr id="13" name="Text 11"/>
          <p:cNvSpPr/>
          <p:nvPr/>
        </p:nvSpPr>
        <p:spPr>
          <a:xfrm>
            <a:off x="457200" y="4389120"/>
            <a:ext cx="2286000" cy="310896"/>
          </a:xfrm>
          <a:prstGeom prst="rect">
            <a:avLst/>
          </a:prstGeom>
          <a:noFill/>
          <a:ln/>
        </p:spPr>
        <p:txBody>
          <a:bodyPr wrap="square" lIns="0" tIns="0" rIns="0" bIns="0" rtlCol="0" anchor="ctr"/>
          <a:lstStyle/>
          <a:p>
            <a:pPr algn="ctr" indent="0" marL="0">
              <a:buNone/>
            </a:pPr>
            <a:r>
              <a:rPr lang="en-US" sz="1100" b="1" dirty="0">
                <a:solidFill>
                  <a:srgbClr val="8B5CF6"/>
                </a:solidFill>
                <a:latin typeface="Calibri" pitchFamily="34" charset="0"/>
                <a:ea typeface="Calibri" pitchFamily="34" charset="-122"/>
                <a:cs typeface="Calibri" pitchFamily="34" charset="-120"/>
              </a:rPr>
              <a:t>🟣 Extending</a:t>
            </a:r>
            <a:endParaRPr lang="en-US" sz="1100" dirty="0"/>
          </a:p>
        </p:txBody>
      </p:sp>
      <p:sp>
        <p:nvSpPr>
          <p:cNvPr id="14" name="Text 12"/>
          <p:cNvSpPr/>
          <p:nvPr/>
        </p:nvSpPr>
        <p:spPr>
          <a:xfrm>
            <a:off x="2880360" y="4251960"/>
            <a:ext cx="8823960" cy="822960"/>
          </a:xfrm>
          <a:prstGeom prst="rect">
            <a:avLst/>
          </a:prstGeom>
          <a:noFill/>
          <a:ln/>
        </p:spPr>
        <p:txBody>
          <a:bodyPr wrap="square" lIns="0" tIns="0" rIns="0" bIns="0" rtlCol="0" anchor="ctr"/>
          <a:lstStyle/>
          <a:p>
            <a:pPr indent="0" marL="0">
              <a:buNone/>
            </a:pPr>
            <a:r>
              <a:rPr lang="en-US" sz="1600" dirty="0">
                <a:solidFill>
                  <a:srgbClr val="0D1117"/>
                </a:solidFill>
                <a:latin typeface="Calibri" pitchFamily="34" charset="0"/>
                <a:ea typeface="Calibri" pitchFamily="34" charset="-122"/>
                <a:cs typeface="Calibri" pitchFamily="34" charset="-120"/>
              </a:rPr>
              <a:t>Why is naming an individual owner for each task better than assigning tasks to "the group" as a whole?</a:t>
            </a:r>
            <a:endParaRPr lang="en-US" sz="1600" dirty="0"/>
          </a:p>
        </p:txBody>
      </p:sp>
      <p:sp>
        <p:nvSpPr>
          <p:cNvPr id="15" name="Text 13"/>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6" name="Text 14"/>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737360" cy="347472"/>
          </a:xfrm>
          <a:prstGeom prst="roundRect">
            <a:avLst>
              <a:gd name="adj" fmla="val 15789"/>
            </a:avLst>
          </a:prstGeom>
          <a:solidFill>
            <a:srgbClr val="4361EE"/>
          </a:solidFill>
          <a:ln/>
        </p:spPr>
      </p:sp>
      <p:sp>
        <p:nvSpPr>
          <p:cNvPr id="3" name="Text 1"/>
          <p:cNvSpPr/>
          <p:nvPr/>
        </p:nvSpPr>
        <p:spPr>
          <a:xfrm>
            <a:off x="457200" y="365760"/>
            <a:ext cx="1737360" cy="347472"/>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NEXT STEPS</a:t>
            </a:r>
            <a:endParaRPr lang="en-US" sz="1200" dirty="0"/>
          </a:p>
        </p:txBody>
      </p:sp>
      <p:sp>
        <p:nvSpPr>
          <p:cNvPr id="4" name="Text 2"/>
          <p:cNvSpPr/>
          <p:nvPr/>
        </p:nvSpPr>
        <p:spPr>
          <a:xfrm>
            <a:off x="457200" y="868680"/>
            <a:ext cx="11247120" cy="548640"/>
          </a:xfrm>
          <a:prstGeom prst="rect">
            <a:avLst/>
          </a:prstGeom>
          <a:noFill/>
          <a:ln/>
        </p:spPr>
        <p:txBody>
          <a:bodyPr wrap="square" lIns="0" tIns="0" rIns="0" bIns="0" rtlCol="0" anchor="ctr"/>
          <a:lstStyle/>
          <a:p>
            <a:pPr indent="0" marL="0">
              <a:buNone/>
            </a:pPr>
            <a:r>
              <a:rPr lang="en-US" sz="2600" b="1" dirty="0">
                <a:solidFill>
                  <a:srgbClr val="0D1117"/>
                </a:solidFill>
                <a:latin typeface="Georgia" pitchFamily="34" charset="0"/>
                <a:ea typeface="Georgia" pitchFamily="34" charset="-122"/>
                <a:cs typeface="Georgia" pitchFamily="34" charset="-120"/>
              </a:rPr>
              <a:t>Looking Ahead</a:t>
            </a:r>
            <a:endParaRPr lang="en-US" sz="2600" dirty="0"/>
          </a:p>
        </p:txBody>
      </p:sp>
      <p:sp>
        <p:nvSpPr>
          <p:cNvPr id="5" name="Shape 3"/>
          <p:cNvSpPr/>
          <p:nvPr/>
        </p:nvSpPr>
        <p:spPr>
          <a:xfrm>
            <a:off x="457200" y="1600200"/>
            <a:ext cx="11247120" cy="1737360"/>
          </a:xfrm>
          <a:prstGeom prst="roundRect">
            <a:avLst>
              <a:gd name="adj" fmla="val 4211"/>
            </a:avLst>
          </a:prstGeom>
          <a:solidFill>
            <a:srgbClr val="EEF1FD"/>
          </a:solidFill>
          <a:ln/>
        </p:spPr>
      </p:sp>
      <p:sp>
        <p:nvSpPr>
          <p:cNvPr id="6" name="Text 4"/>
          <p:cNvSpPr/>
          <p:nvPr/>
        </p:nvSpPr>
        <p:spPr>
          <a:xfrm>
            <a:off x="731520" y="1737360"/>
            <a:ext cx="10698480" cy="320040"/>
          </a:xfrm>
          <a:prstGeom prst="rect">
            <a:avLst/>
          </a:prstGeom>
          <a:noFill/>
          <a:ln/>
        </p:spPr>
        <p:txBody>
          <a:bodyPr wrap="square" lIns="0" tIns="0" rIns="0" bIns="0" rtlCol="0" anchor="ctr"/>
          <a:lstStyle/>
          <a:p>
            <a:pPr indent="0" marL="0">
              <a:buNone/>
            </a:pPr>
            <a:r>
              <a:rPr lang="en-US" sz="1300" b="1" spc="50" kern="0" dirty="0">
                <a:solidFill>
                  <a:srgbClr val="4361EE"/>
                </a:solidFill>
                <a:latin typeface="DM Mono" pitchFamily="34" charset="0"/>
                <a:ea typeface="DM Mono" pitchFamily="34" charset="-122"/>
                <a:cs typeface="DM Mono" pitchFamily="34" charset="-120"/>
              </a:rPr>
              <a:t>D5.1 · DESIGN TOOLS &amp; TECHNIQUES I — NEXT LESSON</a:t>
            </a:r>
            <a:endParaRPr lang="en-US" sz="1300" dirty="0"/>
          </a:p>
        </p:txBody>
      </p:sp>
      <p:sp>
        <p:nvSpPr>
          <p:cNvPr id="7" name="Text 5"/>
          <p:cNvSpPr/>
          <p:nvPr/>
        </p:nvSpPr>
        <p:spPr>
          <a:xfrm>
            <a:off x="731520" y="2103120"/>
            <a:ext cx="10698480" cy="1097280"/>
          </a:xfrm>
          <a:prstGeom prst="rect">
            <a:avLst/>
          </a:prstGeom>
          <a:noFill/>
          <a:ln/>
        </p:spPr>
        <p:txBody>
          <a:bodyPr wrap="square" lIns="0" tIns="0" rIns="0" bIns="0" rtlCol="0" anchor="ctr"/>
          <a:lstStyle/>
          <a:p>
            <a:pPr indent="0" marL="0">
              <a:buNone/>
            </a:pPr>
            <a:r>
              <a:rPr lang="en-US" sz="1600" dirty="0">
                <a:solidFill>
                  <a:srgbClr val="0D1117"/>
                </a:solidFill>
                <a:latin typeface="Calibri" pitchFamily="34" charset="0"/>
                <a:ea typeface="Calibri" pitchFamily="34" charset="-122"/>
                <a:cs typeface="Calibri" pitchFamily="34" charset="-120"/>
              </a:rPr>
              <a:t>Mock-ups and storyboards — groups begin generating design representations of their solution, using the task list and Gantt chart built today as the working plan behind it.</a:t>
            </a:r>
            <a:endParaRPr lang="en-US" sz="1600" dirty="0"/>
          </a:p>
        </p:txBody>
      </p:sp>
      <p:sp>
        <p:nvSpPr>
          <p:cNvPr id="8" name="Shape 6"/>
          <p:cNvSpPr/>
          <p:nvPr/>
        </p:nvSpPr>
        <p:spPr>
          <a:xfrm>
            <a:off x="457200" y="3520440"/>
            <a:ext cx="11247120" cy="1417320"/>
          </a:xfrm>
          <a:prstGeom prst="roundRect">
            <a:avLst>
              <a:gd name="adj" fmla="val 5161"/>
            </a:avLst>
          </a:prstGeom>
          <a:solidFill>
            <a:srgbClr val="F6F8FA"/>
          </a:solidFill>
          <a:ln w="12700">
            <a:solidFill>
              <a:srgbClr val="D0D7DE"/>
            </a:solidFill>
            <a:prstDash val="solid"/>
          </a:ln>
        </p:spPr>
      </p:sp>
      <p:sp>
        <p:nvSpPr>
          <p:cNvPr id="9" name="Text 7"/>
          <p:cNvSpPr/>
          <p:nvPr/>
        </p:nvSpPr>
        <p:spPr>
          <a:xfrm>
            <a:off x="731520" y="3657600"/>
            <a:ext cx="10698480" cy="320040"/>
          </a:xfrm>
          <a:prstGeom prst="rect">
            <a:avLst/>
          </a:prstGeom>
          <a:noFill/>
          <a:ln/>
        </p:spPr>
        <p:txBody>
          <a:bodyPr wrap="square" lIns="0" tIns="0" rIns="0" bIns="0" rtlCol="0" anchor="ctr"/>
          <a:lstStyle/>
          <a:p>
            <a:pPr indent="0" marL="0">
              <a:buNone/>
            </a:pPr>
            <a:r>
              <a:rPr lang="en-US" sz="1200" b="1" spc="50" kern="0" dirty="0">
                <a:solidFill>
                  <a:srgbClr val="57606A"/>
                </a:solidFill>
                <a:latin typeface="DM Mono" pitchFamily="34" charset="0"/>
                <a:ea typeface="DM Mono" pitchFamily="34" charset="-122"/>
                <a:cs typeface="DM Mono" pitchFamily="34" charset="-120"/>
              </a:rPr>
              <a:t>YOUR PLAN IS NOW A WORKING DOCUMENT</a:t>
            </a:r>
            <a:endParaRPr lang="en-US" sz="1200" dirty="0"/>
          </a:p>
        </p:txBody>
      </p:sp>
      <p:sp>
        <p:nvSpPr>
          <p:cNvPr id="10" name="Text 8"/>
          <p:cNvSpPr/>
          <p:nvPr/>
        </p:nvSpPr>
        <p:spPr>
          <a:xfrm>
            <a:off x="731520" y="3977640"/>
            <a:ext cx="10698480" cy="914400"/>
          </a:xfrm>
          <a:prstGeom prst="rect">
            <a:avLst/>
          </a:prstGeom>
          <a:noFill/>
          <a:ln/>
        </p:spPr>
        <p:txBody>
          <a:bodyPr wrap="square" lIns="0" tIns="0" rIns="0" bIns="0" rtlCol="0" anchor="ctr"/>
          <a:lstStyle/>
          <a:p>
            <a:pPr indent="0" marL="0">
              <a:buNone/>
            </a:pPr>
            <a:r>
              <a:rPr lang="en-US" sz="1500" dirty="0">
                <a:solidFill>
                  <a:srgbClr val="0D1117"/>
                </a:solidFill>
                <a:latin typeface="Calibri" pitchFamily="34" charset="0"/>
                <a:ea typeface="Calibri" pitchFamily="34" charset="-122"/>
                <a:cs typeface="Calibri" pitchFamily="34" charset="-120"/>
              </a:rPr>
              <a:t>Keep your Gantt chart somewhere every group member can check it — it gets formally revisited at the mid-build check-in and again at the Term 4 re-orientation.</a:t>
            </a:r>
            <a:endParaRPr lang="en-US" sz="1500" dirty="0"/>
          </a:p>
        </p:txBody>
      </p:sp>
      <p:sp>
        <p:nvSpPr>
          <p:cNvPr id="11" name="Shape 9"/>
          <p:cNvSpPr/>
          <p:nvPr/>
        </p:nvSpPr>
        <p:spPr>
          <a:xfrm>
            <a:off x="457200" y="5120640"/>
            <a:ext cx="11247120" cy="1371600"/>
          </a:xfrm>
          <a:prstGeom prst="roundRect">
            <a:avLst>
              <a:gd name="adj" fmla="val 5333"/>
            </a:avLst>
          </a:prstGeom>
          <a:solidFill>
            <a:srgbClr val="FEF6E7"/>
          </a:solidFill>
          <a:ln/>
        </p:spPr>
      </p:sp>
      <p:sp>
        <p:nvSpPr>
          <p:cNvPr id="12" name="Text 10"/>
          <p:cNvSpPr/>
          <p:nvPr/>
        </p:nvSpPr>
        <p:spPr>
          <a:xfrm>
            <a:off x="731520" y="5257800"/>
            <a:ext cx="10698480" cy="274320"/>
          </a:xfrm>
          <a:prstGeom prst="rect">
            <a:avLst/>
          </a:prstGeom>
          <a:noFill/>
          <a:ln/>
        </p:spPr>
        <p:txBody>
          <a:bodyPr wrap="square" lIns="0" tIns="0" rIns="0" bIns="0" rtlCol="0" anchor="ctr"/>
          <a:lstStyle/>
          <a:p>
            <a:pPr indent="0" marL="0">
              <a:buNone/>
            </a:pPr>
            <a:r>
              <a:rPr lang="en-US" sz="1200" b="1" spc="50" kern="0" dirty="0">
                <a:solidFill>
                  <a:srgbClr val="F59E0B"/>
                </a:solidFill>
                <a:latin typeface="DM Mono" pitchFamily="34" charset="0"/>
                <a:ea typeface="DM Mono" pitchFamily="34" charset="-122"/>
                <a:cs typeface="DM Mono" pitchFamily="34" charset="-120"/>
              </a:rPr>
              <a:t>BEFORE DISMISSING</a:t>
            </a:r>
            <a:endParaRPr lang="en-US" sz="1200" dirty="0"/>
          </a:p>
        </p:txBody>
      </p:sp>
      <p:sp>
        <p:nvSpPr>
          <p:cNvPr id="13" name="Text 11"/>
          <p:cNvSpPr/>
          <p:nvPr/>
        </p:nvSpPr>
        <p:spPr>
          <a:xfrm>
            <a:off x="731520" y="5577840"/>
            <a:ext cx="10698480" cy="868680"/>
          </a:xfrm>
          <a:prstGeom prst="rect">
            <a:avLst/>
          </a:prstGeom>
          <a:noFill/>
          <a:ln/>
        </p:spPr>
        <p:txBody>
          <a:bodyPr wrap="square" lIns="0" tIns="0" rIns="0" bIns="0" rtlCol="0" anchor="ctr"/>
          <a:lstStyle/>
          <a:p>
            <a:pPr indent="0" marL="0">
              <a:buNone/>
            </a:pPr>
            <a:r>
              <a:rPr lang="en-US" sz="1400" dirty="0">
                <a:solidFill>
                  <a:srgbClr val="0D1117"/>
                </a:solidFill>
                <a:latin typeface="Calibri" pitchFamily="34" charset="0"/>
                <a:ea typeface="Calibri" pitchFamily="34" charset="-122"/>
                <a:cs typeface="Calibri" pitchFamily="34" charset="-120"/>
              </a:rPr>
              <a:t>Confirm every group has: a finalised problem statement, a Gantt chart with named owners and a marked critical path, and — if not fully signed off — a plan to finish it before the next lesson.</a:t>
            </a:r>
            <a:endParaRPr lang="en-US" sz="1400" dirty="0"/>
          </a:p>
        </p:txBody>
      </p:sp>
      <p:sp>
        <p:nvSpPr>
          <p:cNvPr id="14" name="Text 12"/>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7606A"/>
                </a:solidFill>
                <a:latin typeface="Courier New" pitchFamily="34" charset="0"/>
                <a:ea typeface="Courier New" pitchFamily="34" charset="-122"/>
                <a:cs typeface="Courier New" pitchFamily="34" charset="-120"/>
              </a:rPr>
              <a:t>y11-ac-u2-l6-project-planning</a:t>
            </a:r>
            <a:endParaRPr lang="en-US" sz="900" dirty="0"/>
          </a:p>
        </p:txBody>
      </p:sp>
      <p:sp>
        <p:nvSpPr>
          <p:cNvPr id="15" name="Text 13"/>
          <p:cNvSpPr/>
          <p:nvPr/>
        </p:nvSpPr>
        <p:spPr>
          <a:xfrm>
            <a:off x="10332720" y="6537960"/>
            <a:ext cx="1828800" cy="274320"/>
          </a:xfrm>
          <a:prstGeom prst="rect">
            <a:avLst/>
          </a:prstGeom>
          <a:noFill/>
          <a:ln/>
        </p:spPr>
        <p:txBody>
          <a:bodyPr wrap="square" lIns="0" tIns="0" rIns="0" bIns="0" rtlCol="0" anchor="ctr"/>
          <a:lstStyle/>
          <a:p>
            <a:pPr algn="r" indent="0" marL="0">
              <a:buNone/>
            </a:pPr>
            <a:r>
              <a:rPr lang="en-US" sz="900" dirty="0">
                <a:solidFill>
                  <a:srgbClr val="57606A"/>
                </a:solidFill>
                <a:latin typeface="Courier New" pitchFamily="34" charset="0"/>
                <a:ea typeface="Courier New" pitchFamily="34" charset="-122"/>
                <a:cs typeface="Courier New" pitchFamily="34" charset="-120"/>
              </a:rPr>
              <a:t>Mr Smith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2026-07-15T22:42:40Z</dcterms:created>
  <dcterms:modified xsi:type="dcterms:W3CDTF">2026-07-15T22:42:40Z</dcterms:modified>
</cp:coreProperties>
</file>