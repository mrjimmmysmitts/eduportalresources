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430907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slide. This lesson is D5.1 — building on Lesson 6's task list and Gantt chart to produce the first design representations of the solution: a mock-up (layout) and a storyboard (interaction sequence).
FIRST HALF (devices OFF): Slides 2-9, explicit teaching. Paper notes only.
SECOND HALF (from the Laptop Gate slide): students open the digital workbook and build their mock-up and storyboard across Sections 1-5.
Timing guide: ~30-35 min explicit, 5 min brain break, ~60 min application — the mock-up sketch and storyboard both take real time, so keep explicit teaching tight.
Ask students to bring their Lesson 6 workbook (task list, Gantt chart) — today's focus is chosen from an early task on their own plan.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hints beyond the instructions - let pairs discover the gap between description and drawing themselves.
Cold-call 2-3 pairs: "What got lost? What did the listener guess wrong?" Draw out that words alone are slow and ambiguous for communicating layout - a picture does it faster and more precisely.
Segue: "Today you're going to build exactly this kind of picture for your own project - a mock-up - plus a second tool for showing how someone moves through it over time."
Timing: 4 min total.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criterion aloud or ask a student to read it. Quick thumb-vote on which tier is their personal goal today.
Remind students: criteria map to workbook sections - Section 1 is choosing focus, Section 2 is the mock-up, Section 3 is the storyboard, Section 4 is reflection.
Timing: 2 min.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NOTES phase. Students copy the three reasons down.
Ask: "Which of these three feels most true from your own group's experience so far?" Let a couple of students answer briefly.
Timing: 3-4 min.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Cold-call: ask a group to describe one screen from their own solution in words only, then ask the class what's ambiguous about the description.
Point out the mock example is deliberately rough - a mock-up is not a finished, polished design, just a clear layout.
Timing: 4-5 min.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four panels aloud in sequence - emphasise this is the SAME feature as the mock-up example, but shown as a journey through time rather than a single layout.
Ask: "What does this storyboard tell you that the mock-up on the last slide didn't?" (The sequence, the trigger, the emotional beat of seeing the streak.)
Timing: 4 min.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table row by row. Emphasise that these aren't competing tools - a mock-up and storyboard of the same feature usually work together.
Cold-call: "For a drone or IoT project with no screen, what would a storyboard show?" (The user's physical interaction with the device over time, still useful even without an app screen.)
Timing: 4 min.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notes phase - these four elements become the checklist students self-assess against in the workbook sign-off section.
Point out "realistic content" trips up a lot of groups - they leave placeholder text and it makes the mock-up much harder for a teammate to read.
Timing: 4 min.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to application half: "You now have everything you need for both tools - let's build them for your own project."
Move to brain break next.
Timing: 4 min.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physical + verbal reset before the application half. 2 minutes.
The prompt keeps the "clear layout" concept warm without adding new content.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Circulate as groups move between workbook sections.
Budget roughly: 8 min Section 1, 20-25 min Section 2 (mock-up + labels), 20 min Section 3 (storyboard), 10 min Section 4.
Remind groups the sketchpad in Section 2 saves automatically as they draw.</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Circulate quickly - this section should take under 10 minutes.
Groups with drone/IoT/hardware projects sometimes freeze here - prompt them toward a display, control interface, or companion app screen.
Timing: ~8 min.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visual task of the lesson - allow 20-25 minutes.
Circulate checking for: at least a rough sense of regions (not just scribble), and labels that name purpose, not just "button 1".
Groups that finish early should move straight to the storyboard rather than polishing the mock-up further.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Circulate checking each panel has a distinct action, not four panels repeating the same moment.
Cold-call 1-2 groups to read out their panel 1 (trigger) and panel 4 (ending) - check the sequence actually goes somewhere.
Timing: ~20 min.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back gently on vague answers ("I didn't consider anything else") - ask what the very first version looked like before it changed.
Timing: ~10 min.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visible 3-minute timer. Remind students feedback should be specific ('this button has no label'), not vague ('looks good').
After this: exit ticket, devices off.
Timing: 5 min including swap-back.</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 on paper or have students complete the digital exit ticket without scrolling back.
Q10 (why sketch first) is the real test of today's content - listen for the idea that changing a sketch is cheap, changing a build is not.
Timing: 5 min.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dismissing: spot-check that every group has a labelled mock-up and a storyboard with a real sequence (not four disconnected panels).
Groups that haven't finished should treat completing it as their first priority next lesson - D5.2 builds directly on today's representations.
No formal homework beyond finishing an incomplete mock-up/storyboard if needed.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361EE"/>
        </a:solidFill>
        <a:effectLst/>
      </p:bgPr>
    </p:bg>
    <p:spTree>
      <p:nvGrpSpPr>
        <p:cNvPr id="1" name=""/>
        <p:cNvGrpSpPr/>
        <p:nvPr/>
      </p:nvGrpSpPr>
      <p:grpSpPr>
        <a:xfrm>
          <a:off x="0" y="0"/>
          <a:ext cx="0" cy="0"/>
          <a:chOff x="0" y="0"/>
          <a:chExt cx="0" cy="0"/>
        </a:xfrm>
      </p:grpSpPr>
      <p:pic>
        <p:nvPicPr>
          <p:cNvPr id="2" name="Image 0" descr="icon_pencilruler_FFFFFF.png"/>
          <p:cNvPicPr>
            <a:picLocks noChangeAspect="1"/>
          </p:cNvPicPr>
          <p:nvPr/>
        </p:nvPicPr>
        <p:blipFill>
          <a:blip r:embed="rId3"/>
          <a:stretch>
            <a:fillRect/>
          </a:stretch>
        </p:blipFill>
        <p:spPr>
          <a:xfrm>
            <a:off x="548640" y="502920"/>
            <a:ext cx="777240" cy="777240"/>
          </a:xfrm>
          <a:prstGeom prst="rect">
            <a:avLst/>
          </a:prstGeom>
        </p:spPr>
      </p:pic>
      <p:sp>
        <p:nvSpPr>
          <p:cNvPr id="3" name="Text 0"/>
          <p:cNvSpPr/>
          <p:nvPr/>
        </p:nvSpPr>
        <p:spPr>
          <a:xfrm>
            <a:off x="502920" y="1920240"/>
            <a:ext cx="9144000" cy="914400"/>
          </a:xfrm>
          <a:prstGeom prst="rect">
            <a:avLst/>
          </a:prstGeom>
          <a:noFill/>
          <a:ln/>
        </p:spPr>
        <p:txBody>
          <a:bodyPr wrap="square" rtlCol="0" anchor="ctr"/>
          <a:lstStyle/>
          <a:p>
            <a:pPr marL="0" indent="0">
              <a:buNone/>
            </a:pPr>
            <a:r>
              <a:rPr lang="en-US" sz="4600" dirty="0">
                <a:solidFill>
                  <a:srgbClr val="FFFFFF"/>
                </a:solidFill>
                <a:latin typeface="DM Serif Display" pitchFamily="34" charset="0"/>
                <a:ea typeface="DM Serif Display" pitchFamily="34" charset="-122"/>
                <a:cs typeface="DM Serif Display" pitchFamily="34" charset="-120"/>
              </a:rPr>
              <a:t>Design Tools</a:t>
            </a:r>
            <a:endParaRPr lang="en-US" sz="4600" dirty="0"/>
          </a:p>
        </p:txBody>
      </p:sp>
      <p:sp>
        <p:nvSpPr>
          <p:cNvPr id="4" name="Text 1"/>
          <p:cNvSpPr/>
          <p:nvPr/>
        </p:nvSpPr>
        <p:spPr>
          <a:xfrm>
            <a:off x="502920" y="2697480"/>
            <a:ext cx="9144000" cy="914400"/>
          </a:xfrm>
          <a:prstGeom prst="rect">
            <a:avLst/>
          </a:prstGeom>
          <a:noFill/>
          <a:ln/>
        </p:spPr>
        <p:txBody>
          <a:bodyPr wrap="square" rtlCol="0" anchor="ctr"/>
          <a:lstStyle/>
          <a:p>
            <a:pPr marL="0" indent="0">
              <a:buNone/>
            </a:pPr>
            <a:r>
              <a:rPr lang="en-US" sz="4600" dirty="0">
                <a:solidFill>
                  <a:srgbClr val="FFFFFF"/>
                </a:solidFill>
                <a:latin typeface="DM Serif Display" pitchFamily="34" charset="0"/>
                <a:ea typeface="DM Serif Display" pitchFamily="34" charset="-122"/>
                <a:cs typeface="DM Serif Display" pitchFamily="34" charset="-120"/>
              </a:rPr>
              <a:t>&amp; Techniques I</a:t>
            </a:r>
            <a:endParaRPr lang="en-US" sz="4600" dirty="0"/>
          </a:p>
        </p:txBody>
      </p:sp>
      <p:sp>
        <p:nvSpPr>
          <p:cNvPr id="5" name="Text 2"/>
          <p:cNvSpPr/>
          <p:nvPr/>
        </p:nvSpPr>
        <p:spPr>
          <a:xfrm>
            <a:off x="502920" y="3657600"/>
            <a:ext cx="2743200" cy="457200"/>
          </a:xfrm>
          <a:prstGeom prst="rect">
            <a:avLst/>
          </a:prstGeom>
          <a:noFill/>
          <a:ln/>
        </p:spPr>
        <p:txBody>
          <a:bodyPr wrap="square" rtlCol="0" anchor="ctr"/>
          <a:lstStyle/>
          <a:p>
            <a:pPr marL="0" indent="0">
              <a:buNone/>
            </a:pPr>
            <a:r>
              <a:rPr lang="en-US" sz="1800" kern="0" spc="200" dirty="0">
                <a:solidFill>
                  <a:srgbClr val="FFFFFF"/>
                </a:solidFill>
                <a:latin typeface="DM Mono" pitchFamily="34" charset="0"/>
                <a:ea typeface="DM Mono" pitchFamily="34" charset="-122"/>
                <a:cs typeface="DM Mono" pitchFamily="34" charset="-120"/>
              </a:rPr>
              <a:t>D5.1</a:t>
            </a:r>
            <a:endParaRPr lang="en-US" sz="1800" dirty="0"/>
          </a:p>
        </p:txBody>
      </p:sp>
      <p:sp>
        <p:nvSpPr>
          <p:cNvPr id="6" name="Text 3"/>
          <p:cNvSpPr/>
          <p:nvPr/>
        </p:nvSpPr>
        <p:spPr>
          <a:xfrm>
            <a:off x="502920" y="4160520"/>
            <a:ext cx="8046720" cy="914400"/>
          </a:xfrm>
          <a:prstGeom prst="rect">
            <a:avLst/>
          </a:prstGeom>
          <a:noFill/>
          <a:ln/>
        </p:spPr>
        <p:txBody>
          <a:bodyPr wrap="square" rtlCol="0" anchor="ctr"/>
          <a:lstStyle/>
          <a:p>
            <a:pPr marL="0" indent="0">
              <a:buNone/>
            </a:pPr>
            <a:r>
              <a:rPr lang="en-US" sz="1600" dirty="0">
                <a:solidFill>
                  <a:srgbClr val="FFFFFF"/>
                </a:solidFill>
                <a:latin typeface="DM Sans" pitchFamily="34" charset="0"/>
                <a:ea typeface="DM Sans" pitchFamily="34" charset="-122"/>
                <a:cs typeface="DM Sans" pitchFamily="34" charset="-120"/>
              </a:rPr>
              <a:t>Turning your project plan into first design representations — mock-ups for layout, storyboards for user interaction flow.</a:t>
            </a:r>
            <a:endParaRPr lang="en-US" sz="1600" dirty="0"/>
          </a:p>
        </p:txBody>
      </p:sp>
      <p:sp>
        <p:nvSpPr>
          <p:cNvPr id="7" name="Text 4"/>
          <p:cNvSpPr/>
          <p:nvPr/>
        </p:nvSpPr>
        <p:spPr>
          <a:xfrm>
            <a:off x="502920" y="5806440"/>
            <a:ext cx="5486400" cy="320040"/>
          </a:xfrm>
          <a:prstGeom prst="rect">
            <a:avLst/>
          </a:prstGeom>
          <a:noFill/>
          <a:ln/>
        </p:spPr>
        <p:txBody>
          <a:bodyPr wrap="square" rtlCol="0" anchor="ctr"/>
          <a:lstStyle/>
          <a:p>
            <a:pPr marL="0" indent="0">
              <a:buNone/>
            </a:pPr>
            <a:r>
              <a:rPr lang="en-US" sz="1100" kern="0" spc="100" dirty="0">
                <a:solidFill>
                  <a:srgbClr val="FFFFFF"/>
                </a:solidFill>
                <a:latin typeface="DM Mono" pitchFamily="34" charset="0"/>
                <a:ea typeface="DM Mono" pitchFamily="34" charset="-122"/>
                <a:cs typeface="DM Mono" pitchFamily="34" charset="-120"/>
              </a:rPr>
              <a:t>AoS1  Innovative Solutions</a:t>
            </a:r>
            <a:endParaRPr lang="en-US" sz="1100" dirty="0"/>
          </a:p>
        </p:txBody>
      </p:sp>
      <p:sp>
        <p:nvSpPr>
          <p:cNvPr id="8" name="Text 5"/>
          <p:cNvSpPr/>
          <p:nvPr/>
        </p:nvSpPr>
        <p:spPr>
          <a:xfrm>
            <a:off x="9601200" y="502920"/>
            <a:ext cx="2011680" cy="365760"/>
          </a:xfrm>
          <a:prstGeom prst="rect">
            <a:avLst/>
          </a:prstGeom>
          <a:noFill/>
          <a:ln/>
        </p:spPr>
        <p:txBody>
          <a:bodyPr wrap="square" rtlCol="0" anchor="ctr"/>
          <a:lstStyle/>
          <a:p>
            <a:pPr marL="0" indent="0" algn="r">
              <a:buNone/>
            </a:pPr>
            <a:r>
              <a:rPr lang="en-US" sz="1200" b="1" kern="0" spc="200" dirty="0">
                <a:solidFill>
                  <a:srgbClr val="FFFFFF"/>
                </a:solidFill>
                <a:latin typeface="DM Mono" pitchFamily="34" charset="0"/>
                <a:ea typeface="DM Mono" pitchFamily="34" charset="-122"/>
                <a:cs typeface="DM Mono" pitchFamily="34" charset="-120"/>
              </a:rPr>
              <a:t>LESSON 7</a:t>
            </a:r>
            <a:endParaRPr lang="en-US" sz="1200" dirty="0"/>
          </a:p>
        </p:txBody>
      </p:sp>
      <p:sp>
        <p:nvSpPr>
          <p:cNvPr id="9" name="Text 6"/>
          <p:cNvSpPr/>
          <p:nvPr/>
        </p:nvSpPr>
        <p:spPr>
          <a:xfrm>
            <a:off x="502920" y="6172200"/>
            <a:ext cx="7315200" cy="274320"/>
          </a:xfrm>
          <a:prstGeom prst="rect">
            <a:avLst/>
          </a:prstGeom>
          <a:noFill/>
          <a:ln/>
        </p:spPr>
        <p:txBody>
          <a:bodyPr wrap="square" rtlCol="0" anchor="ctr"/>
          <a:lstStyle/>
          <a:p>
            <a:pPr marL="0" indent="0">
              <a:buNone/>
            </a:pPr>
            <a:r>
              <a:rPr lang="en-US" sz="1000" dirty="0">
                <a:solidFill>
                  <a:srgbClr val="FFFFFF"/>
                </a:solidFill>
                <a:latin typeface="DM Mono" pitchFamily="34" charset="0"/>
                <a:ea typeface="DM Mono" pitchFamily="34" charset="-122"/>
                <a:cs typeface="DM Mono" pitchFamily="34" charset="-120"/>
              </a:rPr>
              <a:t>Year 11 Applied Computing — Unit 2</a:t>
            </a:r>
            <a:endParaRPr lang="en-US" sz="1000" dirty="0"/>
          </a:p>
        </p:txBody>
      </p:sp>
      <p:sp>
        <p:nvSpPr>
          <p:cNvPr id="10" name="Text 7"/>
          <p:cNvSpPr/>
          <p:nvPr/>
        </p:nvSpPr>
        <p:spPr>
          <a:xfrm>
            <a:off x="502920" y="6446520"/>
            <a:ext cx="7315200" cy="274320"/>
          </a:xfrm>
          <a:prstGeom prst="rect">
            <a:avLst/>
          </a:prstGeom>
          <a:noFill/>
          <a:ln/>
        </p:spPr>
        <p:txBody>
          <a:bodyPr wrap="square" rtlCol="0" anchor="ctr"/>
          <a:lstStyle/>
          <a:p>
            <a:pPr marL="0" indent="0">
              <a:buNone/>
            </a:pPr>
            <a:r>
              <a:rPr lang="en-US" sz="900" dirty="0">
                <a:solidFill>
                  <a:srgbClr val="FFFFFF"/>
                </a:solidFill>
                <a:latin typeface="DM Mono" pitchFamily="34" charset="0"/>
                <a:ea typeface="DM Mono" pitchFamily="34" charset="-122"/>
                <a:cs typeface="DM Mono" pitchFamily="34" charset="-120"/>
              </a:rPr>
              <a:t>y11-ac-u2-l7-design-tools-techniques-i</a:t>
            </a:r>
            <a:endParaRPr lang="en-US" sz="900" dirty="0"/>
          </a:p>
        </p:txBody>
      </p:sp>
      <p:sp>
        <p:nvSpPr>
          <p:cNvPr id="11" name="Text 8"/>
          <p:cNvSpPr/>
          <p:nvPr/>
        </p:nvSpPr>
        <p:spPr>
          <a:xfrm>
            <a:off x="10515600" y="6446520"/>
            <a:ext cx="1280160" cy="274320"/>
          </a:xfrm>
          <a:prstGeom prst="rect">
            <a:avLst/>
          </a:prstGeom>
          <a:noFill/>
          <a:ln/>
        </p:spPr>
        <p:txBody>
          <a:bodyPr wrap="square" rtlCol="0" anchor="ctr"/>
          <a:lstStyle/>
          <a:p>
            <a:pPr marL="0" indent="0" algn="r">
              <a:buNone/>
            </a:pPr>
            <a:r>
              <a:rPr lang="en-US" sz="900" dirty="0">
                <a:solidFill>
                  <a:srgbClr val="FFFFFF"/>
                </a:solidFill>
                <a:latin typeface="DM Mono" pitchFamily="34" charset="0"/>
                <a:ea typeface="DM Mono" pitchFamily="34" charset="-122"/>
                <a:cs typeface="DM Mono" pitchFamily="34" charset="-120"/>
              </a:rPr>
              <a:t>Mr Smith</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6537960"/>
            <a:ext cx="5486400" cy="274320"/>
          </a:xfrm>
          <a:prstGeom prst="rect">
            <a:avLst/>
          </a:prstGeom>
          <a:noFill/>
          <a:ln/>
        </p:spPr>
        <p:txBody>
          <a:bodyPr wrap="square" rtlCol="0" anchor="ctr"/>
          <a:lstStyle/>
          <a:p>
            <a:pPr marL="0" indent="0">
              <a:buNone/>
            </a:pPr>
            <a:r>
              <a:rPr lang="en-US" sz="900" dirty="0">
                <a:solidFill>
                  <a:srgbClr val="5B6472"/>
                </a:solidFill>
                <a:latin typeface="DM Mono" pitchFamily="34" charset="0"/>
                <a:ea typeface="DM Mono" pitchFamily="34" charset="-122"/>
                <a:cs typeface="DM Mono" pitchFamily="34" charset="-120"/>
              </a:rPr>
              <a:t>y11-ac-u2-l7-design-tools-techniques-i</a:t>
            </a:r>
            <a:endParaRPr lang="en-US" sz="900" dirty="0"/>
          </a:p>
        </p:txBody>
      </p:sp>
      <p:sp>
        <p:nvSpPr>
          <p:cNvPr id="3" name="Text 1"/>
          <p:cNvSpPr/>
          <p:nvPr/>
        </p:nvSpPr>
        <p:spPr>
          <a:xfrm>
            <a:off x="10515600" y="6537960"/>
            <a:ext cx="1280160" cy="274320"/>
          </a:xfrm>
          <a:prstGeom prst="rect">
            <a:avLst/>
          </a:prstGeom>
          <a:noFill/>
          <a:ln/>
        </p:spPr>
        <p:txBody>
          <a:bodyPr wrap="square" rtlCol="0" anchor="ctr"/>
          <a:lstStyle/>
          <a:p>
            <a:pPr marL="0" indent="0" algn="r">
              <a:buNone/>
            </a:pPr>
            <a:r>
              <a:rPr lang="en-US" sz="900" dirty="0">
                <a:solidFill>
                  <a:srgbClr val="5B6472"/>
                </a:solidFill>
                <a:latin typeface="DM Mono" pitchFamily="34" charset="0"/>
                <a:ea typeface="DM Mono" pitchFamily="34" charset="-122"/>
                <a:cs typeface="DM Mono" pitchFamily="34" charset="-120"/>
              </a:rPr>
              <a:t>Mr Smith</a:t>
            </a:r>
            <a:endParaRPr lang="en-US" sz="900" dirty="0"/>
          </a:p>
        </p:txBody>
      </p:sp>
      <p:sp>
        <p:nvSpPr>
          <p:cNvPr id="4" name="Text 2"/>
          <p:cNvSpPr/>
          <p:nvPr/>
        </p:nvSpPr>
        <p:spPr>
          <a:xfrm>
            <a:off x="457200" y="320040"/>
            <a:ext cx="2926080" cy="365760"/>
          </a:xfrm>
          <a:prstGeom prst="rect">
            <a:avLst/>
          </a:prstGeom>
          <a:noFill/>
          <a:ln/>
        </p:spPr>
        <p:txBody>
          <a:bodyPr wrap="square" rtlCol="0" anchor="ctr"/>
          <a:lstStyle/>
          <a:p>
            <a:pPr marL="0" indent="0">
              <a:buNone/>
            </a:pPr>
            <a:r>
              <a:rPr lang="en-US" sz="1200" b="1" kern="0" spc="200" dirty="0">
                <a:solidFill>
                  <a:srgbClr val="F59E0B"/>
                </a:solidFill>
                <a:latin typeface="DM Mono" pitchFamily="34" charset="0"/>
                <a:ea typeface="DM Mono" pitchFamily="34" charset="-122"/>
                <a:cs typeface="DM Mono" pitchFamily="34" charset="-120"/>
              </a:rPr>
              <a:t>WARM-UP</a:t>
            </a:r>
            <a:endParaRPr lang="en-US" sz="1200" dirty="0"/>
          </a:p>
        </p:txBody>
      </p:sp>
      <p:sp>
        <p:nvSpPr>
          <p:cNvPr id="5" name="Text 3"/>
          <p:cNvSpPr/>
          <p:nvPr/>
        </p:nvSpPr>
        <p:spPr>
          <a:xfrm>
            <a:off x="457200" y="731520"/>
            <a:ext cx="10515600" cy="640080"/>
          </a:xfrm>
          <a:prstGeom prst="rect">
            <a:avLst/>
          </a:prstGeom>
          <a:noFill/>
          <a:ln/>
        </p:spPr>
        <p:txBody>
          <a:bodyPr wrap="square" rtlCol="0" anchor="ctr"/>
          <a:lstStyle/>
          <a:p>
            <a:pPr marL="0" indent="0">
              <a:buNone/>
            </a:pPr>
            <a:r>
              <a:rPr lang="en-US" sz="2800" dirty="0">
                <a:solidFill>
                  <a:srgbClr val="111111"/>
                </a:solidFill>
                <a:latin typeface="DM Serif Display" pitchFamily="34" charset="0"/>
                <a:ea typeface="DM Serif Display" pitchFamily="34" charset="-122"/>
                <a:cs typeface="DM Serif Display" pitchFamily="34" charset="-120"/>
              </a:rPr>
              <a:t>Describe Without Drawing</a:t>
            </a:r>
            <a:endParaRPr lang="en-US" sz="2800" dirty="0"/>
          </a:p>
        </p:txBody>
      </p:sp>
      <p:sp>
        <p:nvSpPr>
          <p:cNvPr id="6" name="Text 4"/>
          <p:cNvSpPr/>
          <p:nvPr/>
        </p:nvSpPr>
        <p:spPr>
          <a:xfrm>
            <a:off x="457200" y="1508760"/>
            <a:ext cx="10424160" cy="914400"/>
          </a:xfrm>
          <a:prstGeom prst="rect">
            <a:avLst/>
          </a:prstGeom>
          <a:noFill/>
          <a:ln/>
        </p:spPr>
        <p:txBody>
          <a:bodyPr wrap="square" rtlCol="0" anchor="ctr"/>
          <a:lstStyle/>
          <a:p>
            <a:pPr marL="0" indent="0">
              <a:buNone/>
            </a:pPr>
            <a:r>
              <a:rPr lang="en-US" sz="1600" dirty="0">
                <a:solidFill>
                  <a:srgbClr val="111111"/>
                </a:solidFill>
                <a:latin typeface="DM Sans" pitchFamily="34" charset="0"/>
                <a:ea typeface="DM Sans" pitchFamily="34" charset="-122"/>
                <a:cs typeface="DM Sans" pitchFamily="34" charset="-120"/>
              </a:rPr>
              <a:t>Pair up. One person describes their phone’s home screen out loud — layout, icons, positions — without naming any apps by their icon’s shape. The other person sketches it from the description only, on paper.</a:t>
            </a:r>
            <a:endParaRPr lang="en-US" sz="1600" dirty="0"/>
          </a:p>
        </p:txBody>
      </p:sp>
      <p:sp>
        <p:nvSpPr>
          <p:cNvPr id="7" name="Shape 5"/>
          <p:cNvSpPr/>
          <p:nvPr/>
        </p:nvSpPr>
        <p:spPr>
          <a:xfrm>
            <a:off x="457200" y="2651760"/>
            <a:ext cx="3429000" cy="1737360"/>
          </a:xfrm>
          <a:prstGeom prst="roundRect">
            <a:avLst>
              <a:gd name="adj" fmla="val 4211"/>
            </a:avLst>
          </a:prstGeom>
          <a:solidFill>
            <a:srgbClr val="F6F8FA"/>
          </a:solidFill>
          <a:ln w="12700">
            <a:solidFill>
              <a:srgbClr val="D0D7DE"/>
            </a:solidFill>
            <a:prstDash val="solid"/>
          </a:ln>
        </p:spPr>
        <p:txBody>
          <a:bodyPr/>
          <a:lstStyle/>
          <a:p>
            <a:endParaRPr lang="en-AU"/>
          </a:p>
        </p:txBody>
      </p:sp>
      <p:sp>
        <p:nvSpPr>
          <p:cNvPr id="8" name="Text 6"/>
          <p:cNvSpPr/>
          <p:nvPr/>
        </p:nvSpPr>
        <p:spPr>
          <a:xfrm>
            <a:off x="685800" y="2788920"/>
            <a:ext cx="548640" cy="457200"/>
          </a:xfrm>
          <a:prstGeom prst="rect">
            <a:avLst/>
          </a:prstGeom>
          <a:noFill/>
          <a:ln/>
        </p:spPr>
        <p:txBody>
          <a:bodyPr wrap="square" rtlCol="0" anchor="ctr"/>
          <a:lstStyle/>
          <a:p>
            <a:pPr marL="0" indent="0">
              <a:buNone/>
            </a:pPr>
            <a:r>
              <a:rPr lang="en-US" sz="2000" b="1" dirty="0">
                <a:solidFill>
                  <a:srgbClr val="4361EE"/>
                </a:solidFill>
                <a:latin typeface="DM Mono" pitchFamily="34" charset="0"/>
                <a:ea typeface="DM Mono" pitchFamily="34" charset="-122"/>
                <a:cs typeface="DM Mono" pitchFamily="34" charset="-120"/>
              </a:rPr>
              <a:t>1</a:t>
            </a:r>
            <a:endParaRPr lang="en-US" sz="2000" dirty="0"/>
          </a:p>
        </p:txBody>
      </p:sp>
      <p:sp>
        <p:nvSpPr>
          <p:cNvPr id="9" name="Text 7"/>
          <p:cNvSpPr/>
          <p:nvPr/>
        </p:nvSpPr>
        <p:spPr>
          <a:xfrm>
            <a:off x="685800" y="3200400"/>
            <a:ext cx="2971800" cy="365760"/>
          </a:xfrm>
          <a:prstGeom prst="rect">
            <a:avLst/>
          </a:prstGeom>
          <a:noFill/>
          <a:ln/>
        </p:spPr>
        <p:txBody>
          <a:bodyPr wrap="square" rtlCol="0" anchor="ctr"/>
          <a:lstStyle/>
          <a:p>
            <a:pPr marL="0" indent="0">
              <a:buNone/>
            </a:pPr>
            <a:r>
              <a:rPr lang="en-US" sz="1500" b="1" dirty="0">
                <a:solidFill>
                  <a:srgbClr val="111111"/>
                </a:solidFill>
                <a:latin typeface="DM Sans" pitchFamily="34" charset="0"/>
                <a:ea typeface="DM Sans" pitchFamily="34" charset="-122"/>
                <a:cs typeface="DM Sans" pitchFamily="34" charset="-120"/>
              </a:rPr>
              <a:t>Describe it</a:t>
            </a:r>
            <a:endParaRPr lang="en-US" sz="1500" dirty="0"/>
          </a:p>
        </p:txBody>
      </p:sp>
      <p:sp>
        <p:nvSpPr>
          <p:cNvPr id="10" name="Text 8"/>
          <p:cNvSpPr/>
          <p:nvPr/>
        </p:nvSpPr>
        <p:spPr>
          <a:xfrm>
            <a:off x="685800" y="3566160"/>
            <a:ext cx="2971800" cy="777240"/>
          </a:xfrm>
          <a:prstGeom prst="rect">
            <a:avLst/>
          </a:prstGeom>
          <a:noFill/>
          <a:ln/>
        </p:spPr>
        <p:txBody>
          <a:bodyPr wrap="square" rtlCol="0" anchor="ctr"/>
          <a:lstStyle/>
          <a:p>
            <a:pPr marL="0" indent="0">
              <a:buNone/>
            </a:pPr>
            <a:r>
              <a:rPr lang="en-US" sz="1200" dirty="0">
                <a:solidFill>
                  <a:srgbClr val="5B6472"/>
                </a:solidFill>
                <a:latin typeface="DM Sans" pitchFamily="34" charset="0"/>
                <a:ea typeface="DM Sans" pitchFamily="34" charset="-122"/>
                <a:cs typeface="DM Sans" pitchFamily="34" charset="-120"/>
              </a:rPr>
              <a:t>Speaker describes the layout out loud for 90 seconds — no pointing, no showing the phone.</a:t>
            </a:r>
            <a:endParaRPr lang="en-US" sz="1200" dirty="0"/>
          </a:p>
        </p:txBody>
      </p:sp>
      <p:sp>
        <p:nvSpPr>
          <p:cNvPr id="11" name="Shape 9"/>
          <p:cNvSpPr/>
          <p:nvPr/>
        </p:nvSpPr>
        <p:spPr>
          <a:xfrm>
            <a:off x="4069080" y="2651760"/>
            <a:ext cx="3429000" cy="1737360"/>
          </a:xfrm>
          <a:prstGeom prst="roundRect">
            <a:avLst>
              <a:gd name="adj" fmla="val 4211"/>
            </a:avLst>
          </a:prstGeom>
          <a:solidFill>
            <a:srgbClr val="F6F8FA"/>
          </a:solidFill>
          <a:ln w="12700">
            <a:solidFill>
              <a:srgbClr val="D0D7DE"/>
            </a:solidFill>
            <a:prstDash val="solid"/>
          </a:ln>
        </p:spPr>
        <p:txBody>
          <a:bodyPr/>
          <a:lstStyle/>
          <a:p>
            <a:endParaRPr lang="en-AU"/>
          </a:p>
        </p:txBody>
      </p:sp>
      <p:sp>
        <p:nvSpPr>
          <p:cNvPr id="12" name="Text 10"/>
          <p:cNvSpPr/>
          <p:nvPr/>
        </p:nvSpPr>
        <p:spPr>
          <a:xfrm>
            <a:off x="4297680" y="2788920"/>
            <a:ext cx="548640" cy="457200"/>
          </a:xfrm>
          <a:prstGeom prst="rect">
            <a:avLst/>
          </a:prstGeom>
          <a:noFill/>
          <a:ln/>
        </p:spPr>
        <p:txBody>
          <a:bodyPr wrap="square" rtlCol="0" anchor="ctr"/>
          <a:lstStyle/>
          <a:p>
            <a:pPr marL="0" indent="0">
              <a:buNone/>
            </a:pPr>
            <a:r>
              <a:rPr lang="en-US" sz="2000" b="1" dirty="0">
                <a:solidFill>
                  <a:srgbClr val="4361EE"/>
                </a:solidFill>
                <a:latin typeface="DM Mono" pitchFamily="34" charset="0"/>
                <a:ea typeface="DM Mono" pitchFamily="34" charset="-122"/>
                <a:cs typeface="DM Mono" pitchFamily="34" charset="-120"/>
              </a:rPr>
              <a:t>2</a:t>
            </a:r>
            <a:endParaRPr lang="en-US" sz="2000" dirty="0"/>
          </a:p>
        </p:txBody>
      </p:sp>
      <p:sp>
        <p:nvSpPr>
          <p:cNvPr id="13" name="Text 11"/>
          <p:cNvSpPr/>
          <p:nvPr/>
        </p:nvSpPr>
        <p:spPr>
          <a:xfrm>
            <a:off x="4297680" y="3200400"/>
            <a:ext cx="2971800" cy="365760"/>
          </a:xfrm>
          <a:prstGeom prst="rect">
            <a:avLst/>
          </a:prstGeom>
          <a:noFill/>
          <a:ln/>
        </p:spPr>
        <p:txBody>
          <a:bodyPr wrap="square" rtlCol="0" anchor="ctr"/>
          <a:lstStyle/>
          <a:p>
            <a:pPr marL="0" indent="0">
              <a:buNone/>
            </a:pPr>
            <a:r>
              <a:rPr lang="en-US" sz="1500" b="1" dirty="0">
                <a:solidFill>
                  <a:srgbClr val="111111"/>
                </a:solidFill>
                <a:latin typeface="DM Sans" pitchFamily="34" charset="0"/>
                <a:ea typeface="DM Sans" pitchFamily="34" charset="-122"/>
                <a:cs typeface="DM Sans" pitchFamily="34" charset="-120"/>
              </a:rPr>
              <a:t>Sketch it</a:t>
            </a:r>
            <a:endParaRPr lang="en-US" sz="1500" dirty="0"/>
          </a:p>
        </p:txBody>
      </p:sp>
      <p:sp>
        <p:nvSpPr>
          <p:cNvPr id="14" name="Text 12"/>
          <p:cNvSpPr/>
          <p:nvPr/>
        </p:nvSpPr>
        <p:spPr>
          <a:xfrm>
            <a:off x="4297680" y="3566160"/>
            <a:ext cx="2971800" cy="777240"/>
          </a:xfrm>
          <a:prstGeom prst="rect">
            <a:avLst/>
          </a:prstGeom>
          <a:noFill/>
          <a:ln/>
        </p:spPr>
        <p:txBody>
          <a:bodyPr wrap="square" rtlCol="0" anchor="ctr"/>
          <a:lstStyle/>
          <a:p>
            <a:pPr marL="0" indent="0">
              <a:buNone/>
            </a:pPr>
            <a:r>
              <a:rPr lang="en-US" sz="1200" dirty="0">
                <a:solidFill>
                  <a:srgbClr val="5B6472"/>
                </a:solidFill>
                <a:latin typeface="DM Sans" pitchFamily="34" charset="0"/>
                <a:ea typeface="DM Sans" pitchFamily="34" charset="-122"/>
                <a:cs typeface="DM Sans" pitchFamily="34" charset="-120"/>
              </a:rPr>
              <a:t>Listener draws what they hear, as literally as they can, in 90 seconds.</a:t>
            </a:r>
            <a:endParaRPr lang="en-US" sz="1200" dirty="0"/>
          </a:p>
        </p:txBody>
      </p:sp>
      <p:sp>
        <p:nvSpPr>
          <p:cNvPr id="15" name="Shape 13"/>
          <p:cNvSpPr/>
          <p:nvPr/>
        </p:nvSpPr>
        <p:spPr>
          <a:xfrm>
            <a:off x="7680960" y="2651760"/>
            <a:ext cx="3429000" cy="1737360"/>
          </a:xfrm>
          <a:prstGeom prst="roundRect">
            <a:avLst>
              <a:gd name="adj" fmla="val 4211"/>
            </a:avLst>
          </a:prstGeom>
          <a:solidFill>
            <a:srgbClr val="F6F8FA"/>
          </a:solidFill>
          <a:ln w="12700">
            <a:solidFill>
              <a:srgbClr val="D0D7DE"/>
            </a:solidFill>
            <a:prstDash val="solid"/>
          </a:ln>
        </p:spPr>
        <p:txBody>
          <a:bodyPr/>
          <a:lstStyle/>
          <a:p>
            <a:endParaRPr lang="en-AU"/>
          </a:p>
        </p:txBody>
      </p:sp>
      <p:sp>
        <p:nvSpPr>
          <p:cNvPr id="16" name="Text 14"/>
          <p:cNvSpPr/>
          <p:nvPr/>
        </p:nvSpPr>
        <p:spPr>
          <a:xfrm>
            <a:off x="7909560" y="2788920"/>
            <a:ext cx="548640" cy="457200"/>
          </a:xfrm>
          <a:prstGeom prst="rect">
            <a:avLst/>
          </a:prstGeom>
          <a:noFill/>
          <a:ln/>
        </p:spPr>
        <p:txBody>
          <a:bodyPr wrap="square" rtlCol="0" anchor="ctr"/>
          <a:lstStyle/>
          <a:p>
            <a:pPr marL="0" indent="0">
              <a:buNone/>
            </a:pPr>
            <a:r>
              <a:rPr lang="en-US" sz="2000" b="1" dirty="0">
                <a:solidFill>
                  <a:srgbClr val="4361EE"/>
                </a:solidFill>
                <a:latin typeface="DM Mono" pitchFamily="34" charset="0"/>
                <a:ea typeface="DM Mono" pitchFamily="34" charset="-122"/>
                <a:cs typeface="DM Mono" pitchFamily="34" charset="-120"/>
              </a:rPr>
              <a:t>3</a:t>
            </a:r>
            <a:endParaRPr lang="en-US" sz="2000" dirty="0"/>
          </a:p>
        </p:txBody>
      </p:sp>
      <p:sp>
        <p:nvSpPr>
          <p:cNvPr id="17" name="Text 15"/>
          <p:cNvSpPr/>
          <p:nvPr/>
        </p:nvSpPr>
        <p:spPr>
          <a:xfrm>
            <a:off x="7909560" y="3200400"/>
            <a:ext cx="2971800" cy="365760"/>
          </a:xfrm>
          <a:prstGeom prst="rect">
            <a:avLst/>
          </a:prstGeom>
          <a:noFill/>
          <a:ln/>
        </p:spPr>
        <p:txBody>
          <a:bodyPr wrap="square" rtlCol="0" anchor="ctr"/>
          <a:lstStyle/>
          <a:p>
            <a:pPr marL="0" indent="0">
              <a:buNone/>
            </a:pPr>
            <a:r>
              <a:rPr lang="en-US" sz="1500" b="1" dirty="0">
                <a:solidFill>
                  <a:srgbClr val="111111"/>
                </a:solidFill>
                <a:latin typeface="DM Sans" pitchFamily="34" charset="0"/>
                <a:ea typeface="DM Sans" pitchFamily="34" charset="-122"/>
                <a:cs typeface="DM Sans" pitchFamily="34" charset="-120"/>
              </a:rPr>
              <a:t>Compare</a:t>
            </a:r>
            <a:endParaRPr lang="en-US" sz="1500" dirty="0"/>
          </a:p>
        </p:txBody>
      </p:sp>
      <p:sp>
        <p:nvSpPr>
          <p:cNvPr id="18" name="Text 16"/>
          <p:cNvSpPr/>
          <p:nvPr/>
        </p:nvSpPr>
        <p:spPr>
          <a:xfrm>
            <a:off x="7909560" y="3566160"/>
            <a:ext cx="2971800" cy="777240"/>
          </a:xfrm>
          <a:prstGeom prst="rect">
            <a:avLst/>
          </a:prstGeom>
          <a:noFill/>
          <a:ln/>
        </p:spPr>
        <p:txBody>
          <a:bodyPr wrap="square" rtlCol="0" anchor="ctr"/>
          <a:lstStyle/>
          <a:p>
            <a:pPr marL="0" indent="0">
              <a:buNone/>
            </a:pPr>
            <a:r>
              <a:rPr lang="en-US" sz="1200" dirty="0">
                <a:solidFill>
                  <a:srgbClr val="5B6472"/>
                </a:solidFill>
                <a:latin typeface="DM Sans" pitchFamily="34" charset="0"/>
                <a:ea typeface="DM Sans" pitchFamily="34" charset="-122"/>
                <a:cs typeface="DM Sans" pitchFamily="34" charset="-120"/>
              </a:rPr>
              <a:t>Hold the sketch next to the real screen. What got lost in translation?</a:t>
            </a:r>
            <a:endParaRPr lang="en-US" sz="1200" dirty="0"/>
          </a:p>
        </p:txBody>
      </p:sp>
      <p:sp>
        <p:nvSpPr>
          <p:cNvPr id="19" name="Shape 17"/>
          <p:cNvSpPr/>
          <p:nvPr/>
        </p:nvSpPr>
        <p:spPr>
          <a:xfrm>
            <a:off x="457200" y="4663440"/>
            <a:ext cx="10424160" cy="594360"/>
          </a:xfrm>
          <a:prstGeom prst="roundRect">
            <a:avLst>
              <a:gd name="adj" fmla="val 9231"/>
            </a:avLst>
          </a:prstGeom>
          <a:solidFill>
            <a:srgbClr val="4361EE"/>
          </a:solidFill>
          <a:ln/>
        </p:spPr>
        <p:txBody>
          <a:bodyPr/>
          <a:lstStyle/>
          <a:p>
            <a:endParaRPr lang="en-AU"/>
          </a:p>
        </p:txBody>
      </p:sp>
      <p:sp>
        <p:nvSpPr>
          <p:cNvPr id="20" name="Text 18"/>
          <p:cNvSpPr/>
          <p:nvPr/>
        </p:nvSpPr>
        <p:spPr>
          <a:xfrm>
            <a:off x="457200" y="4663440"/>
            <a:ext cx="10424160" cy="594360"/>
          </a:xfrm>
          <a:prstGeom prst="rect">
            <a:avLst/>
          </a:prstGeom>
          <a:noFill/>
          <a:ln/>
        </p:spPr>
        <p:txBody>
          <a:bodyPr wrap="square" rtlCol="0" anchor="ctr"/>
          <a:lstStyle/>
          <a:p>
            <a:pPr marL="0" indent="0" algn="ctr">
              <a:buNone/>
            </a:pPr>
            <a:r>
              <a:rPr lang="en-US" sz="1300" dirty="0">
                <a:solidFill>
                  <a:srgbClr val="FFFFFF"/>
                </a:solidFill>
                <a:latin typeface="DM Mono" pitchFamily="34" charset="0"/>
                <a:ea typeface="DM Mono" pitchFamily="34" charset="-122"/>
                <a:cs typeface="DM Mono" pitchFamily="34" charset="-120"/>
              </a:rPr>
              <a:t>Devices OFF — paper and pencil only. 4 minutes total.</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6537960"/>
            <a:ext cx="5486400" cy="274320"/>
          </a:xfrm>
          <a:prstGeom prst="rect">
            <a:avLst/>
          </a:prstGeom>
          <a:noFill/>
          <a:ln/>
        </p:spPr>
        <p:txBody>
          <a:bodyPr wrap="square" rtlCol="0" anchor="ctr"/>
          <a:lstStyle/>
          <a:p>
            <a:pPr marL="0" indent="0">
              <a:buNone/>
            </a:pPr>
            <a:r>
              <a:rPr lang="en-US" sz="900" dirty="0">
                <a:solidFill>
                  <a:srgbClr val="5B6472"/>
                </a:solidFill>
                <a:latin typeface="DM Mono" pitchFamily="34" charset="0"/>
                <a:ea typeface="DM Mono" pitchFamily="34" charset="-122"/>
                <a:cs typeface="DM Mono" pitchFamily="34" charset="-120"/>
              </a:rPr>
              <a:t>y11-ac-u2-l7-design-tools-techniques-i</a:t>
            </a:r>
            <a:endParaRPr lang="en-US" sz="900" dirty="0"/>
          </a:p>
        </p:txBody>
      </p:sp>
      <p:sp>
        <p:nvSpPr>
          <p:cNvPr id="3" name="Text 1"/>
          <p:cNvSpPr/>
          <p:nvPr/>
        </p:nvSpPr>
        <p:spPr>
          <a:xfrm>
            <a:off x="10515600" y="6537960"/>
            <a:ext cx="1280160" cy="274320"/>
          </a:xfrm>
          <a:prstGeom prst="rect">
            <a:avLst/>
          </a:prstGeom>
          <a:noFill/>
          <a:ln/>
        </p:spPr>
        <p:txBody>
          <a:bodyPr wrap="square" rtlCol="0" anchor="ctr"/>
          <a:lstStyle/>
          <a:p>
            <a:pPr marL="0" indent="0" algn="r">
              <a:buNone/>
            </a:pPr>
            <a:r>
              <a:rPr lang="en-US" sz="900" dirty="0">
                <a:solidFill>
                  <a:srgbClr val="5B6472"/>
                </a:solidFill>
                <a:latin typeface="DM Mono" pitchFamily="34" charset="0"/>
                <a:ea typeface="DM Mono" pitchFamily="34" charset="-122"/>
                <a:cs typeface="DM Mono" pitchFamily="34" charset="-120"/>
              </a:rPr>
              <a:t>Mr Smith</a:t>
            </a:r>
            <a:endParaRPr lang="en-US" sz="900" dirty="0"/>
          </a:p>
        </p:txBody>
      </p:sp>
      <p:sp>
        <p:nvSpPr>
          <p:cNvPr id="4" name="Text 2"/>
          <p:cNvSpPr/>
          <p:nvPr/>
        </p:nvSpPr>
        <p:spPr>
          <a:xfrm>
            <a:off x="457200" y="320040"/>
            <a:ext cx="2926080" cy="365760"/>
          </a:xfrm>
          <a:prstGeom prst="rect">
            <a:avLst/>
          </a:prstGeom>
          <a:noFill/>
          <a:ln/>
        </p:spPr>
        <p:txBody>
          <a:bodyPr wrap="square" rtlCol="0" anchor="ctr"/>
          <a:lstStyle/>
          <a:p>
            <a:pPr marL="0" indent="0">
              <a:buNone/>
            </a:pPr>
            <a:r>
              <a:rPr lang="en-US" sz="1200" b="1" kern="0" spc="200" dirty="0">
                <a:solidFill>
                  <a:srgbClr val="4361EE"/>
                </a:solidFill>
                <a:latin typeface="DM Mono" pitchFamily="34" charset="0"/>
                <a:ea typeface="DM Mono" pitchFamily="34" charset="-122"/>
                <a:cs typeface="DM Mono" pitchFamily="34" charset="-120"/>
              </a:rPr>
              <a:t>OBJECTIVE</a:t>
            </a:r>
            <a:endParaRPr lang="en-US" sz="1200" dirty="0"/>
          </a:p>
        </p:txBody>
      </p:sp>
      <p:sp>
        <p:nvSpPr>
          <p:cNvPr id="5" name="Text 3"/>
          <p:cNvSpPr/>
          <p:nvPr/>
        </p:nvSpPr>
        <p:spPr>
          <a:xfrm>
            <a:off x="457200" y="731520"/>
            <a:ext cx="10515600" cy="548640"/>
          </a:xfrm>
          <a:prstGeom prst="rect">
            <a:avLst/>
          </a:prstGeom>
          <a:noFill/>
          <a:ln/>
        </p:spPr>
        <p:txBody>
          <a:bodyPr wrap="square" rtlCol="0" anchor="ctr"/>
          <a:lstStyle/>
          <a:p>
            <a:pPr marL="0" indent="0">
              <a:buNone/>
            </a:pPr>
            <a:r>
              <a:rPr lang="en-US" sz="2800" dirty="0">
                <a:solidFill>
                  <a:srgbClr val="111111"/>
                </a:solidFill>
                <a:latin typeface="DM Serif Display" pitchFamily="34" charset="0"/>
                <a:ea typeface="DM Serif Display" pitchFamily="34" charset="-122"/>
                <a:cs typeface="DM Serif Display" pitchFamily="34" charset="-120"/>
              </a:rPr>
              <a:t>Learning Objective</a:t>
            </a:r>
            <a:endParaRPr lang="en-US" sz="2800" dirty="0"/>
          </a:p>
        </p:txBody>
      </p:sp>
      <p:sp>
        <p:nvSpPr>
          <p:cNvPr id="6" name="Text 4"/>
          <p:cNvSpPr/>
          <p:nvPr/>
        </p:nvSpPr>
        <p:spPr>
          <a:xfrm>
            <a:off x="457200" y="1417320"/>
            <a:ext cx="10424160" cy="868680"/>
          </a:xfrm>
          <a:prstGeom prst="rect">
            <a:avLst/>
          </a:prstGeom>
          <a:noFill/>
          <a:ln/>
        </p:spPr>
        <p:txBody>
          <a:bodyPr wrap="square" rtlCol="0" anchor="ctr"/>
          <a:lstStyle/>
          <a:p>
            <a:pPr marL="0" indent="0">
              <a:buNone/>
            </a:pPr>
            <a:r>
              <a:rPr lang="en-US" sz="1600" dirty="0">
                <a:solidFill>
                  <a:srgbClr val="111111"/>
                </a:solidFill>
                <a:latin typeface="DM Sans" pitchFamily="34" charset="0"/>
                <a:ea typeface="DM Sans" pitchFamily="34" charset="-122"/>
                <a:cs typeface="DM Sans" pitchFamily="34" charset="-120"/>
              </a:rPr>
              <a:t>To be able to produce a mock-up and a storyboard that communicate the visual layout and user interaction flow of your solution — and to know when each tool is the right one to use.</a:t>
            </a:r>
            <a:endParaRPr lang="en-US" sz="1600" dirty="0"/>
          </a:p>
        </p:txBody>
      </p:sp>
      <p:sp>
        <p:nvSpPr>
          <p:cNvPr id="7" name="Shape 5"/>
          <p:cNvSpPr/>
          <p:nvPr/>
        </p:nvSpPr>
        <p:spPr>
          <a:xfrm>
            <a:off x="457200" y="2514600"/>
            <a:ext cx="82296" cy="868680"/>
          </a:xfrm>
          <a:prstGeom prst="roundRect">
            <a:avLst/>
          </a:prstGeom>
          <a:solidFill>
            <a:srgbClr val="10B981"/>
          </a:solidFill>
          <a:ln/>
        </p:spPr>
        <p:txBody>
          <a:bodyPr/>
          <a:lstStyle/>
          <a:p>
            <a:endParaRPr lang="en-AU"/>
          </a:p>
        </p:txBody>
      </p:sp>
      <p:sp>
        <p:nvSpPr>
          <p:cNvPr id="8" name="Text 6"/>
          <p:cNvSpPr/>
          <p:nvPr/>
        </p:nvSpPr>
        <p:spPr>
          <a:xfrm>
            <a:off x="685800" y="2496312"/>
            <a:ext cx="2743200" cy="365760"/>
          </a:xfrm>
          <a:prstGeom prst="rect">
            <a:avLst/>
          </a:prstGeom>
          <a:noFill/>
          <a:ln/>
        </p:spPr>
        <p:txBody>
          <a:bodyPr wrap="square" rtlCol="0" anchor="ctr"/>
          <a:lstStyle/>
          <a:p>
            <a:pPr marL="0" indent="0">
              <a:buNone/>
            </a:pPr>
            <a:r>
              <a:rPr lang="en-US" sz="1300" b="1" dirty="0">
                <a:solidFill>
                  <a:srgbClr val="10B981"/>
                </a:solidFill>
                <a:latin typeface="DM Mono" pitchFamily="34" charset="0"/>
                <a:ea typeface="DM Mono" pitchFamily="34" charset="-122"/>
                <a:cs typeface="DM Mono" pitchFamily="34" charset="-120"/>
              </a:rPr>
              <a:t>🟢 Foundation</a:t>
            </a:r>
            <a:endParaRPr lang="en-US" sz="1300" dirty="0"/>
          </a:p>
        </p:txBody>
      </p:sp>
      <p:sp>
        <p:nvSpPr>
          <p:cNvPr id="9" name="Text 7"/>
          <p:cNvSpPr/>
          <p:nvPr/>
        </p:nvSpPr>
        <p:spPr>
          <a:xfrm>
            <a:off x="685800" y="2834640"/>
            <a:ext cx="9966960" cy="502920"/>
          </a:xfrm>
          <a:prstGeom prst="rect">
            <a:avLst/>
          </a:prstGeom>
          <a:noFill/>
          <a:ln/>
        </p:spPr>
        <p:txBody>
          <a:bodyPr wrap="square" rtlCol="0" anchor="ctr"/>
          <a:lstStyle/>
          <a:p>
            <a:pPr marL="0" indent="0">
              <a:buNone/>
            </a:pPr>
            <a:r>
              <a:rPr lang="en-US" sz="1400" dirty="0">
                <a:solidFill>
                  <a:srgbClr val="111111"/>
                </a:solidFill>
                <a:latin typeface="DM Sans" pitchFamily="34" charset="0"/>
                <a:ea typeface="DM Sans" pitchFamily="34" charset="-122"/>
                <a:cs typeface="DM Sans" pitchFamily="34" charset="-120"/>
              </a:rPr>
              <a:t>I can sketch a basic mock-up showing the layout of one screen or interface in my solution.</a:t>
            </a:r>
            <a:endParaRPr lang="en-US" sz="1400" dirty="0"/>
          </a:p>
        </p:txBody>
      </p:sp>
      <p:sp>
        <p:nvSpPr>
          <p:cNvPr id="10" name="Shape 8"/>
          <p:cNvSpPr/>
          <p:nvPr/>
        </p:nvSpPr>
        <p:spPr>
          <a:xfrm>
            <a:off x="457200" y="3520440"/>
            <a:ext cx="82296" cy="868680"/>
          </a:xfrm>
          <a:prstGeom prst="roundRect">
            <a:avLst/>
          </a:prstGeom>
          <a:solidFill>
            <a:srgbClr val="F59E0B"/>
          </a:solidFill>
          <a:ln/>
        </p:spPr>
        <p:txBody>
          <a:bodyPr/>
          <a:lstStyle/>
          <a:p>
            <a:endParaRPr lang="en-AU"/>
          </a:p>
        </p:txBody>
      </p:sp>
      <p:sp>
        <p:nvSpPr>
          <p:cNvPr id="11" name="Text 9"/>
          <p:cNvSpPr/>
          <p:nvPr/>
        </p:nvSpPr>
        <p:spPr>
          <a:xfrm>
            <a:off x="685800" y="3502152"/>
            <a:ext cx="2743200" cy="365760"/>
          </a:xfrm>
          <a:prstGeom prst="rect">
            <a:avLst/>
          </a:prstGeom>
          <a:noFill/>
          <a:ln/>
        </p:spPr>
        <p:txBody>
          <a:bodyPr wrap="square" rtlCol="0" anchor="ctr"/>
          <a:lstStyle/>
          <a:p>
            <a:pPr marL="0" indent="0">
              <a:buNone/>
            </a:pPr>
            <a:r>
              <a:rPr lang="en-US" sz="1300" b="1" dirty="0">
                <a:solidFill>
                  <a:srgbClr val="F59E0B"/>
                </a:solidFill>
                <a:latin typeface="DM Mono" pitchFamily="34" charset="0"/>
                <a:ea typeface="DM Mono" pitchFamily="34" charset="-122"/>
                <a:cs typeface="DM Mono" pitchFamily="34" charset="-120"/>
              </a:rPr>
              <a:t>🟡 Developing</a:t>
            </a:r>
            <a:endParaRPr lang="en-US" sz="1300" dirty="0"/>
          </a:p>
        </p:txBody>
      </p:sp>
      <p:sp>
        <p:nvSpPr>
          <p:cNvPr id="12" name="Text 10"/>
          <p:cNvSpPr/>
          <p:nvPr/>
        </p:nvSpPr>
        <p:spPr>
          <a:xfrm>
            <a:off x="685800" y="3840480"/>
            <a:ext cx="9966960" cy="502920"/>
          </a:xfrm>
          <a:prstGeom prst="rect">
            <a:avLst/>
          </a:prstGeom>
          <a:noFill/>
          <a:ln/>
        </p:spPr>
        <p:txBody>
          <a:bodyPr wrap="square" rtlCol="0" anchor="ctr"/>
          <a:lstStyle/>
          <a:p>
            <a:pPr marL="0" indent="0">
              <a:buNone/>
            </a:pPr>
            <a:r>
              <a:rPr lang="en-US" sz="1400" dirty="0">
                <a:solidFill>
                  <a:srgbClr val="111111"/>
                </a:solidFill>
                <a:latin typeface="DM Sans" pitchFamily="34" charset="0"/>
                <a:ea typeface="DM Sans" pitchFamily="34" charset="-122"/>
                <a:cs typeface="DM Sans" pitchFamily="34" charset="-120"/>
              </a:rPr>
              <a:t>I can produce an annotated mock-up and a storyboard showing a full user interaction sequence.</a:t>
            </a:r>
            <a:endParaRPr lang="en-US" sz="1400" dirty="0"/>
          </a:p>
        </p:txBody>
      </p:sp>
      <p:sp>
        <p:nvSpPr>
          <p:cNvPr id="13" name="Shape 11"/>
          <p:cNvSpPr/>
          <p:nvPr/>
        </p:nvSpPr>
        <p:spPr>
          <a:xfrm>
            <a:off x="457200" y="4526280"/>
            <a:ext cx="82296" cy="868680"/>
          </a:xfrm>
          <a:prstGeom prst="roundRect">
            <a:avLst/>
          </a:prstGeom>
          <a:solidFill>
            <a:srgbClr val="8B5CF6"/>
          </a:solidFill>
          <a:ln/>
        </p:spPr>
        <p:txBody>
          <a:bodyPr/>
          <a:lstStyle/>
          <a:p>
            <a:endParaRPr lang="en-AU"/>
          </a:p>
        </p:txBody>
      </p:sp>
      <p:sp>
        <p:nvSpPr>
          <p:cNvPr id="14" name="Text 12"/>
          <p:cNvSpPr/>
          <p:nvPr/>
        </p:nvSpPr>
        <p:spPr>
          <a:xfrm>
            <a:off x="685800" y="4507992"/>
            <a:ext cx="2743200" cy="365760"/>
          </a:xfrm>
          <a:prstGeom prst="rect">
            <a:avLst/>
          </a:prstGeom>
          <a:noFill/>
          <a:ln/>
        </p:spPr>
        <p:txBody>
          <a:bodyPr wrap="square" rtlCol="0" anchor="ctr"/>
          <a:lstStyle/>
          <a:p>
            <a:pPr marL="0" indent="0">
              <a:buNone/>
            </a:pPr>
            <a:r>
              <a:rPr lang="en-US" sz="1300" b="1" dirty="0">
                <a:solidFill>
                  <a:srgbClr val="8B5CF6"/>
                </a:solidFill>
                <a:latin typeface="DM Mono" pitchFamily="34" charset="0"/>
                <a:ea typeface="DM Mono" pitchFamily="34" charset="-122"/>
                <a:cs typeface="DM Mono" pitchFamily="34" charset="-120"/>
              </a:rPr>
              <a:t>🟣 Extending</a:t>
            </a:r>
            <a:endParaRPr lang="en-US" sz="1300" dirty="0"/>
          </a:p>
        </p:txBody>
      </p:sp>
      <p:sp>
        <p:nvSpPr>
          <p:cNvPr id="15" name="Text 13"/>
          <p:cNvSpPr/>
          <p:nvPr/>
        </p:nvSpPr>
        <p:spPr>
          <a:xfrm>
            <a:off x="685800" y="4846320"/>
            <a:ext cx="9966960" cy="502920"/>
          </a:xfrm>
          <a:prstGeom prst="rect">
            <a:avLst/>
          </a:prstGeom>
          <a:noFill/>
          <a:ln/>
        </p:spPr>
        <p:txBody>
          <a:bodyPr wrap="square" rtlCol="0" anchor="ctr"/>
          <a:lstStyle/>
          <a:p>
            <a:pPr marL="0" indent="0">
              <a:buNone/>
            </a:pPr>
            <a:r>
              <a:rPr lang="en-US" sz="1400" dirty="0">
                <a:solidFill>
                  <a:srgbClr val="111111"/>
                </a:solidFill>
                <a:latin typeface="DM Sans" pitchFamily="34" charset="0"/>
                <a:ea typeface="DM Sans" pitchFamily="34" charset="-122"/>
                <a:cs typeface="DM Sans" pitchFamily="34" charset="-120"/>
              </a:rPr>
              <a:t>I can justify my design choices against an alternative I considered, and identify a genuine open question for feedback.</a:t>
            </a:r>
            <a:endParaRPr lang="en-US" sz="1400" dirty="0"/>
          </a:p>
        </p:txBody>
      </p:sp>
      <p:sp>
        <p:nvSpPr>
          <p:cNvPr id="16" name="Shape 14"/>
          <p:cNvSpPr/>
          <p:nvPr/>
        </p:nvSpPr>
        <p:spPr>
          <a:xfrm>
            <a:off x="457200" y="5623560"/>
            <a:ext cx="10424160" cy="777240"/>
          </a:xfrm>
          <a:prstGeom prst="roundRect">
            <a:avLst>
              <a:gd name="adj" fmla="val 9412"/>
            </a:avLst>
          </a:prstGeom>
          <a:solidFill>
            <a:srgbClr val="F6F8FA"/>
          </a:solidFill>
          <a:ln w="12700">
            <a:solidFill>
              <a:srgbClr val="D0D7DE"/>
            </a:solidFill>
            <a:prstDash val="solid"/>
          </a:ln>
        </p:spPr>
        <p:txBody>
          <a:bodyPr/>
          <a:lstStyle/>
          <a:p>
            <a:endParaRPr lang="en-AU"/>
          </a:p>
        </p:txBody>
      </p:sp>
      <p:sp>
        <p:nvSpPr>
          <p:cNvPr id="17" name="Text 15"/>
          <p:cNvSpPr/>
          <p:nvPr/>
        </p:nvSpPr>
        <p:spPr>
          <a:xfrm>
            <a:off x="685800" y="5715000"/>
            <a:ext cx="4572000" cy="274320"/>
          </a:xfrm>
          <a:prstGeom prst="rect">
            <a:avLst/>
          </a:prstGeom>
          <a:noFill/>
          <a:ln/>
        </p:spPr>
        <p:txBody>
          <a:bodyPr wrap="square" rtlCol="0" anchor="ctr"/>
          <a:lstStyle/>
          <a:p>
            <a:pPr marL="0" indent="0">
              <a:buNone/>
            </a:pPr>
            <a:r>
              <a:rPr lang="en-US" sz="1000" b="1" dirty="0">
                <a:solidFill>
                  <a:srgbClr val="4361EE"/>
                </a:solidFill>
                <a:latin typeface="DM Mono" pitchFamily="34" charset="0"/>
                <a:ea typeface="DM Mono" pitchFamily="34" charset="-122"/>
                <a:cs typeface="DM Mono" pitchFamily="34" charset="-120"/>
              </a:rPr>
              <a:t>Where this fits</a:t>
            </a:r>
            <a:endParaRPr lang="en-US" sz="1000" dirty="0"/>
          </a:p>
        </p:txBody>
      </p:sp>
      <p:sp>
        <p:nvSpPr>
          <p:cNvPr id="18" name="Text 16"/>
          <p:cNvSpPr/>
          <p:nvPr/>
        </p:nvSpPr>
        <p:spPr>
          <a:xfrm>
            <a:off x="685800" y="5943600"/>
            <a:ext cx="9966960" cy="411480"/>
          </a:xfrm>
          <a:prstGeom prst="rect">
            <a:avLst/>
          </a:prstGeom>
          <a:noFill/>
          <a:ln/>
        </p:spPr>
        <p:txBody>
          <a:bodyPr wrap="square" rtlCol="0" anchor="ctr"/>
          <a:lstStyle/>
          <a:p>
            <a:pPr marL="0" indent="0">
              <a:buNone/>
            </a:pPr>
            <a:r>
              <a:rPr lang="en-US" sz="1200" dirty="0">
                <a:solidFill>
                  <a:srgbClr val="5B6472"/>
                </a:solidFill>
                <a:latin typeface="DM Sans" pitchFamily="34" charset="0"/>
                <a:ea typeface="DM Sans" pitchFamily="34" charset="-122"/>
                <a:cs typeface="DM Sans" pitchFamily="34" charset="-120"/>
              </a:rPr>
              <a:t>Lesson 6 gave you a task list and a Gantt chart. Today you turn one of those early tasks into a real, visual first draft — something you can show a peer, not just describe.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6537960"/>
            <a:ext cx="5486400" cy="274320"/>
          </a:xfrm>
          <a:prstGeom prst="rect">
            <a:avLst/>
          </a:prstGeom>
          <a:noFill/>
          <a:ln/>
        </p:spPr>
        <p:txBody>
          <a:bodyPr wrap="square" rtlCol="0" anchor="ctr"/>
          <a:lstStyle/>
          <a:p>
            <a:pPr marL="0" indent="0">
              <a:buNone/>
            </a:pPr>
            <a:r>
              <a:rPr lang="en-US" sz="900" dirty="0">
                <a:solidFill>
                  <a:srgbClr val="5B6472"/>
                </a:solidFill>
                <a:latin typeface="DM Mono" pitchFamily="34" charset="0"/>
                <a:ea typeface="DM Mono" pitchFamily="34" charset="-122"/>
                <a:cs typeface="DM Mono" pitchFamily="34" charset="-120"/>
              </a:rPr>
              <a:t>y11-ac-u2-l7-design-tools-techniques-i</a:t>
            </a:r>
            <a:endParaRPr lang="en-US" sz="900" dirty="0"/>
          </a:p>
        </p:txBody>
      </p:sp>
      <p:sp>
        <p:nvSpPr>
          <p:cNvPr id="3" name="Text 1"/>
          <p:cNvSpPr/>
          <p:nvPr/>
        </p:nvSpPr>
        <p:spPr>
          <a:xfrm>
            <a:off x="10515600" y="6537960"/>
            <a:ext cx="1280160" cy="274320"/>
          </a:xfrm>
          <a:prstGeom prst="rect">
            <a:avLst/>
          </a:prstGeom>
          <a:noFill/>
          <a:ln/>
        </p:spPr>
        <p:txBody>
          <a:bodyPr wrap="square" rtlCol="0" anchor="ctr"/>
          <a:lstStyle/>
          <a:p>
            <a:pPr marL="0" indent="0" algn="r">
              <a:buNone/>
            </a:pPr>
            <a:r>
              <a:rPr lang="en-US" sz="900" dirty="0">
                <a:solidFill>
                  <a:srgbClr val="5B6472"/>
                </a:solidFill>
                <a:latin typeface="DM Mono" pitchFamily="34" charset="0"/>
                <a:ea typeface="DM Mono" pitchFamily="34" charset="-122"/>
                <a:cs typeface="DM Mono" pitchFamily="34" charset="-120"/>
              </a:rPr>
              <a:t>Mr Smith</a:t>
            </a:r>
            <a:endParaRPr lang="en-US" sz="900" dirty="0"/>
          </a:p>
        </p:txBody>
      </p:sp>
      <p:sp>
        <p:nvSpPr>
          <p:cNvPr id="4" name="Text 2"/>
          <p:cNvSpPr/>
          <p:nvPr/>
        </p:nvSpPr>
        <p:spPr>
          <a:xfrm>
            <a:off x="457200" y="320040"/>
            <a:ext cx="2926080" cy="365760"/>
          </a:xfrm>
          <a:prstGeom prst="rect">
            <a:avLst/>
          </a:prstGeom>
          <a:noFill/>
          <a:ln/>
        </p:spPr>
        <p:txBody>
          <a:bodyPr wrap="square" rtlCol="0" anchor="ctr"/>
          <a:lstStyle/>
          <a:p>
            <a:pPr marL="0" indent="0">
              <a:buNone/>
            </a:pPr>
            <a:r>
              <a:rPr lang="en-US" sz="1200" b="1" kern="0" spc="200" dirty="0">
                <a:solidFill>
                  <a:srgbClr val="4361EE"/>
                </a:solidFill>
                <a:latin typeface="DM Mono" pitchFamily="34" charset="0"/>
                <a:ea typeface="DM Mono" pitchFamily="34" charset="-122"/>
                <a:cs typeface="DM Mono" pitchFamily="34" charset="-120"/>
              </a:rPr>
              <a:t>EXPLICIT</a:t>
            </a:r>
            <a:endParaRPr lang="en-US" sz="1200" dirty="0"/>
          </a:p>
        </p:txBody>
      </p:sp>
      <p:sp>
        <p:nvSpPr>
          <p:cNvPr id="5" name="Text 3"/>
          <p:cNvSpPr/>
          <p:nvPr/>
        </p:nvSpPr>
        <p:spPr>
          <a:xfrm>
            <a:off x="457200" y="731520"/>
            <a:ext cx="10515600" cy="548640"/>
          </a:xfrm>
          <a:prstGeom prst="rect">
            <a:avLst/>
          </a:prstGeom>
          <a:noFill/>
          <a:ln/>
        </p:spPr>
        <p:txBody>
          <a:bodyPr wrap="square" rtlCol="0" anchor="ctr"/>
          <a:lstStyle/>
          <a:p>
            <a:pPr marL="0" indent="0">
              <a:buNone/>
            </a:pPr>
            <a:r>
              <a:rPr lang="en-US" sz="2600" dirty="0">
                <a:solidFill>
                  <a:srgbClr val="111111"/>
                </a:solidFill>
                <a:latin typeface="DM Serif Display" pitchFamily="34" charset="0"/>
                <a:ea typeface="DM Serif Display" pitchFamily="34" charset="-122"/>
                <a:cs typeface="DM Serif Display" pitchFamily="34" charset="-120"/>
              </a:rPr>
              <a:t>D5.1 · Why Design Representations Matter</a:t>
            </a:r>
            <a:endParaRPr lang="en-US" sz="2600" dirty="0"/>
          </a:p>
        </p:txBody>
      </p:sp>
      <p:sp>
        <p:nvSpPr>
          <p:cNvPr id="6" name="Text 4"/>
          <p:cNvSpPr/>
          <p:nvPr/>
        </p:nvSpPr>
        <p:spPr>
          <a:xfrm>
            <a:off x="457200" y="1417320"/>
            <a:ext cx="10424160" cy="777240"/>
          </a:xfrm>
          <a:prstGeom prst="rect">
            <a:avLst/>
          </a:prstGeom>
          <a:noFill/>
          <a:ln/>
        </p:spPr>
        <p:txBody>
          <a:bodyPr wrap="square" rtlCol="0" anchor="ctr"/>
          <a:lstStyle/>
          <a:p>
            <a:pPr marL="0" indent="0">
              <a:buNone/>
            </a:pPr>
            <a:r>
              <a:rPr lang="en-US" sz="1500" dirty="0">
                <a:solidFill>
                  <a:srgbClr val="111111"/>
                </a:solidFill>
                <a:latin typeface="DM Sans" pitchFamily="34" charset="0"/>
                <a:ea typeface="DM Sans" pitchFamily="34" charset="-122"/>
                <a:cs typeface="DM Sans" pitchFamily="34" charset="-120"/>
              </a:rPr>
              <a:t>A task list and a Gantt chart tell your group what to build and when — but not yet what it will actually look like or feel like to use. Design representations close that gap before anyone starts building.</a:t>
            </a:r>
            <a:endParaRPr lang="en-US" sz="1500" dirty="0"/>
          </a:p>
        </p:txBody>
      </p:sp>
      <p:sp>
        <p:nvSpPr>
          <p:cNvPr id="7" name="Shape 5"/>
          <p:cNvSpPr/>
          <p:nvPr/>
        </p:nvSpPr>
        <p:spPr>
          <a:xfrm>
            <a:off x="457200" y="2423160"/>
            <a:ext cx="3429000" cy="1920240"/>
          </a:xfrm>
          <a:prstGeom prst="roundRect">
            <a:avLst>
              <a:gd name="adj" fmla="val 3810"/>
            </a:avLst>
          </a:prstGeom>
          <a:solidFill>
            <a:srgbClr val="F6F8FA"/>
          </a:solidFill>
          <a:ln w="12700">
            <a:solidFill>
              <a:srgbClr val="D0D7DE"/>
            </a:solidFill>
            <a:prstDash val="solid"/>
          </a:ln>
        </p:spPr>
        <p:txBody>
          <a:bodyPr/>
          <a:lstStyle/>
          <a:p>
            <a:endParaRPr lang="en-AU"/>
          </a:p>
        </p:txBody>
      </p:sp>
      <p:sp>
        <p:nvSpPr>
          <p:cNvPr id="8" name="Text 6"/>
          <p:cNvSpPr/>
          <p:nvPr/>
        </p:nvSpPr>
        <p:spPr>
          <a:xfrm>
            <a:off x="685800" y="2606040"/>
            <a:ext cx="2971800" cy="548640"/>
          </a:xfrm>
          <a:prstGeom prst="rect">
            <a:avLst/>
          </a:prstGeom>
          <a:noFill/>
          <a:ln/>
        </p:spPr>
        <p:txBody>
          <a:bodyPr wrap="square" rtlCol="0" anchor="ctr"/>
          <a:lstStyle/>
          <a:p>
            <a:pPr marL="0" indent="0">
              <a:buNone/>
            </a:pPr>
            <a:r>
              <a:rPr lang="en-US" sz="1400" b="1" dirty="0">
                <a:solidFill>
                  <a:srgbClr val="4361EE"/>
                </a:solidFill>
                <a:latin typeface="DM Sans" pitchFamily="34" charset="0"/>
                <a:ea typeface="DM Sans" pitchFamily="34" charset="-122"/>
                <a:cs typeface="DM Sans" pitchFamily="34" charset="-120"/>
              </a:rPr>
              <a:t>Catch problems early</a:t>
            </a:r>
            <a:endParaRPr lang="en-US" sz="1400" dirty="0"/>
          </a:p>
        </p:txBody>
      </p:sp>
      <p:sp>
        <p:nvSpPr>
          <p:cNvPr id="9" name="Text 7"/>
          <p:cNvSpPr/>
          <p:nvPr/>
        </p:nvSpPr>
        <p:spPr>
          <a:xfrm>
            <a:off x="685800" y="3154680"/>
            <a:ext cx="2971800" cy="1097280"/>
          </a:xfrm>
          <a:prstGeom prst="rect">
            <a:avLst/>
          </a:prstGeom>
          <a:noFill/>
          <a:ln/>
        </p:spPr>
        <p:txBody>
          <a:bodyPr wrap="square" rtlCol="0" anchor="ctr"/>
          <a:lstStyle/>
          <a:p>
            <a:pPr marL="0" indent="0">
              <a:buNone/>
            </a:pPr>
            <a:r>
              <a:rPr lang="en-US" sz="1200" dirty="0">
                <a:solidFill>
                  <a:srgbClr val="5B6472"/>
                </a:solidFill>
                <a:latin typeface="DM Sans" pitchFamily="34" charset="0"/>
                <a:ea typeface="DM Sans" pitchFamily="34" charset="-122"/>
                <a:cs typeface="DM Sans" pitchFamily="34" charset="-120"/>
              </a:rPr>
              <a:t>A rough sketch is cheap to change. A half-built feature is not — spotting a layout or flow problem now saves hours later.</a:t>
            </a:r>
            <a:endParaRPr lang="en-US" sz="1200" dirty="0"/>
          </a:p>
        </p:txBody>
      </p:sp>
      <p:sp>
        <p:nvSpPr>
          <p:cNvPr id="10" name="Shape 8"/>
          <p:cNvSpPr/>
          <p:nvPr/>
        </p:nvSpPr>
        <p:spPr>
          <a:xfrm>
            <a:off x="4069080" y="2423160"/>
            <a:ext cx="3429000" cy="1920240"/>
          </a:xfrm>
          <a:prstGeom prst="roundRect">
            <a:avLst>
              <a:gd name="adj" fmla="val 3810"/>
            </a:avLst>
          </a:prstGeom>
          <a:solidFill>
            <a:srgbClr val="F6F8FA"/>
          </a:solidFill>
          <a:ln w="12700">
            <a:solidFill>
              <a:srgbClr val="D0D7DE"/>
            </a:solidFill>
            <a:prstDash val="solid"/>
          </a:ln>
        </p:spPr>
        <p:txBody>
          <a:bodyPr/>
          <a:lstStyle/>
          <a:p>
            <a:endParaRPr lang="en-AU"/>
          </a:p>
        </p:txBody>
      </p:sp>
      <p:sp>
        <p:nvSpPr>
          <p:cNvPr id="11" name="Text 9"/>
          <p:cNvSpPr/>
          <p:nvPr/>
        </p:nvSpPr>
        <p:spPr>
          <a:xfrm>
            <a:off x="4297680" y="2606040"/>
            <a:ext cx="2971800" cy="548640"/>
          </a:xfrm>
          <a:prstGeom prst="rect">
            <a:avLst/>
          </a:prstGeom>
          <a:noFill/>
          <a:ln/>
        </p:spPr>
        <p:txBody>
          <a:bodyPr wrap="square" rtlCol="0" anchor="ctr"/>
          <a:lstStyle/>
          <a:p>
            <a:pPr marL="0" indent="0">
              <a:buNone/>
            </a:pPr>
            <a:r>
              <a:rPr lang="en-US" sz="1400" b="1" dirty="0">
                <a:solidFill>
                  <a:srgbClr val="4361EE"/>
                </a:solidFill>
                <a:latin typeface="DM Sans" pitchFamily="34" charset="0"/>
                <a:ea typeface="DM Sans" pitchFamily="34" charset="-122"/>
                <a:cs typeface="DM Sans" pitchFamily="34" charset="-120"/>
              </a:rPr>
              <a:t>Give the group a shared picture</a:t>
            </a:r>
            <a:endParaRPr lang="en-US" sz="1400" dirty="0"/>
          </a:p>
        </p:txBody>
      </p:sp>
      <p:sp>
        <p:nvSpPr>
          <p:cNvPr id="12" name="Text 10"/>
          <p:cNvSpPr/>
          <p:nvPr/>
        </p:nvSpPr>
        <p:spPr>
          <a:xfrm>
            <a:off x="4297680" y="3154680"/>
            <a:ext cx="2971800" cy="1097280"/>
          </a:xfrm>
          <a:prstGeom prst="rect">
            <a:avLst/>
          </a:prstGeom>
          <a:noFill/>
          <a:ln/>
        </p:spPr>
        <p:txBody>
          <a:bodyPr wrap="square" rtlCol="0" anchor="ctr"/>
          <a:lstStyle/>
          <a:p>
            <a:pPr marL="0" indent="0">
              <a:buNone/>
            </a:pPr>
            <a:r>
              <a:rPr lang="en-US" sz="1200" dirty="0">
                <a:solidFill>
                  <a:srgbClr val="5B6472"/>
                </a:solidFill>
                <a:latin typeface="DM Sans" pitchFamily="34" charset="0"/>
                <a:ea typeface="DM Sans" pitchFamily="34" charset="-122"/>
                <a:cs typeface="DM Sans" pitchFamily="34" charset="-120"/>
              </a:rPr>
              <a:t>Without a visual reference, group members build slightly different versions of "the same" idea in their heads.</a:t>
            </a:r>
            <a:endParaRPr lang="en-US" sz="1200" dirty="0"/>
          </a:p>
        </p:txBody>
      </p:sp>
      <p:sp>
        <p:nvSpPr>
          <p:cNvPr id="13" name="Shape 11"/>
          <p:cNvSpPr/>
          <p:nvPr/>
        </p:nvSpPr>
        <p:spPr>
          <a:xfrm>
            <a:off x="7680960" y="2423160"/>
            <a:ext cx="3429000" cy="1920240"/>
          </a:xfrm>
          <a:prstGeom prst="roundRect">
            <a:avLst>
              <a:gd name="adj" fmla="val 3810"/>
            </a:avLst>
          </a:prstGeom>
          <a:solidFill>
            <a:srgbClr val="F6F8FA"/>
          </a:solidFill>
          <a:ln w="12700">
            <a:solidFill>
              <a:srgbClr val="D0D7DE"/>
            </a:solidFill>
            <a:prstDash val="solid"/>
          </a:ln>
        </p:spPr>
        <p:txBody>
          <a:bodyPr/>
          <a:lstStyle/>
          <a:p>
            <a:endParaRPr lang="en-AU"/>
          </a:p>
        </p:txBody>
      </p:sp>
      <p:sp>
        <p:nvSpPr>
          <p:cNvPr id="14" name="Text 12"/>
          <p:cNvSpPr/>
          <p:nvPr/>
        </p:nvSpPr>
        <p:spPr>
          <a:xfrm>
            <a:off x="7909560" y="2606040"/>
            <a:ext cx="2971800" cy="548640"/>
          </a:xfrm>
          <a:prstGeom prst="rect">
            <a:avLst/>
          </a:prstGeom>
          <a:noFill/>
          <a:ln/>
        </p:spPr>
        <p:txBody>
          <a:bodyPr wrap="square" rtlCol="0" anchor="ctr"/>
          <a:lstStyle/>
          <a:p>
            <a:pPr marL="0" indent="0">
              <a:buNone/>
            </a:pPr>
            <a:r>
              <a:rPr lang="en-US" sz="1400" b="1" dirty="0">
                <a:solidFill>
                  <a:srgbClr val="4361EE"/>
                </a:solidFill>
                <a:latin typeface="DM Sans" pitchFamily="34" charset="0"/>
                <a:ea typeface="DM Sans" pitchFamily="34" charset="-122"/>
                <a:cs typeface="DM Sans" pitchFamily="34" charset="-120"/>
              </a:rPr>
              <a:t>Feed the next milestone</a:t>
            </a:r>
            <a:endParaRPr lang="en-US" sz="1400" dirty="0"/>
          </a:p>
        </p:txBody>
      </p:sp>
      <p:sp>
        <p:nvSpPr>
          <p:cNvPr id="15" name="Text 13"/>
          <p:cNvSpPr/>
          <p:nvPr/>
        </p:nvSpPr>
        <p:spPr>
          <a:xfrm>
            <a:off x="7909560" y="3154680"/>
            <a:ext cx="2971800" cy="1097280"/>
          </a:xfrm>
          <a:prstGeom prst="rect">
            <a:avLst/>
          </a:prstGeom>
          <a:noFill/>
          <a:ln/>
        </p:spPr>
        <p:txBody>
          <a:bodyPr wrap="square" rtlCol="0" anchor="ctr"/>
          <a:lstStyle/>
          <a:p>
            <a:pPr marL="0" indent="0">
              <a:buNone/>
            </a:pPr>
            <a:r>
              <a:rPr lang="en-US" sz="1200" dirty="0">
                <a:solidFill>
                  <a:srgbClr val="5B6472"/>
                </a:solidFill>
                <a:latin typeface="DM Sans" pitchFamily="34" charset="0"/>
                <a:ea typeface="DM Sans" pitchFamily="34" charset="-122"/>
                <a:cs typeface="DM Sans" pitchFamily="34" charset="-120"/>
              </a:rPr>
              <a:t>Your preferred design (Milestone 2, Week 7) is chosen from ideas like the one you sketch today.</a:t>
            </a:r>
            <a:endParaRPr lang="en-US" sz="1200" dirty="0"/>
          </a:p>
        </p:txBody>
      </p:sp>
      <p:sp>
        <p:nvSpPr>
          <p:cNvPr id="16" name="Text 14"/>
          <p:cNvSpPr/>
          <p:nvPr/>
        </p:nvSpPr>
        <p:spPr>
          <a:xfrm>
            <a:off x="457200" y="4617720"/>
            <a:ext cx="10424160" cy="548640"/>
          </a:xfrm>
          <a:prstGeom prst="rect">
            <a:avLst/>
          </a:prstGeom>
          <a:noFill/>
          <a:ln/>
        </p:spPr>
        <p:txBody>
          <a:bodyPr wrap="square" rtlCol="0" anchor="ctr"/>
          <a:lstStyle/>
          <a:p>
            <a:pPr marL="0" indent="0">
              <a:buNone/>
            </a:pPr>
            <a:r>
              <a:rPr lang="en-US" sz="1300" i="1" dirty="0">
                <a:solidFill>
                  <a:srgbClr val="5B6472"/>
                </a:solidFill>
                <a:latin typeface="DM Sans" pitchFamily="34" charset="0"/>
                <a:ea typeface="DM Sans" pitchFamily="34" charset="-122"/>
                <a:cs typeface="DM Sans" pitchFamily="34" charset="-120"/>
              </a:rPr>
              <a:t>Each milestone exists so coordination is checked before a phase that depends on the previous one being genuinely finished. Today starts building toward the preferred-design milestone.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6537960"/>
            <a:ext cx="5486400" cy="274320"/>
          </a:xfrm>
          <a:prstGeom prst="rect">
            <a:avLst/>
          </a:prstGeom>
          <a:noFill/>
          <a:ln/>
        </p:spPr>
        <p:txBody>
          <a:bodyPr wrap="square" rtlCol="0" anchor="ctr"/>
          <a:lstStyle/>
          <a:p>
            <a:pPr marL="0" indent="0">
              <a:buNone/>
            </a:pPr>
            <a:r>
              <a:rPr lang="en-US" sz="900" dirty="0">
                <a:solidFill>
                  <a:srgbClr val="5B6472"/>
                </a:solidFill>
                <a:latin typeface="DM Mono" pitchFamily="34" charset="0"/>
                <a:ea typeface="DM Mono" pitchFamily="34" charset="-122"/>
                <a:cs typeface="DM Mono" pitchFamily="34" charset="-120"/>
              </a:rPr>
              <a:t>y11-ac-u2-l7-design-tools-techniques-i</a:t>
            </a:r>
            <a:endParaRPr lang="en-US" sz="900" dirty="0"/>
          </a:p>
        </p:txBody>
      </p:sp>
      <p:sp>
        <p:nvSpPr>
          <p:cNvPr id="3" name="Text 1"/>
          <p:cNvSpPr/>
          <p:nvPr/>
        </p:nvSpPr>
        <p:spPr>
          <a:xfrm>
            <a:off x="10515600" y="6537960"/>
            <a:ext cx="1280160" cy="274320"/>
          </a:xfrm>
          <a:prstGeom prst="rect">
            <a:avLst/>
          </a:prstGeom>
          <a:noFill/>
          <a:ln/>
        </p:spPr>
        <p:txBody>
          <a:bodyPr wrap="square" rtlCol="0" anchor="ctr"/>
          <a:lstStyle/>
          <a:p>
            <a:pPr marL="0" indent="0" algn="r">
              <a:buNone/>
            </a:pPr>
            <a:r>
              <a:rPr lang="en-US" sz="900" dirty="0">
                <a:solidFill>
                  <a:srgbClr val="5B6472"/>
                </a:solidFill>
                <a:latin typeface="DM Mono" pitchFamily="34" charset="0"/>
                <a:ea typeface="DM Mono" pitchFamily="34" charset="-122"/>
                <a:cs typeface="DM Mono" pitchFamily="34" charset="-120"/>
              </a:rPr>
              <a:t>Mr Smith</a:t>
            </a:r>
            <a:endParaRPr lang="en-US" sz="900" dirty="0"/>
          </a:p>
        </p:txBody>
      </p:sp>
      <p:sp>
        <p:nvSpPr>
          <p:cNvPr id="4" name="Text 2"/>
          <p:cNvSpPr/>
          <p:nvPr/>
        </p:nvSpPr>
        <p:spPr>
          <a:xfrm>
            <a:off x="457200" y="320040"/>
            <a:ext cx="2926080" cy="365760"/>
          </a:xfrm>
          <a:prstGeom prst="rect">
            <a:avLst/>
          </a:prstGeom>
          <a:noFill/>
          <a:ln/>
        </p:spPr>
        <p:txBody>
          <a:bodyPr wrap="square" rtlCol="0" anchor="ctr"/>
          <a:lstStyle/>
          <a:p>
            <a:pPr marL="0" indent="0">
              <a:buNone/>
            </a:pPr>
            <a:r>
              <a:rPr lang="en-US" sz="1200" b="1" kern="0" spc="200" dirty="0">
                <a:solidFill>
                  <a:srgbClr val="4361EE"/>
                </a:solidFill>
                <a:latin typeface="DM Mono" pitchFamily="34" charset="0"/>
                <a:ea typeface="DM Mono" pitchFamily="34" charset="-122"/>
                <a:cs typeface="DM Mono" pitchFamily="34" charset="-120"/>
              </a:rPr>
              <a:t>EXPLICIT</a:t>
            </a:r>
            <a:endParaRPr lang="en-US" sz="1200" dirty="0"/>
          </a:p>
        </p:txBody>
      </p:sp>
      <p:pic>
        <p:nvPicPr>
          <p:cNvPr id="5" name="Image 0" descr="icon_image_4361EE.png"/>
          <p:cNvPicPr>
            <a:picLocks noChangeAspect="1"/>
          </p:cNvPicPr>
          <p:nvPr/>
        </p:nvPicPr>
        <p:blipFill>
          <a:blip r:embed="rId3"/>
          <a:stretch>
            <a:fillRect/>
          </a:stretch>
        </p:blipFill>
        <p:spPr>
          <a:xfrm>
            <a:off x="457200" y="685800"/>
            <a:ext cx="502920" cy="502920"/>
          </a:xfrm>
          <a:prstGeom prst="rect">
            <a:avLst/>
          </a:prstGeom>
        </p:spPr>
      </p:pic>
      <p:sp>
        <p:nvSpPr>
          <p:cNvPr id="6" name="Text 3"/>
          <p:cNvSpPr/>
          <p:nvPr/>
        </p:nvSpPr>
        <p:spPr>
          <a:xfrm>
            <a:off x="1097280" y="713232"/>
            <a:ext cx="9144000" cy="548640"/>
          </a:xfrm>
          <a:prstGeom prst="rect">
            <a:avLst/>
          </a:prstGeom>
          <a:noFill/>
          <a:ln/>
        </p:spPr>
        <p:txBody>
          <a:bodyPr wrap="square" rtlCol="0" anchor="ctr"/>
          <a:lstStyle/>
          <a:p>
            <a:pPr marL="0" indent="0">
              <a:buNone/>
            </a:pPr>
            <a:r>
              <a:rPr lang="en-US" sz="2700" dirty="0">
                <a:solidFill>
                  <a:srgbClr val="111111"/>
                </a:solidFill>
                <a:latin typeface="DM Serif Display" pitchFamily="34" charset="0"/>
                <a:ea typeface="DM Serif Display" pitchFamily="34" charset="-122"/>
                <a:cs typeface="DM Serif Display" pitchFamily="34" charset="-120"/>
              </a:rPr>
              <a:t>What Is a Mock-up?</a:t>
            </a:r>
            <a:endParaRPr lang="en-US" sz="2700" dirty="0"/>
          </a:p>
        </p:txBody>
      </p:sp>
      <p:sp>
        <p:nvSpPr>
          <p:cNvPr id="7" name="Text 4"/>
          <p:cNvSpPr/>
          <p:nvPr/>
        </p:nvSpPr>
        <p:spPr>
          <a:xfrm>
            <a:off x="457200" y="1417320"/>
            <a:ext cx="10424160" cy="685800"/>
          </a:xfrm>
          <a:prstGeom prst="rect">
            <a:avLst/>
          </a:prstGeom>
          <a:noFill/>
          <a:ln/>
        </p:spPr>
        <p:txBody>
          <a:bodyPr wrap="square" rtlCol="0" anchor="ctr"/>
          <a:lstStyle/>
          <a:p>
            <a:pPr marL="0" indent="0">
              <a:buNone/>
            </a:pPr>
            <a:r>
              <a:rPr lang="en-US" sz="1500" dirty="0">
                <a:solidFill>
                  <a:srgbClr val="111111"/>
                </a:solidFill>
                <a:latin typeface="DM Sans" pitchFamily="34" charset="0"/>
                <a:ea typeface="DM Sans" pitchFamily="34" charset="-122"/>
                <a:cs typeface="DM Sans" pitchFamily="34" charset="-120"/>
              </a:rPr>
              <a:t>A mock-up is a static representation of a screen or interface’s layout — what’s on it and where. It shows structure and placement, not motion or sequence.</a:t>
            </a:r>
            <a:endParaRPr lang="en-US" sz="1500" dirty="0"/>
          </a:p>
        </p:txBody>
      </p:sp>
      <p:sp>
        <p:nvSpPr>
          <p:cNvPr id="8" name="Shape 5"/>
          <p:cNvSpPr/>
          <p:nvPr/>
        </p:nvSpPr>
        <p:spPr>
          <a:xfrm>
            <a:off x="457200" y="2286000"/>
            <a:ext cx="5074920" cy="3566160"/>
          </a:xfrm>
          <a:prstGeom prst="roundRect">
            <a:avLst>
              <a:gd name="adj" fmla="val 2051"/>
            </a:avLst>
          </a:prstGeom>
          <a:solidFill>
            <a:srgbClr val="FDEDED"/>
          </a:solidFill>
          <a:ln w="12700">
            <a:solidFill>
              <a:srgbClr val="EF4444"/>
            </a:solidFill>
            <a:prstDash val="solid"/>
          </a:ln>
        </p:spPr>
        <p:txBody>
          <a:bodyPr/>
          <a:lstStyle/>
          <a:p>
            <a:endParaRPr lang="en-AU"/>
          </a:p>
        </p:txBody>
      </p:sp>
      <p:sp>
        <p:nvSpPr>
          <p:cNvPr id="9" name="Text 6"/>
          <p:cNvSpPr/>
          <p:nvPr/>
        </p:nvSpPr>
        <p:spPr>
          <a:xfrm>
            <a:off x="685800" y="2450592"/>
            <a:ext cx="4572000" cy="274320"/>
          </a:xfrm>
          <a:prstGeom prst="rect">
            <a:avLst/>
          </a:prstGeom>
          <a:noFill/>
          <a:ln/>
        </p:spPr>
        <p:txBody>
          <a:bodyPr wrap="square" rtlCol="0" anchor="ctr"/>
          <a:lstStyle/>
          <a:p>
            <a:pPr marL="0" indent="0">
              <a:buNone/>
            </a:pPr>
            <a:r>
              <a:rPr lang="en-US" sz="1000" b="1" dirty="0">
                <a:solidFill>
                  <a:srgbClr val="EF4444"/>
                </a:solidFill>
                <a:latin typeface="DM Mono" pitchFamily="34" charset="0"/>
                <a:ea typeface="DM Mono" pitchFamily="34" charset="-122"/>
                <a:cs typeface="DM Mono" pitchFamily="34" charset="-120"/>
              </a:rPr>
              <a:t>TOO VAGUE TO BUILD FROM</a:t>
            </a:r>
            <a:endParaRPr lang="en-US" sz="1000" dirty="0"/>
          </a:p>
        </p:txBody>
      </p:sp>
      <p:sp>
        <p:nvSpPr>
          <p:cNvPr id="10" name="Text 7"/>
          <p:cNvSpPr/>
          <p:nvPr/>
        </p:nvSpPr>
        <p:spPr>
          <a:xfrm>
            <a:off x="685800" y="2788920"/>
            <a:ext cx="4617720" cy="1005840"/>
          </a:xfrm>
          <a:prstGeom prst="rect">
            <a:avLst/>
          </a:prstGeom>
          <a:noFill/>
          <a:ln/>
        </p:spPr>
        <p:txBody>
          <a:bodyPr wrap="square" rtlCol="0" anchor="ctr"/>
          <a:lstStyle/>
          <a:p>
            <a:pPr marL="0" indent="0">
              <a:buNone/>
            </a:pPr>
            <a:r>
              <a:rPr lang="en-US" sz="1400" i="1" dirty="0">
                <a:solidFill>
                  <a:srgbClr val="111111"/>
                </a:solidFill>
                <a:latin typeface="DM Sans" pitchFamily="34" charset="0"/>
                <a:ea typeface="DM Sans" pitchFamily="34" charset="-122"/>
                <a:cs typeface="DM Sans" pitchFamily="34" charset="-120"/>
              </a:rPr>
              <a:t>"It should have a button to check in, and show your reminders somewhere."</a:t>
            </a:r>
            <a:endParaRPr lang="en-US" sz="1400" dirty="0"/>
          </a:p>
        </p:txBody>
      </p:sp>
      <p:sp>
        <p:nvSpPr>
          <p:cNvPr id="11" name="Text 8"/>
          <p:cNvSpPr/>
          <p:nvPr/>
        </p:nvSpPr>
        <p:spPr>
          <a:xfrm>
            <a:off x="685800" y="3886200"/>
            <a:ext cx="4617720" cy="1737360"/>
          </a:xfrm>
          <a:prstGeom prst="rect">
            <a:avLst/>
          </a:prstGeom>
          <a:noFill/>
          <a:ln/>
        </p:spPr>
        <p:txBody>
          <a:bodyPr wrap="square" rtlCol="0" anchor="ctr"/>
          <a:lstStyle/>
          <a:p>
            <a:pPr marL="0" indent="0">
              <a:buNone/>
            </a:pPr>
            <a:r>
              <a:rPr lang="en-US" sz="1200" dirty="0">
                <a:solidFill>
                  <a:srgbClr val="5B6472"/>
                </a:solidFill>
                <a:latin typeface="DM Sans" pitchFamily="34" charset="0"/>
                <a:ea typeface="DM Sans" pitchFamily="34" charset="-122"/>
                <a:cs typeface="DM Sans" pitchFamily="34" charset="-120"/>
              </a:rPr>
              <a:t>Words alone leave layout, size, and priority open to interpretation — every group member pictures it differently.</a:t>
            </a:r>
            <a:endParaRPr lang="en-US" sz="1200" dirty="0"/>
          </a:p>
        </p:txBody>
      </p:sp>
      <p:sp>
        <p:nvSpPr>
          <p:cNvPr id="12" name="Shape 9"/>
          <p:cNvSpPr/>
          <p:nvPr/>
        </p:nvSpPr>
        <p:spPr>
          <a:xfrm>
            <a:off x="5715000" y="2286000"/>
            <a:ext cx="5989320" cy="3566160"/>
          </a:xfrm>
          <a:prstGeom prst="roundRect">
            <a:avLst>
              <a:gd name="adj" fmla="val 2051"/>
            </a:avLst>
          </a:prstGeom>
          <a:solidFill>
            <a:srgbClr val="E9F9F1"/>
          </a:solidFill>
          <a:ln w="12700">
            <a:solidFill>
              <a:srgbClr val="10B981"/>
            </a:solidFill>
            <a:prstDash val="solid"/>
          </a:ln>
        </p:spPr>
        <p:txBody>
          <a:bodyPr/>
          <a:lstStyle/>
          <a:p>
            <a:endParaRPr lang="en-AU"/>
          </a:p>
        </p:txBody>
      </p:sp>
      <p:sp>
        <p:nvSpPr>
          <p:cNvPr id="13" name="Text 10"/>
          <p:cNvSpPr/>
          <p:nvPr/>
        </p:nvSpPr>
        <p:spPr>
          <a:xfrm>
            <a:off x="5943600" y="2450592"/>
            <a:ext cx="4572000" cy="274320"/>
          </a:xfrm>
          <a:prstGeom prst="rect">
            <a:avLst/>
          </a:prstGeom>
          <a:noFill/>
          <a:ln/>
        </p:spPr>
        <p:txBody>
          <a:bodyPr wrap="square" rtlCol="0" anchor="ctr"/>
          <a:lstStyle/>
          <a:p>
            <a:pPr marL="0" indent="0">
              <a:buNone/>
            </a:pPr>
            <a:r>
              <a:rPr lang="en-US" sz="1000" b="1" dirty="0">
                <a:solidFill>
                  <a:srgbClr val="10B981"/>
                </a:solidFill>
                <a:latin typeface="DM Mono" pitchFamily="34" charset="0"/>
                <a:ea typeface="DM Mono" pitchFamily="34" charset="-122"/>
                <a:cs typeface="DM Mono" pitchFamily="34" charset="-120"/>
              </a:rPr>
              <a:t>A MOCK-UP</a:t>
            </a:r>
            <a:endParaRPr lang="en-US" sz="1000" dirty="0"/>
          </a:p>
        </p:txBody>
      </p:sp>
      <p:sp>
        <p:nvSpPr>
          <p:cNvPr id="14" name="Shape 11"/>
          <p:cNvSpPr/>
          <p:nvPr/>
        </p:nvSpPr>
        <p:spPr>
          <a:xfrm>
            <a:off x="7772400" y="2834640"/>
            <a:ext cx="2103120" cy="2788920"/>
          </a:xfrm>
          <a:prstGeom prst="roundRect">
            <a:avLst>
              <a:gd name="adj" fmla="val 6522"/>
            </a:avLst>
          </a:prstGeom>
          <a:solidFill>
            <a:srgbClr val="FFFFFF"/>
          </a:solidFill>
          <a:ln w="25400">
            <a:solidFill>
              <a:srgbClr val="111111"/>
            </a:solidFill>
            <a:prstDash val="solid"/>
          </a:ln>
        </p:spPr>
        <p:txBody>
          <a:bodyPr/>
          <a:lstStyle/>
          <a:p>
            <a:endParaRPr lang="en-AU"/>
          </a:p>
        </p:txBody>
      </p:sp>
      <p:sp>
        <p:nvSpPr>
          <p:cNvPr id="15" name="Shape 12"/>
          <p:cNvSpPr/>
          <p:nvPr/>
        </p:nvSpPr>
        <p:spPr>
          <a:xfrm>
            <a:off x="7909560" y="3017520"/>
            <a:ext cx="1828800" cy="365760"/>
          </a:xfrm>
          <a:prstGeom prst="roundRect">
            <a:avLst>
              <a:gd name="adj" fmla="val 10000"/>
            </a:avLst>
          </a:prstGeom>
          <a:solidFill>
            <a:srgbClr val="4361EE"/>
          </a:solidFill>
          <a:ln/>
        </p:spPr>
        <p:txBody>
          <a:bodyPr/>
          <a:lstStyle/>
          <a:p>
            <a:endParaRPr lang="en-AU"/>
          </a:p>
        </p:txBody>
      </p:sp>
      <p:sp>
        <p:nvSpPr>
          <p:cNvPr id="16" name="Text 13"/>
          <p:cNvSpPr/>
          <p:nvPr/>
        </p:nvSpPr>
        <p:spPr>
          <a:xfrm>
            <a:off x="7909560" y="3017520"/>
            <a:ext cx="1828800" cy="365760"/>
          </a:xfrm>
          <a:prstGeom prst="rect">
            <a:avLst/>
          </a:prstGeom>
          <a:noFill/>
          <a:ln/>
        </p:spPr>
        <p:txBody>
          <a:bodyPr wrap="square" rtlCol="0" anchor="ctr"/>
          <a:lstStyle/>
          <a:p>
            <a:pPr marL="0" indent="0" algn="ctr">
              <a:buNone/>
            </a:pPr>
            <a:r>
              <a:rPr lang="en-US" sz="900" b="1" dirty="0">
                <a:solidFill>
                  <a:srgbClr val="FFFFFF"/>
                </a:solidFill>
                <a:latin typeface="DM Sans" pitchFamily="34" charset="0"/>
                <a:ea typeface="DM Sans" pitchFamily="34" charset="-122"/>
                <a:cs typeface="DM Sans" pitchFamily="34" charset="-120"/>
              </a:rPr>
              <a:t>Check In</a:t>
            </a:r>
            <a:endParaRPr lang="en-US" sz="900" dirty="0"/>
          </a:p>
        </p:txBody>
      </p:sp>
      <p:sp>
        <p:nvSpPr>
          <p:cNvPr id="17" name="Shape 14"/>
          <p:cNvSpPr/>
          <p:nvPr/>
        </p:nvSpPr>
        <p:spPr>
          <a:xfrm>
            <a:off x="7909560" y="3520440"/>
            <a:ext cx="1828800" cy="502920"/>
          </a:xfrm>
          <a:prstGeom prst="rect">
            <a:avLst/>
          </a:prstGeom>
          <a:solidFill>
            <a:srgbClr val="F6F8FA"/>
          </a:solidFill>
          <a:ln w="9525">
            <a:solidFill>
              <a:srgbClr val="D0D7DE"/>
            </a:solidFill>
            <a:prstDash val="solid"/>
          </a:ln>
        </p:spPr>
        <p:txBody>
          <a:bodyPr/>
          <a:lstStyle/>
          <a:p>
            <a:endParaRPr lang="en-AU"/>
          </a:p>
        </p:txBody>
      </p:sp>
      <p:sp>
        <p:nvSpPr>
          <p:cNvPr id="18" name="Text 15"/>
          <p:cNvSpPr/>
          <p:nvPr/>
        </p:nvSpPr>
        <p:spPr>
          <a:xfrm>
            <a:off x="7955280" y="3566160"/>
            <a:ext cx="1737360" cy="411480"/>
          </a:xfrm>
          <a:prstGeom prst="rect">
            <a:avLst/>
          </a:prstGeom>
          <a:noFill/>
          <a:ln/>
        </p:spPr>
        <p:txBody>
          <a:bodyPr wrap="square" rtlCol="0" anchor="ctr"/>
          <a:lstStyle/>
          <a:p>
            <a:pPr marL="0" indent="0">
              <a:buNone/>
            </a:pPr>
            <a:r>
              <a:rPr lang="en-US" sz="800" dirty="0">
                <a:solidFill>
                  <a:srgbClr val="111111"/>
                </a:solidFill>
                <a:latin typeface="DM Sans" pitchFamily="34" charset="0"/>
                <a:ea typeface="DM Sans" pitchFamily="34" charset="-122"/>
                <a:cs typeface="DM Sans" pitchFamily="34" charset="-120"/>
              </a:rPr>
              <a:t>Reminder: Pack helmet</a:t>
            </a:r>
            <a:endParaRPr lang="en-US" sz="800" dirty="0"/>
          </a:p>
        </p:txBody>
      </p:sp>
      <p:sp>
        <p:nvSpPr>
          <p:cNvPr id="19" name="Shape 16"/>
          <p:cNvSpPr/>
          <p:nvPr/>
        </p:nvSpPr>
        <p:spPr>
          <a:xfrm>
            <a:off x="7909560" y="4114800"/>
            <a:ext cx="1828800" cy="502920"/>
          </a:xfrm>
          <a:prstGeom prst="rect">
            <a:avLst/>
          </a:prstGeom>
          <a:solidFill>
            <a:srgbClr val="F6F8FA"/>
          </a:solidFill>
          <a:ln w="9525">
            <a:solidFill>
              <a:srgbClr val="D0D7DE"/>
            </a:solidFill>
            <a:prstDash val="solid"/>
          </a:ln>
        </p:spPr>
        <p:txBody>
          <a:bodyPr/>
          <a:lstStyle/>
          <a:p>
            <a:endParaRPr lang="en-AU"/>
          </a:p>
        </p:txBody>
      </p:sp>
      <p:sp>
        <p:nvSpPr>
          <p:cNvPr id="20" name="Text 17"/>
          <p:cNvSpPr/>
          <p:nvPr/>
        </p:nvSpPr>
        <p:spPr>
          <a:xfrm>
            <a:off x="7955280" y="4160520"/>
            <a:ext cx="1737360" cy="411480"/>
          </a:xfrm>
          <a:prstGeom prst="rect">
            <a:avLst/>
          </a:prstGeom>
          <a:noFill/>
          <a:ln/>
        </p:spPr>
        <p:txBody>
          <a:bodyPr wrap="square" rtlCol="0" anchor="ctr"/>
          <a:lstStyle/>
          <a:p>
            <a:pPr marL="0" indent="0">
              <a:buNone/>
            </a:pPr>
            <a:r>
              <a:rPr lang="en-US" sz="800" dirty="0">
                <a:solidFill>
                  <a:srgbClr val="111111"/>
                </a:solidFill>
                <a:latin typeface="DM Sans" pitchFamily="34" charset="0"/>
                <a:ea typeface="DM Sans" pitchFamily="34" charset="-122"/>
                <a:cs typeface="DM Sans" pitchFamily="34" charset="-120"/>
              </a:rPr>
              <a:t>Reminder: Sign form</a:t>
            </a:r>
            <a:endParaRPr lang="en-US" sz="800" dirty="0"/>
          </a:p>
        </p:txBody>
      </p:sp>
      <p:sp>
        <p:nvSpPr>
          <p:cNvPr id="21" name="Text 18"/>
          <p:cNvSpPr/>
          <p:nvPr/>
        </p:nvSpPr>
        <p:spPr>
          <a:xfrm>
            <a:off x="7909560" y="4846320"/>
            <a:ext cx="1828800" cy="274320"/>
          </a:xfrm>
          <a:prstGeom prst="rect">
            <a:avLst/>
          </a:prstGeom>
          <a:noFill/>
          <a:ln/>
        </p:spPr>
        <p:txBody>
          <a:bodyPr wrap="square" rtlCol="0" anchor="ctr"/>
          <a:lstStyle/>
          <a:p>
            <a:pPr marL="0" indent="0">
              <a:buNone/>
            </a:pPr>
            <a:r>
              <a:rPr lang="en-US" sz="800" dirty="0">
                <a:solidFill>
                  <a:srgbClr val="5B6472"/>
                </a:solidFill>
                <a:latin typeface="DM Mono" pitchFamily="34" charset="0"/>
                <a:ea typeface="DM Mono" pitchFamily="34" charset="-122"/>
                <a:cs typeface="DM Mono" pitchFamily="34" charset="-120"/>
              </a:rPr>
              <a:t>Streak: 4 days</a:t>
            </a:r>
            <a:endParaRPr lang="en-US" sz="800" dirty="0"/>
          </a:p>
        </p:txBody>
      </p:sp>
      <p:sp>
        <p:nvSpPr>
          <p:cNvPr id="22" name="Text 19"/>
          <p:cNvSpPr/>
          <p:nvPr/>
        </p:nvSpPr>
        <p:spPr>
          <a:xfrm>
            <a:off x="5943600" y="3474720"/>
            <a:ext cx="1574800" cy="685800"/>
          </a:xfrm>
          <a:prstGeom prst="rect">
            <a:avLst/>
          </a:prstGeom>
          <a:noFill/>
          <a:ln/>
        </p:spPr>
        <p:txBody>
          <a:bodyPr wrap="square" rtlCol="0" anchor="ctr"/>
          <a:lstStyle/>
          <a:p>
            <a:pPr marL="0" indent="0">
              <a:buNone/>
            </a:pPr>
            <a:r>
              <a:rPr lang="en-US" sz="1100" dirty="0">
                <a:solidFill>
                  <a:srgbClr val="5B6472"/>
                </a:solidFill>
                <a:latin typeface="DM Sans" pitchFamily="34" charset="0"/>
                <a:ea typeface="DM Sans" pitchFamily="34" charset="-122"/>
                <a:cs typeface="DM Sans" pitchFamily="34" charset="-120"/>
              </a:rPr>
              <a:t>One clear button, a labelled list of reminders, and a visible streak counter — the layout itself answers questions words can’t.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6537960"/>
            <a:ext cx="5486400" cy="274320"/>
          </a:xfrm>
          <a:prstGeom prst="rect">
            <a:avLst/>
          </a:prstGeom>
          <a:noFill/>
          <a:ln/>
        </p:spPr>
        <p:txBody>
          <a:bodyPr wrap="square" rtlCol="0" anchor="ctr"/>
          <a:lstStyle/>
          <a:p>
            <a:pPr marL="0" indent="0">
              <a:buNone/>
            </a:pPr>
            <a:r>
              <a:rPr lang="en-US" sz="900" dirty="0">
                <a:solidFill>
                  <a:srgbClr val="5B6472"/>
                </a:solidFill>
                <a:latin typeface="DM Mono" pitchFamily="34" charset="0"/>
                <a:ea typeface="DM Mono" pitchFamily="34" charset="-122"/>
                <a:cs typeface="DM Mono" pitchFamily="34" charset="-120"/>
              </a:rPr>
              <a:t>y11-ac-u2-l7-design-tools-techniques-i</a:t>
            </a:r>
            <a:endParaRPr lang="en-US" sz="900" dirty="0"/>
          </a:p>
        </p:txBody>
      </p:sp>
      <p:sp>
        <p:nvSpPr>
          <p:cNvPr id="3" name="Text 1"/>
          <p:cNvSpPr/>
          <p:nvPr/>
        </p:nvSpPr>
        <p:spPr>
          <a:xfrm>
            <a:off x="10515600" y="6537960"/>
            <a:ext cx="1280160" cy="274320"/>
          </a:xfrm>
          <a:prstGeom prst="rect">
            <a:avLst/>
          </a:prstGeom>
          <a:noFill/>
          <a:ln/>
        </p:spPr>
        <p:txBody>
          <a:bodyPr wrap="square" rtlCol="0" anchor="ctr"/>
          <a:lstStyle/>
          <a:p>
            <a:pPr marL="0" indent="0" algn="r">
              <a:buNone/>
            </a:pPr>
            <a:r>
              <a:rPr lang="en-US" sz="900" dirty="0">
                <a:solidFill>
                  <a:srgbClr val="5B6472"/>
                </a:solidFill>
                <a:latin typeface="DM Mono" pitchFamily="34" charset="0"/>
                <a:ea typeface="DM Mono" pitchFamily="34" charset="-122"/>
                <a:cs typeface="DM Mono" pitchFamily="34" charset="-120"/>
              </a:rPr>
              <a:t>Mr Smith</a:t>
            </a:r>
            <a:endParaRPr lang="en-US" sz="900" dirty="0"/>
          </a:p>
        </p:txBody>
      </p:sp>
      <p:sp>
        <p:nvSpPr>
          <p:cNvPr id="4" name="Text 2"/>
          <p:cNvSpPr/>
          <p:nvPr/>
        </p:nvSpPr>
        <p:spPr>
          <a:xfrm>
            <a:off x="457200" y="320040"/>
            <a:ext cx="2926080" cy="365760"/>
          </a:xfrm>
          <a:prstGeom prst="rect">
            <a:avLst/>
          </a:prstGeom>
          <a:noFill/>
          <a:ln/>
        </p:spPr>
        <p:txBody>
          <a:bodyPr wrap="square" rtlCol="0" anchor="ctr"/>
          <a:lstStyle/>
          <a:p>
            <a:pPr marL="0" indent="0">
              <a:buNone/>
            </a:pPr>
            <a:r>
              <a:rPr lang="en-US" sz="1200" b="1" kern="0" spc="200" dirty="0">
                <a:solidFill>
                  <a:srgbClr val="4361EE"/>
                </a:solidFill>
                <a:latin typeface="DM Mono" pitchFamily="34" charset="0"/>
                <a:ea typeface="DM Mono" pitchFamily="34" charset="-122"/>
                <a:cs typeface="DM Mono" pitchFamily="34" charset="-120"/>
              </a:rPr>
              <a:t>EXPLICIT</a:t>
            </a:r>
            <a:endParaRPr lang="en-US" sz="1200" dirty="0"/>
          </a:p>
        </p:txBody>
      </p:sp>
      <p:pic>
        <p:nvPicPr>
          <p:cNvPr id="5" name="Image 0" descr="icon_film_10B981.png"/>
          <p:cNvPicPr>
            <a:picLocks noChangeAspect="1"/>
          </p:cNvPicPr>
          <p:nvPr/>
        </p:nvPicPr>
        <p:blipFill>
          <a:blip r:embed="rId3"/>
          <a:stretch>
            <a:fillRect/>
          </a:stretch>
        </p:blipFill>
        <p:spPr>
          <a:xfrm>
            <a:off x="457200" y="685800"/>
            <a:ext cx="502920" cy="502920"/>
          </a:xfrm>
          <a:prstGeom prst="rect">
            <a:avLst/>
          </a:prstGeom>
        </p:spPr>
      </p:pic>
      <p:sp>
        <p:nvSpPr>
          <p:cNvPr id="6" name="Text 3"/>
          <p:cNvSpPr/>
          <p:nvPr/>
        </p:nvSpPr>
        <p:spPr>
          <a:xfrm>
            <a:off x="1097280" y="713232"/>
            <a:ext cx="9144000" cy="548640"/>
          </a:xfrm>
          <a:prstGeom prst="rect">
            <a:avLst/>
          </a:prstGeom>
          <a:noFill/>
          <a:ln/>
        </p:spPr>
        <p:txBody>
          <a:bodyPr wrap="square" rtlCol="0" anchor="ctr"/>
          <a:lstStyle/>
          <a:p>
            <a:pPr marL="0" indent="0">
              <a:buNone/>
            </a:pPr>
            <a:r>
              <a:rPr lang="en-US" sz="2700" dirty="0">
                <a:solidFill>
                  <a:srgbClr val="111111"/>
                </a:solidFill>
                <a:latin typeface="DM Serif Display" pitchFamily="34" charset="0"/>
                <a:ea typeface="DM Serif Display" pitchFamily="34" charset="-122"/>
                <a:cs typeface="DM Serif Display" pitchFamily="34" charset="-120"/>
              </a:rPr>
              <a:t>What Is a Storyboard?</a:t>
            </a:r>
            <a:endParaRPr lang="en-US" sz="2700" dirty="0"/>
          </a:p>
        </p:txBody>
      </p:sp>
      <p:sp>
        <p:nvSpPr>
          <p:cNvPr id="7" name="Text 4"/>
          <p:cNvSpPr/>
          <p:nvPr/>
        </p:nvSpPr>
        <p:spPr>
          <a:xfrm>
            <a:off x="457200" y="1417320"/>
            <a:ext cx="10424160" cy="685800"/>
          </a:xfrm>
          <a:prstGeom prst="rect">
            <a:avLst/>
          </a:prstGeom>
          <a:noFill/>
          <a:ln/>
        </p:spPr>
        <p:txBody>
          <a:bodyPr wrap="square" rtlCol="0" anchor="ctr"/>
          <a:lstStyle/>
          <a:p>
            <a:pPr marL="0" indent="0">
              <a:buNone/>
            </a:pPr>
            <a:r>
              <a:rPr lang="en-US" sz="1500" dirty="0">
                <a:solidFill>
                  <a:srgbClr val="111111"/>
                </a:solidFill>
                <a:latin typeface="DM Sans" pitchFamily="34" charset="0"/>
                <a:ea typeface="DM Sans" pitchFamily="34" charset="-122"/>
                <a:cs typeface="DM Sans" pitchFamily="34" charset="-120"/>
              </a:rPr>
              <a:t>A storyboard is a sequence of panels showing how a user moves through your solution over time — what they see and do at each step, in order.</a:t>
            </a:r>
            <a:endParaRPr lang="en-US" sz="1500" dirty="0"/>
          </a:p>
        </p:txBody>
      </p:sp>
      <p:sp>
        <p:nvSpPr>
          <p:cNvPr id="8" name="Shape 5"/>
          <p:cNvSpPr/>
          <p:nvPr/>
        </p:nvSpPr>
        <p:spPr>
          <a:xfrm>
            <a:off x="457200" y="2331720"/>
            <a:ext cx="2423160" cy="3291840"/>
          </a:xfrm>
          <a:prstGeom prst="roundRect">
            <a:avLst>
              <a:gd name="adj" fmla="val 2264"/>
            </a:avLst>
          </a:prstGeom>
          <a:solidFill>
            <a:srgbClr val="FFFFFF"/>
          </a:solidFill>
          <a:ln w="15875">
            <a:solidFill>
              <a:srgbClr val="D0D7DE"/>
            </a:solidFill>
            <a:prstDash val="solid"/>
          </a:ln>
        </p:spPr>
        <p:txBody>
          <a:bodyPr/>
          <a:lstStyle/>
          <a:p>
            <a:endParaRPr lang="en-AU"/>
          </a:p>
        </p:txBody>
      </p:sp>
      <p:sp>
        <p:nvSpPr>
          <p:cNvPr id="9" name="Shape 6"/>
          <p:cNvSpPr/>
          <p:nvPr/>
        </p:nvSpPr>
        <p:spPr>
          <a:xfrm>
            <a:off x="594360" y="2468880"/>
            <a:ext cx="2148840" cy="1554480"/>
          </a:xfrm>
          <a:prstGeom prst="roundRect">
            <a:avLst>
              <a:gd name="adj" fmla="val 2941"/>
            </a:avLst>
          </a:prstGeom>
          <a:solidFill>
            <a:srgbClr val="F6F8FA"/>
          </a:solidFill>
          <a:ln w="9525">
            <a:solidFill>
              <a:srgbClr val="D0D7DE"/>
            </a:solidFill>
            <a:prstDash val="solid"/>
          </a:ln>
        </p:spPr>
        <p:txBody>
          <a:bodyPr/>
          <a:lstStyle/>
          <a:p>
            <a:endParaRPr lang="en-AU"/>
          </a:p>
        </p:txBody>
      </p:sp>
      <p:sp>
        <p:nvSpPr>
          <p:cNvPr id="10" name="Text 7"/>
          <p:cNvSpPr/>
          <p:nvPr/>
        </p:nvSpPr>
        <p:spPr>
          <a:xfrm>
            <a:off x="594360" y="2468880"/>
            <a:ext cx="2148840" cy="1554480"/>
          </a:xfrm>
          <a:prstGeom prst="rect">
            <a:avLst/>
          </a:prstGeom>
          <a:noFill/>
          <a:ln/>
        </p:spPr>
        <p:txBody>
          <a:bodyPr wrap="square" rtlCol="0" anchor="ctr"/>
          <a:lstStyle/>
          <a:p>
            <a:pPr marL="0" indent="0" algn="ctr">
              <a:buNone/>
            </a:pPr>
            <a:r>
              <a:rPr lang="en-US" sz="3000" dirty="0">
                <a:solidFill>
                  <a:srgbClr val="4361EE"/>
                </a:solidFill>
                <a:latin typeface="DM Serif Display" pitchFamily="34" charset="0"/>
                <a:ea typeface="DM Serif Display" pitchFamily="34" charset="-122"/>
                <a:cs typeface="DM Serif Display" pitchFamily="34" charset="-120"/>
              </a:rPr>
              <a:t>1</a:t>
            </a:r>
            <a:endParaRPr lang="en-US" sz="3000" dirty="0"/>
          </a:p>
        </p:txBody>
      </p:sp>
      <p:sp>
        <p:nvSpPr>
          <p:cNvPr id="11" name="Text 8"/>
          <p:cNvSpPr/>
          <p:nvPr/>
        </p:nvSpPr>
        <p:spPr>
          <a:xfrm>
            <a:off x="594360" y="4114800"/>
            <a:ext cx="2148840" cy="365760"/>
          </a:xfrm>
          <a:prstGeom prst="rect">
            <a:avLst/>
          </a:prstGeom>
          <a:noFill/>
          <a:ln/>
        </p:spPr>
        <p:txBody>
          <a:bodyPr wrap="square" rtlCol="0" anchor="ctr"/>
          <a:lstStyle/>
          <a:p>
            <a:pPr marL="0" indent="0">
              <a:buNone/>
            </a:pPr>
            <a:r>
              <a:rPr lang="en-US" sz="1200" b="1" dirty="0">
                <a:solidFill>
                  <a:srgbClr val="111111"/>
                </a:solidFill>
                <a:latin typeface="DM Sans" pitchFamily="34" charset="0"/>
                <a:ea typeface="DM Sans" pitchFamily="34" charset="-122"/>
                <a:cs typeface="DM Sans" pitchFamily="34" charset="-120"/>
              </a:rPr>
              <a:t>Notices reminder</a:t>
            </a:r>
            <a:endParaRPr lang="en-US" sz="1200" dirty="0"/>
          </a:p>
        </p:txBody>
      </p:sp>
      <p:sp>
        <p:nvSpPr>
          <p:cNvPr id="12" name="Text 9"/>
          <p:cNvSpPr/>
          <p:nvPr/>
        </p:nvSpPr>
        <p:spPr>
          <a:xfrm>
            <a:off x="594360" y="4480560"/>
            <a:ext cx="2148840" cy="1051560"/>
          </a:xfrm>
          <a:prstGeom prst="rect">
            <a:avLst/>
          </a:prstGeom>
          <a:noFill/>
          <a:ln/>
        </p:spPr>
        <p:txBody>
          <a:bodyPr wrap="square" rtlCol="0" anchor="ctr"/>
          <a:lstStyle/>
          <a:p>
            <a:pPr marL="0" indent="0">
              <a:buNone/>
            </a:pPr>
            <a:r>
              <a:rPr lang="en-US" sz="1050" dirty="0">
                <a:solidFill>
                  <a:srgbClr val="5B6472"/>
                </a:solidFill>
                <a:latin typeface="DM Sans" pitchFamily="34" charset="0"/>
                <a:ea typeface="DM Sans" pitchFamily="34" charset="-122"/>
                <a:cs typeface="DM Sans" pitchFamily="34" charset="-120"/>
              </a:rPr>
              <a:t>Phone buzzes at 7am with a packing reminder.</a:t>
            </a:r>
            <a:endParaRPr lang="en-US" sz="1050" dirty="0"/>
          </a:p>
        </p:txBody>
      </p:sp>
      <p:sp>
        <p:nvSpPr>
          <p:cNvPr id="13" name="Shape 10"/>
          <p:cNvSpPr/>
          <p:nvPr/>
        </p:nvSpPr>
        <p:spPr>
          <a:xfrm>
            <a:off x="3063240" y="2331720"/>
            <a:ext cx="2423160" cy="3291840"/>
          </a:xfrm>
          <a:prstGeom prst="roundRect">
            <a:avLst>
              <a:gd name="adj" fmla="val 2264"/>
            </a:avLst>
          </a:prstGeom>
          <a:solidFill>
            <a:srgbClr val="FFFFFF"/>
          </a:solidFill>
          <a:ln w="15875">
            <a:solidFill>
              <a:srgbClr val="D0D7DE"/>
            </a:solidFill>
            <a:prstDash val="solid"/>
          </a:ln>
        </p:spPr>
        <p:txBody>
          <a:bodyPr/>
          <a:lstStyle/>
          <a:p>
            <a:endParaRPr lang="en-AU"/>
          </a:p>
        </p:txBody>
      </p:sp>
      <p:sp>
        <p:nvSpPr>
          <p:cNvPr id="14" name="Shape 11"/>
          <p:cNvSpPr/>
          <p:nvPr/>
        </p:nvSpPr>
        <p:spPr>
          <a:xfrm>
            <a:off x="3200400" y="2468880"/>
            <a:ext cx="2148840" cy="1554480"/>
          </a:xfrm>
          <a:prstGeom prst="roundRect">
            <a:avLst>
              <a:gd name="adj" fmla="val 2941"/>
            </a:avLst>
          </a:prstGeom>
          <a:solidFill>
            <a:srgbClr val="F6F8FA"/>
          </a:solidFill>
          <a:ln w="9525">
            <a:solidFill>
              <a:srgbClr val="D0D7DE"/>
            </a:solidFill>
            <a:prstDash val="solid"/>
          </a:ln>
        </p:spPr>
        <p:txBody>
          <a:bodyPr/>
          <a:lstStyle/>
          <a:p>
            <a:endParaRPr lang="en-AU"/>
          </a:p>
        </p:txBody>
      </p:sp>
      <p:sp>
        <p:nvSpPr>
          <p:cNvPr id="15" name="Text 12"/>
          <p:cNvSpPr/>
          <p:nvPr/>
        </p:nvSpPr>
        <p:spPr>
          <a:xfrm>
            <a:off x="3200400" y="2468880"/>
            <a:ext cx="2148840" cy="1554480"/>
          </a:xfrm>
          <a:prstGeom prst="rect">
            <a:avLst/>
          </a:prstGeom>
          <a:noFill/>
          <a:ln/>
        </p:spPr>
        <p:txBody>
          <a:bodyPr wrap="square" rtlCol="0" anchor="ctr"/>
          <a:lstStyle/>
          <a:p>
            <a:pPr marL="0" indent="0" algn="ctr">
              <a:buNone/>
            </a:pPr>
            <a:r>
              <a:rPr lang="en-US" sz="3000" dirty="0">
                <a:solidFill>
                  <a:srgbClr val="4361EE"/>
                </a:solidFill>
                <a:latin typeface="DM Serif Display" pitchFamily="34" charset="0"/>
                <a:ea typeface="DM Serif Display" pitchFamily="34" charset="-122"/>
                <a:cs typeface="DM Serif Display" pitchFamily="34" charset="-120"/>
              </a:rPr>
              <a:t>2</a:t>
            </a:r>
            <a:endParaRPr lang="en-US" sz="3000" dirty="0"/>
          </a:p>
        </p:txBody>
      </p:sp>
      <p:sp>
        <p:nvSpPr>
          <p:cNvPr id="16" name="Text 13"/>
          <p:cNvSpPr/>
          <p:nvPr/>
        </p:nvSpPr>
        <p:spPr>
          <a:xfrm>
            <a:off x="3200400" y="4114800"/>
            <a:ext cx="2148840" cy="365760"/>
          </a:xfrm>
          <a:prstGeom prst="rect">
            <a:avLst/>
          </a:prstGeom>
          <a:noFill/>
          <a:ln/>
        </p:spPr>
        <p:txBody>
          <a:bodyPr wrap="square" rtlCol="0" anchor="ctr"/>
          <a:lstStyle/>
          <a:p>
            <a:pPr marL="0" indent="0">
              <a:buNone/>
            </a:pPr>
            <a:r>
              <a:rPr lang="en-US" sz="1200" b="1" dirty="0">
                <a:solidFill>
                  <a:srgbClr val="111111"/>
                </a:solidFill>
                <a:latin typeface="DM Sans" pitchFamily="34" charset="0"/>
                <a:ea typeface="DM Sans" pitchFamily="34" charset="-122"/>
                <a:cs typeface="DM Sans" pitchFamily="34" charset="-120"/>
              </a:rPr>
              <a:t>Opens app</a:t>
            </a:r>
            <a:endParaRPr lang="en-US" sz="1200" dirty="0"/>
          </a:p>
        </p:txBody>
      </p:sp>
      <p:sp>
        <p:nvSpPr>
          <p:cNvPr id="17" name="Text 14"/>
          <p:cNvSpPr/>
          <p:nvPr/>
        </p:nvSpPr>
        <p:spPr>
          <a:xfrm>
            <a:off x="3200400" y="4480560"/>
            <a:ext cx="2148840" cy="1051560"/>
          </a:xfrm>
          <a:prstGeom prst="rect">
            <a:avLst/>
          </a:prstGeom>
          <a:noFill/>
          <a:ln/>
        </p:spPr>
        <p:txBody>
          <a:bodyPr wrap="square" rtlCol="0" anchor="ctr"/>
          <a:lstStyle/>
          <a:p>
            <a:pPr marL="0" indent="0">
              <a:buNone/>
            </a:pPr>
            <a:r>
              <a:rPr lang="en-US" sz="1050" dirty="0">
                <a:solidFill>
                  <a:srgbClr val="5B6472"/>
                </a:solidFill>
                <a:latin typeface="DM Sans" pitchFamily="34" charset="0"/>
                <a:ea typeface="DM Sans" pitchFamily="34" charset="-122"/>
                <a:cs typeface="DM Sans" pitchFamily="34" charset="-120"/>
              </a:rPr>
              <a:t>Taps the notification, sees today’s checklist.</a:t>
            </a:r>
            <a:endParaRPr lang="en-US" sz="1050" dirty="0"/>
          </a:p>
        </p:txBody>
      </p:sp>
      <p:sp>
        <p:nvSpPr>
          <p:cNvPr id="18" name="Shape 15"/>
          <p:cNvSpPr/>
          <p:nvPr/>
        </p:nvSpPr>
        <p:spPr>
          <a:xfrm>
            <a:off x="5669280" y="2331720"/>
            <a:ext cx="2423160" cy="3291840"/>
          </a:xfrm>
          <a:prstGeom prst="roundRect">
            <a:avLst>
              <a:gd name="adj" fmla="val 2264"/>
            </a:avLst>
          </a:prstGeom>
          <a:solidFill>
            <a:srgbClr val="FFFFFF"/>
          </a:solidFill>
          <a:ln w="15875">
            <a:solidFill>
              <a:srgbClr val="D0D7DE"/>
            </a:solidFill>
            <a:prstDash val="solid"/>
          </a:ln>
        </p:spPr>
        <p:txBody>
          <a:bodyPr/>
          <a:lstStyle/>
          <a:p>
            <a:endParaRPr lang="en-AU"/>
          </a:p>
        </p:txBody>
      </p:sp>
      <p:sp>
        <p:nvSpPr>
          <p:cNvPr id="19" name="Shape 16"/>
          <p:cNvSpPr/>
          <p:nvPr/>
        </p:nvSpPr>
        <p:spPr>
          <a:xfrm>
            <a:off x="5806440" y="2468880"/>
            <a:ext cx="2148840" cy="1554480"/>
          </a:xfrm>
          <a:prstGeom prst="roundRect">
            <a:avLst>
              <a:gd name="adj" fmla="val 2941"/>
            </a:avLst>
          </a:prstGeom>
          <a:solidFill>
            <a:srgbClr val="F6F8FA"/>
          </a:solidFill>
          <a:ln w="9525">
            <a:solidFill>
              <a:srgbClr val="D0D7DE"/>
            </a:solidFill>
            <a:prstDash val="solid"/>
          </a:ln>
        </p:spPr>
        <p:txBody>
          <a:bodyPr/>
          <a:lstStyle/>
          <a:p>
            <a:endParaRPr lang="en-AU"/>
          </a:p>
        </p:txBody>
      </p:sp>
      <p:sp>
        <p:nvSpPr>
          <p:cNvPr id="20" name="Text 17"/>
          <p:cNvSpPr/>
          <p:nvPr/>
        </p:nvSpPr>
        <p:spPr>
          <a:xfrm>
            <a:off x="5806440" y="2468880"/>
            <a:ext cx="2148840" cy="1554480"/>
          </a:xfrm>
          <a:prstGeom prst="rect">
            <a:avLst/>
          </a:prstGeom>
          <a:noFill/>
          <a:ln/>
        </p:spPr>
        <p:txBody>
          <a:bodyPr wrap="square" rtlCol="0" anchor="ctr"/>
          <a:lstStyle/>
          <a:p>
            <a:pPr marL="0" indent="0" algn="ctr">
              <a:buNone/>
            </a:pPr>
            <a:r>
              <a:rPr lang="en-US" sz="3000" dirty="0">
                <a:solidFill>
                  <a:srgbClr val="4361EE"/>
                </a:solidFill>
                <a:latin typeface="DM Serif Display" pitchFamily="34" charset="0"/>
                <a:ea typeface="DM Serif Display" pitchFamily="34" charset="-122"/>
                <a:cs typeface="DM Serif Display" pitchFamily="34" charset="-120"/>
              </a:rPr>
              <a:t>3</a:t>
            </a:r>
            <a:endParaRPr lang="en-US" sz="3000" dirty="0"/>
          </a:p>
        </p:txBody>
      </p:sp>
      <p:sp>
        <p:nvSpPr>
          <p:cNvPr id="21" name="Text 18"/>
          <p:cNvSpPr/>
          <p:nvPr/>
        </p:nvSpPr>
        <p:spPr>
          <a:xfrm>
            <a:off x="5806440" y="4114800"/>
            <a:ext cx="2148840" cy="365760"/>
          </a:xfrm>
          <a:prstGeom prst="rect">
            <a:avLst/>
          </a:prstGeom>
          <a:noFill/>
          <a:ln/>
        </p:spPr>
        <p:txBody>
          <a:bodyPr wrap="square" rtlCol="0" anchor="ctr"/>
          <a:lstStyle/>
          <a:p>
            <a:pPr marL="0" indent="0">
              <a:buNone/>
            </a:pPr>
            <a:r>
              <a:rPr lang="en-US" sz="1200" b="1" dirty="0">
                <a:solidFill>
                  <a:srgbClr val="111111"/>
                </a:solidFill>
                <a:latin typeface="DM Sans" pitchFamily="34" charset="0"/>
                <a:ea typeface="DM Sans" pitchFamily="34" charset="-122"/>
                <a:cs typeface="DM Sans" pitchFamily="34" charset="-120"/>
              </a:rPr>
              <a:t>Checks items</a:t>
            </a:r>
            <a:endParaRPr lang="en-US" sz="1200" dirty="0"/>
          </a:p>
        </p:txBody>
      </p:sp>
      <p:sp>
        <p:nvSpPr>
          <p:cNvPr id="22" name="Text 19"/>
          <p:cNvSpPr/>
          <p:nvPr/>
        </p:nvSpPr>
        <p:spPr>
          <a:xfrm>
            <a:off x="5806440" y="4480560"/>
            <a:ext cx="2148840" cy="1051560"/>
          </a:xfrm>
          <a:prstGeom prst="rect">
            <a:avLst/>
          </a:prstGeom>
          <a:noFill/>
          <a:ln/>
        </p:spPr>
        <p:txBody>
          <a:bodyPr wrap="square" rtlCol="0" anchor="ctr"/>
          <a:lstStyle/>
          <a:p>
            <a:pPr marL="0" indent="0">
              <a:buNone/>
            </a:pPr>
            <a:r>
              <a:rPr lang="en-US" sz="1050" dirty="0">
                <a:solidFill>
                  <a:srgbClr val="5B6472"/>
                </a:solidFill>
                <a:latin typeface="DM Sans" pitchFamily="34" charset="0"/>
                <a:ea typeface="DM Sans" pitchFamily="34" charset="-122"/>
                <a:cs typeface="DM Sans" pitchFamily="34" charset="-120"/>
              </a:rPr>
              <a:t>Ticks off helmet and lunch as they’re packed.</a:t>
            </a:r>
            <a:endParaRPr lang="en-US" sz="1050" dirty="0"/>
          </a:p>
        </p:txBody>
      </p:sp>
      <p:sp>
        <p:nvSpPr>
          <p:cNvPr id="23" name="Shape 20"/>
          <p:cNvSpPr/>
          <p:nvPr/>
        </p:nvSpPr>
        <p:spPr>
          <a:xfrm>
            <a:off x="8275320" y="2331720"/>
            <a:ext cx="2423160" cy="3291840"/>
          </a:xfrm>
          <a:prstGeom prst="roundRect">
            <a:avLst>
              <a:gd name="adj" fmla="val 2264"/>
            </a:avLst>
          </a:prstGeom>
          <a:solidFill>
            <a:srgbClr val="FFFFFF"/>
          </a:solidFill>
          <a:ln w="15875">
            <a:solidFill>
              <a:srgbClr val="D0D7DE"/>
            </a:solidFill>
            <a:prstDash val="solid"/>
          </a:ln>
        </p:spPr>
        <p:txBody>
          <a:bodyPr/>
          <a:lstStyle/>
          <a:p>
            <a:endParaRPr lang="en-AU"/>
          </a:p>
        </p:txBody>
      </p:sp>
      <p:sp>
        <p:nvSpPr>
          <p:cNvPr id="24" name="Shape 21"/>
          <p:cNvSpPr/>
          <p:nvPr/>
        </p:nvSpPr>
        <p:spPr>
          <a:xfrm>
            <a:off x="8412480" y="2468880"/>
            <a:ext cx="2148840" cy="1554480"/>
          </a:xfrm>
          <a:prstGeom prst="roundRect">
            <a:avLst>
              <a:gd name="adj" fmla="val 2941"/>
            </a:avLst>
          </a:prstGeom>
          <a:solidFill>
            <a:srgbClr val="F6F8FA"/>
          </a:solidFill>
          <a:ln w="9525">
            <a:solidFill>
              <a:srgbClr val="D0D7DE"/>
            </a:solidFill>
            <a:prstDash val="solid"/>
          </a:ln>
        </p:spPr>
        <p:txBody>
          <a:bodyPr/>
          <a:lstStyle/>
          <a:p>
            <a:endParaRPr lang="en-AU"/>
          </a:p>
        </p:txBody>
      </p:sp>
      <p:sp>
        <p:nvSpPr>
          <p:cNvPr id="25" name="Text 22"/>
          <p:cNvSpPr/>
          <p:nvPr/>
        </p:nvSpPr>
        <p:spPr>
          <a:xfrm>
            <a:off x="8412480" y="2468880"/>
            <a:ext cx="2148840" cy="1554480"/>
          </a:xfrm>
          <a:prstGeom prst="rect">
            <a:avLst/>
          </a:prstGeom>
          <a:noFill/>
          <a:ln/>
        </p:spPr>
        <p:txBody>
          <a:bodyPr wrap="square" rtlCol="0" anchor="ctr"/>
          <a:lstStyle/>
          <a:p>
            <a:pPr marL="0" indent="0" algn="ctr">
              <a:buNone/>
            </a:pPr>
            <a:r>
              <a:rPr lang="en-US" sz="3000" dirty="0">
                <a:solidFill>
                  <a:srgbClr val="4361EE"/>
                </a:solidFill>
                <a:latin typeface="DM Serif Display" pitchFamily="34" charset="0"/>
                <a:ea typeface="DM Serif Display" pitchFamily="34" charset="-122"/>
                <a:cs typeface="DM Serif Display" pitchFamily="34" charset="-120"/>
              </a:rPr>
              <a:t>4</a:t>
            </a:r>
            <a:endParaRPr lang="en-US" sz="3000" dirty="0"/>
          </a:p>
        </p:txBody>
      </p:sp>
      <p:sp>
        <p:nvSpPr>
          <p:cNvPr id="26" name="Text 23"/>
          <p:cNvSpPr/>
          <p:nvPr/>
        </p:nvSpPr>
        <p:spPr>
          <a:xfrm>
            <a:off x="8412480" y="4114800"/>
            <a:ext cx="2148840" cy="365760"/>
          </a:xfrm>
          <a:prstGeom prst="rect">
            <a:avLst/>
          </a:prstGeom>
          <a:noFill/>
          <a:ln/>
        </p:spPr>
        <p:txBody>
          <a:bodyPr wrap="square" rtlCol="0" anchor="ctr"/>
          <a:lstStyle/>
          <a:p>
            <a:pPr marL="0" indent="0">
              <a:buNone/>
            </a:pPr>
            <a:r>
              <a:rPr lang="en-US" sz="1200" b="1" dirty="0">
                <a:solidFill>
                  <a:srgbClr val="111111"/>
                </a:solidFill>
                <a:latin typeface="DM Sans" pitchFamily="34" charset="0"/>
                <a:ea typeface="DM Sans" pitchFamily="34" charset="-122"/>
                <a:cs typeface="DM Sans" pitchFamily="34" charset="-120"/>
              </a:rPr>
              <a:t>Confirms streak</a:t>
            </a:r>
            <a:endParaRPr lang="en-US" sz="1200" dirty="0"/>
          </a:p>
        </p:txBody>
      </p:sp>
      <p:sp>
        <p:nvSpPr>
          <p:cNvPr id="27" name="Text 24"/>
          <p:cNvSpPr/>
          <p:nvPr/>
        </p:nvSpPr>
        <p:spPr>
          <a:xfrm>
            <a:off x="8412480" y="4480560"/>
            <a:ext cx="2148840" cy="1051560"/>
          </a:xfrm>
          <a:prstGeom prst="rect">
            <a:avLst/>
          </a:prstGeom>
          <a:noFill/>
          <a:ln/>
        </p:spPr>
        <p:txBody>
          <a:bodyPr wrap="square" rtlCol="0" anchor="ctr"/>
          <a:lstStyle/>
          <a:p>
            <a:pPr marL="0" indent="0">
              <a:buNone/>
            </a:pPr>
            <a:r>
              <a:rPr lang="en-US" sz="1050" dirty="0">
                <a:solidFill>
                  <a:srgbClr val="5B6472"/>
                </a:solidFill>
                <a:latin typeface="DM Sans" pitchFamily="34" charset="0"/>
                <a:ea typeface="DM Sans" pitchFamily="34" charset="-122"/>
                <a:cs typeface="DM Sans" pitchFamily="34" charset="-120"/>
              </a:rPr>
              <a:t>Sees their 4-day streak update before leaving.</a:t>
            </a:r>
            <a:endParaRPr lang="en-US" sz="1050" dirty="0"/>
          </a:p>
        </p:txBody>
      </p:sp>
      <p:sp>
        <p:nvSpPr>
          <p:cNvPr id="28" name="Text 25"/>
          <p:cNvSpPr/>
          <p:nvPr/>
        </p:nvSpPr>
        <p:spPr>
          <a:xfrm>
            <a:off x="2788920" y="3566160"/>
            <a:ext cx="274320" cy="457200"/>
          </a:xfrm>
          <a:prstGeom prst="rect">
            <a:avLst/>
          </a:prstGeom>
          <a:noFill/>
          <a:ln/>
        </p:spPr>
        <p:txBody>
          <a:bodyPr wrap="square" rtlCol="0" anchor="ctr"/>
          <a:lstStyle/>
          <a:p>
            <a:pPr marL="0" indent="0" algn="ctr">
              <a:buNone/>
            </a:pPr>
            <a:r>
              <a:rPr lang="en-US" sz="2000" b="1" dirty="0">
                <a:solidFill>
                  <a:srgbClr val="F59E0B"/>
                </a:solidFill>
                <a:latin typeface="DM Sans" pitchFamily="34" charset="0"/>
                <a:ea typeface="DM Sans" pitchFamily="34" charset="-122"/>
                <a:cs typeface="DM Sans" pitchFamily="34" charset="-120"/>
              </a:rPr>
              <a:t>→</a:t>
            </a:r>
            <a:endParaRPr lang="en-US" sz="2000" dirty="0"/>
          </a:p>
        </p:txBody>
      </p:sp>
      <p:sp>
        <p:nvSpPr>
          <p:cNvPr id="29" name="Text 26"/>
          <p:cNvSpPr/>
          <p:nvPr/>
        </p:nvSpPr>
        <p:spPr>
          <a:xfrm>
            <a:off x="5394960" y="3566160"/>
            <a:ext cx="274320" cy="457200"/>
          </a:xfrm>
          <a:prstGeom prst="rect">
            <a:avLst/>
          </a:prstGeom>
          <a:noFill/>
          <a:ln/>
        </p:spPr>
        <p:txBody>
          <a:bodyPr wrap="square" rtlCol="0" anchor="ctr"/>
          <a:lstStyle/>
          <a:p>
            <a:pPr marL="0" indent="0" algn="ctr">
              <a:buNone/>
            </a:pPr>
            <a:r>
              <a:rPr lang="en-US" sz="2000" b="1" dirty="0">
                <a:solidFill>
                  <a:srgbClr val="F59E0B"/>
                </a:solidFill>
                <a:latin typeface="DM Sans" pitchFamily="34" charset="0"/>
                <a:ea typeface="DM Sans" pitchFamily="34" charset="-122"/>
                <a:cs typeface="DM Sans" pitchFamily="34" charset="-120"/>
              </a:rPr>
              <a:t>→</a:t>
            </a:r>
            <a:endParaRPr lang="en-US" sz="2000" dirty="0"/>
          </a:p>
        </p:txBody>
      </p:sp>
      <p:sp>
        <p:nvSpPr>
          <p:cNvPr id="30" name="Text 27"/>
          <p:cNvSpPr/>
          <p:nvPr/>
        </p:nvSpPr>
        <p:spPr>
          <a:xfrm>
            <a:off x="8001000" y="3566160"/>
            <a:ext cx="274320" cy="457200"/>
          </a:xfrm>
          <a:prstGeom prst="rect">
            <a:avLst/>
          </a:prstGeom>
          <a:noFill/>
          <a:ln/>
        </p:spPr>
        <p:txBody>
          <a:bodyPr wrap="square" rtlCol="0" anchor="ctr"/>
          <a:lstStyle/>
          <a:p>
            <a:pPr marL="0" indent="0" algn="ctr">
              <a:buNone/>
            </a:pPr>
            <a:r>
              <a:rPr lang="en-US" sz="2000" b="1" dirty="0">
                <a:solidFill>
                  <a:srgbClr val="F59E0B"/>
                </a:solidFill>
                <a:latin typeface="DM Sans" pitchFamily="34" charset="0"/>
                <a:ea typeface="DM Sans" pitchFamily="34" charset="-122"/>
                <a:cs typeface="DM Sans" pitchFamily="34" charset="-120"/>
              </a:rPr>
              <a:t>→</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6537960"/>
            <a:ext cx="5486400" cy="274320"/>
          </a:xfrm>
          <a:prstGeom prst="rect">
            <a:avLst/>
          </a:prstGeom>
          <a:noFill/>
          <a:ln/>
        </p:spPr>
        <p:txBody>
          <a:bodyPr wrap="square" rtlCol="0" anchor="ctr"/>
          <a:lstStyle/>
          <a:p>
            <a:pPr marL="0" indent="0">
              <a:buNone/>
            </a:pPr>
            <a:r>
              <a:rPr lang="en-US" sz="900" dirty="0">
                <a:solidFill>
                  <a:srgbClr val="5B6472"/>
                </a:solidFill>
                <a:latin typeface="DM Mono" pitchFamily="34" charset="0"/>
                <a:ea typeface="DM Mono" pitchFamily="34" charset="-122"/>
                <a:cs typeface="DM Mono" pitchFamily="34" charset="-120"/>
              </a:rPr>
              <a:t>y11-ac-u2-l7-design-tools-techniques-i</a:t>
            </a:r>
            <a:endParaRPr lang="en-US" sz="900" dirty="0"/>
          </a:p>
        </p:txBody>
      </p:sp>
      <p:sp>
        <p:nvSpPr>
          <p:cNvPr id="3" name="Text 1"/>
          <p:cNvSpPr/>
          <p:nvPr/>
        </p:nvSpPr>
        <p:spPr>
          <a:xfrm>
            <a:off x="10515600" y="6537960"/>
            <a:ext cx="1280160" cy="274320"/>
          </a:xfrm>
          <a:prstGeom prst="rect">
            <a:avLst/>
          </a:prstGeom>
          <a:noFill/>
          <a:ln/>
        </p:spPr>
        <p:txBody>
          <a:bodyPr wrap="square" rtlCol="0" anchor="ctr"/>
          <a:lstStyle/>
          <a:p>
            <a:pPr marL="0" indent="0" algn="r">
              <a:buNone/>
            </a:pPr>
            <a:r>
              <a:rPr lang="en-US" sz="900" dirty="0">
                <a:solidFill>
                  <a:srgbClr val="5B6472"/>
                </a:solidFill>
                <a:latin typeface="DM Mono" pitchFamily="34" charset="0"/>
                <a:ea typeface="DM Mono" pitchFamily="34" charset="-122"/>
                <a:cs typeface="DM Mono" pitchFamily="34" charset="-120"/>
              </a:rPr>
              <a:t>Mr Smith</a:t>
            </a:r>
            <a:endParaRPr lang="en-US" sz="900" dirty="0"/>
          </a:p>
        </p:txBody>
      </p:sp>
      <p:sp>
        <p:nvSpPr>
          <p:cNvPr id="4" name="Text 2"/>
          <p:cNvSpPr/>
          <p:nvPr/>
        </p:nvSpPr>
        <p:spPr>
          <a:xfrm>
            <a:off x="457200" y="320040"/>
            <a:ext cx="2926080" cy="365760"/>
          </a:xfrm>
          <a:prstGeom prst="rect">
            <a:avLst/>
          </a:prstGeom>
          <a:noFill/>
          <a:ln/>
        </p:spPr>
        <p:txBody>
          <a:bodyPr wrap="square" rtlCol="0" anchor="ctr"/>
          <a:lstStyle/>
          <a:p>
            <a:pPr marL="0" indent="0">
              <a:buNone/>
            </a:pPr>
            <a:r>
              <a:rPr lang="en-US" sz="1200" b="1" kern="0" spc="200" dirty="0">
                <a:solidFill>
                  <a:srgbClr val="4361EE"/>
                </a:solidFill>
                <a:latin typeface="DM Mono" pitchFamily="34" charset="0"/>
                <a:ea typeface="DM Mono" pitchFamily="34" charset="-122"/>
                <a:cs typeface="DM Mono" pitchFamily="34" charset="-120"/>
              </a:rPr>
              <a:t>EXPLICIT</a:t>
            </a:r>
            <a:endParaRPr lang="en-US" sz="1200" dirty="0"/>
          </a:p>
        </p:txBody>
      </p:sp>
      <p:pic>
        <p:nvPicPr>
          <p:cNvPr id="5" name="Image 0" descr="icon_exchange_F59E0B.png"/>
          <p:cNvPicPr>
            <a:picLocks noChangeAspect="1"/>
          </p:cNvPicPr>
          <p:nvPr/>
        </p:nvPicPr>
        <p:blipFill>
          <a:blip r:embed="rId3"/>
          <a:stretch>
            <a:fillRect/>
          </a:stretch>
        </p:blipFill>
        <p:spPr>
          <a:xfrm>
            <a:off x="457200" y="685800"/>
            <a:ext cx="502920" cy="502920"/>
          </a:xfrm>
          <a:prstGeom prst="rect">
            <a:avLst/>
          </a:prstGeom>
        </p:spPr>
      </p:pic>
      <p:sp>
        <p:nvSpPr>
          <p:cNvPr id="6" name="Text 3"/>
          <p:cNvSpPr/>
          <p:nvPr/>
        </p:nvSpPr>
        <p:spPr>
          <a:xfrm>
            <a:off x="1097280" y="713232"/>
            <a:ext cx="9144000" cy="548640"/>
          </a:xfrm>
          <a:prstGeom prst="rect">
            <a:avLst/>
          </a:prstGeom>
          <a:noFill/>
          <a:ln/>
        </p:spPr>
        <p:txBody>
          <a:bodyPr wrap="square" rtlCol="0" anchor="ctr"/>
          <a:lstStyle/>
          <a:p>
            <a:pPr marL="0" indent="0">
              <a:buNone/>
            </a:pPr>
            <a:r>
              <a:rPr lang="en-US" sz="2700" dirty="0">
                <a:solidFill>
                  <a:srgbClr val="111111"/>
                </a:solidFill>
                <a:latin typeface="DM Serif Display" pitchFamily="34" charset="0"/>
                <a:ea typeface="DM Serif Display" pitchFamily="34" charset="-122"/>
                <a:cs typeface="DM Serif Display" pitchFamily="34" charset="-120"/>
              </a:rPr>
              <a:t>Choosing the Right Tool</a:t>
            </a:r>
            <a:endParaRPr lang="en-US" sz="2700" dirty="0"/>
          </a:p>
        </p:txBody>
      </p:sp>
      <p:sp>
        <p:nvSpPr>
          <p:cNvPr id="7" name="Text 4"/>
          <p:cNvSpPr/>
          <p:nvPr/>
        </p:nvSpPr>
        <p:spPr>
          <a:xfrm>
            <a:off x="457200" y="1371600"/>
            <a:ext cx="10424160" cy="411480"/>
          </a:xfrm>
          <a:prstGeom prst="rect">
            <a:avLst/>
          </a:prstGeom>
          <a:noFill/>
          <a:ln/>
        </p:spPr>
        <p:txBody>
          <a:bodyPr wrap="square" rtlCol="0" anchor="ctr"/>
          <a:lstStyle/>
          <a:p>
            <a:pPr marL="0" indent="0">
              <a:buNone/>
            </a:pPr>
            <a:r>
              <a:rPr lang="en-US" sz="1500" dirty="0">
                <a:solidFill>
                  <a:srgbClr val="111111"/>
                </a:solidFill>
                <a:latin typeface="DM Sans" pitchFamily="34" charset="0"/>
                <a:ea typeface="DM Sans" pitchFamily="34" charset="-122"/>
                <a:cs typeface="DM Sans" pitchFamily="34" charset="-120"/>
              </a:rPr>
              <a:t>Most groups need both — they answer different questions.</a:t>
            </a:r>
            <a:endParaRPr lang="en-US" sz="15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965960"/>
          <a:ext cx="10424160" cy="2926080"/>
        </p:xfrm>
        <a:graphic>
          <a:graphicData uri="http://schemas.openxmlformats.org/drawingml/2006/table">
            <a:tbl>
              <a:tblPr/>
              <a:tblGrid>
                <a:gridCol w="237744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731520">
                <a:tc>
                  <a:txBody>
                    <a:bodyPr/>
                    <a:lstStyle/>
                    <a:p>
                      <a:pPr marL="0" indent="0">
                        <a:buNone/>
                      </a:pPr>
                      <a:endParaRPr lang="en-US" sz="1200" dirty="0">
                        <a:latin typeface="DM Sans" charset="0"/>
                        <a:ea typeface="DM Sans" charset="0"/>
                        <a:cs typeface="DM Sans" charset="0"/>
                      </a:endParaRPr>
                    </a:p>
                  </a:txBody>
                  <a:tcP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marL="0" indent="0">
                        <a:buNone/>
                      </a:pPr>
                      <a:r>
                        <a:rPr lang="en-US" sz="1200" b="1" dirty="0">
                          <a:solidFill>
                            <a:srgbClr val="FFFFFF"/>
                          </a:solidFill>
                          <a:latin typeface="DM Mono" pitchFamily="34" charset="0"/>
                          <a:ea typeface="DM Mono" pitchFamily="34" charset="-122"/>
                          <a:cs typeface="DM Mono" pitchFamily="34" charset="-120"/>
                        </a:rPr>
                        <a:t>MOCK-UP</a:t>
                      </a:r>
                      <a:endParaRPr lang="en-US" sz="1200" dirty="0">
                        <a:latin typeface="DM Mono" charset="0"/>
                        <a:ea typeface="DM Mono" charset="0"/>
                        <a:cs typeface="DM Mono" charset="0"/>
                      </a:endParaRPr>
                    </a:p>
                  </a:txBody>
                  <a:tcP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4361EE"/>
                    </a:solidFill>
                  </a:tcPr>
                </a:tc>
                <a:tc>
                  <a:txBody>
                    <a:bodyPr/>
                    <a:lstStyle/>
                    <a:p>
                      <a:pPr marL="0" indent="0">
                        <a:buNone/>
                      </a:pPr>
                      <a:r>
                        <a:rPr lang="en-US" sz="1200" b="1" dirty="0">
                          <a:solidFill>
                            <a:srgbClr val="FFFFFF"/>
                          </a:solidFill>
                          <a:latin typeface="DM Mono" pitchFamily="34" charset="0"/>
                          <a:ea typeface="DM Mono" pitchFamily="34" charset="-122"/>
                          <a:cs typeface="DM Mono" pitchFamily="34" charset="-120"/>
                        </a:rPr>
                        <a:t>STORYBOARD</a:t>
                      </a:r>
                      <a:endParaRPr lang="en-US" sz="1200" dirty="0">
                        <a:latin typeface="DM Mono" charset="0"/>
                        <a:ea typeface="DM Mono" charset="0"/>
                        <a:cs typeface="DM Mono" charset="0"/>
                      </a:endParaRPr>
                    </a:p>
                  </a:txBody>
                  <a:tcP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0B981"/>
                    </a:solidFill>
                  </a:tcPr>
                </a:tc>
                <a:extLst>
                  <a:ext uri="{0D108BD9-81ED-4DB2-BD59-A6C34878D82A}">
                    <a16:rowId xmlns:a16="http://schemas.microsoft.com/office/drawing/2014/main" val="10000"/>
                  </a:ext>
                </a:extLst>
              </a:tr>
              <a:tr h="731520">
                <a:tc>
                  <a:txBody>
                    <a:bodyPr/>
                    <a:lstStyle/>
                    <a:p>
                      <a:pPr marL="0" indent="0">
                        <a:buNone/>
                      </a:pPr>
                      <a:r>
                        <a:rPr lang="en-US" sz="1200" b="1" dirty="0">
                          <a:solidFill>
                            <a:srgbClr val="111111"/>
                          </a:solidFill>
                          <a:latin typeface="DM Sans" pitchFamily="34" charset="0"/>
                          <a:ea typeface="DM Sans" pitchFamily="34" charset="-122"/>
                          <a:cs typeface="DM Sans" pitchFamily="34" charset="-120"/>
                        </a:rPr>
                        <a:t>Question it answers</a:t>
                      </a:r>
                      <a:endParaRPr lang="en-US" sz="1200" dirty="0">
                        <a:latin typeface="DM Sans" charset="0"/>
                        <a:ea typeface="DM Sans" charset="0"/>
                        <a:cs typeface="DM Sans" charset="0"/>
                      </a:endParaRPr>
                    </a:p>
                  </a:txBody>
                  <a:tcP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marL="0" indent="0">
                        <a:buNone/>
                      </a:pPr>
                      <a:r>
                        <a:rPr lang="en-US" sz="1200" dirty="0">
                          <a:solidFill>
                            <a:srgbClr val="111111"/>
                          </a:solidFill>
                          <a:latin typeface="DM Sans" pitchFamily="34" charset="0"/>
                          <a:ea typeface="DM Sans" pitchFamily="34" charset="-122"/>
                          <a:cs typeface="DM Sans" pitchFamily="34" charset="-120"/>
                        </a:rPr>
                        <a:t>What does this screen look like, and where is everything?</a:t>
                      </a:r>
                      <a:endParaRPr lang="en-US" sz="1200" dirty="0">
                        <a:latin typeface="DM Sans" charset="0"/>
                        <a:ea typeface="DM Sans" charset="0"/>
                        <a:cs typeface="DM Sans" charset="0"/>
                      </a:endParaRPr>
                    </a:p>
                  </a:txBody>
                  <a:tcP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200" dirty="0">
                          <a:solidFill>
                            <a:srgbClr val="111111"/>
                          </a:solidFill>
                          <a:latin typeface="DM Sans" pitchFamily="34" charset="0"/>
                          <a:ea typeface="DM Sans" pitchFamily="34" charset="-122"/>
                          <a:cs typeface="DM Sans" pitchFamily="34" charset="-120"/>
                        </a:rPr>
                        <a:t>How does a user move through this over time?</a:t>
                      </a:r>
                      <a:endParaRPr lang="en-US" sz="1200" dirty="0">
                        <a:latin typeface="DM Sans" charset="0"/>
                        <a:ea typeface="DM Sans" charset="0"/>
                        <a:cs typeface="DM Sans" charset="0"/>
                      </a:endParaRPr>
                    </a:p>
                  </a:txBody>
                  <a:tcP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extLst>
                  <a:ext uri="{0D108BD9-81ED-4DB2-BD59-A6C34878D82A}">
                    <a16:rowId xmlns:a16="http://schemas.microsoft.com/office/drawing/2014/main" val="10001"/>
                  </a:ext>
                </a:extLst>
              </a:tr>
              <a:tr h="731520">
                <a:tc>
                  <a:txBody>
                    <a:bodyPr/>
                    <a:lstStyle/>
                    <a:p>
                      <a:pPr marL="0" indent="0">
                        <a:buNone/>
                      </a:pPr>
                      <a:r>
                        <a:rPr lang="en-US" sz="1200" b="1" dirty="0">
                          <a:solidFill>
                            <a:srgbClr val="111111"/>
                          </a:solidFill>
                          <a:latin typeface="DM Sans" pitchFamily="34" charset="0"/>
                          <a:ea typeface="DM Sans" pitchFamily="34" charset="-122"/>
                          <a:cs typeface="DM Sans" pitchFamily="34" charset="-120"/>
                        </a:rPr>
                        <a:t>Best for</a:t>
                      </a:r>
                      <a:endParaRPr lang="en-US" sz="1200" dirty="0">
                        <a:latin typeface="DM Sans" charset="0"/>
                        <a:ea typeface="DM Sans" charset="0"/>
                        <a:cs typeface="DM Sans" charset="0"/>
                      </a:endParaRPr>
                    </a:p>
                  </a:txBody>
                  <a:tcP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marL="0" indent="0">
                        <a:buNone/>
                      </a:pPr>
                      <a:r>
                        <a:rPr lang="en-US" sz="1200" dirty="0">
                          <a:solidFill>
                            <a:srgbClr val="111111"/>
                          </a:solidFill>
                          <a:latin typeface="DM Sans" pitchFamily="34" charset="0"/>
                          <a:ea typeface="DM Sans" pitchFamily="34" charset="-122"/>
                          <a:cs typeface="DM Sans" pitchFamily="34" charset="-120"/>
                        </a:rPr>
                        <a:t>App/interface screens, dashboards, physical device displays.</a:t>
                      </a:r>
                      <a:endParaRPr lang="en-US" sz="1200" dirty="0">
                        <a:latin typeface="DM Sans" charset="0"/>
                        <a:ea typeface="DM Sans" charset="0"/>
                        <a:cs typeface="DM Sans" charset="0"/>
                      </a:endParaRPr>
                    </a:p>
                  </a:txBody>
                  <a:tcP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200" dirty="0">
                          <a:solidFill>
                            <a:srgbClr val="111111"/>
                          </a:solidFill>
                          <a:latin typeface="DM Sans" pitchFamily="34" charset="0"/>
                          <a:ea typeface="DM Sans" pitchFamily="34" charset="-122"/>
                          <a:cs typeface="DM Sans" pitchFamily="34" charset="-120"/>
                        </a:rPr>
                        <a:t>Multi-step processes, onboarding, notifications, physical interactions.</a:t>
                      </a:r>
                      <a:endParaRPr lang="en-US" sz="1200" dirty="0">
                        <a:latin typeface="DM Sans" charset="0"/>
                        <a:ea typeface="DM Sans" charset="0"/>
                        <a:cs typeface="DM Sans" charset="0"/>
                      </a:endParaRPr>
                    </a:p>
                  </a:txBody>
                  <a:tcP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extLst>
                  <a:ext uri="{0D108BD9-81ED-4DB2-BD59-A6C34878D82A}">
                    <a16:rowId xmlns:a16="http://schemas.microsoft.com/office/drawing/2014/main" val="10002"/>
                  </a:ext>
                </a:extLst>
              </a:tr>
              <a:tr h="731520">
                <a:tc>
                  <a:txBody>
                    <a:bodyPr/>
                    <a:lstStyle/>
                    <a:p>
                      <a:pPr marL="0" indent="0">
                        <a:buNone/>
                      </a:pPr>
                      <a:r>
                        <a:rPr lang="en-US" sz="1200" b="1" dirty="0">
                          <a:solidFill>
                            <a:srgbClr val="111111"/>
                          </a:solidFill>
                          <a:latin typeface="DM Sans" pitchFamily="34" charset="0"/>
                          <a:ea typeface="DM Sans" pitchFamily="34" charset="-122"/>
                          <a:cs typeface="DM Sans" pitchFamily="34" charset="-120"/>
                        </a:rPr>
                        <a:t>Shows</a:t>
                      </a:r>
                      <a:endParaRPr lang="en-US" sz="1200" dirty="0">
                        <a:latin typeface="DM Sans" charset="0"/>
                        <a:ea typeface="DM Sans" charset="0"/>
                        <a:cs typeface="DM Sans" charset="0"/>
                      </a:endParaRPr>
                    </a:p>
                  </a:txBody>
                  <a:tcP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marL="0" indent="0">
                        <a:buNone/>
                      </a:pPr>
                      <a:r>
                        <a:rPr lang="en-US" sz="1200" dirty="0">
                          <a:solidFill>
                            <a:srgbClr val="111111"/>
                          </a:solidFill>
                          <a:latin typeface="DM Sans" pitchFamily="34" charset="0"/>
                          <a:ea typeface="DM Sans" pitchFamily="34" charset="-122"/>
                          <a:cs typeface="DM Sans" pitchFamily="34" charset="-120"/>
                        </a:rPr>
                        <a:t>Layout, structure, labelled elements.</a:t>
                      </a:r>
                      <a:endParaRPr lang="en-US" sz="1200" dirty="0">
                        <a:latin typeface="DM Sans" charset="0"/>
                        <a:ea typeface="DM Sans" charset="0"/>
                        <a:cs typeface="DM Sans" charset="0"/>
                      </a:endParaRPr>
                    </a:p>
                  </a:txBody>
                  <a:tcP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200" dirty="0">
                          <a:solidFill>
                            <a:srgbClr val="111111"/>
                          </a:solidFill>
                          <a:latin typeface="DM Sans" pitchFamily="34" charset="0"/>
                          <a:ea typeface="DM Sans" pitchFamily="34" charset="-122"/>
                          <a:cs typeface="DM Sans" pitchFamily="34" charset="-120"/>
                        </a:rPr>
                        <a:t>Sequence, triggers, user actions and reactions.</a:t>
                      </a:r>
                      <a:endParaRPr lang="en-US" sz="1200" dirty="0">
                        <a:latin typeface="DM Sans" charset="0"/>
                        <a:ea typeface="DM Sans" charset="0"/>
                        <a:cs typeface="DM Sans" charset="0"/>
                      </a:endParaRPr>
                    </a:p>
                  </a:txBody>
                  <a:tcP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9" name="Shape 5"/>
          <p:cNvSpPr/>
          <p:nvPr/>
        </p:nvSpPr>
        <p:spPr>
          <a:xfrm>
            <a:off x="457200" y="5166360"/>
            <a:ext cx="10424160" cy="777240"/>
          </a:xfrm>
          <a:prstGeom prst="roundRect">
            <a:avLst>
              <a:gd name="adj" fmla="val 9412"/>
            </a:avLst>
          </a:prstGeom>
          <a:solidFill>
            <a:srgbClr val="EFF2FE"/>
          </a:solidFill>
          <a:ln w="12700">
            <a:solidFill>
              <a:srgbClr val="4361EE"/>
            </a:solidFill>
            <a:prstDash val="solid"/>
          </a:ln>
        </p:spPr>
        <p:txBody>
          <a:bodyPr/>
          <a:lstStyle/>
          <a:p>
            <a:endParaRPr lang="en-AU"/>
          </a:p>
        </p:txBody>
      </p:sp>
      <p:sp>
        <p:nvSpPr>
          <p:cNvPr id="10" name="Text 6"/>
          <p:cNvSpPr/>
          <p:nvPr/>
        </p:nvSpPr>
        <p:spPr>
          <a:xfrm>
            <a:off x="685800" y="5257800"/>
            <a:ext cx="4572000" cy="274320"/>
          </a:xfrm>
          <a:prstGeom prst="rect">
            <a:avLst/>
          </a:prstGeom>
          <a:noFill/>
          <a:ln/>
        </p:spPr>
        <p:txBody>
          <a:bodyPr wrap="square" rtlCol="0" anchor="ctr"/>
          <a:lstStyle/>
          <a:p>
            <a:pPr marL="0" indent="0">
              <a:buNone/>
            </a:pPr>
            <a:r>
              <a:rPr lang="en-US" sz="1000" b="1" dirty="0">
                <a:solidFill>
                  <a:srgbClr val="4361EE"/>
                </a:solidFill>
                <a:latin typeface="DM Mono" pitchFamily="34" charset="0"/>
                <a:ea typeface="DM Mono" pitchFamily="34" charset="-122"/>
                <a:cs typeface="DM Mono" pitchFamily="34" charset="-120"/>
              </a:rPr>
              <a:t>Today: sketch both for the same feature</a:t>
            </a:r>
            <a:endParaRPr lang="en-US" sz="1000" dirty="0"/>
          </a:p>
        </p:txBody>
      </p:sp>
      <p:sp>
        <p:nvSpPr>
          <p:cNvPr id="11" name="Text 7"/>
          <p:cNvSpPr/>
          <p:nvPr/>
        </p:nvSpPr>
        <p:spPr>
          <a:xfrm>
            <a:off x="685800" y="5486400"/>
            <a:ext cx="9966960" cy="411480"/>
          </a:xfrm>
          <a:prstGeom prst="rect">
            <a:avLst/>
          </a:prstGeom>
          <a:noFill/>
          <a:ln/>
        </p:spPr>
        <p:txBody>
          <a:bodyPr wrap="square" rtlCol="0" anchor="ctr"/>
          <a:lstStyle/>
          <a:p>
            <a:pPr marL="0" indent="0">
              <a:buNone/>
            </a:pPr>
            <a:r>
              <a:rPr lang="en-US" sz="1200" dirty="0">
                <a:solidFill>
                  <a:srgbClr val="111111"/>
                </a:solidFill>
                <a:latin typeface="DM Sans" pitchFamily="34" charset="0"/>
                <a:ea typeface="DM Sans" pitchFamily="34" charset="-122"/>
                <a:cs typeface="DM Sans" pitchFamily="34" charset="-120"/>
              </a:rPr>
              <a:t>Pick one screen or interaction from your task list, and represent it both ways — a mock-up of the layout, then a storyboard of the sequence around it.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6537960"/>
            <a:ext cx="5486400" cy="274320"/>
          </a:xfrm>
          <a:prstGeom prst="rect">
            <a:avLst/>
          </a:prstGeom>
          <a:noFill/>
          <a:ln/>
        </p:spPr>
        <p:txBody>
          <a:bodyPr wrap="square" rtlCol="0" anchor="ctr"/>
          <a:lstStyle/>
          <a:p>
            <a:pPr marL="0" indent="0">
              <a:buNone/>
            </a:pPr>
            <a:r>
              <a:rPr lang="en-US" sz="900" dirty="0">
                <a:solidFill>
                  <a:srgbClr val="5B6472"/>
                </a:solidFill>
                <a:latin typeface="DM Mono" pitchFamily="34" charset="0"/>
                <a:ea typeface="DM Mono" pitchFamily="34" charset="-122"/>
                <a:cs typeface="DM Mono" pitchFamily="34" charset="-120"/>
              </a:rPr>
              <a:t>y11-ac-u2-l7-design-tools-techniques-i</a:t>
            </a:r>
            <a:endParaRPr lang="en-US" sz="900" dirty="0"/>
          </a:p>
        </p:txBody>
      </p:sp>
      <p:sp>
        <p:nvSpPr>
          <p:cNvPr id="3" name="Text 1"/>
          <p:cNvSpPr/>
          <p:nvPr/>
        </p:nvSpPr>
        <p:spPr>
          <a:xfrm>
            <a:off x="10515600" y="6537960"/>
            <a:ext cx="1280160" cy="274320"/>
          </a:xfrm>
          <a:prstGeom prst="rect">
            <a:avLst/>
          </a:prstGeom>
          <a:noFill/>
          <a:ln/>
        </p:spPr>
        <p:txBody>
          <a:bodyPr wrap="square" rtlCol="0" anchor="ctr"/>
          <a:lstStyle/>
          <a:p>
            <a:pPr marL="0" indent="0" algn="r">
              <a:buNone/>
            </a:pPr>
            <a:r>
              <a:rPr lang="en-US" sz="900" dirty="0">
                <a:solidFill>
                  <a:srgbClr val="5B6472"/>
                </a:solidFill>
                <a:latin typeface="DM Mono" pitchFamily="34" charset="0"/>
                <a:ea typeface="DM Mono" pitchFamily="34" charset="-122"/>
                <a:cs typeface="DM Mono" pitchFamily="34" charset="-120"/>
              </a:rPr>
              <a:t>Mr Smith</a:t>
            </a:r>
            <a:endParaRPr lang="en-US" sz="900" dirty="0"/>
          </a:p>
        </p:txBody>
      </p:sp>
      <p:sp>
        <p:nvSpPr>
          <p:cNvPr id="4" name="Text 2"/>
          <p:cNvSpPr/>
          <p:nvPr/>
        </p:nvSpPr>
        <p:spPr>
          <a:xfrm>
            <a:off x="457200" y="320040"/>
            <a:ext cx="2926080" cy="365760"/>
          </a:xfrm>
          <a:prstGeom prst="rect">
            <a:avLst/>
          </a:prstGeom>
          <a:noFill/>
          <a:ln/>
        </p:spPr>
        <p:txBody>
          <a:bodyPr wrap="square" rtlCol="0" anchor="ctr"/>
          <a:lstStyle/>
          <a:p>
            <a:pPr marL="0" indent="0">
              <a:buNone/>
            </a:pPr>
            <a:r>
              <a:rPr lang="en-US" sz="1200" b="1" kern="0" spc="200" dirty="0">
                <a:solidFill>
                  <a:srgbClr val="4361EE"/>
                </a:solidFill>
                <a:latin typeface="DM Mono" pitchFamily="34" charset="0"/>
                <a:ea typeface="DM Mono" pitchFamily="34" charset="-122"/>
                <a:cs typeface="DM Mono" pitchFamily="34" charset="-120"/>
              </a:rPr>
              <a:t>EXPLICIT</a:t>
            </a:r>
            <a:endParaRPr lang="en-US" sz="1200" dirty="0"/>
          </a:p>
        </p:txBody>
      </p:sp>
      <p:pic>
        <p:nvPicPr>
          <p:cNvPr id="5" name="Image 0" descr="icon_tags_8B5CF6.png"/>
          <p:cNvPicPr>
            <a:picLocks noChangeAspect="1"/>
          </p:cNvPicPr>
          <p:nvPr/>
        </p:nvPicPr>
        <p:blipFill>
          <a:blip r:embed="rId3"/>
          <a:stretch>
            <a:fillRect/>
          </a:stretch>
        </p:blipFill>
        <p:spPr>
          <a:xfrm>
            <a:off x="457200" y="685800"/>
            <a:ext cx="502920" cy="502920"/>
          </a:xfrm>
          <a:prstGeom prst="rect">
            <a:avLst/>
          </a:prstGeom>
        </p:spPr>
      </p:pic>
      <p:sp>
        <p:nvSpPr>
          <p:cNvPr id="6" name="Text 3"/>
          <p:cNvSpPr/>
          <p:nvPr/>
        </p:nvSpPr>
        <p:spPr>
          <a:xfrm>
            <a:off x="1097280" y="713232"/>
            <a:ext cx="9601200" cy="548640"/>
          </a:xfrm>
          <a:prstGeom prst="rect">
            <a:avLst/>
          </a:prstGeom>
          <a:noFill/>
          <a:ln/>
        </p:spPr>
        <p:txBody>
          <a:bodyPr wrap="square" rtlCol="0" anchor="ctr"/>
          <a:lstStyle/>
          <a:p>
            <a:pPr marL="0" indent="0">
              <a:buNone/>
            </a:pPr>
            <a:r>
              <a:rPr lang="en-US" sz="2500" dirty="0">
                <a:solidFill>
                  <a:srgbClr val="111111"/>
                </a:solidFill>
                <a:latin typeface="DM Serif Display" pitchFamily="34" charset="0"/>
                <a:ea typeface="DM Serif Display" pitchFamily="34" charset="-122"/>
                <a:cs typeface="DM Serif Display" pitchFamily="34" charset="-120"/>
              </a:rPr>
              <a:t>Elements of an Effective Mock-up</a:t>
            </a:r>
            <a:endParaRPr lang="en-US" sz="2500" dirty="0"/>
          </a:p>
        </p:txBody>
      </p:sp>
      <p:sp>
        <p:nvSpPr>
          <p:cNvPr id="7" name="Shape 4"/>
          <p:cNvSpPr/>
          <p:nvPr/>
        </p:nvSpPr>
        <p:spPr>
          <a:xfrm>
            <a:off x="457200" y="1508760"/>
            <a:ext cx="82296" cy="960120"/>
          </a:xfrm>
          <a:prstGeom prst="roundRect">
            <a:avLst/>
          </a:prstGeom>
          <a:solidFill>
            <a:srgbClr val="4361EE"/>
          </a:solidFill>
          <a:ln/>
        </p:spPr>
        <p:txBody>
          <a:bodyPr/>
          <a:lstStyle/>
          <a:p>
            <a:endParaRPr lang="en-AU"/>
          </a:p>
        </p:txBody>
      </p:sp>
      <p:sp>
        <p:nvSpPr>
          <p:cNvPr id="8" name="Text 5"/>
          <p:cNvSpPr/>
          <p:nvPr/>
        </p:nvSpPr>
        <p:spPr>
          <a:xfrm>
            <a:off x="685800" y="1481328"/>
            <a:ext cx="2926080" cy="411480"/>
          </a:xfrm>
          <a:prstGeom prst="rect">
            <a:avLst/>
          </a:prstGeom>
          <a:noFill/>
          <a:ln/>
        </p:spPr>
        <p:txBody>
          <a:bodyPr wrap="square" rtlCol="0" anchor="ctr"/>
          <a:lstStyle/>
          <a:p>
            <a:pPr marL="0" indent="0">
              <a:buNone/>
            </a:pPr>
            <a:r>
              <a:rPr lang="en-US" sz="1400" b="1" dirty="0">
                <a:solidFill>
                  <a:srgbClr val="4361EE"/>
                </a:solidFill>
                <a:latin typeface="DM Sans" pitchFamily="34" charset="0"/>
                <a:ea typeface="DM Sans" pitchFamily="34" charset="-122"/>
                <a:cs typeface="DM Sans" pitchFamily="34" charset="-120"/>
              </a:rPr>
              <a:t>Clear regions</a:t>
            </a:r>
            <a:endParaRPr lang="en-US" sz="1400" dirty="0"/>
          </a:p>
        </p:txBody>
      </p:sp>
      <p:sp>
        <p:nvSpPr>
          <p:cNvPr id="9" name="Text 6"/>
          <p:cNvSpPr/>
          <p:nvPr/>
        </p:nvSpPr>
        <p:spPr>
          <a:xfrm>
            <a:off x="685800" y="1892808"/>
            <a:ext cx="9966960" cy="502920"/>
          </a:xfrm>
          <a:prstGeom prst="rect">
            <a:avLst/>
          </a:prstGeom>
          <a:noFill/>
          <a:ln/>
        </p:spPr>
        <p:txBody>
          <a:bodyPr wrap="square" rtlCol="0" anchor="ctr"/>
          <a:lstStyle/>
          <a:p>
            <a:pPr marL="0" indent="0">
              <a:buNone/>
            </a:pPr>
            <a:r>
              <a:rPr lang="en-US" sz="1250" dirty="0">
                <a:solidFill>
                  <a:srgbClr val="111111"/>
                </a:solidFill>
                <a:latin typeface="DM Sans" pitchFamily="34" charset="0"/>
                <a:ea typeface="DM Sans" pitchFamily="34" charset="-122"/>
                <a:cs typeface="DM Sans" pitchFamily="34" charset="-120"/>
              </a:rPr>
              <a:t>Group related content into obvious blocks — header, main content, actions — even roughly.</a:t>
            </a:r>
            <a:endParaRPr lang="en-US" sz="1250" dirty="0"/>
          </a:p>
        </p:txBody>
      </p:sp>
      <p:sp>
        <p:nvSpPr>
          <p:cNvPr id="10" name="Shape 7"/>
          <p:cNvSpPr/>
          <p:nvPr/>
        </p:nvSpPr>
        <p:spPr>
          <a:xfrm>
            <a:off x="457200" y="2606040"/>
            <a:ext cx="82296" cy="960120"/>
          </a:xfrm>
          <a:prstGeom prst="roundRect">
            <a:avLst/>
          </a:prstGeom>
          <a:solidFill>
            <a:srgbClr val="10B981"/>
          </a:solidFill>
          <a:ln/>
        </p:spPr>
        <p:txBody>
          <a:bodyPr/>
          <a:lstStyle/>
          <a:p>
            <a:endParaRPr lang="en-AU"/>
          </a:p>
        </p:txBody>
      </p:sp>
      <p:sp>
        <p:nvSpPr>
          <p:cNvPr id="11" name="Text 8"/>
          <p:cNvSpPr/>
          <p:nvPr/>
        </p:nvSpPr>
        <p:spPr>
          <a:xfrm>
            <a:off x="685800" y="2578608"/>
            <a:ext cx="2926080" cy="411480"/>
          </a:xfrm>
          <a:prstGeom prst="rect">
            <a:avLst/>
          </a:prstGeom>
          <a:noFill/>
          <a:ln/>
        </p:spPr>
        <p:txBody>
          <a:bodyPr wrap="square" rtlCol="0" anchor="ctr"/>
          <a:lstStyle/>
          <a:p>
            <a:pPr marL="0" indent="0">
              <a:buNone/>
            </a:pPr>
            <a:r>
              <a:rPr lang="en-US" sz="1400" b="1" dirty="0">
                <a:solidFill>
                  <a:srgbClr val="10B981"/>
                </a:solidFill>
                <a:latin typeface="DM Sans" pitchFamily="34" charset="0"/>
                <a:ea typeface="DM Sans" pitchFamily="34" charset="-122"/>
                <a:cs typeface="DM Sans" pitchFamily="34" charset="-120"/>
              </a:rPr>
              <a:t>Labelled elements</a:t>
            </a:r>
            <a:endParaRPr lang="en-US" sz="1400" dirty="0"/>
          </a:p>
        </p:txBody>
      </p:sp>
      <p:sp>
        <p:nvSpPr>
          <p:cNvPr id="12" name="Text 9"/>
          <p:cNvSpPr/>
          <p:nvPr/>
        </p:nvSpPr>
        <p:spPr>
          <a:xfrm>
            <a:off x="685800" y="2990088"/>
            <a:ext cx="9966960" cy="502920"/>
          </a:xfrm>
          <a:prstGeom prst="rect">
            <a:avLst/>
          </a:prstGeom>
          <a:noFill/>
          <a:ln/>
        </p:spPr>
        <p:txBody>
          <a:bodyPr wrap="square" rtlCol="0" anchor="ctr"/>
          <a:lstStyle/>
          <a:p>
            <a:pPr marL="0" indent="0">
              <a:buNone/>
            </a:pPr>
            <a:r>
              <a:rPr lang="en-US" sz="1250" dirty="0">
                <a:solidFill>
                  <a:srgbClr val="111111"/>
                </a:solidFill>
                <a:latin typeface="DM Sans" pitchFamily="34" charset="0"/>
                <a:ea typeface="DM Sans" pitchFamily="34" charset="-122"/>
                <a:cs typeface="DM Sans" pitchFamily="34" charset="-120"/>
              </a:rPr>
              <a:t>Every button, field, or key element gets a short label naming what it is or does.</a:t>
            </a:r>
            <a:endParaRPr lang="en-US" sz="1250" dirty="0"/>
          </a:p>
        </p:txBody>
      </p:sp>
      <p:sp>
        <p:nvSpPr>
          <p:cNvPr id="13" name="Shape 10"/>
          <p:cNvSpPr/>
          <p:nvPr/>
        </p:nvSpPr>
        <p:spPr>
          <a:xfrm>
            <a:off x="457200" y="3703320"/>
            <a:ext cx="82296" cy="960120"/>
          </a:xfrm>
          <a:prstGeom prst="roundRect">
            <a:avLst/>
          </a:prstGeom>
          <a:solidFill>
            <a:srgbClr val="F59E0B"/>
          </a:solidFill>
          <a:ln/>
        </p:spPr>
        <p:txBody>
          <a:bodyPr/>
          <a:lstStyle/>
          <a:p>
            <a:endParaRPr lang="en-AU"/>
          </a:p>
        </p:txBody>
      </p:sp>
      <p:sp>
        <p:nvSpPr>
          <p:cNvPr id="14" name="Text 11"/>
          <p:cNvSpPr/>
          <p:nvPr/>
        </p:nvSpPr>
        <p:spPr>
          <a:xfrm>
            <a:off x="685800" y="3675888"/>
            <a:ext cx="2926080" cy="411480"/>
          </a:xfrm>
          <a:prstGeom prst="rect">
            <a:avLst/>
          </a:prstGeom>
          <a:noFill/>
          <a:ln/>
        </p:spPr>
        <p:txBody>
          <a:bodyPr wrap="square" rtlCol="0" anchor="ctr"/>
          <a:lstStyle/>
          <a:p>
            <a:pPr marL="0" indent="0">
              <a:buNone/>
            </a:pPr>
            <a:r>
              <a:rPr lang="en-US" sz="1400" b="1" dirty="0">
                <a:solidFill>
                  <a:srgbClr val="F59E0B"/>
                </a:solidFill>
                <a:latin typeface="DM Sans" pitchFamily="34" charset="0"/>
                <a:ea typeface="DM Sans" pitchFamily="34" charset="-122"/>
                <a:cs typeface="DM Sans" pitchFamily="34" charset="-120"/>
              </a:rPr>
              <a:t>Realistic content</a:t>
            </a:r>
            <a:endParaRPr lang="en-US" sz="1400" dirty="0"/>
          </a:p>
        </p:txBody>
      </p:sp>
      <p:sp>
        <p:nvSpPr>
          <p:cNvPr id="15" name="Text 12"/>
          <p:cNvSpPr/>
          <p:nvPr/>
        </p:nvSpPr>
        <p:spPr>
          <a:xfrm>
            <a:off x="685800" y="4087368"/>
            <a:ext cx="9966960" cy="502920"/>
          </a:xfrm>
          <a:prstGeom prst="rect">
            <a:avLst/>
          </a:prstGeom>
          <a:noFill/>
          <a:ln/>
        </p:spPr>
        <p:txBody>
          <a:bodyPr wrap="square" rtlCol="0" anchor="ctr"/>
          <a:lstStyle/>
          <a:p>
            <a:pPr marL="0" indent="0">
              <a:buNone/>
            </a:pPr>
            <a:r>
              <a:rPr lang="en-US" sz="1250" dirty="0">
                <a:solidFill>
                  <a:srgbClr val="111111"/>
                </a:solidFill>
                <a:latin typeface="DM Sans" pitchFamily="34" charset="0"/>
                <a:ea typeface="DM Sans" pitchFamily="34" charset="-122"/>
                <a:cs typeface="DM Sans" pitchFamily="34" charset="-120"/>
              </a:rPr>
              <a:t>Use content close to the real thing ("Pack helmet"), not placeholder text like "Lorem ipsum".</a:t>
            </a:r>
            <a:endParaRPr lang="en-US" sz="1250" dirty="0"/>
          </a:p>
        </p:txBody>
      </p:sp>
      <p:sp>
        <p:nvSpPr>
          <p:cNvPr id="16" name="Shape 13"/>
          <p:cNvSpPr/>
          <p:nvPr/>
        </p:nvSpPr>
        <p:spPr>
          <a:xfrm>
            <a:off x="457200" y="4800600"/>
            <a:ext cx="82296" cy="960120"/>
          </a:xfrm>
          <a:prstGeom prst="roundRect">
            <a:avLst/>
          </a:prstGeom>
          <a:solidFill>
            <a:srgbClr val="8B5CF6"/>
          </a:solidFill>
          <a:ln/>
        </p:spPr>
        <p:txBody>
          <a:bodyPr/>
          <a:lstStyle/>
          <a:p>
            <a:endParaRPr lang="en-AU"/>
          </a:p>
        </p:txBody>
      </p:sp>
      <p:sp>
        <p:nvSpPr>
          <p:cNvPr id="17" name="Text 14"/>
          <p:cNvSpPr/>
          <p:nvPr/>
        </p:nvSpPr>
        <p:spPr>
          <a:xfrm>
            <a:off x="685800" y="4773168"/>
            <a:ext cx="2926080" cy="411480"/>
          </a:xfrm>
          <a:prstGeom prst="rect">
            <a:avLst/>
          </a:prstGeom>
          <a:noFill/>
          <a:ln/>
        </p:spPr>
        <p:txBody>
          <a:bodyPr wrap="square" rtlCol="0" anchor="ctr"/>
          <a:lstStyle/>
          <a:p>
            <a:pPr marL="0" indent="0">
              <a:buNone/>
            </a:pPr>
            <a:r>
              <a:rPr lang="en-US" sz="1400" b="1" dirty="0">
                <a:solidFill>
                  <a:srgbClr val="8B5CF6"/>
                </a:solidFill>
                <a:latin typeface="DM Sans" pitchFamily="34" charset="0"/>
                <a:ea typeface="DM Sans" pitchFamily="34" charset="-122"/>
                <a:cs typeface="DM Sans" pitchFamily="34" charset="-120"/>
              </a:rPr>
              <a:t>One screen at a time</a:t>
            </a:r>
            <a:endParaRPr lang="en-US" sz="1400" dirty="0"/>
          </a:p>
        </p:txBody>
      </p:sp>
      <p:sp>
        <p:nvSpPr>
          <p:cNvPr id="18" name="Text 15"/>
          <p:cNvSpPr/>
          <p:nvPr/>
        </p:nvSpPr>
        <p:spPr>
          <a:xfrm>
            <a:off x="685800" y="5184648"/>
            <a:ext cx="9966960" cy="502920"/>
          </a:xfrm>
          <a:prstGeom prst="rect">
            <a:avLst/>
          </a:prstGeom>
          <a:noFill/>
          <a:ln/>
        </p:spPr>
        <p:txBody>
          <a:bodyPr wrap="square" rtlCol="0" anchor="ctr"/>
          <a:lstStyle/>
          <a:p>
            <a:pPr marL="0" indent="0">
              <a:buNone/>
            </a:pPr>
            <a:r>
              <a:rPr lang="en-US" sz="1250" dirty="0">
                <a:solidFill>
                  <a:srgbClr val="111111"/>
                </a:solidFill>
                <a:latin typeface="DM Sans" pitchFamily="34" charset="0"/>
                <a:ea typeface="DM Sans" pitchFamily="34" charset="-122"/>
                <a:cs typeface="DM Sans" pitchFamily="34" charset="-120"/>
              </a:rPr>
              <a:t>A mock-up shows one moment, not the whole app — that’s what the storyboard is for.</a:t>
            </a:r>
            <a:endParaRPr lang="en-US" sz="1250" dirty="0"/>
          </a:p>
        </p:txBody>
      </p:sp>
      <p:sp>
        <p:nvSpPr>
          <p:cNvPr id="19" name="Text 16"/>
          <p:cNvSpPr/>
          <p:nvPr/>
        </p:nvSpPr>
        <p:spPr>
          <a:xfrm>
            <a:off x="457200" y="5760720"/>
            <a:ext cx="10424160" cy="457200"/>
          </a:xfrm>
          <a:prstGeom prst="rect">
            <a:avLst/>
          </a:prstGeom>
          <a:noFill/>
          <a:ln/>
        </p:spPr>
        <p:txBody>
          <a:bodyPr wrap="square" rtlCol="0" anchor="ctr"/>
          <a:lstStyle/>
          <a:p>
            <a:pPr marL="0" indent="0">
              <a:buNone/>
            </a:pPr>
            <a:r>
              <a:rPr lang="en-US" sz="1200" dirty="0">
                <a:solidFill>
                  <a:srgbClr val="4361EE"/>
                </a:solidFill>
                <a:latin typeface="DM Mono" pitchFamily="34" charset="0"/>
                <a:ea typeface="DM Mono" pitchFamily="34" charset="-122"/>
                <a:cs typeface="DM Mono" pitchFamily="34" charset="-120"/>
              </a:rPr>
              <a:t>→ This maps directly to Workbook Section 2 — you’ll label at least four elements when you build yours.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6537960"/>
            <a:ext cx="5486400" cy="274320"/>
          </a:xfrm>
          <a:prstGeom prst="rect">
            <a:avLst/>
          </a:prstGeom>
          <a:noFill/>
          <a:ln/>
        </p:spPr>
        <p:txBody>
          <a:bodyPr wrap="square" rtlCol="0" anchor="ctr"/>
          <a:lstStyle/>
          <a:p>
            <a:pPr marL="0" indent="0">
              <a:buNone/>
            </a:pPr>
            <a:r>
              <a:rPr lang="en-US" sz="900" dirty="0">
                <a:solidFill>
                  <a:srgbClr val="5B6472"/>
                </a:solidFill>
                <a:latin typeface="DM Mono" pitchFamily="34" charset="0"/>
                <a:ea typeface="DM Mono" pitchFamily="34" charset="-122"/>
                <a:cs typeface="DM Mono" pitchFamily="34" charset="-120"/>
              </a:rPr>
              <a:t>y11-ac-u2-l7-design-tools-techniques-i</a:t>
            </a:r>
            <a:endParaRPr lang="en-US" sz="900" dirty="0"/>
          </a:p>
        </p:txBody>
      </p:sp>
      <p:sp>
        <p:nvSpPr>
          <p:cNvPr id="3" name="Text 1"/>
          <p:cNvSpPr/>
          <p:nvPr/>
        </p:nvSpPr>
        <p:spPr>
          <a:xfrm>
            <a:off x="10515600" y="6537960"/>
            <a:ext cx="1280160" cy="274320"/>
          </a:xfrm>
          <a:prstGeom prst="rect">
            <a:avLst/>
          </a:prstGeom>
          <a:noFill/>
          <a:ln/>
        </p:spPr>
        <p:txBody>
          <a:bodyPr wrap="square" rtlCol="0" anchor="ctr"/>
          <a:lstStyle/>
          <a:p>
            <a:pPr marL="0" indent="0" algn="r">
              <a:buNone/>
            </a:pPr>
            <a:r>
              <a:rPr lang="en-US" sz="900" dirty="0">
                <a:solidFill>
                  <a:srgbClr val="5B6472"/>
                </a:solidFill>
                <a:latin typeface="DM Mono" pitchFamily="34" charset="0"/>
                <a:ea typeface="DM Mono" pitchFamily="34" charset="-122"/>
                <a:cs typeface="DM Mono" pitchFamily="34" charset="-120"/>
              </a:rPr>
              <a:t>Mr Smith</a:t>
            </a:r>
            <a:endParaRPr lang="en-US" sz="900" dirty="0"/>
          </a:p>
        </p:txBody>
      </p:sp>
      <p:sp>
        <p:nvSpPr>
          <p:cNvPr id="4" name="Text 2"/>
          <p:cNvSpPr/>
          <p:nvPr/>
        </p:nvSpPr>
        <p:spPr>
          <a:xfrm>
            <a:off x="457200" y="320040"/>
            <a:ext cx="2926080" cy="365760"/>
          </a:xfrm>
          <a:prstGeom prst="rect">
            <a:avLst/>
          </a:prstGeom>
          <a:noFill/>
          <a:ln/>
        </p:spPr>
        <p:txBody>
          <a:bodyPr wrap="square" rtlCol="0" anchor="ctr"/>
          <a:lstStyle/>
          <a:p>
            <a:pPr marL="0" indent="0">
              <a:buNone/>
            </a:pPr>
            <a:r>
              <a:rPr lang="en-US" sz="1200" b="1" kern="0" spc="200" dirty="0">
                <a:solidFill>
                  <a:srgbClr val="4361EE"/>
                </a:solidFill>
                <a:latin typeface="DM Mono" pitchFamily="34" charset="0"/>
                <a:ea typeface="DM Mono" pitchFamily="34" charset="-122"/>
                <a:cs typeface="DM Mono" pitchFamily="34" charset="-120"/>
              </a:rPr>
              <a:t>EXPLICIT</a:t>
            </a:r>
            <a:endParaRPr lang="en-US" sz="1200" dirty="0"/>
          </a:p>
        </p:txBody>
      </p:sp>
      <p:pic>
        <p:nvPicPr>
          <p:cNvPr id="5" name="Image 0" descr="icon_film_10B981.png"/>
          <p:cNvPicPr>
            <a:picLocks noChangeAspect="1"/>
          </p:cNvPicPr>
          <p:nvPr/>
        </p:nvPicPr>
        <p:blipFill>
          <a:blip r:embed="rId3"/>
          <a:stretch>
            <a:fillRect/>
          </a:stretch>
        </p:blipFill>
        <p:spPr>
          <a:xfrm>
            <a:off x="457200" y="685800"/>
            <a:ext cx="502920" cy="502920"/>
          </a:xfrm>
          <a:prstGeom prst="rect">
            <a:avLst/>
          </a:prstGeom>
        </p:spPr>
      </p:pic>
      <p:sp>
        <p:nvSpPr>
          <p:cNvPr id="6" name="Text 3"/>
          <p:cNvSpPr/>
          <p:nvPr/>
        </p:nvSpPr>
        <p:spPr>
          <a:xfrm>
            <a:off x="1097280" y="713232"/>
            <a:ext cx="9601200" cy="548640"/>
          </a:xfrm>
          <a:prstGeom prst="rect">
            <a:avLst/>
          </a:prstGeom>
          <a:noFill/>
          <a:ln/>
        </p:spPr>
        <p:txBody>
          <a:bodyPr wrap="square" rtlCol="0" anchor="ctr"/>
          <a:lstStyle/>
          <a:p>
            <a:pPr marL="0" indent="0">
              <a:buNone/>
            </a:pPr>
            <a:r>
              <a:rPr lang="en-US" sz="2500" dirty="0">
                <a:solidFill>
                  <a:srgbClr val="111111"/>
                </a:solidFill>
                <a:latin typeface="DM Serif Display" pitchFamily="34" charset="0"/>
                <a:ea typeface="DM Serif Display" pitchFamily="34" charset="-122"/>
                <a:cs typeface="DM Serif Display" pitchFamily="34" charset="-120"/>
              </a:rPr>
              <a:t>Elements of an Effective Storyboard</a:t>
            </a:r>
            <a:endParaRPr lang="en-US" sz="2500" dirty="0"/>
          </a:p>
        </p:txBody>
      </p:sp>
      <p:sp>
        <p:nvSpPr>
          <p:cNvPr id="7" name="Shape 4"/>
          <p:cNvSpPr/>
          <p:nvPr/>
        </p:nvSpPr>
        <p:spPr>
          <a:xfrm>
            <a:off x="457200" y="1508760"/>
            <a:ext cx="82296" cy="960120"/>
          </a:xfrm>
          <a:prstGeom prst="roundRect">
            <a:avLst/>
          </a:prstGeom>
          <a:solidFill>
            <a:srgbClr val="4361EE"/>
          </a:solidFill>
          <a:ln/>
        </p:spPr>
        <p:txBody>
          <a:bodyPr/>
          <a:lstStyle/>
          <a:p>
            <a:endParaRPr lang="en-AU"/>
          </a:p>
        </p:txBody>
      </p:sp>
      <p:sp>
        <p:nvSpPr>
          <p:cNvPr id="8" name="Text 5"/>
          <p:cNvSpPr/>
          <p:nvPr/>
        </p:nvSpPr>
        <p:spPr>
          <a:xfrm>
            <a:off x="685800" y="1481328"/>
            <a:ext cx="4023360" cy="411480"/>
          </a:xfrm>
          <a:prstGeom prst="rect">
            <a:avLst/>
          </a:prstGeom>
          <a:noFill/>
          <a:ln/>
        </p:spPr>
        <p:txBody>
          <a:bodyPr wrap="square" rtlCol="0" anchor="ctr"/>
          <a:lstStyle/>
          <a:p>
            <a:pPr marL="0" indent="0">
              <a:buNone/>
            </a:pPr>
            <a:r>
              <a:rPr lang="en-US" sz="1400" b="1" dirty="0">
                <a:solidFill>
                  <a:srgbClr val="4361EE"/>
                </a:solidFill>
                <a:latin typeface="DM Sans" pitchFamily="34" charset="0"/>
                <a:ea typeface="DM Sans" pitchFamily="34" charset="-122"/>
                <a:cs typeface="DM Sans" pitchFamily="34" charset="-120"/>
              </a:rPr>
              <a:t>A clear trigger</a:t>
            </a:r>
            <a:endParaRPr lang="en-US" sz="1400" dirty="0"/>
          </a:p>
        </p:txBody>
      </p:sp>
      <p:sp>
        <p:nvSpPr>
          <p:cNvPr id="9" name="Text 6"/>
          <p:cNvSpPr/>
          <p:nvPr/>
        </p:nvSpPr>
        <p:spPr>
          <a:xfrm>
            <a:off x="685800" y="1892808"/>
            <a:ext cx="9966960" cy="502920"/>
          </a:xfrm>
          <a:prstGeom prst="rect">
            <a:avLst/>
          </a:prstGeom>
          <a:noFill/>
          <a:ln/>
        </p:spPr>
        <p:txBody>
          <a:bodyPr wrap="square" rtlCol="0" anchor="ctr"/>
          <a:lstStyle/>
          <a:p>
            <a:pPr marL="0" indent="0">
              <a:buNone/>
            </a:pPr>
            <a:r>
              <a:rPr lang="en-US" sz="1250" dirty="0">
                <a:solidFill>
                  <a:srgbClr val="111111"/>
                </a:solidFill>
                <a:latin typeface="DM Sans" pitchFamily="34" charset="0"/>
                <a:ea typeface="DM Sans" pitchFamily="34" charset="-122"/>
                <a:cs typeface="DM Sans" pitchFamily="34" charset="-120"/>
              </a:rPr>
              <a:t>What starts the sequence? A notification, an action, a problem noticed — name it in panel 1.</a:t>
            </a:r>
            <a:endParaRPr lang="en-US" sz="1250" dirty="0"/>
          </a:p>
        </p:txBody>
      </p:sp>
      <p:sp>
        <p:nvSpPr>
          <p:cNvPr id="10" name="Shape 7"/>
          <p:cNvSpPr/>
          <p:nvPr/>
        </p:nvSpPr>
        <p:spPr>
          <a:xfrm>
            <a:off x="457200" y="2606040"/>
            <a:ext cx="82296" cy="960120"/>
          </a:xfrm>
          <a:prstGeom prst="roundRect">
            <a:avLst/>
          </a:prstGeom>
          <a:solidFill>
            <a:srgbClr val="10B981"/>
          </a:solidFill>
          <a:ln/>
        </p:spPr>
        <p:txBody>
          <a:bodyPr/>
          <a:lstStyle/>
          <a:p>
            <a:endParaRPr lang="en-AU"/>
          </a:p>
        </p:txBody>
      </p:sp>
      <p:sp>
        <p:nvSpPr>
          <p:cNvPr id="11" name="Text 8"/>
          <p:cNvSpPr/>
          <p:nvPr/>
        </p:nvSpPr>
        <p:spPr>
          <a:xfrm>
            <a:off x="685800" y="2578608"/>
            <a:ext cx="4023360" cy="411480"/>
          </a:xfrm>
          <a:prstGeom prst="rect">
            <a:avLst/>
          </a:prstGeom>
          <a:noFill/>
          <a:ln/>
        </p:spPr>
        <p:txBody>
          <a:bodyPr wrap="square" rtlCol="0" anchor="ctr"/>
          <a:lstStyle/>
          <a:p>
            <a:pPr marL="0" indent="0">
              <a:buNone/>
            </a:pPr>
            <a:r>
              <a:rPr lang="en-US" sz="1400" b="1" dirty="0">
                <a:solidFill>
                  <a:srgbClr val="10B981"/>
                </a:solidFill>
                <a:latin typeface="DM Sans" pitchFamily="34" charset="0"/>
                <a:ea typeface="DM Sans" pitchFamily="34" charset="-122"/>
                <a:cs typeface="DM Sans" pitchFamily="34" charset="-120"/>
              </a:rPr>
              <a:t>One action per panel</a:t>
            </a:r>
            <a:endParaRPr lang="en-US" sz="1400" dirty="0"/>
          </a:p>
        </p:txBody>
      </p:sp>
      <p:sp>
        <p:nvSpPr>
          <p:cNvPr id="12" name="Text 9"/>
          <p:cNvSpPr/>
          <p:nvPr/>
        </p:nvSpPr>
        <p:spPr>
          <a:xfrm>
            <a:off x="685800" y="2990088"/>
            <a:ext cx="9966960" cy="502920"/>
          </a:xfrm>
          <a:prstGeom prst="rect">
            <a:avLst/>
          </a:prstGeom>
          <a:noFill/>
          <a:ln/>
        </p:spPr>
        <p:txBody>
          <a:bodyPr wrap="square" rtlCol="0" anchor="ctr"/>
          <a:lstStyle/>
          <a:p>
            <a:pPr marL="0" indent="0">
              <a:buNone/>
            </a:pPr>
            <a:r>
              <a:rPr lang="en-US" sz="1250" dirty="0">
                <a:solidFill>
                  <a:srgbClr val="111111"/>
                </a:solidFill>
                <a:latin typeface="DM Sans" pitchFamily="34" charset="0"/>
                <a:ea typeface="DM Sans" pitchFamily="34" charset="-122"/>
                <a:cs typeface="DM Sans" pitchFamily="34" charset="-120"/>
              </a:rPr>
              <a:t>Each panel shows a single step — don’t cram the whole journey into one box.</a:t>
            </a:r>
            <a:endParaRPr lang="en-US" sz="1250" dirty="0"/>
          </a:p>
        </p:txBody>
      </p:sp>
      <p:sp>
        <p:nvSpPr>
          <p:cNvPr id="13" name="Shape 10"/>
          <p:cNvSpPr/>
          <p:nvPr/>
        </p:nvSpPr>
        <p:spPr>
          <a:xfrm>
            <a:off x="457200" y="3703320"/>
            <a:ext cx="82296" cy="960120"/>
          </a:xfrm>
          <a:prstGeom prst="roundRect">
            <a:avLst/>
          </a:prstGeom>
          <a:solidFill>
            <a:srgbClr val="F59E0B"/>
          </a:solidFill>
          <a:ln/>
        </p:spPr>
        <p:txBody>
          <a:bodyPr/>
          <a:lstStyle/>
          <a:p>
            <a:endParaRPr lang="en-AU"/>
          </a:p>
        </p:txBody>
      </p:sp>
      <p:sp>
        <p:nvSpPr>
          <p:cNvPr id="14" name="Text 11"/>
          <p:cNvSpPr/>
          <p:nvPr/>
        </p:nvSpPr>
        <p:spPr>
          <a:xfrm>
            <a:off x="685800" y="3675888"/>
            <a:ext cx="4023360" cy="411480"/>
          </a:xfrm>
          <a:prstGeom prst="rect">
            <a:avLst/>
          </a:prstGeom>
          <a:noFill/>
          <a:ln/>
        </p:spPr>
        <p:txBody>
          <a:bodyPr wrap="square" rtlCol="0" anchor="ctr"/>
          <a:lstStyle/>
          <a:p>
            <a:pPr marL="0" indent="0">
              <a:buNone/>
            </a:pPr>
            <a:r>
              <a:rPr lang="en-US" sz="1400" b="1" dirty="0">
                <a:solidFill>
                  <a:srgbClr val="F59E0B"/>
                </a:solidFill>
                <a:latin typeface="DM Sans" pitchFamily="34" charset="0"/>
                <a:ea typeface="DM Sans" pitchFamily="34" charset="-122"/>
                <a:cs typeface="DM Sans" pitchFamily="34" charset="-120"/>
              </a:rPr>
              <a:t>The user’s side, not just the screen</a:t>
            </a:r>
            <a:endParaRPr lang="en-US" sz="1400" dirty="0"/>
          </a:p>
        </p:txBody>
      </p:sp>
      <p:sp>
        <p:nvSpPr>
          <p:cNvPr id="15" name="Text 12"/>
          <p:cNvSpPr/>
          <p:nvPr/>
        </p:nvSpPr>
        <p:spPr>
          <a:xfrm>
            <a:off x="685800" y="4087368"/>
            <a:ext cx="9966960" cy="502920"/>
          </a:xfrm>
          <a:prstGeom prst="rect">
            <a:avLst/>
          </a:prstGeom>
          <a:noFill/>
          <a:ln/>
        </p:spPr>
        <p:txBody>
          <a:bodyPr wrap="square" rtlCol="0" anchor="ctr"/>
          <a:lstStyle/>
          <a:p>
            <a:pPr marL="0" indent="0">
              <a:buNone/>
            </a:pPr>
            <a:r>
              <a:rPr lang="en-US" sz="1250" dirty="0">
                <a:solidFill>
                  <a:srgbClr val="111111"/>
                </a:solidFill>
                <a:latin typeface="DM Sans" pitchFamily="34" charset="0"/>
                <a:ea typeface="DM Sans" pitchFamily="34" charset="-122"/>
                <a:cs typeface="DM Sans" pitchFamily="34" charset="-120"/>
              </a:rPr>
              <a:t>Note what the user does and, where relevant, how they react — not just what’s displayed.</a:t>
            </a:r>
            <a:endParaRPr lang="en-US" sz="1250" dirty="0"/>
          </a:p>
        </p:txBody>
      </p:sp>
      <p:sp>
        <p:nvSpPr>
          <p:cNvPr id="16" name="Shape 13"/>
          <p:cNvSpPr/>
          <p:nvPr/>
        </p:nvSpPr>
        <p:spPr>
          <a:xfrm>
            <a:off x="457200" y="4800600"/>
            <a:ext cx="82296" cy="960120"/>
          </a:xfrm>
          <a:prstGeom prst="roundRect">
            <a:avLst/>
          </a:prstGeom>
          <a:solidFill>
            <a:srgbClr val="8B5CF6"/>
          </a:solidFill>
          <a:ln/>
        </p:spPr>
        <p:txBody>
          <a:bodyPr/>
          <a:lstStyle/>
          <a:p>
            <a:endParaRPr lang="en-AU"/>
          </a:p>
        </p:txBody>
      </p:sp>
      <p:sp>
        <p:nvSpPr>
          <p:cNvPr id="17" name="Text 14"/>
          <p:cNvSpPr/>
          <p:nvPr/>
        </p:nvSpPr>
        <p:spPr>
          <a:xfrm>
            <a:off x="685800" y="4773168"/>
            <a:ext cx="4023360" cy="411480"/>
          </a:xfrm>
          <a:prstGeom prst="rect">
            <a:avLst/>
          </a:prstGeom>
          <a:noFill/>
          <a:ln/>
        </p:spPr>
        <p:txBody>
          <a:bodyPr wrap="square" rtlCol="0" anchor="ctr"/>
          <a:lstStyle/>
          <a:p>
            <a:pPr marL="0" indent="0">
              <a:buNone/>
            </a:pPr>
            <a:r>
              <a:rPr lang="en-US" sz="1400" b="1" dirty="0">
                <a:solidFill>
                  <a:srgbClr val="8B5CF6"/>
                </a:solidFill>
                <a:latin typeface="DM Sans" pitchFamily="34" charset="0"/>
                <a:ea typeface="DM Sans" pitchFamily="34" charset="-122"/>
                <a:cs typeface="DM Sans" pitchFamily="34" charset="-120"/>
              </a:rPr>
              <a:t>A real ending</a:t>
            </a:r>
            <a:endParaRPr lang="en-US" sz="1400" dirty="0"/>
          </a:p>
        </p:txBody>
      </p:sp>
      <p:sp>
        <p:nvSpPr>
          <p:cNvPr id="18" name="Text 15"/>
          <p:cNvSpPr/>
          <p:nvPr/>
        </p:nvSpPr>
        <p:spPr>
          <a:xfrm>
            <a:off x="685800" y="5184648"/>
            <a:ext cx="9966960" cy="502920"/>
          </a:xfrm>
          <a:prstGeom prst="rect">
            <a:avLst/>
          </a:prstGeom>
          <a:noFill/>
          <a:ln/>
        </p:spPr>
        <p:txBody>
          <a:bodyPr wrap="square" rtlCol="0" anchor="ctr"/>
          <a:lstStyle/>
          <a:p>
            <a:pPr marL="0" indent="0">
              <a:buNone/>
            </a:pPr>
            <a:r>
              <a:rPr lang="en-US" sz="1250" dirty="0">
                <a:solidFill>
                  <a:srgbClr val="111111"/>
                </a:solidFill>
                <a:latin typeface="DM Sans" pitchFamily="34" charset="0"/>
                <a:ea typeface="DM Sans" pitchFamily="34" charset="-122"/>
                <a:cs typeface="DM Sans" pitchFamily="34" charset="-120"/>
              </a:rPr>
              <a:t>Show the sequence through to completion — confirmation, result, or outcome — not a cut-off mid-task.</a:t>
            </a:r>
            <a:endParaRPr lang="en-US" sz="1250" dirty="0"/>
          </a:p>
        </p:txBody>
      </p:sp>
      <p:sp>
        <p:nvSpPr>
          <p:cNvPr id="19" name="Text 16"/>
          <p:cNvSpPr/>
          <p:nvPr/>
        </p:nvSpPr>
        <p:spPr>
          <a:xfrm>
            <a:off x="457200" y="5760720"/>
            <a:ext cx="10424160" cy="457200"/>
          </a:xfrm>
          <a:prstGeom prst="rect">
            <a:avLst/>
          </a:prstGeom>
          <a:noFill/>
          <a:ln/>
        </p:spPr>
        <p:txBody>
          <a:bodyPr wrap="square" rtlCol="0" anchor="ctr"/>
          <a:lstStyle/>
          <a:p>
            <a:pPr marL="0" indent="0">
              <a:buNone/>
            </a:pPr>
            <a:r>
              <a:rPr lang="en-US" sz="1200" dirty="0">
                <a:solidFill>
                  <a:srgbClr val="10B981"/>
                </a:solidFill>
                <a:latin typeface="DM Mono" pitchFamily="34" charset="0"/>
                <a:ea typeface="DM Mono" pitchFamily="34" charset="-122"/>
                <a:cs typeface="DM Mono" pitchFamily="34" charset="-120"/>
              </a:rPr>
              <a:t>→ This maps to Workbook Section 3 — build at least four panels covering a full interaction.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8B5CF6"/>
        </a:solidFill>
        <a:effectLst/>
      </p:bgPr>
    </p:bg>
    <p:spTree>
      <p:nvGrpSpPr>
        <p:cNvPr id="1" name=""/>
        <p:cNvGrpSpPr/>
        <p:nvPr/>
      </p:nvGrpSpPr>
      <p:grpSpPr>
        <a:xfrm>
          <a:off x="0" y="0"/>
          <a:ext cx="0" cy="0"/>
          <a:chOff x="0" y="0"/>
          <a:chExt cx="0" cy="0"/>
        </a:xfrm>
      </p:grpSpPr>
      <p:pic>
        <p:nvPicPr>
          <p:cNvPr id="2" name="Image 0" descr="icon_brain_FFFFFF.png"/>
          <p:cNvPicPr>
            <a:picLocks noChangeAspect="1"/>
          </p:cNvPicPr>
          <p:nvPr/>
        </p:nvPicPr>
        <p:blipFill>
          <a:blip r:embed="rId3"/>
          <a:stretch>
            <a:fillRect/>
          </a:stretch>
        </p:blipFill>
        <p:spPr>
          <a:xfrm>
            <a:off x="5212080" y="731520"/>
            <a:ext cx="914400" cy="914400"/>
          </a:xfrm>
          <a:prstGeom prst="rect">
            <a:avLst/>
          </a:prstGeom>
        </p:spPr>
      </p:pic>
      <p:sp>
        <p:nvSpPr>
          <p:cNvPr id="3" name="Text 0"/>
          <p:cNvSpPr/>
          <p:nvPr/>
        </p:nvSpPr>
        <p:spPr>
          <a:xfrm>
            <a:off x="457200" y="1920240"/>
            <a:ext cx="11247120" cy="731520"/>
          </a:xfrm>
          <a:prstGeom prst="rect">
            <a:avLst/>
          </a:prstGeom>
          <a:noFill/>
          <a:ln/>
        </p:spPr>
        <p:txBody>
          <a:bodyPr wrap="square" rtlCol="0" anchor="ctr"/>
          <a:lstStyle/>
          <a:p>
            <a:pPr marL="0" indent="0" algn="ctr">
              <a:buNone/>
            </a:pPr>
            <a:r>
              <a:rPr lang="en-US" sz="3200" dirty="0">
                <a:solidFill>
                  <a:srgbClr val="FFFFFF"/>
                </a:solidFill>
                <a:latin typeface="DM Serif Display" pitchFamily="34" charset="0"/>
                <a:ea typeface="DM Serif Display" pitchFamily="34" charset="-122"/>
                <a:cs typeface="DM Serif Display" pitchFamily="34" charset="-120"/>
              </a:rPr>
              <a:t>Brain Break</a:t>
            </a:r>
            <a:endParaRPr lang="en-US" sz="3200" dirty="0"/>
          </a:p>
        </p:txBody>
      </p:sp>
      <p:sp>
        <p:nvSpPr>
          <p:cNvPr id="4" name="Text 1"/>
          <p:cNvSpPr/>
          <p:nvPr/>
        </p:nvSpPr>
        <p:spPr>
          <a:xfrm>
            <a:off x="1371600" y="2834640"/>
            <a:ext cx="9418320" cy="914400"/>
          </a:xfrm>
          <a:prstGeom prst="rect">
            <a:avLst/>
          </a:prstGeom>
          <a:noFill/>
          <a:ln/>
        </p:spPr>
        <p:txBody>
          <a:bodyPr wrap="square" rtlCol="0" anchor="ctr"/>
          <a:lstStyle/>
          <a:p>
            <a:pPr marL="0" indent="0" algn="ctr">
              <a:buNone/>
            </a:pPr>
            <a:r>
              <a:rPr lang="en-US" sz="1700" dirty="0">
                <a:solidFill>
                  <a:srgbClr val="FFFFFF"/>
                </a:solidFill>
                <a:latin typeface="DM Sans" pitchFamily="34" charset="0"/>
                <a:ea typeface="DM Sans" pitchFamily="34" charset="-122"/>
                <a:cs typeface="DM Sans" pitchFamily="34" charset="-120"/>
              </a:rPr>
              <a:t>Stand up and stretch. Tell a neighbour about a time an app’s layout confused you — what would a clearer mock-up have looked like?</a:t>
            </a:r>
            <a:endParaRPr lang="en-US" sz="1700" dirty="0"/>
          </a:p>
        </p:txBody>
      </p:sp>
      <p:sp>
        <p:nvSpPr>
          <p:cNvPr id="5" name="Text 2"/>
          <p:cNvSpPr/>
          <p:nvPr/>
        </p:nvSpPr>
        <p:spPr>
          <a:xfrm>
            <a:off x="365760" y="6537960"/>
            <a:ext cx="5486400" cy="274320"/>
          </a:xfrm>
          <a:prstGeom prst="rect">
            <a:avLst/>
          </a:prstGeom>
          <a:noFill/>
          <a:ln/>
        </p:spPr>
        <p:txBody>
          <a:bodyPr wrap="square" rtlCol="0" anchor="ctr"/>
          <a:lstStyle/>
          <a:p>
            <a:pPr marL="0" indent="0">
              <a:buNone/>
            </a:pPr>
            <a:r>
              <a:rPr lang="en-US" sz="900" dirty="0">
                <a:solidFill>
                  <a:srgbClr val="5B6472"/>
                </a:solidFill>
                <a:latin typeface="DM Mono" pitchFamily="34" charset="0"/>
                <a:ea typeface="DM Mono" pitchFamily="34" charset="-122"/>
                <a:cs typeface="DM Mono" pitchFamily="34" charset="-120"/>
              </a:rPr>
              <a:t>y11-ac-u2-l7-design-tools-techniques-i</a:t>
            </a:r>
            <a:endParaRPr lang="en-US" sz="900" dirty="0"/>
          </a:p>
        </p:txBody>
      </p:sp>
      <p:sp>
        <p:nvSpPr>
          <p:cNvPr id="6" name="Text 3"/>
          <p:cNvSpPr/>
          <p:nvPr/>
        </p:nvSpPr>
        <p:spPr>
          <a:xfrm>
            <a:off x="10515600" y="6537960"/>
            <a:ext cx="1280160" cy="274320"/>
          </a:xfrm>
          <a:prstGeom prst="rect">
            <a:avLst/>
          </a:prstGeom>
          <a:noFill/>
          <a:ln/>
        </p:spPr>
        <p:txBody>
          <a:bodyPr wrap="square" rtlCol="0" anchor="ctr"/>
          <a:lstStyle/>
          <a:p>
            <a:pPr marL="0" indent="0" algn="r">
              <a:buNone/>
            </a:pPr>
            <a:r>
              <a:rPr lang="en-US" sz="900" dirty="0">
                <a:solidFill>
                  <a:srgbClr val="5B6472"/>
                </a:solidFill>
                <a:latin typeface="DM Mono" pitchFamily="34" charset="0"/>
                <a:ea typeface="DM Mono" pitchFamily="34" charset="-122"/>
                <a:cs typeface="DM Mono" pitchFamily="34" charset="-120"/>
              </a:rPr>
              <a:t>Mr Smith</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6537960"/>
            <a:ext cx="5486400" cy="274320"/>
          </a:xfrm>
          <a:prstGeom prst="rect">
            <a:avLst/>
          </a:prstGeom>
          <a:noFill/>
          <a:ln/>
        </p:spPr>
        <p:txBody>
          <a:bodyPr wrap="square" rtlCol="0" anchor="ctr"/>
          <a:lstStyle/>
          <a:p>
            <a:pPr marL="0" indent="0">
              <a:buNone/>
            </a:pPr>
            <a:r>
              <a:rPr lang="en-US" sz="900" dirty="0">
                <a:solidFill>
                  <a:srgbClr val="5B6472"/>
                </a:solidFill>
                <a:latin typeface="DM Mono" pitchFamily="34" charset="0"/>
                <a:ea typeface="DM Mono" pitchFamily="34" charset="-122"/>
                <a:cs typeface="DM Mono" pitchFamily="34" charset="-120"/>
              </a:rPr>
              <a:t>y11-ac-u2-l7-design-tools-techniques-i</a:t>
            </a:r>
            <a:endParaRPr lang="en-US" sz="900" dirty="0"/>
          </a:p>
        </p:txBody>
      </p:sp>
      <p:sp>
        <p:nvSpPr>
          <p:cNvPr id="3" name="Text 1"/>
          <p:cNvSpPr/>
          <p:nvPr/>
        </p:nvSpPr>
        <p:spPr>
          <a:xfrm>
            <a:off x="10515600" y="6537960"/>
            <a:ext cx="1280160" cy="274320"/>
          </a:xfrm>
          <a:prstGeom prst="rect">
            <a:avLst/>
          </a:prstGeom>
          <a:noFill/>
          <a:ln/>
        </p:spPr>
        <p:txBody>
          <a:bodyPr wrap="square" rtlCol="0" anchor="ctr"/>
          <a:lstStyle/>
          <a:p>
            <a:pPr marL="0" indent="0" algn="r">
              <a:buNone/>
            </a:pPr>
            <a:r>
              <a:rPr lang="en-US" sz="900" dirty="0">
                <a:solidFill>
                  <a:srgbClr val="5B6472"/>
                </a:solidFill>
                <a:latin typeface="DM Mono" pitchFamily="34" charset="0"/>
                <a:ea typeface="DM Mono" pitchFamily="34" charset="-122"/>
                <a:cs typeface="DM Mono" pitchFamily="34" charset="-120"/>
              </a:rPr>
              <a:t>Mr Smith</a:t>
            </a:r>
            <a:endParaRPr lang="en-US" sz="900" dirty="0"/>
          </a:p>
        </p:txBody>
      </p:sp>
      <p:sp>
        <p:nvSpPr>
          <p:cNvPr id="4" name="Text 2"/>
          <p:cNvSpPr/>
          <p:nvPr/>
        </p:nvSpPr>
        <p:spPr>
          <a:xfrm>
            <a:off x="457200" y="320040"/>
            <a:ext cx="2926080" cy="365760"/>
          </a:xfrm>
          <a:prstGeom prst="rect">
            <a:avLst/>
          </a:prstGeom>
          <a:noFill/>
          <a:ln/>
        </p:spPr>
        <p:txBody>
          <a:bodyPr wrap="square" rtlCol="0" anchor="ctr"/>
          <a:lstStyle/>
          <a:p>
            <a:pPr marL="0" indent="0">
              <a:buNone/>
            </a:pPr>
            <a:r>
              <a:rPr lang="en-US" sz="1200" b="1" kern="0" spc="200" dirty="0">
                <a:solidFill>
                  <a:srgbClr val="10B981"/>
                </a:solidFill>
                <a:latin typeface="DM Mono" pitchFamily="34" charset="0"/>
                <a:ea typeface="DM Mono" pitchFamily="34" charset="-122"/>
                <a:cs typeface="DM Mono" pitchFamily="34" charset="-120"/>
              </a:rPr>
              <a:t>APPLICATION</a:t>
            </a:r>
            <a:endParaRPr lang="en-US" sz="1200" dirty="0"/>
          </a:p>
        </p:txBody>
      </p:sp>
      <p:sp>
        <p:nvSpPr>
          <p:cNvPr id="5" name="Shape 3"/>
          <p:cNvSpPr/>
          <p:nvPr/>
        </p:nvSpPr>
        <p:spPr>
          <a:xfrm>
            <a:off x="457200" y="685800"/>
            <a:ext cx="2743200" cy="365760"/>
          </a:xfrm>
          <a:prstGeom prst="roundRect">
            <a:avLst>
              <a:gd name="adj" fmla="val 50000"/>
            </a:avLst>
          </a:prstGeom>
          <a:solidFill>
            <a:srgbClr val="10B981"/>
          </a:solidFill>
          <a:ln/>
        </p:spPr>
        <p:txBody>
          <a:bodyPr/>
          <a:lstStyle/>
          <a:p>
            <a:endParaRPr lang="en-AU"/>
          </a:p>
        </p:txBody>
      </p:sp>
      <p:sp>
        <p:nvSpPr>
          <p:cNvPr id="6" name="Text 4"/>
          <p:cNvSpPr/>
          <p:nvPr/>
        </p:nvSpPr>
        <p:spPr>
          <a:xfrm>
            <a:off x="457200" y="685800"/>
            <a:ext cx="2743200" cy="365760"/>
          </a:xfrm>
          <a:prstGeom prst="rect">
            <a:avLst/>
          </a:prstGeom>
          <a:noFill/>
          <a:ln/>
        </p:spPr>
        <p:txBody>
          <a:bodyPr wrap="square" rtlCol="0" anchor="ctr"/>
          <a:lstStyle/>
          <a:p>
            <a:pPr marL="0" indent="0" algn="ctr">
              <a:buNone/>
            </a:pPr>
            <a:r>
              <a:rPr lang="en-US" sz="1100" b="1" dirty="0">
                <a:solidFill>
                  <a:srgbClr val="FFFFFF"/>
                </a:solidFill>
                <a:latin typeface="DM Mono" pitchFamily="34" charset="0"/>
                <a:ea typeface="DM Mono" pitchFamily="34" charset="-122"/>
                <a:cs typeface="DM Mono" pitchFamily="34" charset="-120"/>
              </a:rPr>
              <a:t>🔓 LAPTOP GATE — Devices ON</a:t>
            </a:r>
            <a:endParaRPr lang="en-US" sz="1100" dirty="0"/>
          </a:p>
        </p:txBody>
      </p:sp>
      <p:sp>
        <p:nvSpPr>
          <p:cNvPr id="7" name="Text 5"/>
          <p:cNvSpPr/>
          <p:nvPr/>
        </p:nvSpPr>
        <p:spPr>
          <a:xfrm>
            <a:off x="457200" y="1234440"/>
            <a:ext cx="10515600" cy="548640"/>
          </a:xfrm>
          <a:prstGeom prst="rect">
            <a:avLst/>
          </a:prstGeom>
          <a:noFill/>
          <a:ln/>
        </p:spPr>
        <p:txBody>
          <a:bodyPr wrap="square" rtlCol="0" anchor="ctr"/>
          <a:lstStyle/>
          <a:p>
            <a:pPr marL="0" indent="0">
              <a:buNone/>
            </a:pPr>
            <a:r>
              <a:rPr lang="en-US" sz="2700" dirty="0">
                <a:solidFill>
                  <a:srgbClr val="111111"/>
                </a:solidFill>
                <a:latin typeface="DM Serif Display" pitchFamily="34" charset="0"/>
                <a:ea typeface="DM Serif Display" pitchFamily="34" charset="-122"/>
                <a:cs typeface="DM Serif Display" pitchFamily="34" charset="-120"/>
              </a:rPr>
              <a:t>Building Your Design Representations</a:t>
            </a:r>
            <a:endParaRPr lang="en-US" sz="2700" dirty="0"/>
          </a:p>
        </p:txBody>
      </p:sp>
      <p:sp>
        <p:nvSpPr>
          <p:cNvPr id="8" name="Text 6"/>
          <p:cNvSpPr/>
          <p:nvPr/>
        </p:nvSpPr>
        <p:spPr>
          <a:xfrm>
            <a:off x="457200" y="1874520"/>
            <a:ext cx="10424160" cy="457200"/>
          </a:xfrm>
          <a:prstGeom prst="rect">
            <a:avLst/>
          </a:prstGeom>
          <a:noFill/>
          <a:ln/>
        </p:spPr>
        <p:txBody>
          <a:bodyPr wrap="square" rtlCol="0" anchor="ctr"/>
          <a:lstStyle/>
          <a:p>
            <a:pPr marL="0" indent="0">
              <a:buNone/>
            </a:pPr>
            <a:r>
              <a:rPr lang="en-US" sz="1500" dirty="0">
                <a:solidFill>
                  <a:srgbClr val="111111"/>
                </a:solidFill>
                <a:latin typeface="DM Sans" pitchFamily="34" charset="0"/>
                <a:ea typeface="DM Sans" pitchFamily="34" charset="-122"/>
                <a:cs typeface="DM Sans" pitchFamily="34" charset="-120"/>
              </a:rPr>
              <a:t>Open the workbook. Bring your Lesson 6 task list and Gantt chart, plus your paper notes from today.</a:t>
            </a:r>
            <a:endParaRPr lang="en-US" sz="1500" dirty="0"/>
          </a:p>
        </p:txBody>
      </p:sp>
      <p:sp>
        <p:nvSpPr>
          <p:cNvPr id="9" name="Shape 7"/>
          <p:cNvSpPr/>
          <p:nvPr/>
        </p:nvSpPr>
        <p:spPr>
          <a:xfrm>
            <a:off x="457200" y="2560320"/>
            <a:ext cx="2514600" cy="1920240"/>
          </a:xfrm>
          <a:prstGeom prst="roundRect">
            <a:avLst>
              <a:gd name="adj" fmla="val 3810"/>
            </a:avLst>
          </a:prstGeom>
          <a:solidFill>
            <a:srgbClr val="F6F8FA"/>
          </a:solidFill>
          <a:ln w="12700">
            <a:solidFill>
              <a:srgbClr val="D0D7DE"/>
            </a:solidFill>
            <a:prstDash val="solid"/>
          </a:ln>
        </p:spPr>
        <p:txBody>
          <a:bodyPr/>
          <a:lstStyle/>
          <a:p>
            <a:endParaRPr lang="en-AU"/>
          </a:p>
        </p:txBody>
      </p:sp>
      <p:sp>
        <p:nvSpPr>
          <p:cNvPr id="10" name="Text 8"/>
          <p:cNvSpPr/>
          <p:nvPr/>
        </p:nvSpPr>
        <p:spPr>
          <a:xfrm>
            <a:off x="640080" y="2697480"/>
            <a:ext cx="548640" cy="457200"/>
          </a:xfrm>
          <a:prstGeom prst="rect">
            <a:avLst/>
          </a:prstGeom>
          <a:noFill/>
          <a:ln/>
        </p:spPr>
        <p:txBody>
          <a:bodyPr wrap="square" rtlCol="0" anchor="ctr"/>
          <a:lstStyle/>
          <a:p>
            <a:pPr marL="0" indent="0">
              <a:buNone/>
            </a:pPr>
            <a:r>
              <a:rPr lang="en-US" sz="2000" b="1" dirty="0">
                <a:solidFill>
                  <a:srgbClr val="10B981"/>
                </a:solidFill>
                <a:latin typeface="DM Mono" pitchFamily="34" charset="0"/>
                <a:ea typeface="DM Mono" pitchFamily="34" charset="-122"/>
                <a:cs typeface="DM Mono" pitchFamily="34" charset="-120"/>
              </a:rPr>
              <a:t>1</a:t>
            </a:r>
            <a:endParaRPr lang="en-US" sz="2000" dirty="0"/>
          </a:p>
        </p:txBody>
      </p:sp>
      <p:sp>
        <p:nvSpPr>
          <p:cNvPr id="11" name="Text 9"/>
          <p:cNvSpPr/>
          <p:nvPr/>
        </p:nvSpPr>
        <p:spPr>
          <a:xfrm>
            <a:off x="640080" y="3108960"/>
            <a:ext cx="2148840" cy="365760"/>
          </a:xfrm>
          <a:prstGeom prst="rect">
            <a:avLst/>
          </a:prstGeom>
          <a:noFill/>
          <a:ln/>
        </p:spPr>
        <p:txBody>
          <a:bodyPr wrap="square" rtlCol="0" anchor="ctr"/>
          <a:lstStyle/>
          <a:p>
            <a:pPr marL="0" indent="0">
              <a:buNone/>
            </a:pPr>
            <a:r>
              <a:rPr lang="en-US" sz="1300" b="1" dirty="0">
                <a:solidFill>
                  <a:srgbClr val="111111"/>
                </a:solidFill>
                <a:latin typeface="DM Sans" pitchFamily="34" charset="0"/>
                <a:ea typeface="DM Sans" pitchFamily="34" charset="-122"/>
                <a:cs typeface="DM Sans" pitchFamily="34" charset="-120"/>
              </a:rPr>
              <a:t>Choose Focus</a:t>
            </a:r>
            <a:endParaRPr lang="en-US" sz="1300" dirty="0"/>
          </a:p>
        </p:txBody>
      </p:sp>
      <p:sp>
        <p:nvSpPr>
          <p:cNvPr id="12" name="Text 10"/>
          <p:cNvSpPr/>
          <p:nvPr/>
        </p:nvSpPr>
        <p:spPr>
          <a:xfrm>
            <a:off x="640080" y="3474720"/>
            <a:ext cx="2148840" cy="914400"/>
          </a:xfrm>
          <a:prstGeom prst="rect">
            <a:avLst/>
          </a:prstGeom>
          <a:noFill/>
          <a:ln/>
        </p:spPr>
        <p:txBody>
          <a:bodyPr wrap="square" rtlCol="0" anchor="ctr"/>
          <a:lstStyle/>
          <a:p>
            <a:pPr marL="0" indent="0">
              <a:buNone/>
            </a:pPr>
            <a:r>
              <a:rPr lang="en-US" sz="1100" dirty="0">
                <a:solidFill>
                  <a:srgbClr val="5B6472"/>
                </a:solidFill>
                <a:latin typeface="DM Sans" pitchFamily="34" charset="0"/>
                <a:ea typeface="DM Sans" pitchFamily="34" charset="-122"/>
                <a:cs typeface="DM Sans" pitchFamily="34" charset="-120"/>
              </a:rPr>
              <a:t>Pick a screen/interaction from your Gantt chart.</a:t>
            </a:r>
            <a:endParaRPr lang="en-US" sz="1100" dirty="0"/>
          </a:p>
        </p:txBody>
      </p:sp>
      <p:sp>
        <p:nvSpPr>
          <p:cNvPr id="13" name="Shape 11"/>
          <p:cNvSpPr/>
          <p:nvPr/>
        </p:nvSpPr>
        <p:spPr>
          <a:xfrm>
            <a:off x="3063240" y="2560320"/>
            <a:ext cx="2514600" cy="1920240"/>
          </a:xfrm>
          <a:prstGeom prst="roundRect">
            <a:avLst>
              <a:gd name="adj" fmla="val 3810"/>
            </a:avLst>
          </a:prstGeom>
          <a:solidFill>
            <a:srgbClr val="F6F8FA"/>
          </a:solidFill>
          <a:ln w="12700">
            <a:solidFill>
              <a:srgbClr val="D0D7DE"/>
            </a:solidFill>
            <a:prstDash val="solid"/>
          </a:ln>
        </p:spPr>
        <p:txBody>
          <a:bodyPr/>
          <a:lstStyle/>
          <a:p>
            <a:endParaRPr lang="en-AU"/>
          </a:p>
        </p:txBody>
      </p:sp>
      <p:sp>
        <p:nvSpPr>
          <p:cNvPr id="14" name="Text 12"/>
          <p:cNvSpPr/>
          <p:nvPr/>
        </p:nvSpPr>
        <p:spPr>
          <a:xfrm>
            <a:off x="3246120" y="2697480"/>
            <a:ext cx="548640" cy="457200"/>
          </a:xfrm>
          <a:prstGeom prst="rect">
            <a:avLst/>
          </a:prstGeom>
          <a:noFill/>
          <a:ln/>
        </p:spPr>
        <p:txBody>
          <a:bodyPr wrap="square" rtlCol="0" anchor="ctr"/>
          <a:lstStyle/>
          <a:p>
            <a:pPr marL="0" indent="0">
              <a:buNone/>
            </a:pPr>
            <a:r>
              <a:rPr lang="en-US" sz="2000" b="1" dirty="0">
                <a:solidFill>
                  <a:srgbClr val="10B981"/>
                </a:solidFill>
                <a:latin typeface="DM Mono" pitchFamily="34" charset="0"/>
                <a:ea typeface="DM Mono" pitchFamily="34" charset="-122"/>
                <a:cs typeface="DM Mono" pitchFamily="34" charset="-120"/>
              </a:rPr>
              <a:t>2</a:t>
            </a:r>
            <a:endParaRPr lang="en-US" sz="2000" dirty="0"/>
          </a:p>
        </p:txBody>
      </p:sp>
      <p:sp>
        <p:nvSpPr>
          <p:cNvPr id="15" name="Text 13"/>
          <p:cNvSpPr/>
          <p:nvPr/>
        </p:nvSpPr>
        <p:spPr>
          <a:xfrm>
            <a:off x="3246120" y="3108960"/>
            <a:ext cx="2148840" cy="365760"/>
          </a:xfrm>
          <a:prstGeom prst="rect">
            <a:avLst/>
          </a:prstGeom>
          <a:noFill/>
          <a:ln/>
        </p:spPr>
        <p:txBody>
          <a:bodyPr wrap="square" rtlCol="0" anchor="ctr"/>
          <a:lstStyle/>
          <a:p>
            <a:pPr marL="0" indent="0">
              <a:buNone/>
            </a:pPr>
            <a:r>
              <a:rPr lang="en-US" sz="1300" b="1" dirty="0">
                <a:solidFill>
                  <a:srgbClr val="111111"/>
                </a:solidFill>
                <a:latin typeface="DM Sans" pitchFamily="34" charset="0"/>
                <a:ea typeface="DM Sans" pitchFamily="34" charset="-122"/>
                <a:cs typeface="DM Sans" pitchFamily="34" charset="-120"/>
              </a:rPr>
              <a:t>Mock-up</a:t>
            </a:r>
            <a:endParaRPr lang="en-US" sz="1300" dirty="0"/>
          </a:p>
        </p:txBody>
      </p:sp>
      <p:sp>
        <p:nvSpPr>
          <p:cNvPr id="16" name="Text 14"/>
          <p:cNvSpPr/>
          <p:nvPr/>
        </p:nvSpPr>
        <p:spPr>
          <a:xfrm>
            <a:off x="3246120" y="3474720"/>
            <a:ext cx="2148840" cy="914400"/>
          </a:xfrm>
          <a:prstGeom prst="rect">
            <a:avLst/>
          </a:prstGeom>
          <a:noFill/>
          <a:ln/>
        </p:spPr>
        <p:txBody>
          <a:bodyPr wrap="square" rtlCol="0" anchor="ctr"/>
          <a:lstStyle/>
          <a:p>
            <a:pPr marL="0" indent="0">
              <a:buNone/>
            </a:pPr>
            <a:r>
              <a:rPr lang="en-US" sz="1100" dirty="0">
                <a:solidFill>
                  <a:srgbClr val="5B6472"/>
                </a:solidFill>
                <a:latin typeface="DM Sans" pitchFamily="34" charset="0"/>
                <a:ea typeface="DM Sans" pitchFamily="34" charset="-122"/>
                <a:cs typeface="DM Sans" pitchFamily="34" charset="-120"/>
              </a:rPr>
              <a:t>Sketch layout, then label 4+ elements.</a:t>
            </a:r>
            <a:endParaRPr lang="en-US" sz="1100" dirty="0"/>
          </a:p>
        </p:txBody>
      </p:sp>
      <p:sp>
        <p:nvSpPr>
          <p:cNvPr id="17" name="Shape 15"/>
          <p:cNvSpPr/>
          <p:nvPr/>
        </p:nvSpPr>
        <p:spPr>
          <a:xfrm>
            <a:off x="5669280" y="2560320"/>
            <a:ext cx="2514600" cy="1920240"/>
          </a:xfrm>
          <a:prstGeom prst="roundRect">
            <a:avLst>
              <a:gd name="adj" fmla="val 3810"/>
            </a:avLst>
          </a:prstGeom>
          <a:solidFill>
            <a:srgbClr val="F6F8FA"/>
          </a:solidFill>
          <a:ln w="12700">
            <a:solidFill>
              <a:srgbClr val="D0D7DE"/>
            </a:solidFill>
            <a:prstDash val="solid"/>
          </a:ln>
        </p:spPr>
        <p:txBody>
          <a:bodyPr/>
          <a:lstStyle/>
          <a:p>
            <a:endParaRPr lang="en-AU"/>
          </a:p>
        </p:txBody>
      </p:sp>
      <p:sp>
        <p:nvSpPr>
          <p:cNvPr id="18" name="Text 16"/>
          <p:cNvSpPr/>
          <p:nvPr/>
        </p:nvSpPr>
        <p:spPr>
          <a:xfrm>
            <a:off x="5852160" y="2697480"/>
            <a:ext cx="548640" cy="457200"/>
          </a:xfrm>
          <a:prstGeom prst="rect">
            <a:avLst/>
          </a:prstGeom>
          <a:noFill/>
          <a:ln/>
        </p:spPr>
        <p:txBody>
          <a:bodyPr wrap="square" rtlCol="0" anchor="ctr"/>
          <a:lstStyle/>
          <a:p>
            <a:pPr marL="0" indent="0">
              <a:buNone/>
            </a:pPr>
            <a:r>
              <a:rPr lang="en-US" sz="2000" b="1" dirty="0">
                <a:solidFill>
                  <a:srgbClr val="10B981"/>
                </a:solidFill>
                <a:latin typeface="DM Mono" pitchFamily="34" charset="0"/>
                <a:ea typeface="DM Mono" pitchFamily="34" charset="-122"/>
                <a:cs typeface="DM Mono" pitchFamily="34" charset="-120"/>
              </a:rPr>
              <a:t>3</a:t>
            </a:r>
            <a:endParaRPr lang="en-US" sz="2000" dirty="0"/>
          </a:p>
        </p:txBody>
      </p:sp>
      <p:sp>
        <p:nvSpPr>
          <p:cNvPr id="19" name="Text 17"/>
          <p:cNvSpPr/>
          <p:nvPr/>
        </p:nvSpPr>
        <p:spPr>
          <a:xfrm>
            <a:off x="5852160" y="3108960"/>
            <a:ext cx="2148840" cy="365760"/>
          </a:xfrm>
          <a:prstGeom prst="rect">
            <a:avLst/>
          </a:prstGeom>
          <a:noFill/>
          <a:ln/>
        </p:spPr>
        <p:txBody>
          <a:bodyPr wrap="square" rtlCol="0" anchor="ctr"/>
          <a:lstStyle/>
          <a:p>
            <a:pPr marL="0" indent="0">
              <a:buNone/>
            </a:pPr>
            <a:r>
              <a:rPr lang="en-US" sz="1300" b="1" dirty="0">
                <a:solidFill>
                  <a:srgbClr val="111111"/>
                </a:solidFill>
                <a:latin typeface="DM Sans" pitchFamily="34" charset="0"/>
                <a:ea typeface="DM Sans" pitchFamily="34" charset="-122"/>
                <a:cs typeface="DM Sans" pitchFamily="34" charset="-120"/>
              </a:rPr>
              <a:t>Storyboard</a:t>
            </a:r>
            <a:endParaRPr lang="en-US" sz="1300" dirty="0"/>
          </a:p>
        </p:txBody>
      </p:sp>
      <p:sp>
        <p:nvSpPr>
          <p:cNvPr id="20" name="Text 18"/>
          <p:cNvSpPr/>
          <p:nvPr/>
        </p:nvSpPr>
        <p:spPr>
          <a:xfrm>
            <a:off x="5852160" y="3474720"/>
            <a:ext cx="2148840" cy="914400"/>
          </a:xfrm>
          <a:prstGeom prst="rect">
            <a:avLst/>
          </a:prstGeom>
          <a:noFill/>
          <a:ln/>
        </p:spPr>
        <p:txBody>
          <a:bodyPr wrap="square" rtlCol="0" anchor="ctr"/>
          <a:lstStyle/>
          <a:p>
            <a:pPr marL="0" indent="0">
              <a:buNone/>
            </a:pPr>
            <a:r>
              <a:rPr lang="en-US" sz="1100" dirty="0">
                <a:solidFill>
                  <a:srgbClr val="5B6472"/>
                </a:solidFill>
                <a:latin typeface="DM Sans" pitchFamily="34" charset="0"/>
                <a:ea typeface="DM Sans" pitchFamily="34" charset="-122"/>
                <a:cs typeface="DM Sans" pitchFamily="34" charset="-120"/>
              </a:rPr>
              <a:t>4+ panels showing the full interaction.</a:t>
            </a:r>
            <a:endParaRPr lang="en-US" sz="1100" dirty="0"/>
          </a:p>
        </p:txBody>
      </p:sp>
      <p:sp>
        <p:nvSpPr>
          <p:cNvPr id="21" name="Shape 19"/>
          <p:cNvSpPr/>
          <p:nvPr/>
        </p:nvSpPr>
        <p:spPr>
          <a:xfrm>
            <a:off x="8275320" y="2560320"/>
            <a:ext cx="2514600" cy="1920240"/>
          </a:xfrm>
          <a:prstGeom prst="roundRect">
            <a:avLst>
              <a:gd name="adj" fmla="val 3810"/>
            </a:avLst>
          </a:prstGeom>
          <a:solidFill>
            <a:srgbClr val="F6F8FA"/>
          </a:solidFill>
          <a:ln w="12700">
            <a:solidFill>
              <a:srgbClr val="D0D7DE"/>
            </a:solidFill>
            <a:prstDash val="solid"/>
          </a:ln>
        </p:spPr>
        <p:txBody>
          <a:bodyPr/>
          <a:lstStyle/>
          <a:p>
            <a:endParaRPr lang="en-AU"/>
          </a:p>
        </p:txBody>
      </p:sp>
      <p:sp>
        <p:nvSpPr>
          <p:cNvPr id="22" name="Text 20"/>
          <p:cNvSpPr/>
          <p:nvPr/>
        </p:nvSpPr>
        <p:spPr>
          <a:xfrm>
            <a:off x="8458200" y="2697480"/>
            <a:ext cx="548640" cy="457200"/>
          </a:xfrm>
          <a:prstGeom prst="rect">
            <a:avLst/>
          </a:prstGeom>
          <a:noFill/>
          <a:ln/>
        </p:spPr>
        <p:txBody>
          <a:bodyPr wrap="square" rtlCol="0" anchor="ctr"/>
          <a:lstStyle/>
          <a:p>
            <a:pPr marL="0" indent="0">
              <a:buNone/>
            </a:pPr>
            <a:r>
              <a:rPr lang="en-US" sz="2000" b="1" dirty="0">
                <a:solidFill>
                  <a:srgbClr val="10B981"/>
                </a:solidFill>
                <a:latin typeface="DM Mono" pitchFamily="34" charset="0"/>
                <a:ea typeface="DM Mono" pitchFamily="34" charset="-122"/>
                <a:cs typeface="DM Mono" pitchFamily="34" charset="-120"/>
              </a:rPr>
              <a:t>4</a:t>
            </a:r>
            <a:endParaRPr lang="en-US" sz="2000" dirty="0"/>
          </a:p>
        </p:txBody>
      </p:sp>
      <p:sp>
        <p:nvSpPr>
          <p:cNvPr id="23" name="Text 21"/>
          <p:cNvSpPr/>
          <p:nvPr/>
        </p:nvSpPr>
        <p:spPr>
          <a:xfrm>
            <a:off x="8458200" y="3108960"/>
            <a:ext cx="2148840" cy="365760"/>
          </a:xfrm>
          <a:prstGeom prst="rect">
            <a:avLst/>
          </a:prstGeom>
          <a:noFill/>
          <a:ln/>
        </p:spPr>
        <p:txBody>
          <a:bodyPr wrap="square" rtlCol="0" anchor="ctr"/>
          <a:lstStyle/>
          <a:p>
            <a:pPr marL="0" indent="0">
              <a:buNone/>
            </a:pPr>
            <a:r>
              <a:rPr lang="en-US" sz="1300" b="1" dirty="0">
                <a:solidFill>
                  <a:srgbClr val="111111"/>
                </a:solidFill>
                <a:latin typeface="DM Sans" pitchFamily="34" charset="0"/>
                <a:ea typeface="DM Sans" pitchFamily="34" charset="-122"/>
                <a:cs typeface="DM Sans" pitchFamily="34" charset="-120"/>
              </a:rPr>
              <a:t>Reflect</a:t>
            </a:r>
            <a:endParaRPr lang="en-US" sz="1300" dirty="0"/>
          </a:p>
        </p:txBody>
      </p:sp>
      <p:sp>
        <p:nvSpPr>
          <p:cNvPr id="24" name="Text 22"/>
          <p:cNvSpPr/>
          <p:nvPr/>
        </p:nvSpPr>
        <p:spPr>
          <a:xfrm>
            <a:off x="8458200" y="3474720"/>
            <a:ext cx="2148840" cy="914400"/>
          </a:xfrm>
          <a:prstGeom prst="rect">
            <a:avLst/>
          </a:prstGeom>
          <a:noFill/>
          <a:ln/>
        </p:spPr>
        <p:txBody>
          <a:bodyPr wrap="square" rtlCol="0" anchor="ctr"/>
          <a:lstStyle/>
          <a:p>
            <a:pPr marL="0" indent="0">
              <a:buNone/>
            </a:pPr>
            <a:r>
              <a:rPr lang="en-US" sz="1100" dirty="0">
                <a:solidFill>
                  <a:srgbClr val="5B6472"/>
                </a:solidFill>
                <a:latin typeface="DM Sans" pitchFamily="34" charset="0"/>
                <a:ea typeface="DM Sans" pitchFamily="34" charset="-122"/>
                <a:cs typeface="DM Sans" pitchFamily="34" charset="-120"/>
              </a:rPr>
              <a:t>Alternative considered + open question.</a:t>
            </a:r>
            <a:endParaRPr lang="en-US" sz="1100" dirty="0"/>
          </a:p>
        </p:txBody>
      </p:sp>
      <p:sp>
        <p:nvSpPr>
          <p:cNvPr id="25" name="Text 23"/>
          <p:cNvSpPr/>
          <p:nvPr/>
        </p:nvSpPr>
        <p:spPr>
          <a:xfrm>
            <a:off x="457200" y="4754880"/>
            <a:ext cx="10424160" cy="365760"/>
          </a:xfrm>
          <a:prstGeom prst="rect">
            <a:avLst/>
          </a:prstGeom>
          <a:noFill/>
          <a:ln/>
        </p:spPr>
        <p:txBody>
          <a:bodyPr wrap="square" rtlCol="0" anchor="ctr"/>
          <a:lstStyle/>
          <a:p>
            <a:pPr marL="0" indent="0">
              <a:buNone/>
            </a:pPr>
            <a:r>
              <a:rPr lang="en-US" sz="1200" i="1" dirty="0">
                <a:solidFill>
                  <a:srgbClr val="5B6472"/>
                </a:solidFill>
                <a:latin typeface="DM Sans" pitchFamily="34" charset="0"/>
                <a:ea typeface="DM Sans" pitchFamily="34" charset="-122"/>
                <a:cs typeface="DM Sans" pitchFamily="34" charset="-120"/>
              </a:rPr>
              <a:t>This lesson is application-heavy by design — expect most of the remaining time to be spent here.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6537960"/>
            <a:ext cx="5486400" cy="274320"/>
          </a:xfrm>
          <a:prstGeom prst="rect">
            <a:avLst/>
          </a:prstGeom>
          <a:noFill/>
          <a:ln/>
        </p:spPr>
        <p:txBody>
          <a:bodyPr wrap="square" rtlCol="0" anchor="ctr"/>
          <a:lstStyle/>
          <a:p>
            <a:pPr marL="0" indent="0">
              <a:buNone/>
            </a:pPr>
            <a:r>
              <a:rPr lang="en-US" sz="900" dirty="0">
                <a:solidFill>
                  <a:srgbClr val="5B6472"/>
                </a:solidFill>
                <a:latin typeface="DM Mono" pitchFamily="34" charset="0"/>
                <a:ea typeface="DM Mono" pitchFamily="34" charset="-122"/>
                <a:cs typeface="DM Mono" pitchFamily="34" charset="-120"/>
              </a:rPr>
              <a:t>y11-ac-u2-l7-design-tools-techniques-i</a:t>
            </a:r>
            <a:endParaRPr lang="en-US" sz="900" dirty="0"/>
          </a:p>
        </p:txBody>
      </p:sp>
      <p:sp>
        <p:nvSpPr>
          <p:cNvPr id="3" name="Text 1"/>
          <p:cNvSpPr/>
          <p:nvPr/>
        </p:nvSpPr>
        <p:spPr>
          <a:xfrm>
            <a:off x="10515600" y="6537960"/>
            <a:ext cx="1280160" cy="274320"/>
          </a:xfrm>
          <a:prstGeom prst="rect">
            <a:avLst/>
          </a:prstGeom>
          <a:noFill/>
          <a:ln/>
        </p:spPr>
        <p:txBody>
          <a:bodyPr wrap="square" rtlCol="0" anchor="ctr"/>
          <a:lstStyle/>
          <a:p>
            <a:pPr marL="0" indent="0" algn="r">
              <a:buNone/>
            </a:pPr>
            <a:r>
              <a:rPr lang="en-US" sz="900" dirty="0">
                <a:solidFill>
                  <a:srgbClr val="5B6472"/>
                </a:solidFill>
                <a:latin typeface="DM Mono" pitchFamily="34" charset="0"/>
                <a:ea typeface="DM Mono" pitchFamily="34" charset="-122"/>
                <a:cs typeface="DM Mono" pitchFamily="34" charset="-120"/>
              </a:rPr>
              <a:t>Mr Smith</a:t>
            </a:r>
            <a:endParaRPr lang="en-US" sz="900" dirty="0"/>
          </a:p>
        </p:txBody>
      </p:sp>
      <p:sp>
        <p:nvSpPr>
          <p:cNvPr id="4" name="Text 2"/>
          <p:cNvSpPr/>
          <p:nvPr/>
        </p:nvSpPr>
        <p:spPr>
          <a:xfrm>
            <a:off x="457200" y="320040"/>
            <a:ext cx="2926080" cy="365760"/>
          </a:xfrm>
          <a:prstGeom prst="rect">
            <a:avLst/>
          </a:prstGeom>
          <a:noFill/>
          <a:ln/>
        </p:spPr>
        <p:txBody>
          <a:bodyPr wrap="square" rtlCol="0" anchor="ctr"/>
          <a:lstStyle/>
          <a:p>
            <a:pPr marL="0" indent="0">
              <a:buNone/>
            </a:pPr>
            <a:r>
              <a:rPr lang="en-US" sz="1200" b="1" kern="0" spc="200" dirty="0">
                <a:solidFill>
                  <a:srgbClr val="10B981"/>
                </a:solidFill>
                <a:latin typeface="DM Mono" pitchFamily="34" charset="0"/>
                <a:ea typeface="DM Mono" pitchFamily="34" charset="-122"/>
                <a:cs typeface="DM Mono" pitchFamily="34" charset="-120"/>
              </a:rPr>
              <a:t>APPLICATION</a:t>
            </a:r>
            <a:endParaRPr lang="en-US" sz="1200" dirty="0"/>
          </a:p>
        </p:txBody>
      </p:sp>
      <p:sp>
        <p:nvSpPr>
          <p:cNvPr id="5" name="Text 3"/>
          <p:cNvSpPr/>
          <p:nvPr/>
        </p:nvSpPr>
        <p:spPr>
          <a:xfrm>
            <a:off x="457200" y="731520"/>
            <a:ext cx="10515600" cy="548640"/>
          </a:xfrm>
          <a:prstGeom prst="rect">
            <a:avLst/>
          </a:prstGeom>
          <a:noFill/>
          <a:ln/>
        </p:spPr>
        <p:txBody>
          <a:bodyPr wrap="square" rtlCol="0" anchor="ctr"/>
          <a:lstStyle/>
          <a:p>
            <a:pPr marL="0" indent="0">
              <a:buNone/>
            </a:pPr>
            <a:r>
              <a:rPr lang="en-US" sz="2700" dirty="0">
                <a:solidFill>
                  <a:srgbClr val="111111"/>
                </a:solidFill>
                <a:latin typeface="DM Serif Display" pitchFamily="34" charset="0"/>
                <a:ea typeface="DM Serif Display" pitchFamily="34" charset="-122"/>
                <a:cs typeface="DM Serif Display" pitchFamily="34" charset="-120"/>
              </a:rPr>
              <a:t>Choose Your Focus</a:t>
            </a:r>
            <a:endParaRPr lang="en-US" sz="2700" dirty="0"/>
          </a:p>
        </p:txBody>
      </p:sp>
      <p:sp>
        <p:nvSpPr>
          <p:cNvPr id="6" name="Text 4"/>
          <p:cNvSpPr/>
          <p:nvPr/>
        </p:nvSpPr>
        <p:spPr>
          <a:xfrm>
            <a:off x="457200" y="1325880"/>
            <a:ext cx="5486400" cy="365760"/>
          </a:xfrm>
          <a:prstGeom prst="rect">
            <a:avLst/>
          </a:prstGeom>
          <a:noFill/>
          <a:ln/>
        </p:spPr>
        <p:txBody>
          <a:bodyPr wrap="square" rtlCol="0" anchor="ctr"/>
          <a:lstStyle/>
          <a:p>
            <a:pPr marL="0" indent="0">
              <a:buNone/>
            </a:pPr>
            <a:r>
              <a:rPr lang="en-US" sz="1300" dirty="0">
                <a:solidFill>
                  <a:srgbClr val="4361EE"/>
                </a:solidFill>
                <a:latin typeface="DM Mono" pitchFamily="34" charset="0"/>
                <a:ea typeface="DM Mono" pitchFamily="34" charset="-122"/>
                <a:cs typeface="DM Mono" pitchFamily="34" charset="-120"/>
              </a:rPr>
              <a:t>📋 Open your workbook — Section 1</a:t>
            </a:r>
            <a:endParaRPr lang="en-US" sz="1300" dirty="0"/>
          </a:p>
        </p:txBody>
      </p:sp>
      <p:sp>
        <p:nvSpPr>
          <p:cNvPr id="7" name="Text 5"/>
          <p:cNvSpPr/>
          <p:nvPr/>
        </p:nvSpPr>
        <p:spPr>
          <a:xfrm>
            <a:off x="457200" y="1783080"/>
            <a:ext cx="10424160" cy="640080"/>
          </a:xfrm>
          <a:prstGeom prst="rect">
            <a:avLst/>
          </a:prstGeom>
          <a:noFill/>
          <a:ln/>
        </p:spPr>
        <p:txBody>
          <a:bodyPr wrap="square" rtlCol="0" anchor="ctr"/>
          <a:lstStyle/>
          <a:p>
            <a:pPr marL="0" indent="0">
              <a:buNone/>
            </a:pPr>
            <a:r>
              <a:rPr lang="en-US" sz="1600" dirty="0">
                <a:solidFill>
                  <a:srgbClr val="111111"/>
                </a:solidFill>
                <a:latin typeface="DM Sans" pitchFamily="34" charset="0"/>
                <a:ea typeface="DM Sans" pitchFamily="34" charset="-122"/>
                <a:cs typeface="DM Sans" pitchFamily="34" charset="-120"/>
              </a:rPr>
              <a:t>Name the screen, interface, or interaction you’ll represent today, and the Gantt chart task it belongs to.</a:t>
            </a:r>
            <a:endParaRPr lang="en-US" sz="1600" dirty="0"/>
          </a:p>
        </p:txBody>
      </p:sp>
      <p:sp>
        <p:nvSpPr>
          <p:cNvPr id="8" name="Shape 6"/>
          <p:cNvSpPr/>
          <p:nvPr/>
        </p:nvSpPr>
        <p:spPr>
          <a:xfrm>
            <a:off x="457200" y="2560320"/>
            <a:ext cx="10424160" cy="502920"/>
          </a:xfrm>
          <a:prstGeom prst="roundRect">
            <a:avLst>
              <a:gd name="adj" fmla="val 10909"/>
            </a:avLst>
          </a:prstGeom>
          <a:solidFill>
            <a:srgbClr val="E9F9F1"/>
          </a:solidFill>
          <a:ln w="12700">
            <a:solidFill>
              <a:srgbClr val="10B981"/>
            </a:solidFill>
            <a:prstDash val="solid"/>
          </a:ln>
        </p:spPr>
        <p:txBody>
          <a:bodyPr/>
          <a:lstStyle/>
          <a:p>
            <a:endParaRPr lang="en-AU"/>
          </a:p>
        </p:txBody>
      </p:sp>
      <p:sp>
        <p:nvSpPr>
          <p:cNvPr id="9" name="Text 7"/>
          <p:cNvSpPr/>
          <p:nvPr/>
        </p:nvSpPr>
        <p:spPr>
          <a:xfrm>
            <a:off x="685800" y="2560320"/>
            <a:ext cx="2743200" cy="502920"/>
          </a:xfrm>
          <a:prstGeom prst="rect">
            <a:avLst/>
          </a:prstGeom>
          <a:noFill/>
          <a:ln/>
        </p:spPr>
        <p:txBody>
          <a:bodyPr wrap="square" rtlCol="0" anchor="ctr"/>
          <a:lstStyle/>
          <a:p>
            <a:pPr marL="0" indent="0">
              <a:buNone/>
            </a:pPr>
            <a:r>
              <a:rPr lang="en-US" sz="1200" b="1" dirty="0">
                <a:solidFill>
                  <a:srgbClr val="10B981"/>
                </a:solidFill>
                <a:latin typeface="DM Mono" pitchFamily="34" charset="0"/>
                <a:ea typeface="DM Mono" pitchFamily="34" charset="-122"/>
                <a:cs typeface="DM Mono" pitchFamily="34" charset="-120"/>
              </a:rPr>
              <a:t>🟢 Foundation</a:t>
            </a:r>
            <a:endParaRPr lang="en-US" sz="1200" dirty="0"/>
          </a:p>
        </p:txBody>
      </p:sp>
      <p:sp>
        <p:nvSpPr>
          <p:cNvPr id="10" name="Shape 8"/>
          <p:cNvSpPr/>
          <p:nvPr/>
        </p:nvSpPr>
        <p:spPr>
          <a:xfrm>
            <a:off x="457200" y="3246120"/>
            <a:ext cx="10424160" cy="1371600"/>
          </a:xfrm>
          <a:prstGeom prst="roundRect">
            <a:avLst>
              <a:gd name="adj" fmla="val 5333"/>
            </a:avLst>
          </a:prstGeom>
          <a:solidFill>
            <a:srgbClr val="F6F8FA"/>
          </a:solidFill>
          <a:ln w="12700">
            <a:solidFill>
              <a:srgbClr val="D0D7DE"/>
            </a:solidFill>
            <a:prstDash val="solid"/>
          </a:ln>
        </p:spPr>
        <p:txBody>
          <a:bodyPr/>
          <a:lstStyle/>
          <a:p>
            <a:endParaRPr lang="en-AU"/>
          </a:p>
        </p:txBody>
      </p:sp>
      <p:sp>
        <p:nvSpPr>
          <p:cNvPr id="11" name="Text 9"/>
          <p:cNvSpPr/>
          <p:nvPr/>
        </p:nvSpPr>
        <p:spPr>
          <a:xfrm>
            <a:off x="685800" y="3401568"/>
            <a:ext cx="4572000" cy="274320"/>
          </a:xfrm>
          <a:prstGeom prst="rect">
            <a:avLst/>
          </a:prstGeom>
          <a:noFill/>
          <a:ln/>
        </p:spPr>
        <p:txBody>
          <a:bodyPr wrap="square" rtlCol="0" anchor="ctr"/>
          <a:lstStyle/>
          <a:p>
            <a:pPr marL="0" indent="0">
              <a:buNone/>
            </a:pPr>
            <a:r>
              <a:rPr lang="en-US" sz="1000" b="1" dirty="0">
                <a:solidFill>
                  <a:srgbClr val="4361EE"/>
                </a:solidFill>
                <a:latin typeface="DM Mono" pitchFamily="34" charset="0"/>
                <a:ea typeface="DM Mono" pitchFamily="34" charset="-122"/>
                <a:cs typeface="DM Mono" pitchFamily="34" charset="-120"/>
              </a:rPr>
              <a:t>Good choice for today</a:t>
            </a:r>
            <a:endParaRPr lang="en-US" sz="1000" dirty="0"/>
          </a:p>
        </p:txBody>
      </p:sp>
      <p:sp>
        <p:nvSpPr>
          <p:cNvPr id="12" name="Text 10"/>
          <p:cNvSpPr/>
          <p:nvPr/>
        </p:nvSpPr>
        <p:spPr>
          <a:xfrm>
            <a:off x="685800" y="3703320"/>
            <a:ext cx="9966960" cy="822960"/>
          </a:xfrm>
          <a:prstGeom prst="rect">
            <a:avLst/>
          </a:prstGeom>
          <a:noFill/>
          <a:ln/>
        </p:spPr>
        <p:txBody>
          <a:bodyPr wrap="square" rtlCol="0" anchor="ctr"/>
          <a:lstStyle/>
          <a:p>
            <a:pPr marL="0" indent="0">
              <a:buNone/>
            </a:pPr>
            <a:r>
              <a:rPr lang="en-US" sz="1300" dirty="0">
                <a:solidFill>
                  <a:srgbClr val="111111"/>
                </a:solidFill>
                <a:latin typeface="DM Sans" pitchFamily="34" charset="0"/>
                <a:ea typeface="DM Sans" pitchFamily="34" charset="-122"/>
                <a:cs typeface="DM Sans" pitchFamily="34" charset="-120"/>
              </a:rPr>
              <a:t>Pick something early on your Gantt chart, not the whole solution. One screen or one interaction is enough to show both tools properly today.</a:t>
            </a:r>
            <a:endParaRPr lang="en-US" sz="1300" dirty="0"/>
          </a:p>
        </p:txBody>
      </p:sp>
      <p:sp>
        <p:nvSpPr>
          <p:cNvPr id="13" name="Text 11"/>
          <p:cNvSpPr/>
          <p:nvPr/>
        </p:nvSpPr>
        <p:spPr>
          <a:xfrm>
            <a:off x="457200" y="4846320"/>
            <a:ext cx="5486400" cy="320040"/>
          </a:xfrm>
          <a:prstGeom prst="rect">
            <a:avLst/>
          </a:prstGeom>
          <a:noFill/>
          <a:ln/>
        </p:spPr>
        <p:txBody>
          <a:bodyPr wrap="square" rtlCol="0" anchor="ctr"/>
          <a:lstStyle/>
          <a:p>
            <a:pPr marL="0" indent="0">
              <a:buNone/>
            </a:pPr>
            <a:r>
              <a:rPr lang="en-US" sz="1300" b="1" dirty="0">
                <a:solidFill>
                  <a:srgbClr val="111111"/>
                </a:solidFill>
                <a:latin typeface="DM Sans" pitchFamily="34" charset="0"/>
                <a:ea typeface="DM Sans" pitchFamily="34" charset="-122"/>
                <a:cs typeface="DM Sans" pitchFamily="34" charset="-120"/>
              </a:rPr>
              <a:t>No screen? No problem</a:t>
            </a:r>
            <a:endParaRPr lang="en-US" sz="1300" dirty="0"/>
          </a:p>
        </p:txBody>
      </p:sp>
      <p:sp>
        <p:nvSpPr>
          <p:cNvPr id="14" name="Text 12"/>
          <p:cNvSpPr/>
          <p:nvPr/>
        </p:nvSpPr>
        <p:spPr>
          <a:xfrm>
            <a:off x="457200" y="5166360"/>
            <a:ext cx="10424160" cy="822960"/>
          </a:xfrm>
          <a:prstGeom prst="rect">
            <a:avLst/>
          </a:prstGeom>
          <a:noFill/>
          <a:ln/>
        </p:spPr>
        <p:txBody>
          <a:bodyPr wrap="square" rtlCol="0" anchor="ctr"/>
          <a:lstStyle/>
          <a:p>
            <a:pPr marL="0" indent="0">
              <a:buNone/>
            </a:pPr>
            <a:r>
              <a:rPr lang="en-US" sz="1250" dirty="0">
                <a:solidFill>
                  <a:srgbClr val="5B6472"/>
                </a:solidFill>
                <a:latin typeface="DM Sans" pitchFamily="34" charset="0"/>
                <a:ea typeface="DM Sans" pitchFamily="34" charset="-122"/>
                <a:cs typeface="DM Sans" pitchFamily="34" charset="-120"/>
              </a:rPr>
              <a:t>Physical devices still have an interaction to mock up — a control panel, an LED display, a companion app screen. Pick whichever part of your solution a user actually sees or touches.</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6537960"/>
            <a:ext cx="5486400" cy="274320"/>
          </a:xfrm>
          <a:prstGeom prst="rect">
            <a:avLst/>
          </a:prstGeom>
          <a:noFill/>
          <a:ln/>
        </p:spPr>
        <p:txBody>
          <a:bodyPr wrap="square" rtlCol="0" anchor="ctr"/>
          <a:lstStyle/>
          <a:p>
            <a:pPr marL="0" indent="0">
              <a:buNone/>
            </a:pPr>
            <a:r>
              <a:rPr lang="en-US" sz="900" dirty="0">
                <a:solidFill>
                  <a:srgbClr val="5B6472"/>
                </a:solidFill>
                <a:latin typeface="DM Mono" pitchFamily="34" charset="0"/>
                <a:ea typeface="DM Mono" pitchFamily="34" charset="-122"/>
                <a:cs typeface="DM Mono" pitchFamily="34" charset="-120"/>
              </a:rPr>
              <a:t>y11-ac-u2-l7-design-tools-techniques-i</a:t>
            </a:r>
            <a:endParaRPr lang="en-US" sz="900" dirty="0"/>
          </a:p>
        </p:txBody>
      </p:sp>
      <p:sp>
        <p:nvSpPr>
          <p:cNvPr id="3" name="Text 1"/>
          <p:cNvSpPr/>
          <p:nvPr/>
        </p:nvSpPr>
        <p:spPr>
          <a:xfrm>
            <a:off x="10515600" y="6537960"/>
            <a:ext cx="1280160" cy="274320"/>
          </a:xfrm>
          <a:prstGeom prst="rect">
            <a:avLst/>
          </a:prstGeom>
          <a:noFill/>
          <a:ln/>
        </p:spPr>
        <p:txBody>
          <a:bodyPr wrap="square" rtlCol="0" anchor="ctr"/>
          <a:lstStyle/>
          <a:p>
            <a:pPr marL="0" indent="0" algn="r">
              <a:buNone/>
            </a:pPr>
            <a:r>
              <a:rPr lang="en-US" sz="900" dirty="0">
                <a:solidFill>
                  <a:srgbClr val="5B6472"/>
                </a:solidFill>
                <a:latin typeface="DM Mono" pitchFamily="34" charset="0"/>
                <a:ea typeface="DM Mono" pitchFamily="34" charset="-122"/>
                <a:cs typeface="DM Mono" pitchFamily="34" charset="-120"/>
              </a:rPr>
              <a:t>Mr Smith</a:t>
            </a:r>
            <a:endParaRPr lang="en-US" sz="900" dirty="0"/>
          </a:p>
        </p:txBody>
      </p:sp>
      <p:sp>
        <p:nvSpPr>
          <p:cNvPr id="4" name="Text 2"/>
          <p:cNvSpPr/>
          <p:nvPr/>
        </p:nvSpPr>
        <p:spPr>
          <a:xfrm>
            <a:off x="457200" y="320040"/>
            <a:ext cx="2926080" cy="365760"/>
          </a:xfrm>
          <a:prstGeom prst="rect">
            <a:avLst/>
          </a:prstGeom>
          <a:noFill/>
          <a:ln/>
        </p:spPr>
        <p:txBody>
          <a:bodyPr wrap="square" rtlCol="0" anchor="ctr"/>
          <a:lstStyle/>
          <a:p>
            <a:pPr marL="0" indent="0">
              <a:buNone/>
            </a:pPr>
            <a:r>
              <a:rPr lang="en-US" sz="1200" b="1" kern="0" spc="200" dirty="0">
                <a:solidFill>
                  <a:srgbClr val="10B981"/>
                </a:solidFill>
                <a:latin typeface="DM Mono" pitchFamily="34" charset="0"/>
                <a:ea typeface="DM Mono" pitchFamily="34" charset="-122"/>
                <a:cs typeface="DM Mono" pitchFamily="34" charset="-120"/>
              </a:rPr>
              <a:t>APPLICATION</a:t>
            </a:r>
            <a:endParaRPr lang="en-US" sz="1200" dirty="0"/>
          </a:p>
        </p:txBody>
      </p:sp>
      <p:sp>
        <p:nvSpPr>
          <p:cNvPr id="5" name="Text 3"/>
          <p:cNvSpPr/>
          <p:nvPr/>
        </p:nvSpPr>
        <p:spPr>
          <a:xfrm>
            <a:off x="457200" y="731520"/>
            <a:ext cx="10515600" cy="548640"/>
          </a:xfrm>
          <a:prstGeom prst="rect">
            <a:avLst/>
          </a:prstGeom>
          <a:noFill/>
          <a:ln/>
        </p:spPr>
        <p:txBody>
          <a:bodyPr wrap="square" rtlCol="0" anchor="ctr"/>
          <a:lstStyle/>
          <a:p>
            <a:pPr marL="0" indent="0">
              <a:buNone/>
            </a:pPr>
            <a:r>
              <a:rPr lang="en-US" sz="2700" dirty="0">
                <a:solidFill>
                  <a:srgbClr val="111111"/>
                </a:solidFill>
                <a:latin typeface="DM Serif Display" pitchFamily="34" charset="0"/>
                <a:ea typeface="DM Serif Display" pitchFamily="34" charset="-122"/>
                <a:cs typeface="DM Serif Display" pitchFamily="34" charset="-120"/>
              </a:rPr>
              <a:t>Build Your Mock-up</a:t>
            </a:r>
            <a:endParaRPr lang="en-US" sz="2700" dirty="0"/>
          </a:p>
        </p:txBody>
      </p:sp>
      <p:sp>
        <p:nvSpPr>
          <p:cNvPr id="6" name="Text 4"/>
          <p:cNvSpPr/>
          <p:nvPr/>
        </p:nvSpPr>
        <p:spPr>
          <a:xfrm>
            <a:off x="457200" y="1325880"/>
            <a:ext cx="5486400" cy="365760"/>
          </a:xfrm>
          <a:prstGeom prst="rect">
            <a:avLst/>
          </a:prstGeom>
          <a:noFill/>
          <a:ln/>
        </p:spPr>
        <p:txBody>
          <a:bodyPr wrap="square" rtlCol="0" anchor="ctr"/>
          <a:lstStyle/>
          <a:p>
            <a:pPr marL="0" indent="0">
              <a:buNone/>
            </a:pPr>
            <a:r>
              <a:rPr lang="en-US" sz="1300" dirty="0">
                <a:solidFill>
                  <a:srgbClr val="4361EE"/>
                </a:solidFill>
                <a:latin typeface="DM Mono" pitchFamily="34" charset="0"/>
                <a:ea typeface="DM Mono" pitchFamily="34" charset="-122"/>
                <a:cs typeface="DM Mono" pitchFamily="34" charset="-120"/>
              </a:rPr>
              <a:t>📋 Open your workbook — Section 2</a:t>
            </a:r>
            <a:endParaRPr lang="en-US" sz="1300" dirty="0"/>
          </a:p>
        </p:txBody>
      </p:sp>
      <p:sp>
        <p:nvSpPr>
          <p:cNvPr id="7" name="Text 5"/>
          <p:cNvSpPr/>
          <p:nvPr/>
        </p:nvSpPr>
        <p:spPr>
          <a:xfrm>
            <a:off x="457200" y="1783080"/>
            <a:ext cx="10424160" cy="640080"/>
          </a:xfrm>
          <a:prstGeom prst="rect">
            <a:avLst/>
          </a:prstGeom>
          <a:noFill/>
          <a:ln/>
        </p:spPr>
        <p:txBody>
          <a:bodyPr wrap="square" rtlCol="0" anchor="ctr"/>
          <a:lstStyle/>
          <a:p>
            <a:pPr marL="0" indent="0">
              <a:buNone/>
            </a:pPr>
            <a:r>
              <a:rPr lang="en-US" sz="1600" dirty="0">
                <a:solidFill>
                  <a:srgbClr val="111111"/>
                </a:solidFill>
                <a:latin typeface="DM Sans" pitchFamily="34" charset="0"/>
                <a:ea typeface="DM Sans" pitchFamily="34" charset="-122"/>
                <a:cs typeface="DM Sans" pitchFamily="34" charset="-120"/>
              </a:rPr>
              <a:t>Sketch a low-fidelity layout with the workbook’s built-in sketchpad, then label at least four elements.</a:t>
            </a:r>
            <a:endParaRPr lang="en-US" sz="1600" dirty="0"/>
          </a:p>
        </p:txBody>
      </p:sp>
      <p:sp>
        <p:nvSpPr>
          <p:cNvPr id="8" name="Shape 6"/>
          <p:cNvSpPr/>
          <p:nvPr/>
        </p:nvSpPr>
        <p:spPr>
          <a:xfrm>
            <a:off x="457200" y="2514600"/>
            <a:ext cx="10424160" cy="502920"/>
          </a:xfrm>
          <a:prstGeom prst="roundRect">
            <a:avLst>
              <a:gd name="adj" fmla="val 10909"/>
            </a:avLst>
          </a:prstGeom>
          <a:solidFill>
            <a:srgbClr val="FFF4E0"/>
          </a:solidFill>
          <a:ln w="12700">
            <a:solidFill>
              <a:srgbClr val="F59E0B"/>
            </a:solidFill>
            <a:prstDash val="solid"/>
          </a:ln>
        </p:spPr>
        <p:txBody>
          <a:bodyPr/>
          <a:lstStyle/>
          <a:p>
            <a:endParaRPr lang="en-AU"/>
          </a:p>
        </p:txBody>
      </p:sp>
      <p:sp>
        <p:nvSpPr>
          <p:cNvPr id="9" name="Text 7"/>
          <p:cNvSpPr/>
          <p:nvPr/>
        </p:nvSpPr>
        <p:spPr>
          <a:xfrm>
            <a:off x="685800" y="2514600"/>
            <a:ext cx="2743200" cy="502920"/>
          </a:xfrm>
          <a:prstGeom prst="rect">
            <a:avLst/>
          </a:prstGeom>
          <a:noFill/>
          <a:ln/>
        </p:spPr>
        <p:txBody>
          <a:bodyPr wrap="square" rtlCol="0" anchor="ctr"/>
          <a:lstStyle/>
          <a:p>
            <a:pPr marL="0" indent="0">
              <a:buNone/>
            </a:pPr>
            <a:r>
              <a:rPr lang="en-US" sz="1200" b="1" dirty="0">
                <a:solidFill>
                  <a:srgbClr val="F59E0B"/>
                </a:solidFill>
                <a:latin typeface="DM Mono" pitchFamily="34" charset="0"/>
                <a:ea typeface="DM Mono" pitchFamily="34" charset="-122"/>
                <a:cs typeface="DM Mono" pitchFamily="34" charset="-120"/>
              </a:rPr>
              <a:t>🟡 Developing</a:t>
            </a:r>
            <a:endParaRPr lang="en-US" sz="1200" dirty="0"/>
          </a:p>
        </p:txBody>
      </p:sp>
      <p:sp>
        <p:nvSpPr>
          <p:cNvPr id="10" name="Text 8"/>
          <p:cNvSpPr/>
          <p:nvPr/>
        </p:nvSpPr>
        <p:spPr>
          <a:xfrm>
            <a:off x="457200" y="3200400"/>
            <a:ext cx="5486400" cy="320040"/>
          </a:xfrm>
          <a:prstGeom prst="rect">
            <a:avLst/>
          </a:prstGeom>
          <a:noFill/>
          <a:ln/>
        </p:spPr>
        <p:txBody>
          <a:bodyPr wrap="square" rtlCol="0" anchor="ctr"/>
          <a:lstStyle/>
          <a:p>
            <a:pPr marL="0" indent="0">
              <a:buNone/>
            </a:pPr>
            <a:r>
              <a:rPr lang="en-US" sz="1400" b="1" dirty="0">
                <a:solidFill>
                  <a:srgbClr val="111111"/>
                </a:solidFill>
                <a:latin typeface="DM Sans" pitchFamily="34" charset="0"/>
                <a:ea typeface="DM Sans" pitchFamily="34" charset="-122"/>
                <a:cs typeface="DM Sans" pitchFamily="34" charset="-120"/>
              </a:rPr>
              <a:t>This is the biggest task today</a:t>
            </a:r>
            <a:endParaRPr lang="en-US" sz="1400" dirty="0"/>
          </a:p>
        </p:txBody>
      </p:sp>
      <p:sp>
        <p:nvSpPr>
          <p:cNvPr id="11" name="Text 9"/>
          <p:cNvSpPr/>
          <p:nvPr/>
        </p:nvSpPr>
        <p:spPr>
          <a:xfrm>
            <a:off x="457200" y="3566160"/>
            <a:ext cx="5120640" cy="1188720"/>
          </a:xfrm>
          <a:prstGeom prst="rect">
            <a:avLst/>
          </a:prstGeom>
          <a:noFill/>
          <a:ln/>
        </p:spPr>
        <p:txBody>
          <a:bodyPr wrap="square" rtlCol="0" anchor="ctr"/>
          <a:lstStyle/>
          <a:p>
            <a:pPr marL="0" indent="0">
              <a:buNone/>
            </a:pPr>
            <a:r>
              <a:rPr lang="en-US" sz="1250" dirty="0">
                <a:solidFill>
                  <a:srgbClr val="5B6472"/>
                </a:solidFill>
                <a:latin typeface="DM Sans" pitchFamily="34" charset="0"/>
                <a:ea typeface="DM Sans" pitchFamily="34" charset="-122"/>
                <a:cs typeface="DM Sans" pitchFamily="34" charset="-120"/>
              </a:rPr>
              <a:t>Budget the largest share of your remaining time here. Rough is fine — focus on layout and labels, not artistic quality.</a:t>
            </a:r>
            <a:endParaRPr lang="en-US" sz="1250" dirty="0"/>
          </a:p>
        </p:txBody>
      </p:sp>
      <p:sp>
        <p:nvSpPr>
          <p:cNvPr id="12" name="Shape 10"/>
          <p:cNvSpPr/>
          <p:nvPr/>
        </p:nvSpPr>
        <p:spPr>
          <a:xfrm>
            <a:off x="5760720" y="3200400"/>
            <a:ext cx="5120640" cy="2834640"/>
          </a:xfrm>
          <a:prstGeom prst="roundRect">
            <a:avLst>
              <a:gd name="adj" fmla="val 2581"/>
            </a:avLst>
          </a:prstGeom>
          <a:solidFill>
            <a:srgbClr val="F6F8FA"/>
          </a:solidFill>
          <a:ln w="12700">
            <a:solidFill>
              <a:srgbClr val="D0D7DE"/>
            </a:solidFill>
            <a:prstDash val="solid"/>
          </a:ln>
        </p:spPr>
        <p:txBody>
          <a:bodyPr/>
          <a:lstStyle/>
          <a:p>
            <a:endParaRPr lang="en-AU"/>
          </a:p>
        </p:txBody>
      </p:sp>
      <p:sp>
        <p:nvSpPr>
          <p:cNvPr id="13" name="Text 11"/>
          <p:cNvSpPr/>
          <p:nvPr/>
        </p:nvSpPr>
        <p:spPr>
          <a:xfrm>
            <a:off x="5989320" y="3337560"/>
            <a:ext cx="4572000" cy="274320"/>
          </a:xfrm>
          <a:prstGeom prst="rect">
            <a:avLst/>
          </a:prstGeom>
          <a:noFill/>
          <a:ln/>
        </p:spPr>
        <p:txBody>
          <a:bodyPr wrap="square" rtlCol="0" anchor="ctr"/>
          <a:lstStyle/>
          <a:p>
            <a:pPr marL="0" indent="0">
              <a:buNone/>
            </a:pPr>
            <a:r>
              <a:rPr lang="en-US" sz="1000" b="1" dirty="0">
                <a:solidFill>
                  <a:srgbClr val="4361EE"/>
                </a:solidFill>
                <a:latin typeface="DM Mono" pitchFamily="34" charset="0"/>
                <a:ea typeface="DM Mono" pitchFamily="34" charset="-122"/>
                <a:cs typeface="DM Mono" pitchFamily="34" charset="-120"/>
              </a:rPr>
              <a:t>Sketchpad tools</a:t>
            </a:r>
            <a:endParaRPr lang="en-US" sz="1000" dirty="0"/>
          </a:p>
        </p:txBody>
      </p:sp>
      <p:sp>
        <p:nvSpPr>
          <p:cNvPr id="14" name="Text 12"/>
          <p:cNvSpPr/>
          <p:nvPr/>
        </p:nvSpPr>
        <p:spPr>
          <a:xfrm>
            <a:off x="5989320" y="3657600"/>
            <a:ext cx="4663440" cy="1280160"/>
          </a:xfrm>
          <a:prstGeom prst="rect">
            <a:avLst/>
          </a:prstGeom>
          <a:noFill/>
          <a:ln/>
        </p:spPr>
        <p:txBody>
          <a:bodyPr wrap="square" rtlCol="0" anchor="ctr"/>
          <a:lstStyle/>
          <a:p>
            <a:pPr marL="0" indent="0">
              <a:lnSpc>
                <a:spcPct val="140000"/>
              </a:lnSpc>
              <a:buNone/>
            </a:pPr>
            <a:r>
              <a:rPr lang="en-US" sz="1250" dirty="0">
                <a:solidFill>
                  <a:srgbClr val="111111"/>
                </a:solidFill>
                <a:latin typeface="DM Sans" pitchFamily="34" charset="0"/>
                <a:ea typeface="DM Sans" pitchFamily="34" charset="-122"/>
                <a:cs typeface="DM Sans" pitchFamily="34" charset="-120"/>
              </a:rPr>
              <a:t>• Pen — fine lines for structure</a:t>
            </a:r>
            <a:endParaRPr lang="en-US" sz="1250" dirty="0"/>
          </a:p>
          <a:p>
            <a:pPr marL="0" indent="0">
              <a:lnSpc>
                <a:spcPct val="140000"/>
              </a:lnSpc>
              <a:buNone/>
            </a:pPr>
            <a:r>
              <a:rPr lang="en-US" sz="1250" dirty="0">
                <a:solidFill>
                  <a:srgbClr val="111111"/>
                </a:solidFill>
                <a:latin typeface="DM Sans" pitchFamily="34" charset="0"/>
                <a:ea typeface="DM Sans" pitchFamily="34" charset="-122"/>
                <a:cs typeface="DM Sans" pitchFamily="34" charset="-120"/>
              </a:rPr>
              <a:t>• Thick — headers, borders, emphasis</a:t>
            </a:r>
            <a:endParaRPr lang="en-US" sz="1250" dirty="0"/>
          </a:p>
          <a:p>
            <a:pPr marL="0" indent="0">
              <a:lnSpc>
                <a:spcPct val="140000"/>
              </a:lnSpc>
              <a:buNone/>
            </a:pPr>
            <a:r>
              <a:rPr lang="en-US" sz="1250" dirty="0">
                <a:solidFill>
                  <a:srgbClr val="111111"/>
                </a:solidFill>
                <a:latin typeface="DM Sans" pitchFamily="34" charset="0"/>
                <a:ea typeface="DM Sans" pitchFamily="34" charset="-122"/>
                <a:cs typeface="DM Sans" pitchFamily="34" charset="-120"/>
              </a:rPr>
              <a:t>• Eraser — fix mistakes</a:t>
            </a:r>
            <a:endParaRPr lang="en-US" sz="1250" dirty="0"/>
          </a:p>
          <a:p>
            <a:pPr marL="0" indent="0">
              <a:lnSpc>
                <a:spcPct val="140000"/>
              </a:lnSpc>
              <a:buNone/>
            </a:pPr>
            <a:r>
              <a:rPr lang="en-US" sz="1250" dirty="0">
                <a:solidFill>
                  <a:srgbClr val="111111"/>
                </a:solidFill>
                <a:latin typeface="DM Sans" pitchFamily="34" charset="0"/>
                <a:ea typeface="DM Sans" pitchFamily="34" charset="-122"/>
                <a:cs typeface="DM Sans" pitchFamily="34" charset="-120"/>
              </a:rPr>
              <a:t>• Clear — start over</a:t>
            </a:r>
            <a:endParaRPr lang="en-US" sz="1250" dirty="0"/>
          </a:p>
        </p:txBody>
      </p:sp>
      <p:sp>
        <p:nvSpPr>
          <p:cNvPr id="15" name="Text 13"/>
          <p:cNvSpPr/>
          <p:nvPr/>
        </p:nvSpPr>
        <p:spPr>
          <a:xfrm>
            <a:off x="5989320" y="5074920"/>
            <a:ext cx="4663440" cy="822960"/>
          </a:xfrm>
          <a:prstGeom prst="rect">
            <a:avLst/>
          </a:prstGeom>
          <a:noFill/>
          <a:ln/>
        </p:spPr>
        <p:txBody>
          <a:bodyPr wrap="square" rtlCol="0" anchor="ctr"/>
          <a:lstStyle/>
          <a:p>
            <a:pPr marL="0" indent="0">
              <a:buNone/>
            </a:pPr>
            <a:r>
              <a:rPr lang="en-US" sz="1150" i="1" dirty="0">
                <a:solidFill>
                  <a:srgbClr val="5B6472"/>
                </a:solidFill>
                <a:latin typeface="DM Sans" pitchFamily="34" charset="0"/>
                <a:ea typeface="DM Sans" pitchFamily="34" charset="-122"/>
                <a:cs typeface="DM Sans" pitchFamily="34" charset="-120"/>
              </a:rPr>
              <a:t>Your sketch saves automatically as you draw — no need to click Save separately.</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6537960"/>
            <a:ext cx="5486400" cy="274320"/>
          </a:xfrm>
          <a:prstGeom prst="rect">
            <a:avLst/>
          </a:prstGeom>
          <a:noFill/>
          <a:ln/>
        </p:spPr>
        <p:txBody>
          <a:bodyPr wrap="square" rtlCol="0" anchor="ctr"/>
          <a:lstStyle/>
          <a:p>
            <a:pPr marL="0" indent="0">
              <a:buNone/>
            </a:pPr>
            <a:r>
              <a:rPr lang="en-US" sz="900" dirty="0">
                <a:solidFill>
                  <a:srgbClr val="5B6472"/>
                </a:solidFill>
                <a:latin typeface="DM Mono" pitchFamily="34" charset="0"/>
                <a:ea typeface="DM Mono" pitchFamily="34" charset="-122"/>
                <a:cs typeface="DM Mono" pitchFamily="34" charset="-120"/>
              </a:rPr>
              <a:t>y11-ac-u2-l7-design-tools-techniques-i</a:t>
            </a:r>
            <a:endParaRPr lang="en-US" sz="900" dirty="0"/>
          </a:p>
        </p:txBody>
      </p:sp>
      <p:sp>
        <p:nvSpPr>
          <p:cNvPr id="3" name="Text 1"/>
          <p:cNvSpPr/>
          <p:nvPr/>
        </p:nvSpPr>
        <p:spPr>
          <a:xfrm>
            <a:off x="10515600" y="6537960"/>
            <a:ext cx="1280160" cy="274320"/>
          </a:xfrm>
          <a:prstGeom prst="rect">
            <a:avLst/>
          </a:prstGeom>
          <a:noFill/>
          <a:ln/>
        </p:spPr>
        <p:txBody>
          <a:bodyPr wrap="square" rtlCol="0" anchor="ctr"/>
          <a:lstStyle/>
          <a:p>
            <a:pPr marL="0" indent="0" algn="r">
              <a:buNone/>
            </a:pPr>
            <a:r>
              <a:rPr lang="en-US" sz="900" dirty="0">
                <a:solidFill>
                  <a:srgbClr val="5B6472"/>
                </a:solidFill>
                <a:latin typeface="DM Mono" pitchFamily="34" charset="0"/>
                <a:ea typeface="DM Mono" pitchFamily="34" charset="-122"/>
                <a:cs typeface="DM Mono" pitchFamily="34" charset="-120"/>
              </a:rPr>
              <a:t>Mr Smith</a:t>
            </a:r>
            <a:endParaRPr lang="en-US" sz="900" dirty="0"/>
          </a:p>
        </p:txBody>
      </p:sp>
      <p:sp>
        <p:nvSpPr>
          <p:cNvPr id="4" name="Text 2"/>
          <p:cNvSpPr/>
          <p:nvPr/>
        </p:nvSpPr>
        <p:spPr>
          <a:xfrm>
            <a:off x="457200" y="320040"/>
            <a:ext cx="2926080" cy="365760"/>
          </a:xfrm>
          <a:prstGeom prst="rect">
            <a:avLst/>
          </a:prstGeom>
          <a:noFill/>
          <a:ln/>
        </p:spPr>
        <p:txBody>
          <a:bodyPr wrap="square" rtlCol="0" anchor="ctr"/>
          <a:lstStyle/>
          <a:p>
            <a:pPr marL="0" indent="0">
              <a:buNone/>
            </a:pPr>
            <a:r>
              <a:rPr lang="en-US" sz="1200" b="1" kern="0" spc="200" dirty="0">
                <a:solidFill>
                  <a:srgbClr val="10B981"/>
                </a:solidFill>
                <a:latin typeface="DM Mono" pitchFamily="34" charset="0"/>
                <a:ea typeface="DM Mono" pitchFamily="34" charset="-122"/>
                <a:cs typeface="DM Mono" pitchFamily="34" charset="-120"/>
              </a:rPr>
              <a:t>APPLICATION</a:t>
            </a:r>
            <a:endParaRPr lang="en-US" sz="1200" dirty="0"/>
          </a:p>
        </p:txBody>
      </p:sp>
      <p:sp>
        <p:nvSpPr>
          <p:cNvPr id="5" name="Text 3"/>
          <p:cNvSpPr/>
          <p:nvPr/>
        </p:nvSpPr>
        <p:spPr>
          <a:xfrm>
            <a:off x="457200" y="731520"/>
            <a:ext cx="10515600" cy="548640"/>
          </a:xfrm>
          <a:prstGeom prst="rect">
            <a:avLst/>
          </a:prstGeom>
          <a:noFill/>
          <a:ln/>
        </p:spPr>
        <p:txBody>
          <a:bodyPr wrap="square" rtlCol="0" anchor="ctr"/>
          <a:lstStyle/>
          <a:p>
            <a:pPr marL="0" indent="0">
              <a:buNone/>
            </a:pPr>
            <a:r>
              <a:rPr lang="en-US" sz="2700" dirty="0">
                <a:solidFill>
                  <a:srgbClr val="111111"/>
                </a:solidFill>
                <a:latin typeface="DM Serif Display" pitchFamily="34" charset="0"/>
                <a:ea typeface="DM Serif Display" pitchFamily="34" charset="-122"/>
                <a:cs typeface="DM Serif Display" pitchFamily="34" charset="-120"/>
              </a:rPr>
              <a:t>Build Your Storyboard</a:t>
            </a:r>
            <a:endParaRPr lang="en-US" sz="2700" dirty="0"/>
          </a:p>
        </p:txBody>
      </p:sp>
      <p:sp>
        <p:nvSpPr>
          <p:cNvPr id="6" name="Text 4"/>
          <p:cNvSpPr/>
          <p:nvPr/>
        </p:nvSpPr>
        <p:spPr>
          <a:xfrm>
            <a:off x="457200" y="1325880"/>
            <a:ext cx="5486400" cy="365760"/>
          </a:xfrm>
          <a:prstGeom prst="rect">
            <a:avLst/>
          </a:prstGeom>
          <a:noFill/>
          <a:ln/>
        </p:spPr>
        <p:txBody>
          <a:bodyPr wrap="square" rtlCol="0" anchor="ctr"/>
          <a:lstStyle/>
          <a:p>
            <a:pPr marL="0" indent="0">
              <a:buNone/>
            </a:pPr>
            <a:r>
              <a:rPr lang="en-US" sz="1300" dirty="0">
                <a:solidFill>
                  <a:srgbClr val="4361EE"/>
                </a:solidFill>
                <a:latin typeface="DM Mono" pitchFamily="34" charset="0"/>
                <a:ea typeface="DM Mono" pitchFamily="34" charset="-122"/>
                <a:cs typeface="DM Mono" pitchFamily="34" charset="-120"/>
              </a:rPr>
              <a:t>📋 Open your workbook — Section 3</a:t>
            </a:r>
            <a:endParaRPr lang="en-US" sz="1300" dirty="0"/>
          </a:p>
        </p:txBody>
      </p:sp>
      <p:sp>
        <p:nvSpPr>
          <p:cNvPr id="7" name="Text 5"/>
          <p:cNvSpPr/>
          <p:nvPr/>
        </p:nvSpPr>
        <p:spPr>
          <a:xfrm>
            <a:off x="457200" y="1783080"/>
            <a:ext cx="10424160" cy="640080"/>
          </a:xfrm>
          <a:prstGeom prst="rect">
            <a:avLst/>
          </a:prstGeom>
          <a:noFill/>
          <a:ln/>
        </p:spPr>
        <p:txBody>
          <a:bodyPr wrap="square" rtlCol="0" anchor="ctr"/>
          <a:lstStyle/>
          <a:p>
            <a:pPr marL="0" indent="0">
              <a:buNone/>
            </a:pPr>
            <a:r>
              <a:rPr lang="en-US" sz="1600" dirty="0">
                <a:solidFill>
                  <a:srgbClr val="111111"/>
                </a:solidFill>
                <a:latin typeface="DM Sans" pitchFamily="34" charset="0"/>
                <a:ea typeface="DM Sans" pitchFamily="34" charset="-122"/>
                <a:cs typeface="DM Sans" pitchFamily="34" charset="-120"/>
              </a:rPr>
              <a:t>Build at least four panels: scene, user action, and any notes on context or reaction.</a:t>
            </a:r>
            <a:endParaRPr lang="en-US" sz="1600" dirty="0"/>
          </a:p>
        </p:txBody>
      </p:sp>
      <p:sp>
        <p:nvSpPr>
          <p:cNvPr id="8" name="Shape 6"/>
          <p:cNvSpPr/>
          <p:nvPr/>
        </p:nvSpPr>
        <p:spPr>
          <a:xfrm>
            <a:off x="457200" y="2514600"/>
            <a:ext cx="10424160" cy="502920"/>
          </a:xfrm>
          <a:prstGeom prst="roundRect">
            <a:avLst>
              <a:gd name="adj" fmla="val 10909"/>
            </a:avLst>
          </a:prstGeom>
          <a:solidFill>
            <a:srgbClr val="FFF4E0"/>
          </a:solidFill>
          <a:ln w="12700">
            <a:solidFill>
              <a:srgbClr val="F59E0B"/>
            </a:solidFill>
            <a:prstDash val="solid"/>
          </a:ln>
        </p:spPr>
        <p:txBody>
          <a:bodyPr/>
          <a:lstStyle/>
          <a:p>
            <a:endParaRPr lang="en-AU"/>
          </a:p>
        </p:txBody>
      </p:sp>
      <p:sp>
        <p:nvSpPr>
          <p:cNvPr id="9" name="Text 7"/>
          <p:cNvSpPr/>
          <p:nvPr/>
        </p:nvSpPr>
        <p:spPr>
          <a:xfrm>
            <a:off x="685800" y="2514600"/>
            <a:ext cx="2743200" cy="502920"/>
          </a:xfrm>
          <a:prstGeom prst="rect">
            <a:avLst/>
          </a:prstGeom>
          <a:noFill/>
          <a:ln/>
        </p:spPr>
        <p:txBody>
          <a:bodyPr wrap="square" rtlCol="0" anchor="ctr"/>
          <a:lstStyle/>
          <a:p>
            <a:pPr marL="0" indent="0">
              <a:buNone/>
            </a:pPr>
            <a:r>
              <a:rPr lang="en-US" sz="1200" b="1" dirty="0">
                <a:solidFill>
                  <a:srgbClr val="F59E0B"/>
                </a:solidFill>
                <a:latin typeface="DM Mono" pitchFamily="34" charset="0"/>
                <a:ea typeface="DM Mono" pitchFamily="34" charset="-122"/>
                <a:cs typeface="DM Mono" pitchFamily="34" charset="-120"/>
              </a:rPr>
              <a:t>🟡 Developing</a:t>
            </a:r>
            <a:endParaRPr lang="en-US" sz="1200" dirty="0"/>
          </a:p>
        </p:txBody>
      </p:sp>
      <p:sp>
        <p:nvSpPr>
          <p:cNvPr id="10" name="Shape 8"/>
          <p:cNvSpPr/>
          <p:nvPr/>
        </p:nvSpPr>
        <p:spPr>
          <a:xfrm>
            <a:off x="457200" y="3200400"/>
            <a:ext cx="10424160" cy="2011680"/>
          </a:xfrm>
          <a:prstGeom prst="roundRect">
            <a:avLst>
              <a:gd name="adj" fmla="val 3636"/>
            </a:avLst>
          </a:prstGeom>
          <a:solidFill>
            <a:srgbClr val="F6F8FA"/>
          </a:solidFill>
          <a:ln w="12700">
            <a:solidFill>
              <a:srgbClr val="D0D7DE"/>
            </a:solidFill>
            <a:prstDash val="solid"/>
          </a:ln>
        </p:spPr>
        <p:txBody>
          <a:bodyPr/>
          <a:lstStyle/>
          <a:p>
            <a:endParaRPr lang="en-AU"/>
          </a:p>
        </p:txBody>
      </p:sp>
      <p:sp>
        <p:nvSpPr>
          <p:cNvPr id="11" name="Text 9"/>
          <p:cNvSpPr/>
          <p:nvPr/>
        </p:nvSpPr>
        <p:spPr>
          <a:xfrm>
            <a:off x="685800" y="3337560"/>
            <a:ext cx="4572000" cy="274320"/>
          </a:xfrm>
          <a:prstGeom prst="rect">
            <a:avLst/>
          </a:prstGeom>
          <a:noFill/>
          <a:ln/>
        </p:spPr>
        <p:txBody>
          <a:bodyPr wrap="square" rtlCol="0" anchor="ctr"/>
          <a:lstStyle/>
          <a:p>
            <a:pPr marL="0" indent="0">
              <a:buNone/>
            </a:pPr>
            <a:r>
              <a:rPr lang="en-US" sz="1000" b="1" dirty="0">
                <a:solidFill>
                  <a:srgbClr val="EF4444"/>
                </a:solidFill>
                <a:latin typeface="DM Mono" pitchFamily="34" charset="0"/>
                <a:ea typeface="DM Mono" pitchFamily="34" charset="-122"/>
                <a:cs typeface="DM Mono" pitchFamily="34" charset="-120"/>
              </a:rPr>
              <a:t>Watch for this</a:t>
            </a:r>
            <a:endParaRPr lang="en-US" sz="1000" dirty="0"/>
          </a:p>
        </p:txBody>
      </p:sp>
      <p:sp>
        <p:nvSpPr>
          <p:cNvPr id="12" name="Text 10"/>
          <p:cNvSpPr/>
          <p:nvPr/>
        </p:nvSpPr>
        <p:spPr>
          <a:xfrm>
            <a:off x="685800" y="3657600"/>
            <a:ext cx="9966960" cy="822960"/>
          </a:xfrm>
          <a:prstGeom prst="rect">
            <a:avLst/>
          </a:prstGeom>
          <a:noFill/>
          <a:ln/>
        </p:spPr>
        <p:txBody>
          <a:bodyPr wrap="square" rtlCol="0" anchor="ctr"/>
          <a:lstStyle/>
          <a:p>
            <a:pPr marL="0" indent="0">
              <a:buNone/>
            </a:pPr>
            <a:r>
              <a:rPr lang="en-US" sz="1300" dirty="0">
                <a:solidFill>
                  <a:srgbClr val="111111"/>
                </a:solidFill>
                <a:latin typeface="DM Sans" pitchFamily="34" charset="0"/>
                <a:ea typeface="DM Sans" pitchFamily="34" charset="-122"/>
                <a:cs typeface="DM Sans" pitchFamily="34" charset="-120"/>
              </a:rPr>
              <a:t>Groups sometimes describe only what’s on screen and skip what the user actually does. "Screen shows checklist" is half a panel — "user ticks off packed items" completes it.</a:t>
            </a:r>
            <a:endParaRPr lang="en-US" sz="1300" dirty="0"/>
          </a:p>
        </p:txBody>
      </p:sp>
      <p:sp>
        <p:nvSpPr>
          <p:cNvPr id="13" name="Text 11"/>
          <p:cNvSpPr/>
          <p:nvPr/>
        </p:nvSpPr>
        <p:spPr>
          <a:xfrm>
            <a:off x="685800" y="4480560"/>
            <a:ext cx="9966960" cy="640080"/>
          </a:xfrm>
          <a:prstGeom prst="rect">
            <a:avLst/>
          </a:prstGeom>
          <a:noFill/>
          <a:ln/>
        </p:spPr>
        <p:txBody>
          <a:bodyPr wrap="square" rtlCol="0" anchor="ctr"/>
          <a:lstStyle/>
          <a:p>
            <a:pPr marL="0" indent="0">
              <a:buNone/>
            </a:pPr>
            <a:r>
              <a:rPr lang="en-US" sz="1200" i="1" dirty="0">
                <a:solidFill>
                  <a:srgbClr val="5B6472"/>
                </a:solidFill>
                <a:latin typeface="DM Sans" pitchFamily="34" charset="0"/>
                <a:ea typeface="DM Sans" pitchFamily="34" charset="-122"/>
                <a:cs typeface="DM Sans" pitchFamily="34" charset="-120"/>
              </a:rPr>
              <a:t>Your storyboard should connect to the same feature you mocked up in Section 2 — it’s the same idea shown as a sequence.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6537960"/>
            <a:ext cx="5486400" cy="274320"/>
          </a:xfrm>
          <a:prstGeom prst="rect">
            <a:avLst/>
          </a:prstGeom>
          <a:noFill/>
          <a:ln/>
        </p:spPr>
        <p:txBody>
          <a:bodyPr wrap="square" rtlCol="0" anchor="ctr"/>
          <a:lstStyle/>
          <a:p>
            <a:pPr marL="0" indent="0">
              <a:buNone/>
            </a:pPr>
            <a:r>
              <a:rPr lang="en-US" sz="900" dirty="0">
                <a:solidFill>
                  <a:srgbClr val="5B6472"/>
                </a:solidFill>
                <a:latin typeface="DM Mono" pitchFamily="34" charset="0"/>
                <a:ea typeface="DM Mono" pitchFamily="34" charset="-122"/>
                <a:cs typeface="DM Mono" pitchFamily="34" charset="-120"/>
              </a:rPr>
              <a:t>y11-ac-u2-l7-design-tools-techniques-i</a:t>
            </a:r>
            <a:endParaRPr lang="en-US" sz="900" dirty="0"/>
          </a:p>
        </p:txBody>
      </p:sp>
      <p:sp>
        <p:nvSpPr>
          <p:cNvPr id="3" name="Text 1"/>
          <p:cNvSpPr/>
          <p:nvPr/>
        </p:nvSpPr>
        <p:spPr>
          <a:xfrm>
            <a:off x="10515600" y="6537960"/>
            <a:ext cx="1280160" cy="274320"/>
          </a:xfrm>
          <a:prstGeom prst="rect">
            <a:avLst/>
          </a:prstGeom>
          <a:noFill/>
          <a:ln/>
        </p:spPr>
        <p:txBody>
          <a:bodyPr wrap="square" rtlCol="0" anchor="ctr"/>
          <a:lstStyle/>
          <a:p>
            <a:pPr marL="0" indent="0" algn="r">
              <a:buNone/>
            </a:pPr>
            <a:r>
              <a:rPr lang="en-US" sz="900" dirty="0">
                <a:solidFill>
                  <a:srgbClr val="5B6472"/>
                </a:solidFill>
                <a:latin typeface="DM Mono" pitchFamily="34" charset="0"/>
                <a:ea typeface="DM Mono" pitchFamily="34" charset="-122"/>
                <a:cs typeface="DM Mono" pitchFamily="34" charset="-120"/>
              </a:rPr>
              <a:t>Mr Smith</a:t>
            </a:r>
            <a:endParaRPr lang="en-US" sz="900" dirty="0"/>
          </a:p>
        </p:txBody>
      </p:sp>
      <p:sp>
        <p:nvSpPr>
          <p:cNvPr id="4" name="Text 2"/>
          <p:cNvSpPr/>
          <p:nvPr/>
        </p:nvSpPr>
        <p:spPr>
          <a:xfrm>
            <a:off x="457200" y="320040"/>
            <a:ext cx="2926080" cy="365760"/>
          </a:xfrm>
          <a:prstGeom prst="rect">
            <a:avLst/>
          </a:prstGeom>
          <a:noFill/>
          <a:ln/>
        </p:spPr>
        <p:txBody>
          <a:bodyPr wrap="square" rtlCol="0" anchor="ctr"/>
          <a:lstStyle/>
          <a:p>
            <a:pPr marL="0" indent="0">
              <a:buNone/>
            </a:pPr>
            <a:r>
              <a:rPr lang="en-US" sz="1200" b="1" kern="0" spc="200" dirty="0">
                <a:solidFill>
                  <a:srgbClr val="10B981"/>
                </a:solidFill>
                <a:latin typeface="DM Mono" pitchFamily="34" charset="0"/>
                <a:ea typeface="DM Mono" pitchFamily="34" charset="-122"/>
                <a:cs typeface="DM Mono" pitchFamily="34" charset="-120"/>
              </a:rPr>
              <a:t>APPLICATION</a:t>
            </a:r>
            <a:endParaRPr lang="en-US" sz="1200" dirty="0"/>
          </a:p>
        </p:txBody>
      </p:sp>
      <p:sp>
        <p:nvSpPr>
          <p:cNvPr id="5" name="Text 3"/>
          <p:cNvSpPr/>
          <p:nvPr/>
        </p:nvSpPr>
        <p:spPr>
          <a:xfrm>
            <a:off x="457200" y="731520"/>
            <a:ext cx="10515600" cy="548640"/>
          </a:xfrm>
          <a:prstGeom prst="rect">
            <a:avLst/>
          </a:prstGeom>
          <a:noFill/>
          <a:ln/>
        </p:spPr>
        <p:txBody>
          <a:bodyPr wrap="square" rtlCol="0" anchor="ctr"/>
          <a:lstStyle/>
          <a:p>
            <a:pPr marL="0" indent="0">
              <a:buNone/>
            </a:pPr>
            <a:r>
              <a:rPr lang="en-US" sz="2700" dirty="0">
                <a:solidFill>
                  <a:srgbClr val="111111"/>
                </a:solidFill>
                <a:latin typeface="DM Serif Display" pitchFamily="34" charset="0"/>
                <a:ea typeface="DM Serif Display" pitchFamily="34" charset="-122"/>
                <a:cs typeface="DM Serif Display" pitchFamily="34" charset="-120"/>
              </a:rPr>
              <a:t>Reflect &amp; Justify</a:t>
            </a:r>
            <a:endParaRPr lang="en-US" sz="2700" dirty="0"/>
          </a:p>
        </p:txBody>
      </p:sp>
      <p:sp>
        <p:nvSpPr>
          <p:cNvPr id="6" name="Text 4"/>
          <p:cNvSpPr/>
          <p:nvPr/>
        </p:nvSpPr>
        <p:spPr>
          <a:xfrm>
            <a:off x="457200" y="1325880"/>
            <a:ext cx="5486400" cy="365760"/>
          </a:xfrm>
          <a:prstGeom prst="rect">
            <a:avLst/>
          </a:prstGeom>
          <a:noFill/>
          <a:ln/>
        </p:spPr>
        <p:txBody>
          <a:bodyPr wrap="square" rtlCol="0" anchor="ctr"/>
          <a:lstStyle/>
          <a:p>
            <a:pPr marL="0" indent="0">
              <a:buNone/>
            </a:pPr>
            <a:r>
              <a:rPr lang="en-US" sz="1300" dirty="0">
                <a:solidFill>
                  <a:srgbClr val="4361EE"/>
                </a:solidFill>
                <a:latin typeface="DM Mono" pitchFamily="34" charset="0"/>
                <a:ea typeface="DM Mono" pitchFamily="34" charset="-122"/>
                <a:cs typeface="DM Mono" pitchFamily="34" charset="-120"/>
              </a:rPr>
              <a:t>📋 Open your workbook — Section 4</a:t>
            </a:r>
            <a:endParaRPr lang="en-US" sz="1300" dirty="0"/>
          </a:p>
        </p:txBody>
      </p:sp>
      <p:sp>
        <p:nvSpPr>
          <p:cNvPr id="7" name="Shape 5"/>
          <p:cNvSpPr/>
          <p:nvPr/>
        </p:nvSpPr>
        <p:spPr>
          <a:xfrm>
            <a:off x="457200" y="1874520"/>
            <a:ext cx="10424160" cy="502920"/>
          </a:xfrm>
          <a:prstGeom prst="roundRect">
            <a:avLst>
              <a:gd name="adj" fmla="val 10909"/>
            </a:avLst>
          </a:prstGeom>
          <a:solidFill>
            <a:srgbClr val="F1EBFE"/>
          </a:solidFill>
          <a:ln w="12700">
            <a:solidFill>
              <a:srgbClr val="8B5CF6"/>
            </a:solidFill>
            <a:prstDash val="solid"/>
          </a:ln>
        </p:spPr>
        <p:txBody>
          <a:bodyPr/>
          <a:lstStyle/>
          <a:p>
            <a:endParaRPr lang="en-AU"/>
          </a:p>
        </p:txBody>
      </p:sp>
      <p:sp>
        <p:nvSpPr>
          <p:cNvPr id="8" name="Text 6"/>
          <p:cNvSpPr/>
          <p:nvPr/>
        </p:nvSpPr>
        <p:spPr>
          <a:xfrm>
            <a:off x="685800" y="1874520"/>
            <a:ext cx="2743200" cy="502920"/>
          </a:xfrm>
          <a:prstGeom prst="rect">
            <a:avLst/>
          </a:prstGeom>
          <a:noFill/>
          <a:ln/>
        </p:spPr>
        <p:txBody>
          <a:bodyPr wrap="square" rtlCol="0" anchor="ctr"/>
          <a:lstStyle/>
          <a:p>
            <a:pPr marL="0" indent="0">
              <a:buNone/>
            </a:pPr>
            <a:r>
              <a:rPr lang="en-US" sz="1200" b="1" dirty="0">
                <a:solidFill>
                  <a:srgbClr val="8B5CF6"/>
                </a:solidFill>
                <a:latin typeface="DM Mono" pitchFamily="34" charset="0"/>
                <a:ea typeface="DM Mono" pitchFamily="34" charset="-122"/>
                <a:cs typeface="DM Mono" pitchFamily="34" charset="-120"/>
              </a:rPr>
              <a:t>🟣 Extending</a:t>
            </a:r>
            <a:endParaRPr lang="en-US" sz="1200" dirty="0"/>
          </a:p>
        </p:txBody>
      </p:sp>
      <p:sp>
        <p:nvSpPr>
          <p:cNvPr id="9" name="Text 7"/>
          <p:cNvSpPr/>
          <p:nvPr/>
        </p:nvSpPr>
        <p:spPr>
          <a:xfrm>
            <a:off x="457200" y="2560320"/>
            <a:ext cx="10424160" cy="640080"/>
          </a:xfrm>
          <a:prstGeom prst="rect">
            <a:avLst/>
          </a:prstGeom>
          <a:noFill/>
          <a:ln/>
        </p:spPr>
        <p:txBody>
          <a:bodyPr wrap="square" rtlCol="0" anchor="ctr"/>
          <a:lstStyle/>
          <a:p>
            <a:pPr marL="0" indent="0">
              <a:buNone/>
            </a:pPr>
            <a:r>
              <a:rPr lang="en-US" sz="1500" dirty="0">
                <a:solidFill>
                  <a:srgbClr val="111111"/>
                </a:solidFill>
                <a:latin typeface="DM Sans" pitchFamily="34" charset="0"/>
                <a:ea typeface="DM Sans" pitchFamily="34" charset="-122"/>
                <a:cs typeface="DM Sans" pitchFamily="34" charset="-120"/>
              </a:rPr>
              <a:t>Describe an alternative layout or flow you considered but didn’t sketch — and why you chose this version instead.</a:t>
            </a:r>
            <a:endParaRPr lang="en-US" sz="1500" dirty="0"/>
          </a:p>
        </p:txBody>
      </p:sp>
      <p:sp>
        <p:nvSpPr>
          <p:cNvPr id="10" name="Text 8"/>
          <p:cNvSpPr/>
          <p:nvPr/>
        </p:nvSpPr>
        <p:spPr>
          <a:xfrm>
            <a:off x="457200" y="3291840"/>
            <a:ext cx="10424160" cy="640080"/>
          </a:xfrm>
          <a:prstGeom prst="rect">
            <a:avLst/>
          </a:prstGeom>
          <a:noFill/>
          <a:ln/>
        </p:spPr>
        <p:txBody>
          <a:bodyPr wrap="square" rtlCol="0" anchor="ctr"/>
          <a:lstStyle/>
          <a:p>
            <a:pPr marL="0" indent="0">
              <a:buNone/>
            </a:pPr>
            <a:r>
              <a:rPr lang="en-US" sz="1500" dirty="0">
                <a:solidFill>
                  <a:srgbClr val="111111"/>
                </a:solidFill>
                <a:latin typeface="DM Sans" pitchFamily="34" charset="0"/>
                <a:ea typeface="DM Sans" pitchFamily="34" charset="-122"/>
                <a:cs typeface="DM Sans" pitchFamily="34" charset="-120"/>
              </a:rPr>
              <a:t>Name one genuine open question this design raises that user or peer feedback could help settle.</a:t>
            </a:r>
            <a:endParaRPr lang="en-US" sz="1500" dirty="0"/>
          </a:p>
        </p:txBody>
      </p:sp>
      <p:sp>
        <p:nvSpPr>
          <p:cNvPr id="11" name="Shape 9"/>
          <p:cNvSpPr/>
          <p:nvPr/>
        </p:nvSpPr>
        <p:spPr>
          <a:xfrm>
            <a:off x="457200" y="4114800"/>
            <a:ext cx="10424160" cy="1280160"/>
          </a:xfrm>
          <a:prstGeom prst="roundRect">
            <a:avLst>
              <a:gd name="adj" fmla="val 5714"/>
            </a:avLst>
          </a:prstGeom>
          <a:solidFill>
            <a:srgbClr val="F6F8FA"/>
          </a:solidFill>
          <a:ln w="12700">
            <a:solidFill>
              <a:srgbClr val="D0D7DE"/>
            </a:solidFill>
            <a:prstDash val="solid"/>
          </a:ln>
        </p:spPr>
        <p:txBody>
          <a:bodyPr/>
          <a:lstStyle/>
          <a:p>
            <a:endParaRPr lang="en-AU"/>
          </a:p>
        </p:txBody>
      </p:sp>
      <p:sp>
        <p:nvSpPr>
          <p:cNvPr id="12" name="Text 10"/>
          <p:cNvSpPr/>
          <p:nvPr/>
        </p:nvSpPr>
        <p:spPr>
          <a:xfrm>
            <a:off x="685800" y="4251960"/>
            <a:ext cx="7315200" cy="274320"/>
          </a:xfrm>
          <a:prstGeom prst="rect">
            <a:avLst/>
          </a:prstGeom>
          <a:noFill/>
          <a:ln/>
        </p:spPr>
        <p:txBody>
          <a:bodyPr wrap="square" rtlCol="0" anchor="ctr"/>
          <a:lstStyle/>
          <a:p>
            <a:pPr marL="0" indent="0">
              <a:buNone/>
            </a:pPr>
            <a:r>
              <a:rPr lang="en-US" sz="1000" b="1" dirty="0">
                <a:solidFill>
                  <a:srgbClr val="8B5CF6"/>
                </a:solidFill>
                <a:latin typeface="DM Mono" pitchFamily="34" charset="0"/>
                <a:ea typeface="DM Mono" pitchFamily="34" charset="-122"/>
                <a:cs typeface="DM Mono" pitchFamily="34" charset="-120"/>
              </a:rPr>
              <a:t>A genuine open question, not a rhetorical one</a:t>
            </a:r>
            <a:endParaRPr lang="en-US" sz="1000" dirty="0"/>
          </a:p>
        </p:txBody>
      </p:sp>
      <p:sp>
        <p:nvSpPr>
          <p:cNvPr id="13" name="Text 11"/>
          <p:cNvSpPr/>
          <p:nvPr/>
        </p:nvSpPr>
        <p:spPr>
          <a:xfrm>
            <a:off x="685800" y="4526280"/>
            <a:ext cx="9966960" cy="777240"/>
          </a:xfrm>
          <a:prstGeom prst="rect">
            <a:avLst/>
          </a:prstGeom>
          <a:noFill/>
          <a:ln/>
        </p:spPr>
        <p:txBody>
          <a:bodyPr wrap="square" rtlCol="0" anchor="ctr"/>
          <a:lstStyle/>
          <a:p>
            <a:pPr marL="0" indent="0">
              <a:buNone/>
            </a:pPr>
            <a:r>
              <a:rPr lang="en-US" sz="1300" dirty="0">
                <a:solidFill>
                  <a:srgbClr val="111111"/>
                </a:solidFill>
                <a:latin typeface="DM Sans" pitchFamily="34" charset="0"/>
                <a:ea typeface="DM Sans" pitchFamily="34" charset="-122"/>
                <a:cs typeface="DM Sans" pitchFamily="34" charset="-120"/>
              </a:rPr>
              <a:t>"Will users actually notice the streak counter, or does it need to be bigger?" is genuine. "Is this good?" is not — it doesn’t point to anything specific to check.</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6537960"/>
            <a:ext cx="5486400" cy="274320"/>
          </a:xfrm>
          <a:prstGeom prst="rect">
            <a:avLst/>
          </a:prstGeom>
          <a:noFill/>
          <a:ln/>
        </p:spPr>
        <p:txBody>
          <a:bodyPr wrap="square" rtlCol="0" anchor="ctr"/>
          <a:lstStyle/>
          <a:p>
            <a:pPr marL="0" indent="0">
              <a:buNone/>
            </a:pPr>
            <a:r>
              <a:rPr lang="en-US" sz="900" dirty="0">
                <a:solidFill>
                  <a:srgbClr val="5B6472"/>
                </a:solidFill>
                <a:latin typeface="DM Mono" pitchFamily="34" charset="0"/>
                <a:ea typeface="DM Mono" pitchFamily="34" charset="-122"/>
                <a:cs typeface="DM Mono" pitchFamily="34" charset="-120"/>
              </a:rPr>
              <a:t>y11-ac-u2-l7-design-tools-techniques-i</a:t>
            </a:r>
            <a:endParaRPr lang="en-US" sz="900" dirty="0"/>
          </a:p>
        </p:txBody>
      </p:sp>
      <p:sp>
        <p:nvSpPr>
          <p:cNvPr id="3" name="Text 1"/>
          <p:cNvSpPr/>
          <p:nvPr/>
        </p:nvSpPr>
        <p:spPr>
          <a:xfrm>
            <a:off x="10515600" y="6537960"/>
            <a:ext cx="1280160" cy="274320"/>
          </a:xfrm>
          <a:prstGeom prst="rect">
            <a:avLst/>
          </a:prstGeom>
          <a:noFill/>
          <a:ln/>
        </p:spPr>
        <p:txBody>
          <a:bodyPr wrap="square" rtlCol="0" anchor="ctr"/>
          <a:lstStyle/>
          <a:p>
            <a:pPr marL="0" indent="0" algn="r">
              <a:buNone/>
            </a:pPr>
            <a:r>
              <a:rPr lang="en-US" sz="900" dirty="0">
                <a:solidFill>
                  <a:srgbClr val="5B6472"/>
                </a:solidFill>
                <a:latin typeface="DM Mono" pitchFamily="34" charset="0"/>
                <a:ea typeface="DM Mono" pitchFamily="34" charset="-122"/>
                <a:cs typeface="DM Mono" pitchFamily="34" charset="-120"/>
              </a:rPr>
              <a:t>Mr Smith</a:t>
            </a:r>
            <a:endParaRPr lang="en-US" sz="900" dirty="0"/>
          </a:p>
        </p:txBody>
      </p:sp>
      <p:sp>
        <p:nvSpPr>
          <p:cNvPr id="4" name="Text 2"/>
          <p:cNvSpPr/>
          <p:nvPr/>
        </p:nvSpPr>
        <p:spPr>
          <a:xfrm>
            <a:off x="457200" y="320040"/>
            <a:ext cx="2926080" cy="365760"/>
          </a:xfrm>
          <a:prstGeom prst="rect">
            <a:avLst/>
          </a:prstGeom>
          <a:noFill/>
          <a:ln/>
        </p:spPr>
        <p:txBody>
          <a:bodyPr wrap="square" rtlCol="0" anchor="ctr"/>
          <a:lstStyle/>
          <a:p>
            <a:pPr marL="0" indent="0">
              <a:buNone/>
            </a:pPr>
            <a:r>
              <a:rPr lang="en-US" sz="1200" b="1" kern="0" spc="200" dirty="0">
                <a:solidFill>
                  <a:srgbClr val="F59E0B"/>
                </a:solidFill>
                <a:latin typeface="DM Mono" pitchFamily="34" charset="0"/>
                <a:ea typeface="DM Mono" pitchFamily="34" charset="-122"/>
                <a:cs typeface="DM Mono" pitchFamily="34" charset="-120"/>
              </a:rPr>
              <a:t>RESPONSIVE</a:t>
            </a:r>
            <a:endParaRPr lang="en-US" sz="1200" dirty="0"/>
          </a:p>
        </p:txBody>
      </p:sp>
      <p:pic>
        <p:nvPicPr>
          <p:cNvPr id="5" name="Image 0" descr="icon_users_F59E0B.png"/>
          <p:cNvPicPr>
            <a:picLocks noChangeAspect="1"/>
          </p:cNvPicPr>
          <p:nvPr/>
        </p:nvPicPr>
        <p:blipFill>
          <a:blip r:embed="rId3"/>
          <a:stretch>
            <a:fillRect/>
          </a:stretch>
        </p:blipFill>
        <p:spPr>
          <a:xfrm>
            <a:off x="457200" y="685800"/>
            <a:ext cx="502920" cy="502920"/>
          </a:xfrm>
          <a:prstGeom prst="rect">
            <a:avLst/>
          </a:prstGeom>
        </p:spPr>
      </p:pic>
      <p:sp>
        <p:nvSpPr>
          <p:cNvPr id="6" name="Text 3"/>
          <p:cNvSpPr/>
          <p:nvPr/>
        </p:nvSpPr>
        <p:spPr>
          <a:xfrm>
            <a:off x="1097280" y="713232"/>
            <a:ext cx="9144000" cy="548640"/>
          </a:xfrm>
          <a:prstGeom prst="rect">
            <a:avLst/>
          </a:prstGeom>
          <a:noFill/>
          <a:ln/>
        </p:spPr>
        <p:txBody>
          <a:bodyPr wrap="square" rtlCol="0" anchor="ctr"/>
          <a:lstStyle/>
          <a:p>
            <a:pPr marL="0" indent="0">
              <a:buNone/>
            </a:pPr>
            <a:r>
              <a:rPr lang="en-US" sz="2700" dirty="0">
                <a:solidFill>
                  <a:srgbClr val="111111"/>
                </a:solidFill>
                <a:latin typeface="DM Serif Display" pitchFamily="34" charset="0"/>
                <a:ea typeface="DM Serif Display" pitchFamily="34" charset="-122"/>
                <a:cs typeface="DM Serif Display" pitchFamily="34" charset="-120"/>
              </a:rPr>
              <a:t>Quick Peer Share</a:t>
            </a:r>
            <a:endParaRPr lang="en-US" sz="2700" dirty="0"/>
          </a:p>
        </p:txBody>
      </p:sp>
      <p:sp>
        <p:nvSpPr>
          <p:cNvPr id="7" name="Text 4"/>
          <p:cNvSpPr/>
          <p:nvPr/>
        </p:nvSpPr>
        <p:spPr>
          <a:xfrm>
            <a:off x="457200" y="1417320"/>
            <a:ext cx="10424160" cy="457200"/>
          </a:xfrm>
          <a:prstGeom prst="rect">
            <a:avLst/>
          </a:prstGeom>
          <a:noFill/>
          <a:ln/>
        </p:spPr>
        <p:txBody>
          <a:bodyPr wrap="square" rtlCol="0" anchor="ctr"/>
          <a:lstStyle/>
          <a:p>
            <a:pPr marL="0" indent="0">
              <a:buNone/>
            </a:pPr>
            <a:r>
              <a:rPr lang="en-US" sz="1500" dirty="0">
                <a:solidFill>
                  <a:srgbClr val="111111"/>
                </a:solidFill>
                <a:latin typeface="DM Sans" pitchFamily="34" charset="0"/>
                <a:ea typeface="DM Sans" pitchFamily="34" charset="-122"/>
                <a:cs typeface="DM Sans" pitchFamily="34" charset="-120"/>
              </a:rPr>
              <a:t>Swap workbooks (or screens) with a neighbouring group for 3 minutes.</a:t>
            </a:r>
            <a:endParaRPr lang="en-US" sz="1500" dirty="0"/>
          </a:p>
        </p:txBody>
      </p:sp>
      <p:sp>
        <p:nvSpPr>
          <p:cNvPr id="8" name="Shape 5"/>
          <p:cNvSpPr/>
          <p:nvPr/>
        </p:nvSpPr>
        <p:spPr>
          <a:xfrm>
            <a:off x="457200" y="2286000"/>
            <a:ext cx="3429000" cy="1920240"/>
          </a:xfrm>
          <a:prstGeom prst="roundRect">
            <a:avLst>
              <a:gd name="adj" fmla="val 3810"/>
            </a:avLst>
          </a:prstGeom>
          <a:solidFill>
            <a:srgbClr val="F6F8FA"/>
          </a:solidFill>
          <a:ln w="12700">
            <a:solidFill>
              <a:srgbClr val="D0D7DE"/>
            </a:solidFill>
            <a:prstDash val="solid"/>
          </a:ln>
        </p:spPr>
        <p:txBody>
          <a:bodyPr/>
          <a:lstStyle/>
          <a:p>
            <a:endParaRPr lang="en-AU"/>
          </a:p>
        </p:txBody>
      </p:sp>
      <p:sp>
        <p:nvSpPr>
          <p:cNvPr id="9" name="Text 6"/>
          <p:cNvSpPr/>
          <p:nvPr/>
        </p:nvSpPr>
        <p:spPr>
          <a:xfrm>
            <a:off x="685800" y="2423160"/>
            <a:ext cx="548640" cy="457200"/>
          </a:xfrm>
          <a:prstGeom prst="rect">
            <a:avLst/>
          </a:prstGeom>
          <a:noFill/>
          <a:ln/>
        </p:spPr>
        <p:txBody>
          <a:bodyPr wrap="square" rtlCol="0" anchor="ctr"/>
          <a:lstStyle/>
          <a:p>
            <a:pPr marL="0" indent="0">
              <a:buNone/>
            </a:pPr>
            <a:r>
              <a:rPr lang="en-US" sz="2000" b="1" dirty="0">
                <a:solidFill>
                  <a:srgbClr val="F59E0B"/>
                </a:solidFill>
                <a:latin typeface="DM Mono" pitchFamily="34" charset="0"/>
                <a:ea typeface="DM Mono" pitchFamily="34" charset="-122"/>
                <a:cs typeface="DM Mono" pitchFamily="34" charset="-120"/>
              </a:rPr>
              <a:t>1</a:t>
            </a:r>
            <a:endParaRPr lang="en-US" sz="2000" dirty="0"/>
          </a:p>
        </p:txBody>
      </p:sp>
      <p:sp>
        <p:nvSpPr>
          <p:cNvPr id="10" name="Text 7"/>
          <p:cNvSpPr/>
          <p:nvPr/>
        </p:nvSpPr>
        <p:spPr>
          <a:xfrm>
            <a:off x="685800" y="2834640"/>
            <a:ext cx="2971800" cy="457200"/>
          </a:xfrm>
          <a:prstGeom prst="rect">
            <a:avLst/>
          </a:prstGeom>
          <a:noFill/>
          <a:ln/>
        </p:spPr>
        <p:txBody>
          <a:bodyPr wrap="square" rtlCol="0" anchor="ctr"/>
          <a:lstStyle/>
          <a:p>
            <a:pPr marL="0" indent="0">
              <a:buNone/>
            </a:pPr>
            <a:r>
              <a:rPr lang="en-US" sz="1400" b="1" dirty="0">
                <a:solidFill>
                  <a:srgbClr val="111111"/>
                </a:solidFill>
                <a:latin typeface="DM Sans" pitchFamily="34" charset="0"/>
                <a:ea typeface="DM Sans" pitchFamily="34" charset="-122"/>
                <a:cs typeface="DM Sans" pitchFamily="34" charset="-120"/>
              </a:rPr>
              <a:t>Read their mock-up labels</a:t>
            </a:r>
            <a:endParaRPr lang="en-US" sz="1400" dirty="0"/>
          </a:p>
        </p:txBody>
      </p:sp>
      <p:sp>
        <p:nvSpPr>
          <p:cNvPr id="11" name="Text 8"/>
          <p:cNvSpPr/>
          <p:nvPr/>
        </p:nvSpPr>
        <p:spPr>
          <a:xfrm>
            <a:off x="685800" y="3291840"/>
            <a:ext cx="2971800" cy="822960"/>
          </a:xfrm>
          <a:prstGeom prst="rect">
            <a:avLst/>
          </a:prstGeom>
          <a:noFill/>
          <a:ln/>
        </p:spPr>
        <p:txBody>
          <a:bodyPr wrap="square" rtlCol="0" anchor="ctr"/>
          <a:lstStyle/>
          <a:p>
            <a:pPr marL="0" indent="0">
              <a:buNone/>
            </a:pPr>
            <a:r>
              <a:rPr lang="en-US" sz="1200" dirty="0">
                <a:solidFill>
                  <a:srgbClr val="5B6472"/>
                </a:solidFill>
                <a:latin typeface="DM Sans" pitchFamily="34" charset="0"/>
                <a:ea typeface="DM Sans" pitchFamily="34" charset="-122"/>
                <a:cs typeface="DM Sans" pitchFamily="34" charset="-120"/>
              </a:rPr>
              <a:t>Can you tell what each element is for without asking?</a:t>
            </a:r>
            <a:endParaRPr lang="en-US" sz="1200" dirty="0"/>
          </a:p>
        </p:txBody>
      </p:sp>
      <p:sp>
        <p:nvSpPr>
          <p:cNvPr id="12" name="Shape 9"/>
          <p:cNvSpPr/>
          <p:nvPr/>
        </p:nvSpPr>
        <p:spPr>
          <a:xfrm>
            <a:off x="4069080" y="2286000"/>
            <a:ext cx="3429000" cy="1920240"/>
          </a:xfrm>
          <a:prstGeom prst="roundRect">
            <a:avLst>
              <a:gd name="adj" fmla="val 3810"/>
            </a:avLst>
          </a:prstGeom>
          <a:solidFill>
            <a:srgbClr val="F6F8FA"/>
          </a:solidFill>
          <a:ln w="12700">
            <a:solidFill>
              <a:srgbClr val="D0D7DE"/>
            </a:solidFill>
            <a:prstDash val="solid"/>
          </a:ln>
        </p:spPr>
        <p:txBody>
          <a:bodyPr/>
          <a:lstStyle/>
          <a:p>
            <a:endParaRPr lang="en-AU"/>
          </a:p>
        </p:txBody>
      </p:sp>
      <p:sp>
        <p:nvSpPr>
          <p:cNvPr id="13" name="Text 10"/>
          <p:cNvSpPr/>
          <p:nvPr/>
        </p:nvSpPr>
        <p:spPr>
          <a:xfrm>
            <a:off x="4297680" y="2423160"/>
            <a:ext cx="548640" cy="457200"/>
          </a:xfrm>
          <a:prstGeom prst="rect">
            <a:avLst/>
          </a:prstGeom>
          <a:noFill/>
          <a:ln/>
        </p:spPr>
        <p:txBody>
          <a:bodyPr wrap="square" rtlCol="0" anchor="ctr"/>
          <a:lstStyle/>
          <a:p>
            <a:pPr marL="0" indent="0">
              <a:buNone/>
            </a:pPr>
            <a:r>
              <a:rPr lang="en-US" sz="2000" b="1" dirty="0">
                <a:solidFill>
                  <a:srgbClr val="F59E0B"/>
                </a:solidFill>
                <a:latin typeface="DM Mono" pitchFamily="34" charset="0"/>
                <a:ea typeface="DM Mono" pitchFamily="34" charset="-122"/>
                <a:cs typeface="DM Mono" pitchFamily="34" charset="-120"/>
              </a:rPr>
              <a:t>2</a:t>
            </a:r>
            <a:endParaRPr lang="en-US" sz="2000" dirty="0"/>
          </a:p>
        </p:txBody>
      </p:sp>
      <p:sp>
        <p:nvSpPr>
          <p:cNvPr id="14" name="Text 11"/>
          <p:cNvSpPr/>
          <p:nvPr/>
        </p:nvSpPr>
        <p:spPr>
          <a:xfrm>
            <a:off x="4297680" y="2834640"/>
            <a:ext cx="2971800" cy="457200"/>
          </a:xfrm>
          <a:prstGeom prst="rect">
            <a:avLst/>
          </a:prstGeom>
          <a:noFill/>
          <a:ln/>
        </p:spPr>
        <p:txBody>
          <a:bodyPr wrap="square" rtlCol="0" anchor="ctr"/>
          <a:lstStyle/>
          <a:p>
            <a:pPr marL="0" indent="0">
              <a:buNone/>
            </a:pPr>
            <a:r>
              <a:rPr lang="en-US" sz="1400" b="1" dirty="0">
                <a:solidFill>
                  <a:srgbClr val="111111"/>
                </a:solidFill>
                <a:latin typeface="DM Sans" pitchFamily="34" charset="0"/>
                <a:ea typeface="DM Sans" pitchFamily="34" charset="-122"/>
                <a:cs typeface="DM Sans" pitchFamily="34" charset="-120"/>
              </a:rPr>
              <a:t>Trace their storyboard</a:t>
            </a:r>
            <a:endParaRPr lang="en-US" sz="1400" dirty="0"/>
          </a:p>
        </p:txBody>
      </p:sp>
      <p:sp>
        <p:nvSpPr>
          <p:cNvPr id="15" name="Text 12"/>
          <p:cNvSpPr/>
          <p:nvPr/>
        </p:nvSpPr>
        <p:spPr>
          <a:xfrm>
            <a:off x="4297680" y="3291840"/>
            <a:ext cx="2971800" cy="822960"/>
          </a:xfrm>
          <a:prstGeom prst="rect">
            <a:avLst/>
          </a:prstGeom>
          <a:noFill/>
          <a:ln/>
        </p:spPr>
        <p:txBody>
          <a:bodyPr wrap="square" rtlCol="0" anchor="ctr"/>
          <a:lstStyle/>
          <a:p>
            <a:pPr marL="0" indent="0">
              <a:buNone/>
            </a:pPr>
            <a:r>
              <a:rPr lang="en-US" sz="1200" dirty="0">
                <a:solidFill>
                  <a:srgbClr val="5B6472"/>
                </a:solidFill>
                <a:latin typeface="DM Sans" pitchFamily="34" charset="0"/>
                <a:ea typeface="DM Sans" pitchFamily="34" charset="-122"/>
                <a:cs typeface="DM Sans" pitchFamily="34" charset="-120"/>
              </a:rPr>
              <a:t>Does the sequence make sense end to end, in order?</a:t>
            </a:r>
            <a:endParaRPr lang="en-US" sz="1200" dirty="0"/>
          </a:p>
        </p:txBody>
      </p:sp>
      <p:sp>
        <p:nvSpPr>
          <p:cNvPr id="16" name="Shape 13"/>
          <p:cNvSpPr/>
          <p:nvPr/>
        </p:nvSpPr>
        <p:spPr>
          <a:xfrm>
            <a:off x="7680960" y="2286000"/>
            <a:ext cx="3429000" cy="1920240"/>
          </a:xfrm>
          <a:prstGeom prst="roundRect">
            <a:avLst>
              <a:gd name="adj" fmla="val 3810"/>
            </a:avLst>
          </a:prstGeom>
          <a:solidFill>
            <a:srgbClr val="F6F8FA"/>
          </a:solidFill>
          <a:ln w="12700">
            <a:solidFill>
              <a:srgbClr val="D0D7DE"/>
            </a:solidFill>
            <a:prstDash val="solid"/>
          </a:ln>
        </p:spPr>
        <p:txBody>
          <a:bodyPr/>
          <a:lstStyle/>
          <a:p>
            <a:endParaRPr lang="en-AU"/>
          </a:p>
        </p:txBody>
      </p:sp>
      <p:sp>
        <p:nvSpPr>
          <p:cNvPr id="17" name="Text 14"/>
          <p:cNvSpPr/>
          <p:nvPr/>
        </p:nvSpPr>
        <p:spPr>
          <a:xfrm>
            <a:off x="7909560" y="2423160"/>
            <a:ext cx="548640" cy="457200"/>
          </a:xfrm>
          <a:prstGeom prst="rect">
            <a:avLst/>
          </a:prstGeom>
          <a:noFill/>
          <a:ln/>
        </p:spPr>
        <p:txBody>
          <a:bodyPr wrap="square" rtlCol="0" anchor="ctr"/>
          <a:lstStyle/>
          <a:p>
            <a:pPr marL="0" indent="0">
              <a:buNone/>
            </a:pPr>
            <a:r>
              <a:rPr lang="en-US" sz="2000" b="1" dirty="0">
                <a:solidFill>
                  <a:srgbClr val="F59E0B"/>
                </a:solidFill>
                <a:latin typeface="DM Mono" pitchFamily="34" charset="0"/>
                <a:ea typeface="DM Mono" pitchFamily="34" charset="-122"/>
                <a:cs typeface="DM Mono" pitchFamily="34" charset="-120"/>
              </a:rPr>
              <a:t>3</a:t>
            </a:r>
            <a:endParaRPr lang="en-US" sz="2000" dirty="0"/>
          </a:p>
        </p:txBody>
      </p:sp>
      <p:sp>
        <p:nvSpPr>
          <p:cNvPr id="18" name="Text 15"/>
          <p:cNvSpPr/>
          <p:nvPr/>
        </p:nvSpPr>
        <p:spPr>
          <a:xfrm>
            <a:off x="7909560" y="2834640"/>
            <a:ext cx="2971800" cy="457200"/>
          </a:xfrm>
          <a:prstGeom prst="rect">
            <a:avLst/>
          </a:prstGeom>
          <a:noFill/>
          <a:ln/>
        </p:spPr>
        <p:txBody>
          <a:bodyPr wrap="square" rtlCol="0" anchor="ctr"/>
          <a:lstStyle/>
          <a:p>
            <a:pPr marL="0" indent="0">
              <a:buNone/>
            </a:pPr>
            <a:r>
              <a:rPr lang="en-US" sz="1400" b="1" dirty="0">
                <a:solidFill>
                  <a:srgbClr val="111111"/>
                </a:solidFill>
                <a:latin typeface="DM Sans" pitchFamily="34" charset="0"/>
                <a:ea typeface="DM Sans" pitchFamily="34" charset="-122"/>
                <a:cs typeface="DM Sans" pitchFamily="34" charset="-120"/>
              </a:rPr>
              <a:t>Name one gap</a:t>
            </a:r>
            <a:endParaRPr lang="en-US" sz="1400" dirty="0"/>
          </a:p>
        </p:txBody>
      </p:sp>
      <p:sp>
        <p:nvSpPr>
          <p:cNvPr id="19" name="Text 16"/>
          <p:cNvSpPr/>
          <p:nvPr/>
        </p:nvSpPr>
        <p:spPr>
          <a:xfrm>
            <a:off x="7909560" y="3291840"/>
            <a:ext cx="2971800" cy="822960"/>
          </a:xfrm>
          <a:prstGeom prst="rect">
            <a:avLst/>
          </a:prstGeom>
          <a:noFill/>
          <a:ln/>
        </p:spPr>
        <p:txBody>
          <a:bodyPr wrap="square" rtlCol="0" anchor="ctr"/>
          <a:lstStyle/>
          <a:p>
            <a:pPr marL="0" indent="0">
              <a:buNone/>
            </a:pPr>
            <a:r>
              <a:rPr lang="en-US" sz="1200" dirty="0">
                <a:solidFill>
                  <a:srgbClr val="5B6472"/>
                </a:solidFill>
                <a:latin typeface="DM Sans" pitchFamily="34" charset="0"/>
                <a:ea typeface="DM Sans" pitchFamily="34" charset="-122"/>
                <a:cs typeface="DM Sans" pitchFamily="34" charset="-120"/>
              </a:rPr>
              <a:t>Point out one thing you’d want labelled or clarified.</a:t>
            </a:r>
            <a:endParaRPr lang="en-US" sz="1200" dirty="0"/>
          </a:p>
        </p:txBody>
      </p:sp>
      <p:sp>
        <p:nvSpPr>
          <p:cNvPr id="20" name="Text 17"/>
          <p:cNvSpPr/>
          <p:nvPr/>
        </p:nvSpPr>
        <p:spPr>
          <a:xfrm>
            <a:off x="457200" y="4572000"/>
            <a:ext cx="10424160" cy="457200"/>
          </a:xfrm>
          <a:prstGeom prst="rect">
            <a:avLst/>
          </a:prstGeom>
          <a:noFill/>
          <a:ln/>
        </p:spPr>
        <p:txBody>
          <a:bodyPr wrap="square" rtlCol="0" anchor="ctr"/>
          <a:lstStyle/>
          <a:p>
            <a:pPr marL="0" indent="0">
              <a:buNone/>
            </a:pPr>
            <a:r>
              <a:rPr lang="en-US" sz="1300" i="1" dirty="0">
                <a:solidFill>
                  <a:srgbClr val="5B6472"/>
                </a:solidFill>
                <a:latin typeface="DM Sans" pitchFamily="34" charset="0"/>
                <a:ea typeface="DM Sans" pitchFamily="34" charset="-122"/>
                <a:cs typeface="DM Sans" pitchFamily="34" charset="-120"/>
              </a:rPr>
              <a:t>Peer feedback, not marking — fresh eyes catching a missing label beats finding it after Milestone 2.</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6537960"/>
            <a:ext cx="5486400" cy="274320"/>
          </a:xfrm>
          <a:prstGeom prst="rect">
            <a:avLst/>
          </a:prstGeom>
          <a:noFill/>
          <a:ln/>
        </p:spPr>
        <p:txBody>
          <a:bodyPr wrap="square" rtlCol="0" anchor="ctr"/>
          <a:lstStyle/>
          <a:p>
            <a:pPr marL="0" indent="0">
              <a:buNone/>
            </a:pPr>
            <a:r>
              <a:rPr lang="en-US" sz="900" dirty="0">
                <a:solidFill>
                  <a:srgbClr val="5B6472"/>
                </a:solidFill>
                <a:latin typeface="DM Mono" pitchFamily="34" charset="0"/>
                <a:ea typeface="DM Mono" pitchFamily="34" charset="-122"/>
                <a:cs typeface="DM Mono" pitchFamily="34" charset="-120"/>
              </a:rPr>
              <a:t>y11-ac-u2-l7-design-tools-techniques-i</a:t>
            </a:r>
            <a:endParaRPr lang="en-US" sz="900" dirty="0"/>
          </a:p>
        </p:txBody>
      </p:sp>
      <p:sp>
        <p:nvSpPr>
          <p:cNvPr id="3" name="Text 1"/>
          <p:cNvSpPr/>
          <p:nvPr/>
        </p:nvSpPr>
        <p:spPr>
          <a:xfrm>
            <a:off x="10515600" y="6537960"/>
            <a:ext cx="1280160" cy="274320"/>
          </a:xfrm>
          <a:prstGeom prst="rect">
            <a:avLst/>
          </a:prstGeom>
          <a:noFill/>
          <a:ln/>
        </p:spPr>
        <p:txBody>
          <a:bodyPr wrap="square" rtlCol="0" anchor="ctr"/>
          <a:lstStyle/>
          <a:p>
            <a:pPr marL="0" indent="0" algn="r">
              <a:buNone/>
            </a:pPr>
            <a:r>
              <a:rPr lang="en-US" sz="900" dirty="0">
                <a:solidFill>
                  <a:srgbClr val="5B6472"/>
                </a:solidFill>
                <a:latin typeface="DM Mono" pitchFamily="34" charset="0"/>
                <a:ea typeface="DM Mono" pitchFamily="34" charset="-122"/>
                <a:cs typeface="DM Mono" pitchFamily="34" charset="-120"/>
              </a:rPr>
              <a:t>Mr Smith</a:t>
            </a:r>
            <a:endParaRPr lang="en-US" sz="900" dirty="0"/>
          </a:p>
        </p:txBody>
      </p:sp>
      <p:sp>
        <p:nvSpPr>
          <p:cNvPr id="4" name="Text 2"/>
          <p:cNvSpPr/>
          <p:nvPr/>
        </p:nvSpPr>
        <p:spPr>
          <a:xfrm>
            <a:off x="457200" y="320040"/>
            <a:ext cx="2926080" cy="365760"/>
          </a:xfrm>
          <a:prstGeom prst="rect">
            <a:avLst/>
          </a:prstGeom>
          <a:noFill/>
          <a:ln/>
        </p:spPr>
        <p:txBody>
          <a:bodyPr wrap="square" rtlCol="0" anchor="ctr"/>
          <a:lstStyle/>
          <a:p>
            <a:pPr marL="0" indent="0">
              <a:buNone/>
            </a:pPr>
            <a:r>
              <a:rPr lang="en-US" sz="1200" b="1" kern="0" spc="200" dirty="0">
                <a:solidFill>
                  <a:srgbClr val="EF4444"/>
                </a:solidFill>
                <a:latin typeface="DM Mono" pitchFamily="34" charset="0"/>
                <a:ea typeface="DM Mono" pitchFamily="34" charset="-122"/>
                <a:cs typeface="DM Mono" pitchFamily="34" charset="-120"/>
              </a:rPr>
              <a:t>EXIT TICKET</a:t>
            </a:r>
            <a:endParaRPr lang="en-US" sz="1200" dirty="0"/>
          </a:p>
        </p:txBody>
      </p:sp>
      <p:sp>
        <p:nvSpPr>
          <p:cNvPr id="5" name="Text 3"/>
          <p:cNvSpPr/>
          <p:nvPr/>
        </p:nvSpPr>
        <p:spPr>
          <a:xfrm>
            <a:off x="457200" y="731520"/>
            <a:ext cx="10515600" cy="548640"/>
          </a:xfrm>
          <a:prstGeom prst="rect">
            <a:avLst/>
          </a:prstGeom>
          <a:noFill/>
          <a:ln/>
        </p:spPr>
        <p:txBody>
          <a:bodyPr wrap="square" rtlCol="0" anchor="ctr"/>
          <a:lstStyle/>
          <a:p>
            <a:pPr marL="0" indent="0">
              <a:buNone/>
            </a:pPr>
            <a:r>
              <a:rPr lang="en-US" sz="2700" dirty="0">
                <a:solidFill>
                  <a:srgbClr val="111111"/>
                </a:solidFill>
                <a:latin typeface="DM Serif Display" pitchFamily="34" charset="0"/>
                <a:ea typeface="DM Serif Display" pitchFamily="34" charset="-122"/>
                <a:cs typeface="DM Serif Display" pitchFamily="34" charset="-120"/>
              </a:rPr>
              <a:t>Exit Ticket</a:t>
            </a:r>
            <a:endParaRPr lang="en-US" sz="2700" dirty="0"/>
          </a:p>
        </p:txBody>
      </p:sp>
      <p:sp>
        <p:nvSpPr>
          <p:cNvPr id="6" name="Text 4"/>
          <p:cNvSpPr/>
          <p:nvPr/>
        </p:nvSpPr>
        <p:spPr>
          <a:xfrm>
            <a:off x="457200" y="1371600"/>
            <a:ext cx="10424160" cy="457200"/>
          </a:xfrm>
          <a:prstGeom prst="rect">
            <a:avLst/>
          </a:prstGeom>
          <a:noFill/>
          <a:ln/>
        </p:spPr>
        <p:txBody>
          <a:bodyPr wrap="square" rtlCol="0" anchor="ctr"/>
          <a:lstStyle/>
          <a:p>
            <a:pPr marL="0" indent="0">
              <a:buNone/>
            </a:pPr>
            <a:r>
              <a:rPr lang="en-US" sz="1500" dirty="0">
                <a:solidFill>
                  <a:srgbClr val="111111"/>
                </a:solidFill>
                <a:latin typeface="DM Sans" pitchFamily="34" charset="0"/>
                <a:ea typeface="DM Sans" pitchFamily="34" charset="-122"/>
                <a:cs typeface="DM Sans" pitchFamily="34" charset="-120"/>
              </a:rPr>
              <a:t>Devices OFF — complete Section 6 from memory. No looking back.</a:t>
            </a:r>
            <a:endParaRPr lang="en-US" sz="1500" dirty="0"/>
          </a:p>
        </p:txBody>
      </p:sp>
      <p:sp>
        <p:nvSpPr>
          <p:cNvPr id="7" name="Shape 5"/>
          <p:cNvSpPr/>
          <p:nvPr/>
        </p:nvSpPr>
        <p:spPr>
          <a:xfrm>
            <a:off x="457200" y="2103120"/>
            <a:ext cx="82296" cy="914400"/>
          </a:xfrm>
          <a:prstGeom prst="roundRect">
            <a:avLst/>
          </a:prstGeom>
          <a:solidFill>
            <a:srgbClr val="10B981"/>
          </a:solidFill>
          <a:ln/>
        </p:spPr>
        <p:txBody>
          <a:bodyPr/>
          <a:lstStyle/>
          <a:p>
            <a:endParaRPr lang="en-AU"/>
          </a:p>
        </p:txBody>
      </p:sp>
      <p:sp>
        <p:nvSpPr>
          <p:cNvPr id="8" name="Text 6"/>
          <p:cNvSpPr/>
          <p:nvPr/>
        </p:nvSpPr>
        <p:spPr>
          <a:xfrm>
            <a:off x="685800" y="2084832"/>
            <a:ext cx="2743200" cy="365760"/>
          </a:xfrm>
          <a:prstGeom prst="rect">
            <a:avLst/>
          </a:prstGeom>
          <a:noFill/>
          <a:ln/>
        </p:spPr>
        <p:txBody>
          <a:bodyPr wrap="square" rtlCol="0" anchor="ctr"/>
          <a:lstStyle/>
          <a:p>
            <a:pPr marL="0" indent="0">
              <a:buNone/>
            </a:pPr>
            <a:r>
              <a:rPr lang="en-US" sz="1200" b="1" dirty="0">
                <a:solidFill>
                  <a:srgbClr val="10B981"/>
                </a:solidFill>
                <a:latin typeface="DM Mono" pitchFamily="34" charset="0"/>
                <a:ea typeface="DM Mono" pitchFamily="34" charset="-122"/>
                <a:cs typeface="DM Mono" pitchFamily="34" charset="-120"/>
              </a:rPr>
              <a:t>🟢 Foundation</a:t>
            </a:r>
            <a:endParaRPr lang="en-US" sz="1200" dirty="0"/>
          </a:p>
        </p:txBody>
      </p:sp>
      <p:sp>
        <p:nvSpPr>
          <p:cNvPr id="9" name="Text 7"/>
          <p:cNvSpPr/>
          <p:nvPr/>
        </p:nvSpPr>
        <p:spPr>
          <a:xfrm>
            <a:off x="685800" y="2450592"/>
            <a:ext cx="9966960" cy="502920"/>
          </a:xfrm>
          <a:prstGeom prst="rect">
            <a:avLst/>
          </a:prstGeom>
          <a:noFill/>
          <a:ln/>
        </p:spPr>
        <p:txBody>
          <a:bodyPr wrap="square" rtlCol="0" anchor="ctr"/>
          <a:lstStyle/>
          <a:p>
            <a:pPr marL="0" indent="0">
              <a:buNone/>
            </a:pPr>
            <a:r>
              <a:rPr lang="en-US" sz="1500" dirty="0">
                <a:solidFill>
                  <a:srgbClr val="111111"/>
                </a:solidFill>
                <a:latin typeface="DM Sans" pitchFamily="34" charset="0"/>
                <a:ea typeface="DM Sans" pitchFamily="34" charset="-122"/>
                <a:cs typeface="DM Sans" pitchFamily="34" charset="-120"/>
              </a:rPr>
              <a:t>In your own words, what is a mock-up for?</a:t>
            </a:r>
            <a:endParaRPr lang="en-US" sz="1500" dirty="0"/>
          </a:p>
        </p:txBody>
      </p:sp>
      <p:sp>
        <p:nvSpPr>
          <p:cNvPr id="10" name="Shape 8"/>
          <p:cNvSpPr/>
          <p:nvPr/>
        </p:nvSpPr>
        <p:spPr>
          <a:xfrm>
            <a:off x="457200" y="3154680"/>
            <a:ext cx="82296" cy="914400"/>
          </a:xfrm>
          <a:prstGeom prst="roundRect">
            <a:avLst/>
          </a:prstGeom>
          <a:solidFill>
            <a:srgbClr val="F59E0B"/>
          </a:solidFill>
          <a:ln/>
        </p:spPr>
        <p:txBody>
          <a:bodyPr/>
          <a:lstStyle/>
          <a:p>
            <a:endParaRPr lang="en-AU"/>
          </a:p>
        </p:txBody>
      </p:sp>
      <p:sp>
        <p:nvSpPr>
          <p:cNvPr id="11" name="Text 9"/>
          <p:cNvSpPr/>
          <p:nvPr/>
        </p:nvSpPr>
        <p:spPr>
          <a:xfrm>
            <a:off x="685800" y="3136392"/>
            <a:ext cx="2743200" cy="365760"/>
          </a:xfrm>
          <a:prstGeom prst="rect">
            <a:avLst/>
          </a:prstGeom>
          <a:noFill/>
          <a:ln/>
        </p:spPr>
        <p:txBody>
          <a:bodyPr wrap="square" rtlCol="0" anchor="ctr"/>
          <a:lstStyle/>
          <a:p>
            <a:pPr marL="0" indent="0">
              <a:buNone/>
            </a:pPr>
            <a:r>
              <a:rPr lang="en-US" sz="1200" b="1" dirty="0">
                <a:solidFill>
                  <a:srgbClr val="F59E0B"/>
                </a:solidFill>
                <a:latin typeface="DM Mono" pitchFamily="34" charset="0"/>
                <a:ea typeface="DM Mono" pitchFamily="34" charset="-122"/>
                <a:cs typeface="DM Mono" pitchFamily="34" charset="-120"/>
              </a:rPr>
              <a:t>🟡 Developing</a:t>
            </a:r>
            <a:endParaRPr lang="en-US" sz="1200" dirty="0"/>
          </a:p>
        </p:txBody>
      </p:sp>
      <p:sp>
        <p:nvSpPr>
          <p:cNvPr id="12" name="Text 10"/>
          <p:cNvSpPr/>
          <p:nvPr/>
        </p:nvSpPr>
        <p:spPr>
          <a:xfrm>
            <a:off x="685800" y="3502152"/>
            <a:ext cx="9966960" cy="502920"/>
          </a:xfrm>
          <a:prstGeom prst="rect">
            <a:avLst/>
          </a:prstGeom>
          <a:noFill/>
          <a:ln/>
        </p:spPr>
        <p:txBody>
          <a:bodyPr wrap="square" rtlCol="0" anchor="ctr"/>
          <a:lstStyle/>
          <a:p>
            <a:pPr marL="0" indent="0">
              <a:buNone/>
            </a:pPr>
            <a:r>
              <a:rPr lang="en-US" sz="1500" dirty="0">
                <a:solidFill>
                  <a:srgbClr val="111111"/>
                </a:solidFill>
                <a:latin typeface="DM Sans" pitchFamily="34" charset="0"/>
                <a:ea typeface="DM Sans" pitchFamily="34" charset="-122"/>
                <a:cs typeface="DM Sans" pitchFamily="34" charset="-120"/>
              </a:rPr>
              <a:t>What’s the key difference between a mock-up and a storyboard?</a:t>
            </a:r>
            <a:endParaRPr lang="en-US" sz="1500" dirty="0"/>
          </a:p>
        </p:txBody>
      </p:sp>
      <p:sp>
        <p:nvSpPr>
          <p:cNvPr id="13" name="Shape 11"/>
          <p:cNvSpPr/>
          <p:nvPr/>
        </p:nvSpPr>
        <p:spPr>
          <a:xfrm>
            <a:off x="457200" y="4206240"/>
            <a:ext cx="82296" cy="914400"/>
          </a:xfrm>
          <a:prstGeom prst="roundRect">
            <a:avLst/>
          </a:prstGeom>
          <a:solidFill>
            <a:srgbClr val="8B5CF6"/>
          </a:solidFill>
          <a:ln/>
        </p:spPr>
        <p:txBody>
          <a:bodyPr/>
          <a:lstStyle/>
          <a:p>
            <a:endParaRPr lang="en-AU"/>
          </a:p>
        </p:txBody>
      </p:sp>
      <p:sp>
        <p:nvSpPr>
          <p:cNvPr id="14" name="Text 12"/>
          <p:cNvSpPr/>
          <p:nvPr/>
        </p:nvSpPr>
        <p:spPr>
          <a:xfrm>
            <a:off x="685800" y="4187952"/>
            <a:ext cx="2743200" cy="365760"/>
          </a:xfrm>
          <a:prstGeom prst="rect">
            <a:avLst/>
          </a:prstGeom>
          <a:noFill/>
          <a:ln/>
        </p:spPr>
        <p:txBody>
          <a:bodyPr wrap="square" rtlCol="0" anchor="ctr"/>
          <a:lstStyle/>
          <a:p>
            <a:pPr marL="0" indent="0">
              <a:buNone/>
            </a:pPr>
            <a:r>
              <a:rPr lang="en-US" sz="1200" b="1" dirty="0">
                <a:solidFill>
                  <a:srgbClr val="8B5CF6"/>
                </a:solidFill>
                <a:latin typeface="DM Mono" pitchFamily="34" charset="0"/>
                <a:ea typeface="DM Mono" pitchFamily="34" charset="-122"/>
                <a:cs typeface="DM Mono" pitchFamily="34" charset="-120"/>
              </a:rPr>
              <a:t>🟣 Extending</a:t>
            </a:r>
            <a:endParaRPr lang="en-US" sz="1200" dirty="0"/>
          </a:p>
        </p:txBody>
      </p:sp>
      <p:sp>
        <p:nvSpPr>
          <p:cNvPr id="15" name="Text 13"/>
          <p:cNvSpPr/>
          <p:nvPr/>
        </p:nvSpPr>
        <p:spPr>
          <a:xfrm>
            <a:off x="685800" y="4553712"/>
            <a:ext cx="9966960" cy="502920"/>
          </a:xfrm>
          <a:prstGeom prst="rect">
            <a:avLst/>
          </a:prstGeom>
          <a:noFill/>
          <a:ln/>
        </p:spPr>
        <p:txBody>
          <a:bodyPr wrap="square" rtlCol="0" anchor="ctr"/>
          <a:lstStyle/>
          <a:p>
            <a:pPr marL="0" indent="0">
              <a:buNone/>
            </a:pPr>
            <a:r>
              <a:rPr lang="en-US" sz="1500" dirty="0">
                <a:solidFill>
                  <a:srgbClr val="111111"/>
                </a:solidFill>
                <a:latin typeface="DM Sans" pitchFamily="34" charset="0"/>
                <a:ea typeface="DM Sans" pitchFamily="34" charset="-122"/>
                <a:cs typeface="DM Sans" pitchFamily="34" charset="-120"/>
              </a:rPr>
              <a:t>Why sketch a rough version before building anything?</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6537960"/>
            <a:ext cx="5486400" cy="274320"/>
          </a:xfrm>
          <a:prstGeom prst="rect">
            <a:avLst/>
          </a:prstGeom>
          <a:noFill/>
          <a:ln/>
        </p:spPr>
        <p:txBody>
          <a:bodyPr wrap="square" rtlCol="0" anchor="ctr"/>
          <a:lstStyle/>
          <a:p>
            <a:pPr marL="0" indent="0">
              <a:buNone/>
            </a:pPr>
            <a:r>
              <a:rPr lang="en-US" sz="900" dirty="0">
                <a:solidFill>
                  <a:srgbClr val="5B6472"/>
                </a:solidFill>
                <a:latin typeface="DM Mono" pitchFamily="34" charset="0"/>
                <a:ea typeface="DM Mono" pitchFamily="34" charset="-122"/>
                <a:cs typeface="DM Mono" pitchFamily="34" charset="-120"/>
              </a:rPr>
              <a:t>y11-ac-u2-l7-design-tools-techniques-i</a:t>
            </a:r>
            <a:endParaRPr lang="en-US" sz="900" dirty="0"/>
          </a:p>
        </p:txBody>
      </p:sp>
      <p:sp>
        <p:nvSpPr>
          <p:cNvPr id="3" name="Text 1"/>
          <p:cNvSpPr/>
          <p:nvPr/>
        </p:nvSpPr>
        <p:spPr>
          <a:xfrm>
            <a:off x="10515600" y="6537960"/>
            <a:ext cx="1280160" cy="274320"/>
          </a:xfrm>
          <a:prstGeom prst="rect">
            <a:avLst/>
          </a:prstGeom>
          <a:noFill/>
          <a:ln/>
        </p:spPr>
        <p:txBody>
          <a:bodyPr wrap="square" rtlCol="0" anchor="ctr"/>
          <a:lstStyle/>
          <a:p>
            <a:pPr marL="0" indent="0" algn="r">
              <a:buNone/>
            </a:pPr>
            <a:r>
              <a:rPr lang="en-US" sz="900" dirty="0">
                <a:solidFill>
                  <a:srgbClr val="5B6472"/>
                </a:solidFill>
                <a:latin typeface="DM Mono" pitchFamily="34" charset="0"/>
                <a:ea typeface="DM Mono" pitchFamily="34" charset="-122"/>
                <a:cs typeface="DM Mono" pitchFamily="34" charset="-120"/>
              </a:rPr>
              <a:t>Mr Smith</a:t>
            </a:r>
            <a:endParaRPr lang="en-US" sz="900" dirty="0"/>
          </a:p>
        </p:txBody>
      </p:sp>
      <p:sp>
        <p:nvSpPr>
          <p:cNvPr id="4" name="Text 2"/>
          <p:cNvSpPr/>
          <p:nvPr/>
        </p:nvSpPr>
        <p:spPr>
          <a:xfrm>
            <a:off x="457200" y="320040"/>
            <a:ext cx="2926080" cy="365760"/>
          </a:xfrm>
          <a:prstGeom prst="rect">
            <a:avLst/>
          </a:prstGeom>
          <a:noFill/>
          <a:ln/>
        </p:spPr>
        <p:txBody>
          <a:bodyPr wrap="square" rtlCol="0" anchor="ctr"/>
          <a:lstStyle/>
          <a:p>
            <a:pPr marL="0" indent="0">
              <a:buNone/>
            </a:pPr>
            <a:r>
              <a:rPr lang="en-US" sz="1200" b="1" kern="0" spc="200" dirty="0">
                <a:solidFill>
                  <a:srgbClr val="4361EE"/>
                </a:solidFill>
                <a:latin typeface="DM Mono" pitchFamily="34" charset="0"/>
                <a:ea typeface="DM Mono" pitchFamily="34" charset="-122"/>
                <a:cs typeface="DM Mono" pitchFamily="34" charset="-120"/>
              </a:rPr>
              <a:t>NEXT STEPS</a:t>
            </a:r>
            <a:endParaRPr lang="en-US" sz="1200" dirty="0"/>
          </a:p>
        </p:txBody>
      </p:sp>
      <p:sp>
        <p:nvSpPr>
          <p:cNvPr id="5" name="Text 3"/>
          <p:cNvSpPr/>
          <p:nvPr/>
        </p:nvSpPr>
        <p:spPr>
          <a:xfrm>
            <a:off x="457200" y="731520"/>
            <a:ext cx="10515600" cy="548640"/>
          </a:xfrm>
          <a:prstGeom prst="rect">
            <a:avLst/>
          </a:prstGeom>
          <a:noFill/>
          <a:ln/>
        </p:spPr>
        <p:txBody>
          <a:bodyPr wrap="square" rtlCol="0" anchor="ctr"/>
          <a:lstStyle/>
          <a:p>
            <a:pPr marL="0" indent="0">
              <a:buNone/>
            </a:pPr>
            <a:r>
              <a:rPr lang="en-US" sz="2700" dirty="0">
                <a:solidFill>
                  <a:srgbClr val="111111"/>
                </a:solidFill>
                <a:latin typeface="DM Serif Display" pitchFamily="34" charset="0"/>
                <a:ea typeface="DM Serif Display" pitchFamily="34" charset="-122"/>
                <a:cs typeface="DM Serif Display" pitchFamily="34" charset="-120"/>
              </a:rPr>
              <a:t>Looking Ahead</a:t>
            </a:r>
            <a:endParaRPr lang="en-US" sz="2700" dirty="0"/>
          </a:p>
        </p:txBody>
      </p:sp>
      <p:sp>
        <p:nvSpPr>
          <p:cNvPr id="6" name="Shape 4"/>
          <p:cNvSpPr/>
          <p:nvPr/>
        </p:nvSpPr>
        <p:spPr>
          <a:xfrm>
            <a:off x="457200" y="1463040"/>
            <a:ext cx="10424160" cy="1188720"/>
          </a:xfrm>
          <a:prstGeom prst="roundRect">
            <a:avLst>
              <a:gd name="adj" fmla="val 6154"/>
            </a:avLst>
          </a:prstGeom>
          <a:solidFill>
            <a:srgbClr val="EFF2FE"/>
          </a:solidFill>
          <a:ln w="12700">
            <a:solidFill>
              <a:srgbClr val="4361EE"/>
            </a:solidFill>
            <a:prstDash val="solid"/>
          </a:ln>
        </p:spPr>
        <p:txBody>
          <a:bodyPr/>
          <a:lstStyle/>
          <a:p>
            <a:endParaRPr lang="en-AU"/>
          </a:p>
        </p:txBody>
      </p:sp>
      <p:sp>
        <p:nvSpPr>
          <p:cNvPr id="7" name="Text 5"/>
          <p:cNvSpPr/>
          <p:nvPr/>
        </p:nvSpPr>
        <p:spPr>
          <a:xfrm>
            <a:off x="685800" y="1600200"/>
            <a:ext cx="9966960" cy="274320"/>
          </a:xfrm>
          <a:prstGeom prst="rect">
            <a:avLst/>
          </a:prstGeom>
          <a:noFill/>
          <a:ln/>
        </p:spPr>
        <p:txBody>
          <a:bodyPr wrap="square" rtlCol="0" anchor="ctr"/>
          <a:lstStyle/>
          <a:p>
            <a:pPr marL="0" indent="0">
              <a:buNone/>
            </a:pPr>
            <a:r>
              <a:rPr lang="en-US" sz="1100" b="1" dirty="0">
                <a:solidFill>
                  <a:srgbClr val="4361EE"/>
                </a:solidFill>
                <a:latin typeface="DM Mono" pitchFamily="34" charset="0"/>
                <a:ea typeface="DM Mono" pitchFamily="34" charset="-122"/>
                <a:cs typeface="DM Mono" pitchFamily="34" charset="-120"/>
              </a:rPr>
              <a:t>D5.2 · DESIGN TOOLS &amp; TECHNIQUES II — NEXT LESSON</a:t>
            </a:r>
            <a:endParaRPr lang="en-US" sz="1100" dirty="0"/>
          </a:p>
        </p:txBody>
      </p:sp>
      <p:sp>
        <p:nvSpPr>
          <p:cNvPr id="8" name="Text 6"/>
          <p:cNvSpPr/>
          <p:nvPr/>
        </p:nvSpPr>
        <p:spPr>
          <a:xfrm>
            <a:off x="685800" y="1920240"/>
            <a:ext cx="9966960" cy="640080"/>
          </a:xfrm>
          <a:prstGeom prst="rect">
            <a:avLst/>
          </a:prstGeom>
          <a:noFill/>
          <a:ln/>
        </p:spPr>
        <p:txBody>
          <a:bodyPr wrap="square" rtlCol="0" anchor="ctr"/>
          <a:lstStyle/>
          <a:p>
            <a:pPr marL="0" indent="0">
              <a:buNone/>
            </a:pPr>
            <a:r>
              <a:rPr lang="en-US" sz="1300" dirty="0">
                <a:solidFill>
                  <a:srgbClr val="111111"/>
                </a:solidFill>
                <a:latin typeface="DM Sans" pitchFamily="34" charset="0"/>
                <a:ea typeface="DM Sans" pitchFamily="34" charset="-122"/>
                <a:cs typeface="DM Sans" pitchFamily="34" charset="-120"/>
              </a:rPr>
              <a:t>Pseudocode and sitemaps, as relevant to your solution type — building on today’s mock-up and storyboard with representations of logic and structure.</a:t>
            </a:r>
            <a:endParaRPr lang="en-US" sz="1300" dirty="0"/>
          </a:p>
        </p:txBody>
      </p:sp>
      <p:sp>
        <p:nvSpPr>
          <p:cNvPr id="9" name="Shape 7"/>
          <p:cNvSpPr/>
          <p:nvPr/>
        </p:nvSpPr>
        <p:spPr>
          <a:xfrm>
            <a:off x="457200" y="2834640"/>
            <a:ext cx="10424160" cy="1188720"/>
          </a:xfrm>
          <a:prstGeom prst="roundRect">
            <a:avLst>
              <a:gd name="adj" fmla="val 6154"/>
            </a:avLst>
          </a:prstGeom>
          <a:solidFill>
            <a:srgbClr val="F6F8FA"/>
          </a:solidFill>
          <a:ln w="12700">
            <a:solidFill>
              <a:srgbClr val="D0D7DE"/>
            </a:solidFill>
            <a:prstDash val="solid"/>
          </a:ln>
        </p:spPr>
        <p:txBody>
          <a:bodyPr/>
          <a:lstStyle/>
          <a:p>
            <a:endParaRPr lang="en-AU"/>
          </a:p>
        </p:txBody>
      </p:sp>
      <p:sp>
        <p:nvSpPr>
          <p:cNvPr id="10" name="Text 8"/>
          <p:cNvSpPr/>
          <p:nvPr/>
        </p:nvSpPr>
        <p:spPr>
          <a:xfrm>
            <a:off x="685800" y="2971800"/>
            <a:ext cx="9966960" cy="274320"/>
          </a:xfrm>
          <a:prstGeom prst="rect">
            <a:avLst/>
          </a:prstGeom>
          <a:noFill/>
          <a:ln/>
        </p:spPr>
        <p:txBody>
          <a:bodyPr wrap="square" rtlCol="0" anchor="ctr"/>
          <a:lstStyle/>
          <a:p>
            <a:pPr marL="0" indent="0">
              <a:buNone/>
            </a:pPr>
            <a:r>
              <a:rPr lang="en-US" sz="1100" b="1" dirty="0">
                <a:solidFill>
                  <a:srgbClr val="111111"/>
                </a:solidFill>
                <a:latin typeface="DM Mono" pitchFamily="34" charset="0"/>
                <a:ea typeface="DM Mono" pitchFamily="34" charset="-122"/>
                <a:cs typeface="DM Mono" pitchFamily="34" charset="-120"/>
              </a:rPr>
              <a:t>YOUR DESIGN WORK IS NOW A WORKING REFERENCE</a:t>
            </a:r>
            <a:endParaRPr lang="en-US" sz="1100" dirty="0"/>
          </a:p>
        </p:txBody>
      </p:sp>
      <p:sp>
        <p:nvSpPr>
          <p:cNvPr id="11" name="Text 9"/>
          <p:cNvSpPr/>
          <p:nvPr/>
        </p:nvSpPr>
        <p:spPr>
          <a:xfrm>
            <a:off x="685800" y="3291840"/>
            <a:ext cx="9966960" cy="640080"/>
          </a:xfrm>
          <a:prstGeom prst="rect">
            <a:avLst/>
          </a:prstGeom>
          <a:noFill/>
          <a:ln/>
        </p:spPr>
        <p:txBody>
          <a:bodyPr wrap="square" rtlCol="0" anchor="ctr"/>
          <a:lstStyle/>
          <a:p>
            <a:pPr marL="0" indent="0">
              <a:buNone/>
            </a:pPr>
            <a:r>
              <a:rPr lang="en-US" sz="1300" dirty="0">
                <a:solidFill>
                  <a:srgbClr val="5B6472"/>
                </a:solidFill>
                <a:latin typeface="DM Sans" pitchFamily="34" charset="0"/>
                <a:ea typeface="DM Sans" pitchFamily="34" charset="-122"/>
                <a:cs typeface="DM Sans" pitchFamily="34" charset="-120"/>
              </a:rPr>
              <a:t>Keep your mock-up and storyboard visible to your group — they feed directly into ideation (Week 6) and the preferred design milestone (Week 7).</a:t>
            </a:r>
            <a:endParaRPr lang="en-US" sz="1300" dirty="0"/>
          </a:p>
        </p:txBody>
      </p:sp>
      <p:sp>
        <p:nvSpPr>
          <p:cNvPr id="12" name="Shape 10"/>
          <p:cNvSpPr/>
          <p:nvPr/>
        </p:nvSpPr>
        <p:spPr>
          <a:xfrm>
            <a:off x="457200" y="4206240"/>
            <a:ext cx="10424160" cy="1371600"/>
          </a:xfrm>
          <a:prstGeom prst="roundRect">
            <a:avLst>
              <a:gd name="adj" fmla="val 5333"/>
            </a:avLst>
          </a:prstGeom>
          <a:solidFill>
            <a:srgbClr val="FDEDED"/>
          </a:solidFill>
          <a:ln w="12700">
            <a:solidFill>
              <a:srgbClr val="EF4444"/>
            </a:solidFill>
            <a:prstDash val="solid"/>
          </a:ln>
        </p:spPr>
        <p:txBody>
          <a:bodyPr/>
          <a:lstStyle/>
          <a:p>
            <a:endParaRPr lang="en-AU"/>
          </a:p>
        </p:txBody>
      </p:sp>
      <p:sp>
        <p:nvSpPr>
          <p:cNvPr id="13" name="Text 11"/>
          <p:cNvSpPr/>
          <p:nvPr/>
        </p:nvSpPr>
        <p:spPr>
          <a:xfrm>
            <a:off x="685800" y="4343400"/>
            <a:ext cx="9966960" cy="274320"/>
          </a:xfrm>
          <a:prstGeom prst="rect">
            <a:avLst/>
          </a:prstGeom>
          <a:noFill/>
          <a:ln/>
        </p:spPr>
        <p:txBody>
          <a:bodyPr wrap="square" rtlCol="0" anchor="ctr"/>
          <a:lstStyle/>
          <a:p>
            <a:pPr marL="0" indent="0">
              <a:buNone/>
            </a:pPr>
            <a:r>
              <a:rPr lang="en-US" sz="1100" b="1" dirty="0">
                <a:solidFill>
                  <a:srgbClr val="EF4444"/>
                </a:solidFill>
                <a:latin typeface="DM Mono" pitchFamily="34" charset="0"/>
                <a:ea typeface="DM Mono" pitchFamily="34" charset="-122"/>
                <a:cs typeface="DM Mono" pitchFamily="34" charset="-120"/>
              </a:rPr>
              <a:t>BEFORE DISMISSING</a:t>
            </a:r>
            <a:endParaRPr lang="en-US" sz="1100" dirty="0"/>
          </a:p>
        </p:txBody>
      </p:sp>
      <p:sp>
        <p:nvSpPr>
          <p:cNvPr id="14" name="Text 12"/>
          <p:cNvSpPr/>
          <p:nvPr/>
        </p:nvSpPr>
        <p:spPr>
          <a:xfrm>
            <a:off x="685800" y="4663440"/>
            <a:ext cx="9966960" cy="777240"/>
          </a:xfrm>
          <a:prstGeom prst="rect">
            <a:avLst/>
          </a:prstGeom>
          <a:noFill/>
          <a:ln/>
        </p:spPr>
        <p:txBody>
          <a:bodyPr wrap="square" rtlCol="0" anchor="ctr"/>
          <a:lstStyle/>
          <a:p>
            <a:pPr marL="0" indent="0">
              <a:buNone/>
            </a:pPr>
            <a:r>
              <a:rPr lang="en-US" sz="1300" dirty="0">
                <a:solidFill>
                  <a:srgbClr val="111111"/>
                </a:solidFill>
                <a:latin typeface="DM Sans" pitchFamily="34" charset="0"/>
                <a:ea typeface="DM Sans" pitchFamily="34" charset="-122"/>
                <a:cs typeface="DM Sans" pitchFamily="34" charset="-120"/>
              </a:rPr>
              <a:t>Confirm every group has: a labelled mock-up, a storyboard with 4+ panels, and — if not finished — a plan to complete it before the next lesson.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263</TotalTime>
  <Words>2908</Words>
  <Application>Microsoft Office PowerPoint</Application>
  <PresentationFormat>Widescreen</PresentationFormat>
  <Paragraphs>268</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DM Mono</vt:lpstr>
      <vt:lpstr>DM Sans</vt:lpstr>
      <vt:lpstr>DM Serif Display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James Smith 5</cp:lastModifiedBy>
  <cp:revision>2</cp:revision>
  <dcterms:created xsi:type="dcterms:W3CDTF">2026-07-21T22:30:15Z</dcterms:created>
  <dcterms:modified xsi:type="dcterms:W3CDTF">2026-07-22T03:06:25Z</dcterms:modified>
</cp:coreProperties>
</file>