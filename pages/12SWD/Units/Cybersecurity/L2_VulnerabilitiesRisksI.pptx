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 of 8. Covers 5 of the 10 sub-points in KK4.2.3 (types of vulnerabilities and risks within insecure development environments) — the more 'technical' half. The remaining sub-points (insider threats, cyber security incidents, third-party risk, code review, combined environments) are Lesson 3. Double period, 100 minutes — this lesson is content-dense, so keep explicit explanation brisk and protect time for the application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This directly uses the L1 homework task. If some students didn't find an article, pair them with someone who did. The 'technical flaw vs risky person' sort is a deliberate soft preview of the L2/L3 split — L2 is technical vulnerabilities, L3 leans more human/process (insider threats, code review). Don't correct sorting mistakes now, just note them for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 aloud. Note for students: this is 5 vulnerability types in one lesson, which is a lot — the Foundation tier only asks for definitions and matching, so even students who find the volume overwhelming have a clear achievable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This is Australia's largest reported data breach and almost certainly familiar to students already, which is a strength — use that familiarity rather than re-explaining from scratch; ask the room what they remember first. The exam-relevant detail is the SPECIFIC API vulnerability: no authentication check at all on a public endpoint, plus predictable/sequential customer IDs an attacker could just iterate through. Keep the focus technical (the API security lesson), not the political/regulatory fallout.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min. Emphasise the different infection VECTOR for each: virus needs a host file, worm spreads itself over a network with no host file needed, trojan needs the user to be tricked into installing it, logic bomb needs insider access to source code. That distinction (how does it get in) is more exam-useful than the definitions alone. Trojan horse is the one most connected to L3's 'insider threats' theme — flag that connection briefly.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WannaCry is a strong case study because the patch existed a month before the attack — Microsoft issued it in March, WannaCry hit in May. That's the single fact worth drilling: patching isn't about whether a fix exists, it's about how fast an organisation applies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Medibank is a strong case because it stacks two of today's categories at once: malware (the info-stealer on the contractor's personal device) AND poor IAM (no MFA, and an admin account with far more access than a service-desk task needed). Also flag the third-party angle briefly — the compromised device belonged to a contractor, not a Medibank employee — since L3 covers third-party/insider risk in more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This is the textbook's Peter/Paul/Mary banking scam over unsecured Wi-Fi (Figure 6.10) — walk through it as a mini role-play if the room responds well to that. Answer to Q2: encrypted end-to-end connection / verified certificates would have prevented the attacker from being able to read or alter the traffic. Bridges directly into the mitigation table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Five items so this uses the SIZE.content floor (21pt) rather than the larger 24pt — still comfortably above the 20pt minimum. Point out MFA appears here AND in the IAM slide — that's deliberate: controls aren't one-to-one with vulnerabilities, several controls defend against multiple threats at once. Good extension question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min. Foundation matching activity is deliberately auto-markable in the workbook (dropdowns). Circulate heavily during the Extending scenario — it's the first time this unit asks students to diagnose from a scenario rather than recall a definition, which is a jump in demand. Students who finish early: challenge them to find a vulnerability type NOT covered today in their L1 homework 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 physical break connecting back to the MITM public-Wi-Fi content without requiring new thinking — just a stretch and a laugh before responsive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If recall is patchy across the room, that's expected given five topics in one lesson — reassure students the workbook and unit site remain available for revision, and that L3 will return to 'insecure development environments' from a different angle (human/process), which naturally revisits some of today's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individual and silent. Question 2 is checking for the cross-cutting insight from the MITM mitigation slide (MFA, patching) rather than treating each vulnerability as fully separate — a good signal of whether that point 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Reusing the L1 homework article again here reinforces that these vulnerability categories are lenses for reading real incidents, not a list to memorise in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361EE"/>
        </a:solidFill>
      </p:bgPr>
    </p:bg>
    <p:spTree>
      <p:nvGrpSpPr>
        <p:cNvPr id="1" name=""/>
        <p:cNvGrpSpPr/>
        <p:nvPr/>
      </p:nvGrpSpPr>
      <p:grpSpPr>
        <a:xfrm>
          <a:off x="0" y="0"/>
          <a:ext cx="0" cy="0"/>
          <a:chOff x="0" y="0"/>
          <a:chExt cx="0" cy="0"/>
        </a:xfrm>
      </p:grpSpPr>
      <p:sp>
        <p:nvSpPr>
          <p:cNvPr id="2" name="Shape 0"/>
          <p:cNvSpPr/>
          <p:nvPr/>
        </p:nvSpPr>
        <p:spPr>
          <a:xfrm>
            <a:off x="9418320" y="-1463040"/>
            <a:ext cx="4754880" cy="4754880"/>
          </a:xfrm>
          <a:prstGeom prst="ellipse">
            <a:avLst/>
          </a:prstGeom>
          <a:solidFill>
            <a:srgbClr val="3852D0"/>
          </a:solidFill>
          <a:ln/>
        </p:spPr>
      </p:sp>
      <p:sp>
        <p:nvSpPr>
          <p:cNvPr id="3" name="Shape 1"/>
          <p:cNvSpPr/>
          <p:nvPr/>
        </p:nvSpPr>
        <p:spPr>
          <a:xfrm>
            <a:off x="-1463040" y="4846320"/>
            <a:ext cx="3840480" cy="3840480"/>
          </a:xfrm>
          <a:prstGeom prst="ellipse">
            <a:avLst/>
          </a:prstGeom>
          <a:solidFill>
            <a:srgbClr val="3852D0"/>
          </a:solidFill>
          <a:ln/>
        </p:spPr>
      </p:sp>
      <p:sp>
        <p:nvSpPr>
          <p:cNvPr id="4" name="Text 2"/>
          <p:cNvSpPr/>
          <p:nvPr/>
        </p:nvSpPr>
        <p:spPr>
          <a:xfrm>
            <a:off x="548640" y="502920"/>
            <a:ext cx="1499616" cy="384048"/>
          </a:xfrm>
          <a:prstGeom prst="roundRect">
            <a:avLst>
              <a:gd name="adj" fmla="val 50000"/>
            </a:avLst>
          </a:prstGeom>
          <a:solidFill>
            <a:srgbClr val="FFFFFF"/>
          </a:solidFill>
          <a:ln/>
        </p:spPr>
        <p:txBody>
          <a:bodyPr wrap="square" lIns="0" tIns="0" rIns="0" bIns="0" rtlCol="0" anchor="ctr"/>
          <a:lstStyle/>
          <a:p>
            <a:pPr algn="ctr" indent="0" marL="0">
              <a:buNone/>
            </a:pPr>
            <a:r>
              <a:rPr lang="en-US" sz="1350" b="1" spc="100" kern="0" dirty="0">
                <a:solidFill>
                  <a:srgbClr val="4361EE"/>
                </a:solidFill>
                <a:latin typeface="Calibri" pitchFamily="34" charset="0"/>
                <a:ea typeface="Calibri" pitchFamily="34" charset="-122"/>
                <a:cs typeface="Calibri" pitchFamily="34" charset="-120"/>
              </a:rPr>
              <a:t>LESSON 2</a:t>
            </a:r>
            <a:endParaRPr lang="en-US" sz="1350" dirty="0"/>
          </a:p>
        </p:txBody>
      </p:sp>
      <p:sp>
        <p:nvSpPr>
          <p:cNvPr id="5" name="Text 3"/>
          <p:cNvSpPr/>
          <p:nvPr/>
        </p:nvSpPr>
        <p:spPr>
          <a:xfrm>
            <a:off x="548640" y="2331720"/>
            <a:ext cx="10058400" cy="365760"/>
          </a:xfrm>
          <a:prstGeom prst="rect">
            <a:avLst/>
          </a:prstGeom>
          <a:noFill/>
          <a:ln/>
        </p:spPr>
        <p:txBody>
          <a:bodyPr wrap="square" lIns="0" tIns="0" rIns="0" bIns="0" rtlCol="0" anchor="ctr"/>
          <a:lstStyle/>
          <a:p>
            <a:pPr algn="l" indent="0" marL="0">
              <a:buNone/>
            </a:pPr>
            <a:r>
              <a:rPr lang="en-US" sz="1500" b="1" spc="150" kern="0" dirty="0">
                <a:solidFill>
                  <a:srgbClr val="CFDAFB"/>
                </a:solidFill>
                <a:latin typeface="Calibri" pitchFamily="34" charset="0"/>
                <a:ea typeface="Calibri" pitchFamily="34" charset="-122"/>
                <a:cs typeface="Calibri" pitchFamily="34" charset="-120"/>
              </a:rPr>
              <a:t>VCE SOFTWARE DEVELOPMENT · UNIT 4 · AREA OF STUDY 2</a:t>
            </a:r>
            <a:endParaRPr lang="en-US" sz="1500" dirty="0"/>
          </a:p>
        </p:txBody>
      </p:sp>
      <p:sp>
        <p:nvSpPr>
          <p:cNvPr id="6" name="Text 4"/>
          <p:cNvSpPr/>
          <p:nvPr/>
        </p:nvSpPr>
        <p:spPr>
          <a:xfrm>
            <a:off x="548640" y="2697480"/>
            <a:ext cx="10789920" cy="173736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Vulnerabilities &amp; Risks I:</a:t>
            </a:r>
            <a:endParaRPr lang="en-US" sz="4200" dirty="0"/>
          </a:p>
          <a:p>
            <a:pPr algn="l" indent="0" marL="0">
              <a:buNone/>
            </a:pPr>
            <a:r>
              <a:rPr lang="en-US" sz="4200" b="1" dirty="0">
                <a:solidFill>
                  <a:srgbClr val="FFFFFF"/>
                </a:solidFill>
                <a:latin typeface="Cambria" pitchFamily="34" charset="0"/>
                <a:ea typeface="Cambria" pitchFamily="34" charset="-122"/>
                <a:cs typeface="Cambria" pitchFamily="34" charset="-120"/>
              </a:rPr>
              <a:t>Technical Threats</a:t>
            </a:r>
            <a:endParaRPr lang="en-US" sz="4200" dirty="0"/>
          </a:p>
        </p:txBody>
      </p:sp>
      <p:sp>
        <p:nvSpPr>
          <p:cNvPr id="7" name="Text 5"/>
          <p:cNvSpPr/>
          <p:nvPr/>
        </p:nvSpPr>
        <p:spPr>
          <a:xfrm>
            <a:off x="548640" y="4434840"/>
            <a:ext cx="9601200" cy="640080"/>
          </a:xfrm>
          <a:prstGeom prst="rect">
            <a:avLst/>
          </a:prstGeom>
          <a:noFill/>
          <a:ln/>
        </p:spPr>
        <p:txBody>
          <a:bodyPr wrap="square" lIns="0" tIns="0" rIns="0" bIns="0" rtlCol="0" anchor="ctr"/>
          <a:lstStyle/>
          <a:p>
            <a:pPr algn="l" indent="0" marL="0">
              <a:buNone/>
            </a:pPr>
            <a:r>
              <a:rPr lang="en-US" sz="1900" i="1" dirty="0">
                <a:solidFill>
                  <a:srgbClr val="E4E9FC"/>
                </a:solidFill>
                <a:latin typeface="Calibri" pitchFamily="34" charset="0"/>
                <a:ea typeface="Calibri" pitchFamily="34" charset="-122"/>
                <a:cs typeface="Calibri" pitchFamily="34" charset="-120"/>
              </a:rPr>
              <a:t>APIs, malware, unpatched software, poor identity management, and man-in-the-middle attacks.</a:t>
            </a:r>
            <a:endParaRPr lang="en-US" sz="1900" dirty="0"/>
          </a:p>
        </p:txBody>
      </p:sp>
      <p:sp>
        <p:nvSpPr>
          <p:cNvPr id="8" name="Text 6"/>
          <p:cNvSpPr/>
          <p:nvPr/>
        </p:nvSpPr>
        <p:spPr>
          <a:xfrm>
            <a:off x="548640" y="6263640"/>
            <a:ext cx="7315200" cy="274320"/>
          </a:xfrm>
          <a:prstGeom prst="rect">
            <a:avLst/>
          </a:prstGeom>
          <a:noFill/>
          <a:ln/>
        </p:spPr>
        <p:txBody>
          <a:bodyPr wrap="square" lIns="0" tIns="0" rIns="0" bIns="0" rtlCol="0" anchor="ctr"/>
          <a:lstStyle/>
          <a:p>
            <a:pPr algn="l" indent="0" marL="0">
              <a:buNone/>
            </a:pPr>
            <a:r>
              <a:rPr lang="en-US" sz="1100" dirty="0">
                <a:solidFill>
                  <a:srgbClr val="AEBBF2"/>
                </a:solidFill>
                <a:latin typeface="Calibri" pitchFamily="34" charset="0"/>
                <a:ea typeface="Calibri" pitchFamily="34" charset="-122"/>
                <a:cs typeface="Calibri" pitchFamily="34" charset="-120"/>
              </a:rPr>
              <a:t>y12-sd-u4-l2-vulnerabilities-risks-i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algn="l"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2</a:t>
            </a:r>
            <a:endParaRPr lang="en-US" sz="1100" dirty="0"/>
          </a:p>
        </p:txBody>
      </p:sp>
      <p:sp>
        <p:nvSpPr>
          <p:cNvPr id="4" name="Text 2"/>
          <p:cNvSpPr/>
          <p:nvPr/>
        </p:nvSpPr>
        <p:spPr>
          <a:xfrm>
            <a:off x="10552176" y="274320"/>
            <a:ext cx="969264" cy="310896"/>
          </a:xfrm>
          <a:prstGeom prst="roundRect">
            <a:avLst>
              <a:gd name="adj" fmla="val 50000"/>
            </a:avLst>
          </a:prstGeom>
          <a:solidFill>
            <a:srgbClr val="F59E0B"/>
          </a:solidFill>
          <a:ln/>
        </p:spPr>
        <p:txBody>
          <a:bodyPr wrap="square" lIns="0" tIns="0" rIns="0" bIns="0" rtlCol="0" anchor="ctr"/>
          <a:lstStyle/>
          <a:p>
            <a:pPr algn="ctr" indent="0" marL="0">
              <a:buNone/>
            </a:pPr>
            <a:r>
              <a:rPr lang="en-US" sz="1350" b="1" spc="100" kern="0" dirty="0">
                <a:solidFill>
                  <a:srgbClr val="FFFFFF"/>
                </a:solidFill>
                <a:latin typeface="Calibri" pitchFamily="34" charset="0"/>
                <a:ea typeface="Calibri" pitchFamily="34" charset="-122"/>
                <a:cs typeface="Calibri" pitchFamily="34" charset="-120"/>
              </a:rPr>
              <a:t>WARM UP</a:t>
            </a:r>
            <a:endParaRPr lang="en-US" sz="1350" dirty="0"/>
          </a:p>
        </p:txBody>
      </p:sp>
      <p:sp>
        <p:nvSpPr>
          <p:cNvPr id="5" name="Text 3"/>
          <p:cNvSpPr/>
          <p:nvPr/>
        </p:nvSpPr>
        <p:spPr>
          <a:xfrm>
            <a:off x="9966960" y="658368"/>
            <a:ext cx="1554480" cy="310896"/>
          </a:xfrm>
          <a:prstGeom prst="roundRect">
            <a:avLst>
              <a:gd name="adj" fmla="val 50000"/>
            </a:avLst>
          </a:prstGeom>
          <a:solidFill>
            <a:srgbClr val="FFFFFF"/>
          </a:solidFill>
          <a:ln w="15875">
            <a:solidFill>
              <a:srgbClr val="57606A"/>
            </a:solidFill>
          </a:ln>
        </p:spPr>
        <p:txBody>
          <a:bodyPr wrap="square" lIns="0" tIns="0" rIns="0" bIns="0" rtlCol="0" anchor="ctr"/>
          <a:lstStyle/>
          <a:p>
            <a:pPr algn="ctr" indent="0" marL="0">
              <a:buNone/>
            </a:pPr>
            <a:r>
              <a:rPr lang="en-US" sz="1350" b="1" spc="100" kern="0" dirty="0">
                <a:solidFill>
                  <a:srgbClr val="57606A"/>
                </a:solidFill>
                <a:latin typeface="Calibri" pitchFamily="34" charset="0"/>
                <a:ea typeface="Calibri" pitchFamily="34" charset="-122"/>
                <a:cs typeface="Calibri" pitchFamily="34" charset="-120"/>
              </a:rPr>
              <a:t>OFF DEVICES</a:t>
            </a:r>
            <a:endParaRPr lang="en-US" sz="1350" dirty="0"/>
          </a:p>
        </p:txBody>
      </p:sp>
      <p:sp>
        <p:nvSpPr>
          <p:cNvPr id="6" name="Text 4"/>
          <p:cNvSpPr/>
          <p:nvPr/>
        </p:nvSpPr>
        <p:spPr>
          <a:xfrm>
            <a:off x="548640" y="365760"/>
            <a:ext cx="7315200" cy="292608"/>
          </a:xfrm>
          <a:prstGeom prst="rect">
            <a:avLst/>
          </a:prstGeom>
          <a:noFill/>
          <a:ln/>
        </p:spPr>
        <p:txBody>
          <a:bodyPr wrap="square" lIns="0" tIns="0" rIns="0" bIns="0" rtlCol="0" anchor="ctr"/>
          <a:lstStyle/>
          <a:p>
            <a:pPr algn="l" indent="0" marL="0">
              <a:buNone/>
            </a:pPr>
            <a:r>
              <a:rPr lang="en-US" sz="1300" b="1" spc="120" kern="0" dirty="0">
                <a:solidFill>
                  <a:srgbClr val="4361EE"/>
                </a:solidFill>
                <a:latin typeface="Calibri" pitchFamily="34" charset="0"/>
                <a:ea typeface="Calibri" pitchFamily="34" charset="-122"/>
                <a:cs typeface="Calibri" pitchFamily="34" charset="-120"/>
              </a:rPr>
              <a:t>WARM UP · 5 MINUTES</a:t>
            </a:r>
            <a:endParaRPr lang="en-US" sz="1300" dirty="0"/>
          </a:p>
        </p:txBody>
      </p:sp>
      <p:sp>
        <p:nvSpPr>
          <p:cNvPr id="7" name="Text 5"/>
          <p:cNvSpPr/>
          <p:nvPr/>
        </p:nvSpPr>
        <p:spPr>
          <a:xfrm>
            <a:off x="548640" y="1371600"/>
            <a:ext cx="10789920" cy="1920240"/>
          </a:xfrm>
          <a:prstGeom prst="rect">
            <a:avLst/>
          </a:prstGeom>
          <a:noFill/>
          <a:ln/>
        </p:spPr>
        <p:txBody>
          <a:bodyPr wrap="square" lIns="0" tIns="0" rIns="0" bIns="0" rtlCol="0" anchor="t"/>
          <a:lstStyle/>
          <a:p>
            <a:pPr algn="l" indent="0" marL="0">
              <a:buNone/>
            </a:pPr>
            <a:r>
              <a:rPr lang="en-US" sz="3200" b="1" dirty="0">
                <a:solidFill>
                  <a:srgbClr val="1F2328"/>
                </a:solidFill>
                <a:latin typeface="Cambria" pitchFamily="34" charset="0"/>
                <a:ea typeface="Cambria" pitchFamily="34" charset="-122"/>
                <a:cs typeface="Cambria" pitchFamily="34" charset="-120"/>
              </a:rPr>
              <a:t>Homework check: share the security-incident article you found with your table group.</a:t>
            </a:r>
            <a:endParaRPr lang="en-US" sz="3200" dirty="0"/>
          </a:p>
        </p:txBody>
      </p:sp>
      <p:sp>
        <p:nvSpPr>
          <p:cNvPr id="8" name="Text 6"/>
          <p:cNvSpPr/>
          <p:nvPr/>
        </p:nvSpPr>
        <p:spPr>
          <a:xfrm>
            <a:off x="548640" y="3429000"/>
            <a:ext cx="10789920" cy="1691640"/>
          </a:xfrm>
          <a:prstGeom prst="roundRect">
            <a:avLst>
              <a:gd name="adj" fmla="val 4324"/>
            </a:avLst>
          </a:prstGeom>
          <a:solidFill>
            <a:srgbClr val="FEF3E0"/>
          </a:solidFill>
          <a:ln/>
        </p:spPr>
        <p:txBody>
          <a:bodyPr wrap="square" lIns="228600" tIns="228600" rIns="228600" bIns="228600" rtlCol="0" anchor="t"/>
          <a:lstStyle/>
          <a:p>
            <a:pPr algn="l" indent="0" marL="0">
              <a:lnSpc>
                <a:spcPct val="115000"/>
              </a:lnSpc>
              <a:buNone/>
            </a:pPr>
            <a:r>
              <a:rPr lang="en-US" sz="2100" dirty="0">
                <a:solidFill>
                  <a:srgbClr val="1F2328"/>
                </a:solidFill>
                <a:latin typeface="Calibri" pitchFamily="34" charset="0"/>
                <a:ea typeface="Calibri" pitchFamily="34" charset="-122"/>
                <a:cs typeface="Calibri" pitchFamily="34" charset="-120"/>
              </a:rPr>
              <a:t>As a group, sort your articles into a rough pile: ‘this was about a technical flaw in the software’ vs ‘this was about a person doing something risky’.</a:t>
            </a:r>
            <a:endParaRPr lang="en-US" sz="2100" dirty="0"/>
          </a:p>
          <a:p>
            <a:pPr algn="l" indent="0" marL="0">
              <a:lnSpc>
                <a:spcPct val="115000"/>
              </a:lnSpc>
              <a:buNone/>
            </a:pPr>
            <a:endParaRPr lang="en-US" sz="2100" dirty="0"/>
          </a:p>
          <a:p>
            <a:pPr algn="l" indent="0" marL="0">
              <a:lnSpc>
                <a:spcPct val="115000"/>
              </a:lnSpc>
              <a:buNone/>
            </a:pPr>
            <a:r>
              <a:rPr lang="en-US" sz="2100" dirty="0">
                <a:solidFill>
                  <a:srgbClr val="1F2328"/>
                </a:solidFill>
                <a:latin typeface="Calibri" pitchFamily="34" charset="0"/>
                <a:ea typeface="Calibri" pitchFamily="34" charset="-122"/>
                <a:cs typeface="Calibri" pitchFamily="34" charset="-120"/>
              </a:rPr>
              <a:t>Don't worry about getting it perfect — today's lesson gives you the technical vocabulary for pile one.</a:t>
            </a:r>
            <a:endParaRPr lang="en-US" sz="2100" dirty="0"/>
          </a:p>
        </p:txBody>
      </p:sp>
      <p:sp>
        <p:nvSpPr>
          <p:cNvPr id="9" name="Text 7"/>
          <p:cNvSpPr/>
          <p:nvPr/>
        </p:nvSpPr>
        <p:spPr>
          <a:xfrm>
            <a:off x="548640" y="5349240"/>
            <a:ext cx="10058400" cy="457200"/>
          </a:xfrm>
          <a:prstGeom prst="rect">
            <a:avLst/>
          </a:prstGeom>
          <a:noFill/>
          <a:ln/>
        </p:spPr>
        <p:txBody>
          <a:bodyPr wrap="square" lIns="0" tIns="0" rIns="0" bIns="0" rtlCol="0" anchor="ctr"/>
          <a:lstStyle/>
          <a:p>
            <a:pPr algn="l" indent="0" marL="0">
              <a:buNone/>
            </a:pPr>
            <a:r>
              <a:rPr lang="en-US" sz="1500" i="1" dirty="0">
                <a:solidFill>
                  <a:srgbClr val="57606A"/>
                </a:solidFill>
                <a:latin typeface="Calibri" pitchFamily="34" charset="0"/>
                <a:ea typeface="Calibri" pitchFamily="34" charset="-122"/>
                <a:cs typeface="Calibri" pitchFamily="34" charset="-120"/>
              </a:rPr>
              <a:t>No devices — use the printed or written notes from your homework.</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algn="l"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3</a:t>
            </a:r>
            <a:endParaRPr lang="en-US" sz="1100" dirty="0"/>
          </a:p>
        </p:txBody>
      </p:sp>
      <p:sp>
        <p:nvSpPr>
          <p:cNvPr id="4" name="Text 2"/>
          <p:cNvSpPr/>
          <p:nvPr/>
        </p:nvSpPr>
        <p:spPr>
          <a:xfrm>
            <a:off x="9546336" y="274320"/>
            <a:ext cx="1975104" cy="310896"/>
          </a:xfrm>
          <a:prstGeom prst="roundRect">
            <a:avLst>
              <a:gd name="adj" fmla="val 50000"/>
            </a:avLst>
          </a:prstGeom>
          <a:solidFill>
            <a:srgbClr val="4361EE"/>
          </a:solidFill>
          <a:ln/>
        </p:spPr>
        <p:txBody>
          <a:bodyPr wrap="square" lIns="0" tIns="0" rIns="0" bIns="0" rtlCol="0" anchor="ctr"/>
          <a:lstStyle/>
          <a:p>
            <a:pPr algn="ctr" indent="0" marL="0">
              <a:buNone/>
            </a:pPr>
            <a:r>
              <a:rPr lang="en-US" sz="1350" b="1" spc="100" kern="0" dirty="0">
                <a:solidFill>
                  <a:srgbClr val="FFFFFF"/>
                </a:solidFill>
                <a:latin typeface="Calibri" pitchFamily="34" charset="0"/>
                <a:ea typeface="Calibri" pitchFamily="34" charset="-122"/>
                <a:cs typeface="Calibri" pitchFamily="34" charset="-120"/>
              </a:rPr>
              <a:t>LEARNING OBJECTIVE</a:t>
            </a:r>
            <a:endParaRPr lang="en-US" sz="1350" dirty="0"/>
          </a:p>
        </p:txBody>
      </p:sp>
      <p:sp>
        <p:nvSpPr>
          <p:cNvPr id="5" name="Text 3"/>
          <p:cNvSpPr/>
          <p:nvPr/>
        </p:nvSpPr>
        <p:spPr>
          <a:xfrm>
            <a:off x="9966960" y="658368"/>
            <a:ext cx="1554480" cy="310896"/>
          </a:xfrm>
          <a:prstGeom prst="roundRect">
            <a:avLst>
              <a:gd name="adj" fmla="val 50000"/>
            </a:avLst>
          </a:prstGeom>
          <a:solidFill>
            <a:srgbClr val="FFFFFF"/>
          </a:solidFill>
          <a:ln w="15875">
            <a:solidFill>
              <a:srgbClr val="57606A"/>
            </a:solidFill>
          </a:ln>
        </p:spPr>
        <p:txBody>
          <a:bodyPr wrap="square" lIns="0" tIns="0" rIns="0" bIns="0" rtlCol="0" anchor="ctr"/>
          <a:lstStyle/>
          <a:p>
            <a:pPr algn="ctr" indent="0" marL="0">
              <a:buNone/>
            </a:pPr>
            <a:r>
              <a:rPr lang="en-US" sz="1350" b="1" spc="100" kern="0" dirty="0">
                <a:solidFill>
                  <a:srgbClr val="57606A"/>
                </a:solidFill>
                <a:latin typeface="Calibri" pitchFamily="34" charset="0"/>
                <a:ea typeface="Calibri" pitchFamily="34" charset="-122"/>
                <a:cs typeface="Calibri" pitchFamily="34" charset="-120"/>
              </a:rPr>
              <a:t>OFF DEVICES</a:t>
            </a:r>
            <a:endParaRPr lang="en-US" sz="1350" dirty="0"/>
          </a:p>
        </p:txBody>
      </p:sp>
      <p:sp>
        <p:nvSpPr>
          <p:cNvPr id="6" name="Text 4"/>
          <p:cNvSpPr/>
          <p:nvPr/>
        </p:nvSpPr>
        <p:spPr>
          <a:xfrm>
            <a:off x="548640" y="365760"/>
            <a:ext cx="7315200" cy="292608"/>
          </a:xfrm>
          <a:prstGeom prst="rect">
            <a:avLst/>
          </a:prstGeom>
          <a:noFill/>
          <a:ln/>
        </p:spPr>
        <p:txBody>
          <a:bodyPr wrap="square" lIns="0" tIns="0" rIns="0" bIns="0" rtlCol="0" anchor="ctr"/>
          <a:lstStyle/>
          <a:p>
            <a:pPr algn="l" indent="0" marL="0">
              <a:buNone/>
            </a:pPr>
            <a:r>
              <a:rPr lang="en-US" sz="1300" b="1" spc="120" kern="0" dirty="0">
                <a:solidFill>
                  <a:srgbClr val="4361EE"/>
                </a:solidFill>
                <a:latin typeface="Calibri" pitchFamily="34" charset="0"/>
                <a:ea typeface="Calibri" pitchFamily="34" charset="-122"/>
                <a:cs typeface="Calibri" pitchFamily="34" charset="-120"/>
              </a:rPr>
              <a:t>LEARNING OBJECTIVE</a:t>
            </a:r>
            <a:endParaRPr lang="en-US" sz="1300" dirty="0"/>
          </a:p>
        </p:txBody>
      </p:sp>
      <p:sp>
        <p:nvSpPr>
          <p:cNvPr id="7" name="Text 5"/>
          <p:cNvSpPr/>
          <p:nvPr/>
        </p:nvSpPr>
        <p:spPr>
          <a:xfrm>
            <a:off x="548640" y="868680"/>
            <a:ext cx="10789920" cy="1143000"/>
          </a:xfrm>
          <a:prstGeom prst="rect">
            <a:avLst/>
          </a:prstGeom>
          <a:noFill/>
          <a:ln/>
        </p:spPr>
        <p:txBody>
          <a:bodyPr wrap="square" lIns="0" tIns="0" rIns="0" bIns="0" rtlCol="0" anchor="t"/>
          <a:lstStyle/>
          <a:p>
            <a:pPr algn="l" indent="0" marL="0">
              <a:buNone/>
            </a:pPr>
            <a:r>
              <a:rPr lang="en-US" sz="2400" b="1" dirty="0">
                <a:solidFill>
                  <a:srgbClr val="1F2328"/>
                </a:solidFill>
                <a:latin typeface="Cambria" pitchFamily="34" charset="0"/>
                <a:ea typeface="Cambria" pitchFamily="34" charset="-122"/>
                <a:cs typeface="Cambria" pitchFamily="34" charset="-120"/>
              </a:rPr>
              <a:t>To identify and describe how APIs, malware, unpatched software, poor identity management, and man-in-the-middle attacks create vulnerabilities in insecure development environments.</a:t>
            </a:r>
            <a:endParaRPr lang="en-US" sz="2400" dirty="0"/>
          </a:p>
        </p:txBody>
      </p:sp>
      <p:sp>
        <p:nvSpPr>
          <p:cNvPr id="8" name="Shape 6"/>
          <p:cNvSpPr/>
          <p:nvPr/>
        </p:nvSpPr>
        <p:spPr>
          <a:xfrm>
            <a:off x="548640" y="2240280"/>
            <a:ext cx="3456432" cy="4069080"/>
          </a:xfrm>
          <a:prstGeom prst="roundRect">
            <a:avLst>
              <a:gd name="adj" fmla="val 2646"/>
            </a:avLst>
          </a:prstGeom>
          <a:solidFill>
            <a:srgbClr val="E7F9F1"/>
          </a:solidFill>
          <a:ln w="19050">
            <a:solidFill>
              <a:srgbClr val="10B981"/>
            </a:solidFill>
            <a:prstDash val="solid"/>
          </a:ln>
        </p:spPr>
      </p:sp>
      <p:sp>
        <p:nvSpPr>
          <p:cNvPr id="9" name="Text 7"/>
          <p:cNvSpPr/>
          <p:nvPr/>
        </p:nvSpPr>
        <p:spPr>
          <a:xfrm>
            <a:off x="777240" y="2441448"/>
            <a:ext cx="2999232" cy="384048"/>
          </a:xfrm>
          <a:prstGeom prst="rect">
            <a:avLst/>
          </a:prstGeom>
          <a:noFill/>
          <a:ln/>
        </p:spPr>
        <p:txBody>
          <a:bodyPr wrap="square" lIns="0" tIns="0" rIns="0" bIns="0" rtlCol="0" anchor="ctr"/>
          <a:lstStyle/>
          <a:p>
            <a:pPr algn="l" indent="0" marL="0">
              <a:buNone/>
            </a:pPr>
            <a:r>
              <a:rPr lang="en-US" sz="1550" b="1" spc="50" kern="0" dirty="0">
                <a:solidFill>
                  <a:srgbClr val="10B981"/>
                </a:solidFill>
                <a:latin typeface="Calibri" pitchFamily="34" charset="0"/>
                <a:ea typeface="Calibri" pitchFamily="34" charset="-122"/>
                <a:cs typeface="Calibri" pitchFamily="34" charset="-120"/>
              </a:rPr>
              <a:t>🟢  FOUNDATION</a:t>
            </a:r>
            <a:endParaRPr lang="en-US" sz="1550" dirty="0"/>
          </a:p>
        </p:txBody>
      </p:sp>
      <p:sp>
        <p:nvSpPr>
          <p:cNvPr id="10" name="Text 8"/>
          <p:cNvSpPr/>
          <p:nvPr/>
        </p:nvSpPr>
        <p:spPr>
          <a:xfrm>
            <a:off x="777240" y="2953512"/>
            <a:ext cx="2999232" cy="3136392"/>
          </a:xfrm>
          <a:prstGeom prst="rect">
            <a:avLst/>
          </a:prstGeom>
          <a:noFill/>
          <a:ln/>
        </p:spPr>
        <p:txBody>
          <a:bodyPr wrap="square" lIns="0" tIns="0" rIns="0" bIns="0" rtlCol="0" anchor="t"/>
          <a:lstStyle/>
          <a:p>
            <a:pPr algn="l" indent="0" marL="0">
              <a:lnSpc>
                <a:spcPct val="118000"/>
              </a:lnSpc>
              <a:buNone/>
            </a:pPr>
            <a:r>
              <a:rPr lang="en-US" sz="1950" dirty="0">
                <a:solidFill>
                  <a:srgbClr val="1F2328"/>
                </a:solidFill>
                <a:latin typeface="Calibri" pitchFamily="34" charset="0"/>
                <a:ea typeface="Calibri" pitchFamily="34" charset="-122"/>
                <a:cs typeface="Calibri" pitchFamily="34" charset="-120"/>
              </a:rPr>
              <a:t>I can define each of the five vulnerability types and match a real example to each one.</a:t>
            </a:r>
            <a:endParaRPr lang="en-US" sz="1950" dirty="0"/>
          </a:p>
        </p:txBody>
      </p:sp>
      <p:sp>
        <p:nvSpPr>
          <p:cNvPr id="11" name="Shape 9"/>
          <p:cNvSpPr/>
          <p:nvPr/>
        </p:nvSpPr>
        <p:spPr>
          <a:xfrm>
            <a:off x="4206240" y="2240280"/>
            <a:ext cx="3456432" cy="4069080"/>
          </a:xfrm>
          <a:prstGeom prst="roundRect">
            <a:avLst>
              <a:gd name="adj" fmla="val 2646"/>
            </a:avLst>
          </a:prstGeom>
          <a:solidFill>
            <a:srgbClr val="FEF3E0"/>
          </a:solidFill>
          <a:ln w="19050">
            <a:solidFill>
              <a:srgbClr val="F59E0B"/>
            </a:solidFill>
            <a:prstDash val="solid"/>
          </a:ln>
        </p:spPr>
      </p:sp>
      <p:sp>
        <p:nvSpPr>
          <p:cNvPr id="12" name="Text 10"/>
          <p:cNvSpPr/>
          <p:nvPr/>
        </p:nvSpPr>
        <p:spPr>
          <a:xfrm>
            <a:off x="4434840" y="2441448"/>
            <a:ext cx="2999232" cy="384048"/>
          </a:xfrm>
          <a:prstGeom prst="rect">
            <a:avLst/>
          </a:prstGeom>
          <a:noFill/>
          <a:ln/>
        </p:spPr>
        <p:txBody>
          <a:bodyPr wrap="square" lIns="0" tIns="0" rIns="0" bIns="0" rtlCol="0" anchor="ctr"/>
          <a:lstStyle/>
          <a:p>
            <a:pPr algn="l" indent="0" marL="0">
              <a:buNone/>
            </a:pPr>
            <a:r>
              <a:rPr lang="en-US" sz="1550" b="1" spc="50" kern="0" dirty="0">
                <a:solidFill>
                  <a:srgbClr val="F59E0B"/>
                </a:solidFill>
                <a:latin typeface="Calibri" pitchFamily="34" charset="0"/>
                <a:ea typeface="Calibri" pitchFamily="34" charset="-122"/>
                <a:cs typeface="Calibri" pitchFamily="34" charset="-120"/>
              </a:rPr>
              <a:t>🟡  DEVELOPING</a:t>
            </a:r>
            <a:endParaRPr lang="en-US" sz="1550" dirty="0"/>
          </a:p>
        </p:txBody>
      </p:sp>
      <p:sp>
        <p:nvSpPr>
          <p:cNvPr id="13" name="Text 11"/>
          <p:cNvSpPr/>
          <p:nvPr/>
        </p:nvSpPr>
        <p:spPr>
          <a:xfrm>
            <a:off x="4434840" y="2953512"/>
            <a:ext cx="2999232" cy="3136392"/>
          </a:xfrm>
          <a:prstGeom prst="rect">
            <a:avLst/>
          </a:prstGeom>
          <a:noFill/>
          <a:ln/>
        </p:spPr>
        <p:txBody>
          <a:bodyPr wrap="square" lIns="0" tIns="0" rIns="0" bIns="0" rtlCol="0" anchor="t"/>
          <a:lstStyle/>
          <a:p>
            <a:pPr algn="l" indent="0" marL="0">
              <a:lnSpc>
                <a:spcPct val="118000"/>
              </a:lnSpc>
              <a:buNone/>
            </a:pPr>
            <a:r>
              <a:rPr lang="en-US" sz="1950" dirty="0">
                <a:solidFill>
                  <a:srgbClr val="1F2328"/>
                </a:solidFill>
                <a:latin typeface="Calibri" pitchFamily="34" charset="0"/>
                <a:ea typeface="Calibri" pitchFamily="34" charset="-122"/>
                <a:cs typeface="Calibri" pitchFamily="34" charset="-120"/>
              </a:rPr>
              <a:t>I can explain, for a given vulnerability type, what specifically makes it exploitable and one consequence for an organisation.</a:t>
            </a:r>
            <a:endParaRPr lang="en-US" sz="1950" dirty="0"/>
          </a:p>
        </p:txBody>
      </p:sp>
      <p:sp>
        <p:nvSpPr>
          <p:cNvPr id="14" name="Shape 12"/>
          <p:cNvSpPr/>
          <p:nvPr/>
        </p:nvSpPr>
        <p:spPr>
          <a:xfrm>
            <a:off x="7863840" y="2240280"/>
            <a:ext cx="3456432" cy="4069080"/>
          </a:xfrm>
          <a:prstGeom prst="roundRect">
            <a:avLst>
              <a:gd name="adj" fmla="val 2646"/>
            </a:avLst>
          </a:prstGeom>
          <a:solidFill>
            <a:srgbClr val="F2ECFC"/>
          </a:solidFill>
          <a:ln w="19050">
            <a:solidFill>
              <a:srgbClr val="8B5CF6"/>
            </a:solidFill>
            <a:prstDash val="solid"/>
          </a:ln>
        </p:spPr>
      </p:sp>
      <p:sp>
        <p:nvSpPr>
          <p:cNvPr id="15" name="Text 13"/>
          <p:cNvSpPr/>
          <p:nvPr/>
        </p:nvSpPr>
        <p:spPr>
          <a:xfrm>
            <a:off x="8092440" y="2441448"/>
            <a:ext cx="2999232" cy="384048"/>
          </a:xfrm>
          <a:prstGeom prst="rect">
            <a:avLst/>
          </a:prstGeom>
          <a:noFill/>
          <a:ln/>
        </p:spPr>
        <p:txBody>
          <a:bodyPr wrap="square" lIns="0" tIns="0" rIns="0" bIns="0" rtlCol="0" anchor="ctr"/>
          <a:lstStyle/>
          <a:p>
            <a:pPr algn="l" indent="0" marL="0">
              <a:buNone/>
            </a:pPr>
            <a:r>
              <a:rPr lang="en-US" sz="1550" b="1" spc="50" kern="0" dirty="0">
                <a:solidFill>
                  <a:srgbClr val="8B5CF6"/>
                </a:solidFill>
                <a:latin typeface="Calibri" pitchFamily="34" charset="0"/>
                <a:ea typeface="Calibri" pitchFamily="34" charset="-122"/>
                <a:cs typeface="Calibri" pitchFamily="34" charset="-120"/>
              </a:rPr>
              <a:t>🟣  EXTENDING</a:t>
            </a:r>
            <a:endParaRPr lang="en-US" sz="1550" dirty="0"/>
          </a:p>
        </p:txBody>
      </p:sp>
      <p:sp>
        <p:nvSpPr>
          <p:cNvPr id="16" name="Text 14"/>
          <p:cNvSpPr/>
          <p:nvPr/>
        </p:nvSpPr>
        <p:spPr>
          <a:xfrm>
            <a:off x="8092440" y="2953512"/>
            <a:ext cx="2999232" cy="3136392"/>
          </a:xfrm>
          <a:prstGeom prst="rect">
            <a:avLst/>
          </a:prstGeom>
          <a:noFill/>
          <a:ln/>
        </p:spPr>
        <p:txBody>
          <a:bodyPr wrap="square" lIns="0" tIns="0" rIns="0" bIns="0" rtlCol="0" anchor="t"/>
          <a:lstStyle/>
          <a:p>
            <a:pPr algn="l" indent="0" marL="0">
              <a:lnSpc>
                <a:spcPct val="118000"/>
              </a:lnSpc>
              <a:buNone/>
            </a:pPr>
            <a:r>
              <a:rPr lang="en-US" sz="1950" dirty="0">
                <a:solidFill>
                  <a:srgbClr val="1F2328"/>
                </a:solidFill>
                <a:latin typeface="Calibri" pitchFamily="34" charset="0"/>
                <a:ea typeface="Calibri" pitchFamily="34" charset="-122"/>
                <a:cs typeface="Calibri" pitchFamily="34" charset="-120"/>
              </a:rPr>
              <a:t>I can analyse a scenario and identify which vulnerability type(s) are present, with justification, and propose a matching mitigation.</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algn="l"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4</a:t>
            </a:r>
            <a:endParaRPr lang="en-US" sz="1100" dirty="0"/>
          </a:p>
        </p:txBody>
      </p:sp>
      <p:sp>
        <p:nvSpPr>
          <p:cNvPr id="4" name="Text 2"/>
          <p:cNvSpPr/>
          <p:nvPr/>
        </p:nvSpPr>
        <p:spPr>
          <a:xfrm>
            <a:off x="9363456" y="274320"/>
            <a:ext cx="2157984" cy="310896"/>
          </a:xfrm>
          <a:prstGeom prst="roundRect">
            <a:avLst>
              <a:gd name="adj" fmla="val 50000"/>
            </a:avLst>
          </a:prstGeom>
          <a:solidFill>
            <a:srgbClr val="4361EE"/>
          </a:solidFill>
          <a:ln/>
        </p:spPr>
        <p:txBody>
          <a:bodyPr wrap="square" lIns="0" tIns="0" rIns="0" bIns="0" rtlCol="0" anchor="ctr"/>
          <a:lstStyle/>
          <a:p>
            <a:pPr algn="ctr" indent="0" marL="0">
              <a:buNone/>
            </a:pPr>
            <a:r>
              <a:rPr lang="en-US" sz="1350" b="1" spc="100" kern="0" dirty="0">
                <a:solidFill>
                  <a:srgbClr val="FFFFFF"/>
                </a:solidFill>
                <a:latin typeface="Calibri" pitchFamily="34" charset="0"/>
                <a:ea typeface="Calibri" pitchFamily="34" charset="-122"/>
                <a:cs typeface="Calibri" pitchFamily="34" charset="-120"/>
              </a:rPr>
              <a:t>EXPLICIT EXPLANATION</a:t>
            </a:r>
            <a:endParaRPr lang="en-US" sz="1350" dirty="0"/>
          </a:p>
        </p:txBody>
      </p:sp>
      <p:sp>
        <p:nvSpPr>
          <p:cNvPr id="5" name="Text 3"/>
          <p:cNvSpPr/>
          <p:nvPr/>
        </p:nvSpPr>
        <p:spPr>
          <a:xfrm>
            <a:off x="9966960" y="658368"/>
            <a:ext cx="1554480" cy="310896"/>
          </a:xfrm>
          <a:prstGeom prst="roundRect">
            <a:avLst>
              <a:gd name="adj" fmla="val 50000"/>
            </a:avLst>
          </a:prstGeom>
          <a:solidFill>
            <a:srgbClr val="FFFFFF"/>
          </a:solidFill>
          <a:ln w="15875">
            <a:solidFill>
              <a:srgbClr val="57606A"/>
            </a:solidFill>
          </a:ln>
        </p:spPr>
        <p:txBody>
          <a:bodyPr wrap="square" lIns="0" tIns="0" rIns="0" bIns="0" rtlCol="0" anchor="ctr"/>
          <a:lstStyle/>
          <a:p>
            <a:pPr algn="ctr" indent="0" marL="0">
              <a:buNone/>
            </a:pPr>
            <a:r>
              <a:rPr lang="en-US" sz="1350" b="1" spc="100" kern="0" dirty="0">
                <a:solidFill>
                  <a:srgbClr val="57606A"/>
                </a:solidFill>
                <a:latin typeface="Calibri" pitchFamily="34" charset="0"/>
                <a:ea typeface="Calibri" pitchFamily="34" charset="-122"/>
                <a:cs typeface="Calibri" pitchFamily="34" charset="-120"/>
              </a:rPr>
              <a:t>OFF DEVICES</a:t>
            </a:r>
            <a:endParaRPr lang="en-US" sz="1350" dirty="0"/>
          </a:p>
        </p:txBody>
      </p:sp>
      <p:sp>
        <p:nvSpPr>
          <p:cNvPr id="6" name="Text 4"/>
          <p:cNvSpPr/>
          <p:nvPr/>
        </p:nvSpPr>
        <p:spPr>
          <a:xfrm>
            <a:off x="548640" y="713232"/>
            <a:ext cx="457200" cy="457200"/>
          </a:xfrm>
          <a:prstGeom prst="ellipse">
            <a:avLst/>
          </a:prstGeom>
          <a:solidFill>
            <a:srgbClr val="4361EE"/>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143000" y="713232"/>
            <a:ext cx="7315200" cy="219456"/>
          </a:xfrm>
          <a:prstGeom prst="rect">
            <a:avLst/>
          </a:prstGeom>
          <a:noFill/>
          <a:ln/>
        </p:spPr>
        <p:txBody>
          <a:bodyPr wrap="square" lIns="0" tIns="0" rIns="0" bIns="0" rtlCol="0" anchor="ctr"/>
          <a:lstStyle/>
          <a:p>
            <a:pPr algn="l" indent="0" marL="0">
              <a:buNone/>
            </a:pPr>
            <a:r>
              <a:rPr lang="en-US" sz="1150" b="1" spc="100" kern="0" dirty="0">
                <a:solidFill>
                  <a:srgbClr val="57606A"/>
                </a:solidFill>
                <a:latin typeface="Calibri" pitchFamily="34" charset="0"/>
                <a:ea typeface="Calibri" pitchFamily="34" charset="-122"/>
                <a:cs typeface="Calibri" pitchFamily="34" charset="-120"/>
              </a:rPr>
              <a:t>EXPLICIT EXPLANATION</a:t>
            </a:r>
            <a:endParaRPr lang="en-US" sz="1150" dirty="0"/>
          </a:p>
        </p:txBody>
      </p:sp>
      <p:sp>
        <p:nvSpPr>
          <p:cNvPr id="8" name="Text 6"/>
          <p:cNvSpPr/>
          <p:nvPr/>
        </p:nvSpPr>
        <p:spPr>
          <a:xfrm>
            <a:off x="1143000" y="914400"/>
            <a:ext cx="9601200" cy="502920"/>
          </a:xfrm>
          <a:prstGeom prst="rect">
            <a:avLst/>
          </a:prstGeom>
          <a:noFill/>
          <a:ln/>
        </p:spPr>
        <p:txBody>
          <a:bodyPr wrap="square" lIns="0" tIns="0" rIns="0" bIns="0" rtlCol="0" anchor="ctr"/>
          <a:lstStyle/>
          <a:p>
            <a:pPr algn="l" indent="0" marL="0">
              <a:buNone/>
            </a:pPr>
            <a:r>
              <a:rPr lang="en-US" sz="2700" b="1" dirty="0">
                <a:solidFill>
                  <a:srgbClr val="1F2328"/>
                </a:solidFill>
                <a:latin typeface="Cambria" pitchFamily="34" charset="0"/>
                <a:ea typeface="Cambria" pitchFamily="34" charset="-122"/>
                <a:cs typeface="Cambria" pitchFamily="34" charset="-120"/>
              </a:rPr>
              <a:t>APIs: the attack surface</a:t>
            </a:r>
            <a:endParaRPr lang="en-US" sz="2700" dirty="0"/>
          </a:p>
        </p:txBody>
      </p:sp>
      <p:sp>
        <p:nvSpPr>
          <p:cNvPr id="9" name="Text 7"/>
          <p:cNvSpPr/>
          <p:nvPr/>
        </p:nvSpPr>
        <p:spPr>
          <a:xfrm>
            <a:off x="8778240" y="731520"/>
            <a:ext cx="2880360" cy="420624"/>
          </a:xfrm>
          <a:prstGeom prst="roundRect">
            <a:avLst>
              <a:gd name="adj" fmla="val 50000"/>
            </a:avLst>
          </a:prstGeom>
          <a:solidFill>
            <a:srgbClr val="FEF3E0"/>
          </a:solidFill>
          <a:ln w="15875">
            <a:solidFill>
              <a:srgbClr val="F59E0B"/>
            </a:solidFill>
          </a:ln>
        </p:spPr>
        <p:txBody>
          <a:bodyPr wrap="square" lIns="0" tIns="0" rIns="0" bIns="0" rtlCol="0" anchor="ctr"/>
          <a:lstStyle/>
          <a:p>
            <a:pPr algn="ctr" indent="0" marL="0">
              <a:buNone/>
            </a:pPr>
            <a:r>
              <a:rPr lang="en-US" sz="1350" b="1" spc="100" kern="0" dirty="0">
                <a:solidFill>
                  <a:srgbClr val="946200"/>
                </a:solidFill>
                <a:latin typeface="Calibri" pitchFamily="34" charset="0"/>
                <a:ea typeface="Calibri" pitchFamily="34" charset="-122"/>
                <a:cs typeface="Calibri" pitchFamily="34" charset="-120"/>
              </a:rPr>
              <a:t>📋 COPY TO WORKBOOK</a:t>
            </a:r>
            <a:endParaRPr lang="en-US" sz="1350" dirty="0"/>
          </a:p>
        </p:txBody>
      </p:sp>
      <p:sp>
        <p:nvSpPr>
          <p:cNvPr id="10" name="Text 8"/>
          <p:cNvSpPr/>
          <p:nvPr/>
        </p:nvSpPr>
        <p:spPr>
          <a:xfrm>
            <a:off x="1143000" y="1691640"/>
            <a:ext cx="9784080" cy="4160520"/>
          </a:xfrm>
          <a:prstGeom prst="rect">
            <a:avLst/>
          </a:prstGeom>
          <a:noFill/>
          <a:ln/>
        </p:spPr>
        <p:txBody>
          <a:bodyPr wrap="square" lIns="0" tIns="0" rIns="0" bIns="0" rtlCol="0" anchor="t"/>
          <a:lstStyle/>
          <a:p>
            <a:pPr algn="l" marL="254000" indent="-254000">
              <a:lnSpc>
                <a:spcPct val="120000"/>
              </a:lnSpc>
              <a:spcAft>
                <a:spcPts val="1600"/>
              </a:spcAft>
              <a:buSzPct val="100000"/>
              <a:buChar char="•"/>
            </a:pPr>
            <a:r>
              <a:rPr lang="en-US" sz="2400" dirty="0">
                <a:solidFill>
                  <a:srgbClr val="1F2328"/>
                </a:solidFill>
                <a:latin typeface="Calibri" pitchFamily="34" charset="0"/>
                <a:ea typeface="Calibri" pitchFamily="34" charset="-122"/>
                <a:cs typeface="Calibri" pitchFamily="34" charset="-120"/>
              </a:rPr>
              <a:t>APIs expose endpoints so systems can talk to each other — but every endpoint is a potential entry point for an attacker.</a:t>
            </a:r>
            <a:endParaRPr lang="en-US" sz="2400" dirty="0"/>
          </a:p>
          <a:p>
            <a:pPr algn="l" marL="254000" indent="-254000">
              <a:lnSpc>
                <a:spcPct val="120000"/>
              </a:lnSpc>
              <a:spcAft>
                <a:spcPts val="1600"/>
              </a:spcAft>
              <a:buSzPct val="100000"/>
              <a:buChar char="•"/>
            </a:pPr>
            <a:r>
              <a:rPr lang="en-US" sz="2400" dirty="0">
                <a:solidFill>
                  <a:srgbClr val="1F2328"/>
                </a:solidFill>
                <a:latin typeface="Calibri" pitchFamily="34" charset="0"/>
                <a:ea typeface="Calibri" pitchFamily="34" charset="-122"/>
                <a:cs typeface="Calibri" pitchFamily="34" charset="-120"/>
              </a:rPr>
              <a:t>Common API vulnerabilities: insufficient authentication/authorisation, lack of input validation, improper error handling.</a:t>
            </a:r>
            <a:endParaRPr lang="en-US" sz="2400" dirty="0"/>
          </a:p>
          <a:p>
            <a:pPr algn="l" marL="254000" indent="-254000">
              <a:lnSpc>
                <a:spcPct val="120000"/>
              </a:lnSpc>
              <a:spcAft>
                <a:spcPts val="1600"/>
              </a:spcAft>
              <a:buSzPct val="100000"/>
              <a:buChar char="•"/>
            </a:pPr>
            <a:r>
              <a:rPr lang="en-US" sz="2400" dirty="0">
                <a:solidFill>
                  <a:srgbClr val="1F2328"/>
                </a:solidFill>
                <a:latin typeface="Calibri" pitchFamily="34" charset="0"/>
                <a:ea typeface="Calibri" pitchFamily="34" charset="-122"/>
                <a:cs typeface="Calibri" pitchFamily="34" charset="-120"/>
              </a:rPr>
              <a:t>Case study: Optus (2022). An internet-facing API needed no authentication at all — anyone who found it could pull customer records for ~9.5 million Australians just by stepping through customer ID numbers.</a:t>
            </a:r>
            <a:endParaRPr lang="en-US" sz="2400" dirty="0"/>
          </a:p>
          <a:p>
            <a:pPr algn="l" marL="254000" indent="-254000">
              <a:lnSpc>
                <a:spcPct val="120000"/>
              </a:lnSpc>
              <a:spcAft>
                <a:spcPts val="1600"/>
              </a:spcAft>
              <a:buSzPct val="100000"/>
              <a:buChar char="•"/>
            </a:pPr>
            <a:r>
              <a:rPr lang="en-US" sz="2400" dirty="0">
                <a:solidFill>
                  <a:srgbClr val="1F2328"/>
                </a:solidFill>
                <a:latin typeface="Calibri" pitchFamily="34" charset="0"/>
                <a:ea typeface="Calibri" pitchFamily="34" charset="-122"/>
                <a:cs typeface="Calibri" pitchFamily="34" charset="-120"/>
              </a:rPr>
              <a:t>The coding flaw behind it existed for about four years, and had already been fixed on Optus's main site — just never on this subdomain.</a:t>
            </a:r>
            <a:endParaRPr lang="en-US" sz="2400" dirty="0"/>
          </a:p>
        </p:txBody>
      </p:sp>
      <p:sp>
        <p:nvSpPr>
          <p:cNvPr id="11" name="Text 9"/>
          <p:cNvSpPr/>
          <p:nvPr/>
        </p:nvSpPr>
        <p:spPr>
          <a:xfrm>
            <a:off x="1143000" y="6080760"/>
            <a:ext cx="9692640" cy="320040"/>
          </a:xfrm>
          <a:prstGeom prst="rect">
            <a:avLst/>
          </a:prstGeom>
          <a:noFill/>
          <a:ln/>
        </p:spPr>
        <p:txBody>
          <a:bodyPr wrap="square" lIns="0" tIns="0" rIns="0" bIns="0" rtlCol="0" anchor="ctr"/>
          <a:lstStyle/>
          <a:p>
            <a:pPr algn="l" indent="0" marL="0">
              <a:buNone/>
            </a:pPr>
            <a:r>
              <a:rPr lang="en-US" sz="1100" i="1" dirty="0">
                <a:solidFill>
                  <a:srgbClr val="57606A"/>
                </a:solidFill>
                <a:latin typeface="Calibri" pitchFamily="34" charset="0"/>
                <a:ea typeface="Calibri" pitchFamily="34" charset="-122"/>
                <a:cs typeface="Calibri" pitchFamily="34" charset="-120"/>
              </a:rPr>
              <a:t>Nelson Software Development VCE Units 3&amp;4, 2E, p.246 — case study details from public reporting on the 2022 Optus data breach</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algn="l"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5</a:t>
            </a:r>
            <a:endParaRPr lang="en-US" sz="1100" dirty="0"/>
          </a:p>
        </p:txBody>
      </p:sp>
      <p:sp>
        <p:nvSpPr>
          <p:cNvPr id="4" name="Text 2"/>
          <p:cNvSpPr/>
          <p:nvPr/>
        </p:nvSpPr>
        <p:spPr>
          <a:xfrm>
            <a:off x="9363456" y="274320"/>
            <a:ext cx="2157984" cy="310896"/>
          </a:xfrm>
          <a:prstGeom prst="roundRect">
            <a:avLst>
              <a:gd name="adj" fmla="val 50000"/>
            </a:avLst>
          </a:prstGeom>
          <a:solidFill>
            <a:srgbClr val="4361EE"/>
          </a:solidFill>
          <a:ln/>
        </p:spPr>
        <p:txBody>
          <a:bodyPr wrap="square" lIns="0" tIns="0" rIns="0" bIns="0" rtlCol="0" anchor="ctr"/>
          <a:lstStyle/>
          <a:p>
            <a:pPr algn="ctr" indent="0" marL="0">
              <a:buNone/>
            </a:pPr>
            <a:r>
              <a:rPr lang="en-US" sz="1350" b="1" spc="100" kern="0" dirty="0">
                <a:solidFill>
                  <a:srgbClr val="FFFFFF"/>
                </a:solidFill>
                <a:latin typeface="Calibri" pitchFamily="34" charset="0"/>
                <a:ea typeface="Calibri" pitchFamily="34" charset="-122"/>
                <a:cs typeface="Calibri" pitchFamily="34" charset="-120"/>
              </a:rPr>
              <a:t>EXPLICIT EXPLANATION</a:t>
            </a:r>
            <a:endParaRPr lang="en-US" sz="1350" dirty="0"/>
          </a:p>
        </p:txBody>
      </p:sp>
      <p:sp>
        <p:nvSpPr>
          <p:cNvPr id="5" name="Text 3"/>
          <p:cNvSpPr/>
          <p:nvPr/>
        </p:nvSpPr>
        <p:spPr>
          <a:xfrm>
            <a:off x="9966960" y="658368"/>
            <a:ext cx="1554480" cy="310896"/>
          </a:xfrm>
          <a:prstGeom prst="roundRect">
            <a:avLst>
              <a:gd name="adj" fmla="val 50000"/>
            </a:avLst>
          </a:prstGeom>
          <a:solidFill>
            <a:srgbClr val="FFFFFF"/>
          </a:solidFill>
          <a:ln w="15875">
            <a:solidFill>
              <a:srgbClr val="57606A"/>
            </a:solidFill>
          </a:ln>
        </p:spPr>
        <p:txBody>
          <a:bodyPr wrap="square" lIns="0" tIns="0" rIns="0" bIns="0" rtlCol="0" anchor="ctr"/>
          <a:lstStyle/>
          <a:p>
            <a:pPr algn="ctr" indent="0" marL="0">
              <a:buNone/>
            </a:pPr>
            <a:r>
              <a:rPr lang="en-US" sz="1350" b="1" spc="100" kern="0" dirty="0">
                <a:solidFill>
                  <a:srgbClr val="57606A"/>
                </a:solidFill>
                <a:latin typeface="Calibri" pitchFamily="34" charset="0"/>
                <a:ea typeface="Calibri" pitchFamily="34" charset="-122"/>
                <a:cs typeface="Calibri" pitchFamily="34" charset="-120"/>
              </a:rPr>
              <a:t>OFF DEVICES</a:t>
            </a:r>
            <a:endParaRPr lang="en-US" sz="1350" dirty="0"/>
          </a:p>
        </p:txBody>
      </p:sp>
      <p:sp>
        <p:nvSpPr>
          <p:cNvPr id="6" name="Text 4"/>
          <p:cNvSpPr/>
          <p:nvPr/>
        </p:nvSpPr>
        <p:spPr>
          <a:xfrm>
            <a:off x="548640" y="713232"/>
            <a:ext cx="457200" cy="457200"/>
          </a:xfrm>
          <a:prstGeom prst="ellipse">
            <a:avLst/>
          </a:prstGeom>
          <a:solidFill>
            <a:srgbClr val="4361EE"/>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7" name="Text 5"/>
          <p:cNvSpPr/>
          <p:nvPr/>
        </p:nvSpPr>
        <p:spPr>
          <a:xfrm>
            <a:off x="1143000" y="713232"/>
            <a:ext cx="7315200" cy="219456"/>
          </a:xfrm>
          <a:prstGeom prst="rect">
            <a:avLst/>
          </a:prstGeom>
          <a:noFill/>
          <a:ln/>
        </p:spPr>
        <p:txBody>
          <a:bodyPr wrap="square" lIns="0" tIns="0" rIns="0" bIns="0" rtlCol="0" anchor="ctr"/>
          <a:lstStyle/>
          <a:p>
            <a:pPr algn="l" indent="0" marL="0">
              <a:buNone/>
            </a:pPr>
            <a:r>
              <a:rPr lang="en-US" sz="1150" b="1" spc="100" kern="0" dirty="0">
                <a:solidFill>
                  <a:srgbClr val="57606A"/>
                </a:solidFill>
                <a:latin typeface="Calibri" pitchFamily="34" charset="0"/>
                <a:ea typeface="Calibri" pitchFamily="34" charset="-122"/>
                <a:cs typeface="Calibri" pitchFamily="34" charset="-120"/>
              </a:rPr>
              <a:t>EXPLICIT EXPLANATION</a:t>
            </a:r>
            <a:endParaRPr lang="en-US" sz="1150" dirty="0"/>
          </a:p>
        </p:txBody>
      </p:sp>
      <p:sp>
        <p:nvSpPr>
          <p:cNvPr id="8" name="Text 6"/>
          <p:cNvSpPr/>
          <p:nvPr/>
        </p:nvSpPr>
        <p:spPr>
          <a:xfrm>
            <a:off x="1143000" y="914400"/>
            <a:ext cx="9601200" cy="502920"/>
          </a:xfrm>
          <a:prstGeom prst="rect">
            <a:avLst/>
          </a:prstGeom>
          <a:noFill/>
          <a:ln/>
        </p:spPr>
        <p:txBody>
          <a:bodyPr wrap="square" lIns="0" tIns="0" rIns="0" bIns="0" rtlCol="0" anchor="ctr"/>
          <a:lstStyle/>
          <a:p>
            <a:pPr algn="l" indent="0" marL="0">
              <a:buNone/>
            </a:pPr>
            <a:r>
              <a:rPr lang="en-US" sz="2700" b="1" dirty="0">
                <a:solidFill>
                  <a:srgbClr val="1F2328"/>
                </a:solidFill>
                <a:latin typeface="Cambria" pitchFamily="34" charset="0"/>
                <a:ea typeface="Cambria" pitchFamily="34" charset="-122"/>
                <a:cs typeface="Cambria" pitchFamily="34" charset="-120"/>
              </a:rPr>
              <a:t>Malware: four shapes it takes</a:t>
            </a:r>
            <a:endParaRPr lang="en-US" sz="2700" dirty="0"/>
          </a:p>
        </p:txBody>
      </p:sp>
      <p:sp>
        <p:nvSpPr>
          <p:cNvPr id="9" name="Text 7"/>
          <p:cNvSpPr/>
          <p:nvPr/>
        </p:nvSpPr>
        <p:spPr>
          <a:xfrm>
            <a:off x="8778240" y="731520"/>
            <a:ext cx="2880360" cy="420624"/>
          </a:xfrm>
          <a:prstGeom prst="roundRect">
            <a:avLst>
              <a:gd name="adj" fmla="val 50000"/>
            </a:avLst>
          </a:prstGeom>
          <a:solidFill>
            <a:srgbClr val="FEF3E0"/>
          </a:solidFill>
          <a:ln w="15875">
            <a:solidFill>
              <a:srgbClr val="F59E0B"/>
            </a:solidFill>
          </a:ln>
        </p:spPr>
        <p:txBody>
          <a:bodyPr wrap="square" lIns="0" tIns="0" rIns="0" bIns="0" rtlCol="0" anchor="ctr"/>
          <a:lstStyle/>
          <a:p>
            <a:pPr algn="ctr" indent="0" marL="0">
              <a:buNone/>
            </a:pPr>
            <a:r>
              <a:rPr lang="en-US" sz="1350" b="1" spc="100" kern="0" dirty="0">
                <a:solidFill>
                  <a:srgbClr val="946200"/>
                </a:solidFill>
                <a:latin typeface="Calibri" pitchFamily="34" charset="0"/>
                <a:ea typeface="Calibri" pitchFamily="34" charset="-122"/>
                <a:cs typeface="Calibri" pitchFamily="34" charset="-120"/>
              </a:rPr>
              <a:t>📋 COPY TO WORKBOOK</a:t>
            </a:r>
            <a:endParaRPr lang="en-US" sz="1350" dirty="0"/>
          </a:p>
        </p:txBody>
      </p:sp>
      <p:sp>
        <p:nvSpPr>
          <p:cNvPr id="10" name="Text 8"/>
          <p:cNvSpPr/>
          <p:nvPr/>
        </p:nvSpPr>
        <p:spPr>
          <a:xfrm>
            <a:off x="1143000" y="1691640"/>
            <a:ext cx="9784080" cy="4160520"/>
          </a:xfrm>
          <a:prstGeom prst="rect">
            <a:avLst/>
          </a:prstGeom>
          <a:noFill/>
          <a:ln/>
        </p:spPr>
        <p:txBody>
          <a:bodyPr wrap="square" lIns="0" tIns="0" rIns="0" bIns="0" rtlCol="0" anchor="t"/>
          <a:lstStyle/>
          <a:p>
            <a:pPr algn="l" marL="254000" indent="-254000">
              <a:lnSpc>
                <a:spcPct val="120000"/>
              </a:lnSpc>
              <a:spcAft>
                <a:spcPts val="1600"/>
              </a:spcAft>
              <a:buSzPct val="100000"/>
              <a:buChar char="•"/>
            </a:pPr>
            <a:r>
              <a:rPr lang="en-US" sz="2400" dirty="0">
                <a:solidFill>
                  <a:srgbClr val="1F2328"/>
                </a:solidFill>
                <a:latin typeface="Calibri" pitchFamily="34" charset="0"/>
                <a:ea typeface="Calibri" pitchFamily="34" charset="-122"/>
                <a:cs typeface="Calibri" pitchFamily="34" charset="-120"/>
              </a:rPr>
              <a:t>Virus — code that copies itself into files on the same computer, corrupting how they run (via appender, Swiss cheese, or split infection).</a:t>
            </a:r>
            <a:endParaRPr lang="en-US" sz="2400" dirty="0"/>
          </a:p>
          <a:p>
            <a:pPr algn="l" marL="254000" indent="-254000">
              <a:lnSpc>
                <a:spcPct val="120000"/>
              </a:lnSpc>
              <a:spcAft>
                <a:spcPts val="1600"/>
              </a:spcAft>
              <a:buSzPct val="100000"/>
              <a:buChar char="•"/>
            </a:pPr>
            <a:r>
              <a:rPr lang="en-US" sz="2400" dirty="0">
                <a:solidFill>
                  <a:srgbClr val="1F2328"/>
                </a:solidFill>
                <a:latin typeface="Calibri" pitchFamily="34" charset="0"/>
                <a:ea typeface="Calibri" pitchFamily="34" charset="-122"/>
                <a:cs typeface="Calibri" pitchFamily="34" charset="-120"/>
              </a:rPr>
              <a:t>Worm — self-replicating code that spreads across systems on its own, sometimes running programs undetected as a ‘zombie bot’.</a:t>
            </a:r>
            <a:endParaRPr lang="en-US" sz="2400" dirty="0"/>
          </a:p>
          <a:p>
            <a:pPr algn="l" marL="254000" indent="-254000">
              <a:lnSpc>
                <a:spcPct val="120000"/>
              </a:lnSpc>
              <a:spcAft>
                <a:spcPts val="1600"/>
              </a:spcAft>
              <a:buSzPct val="100000"/>
              <a:buChar char="•"/>
            </a:pPr>
            <a:r>
              <a:rPr lang="en-US" sz="2400" dirty="0">
                <a:solidFill>
                  <a:srgbClr val="1F2328"/>
                </a:solidFill>
                <a:latin typeface="Calibri" pitchFamily="34" charset="0"/>
                <a:ea typeface="Calibri" pitchFamily="34" charset="-122"/>
                <a:cs typeface="Calibri" pitchFamily="34" charset="-120"/>
              </a:rPr>
              <a:t>Trojan horse — disguised as something legitimate; the real weakness it exploits is the user who's tricked into installing it.</a:t>
            </a:r>
            <a:endParaRPr lang="en-US" sz="2400" dirty="0"/>
          </a:p>
          <a:p>
            <a:pPr algn="l" marL="254000" indent="-254000">
              <a:lnSpc>
                <a:spcPct val="120000"/>
              </a:lnSpc>
              <a:spcAft>
                <a:spcPts val="1600"/>
              </a:spcAft>
              <a:buSzPct val="100000"/>
              <a:buChar char="•"/>
            </a:pPr>
            <a:r>
              <a:rPr lang="en-US" sz="2400" dirty="0">
                <a:solidFill>
                  <a:srgbClr val="1F2328"/>
                </a:solidFill>
                <a:latin typeface="Calibri" pitchFamily="34" charset="0"/>
                <a:ea typeface="Calibri" pitchFamily="34" charset="-122"/>
                <a:cs typeface="Calibri" pitchFamily="34" charset="-120"/>
              </a:rPr>
              <a:t>Logic bomb — dormant code that triggers at a set time or condition, usually planted by someone with source-code access.</a:t>
            </a:r>
            <a:endParaRPr lang="en-US" sz="2400" dirty="0"/>
          </a:p>
        </p:txBody>
      </p:sp>
      <p:sp>
        <p:nvSpPr>
          <p:cNvPr id="11" name="Text 9"/>
          <p:cNvSpPr/>
          <p:nvPr/>
        </p:nvSpPr>
        <p:spPr>
          <a:xfrm>
            <a:off x="1143000" y="6080760"/>
            <a:ext cx="9692640" cy="320040"/>
          </a:xfrm>
          <a:prstGeom prst="rect">
            <a:avLst/>
          </a:prstGeom>
          <a:noFill/>
          <a:ln/>
        </p:spPr>
        <p:txBody>
          <a:bodyPr wrap="square" lIns="0" tIns="0" rIns="0" bIns="0" rtlCol="0" anchor="ctr"/>
          <a:lstStyle/>
          <a:p>
            <a:pPr algn="l" indent="0" marL="0">
              <a:buNone/>
            </a:pPr>
            <a:r>
              <a:rPr lang="en-US" sz="1100" i="1" dirty="0">
                <a:solidFill>
                  <a:srgbClr val="57606A"/>
                </a:solidFill>
                <a:latin typeface="Calibri" pitchFamily="34" charset="0"/>
                <a:ea typeface="Calibri" pitchFamily="34" charset="-122"/>
                <a:cs typeface="Calibri" pitchFamily="34" charset="-120"/>
              </a:rPr>
              <a:t>Nelson Software Development VCE Units 3&amp;4, 2E — pp.246–247</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algn="l"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6</a:t>
            </a:r>
            <a:endParaRPr lang="en-US" sz="1100" dirty="0"/>
          </a:p>
        </p:txBody>
      </p:sp>
      <p:sp>
        <p:nvSpPr>
          <p:cNvPr id="4" name="Text 2"/>
          <p:cNvSpPr/>
          <p:nvPr/>
        </p:nvSpPr>
        <p:spPr>
          <a:xfrm>
            <a:off x="9363456" y="274320"/>
            <a:ext cx="2157984" cy="310896"/>
          </a:xfrm>
          <a:prstGeom prst="roundRect">
            <a:avLst>
              <a:gd name="adj" fmla="val 50000"/>
            </a:avLst>
          </a:prstGeom>
          <a:solidFill>
            <a:srgbClr val="4361EE"/>
          </a:solidFill>
          <a:ln/>
        </p:spPr>
        <p:txBody>
          <a:bodyPr wrap="square" lIns="0" tIns="0" rIns="0" bIns="0" rtlCol="0" anchor="ctr"/>
          <a:lstStyle/>
          <a:p>
            <a:pPr algn="ctr" indent="0" marL="0">
              <a:buNone/>
            </a:pPr>
            <a:r>
              <a:rPr lang="en-US" sz="1350" b="1" spc="100" kern="0" dirty="0">
                <a:solidFill>
                  <a:srgbClr val="FFFFFF"/>
                </a:solidFill>
                <a:latin typeface="Calibri" pitchFamily="34" charset="0"/>
                <a:ea typeface="Calibri" pitchFamily="34" charset="-122"/>
                <a:cs typeface="Calibri" pitchFamily="34" charset="-120"/>
              </a:rPr>
              <a:t>EXPLICIT EXPLANATION</a:t>
            </a:r>
            <a:endParaRPr lang="en-US" sz="1350" dirty="0"/>
          </a:p>
        </p:txBody>
      </p:sp>
      <p:sp>
        <p:nvSpPr>
          <p:cNvPr id="5" name="Text 3"/>
          <p:cNvSpPr/>
          <p:nvPr/>
        </p:nvSpPr>
        <p:spPr>
          <a:xfrm>
            <a:off x="9966960" y="658368"/>
            <a:ext cx="1554480" cy="310896"/>
          </a:xfrm>
          <a:prstGeom prst="roundRect">
            <a:avLst>
              <a:gd name="adj" fmla="val 50000"/>
            </a:avLst>
          </a:prstGeom>
          <a:solidFill>
            <a:srgbClr val="FFFFFF"/>
          </a:solidFill>
          <a:ln w="15875">
            <a:solidFill>
              <a:srgbClr val="57606A"/>
            </a:solidFill>
          </a:ln>
        </p:spPr>
        <p:txBody>
          <a:bodyPr wrap="square" lIns="0" tIns="0" rIns="0" bIns="0" rtlCol="0" anchor="ctr"/>
          <a:lstStyle/>
          <a:p>
            <a:pPr algn="ctr" indent="0" marL="0">
              <a:buNone/>
            </a:pPr>
            <a:r>
              <a:rPr lang="en-US" sz="1350" b="1" spc="100" kern="0" dirty="0">
                <a:solidFill>
                  <a:srgbClr val="57606A"/>
                </a:solidFill>
                <a:latin typeface="Calibri" pitchFamily="34" charset="0"/>
                <a:ea typeface="Calibri" pitchFamily="34" charset="-122"/>
                <a:cs typeface="Calibri" pitchFamily="34" charset="-120"/>
              </a:rPr>
              <a:t>OFF DEVICES</a:t>
            </a:r>
            <a:endParaRPr lang="en-US" sz="1350" dirty="0"/>
          </a:p>
        </p:txBody>
      </p:sp>
      <p:sp>
        <p:nvSpPr>
          <p:cNvPr id="6" name="Text 4"/>
          <p:cNvSpPr/>
          <p:nvPr/>
        </p:nvSpPr>
        <p:spPr>
          <a:xfrm>
            <a:off x="548640" y="713232"/>
            <a:ext cx="457200" cy="457200"/>
          </a:xfrm>
          <a:prstGeom prst="ellipse">
            <a:avLst/>
          </a:prstGeom>
          <a:solidFill>
            <a:srgbClr val="4361EE"/>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7" name="Text 5"/>
          <p:cNvSpPr/>
          <p:nvPr/>
        </p:nvSpPr>
        <p:spPr>
          <a:xfrm>
            <a:off x="1143000" y="713232"/>
            <a:ext cx="7315200" cy="219456"/>
          </a:xfrm>
          <a:prstGeom prst="rect">
            <a:avLst/>
          </a:prstGeom>
          <a:noFill/>
          <a:ln/>
        </p:spPr>
        <p:txBody>
          <a:bodyPr wrap="square" lIns="0" tIns="0" rIns="0" bIns="0" rtlCol="0" anchor="ctr"/>
          <a:lstStyle/>
          <a:p>
            <a:pPr algn="l" indent="0" marL="0">
              <a:buNone/>
            </a:pPr>
            <a:r>
              <a:rPr lang="en-US" sz="1150" b="1" spc="100" kern="0" dirty="0">
                <a:solidFill>
                  <a:srgbClr val="57606A"/>
                </a:solidFill>
                <a:latin typeface="Calibri" pitchFamily="34" charset="0"/>
                <a:ea typeface="Calibri" pitchFamily="34" charset="-122"/>
                <a:cs typeface="Calibri" pitchFamily="34" charset="-120"/>
              </a:rPr>
              <a:t>EXPLICIT EXPLANATION</a:t>
            </a:r>
            <a:endParaRPr lang="en-US" sz="1150" dirty="0"/>
          </a:p>
        </p:txBody>
      </p:sp>
      <p:sp>
        <p:nvSpPr>
          <p:cNvPr id="8" name="Text 6"/>
          <p:cNvSpPr/>
          <p:nvPr/>
        </p:nvSpPr>
        <p:spPr>
          <a:xfrm>
            <a:off x="1143000" y="914400"/>
            <a:ext cx="9601200" cy="502920"/>
          </a:xfrm>
          <a:prstGeom prst="rect">
            <a:avLst/>
          </a:prstGeom>
          <a:noFill/>
          <a:ln/>
        </p:spPr>
        <p:txBody>
          <a:bodyPr wrap="square" lIns="0" tIns="0" rIns="0" bIns="0" rtlCol="0" anchor="ctr"/>
          <a:lstStyle/>
          <a:p>
            <a:pPr algn="l" indent="0" marL="0">
              <a:buNone/>
            </a:pPr>
            <a:r>
              <a:rPr lang="en-US" sz="2700" b="1" dirty="0">
                <a:solidFill>
                  <a:srgbClr val="1F2328"/>
                </a:solidFill>
                <a:latin typeface="Cambria" pitchFamily="34" charset="0"/>
                <a:ea typeface="Cambria" pitchFamily="34" charset="-122"/>
                <a:cs typeface="Cambria" pitchFamily="34" charset="-120"/>
              </a:rPr>
              <a:t>Unpatched software</a:t>
            </a:r>
            <a:endParaRPr lang="en-US" sz="2700" dirty="0"/>
          </a:p>
        </p:txBody>
      </p:sp>
      <p:sp>
        <p:nvSpPr>
          <p:cNvPr id="9" name="Text 7"/>
          <p:cNvSpPr/>
          <p:nvPr/>
        </p:nvSpPr>
        <p:spPr>
          <a:xfrm>
            <a:off x="8778240" y="731520"/>
            <a:ext cx="2880360" cy="420624"/>
          </a:xfrm>
          <a:prstGeom prst="roundRect">
            <a:avLst>
              <a:gd name="adj" fmla="val 50000"/>
            </a:avLst>
          </a:prstGeom>
          <a:solidFill>
            <a:srgbClr val="FEF3E0"/>
          </a:solidFill>
          <a:ln w="15875">
            <a:solidFill>
              <a:srgbClr val="F59E0B"/>
            </a:solidFill>
          </a:ln>
        </p:spPr>
        <p:txBody>
          <a:bodyPr wrap="square" lIns="0" tIns="0" rIns="0" bIns="0" rtlCol="0" anchor="ctr"/>
          <a:lstStyle/>
          <a:p>
            <a:pPr algn="ctr" indent="0" marL="0">
              <a:buNone/>
            </a:pPr>
            <a:r>
              <a:rPr lang="en-US" sz="1350" b="1" spc="100" kern="0" dirty="0">
                <a:solidFill>
                  <a:srgbClr val="946200"/>
                </a:solidFill>
                <a:latin typeface="Calibri" pitchFamily="34" charset="0"/>
                <a:ea typeface="Calibri" pitchFamily="34" charset="-122"/>
                <a:cs typeface="Calibri" pitchFamily="34" charset="-120"/>
              </a:rPr>
              <a:t>📋 COPY TO WORKBOOK</a:t>
            </a:r>
            <a:endParaRPr lang="en-US" sz="1350" dirty="0"/>
          </a:p>
        </p:txBody>
      </p:sp>
      <p:sp>
        <p:nvSpPr>
          <p:cNvPr id="10" name="Text 8"/>
          <p:cNvSpPr/>
          <p:nvPr/>
        </p:nvSpPr>
        <p:spPr>
          <a:xfrm>
            <a:off x="1143000" y="1691640"/>
            <a:ext cx="9784080" cy="4160520"/>
          </a:xfrm>
          <a:prstGeom prst="rect">
            <a:avLst/>
          </a:prstGeom>
          <a:noFill/>
          <a:ln/>
        </p:spPr>
        <p:txBody>
          <a:bodyPr wrap="square" lIns="0" tIns="0" rIns="0" bIns="0" rtlCol="0" anchor="t"/>
          <a:lstStyle/>
          <a:p>
            <a:pPr algn="l" marL="254000" indent="-254000">
              <a:lnSpc>
                <a:spcPct val="120000"/>
              </a:lnSpc>
              <a:spcAft>
                <a:spcPts val="1600"/>
              </a:spcAft>
              <a:buSzPct val="100000"/>
              <a:buChar char="•"/>
            </a:pPr>
            <a:r>
              <a:rPr lang="en-US" sz="2400" dirty="0">
                <a:solidFill>
                  <a:srgbClr val="1F2328"/>
                </a:solidFill>
                <a:latin typeface="Calibri" pitchFamily="34" charset="0"/>
                <a:ea typeface="Calibri" pitchFamily="34" charset="-122"/>
                <a:cs typeface="Calibri" pitchFamily="34" charset="-120"/>
              </a:rPr>
              <a:t>Vendors release patches when they discover a vulnerability — but the software stays exposed until that patch is actually applied.</a:t>
            </a:r>
            <a:endParaRPr lang="en-US" sz="2400" dirty="0"/>
          </a:p>
          <a:p>
            <a:pPr algn="l" marL="254000" indent="-254000">
              <a:lnSpc>
                <a:spcPct val="120000"/>
              </a:lnSpc>
              <a:spcAft>
                <a:spcPts val="1600"/>
              </a:spcAft>
              <a:buSzPct val="100000"/>
              <a:buChar char="•"/>
            </a:pPr>
            <a:r>
              <a:rPr lang="en-US" sz="2400" dirty="0">
                <a:solidFill>
                  <a:srgbClr val="1F2328"/>
                </a:solidFill>
                <a:latin typeface="Calibri" pitchFamily="34" charset="0"/>
                <a:ea typeface="Calibri" pitchFamily="34" charset="-122"/>
                <a:cs typeface="Calibri" pitchFamily="34" charset="-120"/>
              </a:rPr>
              <a:t>Case study: WannaCry (2017). Exploited a Microsoft Windows vulnerability that had already been patched — but many organisations hadn't applied it. ~230,000 computers in 150 countries were infected within two weeks.</a:t>
            </a:r>
            <a:endParaRPr lang="en-US" sz="2400" dirty="0"/>
          </a:p>
          <a:p>
            <a:pPr algn="l" marL="254000" indent="-254000">
              <a:lnSpc>
                <a:spcPct val="120000"/>
              </a:lnSpc>
              <a:spcAft>
                <a:spcPts val="1600"/>
              </a:spcAft>
              <a:buSzPct val="100000"/>
              <a:buChar char="•"/>
            </a:pPr>
            <a:r>
              <a:rPr lang="en-US" sz="2400" dirty="0">
                <a:solidFill>
                  <a:srgbClr val="1F2328"/>
                </a:solidFill>
                <a:latin typeface="Calibri" pitchFamily="34" charset="0"/>
                <a:ea typeface="Calibri" pitchFamily="34" charset="-122"/>
                <a:cs typeface="Calibri" pitchFamily="34" charset="-120"/>
              </a:rPr>
              <a:t>WannaCry encrypted data and demanded ransom, disrupting critical services including healthcare and transport.</a:t>
            </a:r>
            <a:endParaRPr lang="en-US" sz="2400" dirty="0"/>
          </a:p>
          <a:p>
            <a:pPr algn="l" marL="254000" indent="-254000">
              <a:lnSpc>
                <a:spcPct val="120000"/>
              </a:lnSpc>
              <a:spcAft>
                <a:spcPts val="1600"/>
              </a:spcAft>
              <a:buSzPct val="100000"/>
              <a:buChar char="•"/>
            </a:pPr>
            <a:r>
              <a:rPr lang="en-US" sz="2400" dirty="0">
                <a:solidFill>
                  <a:srgbClr val="1F2328"/>
                </a:solidFill>
                <a:latin typeface="Calibri" pitchFamily="34" charset="0"/>
                <a:ea typeface="Calibri" pitchFamily="34" charset="-122"/>
                <a:cs typeface="Calibri" pitchFamily="34" charset="-120"/>
              </a:rPr>
              <a:t>The vulnerability isn't the flaw itself — it's the gap between a patch existing and a patch being installed.</a:t>
            </a:r>
            <a:endParaRPr lang="en-US" sz="2400" dirty="0"/>
          </a:p>
        </p:txBody>
      </p:sp>
      <p:sp>
        <p:nvSpPr>
          <p:cNvPr id="11" name="Text 9"/>
          <p:cNvSpPr/>
          <p:nvPr/>
        </p:nvSpPr>
        <p:spPr>
          <a:xfrm>
            <a:off x="1143000" y="6080760"/>
            <a:ext cx="9692640" cy="320040"/>
          </a:xfrm>
          <a:prstGeom prst="rect">
            <a:avLst/>
          </a:prstGeom>
          <a:noFill/>
          <a:ln/>
        </p:spPr>
        <p:txBody>
          <a:bodyPr wrap="square" lIns="0" tIns="0" rIns="0" bIns="0" rtlCol="0" anchor="ctr"/>
          <a:lstStyle/>
          <a:p>
            <a:pPr algn="l" indent="0" marL="0">
              <a:buNone/>
            </a:pPr>
            <a:r>
              <a:rPr lang="en-US" sz="1100" i="1" dirty="0">
                <a:solidFill>
                  <a:srgbClr val="57606A"/>
                </a:solidFill>
                <a:latin typeface="Calibri" pitchFamily="34" charset="0"/>
                <a:ea typeface="Calibri" pitchFamily="34" charset="-122"/>
                <a:cs typeface="Calibri" pitchFamily="34" charset="-120"/>
              </a:rPr>
              <a:t>Nelson Software Development VCE Units 3&amp;4, 2E — p.248</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algn="l"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7</a:t>
            </a:r>
            <a:endParaRPr lang="en-US" sz="1100" dirty="0"/>
          </a:p>
        </p:txBody>
      </p:sp>
      <p:sp>
        <p:nvSpPr>
          <p:cNvPr id="4" name="Text 2"/>
          <p:cNvSpPr/>
          <p:nvPr/>
        </p:nvSpPr>
        <p:spPr>
          <a:xfrm>
            <a:off x="9363456" y="274320"/>
            <a:ext cx="2157984" cy="310896"/>
          </a:xfrm>
          <a:prstGeom prst="roundRect">
            <a:avLst>
              <a:gd name="adj" fmla="val 50000"/>
            </a:avLst>
          </a:prstGeom>
          <a:solidFill>
            <a:srgbClr val="4361EE"/>
          </a:solidFill>
          <a:ln/>
        </p:spPr>
        <p:txBody>
          <a:bodyPr wrap="square" lIns="0" tIns="0" rIns="0" bIns="0" rtlCol="0" anchor="ctr"/>
          <a:lstStyle/>
          <a:p>
            <a:pPr algn="ctr" indent="0" marL="0">
              <a:buNone/>
            </a:pPr>
            <a:r>
              <a:rPr lang="en-US" sz="1350" b="1" spc="100" kern="0" dirty="0">
                <a:solidFill>
                  <a:srgbClr val="FFFFFF"/>
                </a:solidFill>
                <a:latin typeface="Calibri" pitchFamily="34" charset="0"/>
                <a:ea typeface="Calibri" pitchFamily="34" charset="-122"/>
                <a:cs typeface="Calibri" pitchFamily="34" charset="-120"/>
              </a:rPr>
              <a:t>EXPLICIT EXPLANATION</a:t>
            </a:r>
            <a:endParaRPr lang="en-US" sz="1350" dirty="0"/>
          </a:p>
        </p:txBody>
      </p:sp>
      <p:sp>
        <p:nvSpPr>
          <p:cNvPr id="5" name="Text 3"/>
          <p:cNvSpPr/>
          <p:nvPr/>
        </p:nvSpPr>
        <p:spPr>
          <a:xfrm>
            <a:off x="9966960" y="658368"/>
            <a:ext cx="1554480" cy="310896"/>
          </a:xfrm>
          <a:prstGeom prst="roundRect">
            <a:avLst>
              <a:gd name="adj" fmla="val 50000"/>
            </a:avLst>
          </a:prstGeom>
          <a:solidFill>
            <a:srgbClr val="FFFFFF"/>
          </a:solidFill>
          <a:ln w="15875">
            <a:solidFill>
              <a:srgbClr val="57606A"/>
            </a:solidFill>
          </a:ln>
        </p:spPr>
        <p:txBody>
          <a:bodyPr wrap="square" lIns="0" tIns="0" rIns="0" bIns="0" rtlCol="0" anchor="ctr"/>
          <a:lstStyle/>
          <a:p>
            <a:pPr algn="ctr" indent="0" marL="0">
              <a:buNone/>
            </a:pPr>
            <a:r>
              <a:rPr lang="en-US" sz="1350" b="1" spc="100" kern="0" dirty="0">
                <a:solidFill>
                  <a:srgbClr val="57606A"/>
                </a:solidFill>
                <a:latin typeface="Calibri" pitchFamily="34" charset="0"/>
                <a:ea typeface="Calibri" pitchFamily="34" charset="-122"/>
                <a:cs typeface="Calibri" pitchFamily="34" charset="-120"/>
              </a:rPr>
              <a:t>OFF DEVICES</a:t>
            </a:r>
            <a:endParaRPr lang="en-US" sz="1350" dirty="0"/>
          </a:p>
        </p:txBody>
      </p:sp>
      <p:sp>
        <p:nvSpPr>
          <p:cNvPr id="6" name="Text 4"/>
          <p:cNvSpPr/>
          <p:nvPr/>
        </p:nvSpPr>
        <p:spPr>
          <a:xfrm>
            <a:off x="548640" y="713232"/>
            <a:ext cx="457200" cy="457200"/>
          </a:xfrm>
          <a:prstGeom prst="ellipse">
            <a:avLst/>
          </a:prstGeom>
          <a:solidFill>
            <a:srgbClr val="4361EE"/>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7" name="Text 5"/>
          <p:cNvSpPr/>
          <p:nvPr/>
        </p:nvSpPr>
        <p:spPr>
          <a:xfrm>
            <a:off x="1143000" y="713232"/>
            <a:ext cx="7315200" cy="219456"/>
          </a:xfrm>
          <a:prstGeom prst="rect">
            <a:avLst/>
          </a:prstGeom>
          <a:noFill/>
          <a:ln/>
        </p:spPr>
        <p:txBody>
          <a:bodyPr wrap="square" lIns="0" tIns="0" rIns="0" bIns="0" rtlCol="0" anchor="ctr"/>
          <a:lstStyle/>
          <a:p>
            <a:pPr algn="l" indent="0" marL="0">
              <a:buNone/>
            </a:pPr>
            <a:r>
              <a:rPr lang="en-US" sz="1150" b="1" spc="100" kern="0" dirty="0">
                <a:solidFill>
                  <a:srgbClr val="57606A"/>
                </a:solidFill>
                <a:latin typeface="Calibri" pitchFamily="34" charset="0"/>
                <a:ea typeface="Calibri" pitchFamily="34" charset="-122"/>
                <a:cs typeface="Calibri" pitchFamily="34" charset="-120"/>
              </a:rPr>
              <a:t>EXPLICIT EXPLANATION</a:t>
            </a:r>
            <a:endParaRPr lang="en-US" sz="1150" dirty="0"/>
          </a:p>
        </p:txBody>
      </p:sp>
      <p:sp>
        <p:nvSpPr>
          <p:cNvPr id="8" name="Text 6"/>
          <p:cNvSpPr/>
          <p:nvPr/>
        </p:nvSpPr>
        <p:spPr>
          <a:xfrm>
            <a:off x="1143000" y="914400"/>
            <a:ext cx="9601200" cy="502920"/>
          </a:xfrm>
          <a:prstGeom prst="rect">
            <a:avLst/>
          </a:prstGeom>
          <a:noFill/>
          <a:ln/>
        </p:spPr>
        <p:txBody>
          <a:bodyPr wrap="square" lIns="0" tIns="0" rIns="0" bIns="0" rtlCol="0" anchor="ctr"/>
          <a:lstStyle/>
          <a:p>
            <a:pPr algn="l" indent="0" marL="0">
              <a:buNone/>
            </a:pPr>
            <a:r>
              <a:rPr lang="en-US" sz="2700" b="1" dirty="0">
                <a:solidFill>
                  <a:srgbClr val="1F2328"/>
                </a:solidFill>
                <a:latin typeface="Cambria" pitchFamily="34" charset="0"/>
                <a:ea typeface="Cambria" pitchFamily="34" charset="-122"/>
                <a:cs typeface="Cambria" pitchFamily="34" charset="-120"/>
              </a:rPr>
              <a:t>Poor identity &amp; access management</a:t>
            </a:r>
            <a:endParaRPr lang="en-US" sz="2700" dirty="0"/>
          </a:p>
        </p:txBody>
      </p:sp>
      <p:sp>
        <p:nvSpPr>
          <p:cNvPr id="9" name="Text 7"/>
          <p:cNvSpPr/>
          <p:nvPr/>
        </p:nvSpPr>
        <p:spPr>
          <a:xfrm>
            <a:off x="8778240" y="731520"/>
            <a:ext cx="2880360" cy="420624"/>
          </a:xfrm>
          <a:prstGeom prst="roundRect">
            <a:avLst>
              <a:gd name="adj" fmla="val 50000"/>
            </a:avLst>
          </a:prstGeom>
          <a:solidFill>
            <a:srgbClr val="FEF3E0"/>
          </a:solidFill>
          <a:ln w="15875">
            <a:solidFill>
              <a:srgbClr val="F59E0B"/>
            </a:solidFill>
          </a:ln>
        </p:spPr>
        <p:txBody>
          <a:bodyPr wrap="square" lIns="0" tIns="0" rIns="0" bIns="0" rtlCol="0" anchor="ctr"/>
          <a:lstStyle/>
          <a:p>
            <a:pPr algn="ctr" indent="0" marL="0">
              <a:buNone/>
            </a:pPr>
            <a:r>
              <a:rPr lang="en-US" sz="1350" b="1" spc="100" kern="0" dirty="0">
                <a:solidFill>
                  <a:srgbClr val="946200"/>
                </a:solidFill>
                <a:latin typeface="Calibri" pitchFamily="34" charset="0"/>
                <a:ea typeface="Calibri" pitchFamily="34" charset="-122"/>
                <a:cs typeface="Calibri" pitchFamily="34" charset="-120"/>
              </a:rPr>
              <a:t>📋 COPY TO WORKBOOK</a:t>
            </a:r>
            <a:endParaRPr lang="en-US" sz="1350" dirty="0"/>
          </a:p>
        </p:txBody>
      </p:sp>
      <p:sp>
        <p:nvSpPr>
          <p:cNvPr id="10" name="Text 8"/>
          <p:cNvSpPr/>
          <p:nvPr/>
        </p:nvSpPr>
        <p:spPr>
          <a:xfrm>
            <a:off x="1143000" y="1691640"/>
            <a:ext cx="9784080" cy="4160520"/>
          </a:xfrm>
          <a:prstGeom prst="rect">
            <a:avLst/>
          </a:prstGeom>
          <a:noFill/>
          <a:ln/>
        </p:spPr>
        <p:txBody>
          <a:bodyPr wrap="square" lIns="0" tIns="0" rIns="0" bIns="0" rtlCol="0" anchor="t"/>
          <a:lstStyle/>
          <a:p>
            <a:pPr algn="l" marL="254000" indent="-254000">
              <a:lnSpc>
                <a:spcPct val="120000"/>
              </a:lnSpc>
              <a:spcAft>
                <a:spcPts val="1600"/>
              </a:spcAft>
              <a:buSzPct val="100000"/>
              <a:buChar char="•"/>
            </a:pPr>
            <a:r>
              <a:rPr lang="en-US" sz="2400" dirty="0">
                <a:solidFill>
                  <a:srgbClr val="1F2328"/>
                </a:solidFill>
                <a:latin typeface="Calibri" pitchFamily="34" charset="0"/>
                <a:ea typeface="Calibri" pitchFamily="34" charset="-122"/>
                <a:cs typeface="Calibri" pitchFamily="34" charset="-120"/>
              </a:rPr>
              <a:t>Weak IAM: inadequate password policies, no multi-factor authentication (MFA), and poor monitoring of access logs.</a:t>
            </a:r>
            <a:endParaRPr lang="en-US" sz="2400" dirty="0"/>
          </a:p>
          <a:p>
            <a:pPr algn="l" marL="254000" indent="-254000">
              <a:lnSpc>
                <a:spcPct val="120000"/>
              </a:lnSpc>
              <a:spcAft>
                <a:spcPts val="1600"/>
              </a:spcAft>
              <a:buSzPct val="100000"/>
              <a:buChar char="•"/>
            </a:pPr>
            <a:r>
              <a:rPr lang="en-US" sz="2400" dirty="0">
                <a:solidFill>
                  <a:srgbClr val="1F2328"/>
                </a:solidFill>
                <a:latin typeface="Calibri" pitchFamily="34" charset="0"/>
                <a:ea typeface="Calibri" pitchFamily="34" charset="-122"/>
                <a:cs typeface="Calibri" pitchFamily="34" charset="-120"/>
              </a:rPr>
              <a:t>Case study: Medibank (2022). Admin credentials were stolen from a contractor's malware-infected home computer.</a:t>
            </a:r>
            <a:endParaRPr lang="en-US" sz="2400" dirty="0"/>
          </a:p>
          <a:p>
            <a:pPr algn="l" marL="254000" indent="-254000">
              <a:lnSpc>
                <a:spcPct val="120000"/>
              </a:lnSpc>
              <a:spcAft>
                <a:spcPts val="1600"/>
              </a:spcAft>
              <a:buSzPct val="100000"/>
              <a:buChar char="•"/>
            </a:pPr>
            <a:r>
              <a:rPr lang="en-US" sz="2400" dirty="0">
                <a:solidFill>
                  <a:srgbClr val="1F2328"/>
                </a:solidFill>
                <a:latin typeface="Calibri" pitchFamily="34" charset="0"/>
                <a:ea typeface="Calibri" pitchFamily="34" charset="-122"/>
                <a:cs typeface="Calibri" pitchFamily="34" charset="-120"/>
              </a:rPr>
              <a:t>Medibank's VPN had no MFA, so the stolen password alone unlocked almost every system — and early alerts weren't escalated.</a:t>
            </a:r>
            <a:endParaRPr lang="en-US" sz="2400" dirty="0"/>
          </a:p>
          <a:p>
            <a:pPr algn="l" marL="254000" indent="-254000">
              <a:lnSpc>
                <a:spcPct val="120000"/>
              </a:lnSpc>
              <a:spcAft>
                <a:spcPts val="1600"/>
              </a:spcAft>
              <a:buSzPct val="100000"/>
              <a:buChar char="•"/>
            </a:pPr>
            <a:r>
              <a:rPr lang="en-US" sz="2400" dirty="0">
                <a:solidFill>
                  <a:srgbClr val="1F2328"/>
                </a:solidFill>
                <a:latin typeface="Calibri" pitchFamily="34" charset="0"/>
                <a:ea typeface="Calibri" pitchFamily="34" charset="-122"/>
                <a:cs typeface="Calibri" pitchFamily="34" charset="-120"/>
              </a:rPr>
              <a:t>The fix isn't just ‘better passwords’ — it's least privilege, MFA everywhere, and acting on alerts you already have.</a:t>
            </a:r>
            <a:endParaRPr lang="en-US" sz="2400" dirty="0"/>
          </a:p>
        </p:txBody>
      </p:sp>
      <p:sp>
        <p:nvSpPr>
          <p:cNvPr id="11" name="Text 9"/>
          <p:cNvSpPr/>
          <p:nvPr/>
        </p:nvSpPr>
        <p:spPr>
          <a:xfrm>
            <a:off x="1143000" y="6080760"/>
            <a:ext cx="9692640" cy="320040"/>
          </a:xfrm>
          <a:prstGeom prst="rect">
            <a:avLst/>
          </a:prstGeom>
          <a:noFill/>
          <a:ln/>
        </p:spPr>
        <p:txBody>
          <a:bodyPr wrap="square" lIns="0" tIns="0" rIns="0" bIns="0" rtlCol="0" anchor="ctr"/>
          <a:lstStyle/>
          <a:p>
            <a:pPr algn="l" indent="0" marL="0">
              <a:buNone/>
            </a:pPr>
            <a:r>
              <a:rPr lang="en-US" sz="1100" i="1" dirty="0">
                <a:solidFill>
                  <a:srgbClr val="57606A"/>
                </a:solidFill>
                <a:latin typeface="Calibri" pitchFamily="34" charset="0"/>
                <a:ea typeface="Calibri" pitchFamily="34" charset="-122"/>
                <a:cs typeface="Calibri" pitchFamily="34" charset="-120"/>
              </a:rPr>
              <a:t>Nelson Software Development VCE Units 3&amp;4, 2E, p.248 — case study details from the OAIC's public findings on the 2022 Medibank data breach</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algn="l"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8</a:t>
            </a:r>
            <a:endParaRPr lang="en-US" sz="1100" dirty="0"/>
          </a:p>
        </p:txBody>
      </p:sp>
      <p:sp>
        <p:nvSpPr>
          <p:cNvPr id="4" name="Text 2"/>
          <p:cNvSpPr/>
          <p:nvPr/>
        </p:nvSpPr>
        <p:spPr>
          <a:xfrm>
            <a:off x="9363456" y="274320"/>
            <a:ext cx="2157984" cy="310896"/>
          </a:xfrm>
          <a:prstGeom prst="roundRect">
            <a:avLst>
              <a:gd name="adj" fmla="val 50000"/>
            </a:avLst>
          </a:prstGeom>
          <a:solidFill>
            <a:srgbClr val="4361EE"/>
          </a:solidFill>
          <a:ln/>
        </p:spPr>
        <p:txBody>
          <a:bodyPr wrap="square" lIns="0" tIns="0" rIns="0" bIns="0" rtlCol="0" anchor="ctr"/>
          <a:lstStyle/>
          <a:p>
            <a:pPr algn="ctr" indent="0" marL="0">
              <a:buNone/>
            </a:pPr>
            <a:r>
              <a:rPr lang="en-US" sz="1350" b="1" spc="100" kern="0" dirty="0">
                <a:solidFill>
                  <a:srgbClr val="FFFFFF"/>
                </a:solidFill>
                <a:latin typeface="Calibri" pitchFamily="34" charset="0"/>
                <a:ea typeface="Calibri" pitchFamily="34" charset="-122"/>
                <a:cs typeface="Calibri" pitchFamily="34" charset="-120"/>
              </a:rPr>
              <a:t>EXPLICIT EXPLANATION</a:t>
            </a:r>
            <a:endParaRPr lang="en-US" sz="1350" dirty="0"/>
          </a:p>
        </p:txBody>
      </p:sp>
      <p:sp>
        <p:nvSpPr>
          <p:cNvPr id="5" name="Text 3"/>
          <p:cNvSpPr/>
          <p:nvPr/>
        </p:nvSpPr>
        <p:spPr>
          <a:xfrm>
            <a:off x="9966960" y="658368"/>
            <a:ext cx="1554480" cy="310896"/>
          </a:xfrm>
          <a:prstGeom prst="roundRect">
            <a:avLst>
              <a:gd name="adj" fmla="val 50000"/>
            </a:avLst>
          </a:prstGeom>
          <a:solidFill>
            <a:srgbClr val="FFFFFF"/>
          </a:solidFill>
          <a:ln w="15875">
            <a:solidFill>
              <a:srgbClr val="57606A"/>
            </a:solidFill>
          </a:ln>
        </p:spPr>
        <p:txBody>
          <a:bodyPr wrap="square" lIns="0" tIns="0" rIns="0" bIns="0" rtlCol="0" anchor="ctr"/>
          <a:lstStyle/>
          <a:p>
            <a:pPr algn="ctr" indent="0" marL="0">
              <a:buNone/>
            </a:pPr>
            <a:r>
              <a:rPr lang="en-US" sz="1350" b="1" spc="100" kern="0" dirty="0">
                <a:solidFill>
                  <a:srgbClr val="57606A"/>
                </a:solidFill>
                <a:latin typeface="Calibri" pitchFamily="34" charset="0"/>
                <a:ea typeface="Calibri" pitchFamily="34" charset="-122"/>
                <a:cs typeface="Calibri" pitchFamily="34" charset="-120"/>
              </a:rPr>
              <a:t>OFF DEVICES</a:t>
            </a:r>
            <a:endParaRPr lang="en-US" sz="1350" dirty="0"/>
          </a:p>
        </p:txBody>
      </p:sp>
      <p:sp>
        <p:nvSpPr>
          <p:cNvPr id="6" name="Text 4"/>
          <p:cNvSpPr/>
          <p:nvPr/>
        </p:nvSpPr>
        <p:spPr>
          <a:xfrm>
            <a:off x="548640" y="713232"/>
            <a:ext cx="457200" cy="457200"/>
          </a:xfrm>
          <a:prstGeom prst="ellipse">
            <a:avLst/>
          </a:prstGeom>
          <a:solidFill>
            <a:srgbClr val="8B5CF6"/>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7" name="Text 5"/>
          <p:cNvSpPr/>
          <p:nvPr/>
        </p:nvSpPr>
        <p:spPr>
          <a:xfrm>
            <a:off x="1143000" y="713232"/>
            <a:ext cx="7315200" cy="219456"/>
          </a:xfrm>
          <a:prstGeom prst="rect">
            <a:avLst/>
          </a:prstGeom>
          <a:noFill/>
          <a:ln/>
        </p:spPr>
        <p:txBody>
          <a:bodyPr wrap="square" lIns="0" tIns="0" rIns="0" bIns="0" rtlCol="0" anchor="ctr"/>
          <a:lstStyle/>
          <a:p>
            <a:pPr algn="l" indent="0" marL="0">
              <a:buNone/>
            </a:pPr>
            <a:r>
              <a:rPr lang="en-US" sz="1150" b="1" spc="100" kern="0" dirty="0">
                <a:solidFill>
                  <a:srgbClr val="57606A"/>
                </a:solidFill>
                <a:latin typeface="Calibri" pitchFamily="34" charset="0"/>
                <a:ea typeface="Calibri" pitchFamily="34" charset="-122"/>
                <a:cs typeface="Calibri" pitchFamily="34" charset="-120"/>
              </a:rPr>
              <a:t>WORKED EXAMPLE</a:t>
            </a:r>
            <a:endParaRPr lang="en-US" sz="1150" dirty="0"/>
          </a:p>
        </p:txBody>
      </p:sp>
      <p:sp>
        <p:nvSpPr>
          <p:cNvPr id="8" name="Text 6"/>
          <p:cNvSpPr/>
          <p:nvPr/>
        </p:nvSpPr>
        <p:spPr>
          <a:xfrm>
            <a:off x="1143000" y="914400"/>
            <a:ext cx="9601200" cy="502920"/>
          </a:xfrm>
          <a:prstGeom prst="rect">
            <a:avLst/>
          </a:prstGeom>
          <a:noFill/>
          <a:ln/>
        </p:spPr>
        <p:txBody>
          <a:bodyPr wrap="square" lIns="0" tIns="0" rIns="0" bIns="0" rtlCol="0" anchor="ctr"/>
          <a:lstStyle/>
          <a:p>
            <a:pPr algn="l" indent="0" marL="0">
              <a:buNone/>
            </a:pPr>
            <a:r>
              <a:rPr lang="en-US" sz="2700" b="1" dirty="0">
                <a:solidFill>
                  <a:srgbClr val="1F2328"/>
                </a:solidFill>
                <a:latin typeface="Cambria" pitchFamily="34" charset="0"/>
                <a:ea typeface="Cambria" pitchFamily="34" charset="-122"/>
                <a:cs typeface="Cambria" pitchFamily="34" charset="-120"/>
              </a:rPr>
              <a:t>Man-in-the-middle attacks</a:t>
            </a:r>
            <a:endParaRPr lang="en-US" sz="2700" dirty="0"/>
          </a:p>
        </p:txBody>
      </p:sp>
      <p:sp>
        <p:nvSpPr>
          <p:cNvPr id="9" name="Text 7"/>
          <p:cNvSpPr/>
          <p:nvPr/>
        </p:nvSpPr>
        <p:spPr>
          <a:xfrm>
            <a:off x="1143000" y="1691640"/>
            <a:ext cx="9692640" cy="1600200"/>
          </a:xfrm>
          <a:prstGeom prst="roundRect">
            <a:avLst>
              <a:gd name="adj" fmla="val 5714"/>
            </a:avLst>
          </a:prstGeom>
          <a:solidFill>
            <a:srgbClr val="F2ECFC"/>
          </a:solidFill>
          <a:ln w="15875">
            <a:solidFill>
              <a:srgbClr val="8B5CF6"/>
            </a:solidFill>
          </a:ln>
        </p:spPr>
        <p:txBody>
          <a:bodyPr wrap="square" lIns="228600" tIns="228600" rIns="228600" bIns="228600" rtlCol="0" anchor="t"/>
          <a:lstStyle/>
          <a:p>
            <a:pPr algn="l" indent="0" marL="0">
              <a:buNone/>
            </a:pPr>
            <a:r>
              <a:rPr lang="en-US" sz="1300" b="1" spc="100" kern="0" dirty="0">
                <a:solidFill>
                  <a:srgbClr val="8B5CF6"/>
                </a:solidFill>
                <a:latin typeface="Calibri" pitchFamily="34" charset="0"/>
                <a:ea typeface="Calibri" pitchFamily="34" charset="-122"/>
                <a:cs typeface="Calibri" pitchFamily="34" charset="-120"/>
              </a:rPr>
              <a:t>💬 THINK / PAIR / SHARE</a:t>
            </a:r>
            <a:endParaRPr lang="en-US" sz="1300" dirty="0"/>
          </a:p>
        </p:txBody>
      </p:sp>
      <p:sp>
        <p:nvSpPr>
          <p:cNvPr id="10" name="Text 8"/>
          <p:cNvSpPr/>
          <p:nvPr/>
        </p:nvSpPr>
        <p:spPr>
          <a:xfrm>
            <a:off x="1417320" y="2148840"/>
            <a:ext cx="9144000" cy="1051560"/>
          </a:xfrm>
          <a:prstGeom prst="rect">
            <a:avLst/>
          </a:prstGeom>
          <a:noFill/>
          <a:ln/>
        </p:spPr>
        <p:txBody>
          <a:bodyPr wrap="square" lIns="0" tIns="0" rIns="0" bIns="0" rtlCol="0" anchor="t"/>
          <a:lstStyle/>
          <a:p>
            <a:pPr algn="l" indent="0" marL="0">
              <a:buNone/>
            </a:pPr>
            <a:r>
              <a:rPr lang="en-US" sz="2100" b="1" dirty="0">
                <a:solidFill>
                  <a:srgbClr val="1F2328"/>
                </a:solidFill>
                <a:latin typeface="Cambria" pitchFamily="34" charset="0"/>
                <a:ea typeface="Cambria" pitchFamily="34" charset="-122"/>
                <a:cs typeface="Cambria" pitchFamily="34" charset="-120"/>
              </a:rPr>
              <a:t>Peter wants to transfer money to Mary over public Wi-Fi. An attacker (Paul) intercepts the connection, poses as Mary to Peter and as Peter to Mary, and swaps in his own account number.</a:t>
            </a:r>
            <a:endParaRPr lang="en-US" sz="2100" dirty="0"/>
          </a:p>
        </p:txBody>
      </p:sp>
      <p:sp>
        <p:nvSpPr>
          <p:cNvPr id="11" name="Text 9"/>
          <p:cNvSpPr/>
          <p:nvPr/>
        </p:nvSpPr>
        <p:spPr>
          <a:xfrm>
            <a:off x="1143000" y="3520440"/>
            <a:ext cx="9692640" cy="2606040"/>
          </a:xfrm>
          <a:prstGeom prst="rect">
            <a:avLst/>
          </a:prstGeom>
          <a:noFill/>
          <a:ln/>
        </p:spPr>
        <p:txBody>
          <a:bodyPr wrap="square" lIns="0" tIns="0" rIns="0" bIns="0" rtlCol="0" anchor="t"/>
          <a:lstStyle/>
          <a:p>
            <a:pPr algn="l" marL="228600" indent="-228600">
              <a:lnSpc>
                <a:spcPct val="120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Why is this attack so hard to detect from either Peter's or Mary's side?</a:t>
            </a:r>
            <a:endParaRPr lang="en-US" sz="2400" dirty="0"/>
          </a:p>
          <a:p>
            <a:pPr algn="l" marL="228600" indent="-228600">
              <a:lnSpc>
                <a:spcPct val="120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What's the one thing about the connection that would have prevented this?</a:t>
            </a:r>
            <a:endParaRPr lang="en-US" sz="2400" dirty="0"/>
          </a:p>
          <a:p>
            <a:pPr algn="l" marL="228600" indent="-228600">
              <a:lnSpc>
                <a:spcPct val="120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Where else, besides banking, could a MITM attack matter for a piece of software you use?</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algn="l"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9</a:t>
            </a:r>
            <a:endParaRPr lang="en-US" sz="1100" dirty="0"/>
          </a:p>
        </p:txBody>
      </p:sp>
      <p:sp>
        <p:nvSpPr>
          <p:cNvPr id="4" name="Text 2"/>
          <p:cNvSpPr/>
          <p:nvPr/>
        </p:nvSpPr>
        <p:spPr>
          <a:xfrm>
            <a:off x="9363456" y="274320"/>
            <a:ext cx="2157984" cy="310896"/>
          </a:xfrm>
          <a:prstGeom prst="roundRect">
            <a:avLst>
              <a:gd name="adj" fmla="val 50000"/>
            </a:avLst>
          </a:prstGeom>
          <a:solidFill>
            <a:srgbClr val="4361EE"/>
          </a:solidFill>
          <a:ln/>
        </p:spPr>
        <p:txBody>
          <a:bodyPr wrap="square" lIns="0" tIns="0" rIns="0" bIns="0" rtlCol="0" anchor="ctr"/>
          <a:lstStyle/>
          <a:p>
            <a:pPr algn="ctr" indent="0" marL="0">
              <a:buNone/>
            </a:pPr>
            <a:r>
              <a:rPr lang="en-US" sz="1350" b="1" spc="100" kern="0" dirty="0">
                <a:solidFill>
                  <a:srgbClr val="FFFFFF"/>
                </a:solidFill>
                <a:latin typeface="Calibri" pitchFamily="34" charset="0"/>
                <a:ea typeface="Calibri" pitchFamily="34" charset="-122"/>
                <a:cs typeface="Calibri" pitchFamily="34" charset="-120"/>
              </a:rPr>
              <a:t>EXPLICIT EXPLANATION</a:t>
            </a:r>
            <a:endParaRPr lang="en-US" sz="1350" dirty="0"/>
          </a:p>
        </p:txBody>
      </p:sp>
      <p:sp>
        <p:nvSpPr>
          <p:cNvPr id="5" name="Text 3"/>
          <p:cNvSpPr/>
          <p:nvPr/>
        </p:nvSpPr>
        <p:spPr>
          <a:xfrm>
            <a:off x="9966960" y="658368"/>
            <a:ext cx="1554480" cy="310896"/>
          </a:xfrm>
          <a:prstGeom prst="roundRect">
            <a:avLst>
              <a:gd name="adj" fmla="val 50000"/>
            </a:avLst>
          </a:prstGeom>
          <a:solidFill>
            <a:srgbClr val="FFFFFF"/>
          </a:solidFill>
          <a:ln w="15875">
            <a:solidFill>
              <a:srgbClr val="57606A"/>
            </a:solidFill>
          </a:ln>
        </p:spPr>
        <p:txBody>
          <a:bodyPr wrap="square" lIns="0" tIns="0" rIns="0" bIns="0" rtlCol="0" anchor="ctr"/>
          <a:lstStyle/>
          <a:p>
            <a:pPr algn="ctr" indent="0" marL="0">
              <a:buNone/>
            </a:pPr>
            <a:r>
              <a:rPr lang="en-US" sz="1350" b="1" spc="100" kern="0" dirty="0">
                <a:solidFill>
                  <a:srgbClr val="57606A"/>
                </a:solidFill>
                <a:latin typeface="Calibri" pitchFamily="34" charset="0"/>
                <a:ea typeface="Calibri" pitchFamily="34" charset="-122"/>
                <a:cs typeface="Calibri" pitchFamily="34" charset="-120"/>
              </a:rPr>
              <a:t>OFF DEVICES</a:t>
            </a:r>
            <a:endParaRPr lang="en-US" sz="1350" dirty="0"/>
          </a:p>
        </p:txBody>
      </p:sp>
      <p:sp>
        <p:nvSpPr>
          <p:cNvPr id="6" name="Text 4"/>
          <p:cNvSpPr/>
          <p:nvPr/>
        </p:nvSpPr>
        <p:spPr>
          <a:xfrm>
            <a:off x="548640" y="713232"/>
            <a:ext cx="457200" cy="457200"/>
          </a:xfrm>
          <a:prstGeom prst="ellipse">
            <a:avLst/>
          </a:prstGeom>
          <a:solidFill>
            <a:srgbClr val="4361EE"/>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7" name="Text 5"/>
          <p:cNvSpPr/>
          <p:nvPr/>
        </p:nvSpPr>
        <p:spPr>
          <a:xfrm>
            <a:off x="1143000" y="713232"/>
            <a:ext cx="7315200" cy="219456"/>
          </a:xfrm>
          <a:prstGeom prst="rect">
            <a:avLst/>
          </a:prstGeom>
          <a:noFill/>
          <a:ln/>
        </p:spPr>
        <p:txBody>
          <a:bodyPr wrap="square" lIns="0" tIns="0" rIns="0" bIns="0" rtlCol="0" anchor="ctr"/>
          <a:lstStyle/>
          <a:p>
            <a:pPr algn="l" indent="0" marL="0">
              <a:buNone/>
            </a:pPr>
            <a:r>
              <a:rPr lang="en-US" sz="1150" b="1" spc="100" kern="0" dirty="0">
                <a:solidFill>
                  <a:srgbClr val="57606A"/>
                </a:solidFill>
                <a:latin typeface="Calibri" pitchFamily="34" charset="0"/>
                <a:ea typeface="Calibri" pitchFamily="34" charset="-122"/>
                <a:cs typeface="Calibri" pitchFamily="34" charset="-120"/>
              </a:rPr>
              <a:t>EXPLICIT EXPLANATION</a:t>
            </a:r>
            <a:endParaRPr lang="en-US" sz="1150" dirty="0"/>
          </a:p>
        </p:txBody>
      </p:sp>
      <p:sp>
        <p:nvSpPr>
          <p:cNvPr id="8" name="Text 6"/>
          <p:cNvSpPr/>
          <p:nvPr/>
        </p:nvSpPr>
        <p:spPr>
          <a:xfrm>
            <a:off x="1143000" y="914400"/>
            <a:ext cx="9601200" cy="502920"/>
          </a:xfrm>
          <a:prstGeom prst="rect">
            <a:avLst/>
          </a:prstGeom>
          <a:noFill/>
          <a:ln/>
        </p:spPr>
        <p:txBody>
          <a:bodyPr wrap="square" lIns="0" tIns="0" rIns="0" bIns="0" rtlCol="0" anchor="ctr"/>
          <a:lstStyle/>
          <a:p>
            <a:pPr algn="l" indent="0" marL="0">
              <a:buNone/>
            </a:pPr>
            <a:r>
              <a:rPr lang="en-US" sz="2700" b="1" dirty="0">
                <a:solidFill>
                  <a:srgbClr val="1F2328"/>
                </a:solidFill>
                <a:latin typeface="Cambria" pitchFamily="34" charset="0"/>
                <a:ea typeface="Cambria" pitchFamily="34" charset="-122"/>
                <a:cs typeface="Cambria" pitchFamily="34" charset="-120"/>
              </a:rPr>
              <a:t>Mitigating MITM attacks</a:t>
            </a:r>
            <a:endParaRPr lang="en-US" sz="2700" dirty="0"/>
          </a:p>
        </p:txBody>
      </p:sp>
      <p:sp>
        <p:nvSpPr>
          <p:cNvPr id="9" name="Text 7"/>
          <p:cNvSpPr/>
          <p:nvPr/>
        </p:nvSpPr>
        <p:spPr>
          <a:xfrm>
            <a:off x="8778240" y="731520"/>
            <a:ext cx="2880360" cy="420624"/>
          </a:xfrm>
          <a:prstGeom prst="roundRect">
            <a:avLst>
              <a:gd name="adj" fmla="val 50000"/>
            </a:avLst>
          </a:prstGeom>
          <a:solidFill>
            <a:srgbClr val="FEF3E0"/>
          </a:solidFill>
          <a:ln w="15875">
            <a:solidFill>
              <a:srgbClr val="F59E0B"/>
            </a:solidFill>
          </a:ln>
        </p:spPr>
        <p:txBody>
          <a:bodyPr wrap="square" lIns="0" tIns="0" rIns="0" bIns="0" rtlCol="0" anchor="ctr"/>
          <a:lstStyle/>
          <a:p>
            <a:pPr algn="ctr" indent="0" marL="0">
              <a:buNone/>
            </a:pPr>
            <a:r>
              <a:rPr lang="en-US" sz="1350" b="1" spc="100" kern="0" dirty="0">
                <a:solidFill>
                  <a:srgbClr val="946200"/>
                </a:solidFill>
                <a:latin typeface="Calibri" pitchFamily="34" charset="0"/>
                <a:ea typeface="Calibri" pitchFamily="34" charset="-122"/>
                <a:cs typeface="Calibri" pitchFamily="34" charset="-120"/>
              </a:rPr>
              <a:t>📋 COPY TO WORKBOOK</a:t>
            </a:r>
            <a:endParaRPr lang="en-US" sz="1350" dirty="0"/>
          </a:p>
        </p:txBody>
      </p:sp>
      <p:sp>
        <p:nvSpPr>
          <p:cNvPr id="10" name="Text 8"/>
          <p:cNvSpPr/>
          <p:nvPr/>
        </p:nvSpPr>
        <p:spPr>
          <a:xfrm>
            <a:off x="1143000" y="1691640"/>
            <a:ext cx="9784080" cy="4160520"/>
          </a:xfrm>
          <a:prstGeom prst="rect">
            <a:avLst/>
          </a:prstGeom>
          <a:noFill/>
          <a:ln/>
        </p:spPr>
        <p:txBody>
          <a:bodyPr wrap="square" lIns="0" tIns="0" rIns="0" bIns="0" rtlCol="0" anchor="t"/>
          <a:lstStyle/>
          <a:p>
            <a:pPr algn="l" marL="254000" indent="-254000">
              <a:lnSpc>
                <a:spcPct val="120000"/>
              </a:lnSpc>
              <a:spcAft>
                <a:spcPts val="1600"/>
              </a:spcAft>
              <a:buSzPct val="100000"/>
              <a:buChar char="•"/>
            </a:pPr>
            <a:r>
              <a:rPr lang="en-US" sz="2100" dirty="0">
                <a:solidFill>
                  <a:srgbClr val="1F2328"/>
                </a:solidFill>
                <a:latin typeface="Calibri" pitchFamily="34" charset="0"/>
                <a:ea typeface="Calibri" pitchFamily="34" charset="-122"/>
                <a:cs typeface="Calibri" pitchFamily="34" charset="-120"/>
              </a:rPr>
              <a:t>Strong encryption — TLS/SSL and end-to-end encryption while data is in transit.</a:t>
            </a:r>
            <a:endParaRPr lang="en-US" sz="2100" dirty="0"/>
          </a:p>
          <a:p>
            <a:pPr algn="l" marL="254000" indent="-254000">
              <a:lnSpc>
                <a:spcPct val="120000"/>
              </a:lnSpc>
              <a:spcAft>
                <a:spcPts val="1600"/>
              </a:spcAft>
              <a:buSzPct val="100000"/>
              <a:buChar char="•"/>
            </a:pPr>
            <a:r>
              <a:rPr lang="en-US" sz="2100" dirty="0">
                <a:solidFill>
                  <a:srgbClr val="1F2328"/>
                </a:solidFill>
                <a:latin typeface="Calibri" pitchFamily="34" charset="0"/>
                <a:ea typeface="Calibri" pitchFamily="34" charset="-122"/>
                <a:cs typeface="Calibri" pitchFamily="34" charset="-120"/>
              </a:rPr>
              <a:t>Server certificate verification — certificates from trusted authorities, checked by the application.</a:t>
            </a:r>
            <a:endParaRPr lang="en-US" sz="2100" dirty="0"/>
          </a:p>
          <a:p>
            <a:pPr algn="l" marL="254000" indent="-254000">
              <a:lnSpc>
                <a:spcPct val="120000"/>
              </a:lnSpc>
              <a:spcAft>
                <a:spcPts val="1600"/>
              </a:spcAft>
              <a:buSzPct val="100000"/>
              <a:buChar char="•"/>
            </a:pPr>
            <a:r>
              <a:rPr lang="en-US" sz="2100" dirty="0">
                <a:solidFill>
                  <a:srgbClr val="1F2328"/>
                </a:solidFill>
                <a:latin typeface="Calibri" pitchFamily="34" charset="0"/>
                <a:ea typeface="Calibri" pitchFamily="34" charset="-122"/>
                <a:cs typeface="Calibri" pitchFamily="34" charset="-120"/>
              </a:rPr>
              <a:t>Secure networks — avoid public Wi-Fi; use a VPN for encrypted connections.</a:t>
            </a:r>
            <a:endParaRPr lang="en-US" sz="2100" dirty="0"/>
          </a:p>
          <a:p>
            <a:pPr algn="l" marL="254000" indent="-254000">
              <a:lnSpc>
                <a:spcPct val="120000"/>
              </a:lnSpc>
              <a:spcAft>
                <a:spcPts val="1600"/>
              </a:spcAft>
              <a:buSzPct val="100000"/>
              <a:buChar char="•"/>
            </a:pPr>
            <a:r>
              <a:rPr lang="en-US" sz="2100" dirty="0">
                <a:solidFill>
                  <a:srgbClr val="1F2328"/>
                </a:solidFill>
                <a:latin typeface="Calibri" pitchFamily="34" charset="0"/>
                <a:ea typeface="Calibri" pitchFamily="34" charset="-122"/>
                <a:cs typeface="Calibri" pitchFamily="34" charset="-120"/>
              </a:rPr>
              <a:t>Multi-factor authentication — an extra layer beyond just a password.</a:t>
            </a:r>
            <a:endParaRPr lang="en-US" sz="2100" dirty="0"/>
          </a:p>
          <a:p>
            <a:pPr algn="l" marL="254000" indent="-254000">
              <a:lnSpc>
                <a:spcPct val="120000"/>
              </a:lnSpc>
              <a:spcAft>
                <a:spcPts val="1600"/>
              </a:spcAft>
              <a:buSzPct val="100000"/>
              <a:buChar char="•"/>
            </a:pPr>
            <a:r>
              <a:rPr lang="en-US" sz="2100" dirty="0">
                <a:solidFill>
                  <a:srgbClr val="1F2328"/>
                </a:solidFill>
                <a:latin typeface="Calibri" pitchFamily="34" charset="0"/>
                <a:ea typeface="Calibri" pitchFamily="34" charset="-122"/>
                <a:cs typeface="Calibri" pitchFamily="34" charset="-120"/>
              </a:rPr>
              <a:t>Up-to-date software — patch regularly to close known vulnerabilities.</a:t>
            </a:r>
            <a:endParaRPr lang="en-US" sz="2100" dirty="0"/>
          </a:p>
        </p:txBody>
      </p:sp>
      <p:sp>
        <p:nvSpPr>
          <p:cNvPr id="11" name="Text 9"/>
          <p:cNvSpPr/>
          <p:nvPr/>
        </p:nvSpPr>
        <p:spPr>
          <a:xfrm>
            <a:off x="1143000" y="6080760"/>
            <a:ext cx="9692640" cy="320040"/>
          </a:xfrm>
          <a:prstGeom prst="rect">
            <a:avLst/>
          </a:prstGeom>
          <a:noFill/>
          <a:ln/>
        </p:spPr>
        <p:txBody>
          <a:bodyPr wrap="square" lIns="0" tIns="0" rIns="0" bIns="0" rtlCol="0" anchor="ctr"/>
          <a:lstStyle/>
          <a:p>
            <a:pPr algn="l" indent="0" marL="0">
              <a:buNone/>
            </a:pPr>
            <a:r>
              <a:rPr lang="en-US" sz="1100" i="1" dirty="0">
                <a:solidFill>
                  <a:srgbClr val="57606A"/>
                </a:solidFill>
                <a:latin typeface="Calibri" pitchFamily="34" charset="0"/>
                <a:ea typeface="Calibri" pitchFamily="34" charset="-122"/>
                <a:cs typeface="Calibri" pitchFamily="34" charset="-120"/>
              </a:rPr>
              <a:t>Nelson Software Development VCE Units 3&amp;4, 2E — Table 6.1, p.250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algn="l"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10</a:t>
            </a:r>
            <a:endParaRPr lang="en-US" sz="1100" dirty="0"/>
          </a:p>
        </p:txBody>
      </p:sp>
      <p:sp>
        <p:nvSpPr>
          <p:cNvPr id="4" name="Text 2"/>
          <p:cNvSpPr/>
          <p:nvPr/>
        </p:nvSpPr>
        <p:spPr>
          <a:xfrm>
            <a:off x="10186416" y="274320"/>
            <a:ext cx="1335024" cy="310896"/>
          </a:xfrm>
          <a:prstGeom prst="roundRect">
            <a:avLst>
              <a:gd name="adj" fmla="val 50000"/>
            </a:avLst>
          </a:prstGeom>
          <a:solidFill>
            <a:srgbClr val="10B981"/>
          </a:solidFill>
          <a:ln/>
        </p:spPr>
        <p:txBody>
          <a:bodyPr wrap="square" lIns="0" tIns="0" rIns="0" bIns="0" rtlCol="0" anchor="ctr"/>
          <a:lstStyle/>
          <a:p>
            <a:pPr algn="ctr" indent="0" marL="0">
              <a:buNone/>
            </a:pPr>
            <a:r>
              <a:rPr lang="en-US" sz="1350" b="1" spc="100" kern="0" dirty="0">
                <a:solidFill>
                  <a:srgbClr val="FFFFFF"/>
                </a:solidFill>
                <a:latin typeface="Calibri" pitchFamily="34" charset="0"/>
                <a:ea typeface="Calibri" pitchFamily="34" charset="-122"/>
                <a:cs typeface="Calibri" pitchFamily="34" charset="-120"/>
              </a:rPr>
              <a:t>APPLICATION</a:t>
            </a:r>
            <a:endParaRPr lang="en-US" sz="1350" dirty="0"/>
          </a:p>
        </p:txBody>
      </p:sp>
      <p:sp>
        <p:nvSpPr>
          <p:cNvPr id="5" name="Text 3"/>
          <p:cNvSpPr/>
          <p:nvPr/>
        </p:nvSpPr>
        <p:spPr>
          <a:xfrm>
            <a:off x="9966960" y="658368"/>
            <a:ext cx="1554480" cy="310896"/>
          </a:xfrm>
          <a:prstGeom prst="roundRect">
            <a:avLst>
              <a:gd name="adj" fmla="val 50000"/>
            </a:avLst>
          </a:prstGeom>
          <a:solidFill>
            <a:srgbClr val="FFFFFF"/>
          </a:solidFill>
          <a:ln w="15875">
            <a:solidFill>
              <a:srgbClr val="10B981"/>
            </a:solidFill>
          </a:ln>
        </p:spPr>
        <p:txBody>
          <a:bodyPr wrap="square" lIns="0" tIns="0" rIns="0" bIns="0" rtlCol="0" anchor="ctr"/>
          <a:lstStyle/>
          <a:p>
            <a:pPr algn="ctr" indent="0" marL="0">
              <a:buNone/>
            </a:pPr>
            <a:r>
              <a:rPr lang="en-US" sz="1350" b="1" spc="100" kern="0" dirty="0">
                <a:solidFill>
                  <a:srgbClr val="10B981"/>
                </a:solidFill>
                <a:latin typeface="Calibri" pitchFamily="34" charset="0"/>
                <a:ea typeface="Calibri" pitchFamily="34" charset="-122"/>
                <a:cs typeface="Calibri" pitchFamily="34" charset="-120"/>
              </a:rPr>
              <a:t>ON DEVICES</a:t>
            </a:r>
            <a:endParaRPr lang="en-US" sz="1350" dirty="0"/>
          </a:p>
        </p:txBody>
      </p:sp>
      <p:sp>
        <p:nvSpPr>
          <p:cNvPr id="6" name="Text 4"/>
          <p:cNvSpPr/>
          <p:nvPr/>
        </p:nvSpPr>
        <p:spPr>
          <a:xfrm>
            <a:off x="548640" y="713232"/>
            <a:ext cx="457200" cy="457200"/>
          </a:xfrm>
          <a:prstGeom prst="ellipse">
            <a:avLst/>
          </a:prstGeom>
          <a:solidFill>
            <a:srgbClr val="10B98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7" name="Text 5"/>
          <p:cNvSpPr/>
          <p:nvPr/>
        </p:nvSpPr>
        <p:spPr>
          <a:xfrm>
            <a:off x="1143000" y="713232"/>
            <a:ext cx="7315200" cy="219456"/>
          </a:xfrm>
          <a:prstGeom prst="rect">
            <a:avLst/>
          </a:prstGeom>
          <a:noFill/>
          <a:ln/>
        </p:spPr>
        <p:txBody>
          <a:bodyPr wrap="square" lIns="0" tIns="0" rIns="0" bIns="0" rtlCol="0" anchor="ctr"/>
          <a:lstStyle/>
          <a:p>
            <a:pPr algn="l" indent="0" marL="0">
              <a:buNone/>
            </a:pPr>
            <a:r>
              <a:rPr lang="en-US" sz="1150" b="1" spc="100" kern="0" dirty="0">
                <a:solidFill>
                  <a:srgbClr val="57606A"/>
                </a:solidFill>
                <a:latin typeface="Calibri" pitchFamily="34" charset="0"/>
                <a:ea typeface="Calibri" pitchFamily="34" charset="-122"/>
                <a:cs typeface="Calibri" pitchFamily="34" charset="-120"/>
              </a:rPr>
              <a:t>APPLICATION OF LEARNING</a:t>
            </a:r>
            <a:endParaRPr lang="en-US" sz="1150" dirty="0"/>
          </a:p>
        </p:txBody>
      </p:sp>
      <p:sp>
        <p:nvSpPr>
          <p:cNvPr id="8" name="Text 6"/>
          <p:cNvSpPr/>
          <p:nvPr/>
        </p:nvSpPr>
        <p:spPr>
          <a:xfrm>
            <a:off x="1143000" y="914400"/>
            <a:ext cx="9601200" cy="502920"/>
          </a:xfrm>
          <a:prstGeom prst="rect">
            <a:avLst/>
          </a:prstGeom>
          <a:noFill/>
          <a:ln/>
        </p:spPr>
        <p:txBody>
          <a:bodyPr wrap="square" lIns="0" tIns="0" rIns="0" bIns="0" rtlCol="0" anchor="ctr"/>
          <a:lstStyle/>
          <a:p>
            <a:pPr algn="l" indent="0" marL="0">
              <a:buNone/>
            </a:pPr>
            <a:r>
              <a:rPr lang="en-US" sz="2700" b="1" dirty="0">
                <a:solidFill>
                  <a:srgbClr val="1F2328"/>
                </a:solidFill>
                <a:latin typeface="Cambria" pitchFamily="34" charset="0"/>
                <a:ea typeface="Cambria" pitchFamily="34" charset="-122"/>
                <a:cs typeface="Cambria" pitchFamily="34" charset="-120"/>
              </a:rPr>
              <a:t>Your turn</a:t>
            </a:r>
            <a:endParaRPr lang="en-US" sz="2700" dirty="0"/>
          </a:p>
        </p:txBody>
      </p:sp>
      <p:sp>
        <p:nvSpPr>
          <p:cNvPr id="9" name="Text 7"/>
          <p:cNvSpPr/>
          <p:nvPr/>
        </p:nvSpPr>
        <p:spPr>
          <a:xfrm>
            <a:off x="1143000" y="1645920"/>
            <a:ext cx="9692640" cy="548640"/>
          </a:xfrm>
          <a:prstGeom prst="roundRect">
            <a:avLst>
              <a:gd name="adj" fmla="val 13333"/>
            </a:avLst>
          </a:prstGeom>
          <a:solidFill>
            <a:srgbClr val="E7F9F1"/>
          </a:solidFill>
          <a:ln w="15875">
            <a:solidFill>
              <a:srgbClr val="10B981"/>
            </a:solidFill>
          </a:ln>
        </p:spPr>
        <p:txBody>
          <a:bodyPr wrap="square" lIns="177800" tIns="177800" rIns="177800" bIns="177800" rtlCol="0" anchor="ctr"/>
          <a:lstStyle/>
          <a:p>
            <a:pPr algn="l" indent="0" marL="0">
              <a:buNone/>
            </a:pPr>
            <a:r>
              <a:rPr lang="en-US" sz="1650" b="1" dirty="0">
                <a:solidFill>
                  <a:srgbClr val="0B7A56"/>
                </a:solidFill>
                <a:latin typeface="Calibri" pitchFamily="34" charset="0"/>
                <a:ea typeface="Calibri" pitchFamily="34" charset="-122"/>
                <a:cs typeface="Calibri" pitchFamily="34" charset="-120"/>
              </a:rPr>
              <a:t>➜ Open your workbook — Section 3, Application</a:t>
            </a:r>
            <a:endParaRPr lang="en-US" sz="1650" dirty="0"/>
          </a:p>
        </p:txBody>
      </p:sp>
      <p:sp>
        <p:nvSpPr>
          <p:cNvPr id="10" name="Shape 8"/>
          <p:cNvSpPr/>
          <p:nvPr/>
        </p:nvSpPr>
        <p:spPr>
          <a:xfrm>
            <a:off x="1143000" y="2377440"/>
            <a:ext cx="9692640" cy="1386840"/>
          </a:xfrm>
          <a:prstGeom prst="roundRect">
            <a:avLst>
              <a:gd name="adj" fmla="val 5275"/>
            </a:avLst>
          </a:prstGeom>
          <a:solidFill>
            <a:srgbClr val="FFFFFF"/>
          </a:solidFill>
          <a:ln w="12700">
            <a:solidFill>
              <a:srgbClr val="D8DEE9"/>
            </a:solidFill>
            <a:prstDash val="solid"/>
          </a:ln>
        </p:spPr>
      </p:sp>
      <p:sp>
        <p:nvSpPr>
          <p:cNvPr id="11" name="Text 9"/>
          <p:cNvSpPr/>
          <p:nvPr/>
        </p:nvSpPr>
        <p:spPr>
          <a:xfrm>
            <a:off x="1143000" y="2377440"/>
            <a:ext cx="548640" cy="1386840"/>
          </a:xfrm>
          <a:prstGeom prst="roundRect">
            <a:avLst>
              <a:gd name="adj" fmla="val 13333"/>
            </a:avLst>
          </a:prstGeom>
          <a:solidFill>
            <a:srgbClr val="10B981"/>
          </a:solidFill>
          <a:ln/>
        </p:spPr>
        <p:txBody>
          <a:bodyPr wrap="square" lIns="0" tIns="0" rIns="0" bIns="0" rtlCol="0" anchor="ctr"/>
          <a:lstStyle/>
          <a:p>
            <a:pPr algn="ctr"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2" name="Text 10"/>
          <p:cNvSpPr/>
          <p:nvPr/>
        </p:nvSpPr>
        <p:spPr>
          <a:xfrm>
            <a:off x="1920240" y="2432304"/>
            <a:ext cx="8732520" cy="1277112"/>
          </a:xfrm>
          <a:prstGeom prst="rect">
            <a:avLst/>
          </a:prstGeom>
          <a:noFill/>
          <a:ln/>
        </p:spPr>
        <p:txBody>
          <a:bodyPr wrap="square" lIns="0" tIns="0" rIns="0" bIns="0" rtlCol="0" anchor="ctr"/>
          <a:lstStyle/>
          <a:p>
            <a:pPr algn="l" indent="0" marL="0">
              <a:lnSpc>
                <a:spcPct val="110000"/>
              </a:lnSpc>
              <a:buNone/>
            </a:pPr>
            <a:r>
              <a:rPr lang="en-US" sz="2000" dirty="0">
                <a:solidFill>
                  <a:srgbClr val="1F2328"/>
                </a:solidFill>
                <a:latin typeface="Calibri" pitchFamily="34" charset="0"/>
                <a:ea typeface="Calibri" pitchFamily="34" charset="-122"/>
                <a:cs typeface="Calibri" pitchFamily="34" charset="-120"/>
              </a:rPr>
              <a:t>Match each of the 5 vulnerability types to its definition and to the correct case study (Optus, WannaCry, or Medibank).</a:t>
            </a:r>
            <a:endParaRPr lang="en-US" sz="2000" dirty="0"/>
          </a:p>
        </p:txBody>
      </p:sp>
      <p:sp>
        <p:nvSpPr>
          <p:cNvPr id="13" name="Shape 11"/>
          <p:cNvSpPr/>
          <p:nvPr/>
        </p:nvSpPr>
        <p:spPr>
          <a:xfrm>
            <a:off x="1143000" y="3901440"/>
            <a:ext cx="9692640" cy="1386840"/>
          </a:xfrm>
          <a:prstGeom prst="roundRect">
            <a:avLst>
              <a:gd name="adj" fmla="val 5275"/>
            </a:avLst>
          </a:prstGeom>
          <a:solidFill>
            <a:srgbClr val="FFFFFF"/>
          </a:solidFill>
          <a:ln w="12700">
            <a:solidFill>
              <a:srgbClr val="D8DEE9"/>
            </a:solidFill>
            <a:prstDash val="solid"/>
          </a:ln>
        </p:spPr>
      </p:sp>
      <p:sp>
        <p:nvSpPr>
          <p:cNvPr id="14" name="Text 12"/>
          <p:cNvSpPr/>
          <p:nvPr/>
        </p:nvSpPr>
        <p:spPr>
          <a:xfrm>
            <a:off x="1143000" y="3901440"/>
            <a:ext cx="548640" cy="1386840"/>
          </a:xfrm>
          <a:prstGeom prst="roundRect">
            <a:avLst>
              <a:gd name="adj" fmla="val 13333"/>
            </a:avLst>
          </a:prstGeom>
          <a:solidFill>
            <a:srgbClr val="F59E0B"/>
          </a:solidFill>
          <a:ln/>
        </p:spPr>
        <p:txBody>
          <a:bodyPr wrap="square" lIns="0" tIns="0" rIns="0" bIns="0" rtlCol="0" anchor="ctr"/>
          <a:lstStyle/>
          <a:p>
            <a:pPr algn="ctr"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5" name="Text 13"/>
          <p:cNvSpPr/>
          <p:nvPr/>
        </p:nvSpPr>
        <p:spPr>
          <a:xfrm>
            <a:off x="1920240" y="3956304"/>
            <a:ext cx="8732520" cy="1277112"/>
          </a:xfrm>
          <a:prstGeom prst="rect">
            <a:avLst/>
          </a:prstGeom>
          <a:noFill/>
          <a:ln/>
        </p:spPr>
        <p:txBody>
          <a:bodyPr wrap="square" lIns="0" tIns="0" rIns="0" bIns="0" rtlCol="0" anchor="ctr"/>
          <a:lstStyle/>
          <a:p>
            <a:pPr algn="l" indent="0" marL="0">
              <a:lnSpc>
                <a:spcPct val="110000"/>
              </a:lnSpc>
              <a:buNone/>
            </a:pPr>
            <a:r>
              <a:rPr lang="en-US" sz="2000" dirty="0">
                <a:solidFill>
                  <a:srgbClr val="1F2328"/>
                </a:solidFill>
                <a:latin typeface="Calibri" pitchFamily="34" charset="0"/>
                <a:ea typeface="Calibri" pitchFamily="34" charset="-122"/>
                <a:cs typeface="Calibri" pitchFamily="34" charset="-120"/>
              </a:rPr>
              <a:t>Pick one vulnerability type. Explain specifically what makes it exploitable, and one real consequence for an organisation if it isn't addressed.</a:t>
            </a:r>
            <a:endParaRPr lang="en-US" sz="2000" dirty="0"/>
          </a:p>
        </p:txBody>
      </p:sp>
      <p:sp>
        <p:nvSpPr>
          <p:cNvPr id="16" name="Shape 14"/>
          <p:cNvSpPr/>
          <p:nvPr/>
        </p:nvSpPr>
        <p:spPr>
          <a:xfrm>
            <a:off x="1143000" y="5425440"/>
            <a:ext cx="9692640" cy="1386840"/>
          </a:xfrm>
          <a:prstGeom prst="roundRect">
            <a:avLst>
              <a:gd name="adj" fmla="val 5275"/>
            </a:avLst>
          </a:prstGeom>
          <a:solidFill>
            <a:srgbClr val="FFFFFF"/>
          </a:solidFill>
          <a:ln w="12700">
            <a:solidFill>
              <a:srgbClr val="D8DEE9"/>
            </a:solidFill>
            <a:prstDash val="solid"/>
          </a:ln>
        </p:spPr>
      </p:sp>
      <p:sp>
        <p:nvSpPr>
          <p:cNvPr id="17" name="Text 15"/>
          <p:cNvSpPr/>
          <p:nvPr/>
        </p:nvSpPr>
        <p:spPr>
          <a:xfrm>
            <a:off x="1143000" y="5425440"/>
            <a:ext cx="548640" cy="1386840"/>
          </a:xfrm>
          <a:prstGeom prst="roundRect">
            <a:avLst>
              <a:gd name="adj" fmla="val 13333"/>
            </a:avLst>
          </a:prstGeom>
          <a:solidFill>
            <a:srgbClr val="8B5CF6"/>
          </a:solidFill>
          <a:ln/>
        </p:spPr>
        <p:txBody>
          <a:bodyPr wrap="square" lIns="0" tIns="0" rIns="0" bIns="0" rtlCol="0" anchor="ctr"/>
          <a:lstStyle/>
          <a:p>
            <a:pPr algn="ctr" indent="0" marL="0">
              <a:buNone/>
            </a:pPr>
            <a:r>
              <a:rPr lang="en-US" sz="1900" dirty="0">
                <a:solidFill>
                  <a:srgbClr val="000000"/>
                </a:solidFill>
                <a:latin typeface="Calibri" pitchFamily="34" charset="0"/>
                <a:ea typeface="Calibri" pitchFamily="34" charset="-122"/>
                <a:cs typeface="Calibri" pitchFamily="34" charset="-120"/>
              </a:rPr>
              <a:t>🟣</a:t>
            </a:r>
            <a:endParaRPr lang="en-US" sz="1900" dirty="0"/>
          </a:p>
        </p:txBody>
      </p:sp>
      <p:sp>
        <p:nvSpPr>
          <p:cNvPr id="18" name="Text 16"/>
          <p:cNvSpPr/>
          <p:nvPr/>
        </p:nvSpPr>
        <p:spPr>
          <a:xfrm>
            <a:off x="1920240" y="5480304"/>
            <a:ext cx="8732520" cy="1277112"/>
          </a:xfrm>
          <a:prstGeom prst="rect">
            <a:avLst/>
          </a:prstGeom>
          <a:noFill/>
          <a:ln/>
        </p:spPr>
        <p:txBody>
          <a:bodyPr wrap="square" lIns="0" tIns="0" rIns="0" bIns="0" rtlCol="0" anchor="ctr"/>
          <a:lstStyle/>
          <a:p>
            <a:pPr algn="l" indent="0" marL="0">
              <a:lnSpc>
                <a:spcPct val="110000"/>
              </a:lnSpc>
              <a:buNone/>
            </a:pPr>
            <a:r>
              <a:rPr lang="en-US" sz="2000" dirty="0">
                <a:solidFill>
                  <a:srgbClr val="1F2328"/>
                </a:solidFill>
                <a:latin typeface="Calibri" pitchFamily="34" charset="0"/>
                <a:ea typeface="Calibri" pitchFamily="34" charset="-122"/>
                <a:cs typeface="Calibri" pitchFamily="34" charset="-120"/>
              </a:rPr>
              <a:t>Read a short scenario and identify which vulnerability type(s) are present, justify your reasoning, and propose one matching mitigation for each.</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1FD"/>
        </a:solidFill>
      </p:bgPr>
    </p:bg>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algn="l"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11</a:t>
            </a:r>
            <a:endParaRPr lang="en-US" sz="1100" dirty="0"/>
          </a:p>
        </p:txBody>
      </p:sp>
      <p:sp>
        <p:nvSpPr>
          <p:cNvPr id="4" name="Text 2"/>
          <p:cNvSpPr/>
          <p:nvPr/>
        </p:nvSpPr>
        <p:spPr>
          <a:xfrm>
            <a:off x="548640" y="2286000"/>
            <a:ext cx="10058400" cy="548640"/>
          </a:xfrm>
          <a:prstGeom prst="rect">
            <a:avLst/>
          </a:prstGeom>
          <a:noFill/>
          <a:ln/>
        </p:spPr>
        <p:txBody>
          <a:bodyPr wrap="square" lIns="0" tIns="0" rIns="0" bIns="0" rtlCol="0" anchor="ctr"/>
          <a:lstStyle/>
          <a:p>
            <a:pPr algn="ctr" indent="0" marL="0">
              <a:buNone/>
            </a:pPr>
            <a:r>
              <a:rPr lang="en-US" sz="1900" b="1" spc="200" kern="0" dirty="0">
                <a:solidFill>
                  <a:srgbClr val="4361EE"/>
                </a:solidFill>
                <a:latin typeface="Calibri" pitchFamily="34" charset="0"/>
                <a:ea typeface="Calibri" pitchFamily="34" charset="-122"/>
                <a:cs typeface="Calibri" pitchFamily="34" charset="-120"/>
              </a:rPr>
              <a:t>🧠  BRAIN BREAK</a:t>
            </a:r>
            <a:endParaRPr lang="en-US" sz="1900" dirty="0"/>
          </a:p>
        </p:txBody>
      </p:sp>
      <p:sp>
        <p:nvSpPr>
          <p:cNvPr id="5" name="Text 3"/>
          <p:cNvSpPr/>
          <p:nvPr/>
        </p:nvSpPr>
        <p:spPr>
          <a:xfrm>
            <a:off x="1280160" y="2926080"/>
            <a:ext cx="8869680" cy="1737360"/>
          </a:xfrm>
          <a:prstGeom prst="rect">
            <a:avLst/>
          </a:prstGeom>
          <a:noFill/>
          <a:ln/>
        </p:spPr>
        <p:txBody>
          <a:bodyPr wrap="square" lIns="0" tIns="0" rIns="0" bIns="0" rtlCol="0" anchor="t"/>
          <a:lstStyle/>
          <a:p>
            <a:pPr algn="ctr" indent="0" marL="0">
              <a:buNone/>
            </a:pPr>
            <a:r>
              <a:rPr lang="en-US" sz="2600" b="1" dirty="0">
                <a:solidFill>
                  <a:srgbClr val="1F2328"/>
                </a:solidFill>
                <a:latin typeface="Cambria" pitchFamily="34" charset="0"/>
                <a:ea typeface="Cambria" pitchFamily="34" charset="-122"/>
                <a:cs typeface="Cambria" pitchFamily="34" charset="-120"/>
              </a:rPr>
              <a:t>Stand up if your Wi-Fi at home has a password. Stay standing if you've ever used free Wi-Fi at a café, airport, or shopping centre. Look around — who's still standing?</a:t>
            </a:r>
            <a:endParaRPr lang="en-US" sz="2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algn="l"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12</a:t>
            </a:r>
            <a:endParaRPr lang="en-US" sz="1100" dirty="0"/>
          </a:p>
        </p:txBody>
      </p:sp>
      <p:sp>
        <p:nvSpPr>
          <p:cNvPr id="4" name="Text 2"/>
          <p:cNvSpPr/>
          <p:nvPr/>
        </p:nvSpPr>
        <p:spPr>
          <a:xfrm>
            <a:off x="9363456" y="274320"/>
            <a:ext cx="2157984" cy="310896"/>
          </a:xfrm>
          <a:prstGeom prst="roundRect">
            <a:avLst>
              <a:gd name="adj" fmla="val 50000"/>
            </a:avLst>
          </a:prstGeom>
          <a:solidFill>
            <a:srgbClr val="4361EE"/>
          </a:solidFill>
          <a:ln/>
        </p:spPr>
        <p:txBody>
          <a:bodyPr wrap="square" lIns="0" tIns="0" rIns="0" bIns="0" rtlCol="0" anchor="ctr"/>
          <a:lstStyle/>
          <a:p>
            <a:pPr algn="ctr" indent="0" marL="0">
              <a:buNone/>
            </a:pPr>
            <a:r>
              <a:rPr lang="en-US" sz="1350" b="1" spc="100" kern="0" dirty="0">
                <a:solidFill>
                  <a:srgbClr val="FFFFFF"/>
                </a:solidFill>
                <a:latin typeface="Calibri" pitchFamily="34" charset="0"/>
                <a:ea typeface="Calibri" pitchFamily="34" charset="-122"/>
                <a:cs typeface="Calibri" pitchFamily="34" charset="-120"/>
              </a:rPr>
              <a:t>EXPLICIT EXPLANATION</a:t>
            </a:r>
            <a:endParaRPr lang="en-US" sz="1350" dirty="0"/>
          </a:p>
        </p:txBody>
      </p:sp>
      <p:sp>
        <p:nvSpPr>
          <p:cNvPr id="5" name="Text 3"/>
          <p:cNvSpPr/>
          <p:nvPr/>
        </p:nvSpPr>
        <p:spPr>
          <a:xfrm>
            <a:off x="9966960" y="658368"/>
            <a:ext cx="1554480" cy="310896"/>
          </a:xfrm>
          <a:prstGeom prst="roundRect">
            <a:avLst>
              <a:gd name="adj" fmla="val 50000"/>
            </a:avLst>
          </a:prstGeom>
          <a:solidFill>
            <a:srgbClr val="FFFFFF"/>
          </a:solidFill>
          <a:ln w="15875">
            <a:solidFill>
              <a:srgbClr val="57606A"/>
            </a:solidFill>
          </a:ln>
        </p:spPr>
        <p:txBody>
          <a:bodyPr wrap="square" lIns="0" tIns="0" rIns="0" bIns="0" rtlCol="0" anchor="ctr"/>
          <a:lstStyle/>
          <a:p>
            <a:pPr algn="ctr" indent="0" marL="0">
              <a:buNone/>
            </a:pPr>
            <a:r>
              <a:rPr lang="en-US" sz="1350" b="1" spc="100" kern="0" dirty="0">
                <a:solidFill>
                  <a:srgbClr val="57606A"/>
                </a:solidFill>
                <a:latin typeface="Calibri" pitchFamily="34" charset="0"/>
                <a:ea typeface="Calibri" pitchFamily="34" charset="-122"/>
                <a:cs typeface="Calibri" pitchFamily="34" charset="-120"/>
              </a:rPr>
              <a:t>OFF DEVICES</a:t>
            </a:r>
            <a:endParaRPr lang="en-US" sz="1350" dirty="0"/>
          </a:p>
        </p:txBody>
      </p:sp>
      <p:sp>
        <p:nvSpPr>
          <p:cNvPr id="6" name="Text 4"/>
          <p:cNvSpPr/>
          <p:nvPr/>
        </p:nvSpPr>
        <p:spPr>
          <a:xfrm>
            <a:off x="548640" y="713232"/>
            <a:ext cx="457200" cy="457200"/>
          </a:xfrm>
          <a:prstGeom prst="ellipse">
            <a:avLst/>
          </a:prstGeom>
          <a:solidFill>
            <a:srgbClr val="8B5CF6"/>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7" name="Text 5"/>
          <p:cNvSpPr/>
          <p:nvPr/>
        </p:nvSpPr>
        <p:spPr>
          <a:xfrm>
            <a:off x="1143000" y="713232"/>
            <a:ext cx="7315200" cy="219456"/>
          </a:xfrm>
          <a:prstGeom prst="rect">
            <a:avLst/>
          </a:prstGeom>
          <a:noFill/>
          <a:ln/>
        </p:spPr>
        <p:txBody>
          <a:bodyPr wrap="square" lIns="0" tIns="0" rIns="0" bIns="0" rtlCol="0" anchor="ctr"/>
          <a:lstStyle/>
          <a:p>
            <a:pPr algn="l" indent="0" marL="0">
              <a:buNone/>
            </a:pPr>
            <a:r>
              <a:rPr lang="en-US" sz="1150" b="1" spc="100" kern="0" dirty="0">
                <a:solidFill>
                  <a:srgbClr val="57606A"/>
                </a:solidFill>
                <a:latin typeface="Calibri" pitchFamily="34" charset="0"/>
                <a:ea typeface="Calibri" pitchFamily="34" charset="-122"/>
                <a:cs typeface="Calibri" pitchFamily="34" charset="-120"/>
              </a:rPr>
              <a:t>RESPONSIVE TEACHING</a:t>
            </a:r>
            <a:endParaRPr lang="en-US" sz="1150" dirty="0"/>
          </a:p>
        </p:txBody>
      </p:sp>
      <p:sp>
        <p:nvSpPr>
          <p:cNvPr id="8" name="Text 6"/>
          <p:cNvSpPr/>
          <p:nvPr/>
        </p:nvSpPr>
        <p:spPr>
          <a:xfrm>
            <a:off x="1143000" y="914400"/>
            <a:ext cx="9601200" cy="502920"/>
          </a:xfrm>
          <a:prstGeom prst="rect">
            <a:avLst/>
          </a:prstGeom>
          <a:noFill/>
          <a:ln/>
        </p:spPr>
        <p:txBody>
          <a:bodyPr wrap="square" lIns="0" tIns="0" rIns="0" bIns="0" rtlCol="0" anchor="ctr"/>
          <a:lstStyle/>
          <a:p>
            <a:pPr algn="l" indent="0" marL="0">
              <a:buNone/>
            </a:pPr>
            <a:r>
              <a:rPr lang="en-US" sz="2700" b="1" dirty="0">
                <a:solidFill>
                  <a:srgbClr val="1F2328"/>
                </a:solidFill>
                <a:latin typeface="Cambria" pitchFamily="34" charset="0"/>
                <a:ea typeface="Cambria" pitchFamily="34" charset="-122"/>
                <a:cs typeface="Cambria" pitchFamily="34" charset="-120"/>
              </a:rPr>
              <a:t>Check for understanding</a:t>
            </a:r>
            <a:endParaRPr lang="en-US" sz="2700" dirty="0"/>
          </a:p>
        </p:txBody>
      </p:sp>
      <p:sp>
        <p:nvSpPr>
          <p:cNvPr id="9" name="Text 7"/>
          <p:cNvSpPr/>
          <p:nvPr/>
        </p:nvSpPr>
        <p:spPr>
          <a:xfrm>
            <a:off x="1143000" y="1691640"/>
            <a:ext cx="9692640" cy="1600200"/>
          </a:xfrm>
          <a:prstGeom prst="roundRect">
            <a:avLst>
              <a:gd name="adj" fmla="val 5714"/>
            </a:avLst>
          </a:prstGeom>
          <a:solidFill>
            <a:srgbClr val="F2ECFC"/>
          </a:solidFill>
          <a:ln w="15875">
            <a:solidFill>
              <a:srgbClr val="8B5CF6"/>
            </a:solidFill>
          </a:ln>
        </p:spPr>
        <p:txBody>
          <a:bodyPr wrap="square" lIns="228600" tIns="228600" rIns="228600" bIns="228600" rtlCol="0" anchor="t"/>
          <a:lstStyle/>
          <a:p>
            <a:pPr algn="l" indent="0" marL="0">
              <a:buNone/>
            </a:pPr>
            <a:r>
              <a:rPr lang="en-US" sz="1300" b="1" spc="100" kern="0" dirty="0">
                <a:solidFill>
                  <a:srgbClr val="8B5CF6"/>
                </a:solidFill>
                <a:latin typeface="Calibri" pitchFamily="34" charset="0"/>
                <a:ea typeface="Calibri" pitchFamily="34" charset="-122"/>
                <a:cs typeface="Calibri" pitchFamily="34" charset="-120"/>
              </a:rPr>
              <a:t>💬 THINK / PAIR / SHARE</a:t>
            </a:r>
            <a:endParaRPr lang="en-US" sz="1300" dirty="0"/>
          </a:p>
        </p:txBody>
      </p:sp>
      <p:sp>
        <p:nvSpPr>
          <p:cNvPr id="10" name="Text 8"/>
          <p:cNvSpPr/>
          <p:nvPr/>
        </p:nvSpPr>
        <p:spPr>
          <a:xfrm>
            <a:off x="1417320" y="2148840"/>
            <a:ext cx="9144000" cy="1051560"/>
          </a:xfrm>
          <a:prstGeom prst="rect">
            <a:avLst/>
          </a:prstGeom>
          <a:noFill/>
          <a:ln/>
        </p:spPr>
        <p:txBody>
          <a:bodyPr wrap="square" lIns="0" tIns="0" rIns="0" bIns="0" rtlCol="0" anchor="t"/>
          <a:lstStyle/>
          <a:p>
            <a:pPr algn="l" indent="0" marL="0">
              <a:buNone/>
            </a:pPr>
            <a:r>
              <a:rPr lang="en-US" sz="2100" b="1" dirty="0">
                <a:solidFill>
                  <a:srgbClr val="1F2328"/>
                </a:solidFill>
                <a:latin typeface="Cambria" pitchFamily="34" charset="0"/>
                <a:ea typeface="Cambria" pitchFamily="34" charset="-122"/>
                <a:cs typeface="Cambria" pitchFamily="34" charset="-120"/>
              </a:rPr>
              <a:t>Cold call: name one of today's five vulnerability types and its case study, without looking at your workbook.</a:t>
            </a:r>
            <a:endParaRPr lang="en-US" sz="2100" dirty="0"/>
          </a:p>
        </p:txBody>
      </p:sp>
      <p:sp>
        <p:nvSpPr>
          <p:cNvPr id="11" name="Text 9"/>
          <p:cNvSpPr/>
          <p:nvPr/>
        </p:nvSpPr>
        <p:spPr>
          <a:xfrm>
            <a:off x="1143000" y="3520440"/>
            <a:ext cx="9692640" cy="2606040"/>
          </a:xfrm>
          <a:prstGeom prst="rect">
            <a:avLst/>
          </a:prstGeom>
          <a:noFill/>
          <a:ln/>
        </p:spPr>
        <p:txBody>
          <a:bodyPr wrap="square" lIns="0" tIns="0" rIns="0" bIns="0" rtlCol="0" anchor="t"/>
          <a:lstStyle/>
          <a:p>
            <a:pPr algn="l" marL="228600" indent="-228600">
              <a:lnSpc>
                <a:spcPct val="120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What made that specific case preventable, in hindsight?</a:t>
            </a:r>
            <a:endParaRPr lang="en-US" sz="2400" dirty="0"/>
          </a:p>
          <a:p>
            <a:pPr algn="l" marL="228600" indent="-228600">
              <a:lnSpc>
                <a:spcPct val="120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Outcome 2 checklist: by the end of this lesson you should be able to define and give a real example of all five technical vulnerability types — tick this off in your workbook.</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algn="l"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13</a:t>
            </a:r>
            <a:endParaRPr lang="en-US" sz="1100" dirty="0"/>
          </a:p>
        </p:txBody>
      </p:sp>
      <p:sp>
        <p:nvSpPr>
          <p:cNvPr id="4" name="Text 2"/>
          <p:cNvSpPr/>
          <p:nvPr/>
        </p:nvSpPr>
        <p:spPr>
          <a:xfrm>
            <a:off x="10186416" y="274320"/>
            <a:ext cx="1335024" cy="310896"/>
          </a:xfrm>
          <a:prstGeom prst="roundRect">
            <a:avLst>
              <a:gd name="adj" fmla="val 50000"/>
            </a:avLst>
          </a:prstGeom>
          <a:solidFill>
            <a:srgbClr val="EF4444"/>
          </a:solidFill>
          <a:ln/>
        </p:spPr>
        <p:txBody>
          <a:bodyPr wrap="square" lIns="0" tIns="0" rIns="0" bIns="0" rtlCol="0" anchor="ctr"/>
          <a:lstStyle/>
          <a:p>
            <a:pPr algn="ctr" indent="0" marL="0">
              <a:buNone/>
            </a:pPr>
            <a:r>
              <a:rPr lang="en-US" sz="1350" b="1" spc="100" kern="0" dirty="0">
                <a:solidFill>
                  <a:srgbClr val="FFFFFF"/>
                </a:solidFill>
                <a:latin typeface="Calibri" pitchFamily="34" charset="0"/>
                <a:ea typeface="Calibri" pitchFamily="34" charset="-122"/>
                <a:cs typeface="Calibri" pitchFamily="34" charset="-120"/>
              </a:rPr>
              <a:t>EXIT TICKET</a:t>
            </a:r>
            <a:endParaRPr lang="en-US" sz="1350" dirty="0"/>
          </a:p>
        </p:txBody>
      </p:sp>
      <p:sp>
        <p:nvSpPr>
          <p:cNvPr id="5" name="Text 3"/>
          <p:cNvSpPr/>
          <p:nvPr/>
        </p:nvSpPr>
        <p:spPr>
          <a:xfrm>
            <a:off x="9966960" y="658368"/>
            <a:ext cx="1554480" cy="310896"/>
          </a:xfrm>
          <a:prstGeom prst="roundRect">
            <a:avLst>
              <a:gd name="adj" fmla="val 50000"/>
            </a:avLst>
          </a:prstGeom>
          <a:solidFill>
            <a:srgbClr val="FFFFFF"/>
          </a:solidFill>
          <a:ln w="15875">
            <a:solidFill>
              <a:srgbClr val="10B981"/>
            </a:solidFill>
          </a:ln>
        </p:spPr>
        <p:txBody>
          <a:bodyPr wrap="square" lIns="0" tIns="0" rIns="0" bIns="0" rtlCol="0" anchor="ctr"/>
          <a:lstStyle/>
          <a:p>
            <a:pPr algn="ctr" indent="0" marL="0">
              <a:buNone/>
            </a:pPr>
            <a:r>
              <a:rPr lang="en-US" sz="1350" b="1" spc="100" kern="0" dirty="0">
                <a:solidFill>
                  <a:srgbClr val="10B981"/>
                </a:solidFill>
                <a:latin typeface="Calibri" pitchFamily="34" charset="0"/>
                <a:ea typeface="Calibri" pitchFamily="34" charset="-122"/>
                <a:cs typeface="Calibri" pitchFamily="34" charset="-120"/>
              </a:rPr>
              <a:t>ON DEVICES</a:t>
            </a:r>
            <a:endParaRPr lang="en-US" sz="1350" dirty="0"/>
          </a:p>
        </p:txBody>
      </p:sp>
      <p:sp>
        <p:nvSpPr>
          <p:cNvPr id="6" name="Text 4"/>
          <p:cNvSpPr/>
          <p:nvPr/>
        </p:nvSpPr>
        <p:spPr>
          <a:xfrm>
            <a:off x="548640" y="365760"/>
            <a:ext cx="7315200" cy="292608"/>
          </a:xfrm>
          <a:prstGeom prst="rect">
            <a:avLst/>
          </a:prstGeom>
          <a:noFill/>
          <a:ln/>
        </p:spPr>
        <p:txBody>
          <a:bodyPr wrap="square" lIns="0" tIns="0" rIns="0" bIns="0" rtlCol="0" anchor="ctr"/>
          <a:lstStyle/>
          <a:p>
            <a:pPr algn="l" indent="0" marL="0">
              <a:buNone/>
            </a:pPr>
            <a:r>
              <a:rPr lang="en-US" sz="1300" b="1" spc="120" kern="0" dirty="0">
                <a:solidFill>
                  <a:srgbClr val="4361EE"/>
                </a:solidFill>
                <a:latin typeface="Calibri" pitchFamily="34" charset="0"/>
                <a:ea typeface="Calibri" pitchFamily="34" charset="-122"/>
                <a:cs typeface="Calibri" pitchFamily="34" charset="-120"/>
              </a:rPr>
              <a:t>EXIT TICKET</a:t>
            </a:r>
            <a:endParaRPr lang="en-US" sz="1300" dirty="0"/>
          </a:p>
        </p:txBody>
      </p:sp>
      <p:sp>
        <p:nvSpPr>
          <p:cNvPr id="7" name="Text 5"/>
          <p:cNvSpPr/>
          <p:nvPr/>
        </p:nvSpPr>
        <p:spPr>
          <a:xfrm>
            <a:off x="548640" y="777240"/>
            <a:ext cx="10058400" cy="502920"/>
          </a:xfrm>
          <a:prstGeom prst="rect">
            <a:avLst/>
          </a:prstGeom>
          <a:noFill/>
          <a:ln/>
        </p:spPr>
        <p:txBody>
          <a:bodyPr wrap="square" lIns="0" tIns="0" rIns="0" bIns="0" rtlCol="0" anchor="ctr"/>
          <a:lstStyle/>
          <a:p>
            <a:pPr algn="l" indent="0" marL="0">
              <a:buNone/>
            </a:pPr>
            <a:r>
              <a:rPr lang="en-US" sz="2700" b="1" dirty="0">
                <a:solidFill>
                  <a:srgbClr val="1F2328"/>
                </a:solidFill>
                <a:latin typeface="Cambria" pitchFamily="34" charset="0"/>
                <a:ea typeface="Cambria" pitchFamily="34" charset="-122"/>
                <a:cs typeface="Cambria" pitchFamily="34" charset="-120"/>
              </a:rPr>
              <a:t>🚪  Before you go</a:t>
            </a:r>
            <a:endParaRPr lang="en-US" sz="2700" dirty="0"/>
          </a:p>
        </p:txBody>
      </p:sp>
      <p:sp>
        <p:nvSpPr>
          <p:cNvPr id="8" name="Text 6"/>
          <p:cNvSpPr/>
          <p:nvPr/>
        </p:nvSpPr>
        <p:spPr>
          <a:xfrm>
            <a:off x="914400" y="1691640"/>
            <a:ext cx="10058400" cy="3977640"/>
          </a:xfrm>
          <a:prstGeom prst="roundRect">
            <a:avLst>
              <a:gd name="adj" fmla="val 2299"/>
            </a:avLst>
          </a:prstGeom>
          <a:solidFill>
            <a:srgbClr val="FCEAEA"/>
          </a:solidFill>
          <a:ln w="15875">
            <a:solidFill>
              <a:srgbClr val="EF4444"/>
            </a:solidFill>
          </a:ln>
        </p:spPr>
        <p:txBody>
          <a:bodyPr wrap="square" lIns="304800" tIns="304800" rIns="304800" bIns="304800" rtlCol="0" anchor="t"/>
          <a:lstStyle/>
          <a:p>
            <a:pPr algn="l" indent="0" marL="0">
              <a:lnSpc>
                <a:spcPct val="125000"/>
              </a:lnSpc>
              <a:spcAft>
                <a:spcPts val="2000"/>
              </a:spcAft>
              <a:buNone/>
            </a:pPr>
            <a:r>
              <a:rPr lang="en-US" sz="2400" dirty="0">
                <a:solidFill>
                  <a:srgbClr val="1F2328"/>
                </a:solidFill>
                <a:latin typeface="Calibri" pitchFamily="34" charset="0"/>
                <a:ea typeface="Calibri" pitchFamily="34" charset="-122"/>
                <a:cs typeface="Calibri" pitchFamily="34" charset="-120"/>
              </a:rPr>
              <a:t>1.  Pick two of today's five vulnerability types. In one sentence each, explain how they get into a system differently.</a:t>
            </a:r>
            <a:endParaRPr lang="en-US" sz="2400" dirty="0"/>
          </a:p>
          <a:p>
            <a:pPr algn="l" indent="0" marL="0">
              <a:lnSpc>
                <a:spcPct val="125000"/>
              </a:lnSpc>
              <a:spcAft>
                <a:spcPts val="2000"/>
              </a:spcAft>
              <a:buNone/>
            </a:pPr>
            <a:r>
              <a:rPr lang="en-US" sz="2400" dirty="0">
                <a:solidFill>
                  <a:srgbClr val="1F2328"/>
                </a:solidFill>
                <a:latin typeface="Calibri" pitchFamily="34" charset="0"/>
                <a:ea typeface="Calibri" pitchFamily="34" charset="-122"/>
                <a:cs typeface="Calibri" pitchFamily="34" charset="-120"/>
              </a:rPr>
              <a:t>2.  Name one mitigation strategy that could help against more than one of today's vulnerability types.</a:t>
            </a:r>
            <a:endParaRPr lang="en-US" sz="2400" dirty="0"/>
          </a:p>
          <a:p>
            <a:pPr algn="l" indent="0" marL="0">
              <a:lnSpc>
                <a:spcPct val="125000"/>
              </a:lnSpc>
              <a:spcAft>
                <a:spcPts val="2000"/>
              </a:spcAft>
              <a:buNone/>
            </a:pPr>
            <a:r>
              <a:rPr lang="en-US" sz="2400" dirty="0">
                <a:solidFill>
                  <a:srgbClr val="1F2328"/>
                </a:solidFill>
                <a:latin typeface="Calibri" pitchFamily="34" charset="0"/>
                <a:ea typeface="Calibri" pitchFamily="34" charset="-122"/>
                <a:cs typeface="Calibri" pitchFamily="34" charset="-120"/>
              </a:rPr>
              <a:t>3.  Self-rate: which success-criteria tier did you reach today — Foundation, Developing, or Extending?</a:t>
            </a:r>
            <a:endParaRPr lang="en-US" sz="2400" dirty="0"/>
          </a:p>
        </p:txBody>
      </p:sp>
      <p:sp>
        <p:nvSpPr>
          <p:cNvPr id="9" name="Text 7"/>
          <p:cNvSpPr/>
          <p:nvPr/>
        </p:nvSpPr>
        <p:spPr>
          <a:xfrm>
            <a:off x="548640" y="5897880"/>
            <a:ext cx="10515600" cy="365760"/>
          </a:xfrm>
          <a:prstGeom prst="rect">
            <a:avLst/>
          </a:prstGeom>
          <a:noFill/>
          <a:ln/>
        </p:spPr>
        <p:txBody>
          <a:bodyPr wrap="square" lIns="0" tIns="0" rIns="0" bIns="0" rtlCol="0" anchor="ctr"/>
          <a:lstStyle/>
          <a:p>
            <a:pPr algn="l" indent="0" marL="0">
              <a:buNone/>
            </a:pPr>
            <a:r>
              <a:rPr lang="en-US" sz="1400" i="1" dirty="0">
                <a:solidFill>
                  <a:srgbClr val="57606A"/>
                </a:solidFill>
                <a:latin typeface="Calibri" pitchFamily="34" charset="0"/>
                <a:ea typeface="Calibri" pitchFamily="34" charset="-122"/>
                <a:cs typeface="Calibri" pitchFamily="34" charset="-120"/>
              </a:rPr>
              <a:t>➜ Record your answers in your workbook — Section 5, Exit Ticket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algn="l"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14</a:t>
            </a:r>
            <a:endParaRPr lang="en-US" sz="1100" dirty="0"/>
          </a:p>
        </p:txBody>
      </p:sp>
      <p:sp>
        <p:nvSpPr>
          <p:cNvPr id="4" name="Text 2"/>
          <p:cNvSpPr/>
          <p:nvPr/>
        </p:nvSpPr>
        <p:spPr>
          <a:xfrm>
            <a:off x="10277856" y="274320"/>
            <a:ext cx="1243584" cy="310896"/>
          </a:xfrm>
          <a:prstGeom prst="roundRect">
            <a:avLst>
              <a:gd name="adj" fmla="val 50000"/>
            </a:avLst>
          </a:prstGeom>
          <a:solidFill>
            <a:srgbClr val="57606A"/>
          </a:solidFill>
          <a:ln/>
        </p:spPr>
        <p:txBody>
          <a:bodyPr wrap="square" lIns="0" tIns="0" rIns="0" bIns="0" rtlCol="0" anchor="ctr"/>
          <a:lstStyle/>
          <a:p>
            <a:pPr algn="ctr" indent="0" marL="0">
              <a:buNone/>
            </a:pPr>
            <a:r>
              <a:rPr lang="en-US" sz="1350" b="1" spc="100" kern="0" dirty="0">
                <a:solidFill>
                  <a:srgbClr val="FFFFFF"/>
                </a:solidFill>
                <a:latin typeface="Calibri" pitchFamily="34" charset="0"/>
                <a:ea typeface="Calibri" pitchFamily="34" charset="-122"/>
                <a:cs typeface="Calibri" pitchFamily="34" charset="-120"/>
              </a:rPr>
              <a:t>NEXT STEPS</a:t>
            </a:r>
            <a:endParaRPr lang="en-US" sz="1350" dirty="0"/>
          </a:p>
        </p:txBody>
      </p:sp>
      <p:sp>
        <p:nvSpPr>
          <p:cNvPr id="5" name="Text 3"/>
          <p:cNvSpPr/>
          <p:nvPr/>
        </p:nvSpPr>
        <p:spPr>
          <a:xfrm>
            <a:off x="9966960" y="658368"/>
            <a:ext cx="1554480" cy="310896"/>
          </a:xfrm>
          <a:prstGeom prst="roundRect">
            <a:avLst>
              <a:gd name="adj" fmla="val 50000"/>
            </a:avLst>
          </a:prstGeom>
          <a:solidFill>
            <a:srgbClr val="FFFFFF"/>
          </a:solidFill>
          <a:ln w="15875">
            <a:solidFill>
              <a:srgbClr val="57606A"/>
            </a:solidFill>
          </a:ln>
        </p:spPr>
        <p:txBody>
          <a:bodyPr wrap="square" lIns="0" tIns="0" rIns="0" bIns="0" rtlCol="0" anchor="ctr"/>
          <a:lstStyle/>
          <a:p>
            <a:pPr algn="ctr" indent="0" marL="0">
              <a:buNone/>
            </a:pPr>
            <a:r>
              <a:rPr lang="en-US" sz="1350" b="1" spc="100" kern="0" dirty="0">
                <a:solidFill>
                  <a:srgbClr val="57606A"/>
                </a:solidFill>
                <a:latin typeface="Calibri" pitchFamily="34" charset="0"/>
                <a:ea typeface="Calibri" pitchFamily="34" charset="-122"/>
                <a:cs typeface="Calibri" pitchFamily="34" charset="-120"/>
              </a:rPr>
              <a:t>OFF DEVICES</a:t>
            </a:r>
            <a:endParaRPr lang="en-US" sz="1350" dirty="0"/>
          </a:p>
        </p:txBody>
      </p:sp>
      <p:sp>
        <p:nvSpPr>
          <p:cNvPr id="6" name="Text 4"/>
          <p:cNvSpPr/>
          <p:nvPr/>
        </p:nvSpPr>
        <p:spPr>
          <a:xfrm>
            <a:off x="548640" y="365760"/>
            <a:ext cx="7315200" cy="292608"/>
          </a:xfrm>
          <a:prstGeom prst="rect">
            <a:avLst/>
          </a:prstGeom>
          <a:noFill/>
          <a:ln/>
        </p:spPr>
        <p:txBody>
          <a:bodyPr wrap="square" lIns="0" tIns="0" rIns="0" bIns="0" rtlCol="0" anchor="ctr"/>
          <a:lstStyle/>
          <a:p>
            <a:pPr algn="l" indent="0" marL="0">
              <a:buNone/>
            </a:pPr>
            <a:r>
              <a:rPr lang="en-US" sz="1300" b="1" spc="120" kern="0" dirty="0">
                <a:solidFill>
                  <a:srgbClr val="4361EE"/>
                </a:solidFill>
                <a:latin typeface="Calibri" pitchFamily="34" charset="0"/>
                <a:ea typeface="Calibri" pitchFamily="34" charset="-122"/>
                <a:cs typeface="Calibri" pitchFamily="34" charset="-120"/>
              </a:rPr>
              <a:t>NEXT STEPS</a:t>
            </a:r>
            <a:endParaRPr lang="en-US" sz="1300" dirty="0"/>
          </a:p>
        </p:txBody>
      </p:sp>
      <p:sp>
        <p:nvSpPr>
          <p:cNvPr id="7" name="Text 5"/>
          <p:cNvSpPr/>
          <p:nvPr/>
        </p:nvSpPr>
        <p:spPr>
          <a:xfrm>
            <a:off x="548640" y="777240"/>
            <a:ext cx="10058400" cy="502920"/>
          </a:xfrm>
          <a:prstGeom prst="rect">
            <a:avLst/>
          </a:prstGeom>
          <a:noFill/>
          <a:ln/>
        </p:spPr>
        <p:txBody>
          <a:bodyPr wrap="square" lIns="0" tIns="0" rIns="0" bIns="0" rtlCol="0" anchor="ctr"/>
          <a:lstStyle/>
          <a:p>
            <a:pPr algn="l" indent="0" marL="0">
              <a:buNone/>
            </a:pPr>
            <a:r>
              <a:rPr lang="en-US" sz="2700" b="1" dirty="0">
                <a:solidFill>
                  <a:srgbClr val="1F2328"/>
                </a:solidFill>
                <a:latin typeface="Cambria" pitchFamily="34" charset="0"/>
                <a:ea typeface="Cambria" pitchFamily="34" charset="-122"/>
                <a:cs typeface="Cambria" pitchFamily="34" charset="-120"/>
              </a:rPr>
              <a:t>Where to from here</a:t>
            </a:r>
            <a:endParaRPr lang="en-US" sz="2700" dirty="0"/>
          </a:p>
        </p:txBody>
      </p:sp>
      <p:sp>
        <p:nvSpPr>
          <p:cNvPr id="8" name="Shape 6"/>
          <p:cNvSpPr/>
          <p:nvPr/>
        </p:nvSpPr>
        <p:spPr>
          <a:xfrm>
            <a:off x="548640" y="1508760"/>
            <a:ext cx="5166360" cy="2011680"/>
          </a:xfrm>
          <a:prstGeom prst="roundRect">
            <a:avLst>
              <a:gd name="adj" fmla="val 4545"/>
            </a:avLst>
          </a:prstGeom>
          <a:solidFill>
            <a:srgbClr val="EEF1FD"/>
          </a:solidFill>
          <a:ln w="15875">
            <a:solidFill>
              <a:srgbClr val="4361EE"/>
            </a:solidFill>
            <a:prstDash val="solid"/>
          </a:ln>
        </p:spPr>
      </p:sp>
      <p:sp>
        <p:nvSpPr>
          <p:cNvPr id="9" name="Text 7"/>
          <p:cNvSpPr/>
          <p:nvPr/>
        </p:nvSpPr>
        <p:spPr>
          <a:xfrm>
            <a:off x="822960" y="1691640"/>
            <a:ext cx="4617720" cy="292608"/>
          </a:xfrm>
          <a:prstGeom prst="rect">
            <a:avLst/>
          </a:prstGeom>
          <a:noFill/>
          <a:ln/>
        </p:spPr>
        <p:txBody>
          <a:bodyPr wrap="square" lIns="0" tIns="0" rIns="0" bIns="0" rtlCol="0" anchor="ctr"/>
          <a:lstStyle/>
          <a:p>
            <a:pPr algn="l" indent="0" marL="0">
              <a:buNone/>
            </a:pPr>
            <a:r>
              <a:rPr lang="en-US" sz="1250" b="1" spc="100" kern="0" dirty="0">
                <a:solidFill>
                  <a:srgbClr val="4361EE"/>
                </a:solidFill>
                <a:latin typeface="Calibri" pitchFamily="34" charset="0"/>
                <a:ea typeface="Calibri" pitchFamily="34" charset="-122"/>
                <a:cs typeface="Calibri" pitchFamily="34" charset="-120"/>
              </a:rPr>
              <a:t>NEXT LESSON</a:t>
            </a:r>
            <a:endParaRPr lang="en-US" sz="1250" dirty="0"/>
          </a:p>
        </p:txBody>
      </p:sp>
      <p:sp>
        <p:nvSpPr>
          <p:cNvPr id="10" name="Text 8"/>
          <p:cNvSpPr/>
          <p:nvPr/>
        </p:nvSpPr>
        <p:spPr>
          <a:xfrm>
            <a:off x="822960" y="2039112"/>
            <a:ext cx="4617720" cy="1234440"/>
          </a:xfrm>
          <a:prstGeom prst="rect">
            <a:avLst/>
          </a:prstGeom>
          <a:noFill/>
          <a:ln/>
        </p:spPr>
        <p:txBody>
          <a:bodyPr wrap="square" lIns="0" tIns="0" rIns="0" bIns="0" rtlCol="0" anchor="t"/>
          <a:lstStyle/>
          <a:p>
            <a:pPr algn="l" indent="0" marL="0">
              <a:lnSpc>
                <a:spcPct val="118000"/>
              </a:lnSpc>
              <a:buNone/>
            </a:pPr>
            <a:r>
              <a:rPr lang="en-US" sz="1800" dirty="0">
                <a:solidFill>
                  <a:srgbClr val="1F2328"/>
                </a:solidFill>
                <a:latin typeface="Calibri" pitchFamily="34" charset="0"/>
                <a:ea typeface="Calibri" pitchFamily="34" charset="-122"/>
                <a:cs typeface="Calibri" pitchFamily="34" charset="-120"/>
              </a:rPr>
              <a:t>L3 — Vulnerabilities &amp; Risks II: insider threats, cyber security incidents, third-party risk, code review, and combined dev/test/production environments.</a:t>
            </a:r>
            <a:endParaRPr lang="en-US" sz="1800" dirty="0"/>
          </a:p>
        </p:txBody>
      </p:sp>
      <p:sp>
        <p:nvSpPr>
          <p:cNvPr id="11" name="Shape 9"/>
          <p:cNvSpPr/>
          <p:nvPr/>
        </p:nvSpPr>
        <p:spPr>
          <a:xfrm>
            <a:off x="6172200" y="1508760"/>
            <a:ext cx="5166360" cy="2011680"/>
          </a:xfrm>
          <a:prstGeom prst="roundRect">
            <a:avLst>
              <a:gd name="adj" fmla="val 4545"/>
            </a:avLst>
          </a:prstGeom>
          <a:solidFill>
            <a:srgbClr val="F2ECFC"/>
          </a:solidFill>
          <a:ln w="15875">
            <a:solidFill>
              <a:srgbClr val="8B5CF6"/>
            </a:solidFill>
            <a:prstDash val="solid"/>
          </a:ln>
        </p:spPr>
      </p:sp>
      <p:sp>
        <p:nvSpPr>
          <p:cNvPr id="12" name="Text 10"/>
          <p:cNvSpPr/>
          <p:nvPr/>
        </p:nvSpPr>
        <p:spPr>
          <a:xfrm>
            <a:off x="6446520" y="1691640"/>
            <a:ext cx="4617720" cy="292608"/>
          </a:xfrm>
          <a:prstGeom prst="rect">
            <a:avLst/>
          </a:prstGeom>
          <a:noFill/>
          <a:ln/>
        </p:spPr>
        <p:txBody>
          <a:bodyPr wrap="square" lIns="0" tIns="0" rIns="0" bIns="0" rtlCol="0" anchor="ctr"/>
          <a:lstStyle/>
          <a:p>
            <a:pPr algn="l" indent="0" marL="0">
              <a:buNone/>
            </a:pPr>
            <a:r>
              <a:rPr lang="en-US" sz="1250" b="1" spc="100" kern="0" dirty="0">
                <a:solidFill>
                  <a:srgbClr val="8B5CF6"/>
                </a:solidFill>
                <a:latin typeface="Calibri" pitchFamily="34" charset="0"/>
                <a:ea typeface="Calibri" pitchFamily="34" charset="-122"/>
                <a:cs typeface="Calibri" pitchFamily="34" charset="-120"/>
              </a:rPr>
              <a:t>OUTCOME 2 PROGRESS</a:t>
            </a:r>
            <a:endParaRPr lang="en-US" sz="1250" dirty="0"/>
          </a:p>
        </p:txBody>
      </p:sp>
      <p:sp>
        <p:nvSpPr>
          <p:cNvPr id="13" name="Text 11"/>
          <p:cNvSpPr/>
          <p:nvPr/>
        </p:nvSpPr>
        <p:spPr>
          <a:xfrm>
            <a:off x="6446520" y="2039112"/>
            <a:ext cx="4617720" cy="1234440"/>
          </a:xfrm>
          <a:prstGeom prst="rect">
            <a:avLst/>
          </a:prstGeom>
          <a:noFill/>
          <a:ln/>
        </p:spPr>
        <p:txBody>
          <a:bodyPr wrap="square" lIns="0" tIns="0" rIns="0" bIns="0" rtlCol="0" anchor="t"/>
          <a:lstStyle/>
          <a:p>
            <a:pPr algn="l" indent="0" marL="0">
              <a:lnSpc>
                <a:spcPct val="118000"/>
              </a:lnSpc>
              <a:buNone/>
            </a:pPr>
            <a:r>
              <a:rPr lang="en-US" sz="1800" dirty="0">
                <a:solidFill>
                  <a:srgbClr val="1F2328"/>
                </a:solidFill>
                <a:latin typeface="Calibri" pitchFamily="34" charset="0"/>
                <a:ea typeface="Calibri" pitchFamily="34" charset="-122"/>
                <a:cs typeface="Calibri" pitchFamily="34" charset="-120"/>
              </a:rPr>
              <a:t>This lesson builds Outcome 2's case-study skill ‘identify and describe vulnerabilities and risks based on current practices.’ No formal assessment today.</a:t>
            </a:r>
            <a:endParaRPr lang="en-US" sz="1800" dirty="0"/>
          </a:p>
        </p:txBody>
      </p:sp>
      <p:sp>
        <p:nvSpPr>
          <p:cNvPr id="14" name="Shape 12"/>
          <p:cNvSpPr/>
          <p:nvPr/>
        </p:nvSpPr>
        <p:spPr>
          <a:xfrm>
            <a:off x="548640" y="3794760"/>
            <a:ext cx="5166360" cy="2011680"/>
          </a:xfrm>
          <a:prstGeom prst="roundRect">
            <a:avLst>
              <a:gd name="adj" fmla="val 4545"/>
            </a:avLst>
          </a:prstGeom>
          <a:solidFill>
            <a:srgbClr val="FEF3E0"/>
          </a:solidFill>
          <a:ln w="15875">
            <a:solidFill>
              <a:srgbClr val="F59E0B"/>
            </a:solidFill>
            <a:prstDash val="solid"/>
          </a:ln>
        </p:spPr>
      </p:sp>
      <p:sp>
        <p:nvSpPr>
          <p:cNvPr id="15" name="Text 13"/>
          <p:cNvSpPr/>
          <p:nvPr/>
        </p:nvSpPr>
        <p:spPr>
          <a:xfrm>
            <a:off x="822960" y="3977640"/>
            <a:ext cx="4617720" cy="292608"/>
          </a:xfrm>
          <a:prstGeom prst="rect">
            <a:avLst/>
          </a:prstGeom>
          <a:noFill/>
          <a:ln/>
        </p:spPr>
        <p:txBody>
          <a:bodyPr wrap="square" lIns="0" tIns="0" rIns="0" bIns="0" rtlCol="0" anchor="ctr"/>
          <a:lstStyle/>
          <a:p>
            <a:pPr algn="l" indent="0" marL="0">
              <a:buNone/>
            </a:pPr>
            <a:r>
              <a:rPr lang="en-US" sz="1250" b="1" spc="100" kern="0" dirty="0">
                <a:solidFill>
                  <a:srgbClr val="F59E0B"/>
                </a:solidFill>
                <a:latin typeface="Calibri" pitchFamily="34" charset="0"/>
                <a:ea typeface="Calibri" pitchFamily="34" charset="-122"/>
                <a:cs typeface="Calibri" pitchFamily="34" charset="-120"/>
              </a:rPr>
              <a:t>HOMEWORK</a:t>
            </a:r>
            <a:endParaRPr lang="en-US" sz="1250" dirty="0"/>
          </a:p>
        </p:txBody>
      </p:sp>
      <p:sp>
        <p:nvSpPr>
          <p:cNvPr id="16" name="Text 14"/>
          <p:cNvSpPr/>
          <p:nvPr/>
        </p:nvSpPr>
        <p:spPr>
          <a:xfrm>
            <a:off x="822960" y="4325112"/>
            <a:ext cx="4617720" cy="1234440"/>
          </a:xfrm>
          <a:prstGeom prst="rect">
            <a:avLst/>
          </a:prstGeom>
          <a:noFill/>
          <a:ln/>
        </p:spPr>
        <p:txBody>
          <a:bodyPr wrap="square" lIns="0" tIns="0" rIns="0" bIns="0" rtlCol="0" anchor="t"/>
          <a:lstStyle/>
          <a:p>
            <a:pPr algn="l" indent="0" marL="0">
              <a:lnSpc>
                <a:spcPct val="118000"/>
              </a:lnSpc>
              <a:buNone/>
            </a:pPr>
            <a:r>
              <a:rPr lang="en-US" sz="1800" dirty="0">
                <a:solidFill>
                  <a:srgbClr val="1F2328"/>
                </a:solidFill>
                <a:latin typeface="Calibri" pitchFamily="34" charset="0"/>
                <a:ea typeface="Calibri" pitchFamily="34" charset="-122"/>
                <a:cs typeface="Calibri" pitchFamily="34" charset="-120"/>
              </a:rPr>
              <a:t>Revisit your L1 homework article: which of today's five vulnerability types (if any) does it best match? Bring your answer and reasoning to L3.</a:t>
            </a:r>
            <a:endParaRPr lang="en-US" sz="1800" dirty="0"/>
          </a:p>
        </p:txBody>
      </p:sp>
      <p:sp>
        <p:nvSpPr>
          <p:cNvPr id="17" name="Shape 15"/>
          <p:cNvSpPr/>
          <p:nvPr/>
        </p:nvSpPr>
        <p:spPr>
          <a:xfrm>
            <a:off x="6172200" y="3794760"/>
            <a:ext cx="5166360" cy="2011680"/>
          </a:xfrm>
          <a:prstGeom prst="roundRect">
            <a:avLst>
              <a:gd name="adj" fmla="val 4545"/>
            </a:avLst>
          </a:prstGeom>
          <a:solidFill>
            <a:srgbClr val="E7F9F1"/>
          </a:solidFill>
          <a:ln w="15875">
            <a:solidFill>
              <a:srgbClr val="10B981"/>
            </a:solidFill>
            <a:prstDash val="solid"/>
          </a:ln>
        </p:spPr>
      </p:sp>
      <p:sp>
        <p:nvSpPr>
          <p:cNvPr id="18" name="Text 16"/>
          <p:cNvSpPr/>
          <p:nvPr/>
        </p:nvSpPr>
        <p:spPr>
          <a:xfrm>
            <a:off x="6446520" y="3977640"/>
            <a:ext cx="4617720" cy="292608"/>
          </a:xfrm>
          <a:prstGeom prst="rect">
            <a:avLst/>
          </a:prstGeom>
          <a:noFill/>
          <a:ln/>
        </p:spPr>
        <p:txBody>
          <a:bodyPr wrap="square" lIns="0" tIns="0" rIns="0" bIns="0" rtlCol="0" anchor="ctr"/>
          <a:lstStyle/>
          <a:p>
            <a:pPr algn="l" indent="0" marL="0">
              <a:buNone/>
            </a:pPr>
            <a:r>
              <a:rPr lang="en-US" sz="1250" b="1" spc="100" kern="0" dirty="0">
                <a:solidFill>
                  <a:srgbClr val="10B981"/>
                </a:solidFill>
                <a:latin typeface="Calibri" pitchFamily="34" charset="0"/>
                <a:ea typeface="Calibri" pitchFamily="34" charset="-122"/>
                <a:cs typeface="Calibri" pitchFamily="34" charset="-120"/>
              </a:rPr>
              <a:t>NEED HELP?</a:t>
            </a:r>
            <a:endParaRPr lang="en-US" sz="1250" dirty="0"/>
          </a:p>
        </p:txBody>
      </p:sp>
      <p:sp>
        <p:nvSpPr>
          <p:cNvPr id="19" name="Text 17"/>
          <p:cNvSpPr/>
          <p:nvPr/>
        </p:nvSpPr>
        <p:spPr>
          <a:xfrm>
            <a:off x="6446520" y="4325112"/>
            <a:ext cx="4617720" cy="1234440"/>
          </a:xfrm>
          <a:prstGeom prst="rect">
            <a:avLst/>
          </a:prstGeom>
          <a:noFill/>
          <a:ln/>
        </p:spPr>
        <p:txBody>
          <a:bodyPr wrap="square" lIns="0" tIns="0" rIns="0" bIns="0" rtlCol="0" anchor="t"/>
          <a:lstStyle/>
          <a:p>
            <a:pPr algn="l" indent="0" marL="0">
              <a:lnSpc>
                <a:spcPct val="118000"/>
              </a:lnSpc>
              <a:buNone/>
            </a:pPr>
            <a:r>
              <a:rPr lang="en-US" sz="1800" dirty="0">
                <a:solidFill>
                  <a:srgbClr val="1F2328"/>
                </a:solidFill>
                <a:latin typeface="Calibri" pitchFamily="34" charset="0"/>
                <a:ea typeface="Calibri" pitchFamily="34" charset="-122"/>
                <a:cs typeface="Calibri" pitchFamily="34" charset="-120"/>
              </a:rPr>
              <a:t>Feeling overloaded by five topics at once? Your workbook Section 2 has the copy-to-workbook notes for all five — use it as your revision summary before the next lesson.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L2 — Vulnerabilities &amp; Risks I: Technical Threats</dc:title>
  <dc:subject>PptxGenJS Presentation</dc:subject>
  <dc:creator>EduPortal</dc:creator>
  <cp:lastModifiedBy>EduPortal</cp:lastModifiedBy>
  <cp:revision>1</cp:revision>
  <dcterms:created xsi:type="dcterms:W3CDTF">2026-07-29T04:52:40Z</dcterms:created>
  <dcterms:modified xsi:type="dcterms:W3CDTF">2026-07-29T04:52:40Z</dcterms:modified>
</cp:coreProperties>
</file>