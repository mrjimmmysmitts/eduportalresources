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of 8. Covers KK4.2.4 in full — all six security controls used to protect software development practices and data stored within applications. This is the pivot lesson of the AoS: L2 and L3 built the complete picture of what can go wrong (all ten sub-points of KK4.2.3); from here on the focus is what organisations do about it. Deliberately discussion-heavy — there are three extended discussion slides plus a whole-class decision task, because Outcome 2 asks students to EVALUATE controls and JUSTIFY recommendations, not just list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off devices, paper notes only. The point of this warm-up is retrieval plus invention: students almost always propose "don't let people take files with them", "keep the test system separate", "update the software" — which map directly onto IAM, separated environments and patching. Write their plain-English answers on the board and leave them there; return to the board on Slide 16 and label each one with its formal control name. If a class is quiet, cold call for the Tesla case first — it is the most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and have students copy the objective and their target tier into their paper notes. Flag the shape of today explicitly: six controls, but the assessment demand is higher than L2/L3 — Outcome 2 asks students to EVALUATE controls and RECOMMEND improvements with justification, which is why the Developing tier asks for a limitation and the Extending tier asks for a priority order. Point out that "name six things" is the floor,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The preventive / detective / corrective split is not named in the study design, but it is the single most useful frame for the evaluation work in Outcome 2 — students who have it can say WHY a set of controls is unbalanced, rather than just listing them. Make the key point explicit: most organisations over-invest in preventive controls and under-invest in detective ones, which is why breaches so often run undetected for months. The Tesla case is a good illustration — the transfer was detected, but only after it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Students meet version control in Unit 3 as a productivity tool, so the framing that matters here is the shift to a SECURITY control. The textbook line worth landing: project management and version control software "has removed the opportunity for insecure code that is not ready" to enter the project. Connect to their own SAT work — ask who has ever pasted a hard-coded password or test credential into a file "just for now". That admission is exactly the vulnerability this control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Do not turn this into a Git tutorial — the assessable point is the security mechanism the two systems share: an isolated copy, a controlled merge back with checks, role-based permissions, and a preserved history. Ask which of those four is the actual security control (the controlled merge and the permissions; the history is detective). If students use GitHub for their SAT, ask them who currently holds Admin on their repo and whether anyone else could force a change without them knowing.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2 min think, 3 min pair, 3 min share. Push past agreement. Expected directions — (1) the mechanism is the gated merge plus role-based permissions, not the backup; (2) the workflow blocks the merge, but does nothing if the reviewer waves it through, and the password stays in the branch history forever even after "removal" — a genuinely useful point; (3) attribution deters and detects malicious and careless insiders, but does nothing about a compromised insider, since the commit is attributed to the stolen account, not the attacker; (4) social engineering, phishing, unpatched production servers, and a flawed third-party library are all untouched. Land the closing idea: controls are layered because each one has a shape of attack it simply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Note the ACSC is part of the Australian Signals Directorate — students should be naming Australian sources in Outcome 2, not only US breaches. The distinction worth drawing: IDENTITY (proving you are who you claim — passwords, MFA) versus ACCESS (what that identity is then allowed to reach — least privilege, role assignment). Students conflate these constantly and lose marks for it. Also flag that most of the ACSC list is about people's habits, which is why L3's people/process vulnerabilities keep resurfacing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in groups of three, then share. This is deliberately the Tesla and GreenLeaf scenarios rebuilt as a design decision rather than a post-mortem. Expected tensions to surface: nobody needs live patient records — a de-identified or synthetic dataset serves development and testing, which is the bridge to separated environments on Slide 13; the marketing officer needs no repository access at all, and students often forget non-technical staff exist; the contractor is the classic dangling account, and "whose job is it" has no obvious owner unless offboarding is a documented process. The final ranking question is the strong one — most groups grant broad access and then rank the systems administrator as catastrophic, which exposes the mismatch between convenience and least privilege.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Emphasise the assumption encryption is built on — it is the only control on today's list that assumes the attacker has already succeeded. That makes it corrective/mitigating in character rather than preventive, and it is a good discriminator in the exam: encryption does not stop a breach, it changes what a breach is worth. Mention key management in passing — encrypted data plus a key stored beside it in the same repository is a common real-world failure, and it is a legitimate limitation for students to raise in Outcome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Expected reasoning — Case A: encryption is decisive, the device is lost but the data is unreadable, and under the Privacy Act this can be the difference between a notifiable data breach and an incident report. Case B and Case C: encryption does nothing, because in both cases the system decrypts the data for an identity it believes is authorised. That shared reason is the answer to prompt 2 and is the sentence worth writing on the board: encryption protects data from people who should not have access, not from people who do. Prompt 3 leads to IAM and least privilege for B, detective controls and monitoring for C — and neither is sufficient alone, which sets up the layered-controls argument in the final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This slide exists to be paired explicitly with L3 Slide 7 — code review is the only item that appears in the study design as both a vulnerability (when ineffective) and a control (when done well). That symmetry is worth naming, because a case study can be written either way and students need to recognise which they are looking at. Ask the class to name the observable difference between the two: a checklist, more than one reviewer, time allocated in the schedule, and review that can actually block a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The split-responsibility point is the one students miss — they blame "the software company" for an unpatched breach. Push them: the vendor discharged its duty in March, the operator did not act, and the legal consequence lands on the operator. That is also the bridge to legislation later in the AoS. Worth naming: patching is preventive but has an operational cost (downtime, regression risk), which is the honest reason organisations delay — a strong Extending student can argue that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This is the canonical patching case and appears in the textbook in full, so students should be able to reproduce the key figures. Prompt 1: the vendor met its obligation, the operator did not — three of the textbook's avoidance steps are operator-side (install security updates immediately, only run supported operating systems, act on disclosure). Prompt 2 pushes toward separated environments and least-privilege access limiting lateral spread, and backups plus version control limiting recovery cost. Prompt 3 is the ethics link that resurfaces in the legal and ethical lesson later in the AoS — responsible disclosure versus stockpiling; students often have strong views here, so give it room but keep it to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Close the loop with Capital One from L3 — students have already argued why combining environments is dangerous, so this slide is the formal statement of the control that answers it. The subtle point worth drawing out: "production-like without production data" is the hard part. Ask how a tester gets realistic data without real data — de-identified extracts, synthetic generation, subsetting. That question links straight to APP 11 and the Privacy Act work later in this AoS.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Return to the warm-up list still on the board and label each student suggestion with its formal control name — this is the payoff for that activity. Two things to stress: no control maps to exactly one vulnerability, and no single control covers everything, which is the definition of defence in depth. Also point out the type column is lopsided — five of six are preventive, and that imbalance is exactly the kind of observation that earns marks in an Outcome 2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min on devices. The Foundation matching is auto-marked in the workbook. Circulate during Developing — the common weak answer is a limitation that is really a cost ("it takes time"), rather than a category of attack the control cannot see; redirect those students to the encryption discussion from Slide 11 as the model. The Extending case, Northbridge Rail, is not covered anywhere in today's slides, so students must reason from definitions; the priority-order justification is the part that distinguishes a high response, not the identification.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min. Light break that quietly reinforces the patching content — the "Remind Me Tomorrow" habit is the individual version of the organisational failure behind WannaCry. Do not labour the connection; let a student make it if they want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4 min in groups, 6 min sharing. This is the closest activity in the lesson to the actual Outcome 2 demand — recommend and justify improvements — so treat the justification, not the choice, as the assessable thing. Common patterns: nearly every group takes patching (cheap, high coverage) and IAM (broad); version control is often assumed as already present rather than chosen, which is worth challenging. Prompt 2 is the sharp one — code review and patching are almost free in money and expensive in discipline, and a control that depends on consistency without enforcement is the one that quietly stops happening under deadline pressure, which is exactly the L3 failure mode. Finish by taking two competing rankings and asking the class which board presentation they would find more convincing.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The follow-up question is the important half — students who can only recall definitions will stall on it, and that tells you who needs the unit site notes before the SAC. Answer to the third question is code review. If recall is patchy across the room, that is expected with six controls in one lesson; direct them to the unit site and set the homework as a targeted re-read rather than reteaching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individual and silent, on devices. Question 3 is the discriminator — encryption is the control built on the assumption that unauthorised access will happen, code review is built to stop the flaw existing in the first place. Students who answer it correctly have understood the preventive/corrective frame from Slide 4 rather than just memorising six definitions. Scan question 2 responses before next lesson: an answer that names a cost rather than a category of attack is the signal to revisit before the SAC.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arc explicit: L2 and L3 were "what can go wrong", L4 was "what we put in place", L5 is the systematic process that decides which controls an organisation actually needs — threat modelling. The homework is the first time students apply controls to their own chosen article rather than a supplied case, which is a useful rehearsal for the SAC case study format. The control-versus-mitigation distinction in the last card is a recurring source of lost marks; flag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361EE"/>
        </a:solidFill>
      </p:bgPr>
    </p:bg>
    <p:spTree>
      <p:nvGrpSpPr>
        <p:cNvPr id="1" name=""/>
        <p:cNvGrpSpPr/>
        <p:nvPr/>
      </p:nvGrpSpPr>
      <p:grpSpPr>
        <a:xfrm>
          <a:off x="0" y="0"/>
          <a:ext cx="0" cy="0"/>
          <a:chOff x="0" y="0"/>
          <a:chExt cx="0" cy="0"/>
        </a:xfrm>
      </p:grpSpPr>
      <p:sp>
        <p:nvSpPr>
          <p:cNvPr id="2" name="Shape 0"/>
          <p:cNvSpPr/>
          <p:nvPr/>
        </p:nvSpPr>
        <p:spPr>
          <a:xfrm>
            <a:off x="9509760" y="-1371600"/>
            <a:ext cx="4206240" cy="4206240"/>
          </a:xfrm>
          <a:prstGeom prst="ellipse">
            <a:avLst/>
          </a:prstGeom>
          <a:solidFill>
            <a:srgbClr val="3A55D8"/>
          </a:solidFill>
          <a:ln/>
        </p:spPr>
      </p:sp>
      <p:sp>
        <p:nvSpPr>
          <p:cNvPr id="3" name="Shape 1"/>
          <p:cNvSpPr/>
          <p:nvPr/>
        </p:nvSpPr>
        <p:spPr>
          <a:xfrm>
            <a:off x="-1188720" y="4663440"/>
            <a:ext cx="3291840" cy="3291840"/>
          </a:xfrm>
          <a:prstGeom prst="ellipse">
            <a:avLst/>
          </a:prstGeom>
          <a:solidFill>
            <a:srgbClr val="3A55D8"/>
          </a:solidFill>
          <a:ln/>
        </p:spPr>
      </p:sp>
      <p:sp>
        <p:nvSpPr>
          <p:cNvPr id="4" name="Shape 2"/>
          <p:cNvSpPr/>
          <p:nvPr/>
        </p:nvSpPr>
        <p:spPr>
          <a:xfrm>
            <a:off x="548640" y="502920"/>
            <a:ext cx="1508760" cy="420624"/>
          </a:xfrm>
          <a:prstGeom prst="roundRect">
            <a:avLst>
              <a:gd name="adj" fmla="val 50000"/>
            </a:avLst>
          </a:prstGeom>
          <a:solidFill>
            <a:srgbClr val="FFFFFF"/>
          </a:solidFill>
          <a:ln/>
        </p:spPr>
      </p:sp>
      <p:sp>
        <p:nvSpPr>
          <p:cNvPr id="5" name="Text 3"/>
          <p:cNvSpPr/>
          <p:nvPr/>
        </p:nvSpPr>
        <p:spPr>
          <a:xfrm>
            <a:off x="548640" y="502920"/>
            <a:ext cx="1508760" cy="420624"/>
          </a:xfrm>
          <a:prstGeom prst="rect">
            <a:avLst/>
          </a:prstGeom>
          <a:noFill/>
          <a:ln/>
        </p:spPr>
        <p:txBody>
          <a:bodyPr wrap="square" rtlCol="0" anchor="ctr"/>
          <a:lstStyle/>
          <a:p>
            <a:pPr algn="ctr" indent="0" marL="0">
              <a:buNone/>
            </a:pPr>
            <a:r>
              <a:rPr lang="en-US" sz="1250" b="1" spc="100" kern="0" dirty="0">
                <a:solidFill>
                  <a:srgbClr val="4361EE"/>
                </a:solidFill>
                <a:latin typeface="Calibri" pitchFamily="34" charset="0"/>
                <a:ea typeface="Calibri" pitchFamily="34" charset="-122"/>
                <a:cs typeface="Calibri" pitchFamily="34" charset="-120"/>
              </a:rPr>
              <a:t>LESSON 4</a:t>
            </a:r>
            <a:endParaRPr lang="en-US" sz="1250" dirty="0"/>
          </a:p>
        </p:txBody>
      </p:sp>
      <p:sp>
        <p:nvSpPr>
          <p:cNvPr id="6" name="Text 4"/>
          <p:cNvSpPr/>
          <p:nvPr/>
        </p:nvSpPr>
        <p:spPr>
          <a:xfrm>
            <a:off x="548640" y="2331720"/>
            <a:ext cx="10058400" cy="320040"/>
          </a:xfrm>
          <a:prstGeom prst="rect">
            <a:avLst/>
          </a:prstGeom>
          <a:noFill/>
          <a:ln/>
        </p:spPr>
        <p:txBody>
          <a:bodyPr wrap="square" lIns="0" tIns="0" rIns="0" bIns="0" rtlCol="0" anchor="ctr"/>
          <a:lstStyle/>
          <a:p>
            <a:pPr indent="0" marL="0">
              <a:buNone/>
            </a:pPr>
            <a:r>
              <a:rPr lang="en-US" sz="1400" b="1" spc="110" kern="0" dirty="0">
                <a:solidFill>
                  <a:srgbClr val="C7D2FB"/>
                </a:solidFill>
                <a:latin typeface="Calibri" pitchFamily="34" charset="0"/>
                <a:ea typeface="Calibri" pitchFamily="34" charset="-122"/>
                <a:cs typeface="Calibri" pitchFamily="34" charset="-120"/>
              </a:rPr>
              <a:t>VCE SOFTWARE DEVELOPMENT · UNIT 4 · AREA OF STUDY 2</a:t>
            </a:r>
            <a:endParaRPr lang="en-US" sz="1400" dirty="0"/>
          </a:p>
        </p:txBody>
      </p:sp>
      <p:sp>
        <p:nvSpPr>
          <p:cNvPr id="7" name="Text 5"/>
          <p:cNvSpPr/>
          <p:nvPr/>
        </p:nvSpPr>
        <p:spPr>
          <a:xfrm>
            <a:off x="548640" y="2743200"/>
            <a:ext cx="10607040" cy="1508760"/>
          </a:xfrm>
          <a:prstGeom prst="rect">
            <a:avLst/>
          </a:prstGeom>
          <a:noFill/>
          <a:ln/>
        </p:spPr>
        <p:txBody>
          <a:bodyPr wrap="square" lIns="0" tIns="0" rIns="0" bIns="0" rtlCol="0" anchor="ctr"/>
          <a:lstStyle/>
          <a:p>
            <a:pPr indent="0" marL="0">
              <a:lnSpc>
                <a:spcPct val="110000"/>
              </a:lnSpc>
              <a:buNone/>
            </a:pPr>
            <a:r>
              <a:rPr lang="en-US" sz="4200" b="1" dirty="0">
                <a:solidFill>
                  <a:srgbClr val="FFFFFF"/>
                </a:solidFill>
                <a:latin typeface="Cambria" pitchFamily="34" charset="0"/>
                <a:ea typeface="Cambria" pitchFamily="34" charset="-122"/>
                <a:cs typeface="Cambria" pitchFamily="34" charset="-120"/>
              </a:rPr>
              <a:t>Security Controls:</a:t>
            </a:r>
            <a:endParaRPr lang="en-US" sz="4200" dirty="0"/>
          </a:p>
          <a:p>
            <a:pPr indent="0" marL="0">
              <a:lnSpc>
                <a:spcPct val="110000"/>
              </a:lnSpc>
              <a:buNone/>
            </a:pPr>
            <a:r>
              <a:rPr lang="en-US" sz="4200" b="1" dirty="0">
                <a:solidFill>
                  <a:srgbClr val="FFFFFF"/>
                </a:solidFill>
                <a:latin typeface="Cambria" pitchFamily="34" charset="0"/>
                <a:ea typeface="Cambria" pitchFamily="34" charset="-122"/>
                <a:cs typeface="Cambria" pitchFamily="34" charset="-120"/>
              </a:rPr>
              <a:t>Protecting Development &amp; Data</a:t>
            </a:r>
            <a:endParaRPr lang="en-US" sz="4200" dirty="0"/>
          </a:p>
        </p:txBody>
      </p:sp>
      <p:sp>
        <p:nvSpPr>
          <p:cNvPr id="8" name="Text 6"/>
          <p:cNvSpPr/>
          <p:nvPr/>
        </p:nvSpPr>
        <p:spPr>
          <a:xfrm>
            <a:off x="548640" y="4434840"/>
            <a:ext cx="9692640" cy="868680"/>
          </a:xfrm>
          <a:prstGeom prst="rect">
            <a:avLst/>
          </a:prstGeom>
          <a:noFill/>
          <a:ln/>
        </p:spPr>
        <p:txBody>
          <a:bodyPr wrap="square" lIns="0" tIns="0" rIns="0" bIns="0" rtlCol="0" anchor="ctr"/>
          <a:lstStyle/>
          <a:p>
            <a:pPr indent="0" marL="0">
              <a:lnSpc>
                <a:spcPct val="120000"/>
              </a:lnSpc>
              <a:buNone/>
            </a:pPr>
            <a:r>
              <a:rPr lang="en-US" sz="1700" dirty="0">
                <a:solidFill>
                  <a:srgbClr val="DCE3FD"/>
                </a:solidFill>
                <a:latin typeface="Calibri" pitchFamily="34" charset="0"/>
                <a:ea typeface="Calibri" pitchFamily="34" charset="-122"/>
                <a:cs typeface="Calibri" pitchFamily="34" charset="-120"/>
              </a:rPr>
              <a:t>Version control and code repositories, robust identity and access management, encryption, code review, regular updates and patches, and separated development, testing and production environments.</a:t>
            </a:r>
            <a:endParaRPr lang="en-US" sz="1700" dirty="0"/>
          </a:p>
        </p:txBody>
      </p:sp>
      <p:sp>
        <p:nvSpPr>
          <p:cNvPr id="9" name="Text 7"/>
          <p:cNvSpPr/>
          <p:nvPr/>
        </p:nvSpPr>
        <p:spPr>
          <a:xfrm>
            <a:off x="548640" y="6263640"/>
            <a:ext cx="5486400" cy="274320"/>
          </a:xfrm>
          <a:prstGeom prst="rect">
            <a:avLst/>
          </a:prstGeom>
          <a:noFill/>
          <a:ln/>
        </p:spPr>
        <p:txBody>
          <a:bodyPr wrap="square" rtlCol="0" anchor="ctr"/>
          <a:lstStyle/>
          <a:p>
            <a:pPr indent="0" marL="0">
              <a:buNone/>
            </a:pPr>
            <a:r>
              <a:rPr lang="en-US" sz="1050" dirty="0">
                <a:solidFill>
                  <a:srgbClr val="A9BAF7"/>
                </a:solidFill>
                <a:latin typeface="Calibri" pitchFamily="34" charset="0"/>
                <a:ea typeface="Calibri" pitchFamily="34" charset="-122"/>
                <a:cs typeface="Calibri" pitchFamily="34" charset="-120"/>
              </a:rPr>
              <a:t>y12-sd-u4-l4-security-controls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WARM UP · 5 MINUTES</a:t>
            </a:r>
            <a:endParaRPr lang="en-US" sz="1200" dirty="0"/>
          </a:p>
        </p:txBody>
      </p:sp>
      <p:sp>
        <p:nvSpPr>
          <p:cNvPr id="3" name="Text 1"/>
          <p:cNvSpPr/>
          <p:nvPr/>
        </p:nvSpPr>
        <p:spPr>
          <a:xfrm>
            <a:off x="493776"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Which one would have stopped it?</a:t>
            </a:r>
            <a:endParaRPr lang="en-US" sz="2700" dirty="0"/>
          </a:p>
        </p:txBody>
      </p:sp>
      <p:sp>
        <p:nvSpPr>
          <p:cNvPr id="4" name="Shape 2"/>
          <p:cNvSpPr/>
          <p:nvPr/>
        </p:nvSpPr>
        <p:spPr>
          <a:xfrm>
            <a:off x="8503920" y="228600"/>
            <a:ext cx="3108960" cy="384048"/>
          </a:xfrm>
          <a:prstGeom prst="roundRect">
            <a:avLst>
              <a:gd name="adj" fmla="val 50000"/>
            </a:avLst>
          </a:prstGeom>
          <a:solidFill>
            <a:srgbClr val="4361EE"/>
          </a:solidFill>
          <a:ln/>
        </p:spPr>
      </p:sp>
      <p:sp>
        <p:nvSpPr>
          <p:cNvPr id="5" name="Text 3"/>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WARM UP</a:t>
            </a:r>
            <a:endParaRPr lang="en-US" sz="1300" dirty="0"/>
          </a:p>
        </p:txBody>
      </p:sp>
      <p:sp>
        <p:nvSpPr>
          <p:cNvPr id="6" name="Shape 4"/>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7" name="Text 5"/>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8" name="Shape 6"/>
          <p:cNvSpPr/>
          <p:nvPr/>
        </p:nvSpPr>
        <p:spPr>
          <a:xfrm>
            <a:off x="548640" y="1444752"/>
            <a:ext cx="11064240" cy="1188720"/>
          </a:xfrm>
          <a:prstGeom prst="roundRect">
            <a:avLst>
              <a:gd name="adj" fmla="val 7692"/>
            </a:avLst>
          </a:prstGeom>
          <a:solidFill>
            <a:srgbClr val="EEF1FE"/>
          </a:solidFill>
          <a:ln/>
        </p:spPr>
      </p:sp>
      <p:sp>
        <p:nvSpPr>
          <p:cNvPr id="9" name="Text 7"/>
          <p:cNvSpPr/>
          <p:nvPr/>
        </p:nvSpPr>
        <p:spPr>
          <a:xfrm>
            <a:off x="822960" y="1444752"/>
            <a:ext cx="10515600" cy="1188720"/>
          </a:xfrm>
          <a:prstGeom prst="rect">
            <a:avLst/>
          </a:prstGeom>
          <a:noFill/>
          <a:ln/>
        </p:spPr>
        <p:txBody>
          <a:bodyPr wrap="square" rtlCol="0" anchor="ctr"/>
          <a:lstStyle/>
          <a:p>
            <a:pPr indent="0" marL="0">
              <a:lnSpc>
                <a:spcPct val="116000"/>
              </a:lnSpc>
              <a:buNone/>
            </a:pPr>
            <a:r>
              <a:rPr lang="en-US" sz="1650" b="1" dirty="0">
                <a:solidFill>
                  <a:srgbClr val="1F2328"/>
                </a:solidFill>
                <a:latin typeface="Calibri" pitchFamily="34" charset="0"/>
                <a:ea typeface="Calibri" pitchFamily="34" charset="-122"/>
                <a:cs typeface="Calibri" pitchFamily="34" charset="-120"/>
              </a:rPr>
              <a:t>Three breaches from the last two lessons:  </a:t>
            </a:r>
            <a:pPr indent="0" marL="0">
              <a:lnSpc>
                <a:spcPct val="116000"/>
              </a:lnSpc>
              <a:buNone/>
            </a:pPr>
            <a:r>
              <a:rPr lang="en-US" sz="1650" dirty="0">
                <a:solidFill>
                  <a:srgbClr val="1F2328"/>
                </a:solidFill>
                <a:latin typeface="Calibri" pitchFamily="34" charset="0"/>
                <a:ea typeface="Calibri" pitchFamily="34" charset="-122"/>
                <a:cs typeface="Calibri" pitchFamily="34" charset="-120"/>
              </a:rPr>
              <a:t>Tesla (2020) — a departing engineer copied 6,000 internal scripts.   Capital One (2019) — combined development and production environments exposed 100 million customer records.   WannaCry (2017) — a two-month-old, unapplied patch let ransomware spread worldwide.</a:t>
            </a:r>
            <a:endParaRPr lang="en-US" sz="1650" dirty="0"/>
          </a:p>
        </p:txBody>
      </p:sp>
      <p:sp>
        <p:nvSpPr>
          <p:cNvPr id="10" name="Text 8"/>
          <p:cNvSpPr/>
          <p:nvPr/>
        </p:nvSpPr>
        <p:spPr>
          <a:xfrm>
            <a:off x="658368" y="2816352"/>
            <a:ext cx="10881360" cy="3108960"/>
          </a:xfrm>
          <a:prstGeom prst="rect">
            <a:avLst/>
          </a:prstGeom>
          <a:noFill/>
          <a:ln/>
        </p:spPr>
        <p:txBody>
          <a:bodyPr wrap="square" rtlCol="0" anchor="t"/>
          <a:lstStyle/>
          <a:p>
            <a:pPr marL="279400" indent="-279400">
              <a:lnSpc>
                <a:spcPct val="114000"/>
              </a:lnSpc>
              <a:spcAft>
                <a:spcPts val="1100"/>
              </a:spcAft>
              <a:buSzPct val="100000"/>
              <a:buChar char="•"/>
            </a:pPr>
            <a:r>
              <a:rPr lang="en-US" sz="2000" dirty="0">
                <a:solidFill>
                  <a:srgbClr val="1F2328"/>
                </a:solidFill>
                <a:latin typeface="Calibri" pitchFamily="34" charset="0"/>
                <a:ea typeface="Calibri" pitchFamily="34" charset="-122"/>
                <a:cs typeface="Calibri" pitchFamily="34" charset="-120"/>
              </a:rPr>
              <a:t>With the person next to you: for each breach, name one thing the organisation could have had in place that would have stopped it — or at least made it much smaller.</a:t>
            </a:r>
            <a:endParaRPr lang="en-US" sz="2000" dirty="0"/>
          </a:p>
          <a:p>
            <a:pPr marL="279400" indent="-279400">
              <a:lnSpc>
                <a:spcPct val="114000"/>
              </a:lnSpc>
              <a:spcAft>
                <a:spcPts val="1100"/>
              </a:spcAft>
              <a:buSzPct val="100000"/>
              <a:buChar char="•"/>
            </a:pPr>
            <a:r>
              <a:rPr lang="en-US" sz="2000" dirty="0">
                <a:solidFill>
                  <a:srgbClr val="1F2328"/>
                </a:solidFill>
                <a:latin typeface="Calibri" pitchFamily="34" charset="0"/>
                <a:ea typeface="Calibri" pitchFamily="34" charset="-122"/>
                <a:cs typeface="Calibri" pitchFamily="34" charset="-120"/>
              </a:rPr>
              <a:t>You do not need the correct technical term yet. Describe the practice in plain English.</a:t>
            </a:r>
            <a:endParaRPr lang="en-US" sz="2000" dirty="0"/>
          </a:p>
          <a:p>
            <a:pPr marL="279400" indent="-279400">
              <a:lnSpc>
                <a:spcPct val="114000"/>
              </a:lnSpc>
              <a:spcAft>
                <a:spcPts val="1100"/>
              </a:spcAft>
              <a:buSzPct val="100000"/>
              <a:buChar char="•"/>
            </a:pPr>
            <a:r>
              <a:rPr lang="en-US" sz="2000" dirty="0">
                <a:solidFill>
                  <a:srgbClr val="1F2328"/>
                </a:solidFill>
                <a:latin typeface="Calibri" pitchFamily="34" charset="0"/>
                <a:ea typeface="Calibri" pitchFamily="34" charset="-122"/>
                <a:cs typeface="Calibri" pitchFamily="34" charset="-120"/>
              </a:rPr>
              <a:t>We will collect three or four suggestions on the board, then see how many of today's six controls you have already invented.</a:t>
            </a:r>
            <a:endParaRPr lang="en-US" sz="2000" dirty="0"/>
          </a:p>
        </p:txBody>
      </p:sp>
      <p:sp>
        <p:nvSpPr>
          <p:cNvPr id="11" name="Text 9"/>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2" name="Text 10"/>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75488"/>
            <a:ext cx="5486400" cy="274320"/>
          </a:xfrm>
          <a:prstGeom prst="rect">
            <a:avLst/>
          </a:prstGeom>
          <a:noFill/>
          <a:ln/>
        </p:spPr>
        <p:txBody>
          <a:bodyPr wrap="square" lIns="0" tIns="0" rIns="0" bIns="0" rtlCol="0" anchor="ctr"/>
          <a:lstStyle/>
          <a:p>
            <a:pPr indent="0" marL="0">
              <a:buNone/>
            </a:pPr>
            <a:r>
              <a:rPr lang="en-US" sz="1200" b="1" spc="100" kern="0" dirty="0">
                <a:solidFill>
                  <a:srgbClr val="4361EE"/>
                </a:solidFill>
                <a:latin typeface="Calibri" pitchFamily="34" charset="0"/>
                <a:ea typeface="Calibri" pitchFamily="34" charset="-122"/>
                <a:cs typeface="Calibri" pitchFamily="34" charset="-120"/>
              </a:rPr>
              <a:t>LEARNING OBJECTIVE</a:t>
            </a:r>
            <a:endParaRPr lang="en-US" sz="1200" dirty="0"/>
          </a:p>
        </p:txBody>
      </p:sp>
      <p:sp>
        <p:nvSpPr>
          <p:cNvPr id="3" name="Shape 1"/>
          <p:cNvSpPr/>
          <p:nvPr/>
        </p:nvSpPr>
        <p:spPr>
          <a:xfrm>
            <a:off x="8503920" y="228600"/>
            <a:ext cx="3108960" cy="384048"/>
          </a:xfrm>
          <a:prstGeom prst="roundRect">
            <a:avLst>
              <a:gd name="adj" fmla="val 50000"/>
            </a:avLst>
          </a:prstGeom>
          <a:solidFill>
            <a:srgbClr val="4361EE"/>
          </a:solidFill>
          <a:ln/>
        </p:spPr>
      </p:sp>
      <p:sp>
        <p:nvSpPr>
          <p:cNvPr id="4" name="Text 2"/>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LEARNING OBJECTIVE</a:t>
            </a:r>
            <a:endParaRPr lang="en-US" sz="1300" dirty="0"/>
          </a:p>
        </p:txBody>
      </p:sp>
      <p:sp>
        <p:nvSpPr>
          <p:cNvPr id="5" name="Shape 3"/>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6" name="Text 4"/>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7" name="Text 5"/>
          <p:cNvSpPr/>
          <p:nvPr/>
        </p:nvSpPr>
        <p:spPr>
          <a:xfrm>
            <a:off x="548640" y="822960"/>
            <a:ext cx="11064240" cy="1051560"/>
          </a:xfrm>
          <a:prstGeom prst="rect">
            <a:avLst/>
          </a:prstGeom>
          <a:noFill/>
          <a:ln/>
        </p:spPr>
        <p:txBody>
          <a:bodyPr wrap="square" lIns="0" tIns="0" rIns="0" bIns="0" rtlCol="0" anchor="ctr"/>
          <a:lstStyle/>
          <a:p>
            <a:pPr indent="0" marL="0">
              <a:lnSpc>
                <a:spcPct val="115000"/>
              </a:lnSpc>
              <a:buNone/>
            </a:pPr>
            <a:r>
              <a:rPr lang="en-US" sz="2300" b="1" dirty="0">
                <a:solidFill>
                  <a:srgbClr val="1F2328"/>
                </a:solidFill>
                <a:latin typeface="Cambria" pitchFamily="34" charset="0"/>
                <a:ea typeface="Cambria" pitchFamily="34" charset="-122"/>
                <a:cs typeface="Cambria" pitchFamily="34" charset="-120"/>
              </a:rPr>
              <a:t>To describe the six security controls used to protect software development practices and data, and to explain what each control protects against and where its limits are.</a:t>
            </a:r>
            <a:endParaRPr lang="en-US" sz="2300" dirty="0"/>
          </a:p>
        </p:txBody>
      </p:sp>
      <p:sp>
        <p:nvSpPr>
          <p:cNvPr id="8" name="Shape 6"/>
          <p:cNvSpPr/>
          <p:nvPr/>
        </p:nvSpPr>
        <p:spPr>
          <a:xfrm>
            <a:off x="548640" y="2103120"/>
            <a:ext cx="3529584" cy="3611880"/>
          </a:xfrm>
          <a:prstGeom prst="roundRect">
            <a:avLst>
              <a:gd name="adj" fmla="val 2591"/>
            </a:avLst>
          </a:prstGeom>
          <a:solidFill>
            <a:srgbClr val="E9F8F2"/>
          </a:solidFill>
          <a:ln/>
        </p:spPr>
      </p:sp>
      <p:sp>
        <p:nvSpPr>
          <p:cNvPr id="9" name="Shape 7"/>
          <p:cNvSpPr/>
          <p:nvPr/>
        </p:nvSpPr>
        <p:spPr>
          <a:xfrm>
            <a:off x="804672" y="2395728"/>
            <a:ext cx="237744" cy="237744"/>
          </a:xfrm>
          <a:prstGeom prst="ellipse">
            <a:avLst/>
          </a:prstGeom>
          <a:solidFill>
            <a:srgbClr val="10B981"/>
          </a:solidFill>
          <a:ln/>
        </p:spPr>
      </p:sp>
      <p:sp>
        <p:nvSpPr>
          <p:cNvPr id="10" name="Text 8"/>
          <p:cNvSpPr/>
          <p:nvPr/>
        </p:nvSpPr>
        <p:spPr>
          <a:xfrm>
            <a:off x="1152144" y="2331720"/>
            <a:ext cx="2743200" cy="365760"/>
          </a:xfrm>
          <a:prstGeom prst="rect">
            <a:avLst/>
          </a:prstGeom>
          <a:noFill/>
          <a:ln/>
        </p:spPr>
        <p:txBody>
          <a:bodyPr wrap="square" lIns="0" tIns="0" rIns="0" bIns="0" rtlCol="0" anchor="ctr"/>
          <a:lstStyle/>
          <a:p>
            <a:pPr indent="0" marL="0">
              <a:buNone/>
            </a:pPr>
            <a:r>
              <a:rPr lang="en-US" sz="1400" b="1" spc="80" kern="0" dirty="0">
                <a:solidFill>
                  <a:srgbClr val="10B981"/>
                </a:solidFill>
                <a:latin typeface="Calibri" pitchFamily="34" charset="0"/>
                <a:ea typeface="Calibri" pitchFamily="34" charset="-122"/>
                <a:cs typeface="Calibri" pitchFamily="34" charset="-120"/>
              </a:rPr>
              <a:t>FOUNDATION</a:t>
            </a:r>
            <a:endParaRPr lang="en-US" sz="1400" dirty="0"/>
          </a:p>
        </p:txBody>
      </p:sp>
      <p:sp>
        <p:nvSpPr>
          <p:cNvPr id="11" name="Text 9"/>
          <p:cNvSpPr/>
          <p:nvPr/>
        </p:nvSpPr>
        <p:spPr>
          <a:xfrm>
            <a:off x="804672" y="2834640"/>
            <a:ext cx="3017520" cy="2651760"/>
          </a:xfrm>
          <a:prstGeom prst="rect">
            <a:avLst/>
          </a:prstGeom>
          <a:noFill/>
          <a:ln/>
        </p:spPr>
        <p:txBody>
          <a:bodyPr wrap="square" lIns="0" tIns="0" rIns="0" bIns="0" rtlCol="0" anchor="t"/>
          <a:lstStyle/>
          <a:p>
            <a:pPr indent="0" marL="0">
              <a:lnSpc>
                <a:spcPct val="120000"/>
              </a:lnSpc>
              <a:buNone/>
            </a:pPr>
            <a:r>
              <a:rPr lang="en-US" sz="1700" dirty="0">
                <a:solidFill>
                  <a:srgbClr val="1F2328"/>
                </a:solidFill>
                <a:latin typeface="Calibri" pitchFamily="34" charset="0"/>
                <a:ea typeface="Calibri" pitchFamily="34" charset="-122"/>
                <a:cs typeface="Calibri" pitchFamily="34" charset="-120"/>
              </a:rPr>
              <a:t>I can name all six security controls and state, for each one, what it does and one vulnerability it addresses.</a:t>
            </a:r>
            <a:endParaRPr lang="en-US" sz="1700" dirty="0"/>
          </a:p>
        </p:txBody>
      </p:sp>
      <p:sp>
        <p:nvSpPr>
          <p:cNvPr id="12" name="Shape 10"/>
          <p:cNvSpPr/>
          <p:nvPr/>
        </p:nvSpPr>
        <p:spPr>
          <a:xfrm>
            <a:off x="4261104" y="2103120"/>
            <a:ext cx="3529584" cy="3611880"/>
          </a:xfrm>
          <a:prstGeom prst="roundRect">
            <a:avLst>
              <a:gd name="adj" fmla="val 2591"/>
            </a:avLst>
          </a:prstGeom>
          <a:solidFill>
            <a:srgbClr val="FEF4E4"/>
          </a:solidFill>
          <a:ln/>
        </p:spPr>
      </p:sp>
      <p:sp>
        <p:nvSpPr>
          <p:cNvPr id="13" name="Shape 11"/>
          <p:cNvSpPr/>
          <p:nvPr/>
        </p:nvSpPr>
        <p:spPr>
          <a:xfrm>
            <a:off x="4517136" y="2395728"/>
            <a:ext cx="237744" cy="237744"/>
          </a:xfrm>
          <a:prstGeom prst="ellipse">
            <a:avLst/>
          </a:prstGeom>
          <a:solidFill>
            <a:srgbClr val="F59E0B"/>
          </a:solidFill>
          <a:ln/>
        </p:spPr>
      </p:sp>
      <p:sp>
        <p:nvSpPr>
          <p:cNvPr id="14" name="Text 12"/>
          <p:cNvSpPr/>
          <p:nvPr/>
        </p:nvSpPr>
        <p:spPr>
          <a:xfrm>
            <a:off x="4864608" y="2331720"/>
            <a:ext cx="2743200" cy="365760"/>
          </a:xfrm>
          <a:prstGeom prst="rect">
            <a:avLst/>
          </a:prstGeom>
          <a:noFill/>
          <a:ln/>
        </p:spPr>
        <p:txBody>
          <a:bodyPr wrap="square" lIns="0" tIns="0" rIns="0" bIns="0" rtlCol="0" anchor="ctr"/>
          <a:lstStyle/>
          <a:p>
            <a:pPr indent="0" marL="0">
              <a:buNone/>
            </a:pPr>
            <a:r>
              <a:rPr lang="en-US" sz="1400" b="1" spc="80" kern="0" dirty="0">
                <a:solidFill>
                  <a:srgbClr val="F59E0B"/>
                </a:solidFill>
                <a:latin typeface="Calibri" pitchFamily="34" charset="0"/>
                <a:ea typeface="Calibri" pitchFamily="34" charset="-122"/>
                <a:cs typeface="Calibri" pitchFamily="34" charset="-120"/>
              </a:rPr>
              <a:t>DEVELOPING</a:t>
            </a:r>
            <a:endParaRPr lang="en-US" sz="1400" dirty="0"/>
          </a:p>
        </p:txBody>
      </p:sp>
      <p:sp>
        <p:nvSpPr>
          <p:cNvPr id="15" name="Text 13"/>
          <p:cNvSpPr/>
          <p:nvPr/>
        </p:nvSpPr>
        <p:spPr>
          <a:xfrm>
            <a:off x="4517136" y="2834640"/>
            <a:ext cx="3017520" cy="2651760"/>
          </a:xfrm>
          <a:prstGeom prst="rect">
            <a:avLst/>
          </a:prstGeom>
          <a:noFill/>
          <a:ln/>
        </p:spPr>
        <p:txBody>
          <a:bodyPr wrap="square" lIns="0" tIns="0" rIns="0" bIns="0" rtlCol="0" anchor="t"/>
          <a:lstStyle/>
          <a:p>
            <a:pPr indent="0" marL="0">
              <a:lnSpc>
                <a:spcPct val="120000"/>
              </a:lnSpc>
              <a:buNone/>
            </a:pPr>
            <a:r>
              <a:rPr lang="en-US" sz="1700" dirty="0">
                <a:solidFill>
                  <a:srgbClr val="1F2328"/>
                </a:solidFill>
                <a:latin typeface="Calibri" pitchFamily="34" charset="0"/>
                <a:ea typeface="Calibri" pitchFamily="34" charset="-122"/>
                <a:cs typeface="Calibri" pitchFamily="34" charset="-120"/>
              </a:rPr>
              <a:t>I can explain how a given control works in practice, and evaluate one limitation — something it cannot protect against.</a:t>
            </a:r>
            <a:endParaRPr lang="en-US" sz="1700" dirty="0"/>
          </a:p>
        </p:txBody>
      </p:sp>
      <p:sp>
        <p:nvSpPr>
          <p:cNvPr id="16" name="Shape 14"/>
          <p:cNvSpPr/>
          <p:nvPr/>
        </p:nvSpPr>
        <p:spPr>
          <a:xfrm>
            <a:off x="7973568" y="2103120"/>
            <a:ext cx="3529584" cy="3611880"/>
          </a:xfrm>
          <a:prstGeom prst="roundRect">
            <a:avLst>
              <a:gd name="adj" fmla="val 2591"/>
            </a:avLst>
          </a:prstGeom>
          <a:solidFill>
            <a:srgbClr val="F3EEFD"/>
          </a:solidFill>
          <a:ln/>
        </p:spPr>
      </p:sp>
      <p:sp>
        <p:nvSpPr>
          <p:cNvPr id="17" name="Shape 15"/>
          <p:cNvSpPr/>
          <p:nvPr/>
        </p:nvSpPr>
        <p:spPr>
          <a:xfrm>
            <a:off x="8229600" y="2395728"/>
            <a:ext cx="237744" cy="237744"/>
          </a:xfrm>
          <a:prstGeom prst="ellipse">
            <a:avLst/>
          </a:prstGeom>
          <a:solidFill>
            <a:srgbClr val="8B5CF6"/>
          </a:solidFill>
          <a:ln/>
        </p:spPr>
      </p:sp>
      <p:sp>
        <p:nvSpPr>
          <p:cNvPr id="18" name="Text 16"/>
          <p:cNvSpPr/>
          <p:nvPr/>
        </p:nvSpPr>
        <p:spPr>
          <a:xfrm>
            <a:off x="8577072" y="2331720"/>
            <a:ext cx="2743200" cy="365760"/>
          </a:xfrm>
          <a:prstGeom prst="rect">
            <a:avLst/>
          </a:prstGeom>
          <a:noFill/>
          <a:ln/>
        </p:spPr>
        <p:txBody>
          <a:bodyPr wrap="square" lIns="0" tIns="0" rIns="0" bIns="0" rtlCol="0" anchor="ctr"/>
          <a:lstStyle/>
          <a:p>
            <a:pPr indent="0" marL="0">
              <a:buNone/>
            </a:pPr>
            <a:r>
              <a:rPr lang="en-US" sz="1400" b="1" spc="80" kern="0" dirty="0">
                <a:solidFill>
                  <a:srgbClr val="8B5CF6"/>
                </a:solidFill>
                <a:latin typeface="Calibri" pitchFamily="34" charset="0"/>
                <a:ea typeface="Calibri" pitchFamily="34" charset="-122"/>
                <a:cs typeface="Calibri" pitchFamily="34" charset="-120"/>
              </a:rPr>
              <a:t>EXTENDING</a:t>
            </a:r>
            <a:endParaRPr lang="en-US" sz="1400" dirty="0"/>
          </a:p>
        </p:txBody>
      </p:sp>
      <p:sp>
        <p:nvSpPr>
          <p:cNvPr id="19" name="Text 17"/>
          <p:cNvSpPr/>
          <p:nvPr/>
        </p:nvSpPr>
        <p:spPr>
          <a:xfrm>
            <a:off x="8229600" y="2834640"/>
            <a:ext cx="3017520" cy="2651760"/>
          </a:xfrm>
          <a:prstGeom prst="rect">
            <a:avLst/>
          </a:prstGeom>
          <a:noFill/>
          <a:ln/>
        </p:spPr>
        <p:txBody>
          <a:bodyPr wrap="square" lIns="0" tIns="0" rIns="0" bIns="0" rtlCol="0" anchor="t"/>
          <a:lstStyle/>
          <a:p>
            <a:pPr indent="0" marL="0">
              <a:lnSpc>
                <a:spcPct val="120000"/>
              </a:lnSpc>
              <a:buNone/>
            </a:pPr>
            <a:r>
              <a:rPr lang="en-US" sz="1700" dirty="0">
                <a:solidFill>
                  <a:srgbClr val="1F2328"/>
                </a:solidFill>
                <a:latin typeface="Calibri" pitchFamily="34" charset="0"/>
                <a:ea typeface="Calibri" pitchFamily="34" charset="-122"/>
                <a:cs typeface="Calibri" pitchFamily="34" charset="-120"/>
              </a:rPr>
              <a:t>I can analyse an organisation's practices, identify which controls are missing, and justify a prioritised set of recommendations.</a:t>
            </a:r>
            <a:endParaRPr lang="en-US" sz="170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21" name="Text 19"/>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EXPLICIT EXPLANATION</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What a security control actually is</a:t>
            </a:r>
            <a:endParaRPr lang="en-US" sz="2700" dirty="0"/>
          </a:p>
        </p:txBody>
      </p:sp>
      <p:sp>
        <p:nvSpPr>
          <p:cNvPr id="6" name="Shape 4"/>
          <p:cNvSpPr/>
          <p:nvPr/>
        </p:nvSpPr>
        <p:spPr>
          <a:xfrm>
            <a:off x="8503920" y="228600"/>
            <a:ext cx="3108960" cy="384048"/>
          </a:xfrm>
          <a:prstGeom prst="roundRect">
            <a:avLst>
              <a:gd name="adj" fmla="val 50000"/>
            </a:avLst>
          </a:prstGeom>
          <a:solidFill>
            <a:srgbClr val="4361EE"/>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EXPLICIT EXPLANATION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880360" cy="347472"/>
          </a:xfrm>
          <a:prstGeom prst="roundRect">
            <a:avLst>
              <a:gd name="adj" fmla="val 50000"/>
            </a:avLst>
          </a:prstGeom>
          <a:solidFill>
            <a:srgbClr val="FEF4E4"/>
          </a:solidFill>
          <a:ln/>
        </p:spPr>
      </p:sp>
      <p:sp>
        <p:nvSpPr>
          <p:cNvPr id="11" name="Text 9"/>
          <p:cNvSpPr/>
          <p:nvPr/>
        </p:nvSpPr>
        <p:spPr>
          <a:xfrm>
            <a:off x="548640" y="1353312"/>
            <a:ext cx="2880360" cy="347472"/>
          </a:xfrm>
          <a:prstGeom prst="rect">
            <a:avLst/>
          </a:prstGeom>
          <a:noFill/>
          <a:ln/>
        </p:spPr>
        <p:txBody>
          <a:bodyPr wrap="square" rtlCol="0" anchor="ctr"/>
          <a:lstStyle/>
          <a:p>
            <a:pPr algn="ctr" indent="0" marL="0">
              <a:buNone/>
            </a:pPr>
            <a:r>
              <a:rPr lang="en-US" sz="1250" b="1" spc="60" kern="0" dirty="0">
                <a:solidFill>
                  <a:srgbClr val="A05E06"/>
                </a:solidFill>
                <a:latin typeface="Calibri" pitchFamily="34" charset="0"/>
                <a:ea typeface="Calibri" pitchFamily="34" charset="-122"/>
                <a:cs typeface="Calibri" pitchFamily="34" charset="-120"/>
              </a:rPr>
              <a:t>COPY TO WORKBOOK</a:t>
            </a:r>
            <a:endParaRPr lang="en-US" sz="1250" dirty="0"/>
          </a:p>
        </p:txBody>
      </p:sp>
      <p:sp>
        <p:nvSpPr>
          <p:cNvPr id="12" name="Text 10"/>
          <p:cNvSpPr/>
          <p:nvPr/>
        </p:nvSpPr>
        <p:spPr>
          <a:xfrm>
            <a:off x="566928" y="1856232"/>
            <a:ext cx="10972800" cy="868680"/>
          </a:xfrm>
          <a:prstGeom prst="rect">
            <a:avLst/>
          </a:prstGeom>
          <a:noFill/>
          <a:ln/>
        </p:spPr>
        <p:txBody>
          <a:bodyPr wrap="square" lIns="0" tIns="0" rIns="0" bIns="0" rtlCol="0" anchor="ctr"/>
          <a:lstStyle/>
          <a:p>
            <a:pPr indent="0" marL="0">
              <a:lnSpc>
                <a:spcPct val="120000"/>
              </a:lnSpc>
              <a:buNone/>
            </a:pPr>
            <a:r>
              <a:rPr lang="en-US" sz="1900" dirty="0">
                <a:solidFill>
                  <a:srgbClr val="1F2328"/>
                </a:solidFill>
                <a:latin typeface="Calibri" pitchFamily="34" charset="0"/>
                <a:ea typeface="Calibri" pitchFamily="34" charset="-122"/>
                <a:cs typeface="Calibri" pitchFamily="34" charset="-120"/>
              </a:rPr>
              <a:t>A security control is a deliberate practice, tool or rule put in place to protect software development work and the data stored inside applications. Securing software begins in the design and development stages — not after release.</a:t>
            </a:r>
            <a:endParaRPr lang="en-US" sz="1900" dirty="0"/>
          </a:p>
        </p:txBody>
      </p:sp>
      <p:sp>
        <p:nvSpPr>
          <p:cNvPr id="13" name="Shape 11"/>
          <p:cNvSpPr/>
          <p:nvPr/>
        </p:nvSpPr>
        <p:spPr>
          <a:xfrm>
            <a:off x="548640" y="3017520"/>
            <a:ext cx="3529584" cy="2514600"/>
          </a:xfrm>
          <a:prstGeom prst="roundRect">
            <a:avLst>
              <a:gd name="adj" fmla="val 3636"/>
            </a:avLst>
          </a:prstGeom>
          <a:solidFill>
            <a:srgbClr val="E9F8F2"/>
          </a:solidFill>
          <a:ln/>
        </p:spPr>
      </p:sp>
      <p:sp>
        <p:nvSpPr>
          <p:cNvPr id="14" name="Text 12"/>
          <p:cNvSpPr/>
          <p:nvPr/>
        </p:nvSpPr>
        <p:spPr>
          <a:xfrm>
            <a:off x="804672" y="3218688"/>
            <a:ext cx="3017520" cy="329184"/>
          </a:xfrm>
          <a:prstGeom prst="rect">
            <a:avLst/>
          </a:prstGeom>
          <a:noFill/>
          <a:ln/>
        </p:spPr>
        <p:txBody>
          <a:bodyPr wrap="square" lIns="0" tIns="0" rIns="0" bIns="0" rtlCol="0" anchor="ctr"/>
          <a:lstStyle/>
          <a:p>
            <a:pPr indent="0" marL="0">
              <a:buNone/>
            </a:pPr>
            <a:r>
              <a:rPr lang="en-US" sz="1500" b="1" spc="80" kern="0" dirty="0">
                <a:solidFill>
                  <a:srgbClr val="10B981"/>
                </a:solidFill>
                <a:latin typeface="Calibri" pitchFamily="34" charset="0"/>
                <a:ea typeface="Calibri" pitchFamily="34" charset="-122"/>
                <a:cs typeface="Calibri" pitchFamily="34" charset="-120"/>
              </a:rPr>
              <a:t>PREVENTIVE</a:t>
            </a:r>
            <a:endParaRPr lang="en-US" sz="1500" dirty="0"/>
          </a:p>
        </p:txBody>
      </p:sp>
      <p:sp>
        <p:nvSpPr>
          <p:cNvPr id="15" name="Text 13"/>
          <p:cNvSpPr/>
          <p:nvPr/>
        </p:nvSpPr>
        <p:spPr>
          <a:xfrm>
            <a:off x="804672" y="3621024"/>
            <a:ext cx="3017520" cy="1737360"/>
          </a:xfrm>
          <a:prstGeom prst="rect">
            <a:avLst/>
          </a:prstGeom>
          <a:noFill/>
          <a:ln/>
        </p:spPr>
        <p:txBody>
          <a:bodyPr wrap="square" lIns="0" tIns="0" rIns="0" bIns="0" rtlCol="0" anchor="ctr"/>
          <a:lstStyle/>
          <a:p>
            <a:pPr indent="0" marL="0">
              <a:lnSpc>
                <a:spcPct val="118000"/>
              </a:lnSpc>
              <a:buNone/>
            </a:pPr>
            <a:r>
              <a:rPr lang="en-US" sz="1650" dirty="0">
                <a:solidFill>
                  <a:srgbClr val="1F2328"/>
                </a:solidFill>
                <a:latin typeface="Calibri" pitchFamily="34" charset="0"/>
                <a:ea typeface="Calibri" pitchFamily="34" charset="-122"/>
                <a:cs typeface="Calibri" pitchFamily="34" charset="-120"/>
              </a:rPr>
              <a:t>Stops the incident happening at all.</a:t>
            </a:r>
            <a:endParaRPr lang="en-US" sz="1650" dirty="0"/>
          </a:p>
          <a:p>
            <a:pPr indent="0" marL="0">
              <a:lnSpc>
                <a:spcPct val="118000"/>
              </a:lnSpc>
              <a:buNone/>
            </a:pPr>
            <a:r>
              <a:rPr lang="en-US" sz="1650" dirty="0">
                <a:solidFill>
                  <a:srgbClr val="1F2328"/>
                </a:solidFill>
                <a:latin typeface="Calibri" pitchFamily="34" charset="0"/>
                <a:ea typeface="Calibri" pitchFamily="34" charset="-122"/>
                <a:cs typeface="Calibri" pitchFamily="34" charset="-120"/>
              </a:rPr>
              <a:t>Access restrictions, patching, separated environments.</a:t>
            </a:r>
            <a:endParaRPr lang="en-US" sz="1650" dirty="0"/>
          </a:p>
        </p:txBody>
      </p:sp>
      <p:sp>
        <p:nvSpPr>
          <p:cNvPr id="16" name="Shape 14"/>
          <p:cNvSpPr/>
          <p:nvPr/>
        </p:nvSpPr>
        <p:spPr>
          <a:xfrm>
            <a:off x="4261104" y="3017520"/>
            <a:ext cx="3529584" cy="2514600"/>
          </a:xfrm>
          <a:prstGeom prst="roundRect">
            <a:avLst>
              <a:gd name="adj" fmla="val 3636"/>
            </a:avLst>
          </a:prstGeom>
          <a:solidFill>
            <a:srgbClr val="FEF4E4"/>
          </a:solidFill>
          <a:ln/>
        </p:spPr>
      </p:sp>
      <p:sp>
        <p:nvSpPr>
          <p:cNvPr id="17" name="Text 15"/>
          <p:cNvSpPr/>
          <p:nvPr/>
        </p:nvSpPr>
        <p:spPr>
          <a:xfrm>
            <a:off x="4517136" y="3218688"/>
            <a:ext cx="3017520" cy="329184"/>
          </a:xfrm>
          <a:prstGeom prst="rect">
            <a:avLst/>
          </a:prstGeom>
          <a:noFill/>
          <a:ln/>
        </p:spPr>
        <p:txBody>
          <a:bodyPr wrap="square" lIns="0" tIns="0" rIns="0" bIns="0" rtlCol="0" anchor="ctr"/>
          <a:lstStyle/>
          <a:p>
            <a:pPr indent="0" marL="0">
              <a:buNone/>
            </a:pPr>
            <a:r>
              <a:rPr lang="en-US" sz="1500" b="1" spc="80" kern="0" dirty="0">
                <a:solidFill>
                  <a:srgbClr val="F59E0B"/>
                </a:solidFill>
                <a:latin typeface="Calibri" pitchFamily="34" charset="0"/>
                <a:ea typeface="Calibri" pitchFamily="34" charset="-122"/>
                <a:cs typeface="Calibri" pitchFamily="34" charset="-120"/>
              </a:rPr>
              <a:t>DETECTIVE</a:t>
            </a:r>
            <a:endParaRPr lang="en-US" sz="1500" dirty="0"/>
          </a:p>
        </p:txBody>
      </p:sp>
      <p:sp>
        <p:nvSpPr>
          <p:cNvPr id="18" name="Text 16"/>
          <p:cNvSpPr/>
          <p:nvPr/>
        </p:nvSpPr>
        <p:spPr>
          <a:xfrm>
            <a:off x="4517136" y="3621024"/>
            <a:ext cx="3017520" cy="1737360"/>
          </a:xfrm>
          <a:prstGeom prst="rect">
            <a:avLst/>
          </a:prstGeom>
          <a:noFill/>
          <a:ln/>
        </p:spPr>
        <p:txBody>
          <a:bodyPr wrap="square" lIns="0" tIns="0" rIns="0" bIns="0" rtlCol="0" anchor="ctr"/>
          <a:lstStyle/>
          <a:p>
            <a:pPr indent="0" marL="0">
              <a:lnSpc>
                <a:spcPct val="118000"/>
              </a:lnSpc>
              <a:buNone/>
            </a:pPr>
            <a:r>
              <a:rPr lang="en-US" sz="1650" dirty="0">
                <a:solidFill>
                  <a:srgbClr val="1F2328"/>
                </a:solidFill>
                <a:latin typeface="Calibri" pitchFamily="34" charset="0"/>
                <a:ea typeface="Calibri" pitchFamily="34" charset="-122"/>
                <a:cs typeface="Calibri" pitchFamily="34" charset="-120"/>
              </a:rPr>
              <a:t>Notices that something has happened.</a:t>
            </a:r>
            <a:endParaRPr lang="en-US" sz="1650" dirty="0"/>
          </a:p>
          <a:p>
            <a:pPr indent="0" marL="0">
              <a:lnSpc>
                <a:spcPct val="118000"/>
              </a:lnSpc>
              <a:buNone/>
            </a:pPr>
            <a:r>
              <a:rPr lang="en-US" sz="1650" dirty="0">
                <a:solidFill>
                  <a:srgbClr val="1F2328"/>
                </a:solidFill>
                <a:latin typeface="Calibri" pitchFamily="34" charset="0"/>
                <a:ea typeface="Calibri" pitchFamily="34" charset="-122"/>
                <a:cs typeface="Calibri" pitchFamily="34" charset="-120"/>
              </a:rPr>
              <a:t>Activity monitoring, audit trails, commit history.</a:t>
            </a:r>
            <a:endParaRPr lang="en-US" sz="1650" dirty="0"/>
          </a:p>
        </p:txBody>
      </p:sp>
      <p:sp>
        <p:nvSpPr>
          <p:cNvPr id="19" name="Shape 17"/>
          <p:cNvSpPr/>
          <p:nvPr/>
        </p:nvSpPr>
        <p:spPr>
          <a:xfrm>
            <a:off x="7973568" y="3017520"/>
            <a:ext cx="3529584" cy="2514600"/>
          </a:xfrm>
          <a:prstGeom prst="roundRect">
            <a:avLst>
              <a:gd name="adj" fmla="val 3636"/>
            </a:avLst>
          </a:prstGeom>
          <a:solidFill>
            <a:srgbClr val="F3EEFD"/>
          </a:solidFill>
          <a:ln/>
        </p:spPr>
      </p:sp>
      <p:sp>
        <p:nvSpPr>
          <p:cNvPr id="20" name="Text 18"/>
          <p:cNvSpPr/>
          <p:nvPr/>
        </p:nvSpPr>
        <p:spPr>
          <a:xfrm>
            <a:off x="8229600" y="3218688"/>
            <a:ext cx="3017520" cy="329184"/>
          </a:xfrm>
          <a:prstGeom prst="rect">
            <a:avLst/>
          </a:prstGeom>
          <a:noFill/>
          <a:ln/>
        </p:spPr>
        <p:txBody>
          <a:bodyPr wrap="square" lIns="0" tIns="0" rIns="0" bIns="0" rtlCol="0" anchor="ctr"/>
          <a:lstStyle/>
          <a:p>
            <a:pPr indent="0" marL="0">
              <a:buNone/>
            </a:pPr>
            <a:r>
              <a:rPr lang="en-US" sz="1500" b="1" spc="80" kern="0" dirty="0">
                <a:solidFill>
                  <a:srgbClr val="8B5CF6"/>
                </a:solidFill>
                <a:latin typeface="Calibri" pitchFamily="34" charset="0"/>
                <a:ea typeface="Calibri" pitchFamily="34" charset="-122"/>
                <a:cs typeface="Calibri" pitchFamily="34" charset="-120"/>
              </a:rPr>
              <a:t>CORRECTIVE</a:t>
            </a:r>
            <a:endParaRPr lang="en-US" sz="1500" dirty="0"/>
          </a:p>
        </p:txBody>
      </p:sp>
      <p:sp>
        <p:nvSpPr>
          <p:cNvPr id="21" name="Text 19"/>
          <p:cNvSpPr/>
          <p:nvPr/>
        </p:nvSpPr>
        <p:spPr>
          <a:xfrm>
            <a:off x="8229600" y="3621024"/>
            <a:ext cx="3017520" cy="1737360"/>
          </a:xfrm>
          <a:prstGeom prst="rect">
            <a:avLst/>
          </a:prstGeom>
          <a:noFill/>
          <a:ln/>
        </p:spPr>
        <p:txBody>
          <a:bodyPr wrap="square" lIns="0" tIns="0" rIns="0" bIns="0" rtlCol="0" anchor="ctr"/>
          <a:lstStyle/>
          <a:p>
            <a:pPr indent="0" marL="0">
              <a:lnSpc>
                <a:spcPct val="118000"/>
              </a:lnSpc>
              <a:buNone/>
            </a:pPr>
            <a:r>
              <a:rPr lang="en-US" sz="1650" dirty="0">
                <a:solidFill>
                  <a:srgbClr val="1F2328"/>
                </a:solidFill>
                <a:latin typeface="Calibri" pitchFamily="34" charset="0"/>
                <a:ea typeface="Calibri" pitchFamily="34" charset="-122"/>
                <a:cs typeface="Calibri" pitchFamily="34" charset="-120"/>
              </a:rPr>
              <a:t>Limits the damage and restores normal operation.</a:t>
            </a:r>
            <a:endParaRPr lang="en-US" sz="1650" dirty="0"/>
          </a:p>
          <a:p>
            <a:pPr indent="0" marL="0">
              <a:lnSpc>
                <a:spcPct val="118000"/>
              </a:lnSpc>
              <a:buNone/>
            </a:pPr>
            <a:r>
              <a:rPr lang="en-US" sz="1650" dirty="0">
                <a:solidFill>
                  <a:srgbClr val="1F2328"/>
                </a:solidFill>
                <a:latin typeface="Calibri" pitchFamily="34" charset="0"/>
                <a:ea typeface="Calibri" pitchFamily="34" charset="-122"/>
                <a:cs typeface="Calibri" pitchFamily="34" charset="-120"/>
              </a:rPr>
              <a:t>Rolling back a version, revoking credentials, restoring backups.</a:t>
            </a:r>
            <a:endParaRPr lang="en-US" sz="1650" dirty="0"/>
          </a:p>
        </p:txBody>
      </p:sp>
      <p:sp>
        <p:nvSpPr>
          <p:cNvPr id="22" name="Text 20"/>
          <p:cNvSpPr/>
          <p:nvPr/>
        </p:nvSpPr>
        <p:spPr>
          <a:xfrm>
            <a:off x="566928" y="5961888"/>
            <a:ext cx="8686800" cy="256032"/>
          </a:xfrm>
          <a:prstGeom prst="rect">
            <a:avLst/>
          </a:prstGeom>
          <a:noFill/>
          <a:ln/>
        </p:spPr>
        <p:txBody>
          <a:bodyPr wrap="square" rtlCol="0" anchor="ctr"/>
          <a:lstStyle/>
          <a:p>
            <a:pPr indent="0" marL="0">
              <a:buNone/>
            </a:pPr>
            <a:r>
              <a:rPr lang="en-US" sz="1050" i="1" dirty="0">
                <a:solidFill>
                  <a:srgbClr val="57606A"/>
                </a:solidFill>
                <a:latin typeface="Calibri" pitchFamily="34" charset="0"/>
                <a:ea typeface="Calibri" pitchFamily="34" charset="-122"/>
                <a:cs typeface="Calibri" pitchFamily="34" charset="-120"/>
              </a:rPr>
              <a:t>Nelson Software Development VCE Units 3&amp;4, 2E — pp.239–240</a:t>
            </a:r>
            <a:endParaRPr lang="en-US" sz="1050" dirty="0"/>
          </a:p>
        </p:txBody>
      </p:sp>
      <p:sp>
        <p:nvSpPr>
          <p:cNvPr id="23" name="Text 21"/>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24" name="Text 22"/>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CONTROL 1 OF 6</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Version control and code repositories</a:t>
            </a:r>
            <a:endParaRPr lang="en-US" sz="2700" dirty="0"/>
          </a:p>
        </p:txBody>
      </p:sp>
      <p:sp>
        <p:nvSpPr>
          <p:cNvPr id="6" name="Shape 4"/>
          <p:cNvSpPr/>
          <p:nvPr/>
        </p:nvSpPr>
        <p:spPr>
          <a:xfrm>
            <a:off x="8503920" y="228600"/>
            <a:ext cx="3108960" cy="384048"/>
          </a:xfrm>
          <a:prstGeom prst="roundRect">
            <a:avLst>
              <a:gd name="adj" fmla="val 50000"/>
            </a:avLst>
          </a:prstGeom>
          <a:solidFill>
            <a:srgbClr val="4361EE"/>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EXPLICIT EXPLANATION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880360" cy="347472"/>
          </a:xfrm>
          <a:prstGeom prst="roundRect">
            <a:avLst>
              <a:gd name="adj" fmla="val 50000"/>
            </a:avLst>
          </a:prstGeom>
          <a:solidFill>
            <a:srgbClr val="FEF4E4"/>
          </a:solidFill>
          <a:ln/>
        </p:spPr>
      </p:sp>
      <p:sp>
        <p:nvSpPr>
          <p:cNvPr id="11" name="Text 9"/>
          <p:cNvSpPr/>
          <p:nvPr/>
        </p:nvSpPr>
        <p:spPr>
          <a:xfrm>
            <a:off x="548640" y="1353312"/>
            <a:ext cx="2880360" cy="347472"/>
          </a:xfrm>
          <a:prstGeom prst="rect">
            <a:avLst/>
          </a:prstGeom>
          <a:noFill/>
          <a:ln/>
        </p:spPr>
        <p:txBody>
          <a:bodyPr wrap="square" rtlCol="0" anchor="ctr"/>
          <a:lstStyle/>
          <a:p>
            <a:pPr algn="ctr" indent="0" marL="0">
              <a:buNone/>
            </a:pPr>
            <a:r>
              <a:rPr lang="en-US" sz="1250" b="1" spc="60" kern="0" dirty="0">
                <a:solidFill>
                  <a:srgbClr val="A05E06"/>
                </a:solidFill>
                <a:latin typeface="Calibri" pitchFamily="34" charset="0"/>
                <a:ea typeface="Calibri" pitchFamily="34" charset="-122"/>
                <a:cs typeface="Calibri" pitchFamily="34" charset="-120"/>
              </a:rPr>
              <a:t>COPY TO WORKBOOK</a:t>
            </a:r>
            <a:endParaRPr lang="en-US" sz="1250" dirty="0"/>
          </a:p>
        </p:txBody>
      </p:sp>
      <p:sp>
        <p:nvSpPr>
          <p:cNvPr id="12" name="Text 10"/>
          <p:cNvSpPr/>
          <p:nvPr/>
        </p:nvSpPr>
        <p:spPr>
          <a:xfrm>
            <a:off x="658368" y="1856232"/>
            <a:ext cx="10881360" cy="3657600"/>
          </a:xfrm>
          <a:prstGeom prst="rect">
            <a:avLst/>
          </a:prstGeom>
          <a:noFill/>
          <a:ln/>
        </p:spPr>
        <p:txBody>
          <a:bodyPr wrap="square" rtlCol="0" anchor="t"/>
          <a:lstStyle/>
          <a:p>
            <a:pPr marL="279400" indent="-279400">
              <a:lnSpc>
                <a:spcPct val="114000"/>
              </a:lnSpc>
              <a:spcAft>
                <a:spcPts val="1100"/>
              </a:spcAft>
              <a:buSzPct val="100000"/>
              <a:buChar char="•"/>
            </a:pPr>
            <a:r>
              <a:rPr lang="en-US" sz="1950" dirty="0">
                <a:solidFill>
                  <a:srgbClr val="1F2328"/>
                </a:solidFill>
                <a:latin typeface="Calibri" pitchFamily="34" charset="0"/>
                <a:ea typeface="Calibri" pitchFamily="34" charset="-122"/>
                <a:cs typeface="Calibri" pitchFamily="34" charset="-120"/>
              </a:rPr>
              <a:t>Version control records every change, so the team always knows which file is the true "master" and can roll back to any earlier point in development.</a:t>
            </a:r>
            <a:endParaRPr lang="en-US" sz="1950" dirty="0"/>
          </a:p>
          <a:p>
            <a:pPr marL="279400" indent="-279400">
              <a:lnSpc>
                <a:spcPct val="114000"/>
              </a:lnSpc>
              <a:spcAft>
                <a:spcPts val="1100"/>
              </a:spcAft>
              <a:buSzPct val="100000"/>
              <a:buChar char="•"/>
            </a:pPr>
            <a:r>
              <a:rPr lang="en-US" sz="1950" dirty="0">
                <a:solidFill>
                  <a:srgbClr val="1F2328"/>
                </a:solidFill>
                <a:latin typeface="Calibri" pitchFamily="34" charset="0"/>
                <a:ea typeface="Calibri" pitchFamily="34" charset="-122"/>
                <a:cs typeface="Calibri" pitchFamily="34" charset="-120"/>
              </a:rPr>
              <a:t>The security payoff: only compliant code is permitted into the project. Code that is not ready is simply not permitted to be added — so temporary insecure fixes never reach the shared codebase.</a:t>
            </a:r>
            <a:endParaRPr lang="en-US" sz="1950" dirty="0"/>
          </a:p>
          <a:p>
            <a:pPr marL="279400" indent="-279400">
              <a:lnSpc>
                <a:spcPct val="114000"/>
              </a:lnSpc>
              <a:spcAft>
                <a:spcPts val="1100"/>
              </a:spcAft>
              <a:buSzPct val="100000"/>
              <a:buChar char="•"/>
            </a:pPr>
            <a:r>
              <a:rPr lang="en-US" sz="1950" dirty="0">
                <a:solidFill>
                  <a:srgbClr val="1F2328"/>
                </a:solidFill>
                <a:latin typeface="Calibri" pitchFamily="34" charset="0"/>
                <a:ea typeface="Calibri" pitchFamily="34" charset="-122"/>
                <a:cs typeface="Calibri" pitchFamily="34" charset="-120"/>
              </a:rPr>
              <a:t>Repositories control who can do what. Access is assigned by role — Read, Write, Maintain and Admin — so permission is deliberate rather than assumed.</a:t>
            </a:r>
            <a:endParaRPr lang="en-US" sz="1950" dirty="0"/>
          </a:p>
          <a:p>
            <a:pPr marL="279400" indent="-279400">
              <a:lnSpc>
                <a:spcPct val="114000"/>
              </a:lnSpc>
              <a:spcAft>
                <a:spcPts val="1100"/>
              </a:spcAft>
              <a:buSzPct val="100000"/>
              <a:buChar char="•"/>
            </a:pPr>
            <a:r>
              <a:rPr lang="en-US" sz="1950" dirty="0">
                <a:solidFill>
                  <a:srgbClr val="1F2328"/>
                </a:solidFill>
                <a:latin typeface="Calibri" pitchFamily="34" charset="0"/>
                <a:ea typeface="Calibri" pitchFamily="34" charset="-122"/>
                <a:cs typeface="Calibri" pitchFamily="34" charset="-120"/>
              </a:rPr>
              <a:t>Every commit is attributable to a person, which makes the history an audit trail as well as a backup.</a:t>
            </a:r>
            <a:endParaRPr lang="en-US" sz="1950" dirty="0"/>
          </a:p>
        </p:txBody>
      </p:sp>
      <p:sp>
        <p:nvSpPr>
          <p:cNvPr id="13" name="Text 11"/>
          <p:cNvSpPr/>
          <p:nvPr/>
        </p:nvSpPr>
        <p:spPr>
          <a:xfrm>
            <a:off x="566928" y="5961888"/>
            <a:ext cx="8686800" cy="256032"/>
          </a:xfrm>
          <a:prstGeom prst="rect">
            <a:avLst/>
          </a:prstGeom>
          <a:noFill/>
          <a:ln/>
        </p:spPr>
        <p:txBody>
          <a:bodyPr wrap="square" rtlCol="0" anchor="ctr"/>
          <a:lstStyle/>
          <a:p>
            <a:pPr indent="0" marL="0">
              <a:buNone/>
            </a:pPr>
            <a:r>
              <a:rPr lang="en-US" sz="1050" i="1" dirty="0">
                <a:solidFill>
                  <a:srgbClr val="57606A"/>
                </a:solidFill>
                <a:latin typeface="Calibri" pitchFamily="34" charset="0"/>
                <a:ea typeface="Calibri" pitchFamily="34" charset="-122"/>
                <a:cs typeface="Calibri" pitchFamily="34" charset="-120"/>
              </a:rPr>
              <a:t>Nelson Software Development VCE Units 3&amp;4, 2E — pp.240–242</a:t>
            </a:r>
            <a:endParaRPr lang="en-US" sz="1050" dirty="0"/>
          </a:p>
        </p:txBody>
      </p:sp>
      <p:sp>
        <p:nvSpPr>
          <p:cNvPr id="14" name="Text 1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5" name="Text 13"/>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CASE STUDIES</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How two repository systems do it</a:t>
            </a:r>
            <a:endParaRPr lang="en-US" sz="2700" dirty="0"/>
          </a:p>
        </p:txBody>
      </p:sp>
      <p:sp>
        <p:nvSpPr>
          <p:cNvPr id="6" name="Shape 4"/>
          <p:cNvSpPr/>
          <p:nvPr/>
        </p:nvSpPr>
        <p:spPr>
          <a:xfrm>
            <a:off x="8503920" y="228600"/>
            <a:ext cx="3108960" cy="384048"/>
          </a:xfrm>
          <a:prstGeom prst="roundRect">
            <a:avLst>
              <a:gd name="adj" fmla="val 50000"/>
            </a:avLst>
          </a:prstGeom>
          <a:solidFill>
            <a:srgbClr val="4361EE"/>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EXPLICIT EXPLANATION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444752"/>
            <a:ext cx="5431536" cy="4160520"/>
          </a:xfrm>
          <a:prstGeom prst="roundRect">
            <a:avLst>
              <a:gd name="adj" fmla="val 2198"/>
            </a:avLst>
          </a:prstGeom>
          <a:solidFill>
            <a:srgbClr val="EEF1FE"/>
          </a:solidFill>
          <a:ln/>
        </p:spPr>
      </p:sp>
      <p:sp>
        <p:nvSpPr>
          <p:cNvPr id="11" name="Text 9"/>
          <p:cNvSpPr/>
          <p:nvPr/>
        </p:nvSpPr>
        <p:spPr>
          <a:xfrm>
            <a:off x="841248" y="1645920"/>
            <a:ext cx="4846320" cy="384048"/>
          </a:xfrm>
          <a:prstGeom prst="rect">
            <a:avLst/>
          </a:prstGeom>
          <a:noFill/>
          <a:ln/>
        </p:spPr>
        <p:txBody>
          <a:bodyPr wrap="square" lIns="0" tIns="0" rIns="0" bIns="0" rtlCol="0" anchor="ctr"/>
          <a:lstStyle/>
          <a:p>
            <a:pPr indent="0" marL="0">
              <a:buNone/>
            </a:pPr>
            <a:r>
              <a:rPr lang="en-US" sz="1900" b="1" dirty="0">
                <a:solidFill>
                  <a:srgbClr val="4361EE"/>
                </a:solidFill>
                <a:latin typeface="Cambria" pitchFamily="34" charset="0"/>
                <a:ea typeface="Cambria" pitchFamily="34" charset="-122"/>
                <a:cs typeface="Cambria" pitchFamily="34" charset="-120"/>
              </a:rPr>
              <a:t>Git — GitHub and Bitbucket</a:t>
            </a:r>
            <a:endParaRPr lang="en-US" sz="1900" dirty="0"/>
          </a:p>
        </p:txBody>
      </p:sp>
      <p:sp>
        <p:nvSpPr>
          <p:cNvPr id="12" name="Text 10"/>
          <p:cNvSpPr/>
          <p:nvPr/>
        </p:nvSpPr>
        <p:spPr>
          <a:xfrm>
            <a:off x="932688" y="2130552"/>
            <a:ext cx="4846320" cy="3337560"/>
          </a:xfrm>
          <a:prstGeom prst="rect">
            <a:avLst/>
          </a:prstGeom>
          <a:noFill/>
          <a:ln/>
        </p:spPr>
        <p:txBody>
          <a:bodyPr wrap="square" lIns="0" tIns="0" rIns="0" bIns="0" rtlCol="0" anchor="ctr"/>
          <a:lstStyle/>
          <a:p>
            <a:pPr marL="228600" indent="-228600">
              <a:lnSpc>
                <a:spcPct val="115000"/>
              </a:lnSpc>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A repository ("repo") plus a version control system, accessed through simple commands: clone, pull, push and merge.</a:t>
            </a:r>
            <a:endParaRPr lang="en-US" sz="1600" dirty="0"/>
          </a:p>
          <a:p>
            <a:pPr marL="228600" indent="-228600">
              <a:lnSpc>
                <a:spcPct val="115000"/>
              </a:lnSpc>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Clone creates a developer version in a separate repository. Changes are made and tested there, then merged back to the main branch, where consistency checks are made.</a:t>
            </a:r>
            <a:endParaRPr lang="en-US" sz="1600" dirty="0"/>
          </a:p>
          <a:p>
            <a:pPr marL="228600" indent="-228600">
              <a:lnSpc>
                <a:spcPct val="115000"/>
              </a:lnSpc>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Authorisation and permissions are strictly controlled by assigning roles.</a:t>
            </a:r>
            <a:endParaRPr lang="en-US" sz="1600" dirty="0"/>
          </a:p>
          <a:p>
            <a:pPr marL="228600" indent="-228600">
              <a:lnSpc>
                <a:spcPct val="115000"/>
              </a:lnSpc>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Branch-per-issue: keep the main branch working, experiment on a feature branch.</a:t>
            </a:r>
            <a:endParaRPr lang="en-US" sz="1600" dirty="0"/>
          </a:p>
        </p:txBody>
      </p:sp>
      <p:sp>
        <p:nvSpPr>
          <p:cNvPr id="13" name="Shape 11"/>
          <p:cNvSpPr/>
          <p:nvPr/>
        </p:nvSpPr>
        <p:spPr>
          <a:xfrm>
            <a:off x="6199632" y="1444752"/>
            <a:ext cx="5431536" cy="4160520"/>
          </a:xfrm>
          <a:prstGeom prst="roundRect">
            <a:avLst>
              <a:gd name="adj" fmla="val 2198"/>
            </a:avLst>
          </a:prstGeom>
          <a:solidFill>
            <a:srgbClr val="F3EEFD"/>
          </a:solidFill>
          <a:ln/>
        </p:spPr>
      </p:sp>
      <p:sp>
        <p:nvSpPr>
          <p:cNvPr id="14" name="Text 12"/>
          <p:cNvSpPr/>
          <p:nvPr/>
        </p:nvSpPr>
        <p:spPr>
          <a:xfrm>
            <a:off x="6492240" y="1645920"/>
            <a:ext cx="4846320" cy="384048"/>
          </a:xfrm>
          <a:prstGeom prst="rect">
            <a:avLst/>
          </a:prstGeom>
          <a:noFill/>
          <a:ln/>
        </p:spPr>
        <p:txBody>
          <a:bodyPr wrap="square" lIns="0" tIns="0" rIns="0" bIns="0" rtlCol="0" anchor="ctr"/>
          <a:lstStyle/>
          <a:p>
            <a:pPr indent="0" marL="0">
              <a:buNone/>
            </a:pPr>
            <a:r>
              <a:rPr lang="en-US" sz="1900" b="1" dirty="0">
                <a:solidFill>
                  <a:srgbClr val="8B5CF6"/>
                </a:solidFill>
                <a:latin typeface="Cambria" pitchFamily="34" charset="0"/>
                <a:ea typeface="Cambria" pitchFamily="34" charset="-122"/>
                <a:cs typeface="Cambria" pitchFamily="34" charset="-120"/>
              </a:rPr>
              <a:t>Apache Subversion (SVN)</a:t>
            </a:r>
            <a:endParaRPr lang="en-US" sz="1900" dirty="0"/>
          </a:p>
        </p:txBody>
      </p:sp>
      <p:sp>
        <p:nvSpPr>
          <p:cNvPr id="15" name="Text 13"/>
          <p:cNvSpPr/>
          <p:nvPr/>
        </p:nvSpPr>
        <p:spPr>
          <a:xfrm>
            <a:off x="6583680" y="2130552"/>
            <a:ext cx="4846320" cy="3337560"/>
          </a:xfrm>
          <a:prstGeom prst="rect">
            <a:avLst/>
          </a:prstGeom>
          <a:noFill/>
          <a:ln/>
        </p:spPr>
        <p:txBody>
          <a:bodyPr wrap="square" lIns="0" tIns="0" rIns="0" bIns="0" rtlCol="0" anchor="ctr"/>
          <a:lstStyle/>
          <a:p>
            <a:pPr marL="228600" indent="-228600">
              <a:lnSpc>
                <a:spcPct val="115000"/>
              </a:lnSpc>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A system of software versioning and revision control, open source under the Apache License.</a:t>
            </a:r>
            <a:endParaRPr lang="en-US" sz="1600" dirty="0"/>
          </a:p>
          <a:p>
            <a:pPr marL="228600" indent="-228600">
              <a:lnSpc>
                <a:spcPct val="115000"/>
              </a:lnSpc>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A branch is a separate line of development. A tag labels the repository at a point in time so it can be found again later.</a:t>
            </a:r>
            <a:endParaRPr lang="en-US" sz="1600" dirty="0"/>
          </a:p>
          <a:p>
            <a:pPr marL="228600" indent="-228600">
              <a:lnSpc>
                <a:spcPct val="115000"/>
              </a:lnSpc>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The svn copy command links the copy to the original, preserving its full history.</a:t>
            </a:r>
            <a:endParaRPr lang="en-US" sz="1600" dirty="0"/>
          </a:p>
          <a:p>
            <a:pPr marL="228600" indent="-228600">
              <a:lnSpc>
                <a:spcPct val="115000"/>
              </a:lnSpc>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Every version keeps the file's history up to the point of the copy, plus all changes since — and can be merged back to the trunk.</a:t>
            </a:r>
            <a:endParaRPr lang="en-US" sz="1600" dirty="0"/>
          </a:p>
        </p:txBody>
      </p:sp>
      <p:sp>
        <p:nvSpPr>
          <p:cNvPr id="16" name="Text 14"/>
          <p:cNvSpPr/>
          <p:nvPr/>
        </p:nvSpPr>
        <p:spPr>
          <a:xfrm>
            <a:off x="566928" y="5961888"/>
            <a:ext cx="8686800" cy="256032"/>
          </a:xfrm>
          <a:prstGeom prst="rect">
            <a:avLst/>
          </a:prstGeom>
          <a:noFill/>
          <a:ln/>
        </p:spPr>
        <p:txBody>
          <a:bodyPr wrap="square" rtlCol="0" anchor="ctr"/>
          <a:lstStyle/>
          <a:p>
            <a:pPr indent="0" marL="0">
              <a:buNone/>
            </a:pPr>
            <a:r>
              <a:rPr lang="en-US" sz="1050" i="1" dirty="0">
                <a:solidFill>
                  <a:srgbClr val="57606A"/>
                </a:solidFill>
                <a:latin typeface="Calibri" pitchFamily="34" charset="0"/>
                <a:ea typeface="Calibri" pitchFamily="34" charset="-122"/>
                <a:cs typeface="Calibri" pitchFamily="34" charset="-120"/>
              </a:rPr>
              <a:t>Nelson Software Development VCE Units 3&amp;4, 2E — pp.241–242 (Atlassian, GitHub and Apache Subversion case studies)</a:t>
            </a:r>
            <a:endParaRPr lang="en-US" sz="1050" dirty="0"/>
          </a:p>
        </p:txBody>
      </p:sp>
      <p:sp>
        <p:nvSpPr>
          <p:cNvPr id="17" name="Text 15"/>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8" name="Text 16"/>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CLASS DISCUSSION · 8 MINUTES</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Is version control really a security control?</a:t>
            </a:r>
            <a:endParaRPr lang="en-US" sz="2700" dirty="0"/>
          </a:p>
        </p:txBody>
      </p:sp>
      <p:sp>
        <p:nvSpPr>
          <p:cNvPr id="6" name="Shape 4"/>
          <p:cNvSpPr/>
          <p:nvPr/>
        </p:nvSpPr>
        <p:spPr>
          <a:xfrm>
            <a:off x="8503920" y="228600"/>
            <a:ext cx="3108960" cy="384048"/>
          </a:xfrm>
          <a:prstGeom prst="roundRect">
            <a:avLst>
              <a:gd name="adj" fmla="val 50000"/>
            </a:avLst>
          </a:prstGeom>
          <a:solidFill>
            <a:srgbClr val="8B5CF6"/>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DISCUSSION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331720" cy="329184"/>
          </a:xfrm>
          <a:prstGeom prst="roundRect">
            <a:avLst>
              <a:gd name="adj" fmla="val 50000"/>
            </a:avLst>
          </a:prstGeom>
          <a:solidFill>
            <a:srgbClr val="F3EEFD"/>
          </a:solidFill>
          <a:ln/>
        </p:spPr>
      </p:sp>
      <p:sp>
        <p:nvSpPr>
          <p:cNvPr id="11" name="Text 9"/>
          <p:cNvSpPr/>
          <p:nvPr/>
        </p:nvSpPr>
        <p:spPr>
          <a:xfrm>
            <a:off x="548640" y="1353312"/>
            <a:ext cx="2331720" cy="329184"/>
          </a:xfrm>
          <a:prstGeom prst="rect">
            <a:avLst/>
          </a:prstGeom>
          <a:noFill/>
          <a:ln/>
        </p:spPr>
        <p:txBody>
          <a:bodyPr wrap="square" rtlCol="0" anchor="ctr"/>
          <a:lstStyle/>
          <a:p>
            <a:pPr algn="ctr" indent="0" marL="0">
              <a:buNone/>
            </a:pPr>
            <a:r>
              <a:rPr lang="en-US" sz="1250" b="1" spc="60" kern="0" dirty="0">
                <a:solidFill>
                  <a:srgbClr val="8B5CF6"/>
                </a:solidFill>
                <a:latin typeface="Calibri" pitchFamily="34" charset="0"/>
                <a:ea typeface="Calibri" pitchFamily="34" charset="-122"/>
                <a:cs typeface="Calibri" pitchFamily="34" charset="-120"/>
              </a:rPr>
              <a:t>THINK / PAIR / SHARE</a:t>
            </a:r>
            <a:endParaRPr lang="en-US" sz="1250" dirty="0"/>
          </a:p>
        </p:txBody>
      </p:sp>
      <p:sp>
        <p:nvSpPr>
          <p:cNvPr id="12" name="Text 10"/>
          <p:cNvSpPr/>
          <p:nvPr/>
        </p:nvSpPr>
        <p:spPr>
          <a:xfrm>
            <a:off x="566928" y="1856232"/>
            <a:ext cx="10972800" cy="731520"/>
          </a:xfrm>
          <a:prstGeom prst="rect">
            <a:avLst/>
          </a:prstGeom>
          <a:noFill/>
          <a:ln/>
        </p:spPr>
        <p:txBody>
          <a:bodyPr wrap="square" lIns="0" tIns="0" rIns="0" bIns="0" rtlCol="0" anchor="ctr"/>
          <a:lstStyle/>
          <a:p>
            <a:pPr indent="0" marL="0">
              <a:lnSpc>
                <a:spcPct val="115000"/>
              </a:lnSpc>
              <a:buNone/>
            </a:pPr>
            <a:r>
              <a:rPr lang="en-US" sz="1750" b="1" i="1" dirty="0">
                <a:solidFill>
                  <a:srgbClr val="1F2328"/>
                </a:solidFill>
                <a:latin typeface="Calibri" pitchFamily="34" charset="0"/>
                <a:ea typeface="Calibri" pitchFamily="34" charset="-122"/>
                <a:cs typeface="Calibri" pitchFamily="34" charset="-120"/>
              </a:rPr>
              <a:t>Position to argue against:  </a:t>
            </a:r>
            <a:pPr indent="0" marL="0">
              <a:lnSpc>
                <a:spcPct val="115000"/>
              </a:lnSpc>
              <a:buNone/>
            </a:pPr>
            <a:r>
              <a:rPr lang="en-US" sz="1750" i="1" dirty="0">
                <a:solidFill>
                  <a:srgbClr val="1F2328"/>
                </a:solidFill>
                <a:latin typeface="Calibri" pitchFamily="34" charset="0"/>
                <a:ea typeface="Calibri" pitchFamily="34" charset="-122"/>
                <a:cs typeface="Calibri" pitchFamily="34" charset="-120"/>
              </a:rPr>
              <a:t>"Version control is a convenience tool. It was invented so developers would stop losing work and emailing each other files called final_v2_REAL.py. Calling it a security control is a stretch."</a:t>
            </a:r>
            <a:endParaRPr lang="en-US" sz="1750" dirty="0"/>
          </a:p>
        </p:txBody>
      </p:sp>
      <p:sp>
        <p:nvSpPr>
          <p:cNvPr id="13" name="Text 11"/>
          <p:cNvSpPr/>
          <p:nvPr/>
        </p:nvSpPr>
        <p:spPr>
          <a:xfrm>
            <a:off x="658368" y="2770632"/>
            <a:ext cx="10881360" cy="3108960"/>
          </a:xfrm>
          <a:prstGeom prst="rect">
            <a:avLst/>
          </a:prstGeom>
          <a:noFill/>
          <a:ln/>
        </p:spPr>
        <p:txBody>
          <a:bodyPr wrap="square" rtlCol="0" anchor="t"/>
          <a:lstStyle/>
          <a:p>
            <a:pPr marL="279400" indent="-279400">
              <a:lnSpc>
                <a:spcPct val="114000"/>
              </a:lnSpc>
              <a:spcAft>
                <a:spcPts val="1100"/>
              </a:spcAft>
              <a:buSzPct val="100000"/>
              <a:buChar char="•"/>
            </a:pPr>
            <a:r>
              <a:rPr lang="en-US" sz="1950" dirty="0">
                <a:solidFill>
                  <a:srgbClr val="1F2328"/>
                </a:solidFill>
                <a:latin typeface="Calibri" pitchFamily="34" charset="0"/>
                <a:ea typeface="Calibri" pitchFamily="34" charset="-122"/>
                <a:cs typeface="Calibri" pitchFamily="34" charset="-120"/>
              </a:rPr>
              <a:t>What turns version control from a convenience into a security control? Point to a specific mechanism, not a general benefit.</a:t>
            </a:r>
            <a:endParaRPr lang="en-US" sz="1950" dirty="0"/>
          </a:p>
          <a:p>
            <a:pPr marL="279400" indent="-279400">
              <a:lnSpc>
                <a:spcPct val="114000"/>
              </a:lnSpc>
              <a:spcAft>
                <a:spcPts val="1100"/>
              </a:spcAft>
              <a:buSzPct val="100000"/>
              <a:buChar char="•"/>
            </a:pPr>
            <a:r>
              <a:rPr lang="en-US" sz="1950" dirty="0">
                <a:solidFill>
                  <a:srgbClr val="1F2328"/>
                </a:solidFill>
                <a:latin typeface="Calibri" pitchFamily="34" charset="0"/>
                <a:ea typeface="Calibri" pitchFamily="34" charset="-122"/>
                <a:cs typeface="Calibri" pitchFamily="34" charset="-120"/>
              </a:rPr>
              <a:t>A developer says: "I'll push this hard-coded admin password now and take it out before release." What does a branch-and-merge workflow do about that — and what does it not do?</a:t>
            </a:r>
            <a:endParaRPr lang="en-US" sz="1950" dirty="0"/>
          </a:p>
          <a:p>
            <a:pPr marL="279400" indent="-279400">
              <a:lnSpc>
                <a:spcPct val="114000"/>
              </a:lnSpc>
              <a:spcAft>
                <a:spcPts val="1100"/>
              </a:spcAft>
              <a:buSzPct val="100000"/>
              <a:buChar char="•"/>
            </a:pPr>
            <a:r>
              <a:rPr lang="en-US" sz="1950" dirty="0">
                <a:solidFill>
                  <a:srgbClr val="1F2328"/>
                </a:solidFill>
                <a:latin typeface="Calibri" pitchFamily="34" charset="0"/>
                <a:ea typeface="Calibri" pitchFamily="34" charset="-122"/>
                <a:cs typeface="Calibri" pitchFamily="34" charset="-120"/>
              </a:rPr>
              <a:t>Every commit is attributable to a named person. Which vulnerability from Lesson 3 does that help with, and which does it leave completely untouched?</a:t>
            </a:r>
            <a:endParaRPr lang="en-US" sz="1950" dirty="0"/>
          </a:p>
          <a:p>
            <a:pPr marL="279400" indent="-279400">
              <a:lnSpc>
                <a:spcPct val="114000"/>
              </a:lnSpc>
              <a:spcAft>
                <a:spcPts val="1100"/>
              </a:spcAft>
              <a:buSzPct val="100000"/>
              <a:buChar char="•"/>
            </a:pPr>
            <a:r>
              <a:rPr lang="en-US" sz="1950" dirty="0">
                <a:solidFill>
                  <a:srgbClr val="1F2328"/>
                </a:solidFill>
                <a:latin typeface="Calibri" pitchFamily="34" charset="0"/>
                <a:ea typeface="Calibri" pitchFamily="34" charset="-122"/>
                <a:cs typeface="Calibri" pitchFamily="34" charset="-120"/>
              </a:rPr>
              <a:t>Name one attack that version control does nothing to stop. What does that tell you about relying on any single control?</a:t>
            </a:r>
            <a:endParaRPr lang="en-US" sz="1950" dirty="0"/>
          </a:p>
        </p:txBody>
      </p:sp>
      <p:sp>
        <p:nvSpPr>
          <p:cNvPr id="14" name="Text 1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5" name="Text 13"/>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CONTROL 2 OF 6</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Robust identity and access management</a:t>
            </a:r>
            <a:endParaRPr lang="en-US" sz="2700" dirty="0"/>
          </a:p>
        </p:txBody>
      </p:sp>
      <p:sp>
        <p:nvSpPr>
          <p:cNvPr id="6" name="Shape 4"/>
          <p:cNvSpPr/>
          <p:nvPr/>
        </p:nvSpPr>
        <p:spPr>
          <a:xfrm>
            <a:off x="8503920" y="228600"/>
            <a:ext cx="3108960" cy="384048"/>
          </a:xfrm>
          <a:prstGeom prst="roundRect">
            <a:avLst>
              <a:gd name="adj" fmla="val 50000"/>
            </a:avLst>
          </a:prstGeom>
          <a:solidFill>
            <a:srgbClr val="4361EE"/>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EXPLICIT EXPLANATION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880360" cy="347472"/>
          </a:xfrm>
          <a:prstGeom prst="roundRect">
            <a:avLst>
              <a:gd name="adj" fmla="val 50000"/>
            </a:avLst>
          </a:prstGeom>
          <a:solidFill>
            <a:srgbClr val="FEF4E4"/>
          </a:solidFill>
          <a:ln/>
        </p:spPr>
      </p:sp>
      <p:sp>
        <p:nvSpPr>
          <p:cNvPr id="11" name="Text 9"/>
          <p:cNvSpPr/>
          <p:nvPr/>
        </p:nvSpPr>
        <p:spPr>
          <a:xfrm>
            <a:off x="548640" y="1353312"/>
            <a:ext cx="2880360" cy="347472"/>
          </a:xfrm>
          <a:prstGeom prst="rect">
            <a:avLst/>
          </a:prstGeom>
          <a:noFill/>
          <a:ln/>
        </p:spPr>
        <p:txBody>
          <a:bodyPr wrap="square" rtlCol="0" anchor="ctr"/>
          <a:lstStyle/>
          <a:p>
            <a:pPr algn="ctr" indent="0" marL="0">
              <a:buNone/>
            </a:pPr>
            <a:r>
              <a:rPr lang="en-US" sz="1250" b="1" spc="60" kern="0" dirty="0">
                <a:solidFill>
                  <a:srgbClr val="A05E06"/>
                </a:solidFill>
                <a:latin typeface="Calibri" pitchFamily="34" charset="0"/>
                <a:ea typeface="Calibri" pitchFamily="34" charset="-122"/>
                <a:cs typeface="Calibri" pitchFamily="34" charset="-120"/>
              </a:rPr>
              <a:t>COPY TO WORKBOOK</a:t>
            </a:r>
            <a:endParaRPr lang="en-US" sz="1250" dirty="0"/>
          </a:p>
        </p:txBody>
      </p:sp>
      <p:sp>
        <p:nvSpPr>
          <p:cNvPr id="12" name="Text 10"/>
          <p:cNvSpPr/>
          <p:nvPr/>
        </p:nvSpPr>
        <p:spPr>
          <a:xfrm>
            <a:off x="658368" y="1856232"/>
            <a:ext cx="10881360" cy="3657600"/>
          </a:xfrm>
          <a:prstGeom prst="rect">
            <a:avLst/>
          </a:prstGeom>
          <a:noFill/>
          <a:ln/>
        </p:spPr>
        <p:txBody>
          <a:bodyPr wrap="square" rtlCol="0" anchor="t"/>
          <a:lstStyle/>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IAM improves security by ensuring only authorised individuals have access to resources and systems, reducing the risk of unauthorised access and potential breaches.</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The ACSC recommends organisations clearly document and train employees in cyber security systems and plans, and design cyber security awareness programs for all staff.</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Credential guidance: longer, more complex passphrases; lockout after repeated failed logins; no password reuse across critical and non-critical services; immediate resets when credentials are exposed.</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Multi-factor authentication for all remote access, and for every privileged action or access to a sensitive data repository. Watch for unusual account activity — that is how compromise gets caught.</a:t>
            </a:r>
            <a:endParaRPr lang="en-US" sz="1850" dirty="0"/>
          </a:p>
        </p:txBody>
      </p:sp>
      <p:sp>
        <p:nvSpPr>
          <p:cNvPr id="13" name="Text 11"/>
          <p:cNvSpPr/>
          <p:nvPr/>
        </p:nvSpPr>
        <p:spPr>
          <a:xfrm>
            <a:off x="566928" y="5961888"/>
            <a:ext cx="8686800" cy="256032"/>
          </a:xfrm>
          <a:prstGeom prst="rect">
            <a:avLst/>
          </a:prstGeom>
          <a:noFill/>
          <a:ln/>
        </p:spPr>
        <p:txBody>
          <a:bodyPr wrap="square" rtlCol="0" anchor="ctr"/>
          <a:lstStyle/>
          <a:p>
            <a:pPr indent="0" marL="0">
              <a:buNone/>
            </a:pPr>
            <a:r>
              <a:rPr lang="en-US" sz="1050" i="1" dirty="0">
                <a:solidFill>
                  <a:srgbClr val="57606A"/>
                </a:solidFill>
                <a:latin typeface="Calibri" pitchFamily="34" charset="0"/>
                <a:ea typeface="Calibri" pitchFamily="34" charset="-122"/>
                <a:cs typeface="Calibri" pitchFamily="34" charset="-120"/>
              </a:rPr>
              <a:t>Nelson Software Development VCE Units 3&amp;4, 2E — pp.242–243 (ACSC guidance)</a:t>
            </a:r>
            <a:endParaRPr lang="en-US" sz="1050" dirty="0"/>
          </a:p>
        </p:txBody>
      </p:sp>
      <p:sp>
        <p:nvSpPr>
          <p:cNvPr id="14" name="Text 1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5" name="Text 13"/>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CLASS DISCUSSION · 8 MINUTES</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Who should be able to reach what?</a:t>
            </a:r>
            <a:endParaRPr lang="en-US" sz="2700" dirty="0"/>
          </a:p>
        </p:txBody>
      </p:sp>
      <p:sp>
        <p:nvSpPr>
          <p:cNvPr id="6" name="Shape 4"/>
          <p:cNvSpPr/>
          <p:nvPr/>
        </p:nvSpPr>
        <p:spPr>
          <a:xfrm>
            <a:off x="8503920" y="228600"/>
            <a:ext cx="3108960" cy="384048"/>
          </a:xfrm>
          <a:prstGeom prst="roundRect">
            <a:avLst>
              <a:gd name="adj" fmla="val 50000"/>
            </a:avLst>
          </a:prstGeom>
          <a:solidFill>
            <a:srgbClr val="8B5CF6"/>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DISCUSSION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331720" cy="329184"/>
          </a:xfrm>
          <a:prstGeom prst="roundRect">
            <a:avLst>
              <a:gd name="adj" fmla="val 50000"/>
            </a:avLst>
          </a:prstGeom>
          <a:solidFill>
            <a:srgbClr val="F3EEFD"/>
          </a:solidFill>
          <a:ln/>
        </p:spPr>
      </p:sp>
      <p:sp>
        <p:nvSpPr>
          <p:cNvPr id="11" name="Text 9"/>
          <p:cNvSpPr/>
          <p:nvPr/>
        </p:nvSpPr>
        <p:spPr>
          <a:xfrm>
            <a:off x="548640" y="1353312"/>
            <a:ext cx="2331720" cy="329184"/>
          </a:xfrm>
          <a:prstGeom prst="rect">
            <a:avLst/>
          </a:prstGeom>
          <a:noFill/>
          <a:ln/>
        </p:spPr>
        <p:txBody>
          <a:bodyPr wrap="square" rtlCol="0" anchor="ctr"/>
          <a:lstStyle/>
          <a:p>
            <a:pPr algn="ctr" indent="0" marL="0">
              <a:buNone/>
            </a:pPr>
            <a:r>
              <a:rPr lang="en-US" sz="1250" b="1" spc="60" kern="0" dirty="0">
                <a:solidFill>
                  <a:srgbClr val="8B5CF6"/>
                </a:solidFill>
                <a:latin typeface="Calibri" pitchFamily="34" charset="0"/>
                <a:ea typeface="Calibri" pitchFamily="34" charset="-122"/>
                <a:cs typeface="Calibri" pitchFamily="34" charset="-120"/>
              </a:rPr>
              <a:t>SMALL GROUPS</a:t>
            </a:r>
            <a:endParaRPr lang="en-US" sz="1250" dirty="0"/>
          </a:p>
        </p:txBody>
      </p:sp>
      <p:sp>
        <p:nvSpPr>
          <p:cNvPr id="12" name="Shape 10"/>
          <p:cNvSpPr/>
          <p:nvPr/>
        </p:nvSpPr>
        <p:spPr>
          <a:xfrm>
            <a:off x="548640" y="1828800"/>
            <a:ext cx="11064240" cy="1234440"/>
          </a:xfrm>
          <a:prstGeom prst="roundRect">
            <a:avLst>
              <a:gd name="adj" fmla="val 7407"/>
            </a:avLst>
          </a:prstGeom>
          <a:solidFill>
            <a:srgbClr val="F5F6F8"/>
          </a:solidFill>
          <a:ln/>
        </p:spPr>
      </p:sp>
      <p:sp>
        <p:nvSpPr>
          <p:cNvPr id="13" name="Text 11"/>
          <p:cNvSpPr/>
          <p:nvPr/>
        </p:nvSpPr>
        <p:spPr>
          <a:xfrm>
            <a:off x="822960" y="1828800"/>
            <a:ext cx="10515600" cy="1234440"/>
          </a:xfrm>
          <a:prstGeom prst="rect">
            <a:avLst/>
          </a:prstGeom>
          <a:noFill/>
          <a:ln/>
        </p:spPr>
        <p:txBody>
          <a:bodyPr wrap="square" lIns="0" tIns="0" rIns="0" bIns="0" rtlCol="0" anchor="ctr"/>
          <a:lstStyle/>
          <a:p>
            <a:pPr indent="0" marL="0">
              <a:lnSpc>
                <a:spcPct val="116000"/>
              </a:lnSpc>
              <a:buNone/>
            </a:pPr>
            <a:r>
              <a:rPr lang="en-US" sz="1650" b="1" dirty="0">
                <a:solidFill>
                  <a:srgbClr val="1F2328"/>
                </a:solidFill>
                <a:latin typeface="Calibri" pitchFamily="34" charset="0"/>
                <a:ea typeface="Calibri" pitchFamily="34" charset="-122"/>
                <a:cs typeface="Calibri" pitchFamily="34" charset="-120"/>
              </a:rPr>
              <a:t>MedLink Health Software — 40 staff, builds patient record systems for clinics.
</a:t>
            </a:r>
            <a:pPr indent="0" marL="0">
              <a:lnSpc>
                <a:spcPct val="116000"/>
              </a:lnSpc>
              <a:buNone/>
            </a:pPr>
            <a:r>
              <a:rPr lang="en-US" sz="1650" dirty="0">
                <a:solidFill>
                  <a:srgbClr val="1F2328"/>
                </a:solidFill>
                <a:latin typeface="Calibri" pitchFamily="34" charset="0"/>
                <a:ea typeface="Calibri" pitchFamily="34" charset="-122"/>
                <a:cs typeface="Calibri" pitchFamily="34" charset="-120"/>
              </a:rPr>
              <a:t>Six people need some level of access: a junior developer (3 months in the role)  ·  a senior developer  ·  a QA tester  ·  an external contractor on a 6-week engagement  ·  a marketing officer  ·  a systems administrator.</a:t>
            </a:r>
            <a:endParaRPr lang="en-US" sz="1650" dirty="0"/>
          </a:p>
        </p:txBody>
      </p:sp>
      <p:sp>
        <p:nvSpPr>
          <p:cNvPr id="14" name="Text 12"/>
          <p:cNvSpPr/>
          <p:nvPr/>
        </p:nvSpPr>
        <p:spPr>
          <a:xfrm>
            <a:off x="658368" y="3163824"/>
            <a:ext cx="10881360" cy="2834640"/>
          </a:xfrm>
          <a:prstGeom prst="rect">
            <a:avLst/>
          </a:prstGeom>
          <a:noFill/>
          <a:ln/>
        </p:spPr>
        <p:txBody>
          <a:bodyPr wrap="square" rtlCol="0" anchor="t"/>
          <a:lstStyle/>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Which of the six should be able to read live patient records? Justify each decision — "they probably need it" is not a justification.</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Which should be able to merge code into the main branch, and which should only be able to propose changes?</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The contractor's engagement ends on a Friday. What should happen to their access, when, and whose job is it to make sure it happened?</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Rank the six roles by damage caused if that one account were compromised. Does your ranking match how much access you just gave them?</a:t>
            </a:r>
            <a:endParaRPr lang="en-US" sz="1850" dirty="0"/>
          </a:p>
        </p:txBody>
      </p:sp>
      <p:sp>
        <p:nvSpPr>
          <p:cNvPr id="15" name="Text 13"/>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6" name="Text 14"/>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7</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CONTROL 3 OF 6</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Encryption</a:t>
            </a:r>
            <a:endParaRPr lang="en-US" sz="2700" dirty="0"/>
          </a:p>
        </p:txBody>
      </p:sp>
      <p:sp>
        <p:nvSpPr>
          <p:cNvPr id="6" name="Shape 4"/>
          <p:cNvSpPr/>
          <p:nvPr/>
        </p:nvSpPr>
        <p:spPr>
          <a:xfrm>
            <a:off x="8503920" y="228600"/>
            <a:ext cx="3108960" cy="384048"/>
          </a:xfrm>
          <a:prstGeom prst="roundRect">
            <a:avLst>
              <a:gd name="adj" fmla="val 50000"/>
            </a:avLst>
          </a:prstGeom>
          <a:solidFill>
            <a:srgbClr val="4361EE"/>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EXPLICIT EXPLANATION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880360" cy="347472"/>
          </a:xfrm>
          <a:prstGeom prst="roundRect">
            <a:avLst>
              <a:gd name="adj" fmla="val 50000"/>
            </a:avLst>
          </a:prstGeom>
          <a:solidFill>
            <a:srgbClr val="FEF4E4"/>
          </a:solidFill>
          <a:ln/>
        </p:spPr>
      </p:sp>
      <p:sp>
        <p:nvSpPr>
          <p:cNvPr id="11" name="Text 9"/>
          <p:cNvSpPr/>
          <p:nvPr/>
        </p:nvSpPr>
        <p:spPr>
          <a:xfrm>
            <a:off x="548640" y="1353312"/>
            <a:ext cx="2880360" cy="347472"/>
          </a:xfrm>
          <a:prstGeom prst="rect">
            <a:avLst/>
          </a:prstGeom>
          <a:noFill/>
          <a:ln/>
        </p:spPr>
        <p:txBody>
          <a:bodyPr wrap="square" rtlCol="0" anchor="ctr"/>
          <a:lstStyle/>
          <a:p>
            <a:pPr algn="ctr" indent="0" marL="0">
              <a:buNone/>
            </a:pPr>
            <a:r>
              <a:rPr lang="en-US" sz="1250" b="1" spc="60" kern="0" dirty="0">
                <a:solidFill>
                  <a:srgbClr val="A05E06"/>
                </a:solidFill>
                <a:latin typeface="Calibri" pitchFamily="34" charset="0"/>
                <a:ea typeface="Calibri" pitchFamily="34" charset="-122"/>
                <a:cs typeface="Calibri" pitchFamily="34" charset="-120"/>
              </a:rPr>
              <a:t>COPY TO WORKBOOK</a:t>
            </a:r>
            <a:endParaRPr lang="en-US" sz="1250" dirty="0"/>
          </a:p>
        </p:txBody>
      </p:sp>
      <p:sp>
        <p:nvSpPr>
          <p:cNvPr id="12" name="Text 10"/>
          <p:cNvSpPr/>
          <p:nvPr/>
        </p:nvSpPr>
        <p:spPr>
          <a:xfrm>
            <a:off x="658368" y="1856232"/>
            <a:ext cx="10881360" cy="3657600"/>
          </a:xfrm>
          <a:prstGeom prst="rect">
            <a:avLst/>
          </a:prstGeom>
          <a:noFill/>
          <a:ln/>
        </p:spPr>
        <p:txBody>
          <a:bodyPr wrap="square" rtlCol="0" anchor="t"/>
          <a:lstStyle/>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The encryption strategy starts from an assumption: data will be exposed to unauthorised access at some point. So the data is encoded to make it unintelligible to all but those properly authorised and accredited.</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Data in transit — moving across a network — is encrypted so an intercepted message is useless. This is the direct counter to the man-in-the-middle attacks from Lesson 2.</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Data at rest — stored in a database, a backup, or on a laptop left on a tram — is encrypted so possession of the device is not the same as possession of the data.</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Several forms are readily available and long established: Pretty Good Privacy (PGP) has been in use since 1991.</a:t>
            </a:r>
            <a:endParaRPr lang="en-US" sz="1850" dirty="0"/>
          </a:p>
        </p:txBody>
      </p:sp>
      <p:sp>
        <p:nvSpPr>
          <p:cNvPr id="13" name="Text 11"/>
          <p:cNvSpPr/>
          <p:nvPr/>
        </p:nvSpPr>
        <p:spPr>
          <a:xfrm>
            <a:off x="566928" y="5961888"/>
            <a:ext cx="8686800" cy="256032"/>
          </a:xfrm>
          <a:prstGeom prst="rect">
            <a:avLst/>
          </a:prstGeom>
          <a:noFill/>
          <a:ln/>
        </p:spPr>
        <p:txBody>
          <a:bodyPr wrap="square" rtlCol="0" anchor="ctr"/>
          <a:lstStyle/>
          <a:p>
            <a:pPr indent="0" marL="0">
              <a:buNone/>
            </a:pPr>
            <a:r>
              <a:rPr lang="en-US" sz="1050" i="1" dirty="0">
                <a:solidFill>
                  <a:srgbClr val="57606A"/>
                </a:solidFill>
                <a:latin typeface="Calibri" pitchFamily="34" charset="0"/>
                <a:ea typeface="Calibri" pitchFamily="34" charset="-122"/>
                <a:cs typeface="Calibri" pitchFamily="34" charset="-120"/>
              </a:rPr>
              <a:t>Nelson Software Development VCE Units 3&amp;4, 2E — p.243</a:t>
            </a:r>
            <a:endParaRPr lang="en-US" sz="1050" dirty="0"/>
          </a:p>
        </p:txBody>
      </p:sp>
      <p:sp>
        <p:nvSpPr>
          <p:cNvPr id="14" name="Text 1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5" name="Text 13"/>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8</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CLASS DISCUSSION · 7 MINUTES</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Three cases: does encryption help?</a:t>
            </a:r>
            <a:endParaRPr lang="en-US" sz="2700" dirty="0"/>
          </a:p>
        </p:txBody>
      </p:sp>
      <p:sp>
        <p:nvSpPr>
          <p:cNvPr id="6" name="Shape 4"/>
          <p:cNvSpPr/>
          <p:nvPr/>
        </p:nvSpPr>
        <p:spPr>
          <a:xfrm>
            <a:off x="8503920" y="228600"/>
            <a:ext cx="3108960" cy="384048"/>
          </a:xfrm>
          <a:prstGeom prst="roundRect">
            <a:avLst>
              <a:gd name="adj" fmla="val 50000"/>
            </a:avLst>
          </a:prstGeom>
          <a:solidFill>
            <a:srgbClr val="8B5CF6"/>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DISCUSSION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331720" cy="329184"/>
          </a:xfrm>
          <a:prstGeom prst="roundRect">
            <a:avLst>
              <a:gd name="adj" fmla="val 50000"/>
            </a:avLst>
          </a:prstGeom>
          <a:solidFill>
            <a:srgbClr val="F3EEFD"/>
          </a:solidFill>
          <a:ln/>
        </p:spPr>
      </p:sp>
      <p:sp>
        <p:nvSpPr>
          <p:cNvPr id="11" name="Text 9"/>
          <p:cNvSpPr/>
          <p:nvPr/>
        </p:nvSpPr>
        <p:spPr>
          <a:xfrm>
            <a:off x="548640" y="1353312"/>
            <a:ext cx="2331720" cy="329184"/>
          </a:xfrm>
          <a:prstGeom prst="rect">
            <a:avLst/>
          </a:prstGeom>
          <a:noFill/>
          <a:ln/>
        </p:spPr>
        <p:txBody>
          <a:bodyPr wrap="square" rtlCol="0" anchor="ctr"/>
          <a:lstStyle/>
          <a:p>
            <a:pPr algn="ctr" indent="0" marL="0">
              <a:buNone/>
            </a:pPr>
            <a:r>
              <a:rPr lang="en-US" sz="1250" b="1" spc="60" kern="0" dirty="0">
                <a:solidFill>
                  <a:srgbClr val="8B5CF6"/>
                </a:solidFill>
                <a:latin typeface="Calibri" pitchFamily="34" charset="0"/>
                <a:ea typeface="Calibri" pitchFamily="34" charset="-122"/>
                <a:cs typeface="Calibri" pitchFamily="34" charset="-120"/>
              </a:rPr>
              <a:t>THINK / PAIR / SHARE</a:t>
            </a:r>
            <a:endParaRPr lang="en-US" sz="1250" dirty="0"/>
          </a:p>
        </p:txBody>
      </p:sp>
      <p:sp>
        <p:nvSpPr>
          <p:cNvPr id="12" name="Shape 10"/>
          <p:cNvSpPr/>
          <p:nvPr/>
        </p:nvSpPr>
        <p:spPr>
          <a:xfrm>
            <a:off x="548640" y="1856232"/>
            <a:ext cx="3529584" cy="2103120"/>
          </a:xfrm>
          <a:prstGeom prst="roundRect">
            <a:avLst>
              <a:gd name="adj" fmla="val 4348"/>
            </a:avLst>
          </a:prstGeom>
          <a:solidFill>
            <a:srgbClr val="EEF1FE"/>
          </a:solidFill>
          <a:ln/>
        </p:spPr>
      </p:sp>
      <p:sp>
        <p:nvSpPr>
          <p:cNvPr id="13" name="Text 11"/>
          <p:cNvSpPr/>
          <p:nvPr/>
        </p:nvSpPr>
        <p:spPr>
          <a:xfrm>
            <a:off x="804672" y="2011680"/>
            <a:ext cx="3017520" cy="292608"/>
          </a:xfrm>
          <a:prstGeom prst="rect">
            <a:avLst/>
          </a:prstGeom>
          <a:noFill/>
          <a:ln/>
        </p:spPr>
        <p:txBody>
          <a:bodyPr wrap="square" lIns="0" tIns="0" rIns="0" bIns="0" rtlCol="0" anchor="ctr"/>
          <a:lstStyle/>
          <a:p>
            <a:pPr indent="0" marL="0">
              <a:buNone/>
            </a:pPr>
            <a:r>
              <a:rPr lang="en-US" sz="1400" b="1" spc="80" kern="0" dirty="0">
                <a:solidFill>
                  <a:srgbClr val="4361EE"/>
                </a:solidFill>
                <a:latin typeface="Calibri" pitchFamily="34" charset="0"/>
                <a:ea typeface="Calibri" pitchFamily="34" charset="-122"/>
                <a:cs typeface="Calibri" pitchFamily="34" charset="-120"/>
              </a:rPr>
              <a:t>CASE A</a:t>
            </a:r>
            <a:endParaRPr lang="en-US" sz="1400" dirty="0"/>
          </a:p>
        </p:txBody>
      </p:sp>
      <p:sp>
        <p:nvSpPr>
          <p:cNvPr id="14" name="Text 12"/>
          <p:cNvSpPr/>
          <p:nvPr/>
        </p:nvSpPr>
        <p:spPr>
          <a:xfrm>
            <a:off x="804672" y="2377440"/>
            <a:ext cx="3017520" cy="1463040"/>
          </a:xfrm>
          <a:prstGeom prst="rect">
            <a:avLst/>
          </a:prstGeom>
          <a:noFill/>
          <a:ln/>
        </p:spPr>
        <p:txBody>
          <a:bodyPr wrap="square" lIns="0" tIns="0" rIns="0" bIns="0" rtlCol="0" anchor="ctr"/>
          <a:lstStyle/>
          <a:p>
            <a:pPr indent="0" marL="0">
              <a:lnSpc>
                <a:spcPct val="116000"/>
              </a:lnSpc>
              <a:buNone/>
            </a:pPr>
            <a:r>
              <a:rPr lang="en-US" sz="1650" dirty="0">
                <a:solidFill>
                  <a:srgbClr val="1F2328"/>
                </a:solidFill>
                <a:latin typeface="Calibri" pitchFamily="34" charset="0"/>
                <a:ea typeface="Calibri" pitchFamily="34" charset="-122"/>
                <a:cs typeface="Calibri" pitchFamily="34" charset="-120"/>
              </a:rPr>
              <a:t>A laptop holding a copy of the customer database is left on a tram and never recovered.</a:t>
            </a:r>
            <a:endParaRPr lang="en-US" sz="1650" dirty="0"/>
          </a:p>
        </p:txBody>
      </p:sp>
      <p:sp>
        <p:nvSpPr>
          <p:cNvPr id="15" name="Shape 13"/>
          <p:cNvSpPr/>
          <p:nvPr/>
        </p:nvSpPr>
        <p:spPr>
          <a:xfrm>
            <a:off x="4261104" y="1856232"/>
            <a:ext cx="3529584" cy="2103120"/>
          </a:xfrm>
          <a:prstGeom prst="roundRect">
            <a:avLst>
              <a:gd name="adj" fmla="val 4348"/>
            </a:avLst>
          </a:prstGeom>
          <a:solidFill>
            <a:srgbClr val="FEF4E4"/>
          </a:solidFill>
          <a:ln/>
        </p:spPr>
      </p:sp>
      <p:sp>
        <p:nvSpPr>
          <p:cNvPr id="16" name="Text 14"/>
          <p:cNvSpPr/>
          <p:nvPr/>
        </p:nvSpPr>
        <p:spPr>
          <a:xfrm>
            <a:off x="4517136" y="2011680"/>
            <a:ext cx="3017520" cy="292608"/>
          </a:xfrm>
          <a:prstGeom prst="rect">
            <a:avLst/>
          </a:prstGeom>
          <a:noFill/>
          <a:ln/>
        </p:spPr>
        <p:txBody>
          <a:bodyPr wrap="square" lIns="0" tIns="0" rIns="0" bIns="0" rtlCol="0" anchor="ctr"/>
          <a:lstStyle/>
          <a:p>
            <a:pPr indent="0" marL="0">
              <a:buNone/>
            </a:pPr>
            <a:r>
              <a:rPr lang="en-US" sz="1400" b="1" spc="80" kern="0" dirty="0">
                <a:solidFill>
                  <a:srgbClr val="F59E0B"/>
                </a:solidFill>
                <a:latin typeface="Calibri" pitchFamily="34" charset="0"/>
                <a:ea typeface="Calibri" pitchFamily="34" charset="-122"/>
                <a:cs typeface="Calibri" pitchFamily="34" charset="-120"/>
              </a:rPr>
              <a:t>CASE B</a:t>
            </a:r>
            <a:endParaRPr lang="en-US" sz="1400" dirty="0"/>
          </a:p>
        </p:txBody>
      </p:sp>
      <p:sp>
        <p:nvSpPr>
          <p:cNvPr id="17" name="Text 15"/>
          <p:cNvSpPr/>
          <p:nvPr/>
        </p:nvSpPr>
        <p:spPr>
          <a:xfrm>
            <a:off x="4517136" y="2377440"/>
            <a:ext cx="3017520" cy="1463040"/>
          </a:xfrm>
          <a:prstGeom prst="rect">
            <a:avLst/>
          </a:prstGeom>
          <a:noFill/>
          <a:ln/>
        </p:spPr>
        <p:txBody>
          <a:bodyPr wrap="square" lIns="0" tIns="0" rIns="0" bIns="0" rtlCol="0" anchor="ctr"/>
          <a:lstStyle/>
          <a:p>
            <a:pPr indent="0" marL="0">
              <a:lnSpc>
                <a:spcPct val="116000"/>
              </a:lnSpc>
              <a:buNone/>
            </a:pPr>
            <a:r>
              <a:rPr lang="en-US" sz="1650" dirty="0">
                <a:solidFill>
                  <a:srgbClr val="1F2328"/>
                </a:solidFill>
                <a:latin typeface="Calibri" pitchFamily="34" charset="0"/>
                <a:ea typeface="Calibri" pitchFamily="34" charset="-122"/>
                <a:cs typeface="Calibri" pitchFamily="34" charset="-120"/>
              </a:rPr>
              <a:t>A developer with legitimate production access copies 6,000 records to a personal cloud drive before resigning.</a:t>
            </a:r>
            <a:endParaRPr lang="en-US" sz="1650" dirty="0"/>
          </a:p>
        </p:txBody>
      </p:sp>
      <p:sp>
        <p:nvSpPr>
          <p:cNvPr id="18" name="Shape 16"/>
          <p:cNvSpPr/>
          <p:nvPr/>
        </p:nvSpPr>
        <p:spPr>
          <a:xfrm>
            <a:off x="7973568" y="1856232"/>
            <a:ext cx="3529584" cy="2103120"/>
          </a:xfrm>
          <a:prstGeom prst="roundRect">
            <a:avLst>
              <a:gd name="adj" fmla="val 4348"/>
            </a:avLst>
          </a:prstGeom>
          <a:solidFill>
            <a:srgbClr val="FDEAEA"/>
          </a:solidFill>
          <a:ln/>
        </p:spPr>
      </p:sp>
      <p:sp>
        <p:nvSpPr>
          <p:cNvPr id="19" name="Text 17"/>
          <p:cNvSpPr/>
          <p:nvPr/>
        </p:nvSpPr>
        <p:spPr>
          <a:xfrm>
            <a:off x="8229600" y="2011680"/>
            <a:ext cx="3017520" cy="292608"/>
          </a:xfrm>
          <a:prstGeom prst="rect">
            <a:avLst/>
          </a:prstGeom>
          <a:noFill/>
          <a:ln/>
        </p:spPr>
        <p:txBody>
          <a:bodyPr wrap="square" lIns="0" tIns="0" rIns="0" bIns="0" rtlCol="0" anchor="ctr"/>
          <a:lstStyle/>
          <a:p>
            <a:pPr indent="0" marL="0">
              <a:buNone/>
            </a:pPr>
            <a:r>
              <a:rPr lang="en-US" sz="1400" b="1" spc="80" kern="0" dirty="0">
                <a:solidFill>
                  <a:srgbClr val="EF4444"/>
                </a:solidFill>
                <a:latin typeface="Calibri" pitchFamily="34" charset="0"/>
                <a:ea typeface="Calibri" pitchFamily="34" charset="-122"/>
                <a:cs typeface="Calibri" pitchFamily="34" charset="-120"/>
              </a:rPr>
              <a:t>CASE C</a:t>
            </a:r>
            <a:endParaRPr lang="en-US" sz="1400" dirty="0"/>
          </a:p>
        </p:txBody>
      </p:sp>
      <p:sp>
        <p:nvSpPr>
          <p:cNvPr id="20" name="Text 18"/>
          <p:cNvSpPr/>
          <p:nvPr/>
        </p:nvSpPr>
        <p:spPr>
          <a:xfrm>
            <a:off x="8229600" y="2377440"/>
            <a:ext cx="3017520" cy="1463040"/>
          </a:xfrm>
          <a:prstGeom prst="rect">
            <a:avLst/>
          </a:prstGeom>
          <a:noFill/>
          <a:ln/>
        </p:spPr>
        <p:txBody>
          <a:bodyPr wrap="square" lIns="0" tIns="0" rIns="0" bIns="0" rtlCol="0" anchor="ctr"/>
          <a:lstStyle/>
          <a:p>
            <a:pPr indent="0" marL="0">
              <a:lnSpc>
                <a:spcPct val="116000"/>
              </a:lnSpc>
              <a:buNone/>
            </a:pPr>
            <a:r>
              <a:rPr lang="en-US" sz="1650" dirty="0">
                <a:solidFill>
                  <a:srgbClr val="1F2328"/>
                </a:solidFill>
                <a:latin typeface="Calibri" pitchFamily="34" charset="0"/>
                <a:ea typeface="Calibri" pitchFamily="34" charset="-122"/>
                <a:cs typeface="Calibri" pitchFamily="34" charset="-120"/>
              </a:rPr>
              <a:t>An attacker phishes an employee's password and MFA code, then logs in and browses the system normally.</a:t>
            </a:r>
            <a:endParaRPr lang="en-US" sz="1650" dirty="0"/>
          </a:p>
        </p:txBody>
      </p:sp>
      <p:sp>
        <p:nvSpPr>
          <p:cNvPr id="21" name="Text 19"/>
          <p:cNvSpPr/>
          <p:nvPr/>
        </p:nvSpPr>
        <p:spPr>
          <a:xfrm>
            <a:off x="658368" y="4187952"/>
            <a:ext cx="10881360" cy="2148840"/>
          </a:xfrm>
          <a:prstGeom prst="rect">
            <a:avLst/>
          </a:prstGeom>
          <a:noFill/>
          <a:ln/>
        </p:spPr>
        <p:txBody>
          <a:bodyPr wrap="square" rtlCol="0" anchor="t"/>
          <a:lstStyle/>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For each case: does encryption prevent the harm, reduce it, or do nothing at all? Say which, and say why.</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Two of these three defeat encryption for the same underlying reason. What is it?</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If encryption is not the answer in cases B and C, which of today's other controls is — and would it be enough on its own?</a:t>
            </a:r>
            <a:endParaRPr lang="en-US" sz="1900" dirty="0"/>
          </a:p>
        </p:txBody>
      </p:sp>
      <p:sp>
        <p:nvSpPr>
          <p:cNvPr id="22" name="Text 20"/>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23" name="Text 21"/>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9</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CONTROL 4 OF 6</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Code review</a:t>
            </a:r>
            <a:endParaRPr lang="en-US" sz="2700" dirty="0"/>
          </a:p>
        </p:txBody>
      </p:sp>
      <p:sp>
        <p:nvSpPr>
          <p:cNvPr id="6" name="Shape 4"/>
          <p:cNvSpPr/>
          <p:nvPr/>
        </p:nvSpPr>
        <p:spPr>
          <a:xfrm>
            <a:off x="8503920" y="228600"/>
            <a:ext cx="3108960" cy="384048"/>
          </a:xfrm>
          <a:prstGeom prst="roundRect">
            <a:avLst>
              <a:gd name="adj" fmla="val 50000"/>
            </a:avLst>
          </a:prstGeom>
          <a:solidFill>
            <a:srgbClr val="4361EE"/>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EXPLICIT EXPLANATION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880360" cy="347472"/>
          </a:xfrm>
          <a:prstGeom prst="roundRect">
            <a:avLst>
              <a:gd name="adj" fmla="val 50000"/>
            </a:avLst>
          </a:prstGeom>
          <a:solidFill>
            <a:srgbClr val="FEF4E4"/>
          </a:solidFill>
          <a:ln/>
        </p:spPr>
      </p:sp>
      <p:sp>
        <p:nvSpPr>
          <p:cNvPr id="11" name="Text 9"/>
          <p:cNvSpPr/>
          <p:nvPr/>
        </p:nvSpPr>
        <p:spPr>
          <a:xfrm>
            <a:off x="548640" y="1353312"/>
            <a:ext cx="2880360" cy="347472"/>
          </a:xfrm>
          <a:prstGeom prst="rect">
            <a:avLst/>
          </a:prstGeom>
          <a:noFill/>
          <a:ln/>
        </p:spPr>
        <p:txBody>
          <a:bodyPr wrap="square" rtlCol="0" anchor="ctr"/>
          <a:lstStyle/>
          <a:p>
            <a:pPr algn="ctr" indent="0" marL="0">
              <a:buNone/>
            </a:pPr>
            <a:r>
              <a:rPr lang="en-US" sz="1250" b="1" spc="60" kern="0" dirty="0">
                <a:solidFill>
                  <a:srgbClr val="A05E06"/>
                </a:solidFill>
                <a:latin typeface="Calibri" pitchFamily="34" charset="0"/>
                <a:ea typeface="Calibri" pitchFamily="34" charset="-122"/>
                <a:cs typeface="Calibri" pitchFamily="34" charset="-120"/>
              </a:rPr>
              <a:t>COPY TO WORKBOOK</a:t>
            </a:r>
            <a:endParaRPr lang="en-US" sz="1250" dirty="0"/>
          </a:p>
        </p:txBody>
      </p:sp>
      <p:sp>
        <p:nvSpPr>
          <p:cNvPr id="12" name="Text 10"/>
          <p:cNvSpPr/>
          <p:nvPr/>
        </p:nvSpPr>
        <p:spPr>
          <a:xfrm>
            <a:off x="658368" y="1856232"/>
            <a:ext cx="10881360" cy="3657600"/>
          </a:xfrm>
          <a:prstGeom prst="rect">
            <a:avLst/>
          </a:prstGeom>
          <a:noFill/>
          <a:ln/>
        </p:spPr>
        <p:txBody>
          <a:bodyPr wrap="square" rtlCol="0" anchor="t"/>
          <a:lstStyle/>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Code review acts as a security control by systematically examining source code to identify and eliminate vulnerabilities before deployment — not after.</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It ensures adherence to security standards and best practices, and reduces the risk of security flaws reaching production.</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Involving multiple reviewers brings diverse expertise, catching subtle issues that a single author reads straight past — and building a culture of security awareness across the team.</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Compare with Lesson 3: ineffective review was the vulnerability. Same activity, opposite outcome. What separates them is whether the review is systematic or rushed.</a:t>
            </a:r>
            <a:endParaRPr lang="en-US" sz="1900" dirty="0"/>
          </a:p>
        </p:txBody>
      </p:sp>
      <p:sp>
        <p:nvSpPr>
          <p:cNvPr id="13" name="Text 11"/>
          <p:cNvSpPr/>
          <p:nvPr/>
        </p:nvSpPr>
        <p:spPr>
          <a:xfrm>
            <a:off x="566928" y="5961888"/>
            <a:ext cx="8686800" cy="256032"/>
          </a:xfrm>
          <a:prstGeom prst="rect">
            <a:avLst/>
          </a:prstGeom>
          <a:noFill/>
          <a:ln/>
        </p:spPr>
        <p:txBody>
          <a:bodyPr wrap="square" rtlCol="0" anchor="ctr"/>
          <a:lstStyle/>
          <a:p>
            <a:pPr indent="0" marL="0">
              <a:buNone/>
            </a:pPr>
            <a:r>
              <a:rPr lang="en-US" sz="1050" i="1" dirty="0">
                <a:solidFill>
                  <a:srgbClr val="57606A"/>
                </a:solidFill>
                <a:latin typeface="Calibri" pitchFamily="34" charset="0"/>
                <a:ea typeface="Calibri" pitchFamily="34" charset="-122"/>
                <a:cs typeface="Calibri" pitchFamily="34" charset="-120"/>
              </a:rPr>
              <a:t>Nelson Software Development VCE Units 3&amp;4, 2E — p.243</a:t>
            </a:r>
            <a:endParaRPr lang="en-US" sz="1050" dirty="0"/>
          </a:p>
        </p:txBody>
      </p:sp>
      <p:sp>
        <p:nvSpPr>
          <p:cNvPr id="14" name="Text 1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5" name="Text 13"/>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10</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CONTROL 5 OF 6</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Regular updates and patches to software</a:t>
            </a:r>
            <a:endParaRPr lang="en-US" sz="2700" dirty="0"/>
          </a:p>
        </p:txBody>
      </p:sp>
      <p:sp>
        <p:nvSpPr>
          <p:cNvPr id="6" name="Shape 4"/>
          <p:cNvSpPr/>
          <p:nvPr/>
        </p:nvSpPr>
        <p:spPr>
          <a:xfrm>
            <a:off x="8503920" y="228600"/>
            <a:ext cx="3108960" cy="384048"/>
          </a:xfrm>
          <a:prstGeom prst="roundRect">
            <a:avLst>
              <a:gd name="adj" fmla="val 50000"/>
            </a:avLst>
          </a:prstGeom>
          <a:solidFill>
            <a:srgbClr val="4361EE"/>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EXPLICIT EXPLANATION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880360" cy="347472"/>
          </a:xfrm>
          <a:prstGeom prst="roundRect">
            <a:avLst>
              <a:gd name="adj" fmla="val 50000"/>
            </a:avLst>
          </a:prstGeom>
          <a:solidFill>
            <a:srgbClr val="FEF4E4"/>
          </a:solidFill>
          <a:ln/>
        </p:spPr>
      </p:sp>
      <p:sp>
        <p:nvSpPr>
          <p:cNvPr id="11" name="Text 9"/>
          <p:cNvSpPr/>
          <p:nvPr/>
        </p:nvSpPr>
        <p:spPr>
          <a:xfrm>
            <a:off x="548640" y="1353312"/>
            <a:ext cx="2880360" cy="347472"/>
          </a:xfrm>
          <a:prstGeom prst="rect">
            <a:avLst/>
          </a:prstGeom>
          <a:noFill/>
          <a:ln/>
        </p:spPr>
        <p:txBody>
          <a:bodyPr wrap="square" rtlCol="0" anchor="ctr"/>
          <a:lstStyle/>
          <a:p>
            <a:pPr algn="ctr" indent="0" marL="0">
              <a:buNone/>
            </a:pPr>
            <a:r>
              <a:rPr lang="en-US" sz="1250" b="1" spc="60" kern="0" dirty="0">
                <a:solidFill>
                  <a:srgbClr val="A05E06"/>
                </a:solidFill>
                <a:latin typeface="Calibri" pitchFamily="34" charset="0"/>
                <a:ea typeface="Calibri" pitchFamily="34" charset="-122"/>
                <a:cs typeface="Calibri" pitchFamily="34" charset="-120"/>
              </a:rPr>
              <a:t>COPY TO WORKBOOK</a:t>
            </a:r>
            <a:endParaRPr lang="en-US" sz="1250" dirty="0"/>
          </a:p>
        </p:txBody>
      </p:sp>
      <p:sp>
        <p:nvSpPr>
          <p:cNvPr id="12" name="Text 10"/>
          <p:cNvSpPr/>
          <p:nvPr/>
        </p:nvSpPr>
        <p:spPr>
          <a:xfrm>
            <a:off x="658368" y="1856232"/>
            <a:ext cx="10881360" cy="3657600"/>
          </a:xfrm>
          <a:prstGeom prst="rect">
            <a:avLst/>
          </a:prstGeom>
          <a:noFill/>
          <a:ln/>
        </p:spPr>
        <p:txBody>
          <a:bodyPr wrap="square" rtlCol="0" anchor="t"/>
          <a:lstStyle/>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Vulnerabilities in existing systems are constantly identified. The distributor creates a fix and releases it as a patch to be inserted into the operational software wherever it is installed.</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Responsibility is split, and this is the assessable point: the software company must make the patch available, but installing it is entirely on the user or operator. Being unpatched is a decision, not an accident.</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Vendors publish timetables — Microsoft's "Patch Tuesday" falls on the second Tuesday of each month; macOS has a major release each year with irregular dot updates.</a:t>
            </a:r>
            <a:endParaRPr lang="en-US" sz="1850" dirty="0"/>
          </a:p>
          <a:p>
            <a:pPr marL="279400" indent="-279400">
              <a:lnSpc>
                <a:spcPct val="114000"/>
              </a:lnSpc>
              <a:spcAft>
                <a:spcPts val="1100"/>
              </a:spcAft>
              <a:buSzPct val="100000"/>
              <a:buChar char="•"/>
            </a:pPr>
            <a:r>
              <a:rPr lang="en-US" sz="1850" dirty="0">
                <a:solidFill>
                  <a:srgbClr val="1F2328"/>
                </a:solidFill>
                <a:latin typeface="Calibri" pitchFamily="34" charset="0"/>
                <a:ea typeface="Calibri" pitchFamily="34" charset="-122"/>
                <a:cs typeface="Calibri" pitchFamily="34" charset="-120"/>
              </a:rPr>
              <a:t>Legal exposure: compensation is likely to be due to affected users if all reasonable steps to secure their personal data have not been taken.</a:t>
            </a:r>
            <a:endParaRPr lang="en-US" sz="1850" dirty="0"/>
          </a:p>
        </p:txBody>
      </p:sp>
      <p:sp>
        <p:nvSpPr>
          <p:cNvPr id="13" name="Text 11"/>
          <p:cNvSpPr/>
          <p:nvPr/>
        </p:nvSpPr>
        <p:spPr>
          <a:xfrm>
            <a:off x="566928" y="5961888"/>
            <a:ext cx="8686800" cy="256032"/>
          </a:xfrm>
          <a:prstGeom prst="rect">
            <a:avLst/>
          </a:prstGeom>
          <a:noFill/>
          <a:ln/>
        </p:spPr>
        <p:txBody>
          <a:bodyPr wrap="square" rtlCol="0" anchor="ctr"/>
          <a:lstStyle/>
          <a:p>
            <a:pPr indent="0" marL="0">
              <a:buNone/>
            </a:pPr>
            <a:r>
              <a:rPr lang="en-US" sz="1050" i="1" dirty="0">
                <a:solidFill>
                  <a:srgbClr val="57606A"/>
                </a:solidFill>
                <a:latin typeface="Calibri" pitchFamily="34" charset="0"/>
                <a:ea typeface="Calibri" pitchFamily="34" charset="-122"/>
                <a:cs typeface="Calibri" pitchFamily="34" charset="-120"/>
              </a:rPr>
              <a:t>Nelson Software Development VCE Units 3&amp;4, 2E — pp.243–245</a:t>
            </a:r>
            <a:endParaRPr lang="en-US" sz="1050" dirty="0"/>
          </a:p>
        </p:txBody>
      </p:sp>
      <p:sp>
        <p:nvSpPr>
          <p:cNvPr id="14" name="Text 1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5" name="Text 13"/>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11</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WORKED EXAMPLE</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WannaCry, 2017 — a patch that existed</a:t>
            </a:r>
            <a:endParaRPr lang="en-US" sz="2700" dirty="0"/>
          </a:p>
        </p:txBody>
      </p:sp>
      <p:sp>
        <p:nvSpPr>
          <p:cNvPr id="6" name="Shape 4"/>
          <p:cNvSpPr/>
          <p:nvPr/>
        </p:nvSpPr>
        <p:spPr>
          <a:xfrm>
            <a:off x="8503920" y="228600"/>
            <a:ext cx="3108960" cy="384048"/>
          </a:xfrm>
          <a:prstGeom prst="roundRect">
            <a:avLst>
              <a:gd name="adj" fmla="val 50000"/>
            </a:avLst>
          </a:prstGeom>
          <a:solidFill>
            <a:srgbClr val="4361EE"/>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EXPLICIT EXPLANATION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331720" cy="329184"/>
          </a:xfrm>
          <a:prstGeom prst="roundRect">
            <a:avLst>
              <a:gd name="adj" fmla="val 50000"/>
            </a:avLst>
          </a:prstGeom>
          <a:solidFill>
            <a:srgbClr val="F3EEFD"/>
          </a:solidFill>
          <a:ln/>
        </p:spPr>
      </p:sp>
      <p:sp>
        <p:nvSpPr>
          <p:cNvPr id="11" name="Text 9"/>
          <p:cNvSpPr/>
          <p:nvPr/>
        </p:nvSpPr>
        <p:spPr>
          <a:xfrm>
            <a:off x="548640" y="1353312"/>
            <a:ext cx="2331720" cy="329184"/>
          </a:xfrm>
          <a:prstGeom prst="rect">
            <a:avLst/>
          </a:prstGeom>
          <a:noFill/>
          <a:ln/>
        </p:spPr>
        <p:txBody>
          <a:bodyPr wrap="square" rtlCol="0" anchor="ctr"/>
          <a:lstStyle/>
          <a:p>
            <a:pPr algn="ctr" indent="0" marL="0">
              <a:buNone/>
            </a:pPr>
            <a:r>
              <a:rPr lang="en-US" sz="1250" b="1" spc="60" kern="0" dirty="0">
                <a:solidFill>
                  <a:srgbClr val="8B5CF6"/>
                </a:solidFill>
                <a:latin typeface="Calibri" pitchFamily="34" charset="0"/>
                <a:ea typeface="Calibri" pitchFamily="34" charset="-122"/>
                <a:cs typeface="Calibri" pitchFamily="34" charset="-120"/>
              </a:rPr>
              <a:t>THINK / PAIR / SHARE</a:t>
            </a:r>
            <a:endParaRPr lang="en-US" sz="1250" dirty="0"/>
          </a:p>
        </p:txBody>
      </p:sp>
      <p:sp>
        <p:nvSpPr>
          <p:cNvPr id="12" name="Shape 10"/>
          <p:cNvSpPr/>
          <p:nvPr/>
        </p:nvSpPr>
        <p:spPr>
          <a:xfrm>
            <a:off x="548640" y="1828800"/>
            <a:ext cx="11064240" cy="1554480"/>
          </a:xfrm>
          <a:prstGeom prst="roundRect">
            <a:avLst>
              <a:gd name="adj" fmla="val 5882"/>
            </a:avLst>
          </a:prstGeom>
          <a:solidFill>
            <a:srgbClr val="F5F6F8"/>
          </a:solidFill>
          <a:ln/>
        </p:spPr>
      </p:sp>
      <p:sp>
        <p:nvSpPr>
          <p:cNvPr id="13" name="Text 11"/>
          <p:cNvSpPr/>
          <p:nvPr/>
        </p:nvSpPr>
        <p:spPr>
          <a:xfrm>
            <a:off x="822960" y="1828800"/>
            <a:ext cx="10515600" cy="1554480"/>
          </a:xfrm>
          <a:prstGeom prst="rect">
            <a:avLst/>
          </a:prstGeom>
          <a:noFill/>
          <a:ln/>
        </p:spPr>
        <p:txBody>
          <a:bodyPr wrap="square" lIns="0" tIns="0" rIns="0" bIns="0" rtlCol="0" anchor="ctr"/>
          <a:lstStyle/>
          <a:p>
            <a:pPr indent="0" marL="0">
              <a:lnSpc>
                <a:spcPct val="118000"/>
              </a:lnSpc>
              <a:buNone/>
            </a:pPr>
            <a:r>
              <a:rPr lang="en-US" sz="1600" dirty="0">
                <a:solidFill>
                  <a:srgbClr val="1F2328"/>
                </a:solidFill>
                <a:latin typeface="Calibri" pitchFamily="34" charset="0"/>
                <a:ea typeface="Calibri" pitchFamily="34" charset="-122"/>
                <a:cs typeface="Calibri" pitchFamily="34" charset="-120"/>
              </a:rPr>
              <a:t>WannaCry was a ransomware cryptoworm that targeted Microsoft Windows systems, encrypting data and demanding ransom in Bitcoin. It spread itself automatically and affected an estimated 230,000 computers across 150 countries in two weeks. Ninety-eight per cent of affected systems ran Windows 7 or 8. Microsoft had released a patch several months earlier that would have prevented the attack — the affected machines had not received an update since 2014. The vulnerability was first identified by the US National Security Agency, but was withheld so the exploit could be used for NSA purposes.</a:t>
            </a:r>
            <a:endParaRPr lang="en-US" sz="1600" dirty="0"/>
          </a:p>
        </p:txBody>
      </p:sp>
      <p:sp>
        <p:nvSpPr>
          <p:cNvPr id="14" name="Text 12"/>
          <p:cNvSpPr/>
          <p:nvPr/>
        </p:nvSpPr>
        <p:spPr>
          <a:xfrm>
            <a:off x="658368" y="3566160"/>
            <a:ext cx="10881360" cy="2743200"/>
          </a:xfrm>
          <a:prstGeom prst="rect">
            <a:avLst/>
          </a:prstGeom>
          <a:noFill/>
          <a:ln/>
        </p:spPr>
        <p:txBody>
          <a:bodyPr wrap="square" rtlCol="0" anchor="t"/>
          <a:lstStyle/>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Microsoft issued the patch in March; the damage was done in May. Where exactly did the control fail — at the vendor, or the operator?</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Once WannaCry was inside a network, which of today's other five controls would have limited how far it spread or how much it cost?</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The vulnerability was stockpiled rather than disclosed. What ethical issue does that raise for anyone who discovers a flaw in software they did not write?</a:t>
            </a:r>
            <a:endParaRPr lang="en-US" sz="1900" dirty="0"/>
          </a:p>
        </p:txBody>
      </p:sp>
      <p:sp>
        <p:nvSpPr>
          <p:cNvPr id="15" name="Text 13"/>
          <p:cNvSpPr/>
          <p:nvPr/>
        </p:nvSpPr>
        <p:spPr>
          <a:xfrm>
            <a:off x="566928" y="5961888"/>
            <a:ext cx="8686800" cy="256032"/>
          </a:xfrm>
          <a:prstGeom prst="rect">
            <a:avLst/>
          </a:prstGeom>
          <a:noFill/>
          <a:ln/>
        </p:spPr>
        <p:txBody>
          <a:bodyPr wrap="square" rtlCol="0" anchor="ctr"/>
          <a:lstStyle/>
          <a:p>
            <a:pPr indent="0" marL="0">
              <a:buNone/>
            </a:pPr>
            <a:r>
              <a:rPr lang="en-US" sz="1050" i="1" dirty="0">
                <a:solidFill>
                  <a:srgbClr val="57606A"/>
                </a:solidFill>
                <a:latin typeface="Calibri" pitchFamily="34" charset="0"/>
                <a:ea typeface="Calibri" pitchFamily="34" charset="-122"/>
                <a:cs typeface="Calibri" pitchFamily="34" charset="-120"/>
              </a:rPr>
              <a:t>Nelson Software Development VCE Units 3&amp;4, 2E — pp.244–245</a:t>
            </a:r>
            <a:endParaRPr lang="en-US" sz="1050" dirty="0"/>
          </a:p>
        </p:txBody>
      </p:sp>
      <p:sp>
        <p:nvSpPr>
          <p:cNvPr id="16" name="Text 14"/>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7" name="Text 15"/>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12</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CONTROL 6 OF 6</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600" b="1" dirty="0">
                <a:solidFill>
                  <a:srgbClr val="1F2328"/>
                </a:solidFill>
                <a:latin typeface="Cambria" pitchFamily="34" charset="0"/>
                <a:ea typeface="Cambria" pitchFamily="34" charset="-122"/>
                <a:cs typeface="Cambria" pitchFamily="34" charset="-120"/>
              </a:rPr>
              <a:t>Separated development, testing and production</a:t>
            </a:r>
            <a:endParaRPr lang="en-US" sz="2600" dirty="0"/>
          </a:p>
        </p:txBody>
      </p:sp>
      <p:sp>
        <p:nvSpPr>
          <p:cNvPr id="6" name="Shape 4"/>
          <p:cNvSpPr/>
          <p:nvPr/>
        </p:nvSpPr>
        <p:spPr>
          <a:xfrm>
            <a:off x="8503920" y="228600"/>
            <a:ext cx="3108960" cy="384048"/>
          </a:xfrm>
          <a:prstGeom prst="roundRect">
            <a:avLst>
              <a:gd name="adj" fmla="val 50000"/>
            </a:avLst>
          </a:prstGeom>
          <a:solidFill>
            <a:srgbClr val="4361EE"/>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EXPLICIT EXPLANATION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880360" cy="347472"/>
          </a:xfrm>
          <a:prstGeom prst="roundRect">
            <a:avLst>
              <a:gd name="adj" fmla="val 50000"/>
            </a:avLst>
          </a:prstGeom>
          <a:solidFill>
            <a:srgbClr val="FEF4E4"/>
          </a:solidFill>
          <a:ln/>
        </p:spPr>
      </p:sp>
      <p:sp>
        <p:nvSpPr>
          <p:cNvPr id="11" name="Text 9"/>
          <p:cNvSpPr/>
          <p:nvPr/>
        </p:nvSpPr>
        <p:spPr>
          <a:xfrm>
            <a:off x="548640" y="1353312"/>
            <a:ext cx="2880360" cy="347472"/>
          </a:xfrm>
          <a:prstGeom prst="rect">
            <a:avLst/>
          </a:prstGeom>
          <a:noFill/>
          <a:ln/>
        </p:spPr>
        <p:txBody>
          <a:bodyPr wrap="square" rtlCol="0" anchor="ctr"/>
          <a:lstStyle/>
          <a:p>
            <a:pPr algn="ctr" indent="0" marL="0">
              <a:buNone/>
            </a:pPr>
            <a:r>
              <a:rPr lang="en-US" sz="1250" b="1" spc="60" kern="0" dirty="0">
                <a:solidFill>
                  <a:srgbClr val="A05E06"/>
                </a:solidFill>
                <a:latin typeface="Calibri" pitchFamily="34" charset="0"/>
                <a:ea typeface="Calibri" pitchFamily="34" charset="-122"/>
                <a:cs typeface="Calibri" pitchFamily="34" charset="-120"/>
              </a:rPr>
              <a:t>COPY TO WORKBOOK</a:t>
            </a:r>
            <a:endParaRPr lang="en-US" sz="1250" dirty="0"/>
          </a:p>
        </p:txBody>
      </p:sp>
      <p:sp>
        <p:nvSpPr>
          <p:cNvPr id="12" name="Text 10"/>
          <p:cNvSpPr/>
          <p:nvPr/>
        </p:nvSpPr>
        <p:spPr>
          <a:xfrm>
            <a:off x="658368" y="1856232"/>
            <a:ext cx="10881360" cy="3657600"/>
          </a:xfrm>
          <a:prstGeom prst="rect">
            <a:avLst/>
          </a:prstGeom>
          <a:noFill/>
          <a:ln/>
        </p:spPr>
        <p:txBody>
          <a:bodyPr wrap="square" rtlCol="0" anchor="t"/>
          <a:lstStyle/>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Separation isolates the different stages of the PSM, preventing untested or insecure code from affecting the live production environment.</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Development and testing activities do not have access to sensitive production data — which is exactly what turns an ordinary test mistake into a data breach.</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Separation enforces stricter access controls and audit trails, making it far easier to track changes and identify the source of an issue.</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Testing environments replicate production-like conditions without exposing actual production data, so testing stays thorough and realistic without the risk.</a:t>
            </a:r>
            <a:endParaRPr lang="en-US" sz="1900" dirty="0"/>
          </a:p>
        </p:txBody>
      </p:sp>
      <p:sp>
        <p:nvSpPr>
          <p:cNvPr id="13" name="Text 11"/>
          <p:cNvSpPr/>
          <p:nvPr/>
        </p:nvSpPr>
        <p:spPr>
          <a:xfrm>
            <a:off x="566928" y="5961888"/>
            <a:ext cx="8686800" cy="256032"/>
          </a:xfrm>
          <a:prstGeom prst="rect">
            <a:avLst/>
          </a:prstGeom>
          <a:noFill/>
          <a:ln/>
        </p:spPr>
        <p:txBody>
          <a:bodyPr wrap="square" rtlCol="0" anchor="ctr"/>
          <a:lstStyle/>
          <a:p>
            <a:pPr indent="0" marL="0">
              <a:buNone/>
            </a:pPr>
            <a:r>
              <a:rPr lang="en-US" sz="1050" i="1" dirty="0">
                <a:solidFill>
                  <a:srgbClr val="57606A"/>
                </a:solidFill>
                <a:latin typeface="Calibri" pitchFamily="34" charset="0"/>
                <a:ea typeface="Calibri" pitchFamily="34" charset="-122"/>
                <a:cs typeface="Calibri" pitchFamily="34" charset="-120"/>
              </a:rPr>
              <a:t>Nelson Software Development VCE Units 3&amp;4, 2E — p.245</a:t>
            </a:r>
            <a:endParaRPr lang="en-US" sz="1050" dirty="0"/>
          </a:p>
        </p:txBody>
      </p:sp>
      <p:sp>
        <p:nvSpPr>
          <p:cNvPr id="14" name="Text 1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5" name="Text 13"/>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4361EE"/>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13</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SYNTHESIS</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Six controls against ten vulnerabilities</a:t>
            </a:r>
            <a:endParaRPr lang="en-US" sz="2700" dirty="0"/>
          </a:p>
        </p:txBody>
      </p:sp>
      <p:sp>
        <p:nvSpPr>
          <p:cNvPr id="6" name="Shape 4"/>
          <p:cNvSpPr/>
          <p:nvPr/>
        </p:nvSpPr>
        <p:spPr>
          <a:xfrm>
            <a:off x="8503920" y="228600"/>
            <a:ext cx="3108960" cy="384048"/>
          </a:xfrm>
          <a:prstGeom prst="roundRect">
            <a:avLst>
              <a:gd name="adj" fmla="val 50000"/>
            </a:avLst>
          </a:prstGeom>
          <a:solidFill>
            <a:srgbClr val="4361EE"/>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EXPLICIT EXPLANATION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880360" cy="347472"/>
          </a:xfrm>
          <a:prstGeom prst="roundRect">
            <a:avLst>
              <a:gd name="adj" fmla="val 50000"/>
            </a:avLst>
          </a:prstGeom>
          <a:solidFill>
            <a:srgbClr val="FEF4E4"/>
          </a:solidFill>
          <a:ln/>
        </p:spPr>
      </p:sp>
      <p:sp>
        <p:nvSpPr>
          <p:cNvPr id="11" name="Text 9"/>
          <p:cNvSpPr/>
          <p:nvPr/>
        </p:nvSpPr>
        <p:spPr>
          <a:xfrm>
            <a:off x="548640" y="1353312"/>
            <a:ext cx="2880360" cy="347472"/>
          </a:xfrm>
          <a:prstGeom prst="rect">
            <a:avLst/>
          </a:prstGeom>
          <a:noFill/>
          <a:ln/>
        </p:spPr>
        <p:txBody>
          <a:bodyPr wrap="square" rtlCol="0" anchor="ctr"/>
          <a:lstStyle/>
          <a:p>
            <a:pPr algn="ctr" indent="0" marL="0">
              <a:buNone/>
            </a:pPr>
            <a:r>
              <a:rPr lang="en-US" sz="1250" b="1" spc="60" kern="0" dirty="0">
                <a:solidFill>
                  <a:srgbClr val="A05E06"/>
                </a:solidFill>
                <a:latin typeface="Calibri" pitchFamily="34" charset="0"/>
                <a:ea typeface="Calibri" pitchFamily="34" charset="-122"/>
                <a:cs typeface="Calibri" pitchFamily="34" charset="-120"/>
              </a:rPr>
              <a:t>COPY TO WORKBOOK</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56232"/>
          <a:ext cx="11064240" cy="914400"/>
        </p:xfrm>
        <a:graphic>
          <a:graphicData uri="http://schemas.openxmlformats.org/drawingml/2006/table">
            <a:tbl>
              <a:tblPr/>
              <a:tblGrid>
                <a:gridCol w="3200400"/>
                <a:gridCol w="5669280"/>
                <a:gridCol w="2194560"/>
              </a:tblGrid>
              <a:tr h="53035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SECURITY CONTROL</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4361EE"/>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PROTECTS AGAINST (FROM L2 AND L3)</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4361EE"/>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4361EE"/>
                    </a:solidFill>
                  </a:tcPr>
                </a:tc>
              </a:tr>
              <a:tr h="53035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Version control and code repositories</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Ineffective code review · insider threats (attributable history) · untested code reaching production</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Preventive + detective</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r h="53035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Robust identity and access management</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Poor identity and access management · insider threats · social engineering</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Preventive</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r h="53035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Encryption</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Man-in-the-middle attacks · data exposure once access is already gained</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Corrective</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r h="53035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Code review</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Ineffective code review · API flaws · untested third-party components</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Preventive</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r h="53035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Regular updates and patches</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Unpatched software · malware exploiting known vulnerabilities</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Preventive</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r h="530352">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Separated dev, testing and production</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Combined environments · insider access to real production data</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Preventive + detective</a:t>
                      </a:r>
                      <a:endParaRPr lang="en-US" sz="1500" dirty="0">
                        <a:latin typeface="Calibri" charset="0"/>
                        <a:ea typeface="Calibri" charset="0"/>
                        <a:cs typeface="Calibri" charset="0"/>
                      </a:endParaRPr>
                    </a:p>
                  </a:txBody>
                  <a:tcPr marL="101600" marR="101600" marT="101600" marB="101600" anchor="ctr">
                    <a:lnL w="12700" cap="flat" cmpd="sng" algn="ctr">
                      <a:solidFill>
                        <a:srgbClr val="DDE3ED"/>
                      </a:solidFill>
                      <a:prstDash val="solid"/>
                      <a:round/>
                      <a:headEnd type="none" w="med" len="med"/>
                      <a:tailEnd type="none" w="med" len="med"/>
                    </a:lnL>
                    <a:lnR w="12700" cap="flat" cmpd="sng" algn="ctr">
                      <a:solidFill>
                        <a:srgbClr val="DDE3ED"/>
                      </a:solidFill>
                      <a:prstDash val="solid"/>
                      <a:round/>
                      <a:headEnd type="none" w="med" len="med"/>
                      <a:tailEnd type="none" w="med" len="med"/>
                    </a:lnR>
                    <a:lnT w="12700" cap="flat" cmpd="sng" algn="ctr">
                      <a:solidFill>
                        <a:srgbClr val="DDE3ED"/>
                      </a:solidFill>
                      <a:prstDash val="solid"/>
                      <a:round/>
                      <a:headEnd type="none" w="med" len="med"/>
                      <a:tailEnd type="none" w="med" len="med"/>
                    </a:lnT>
                    <a:lnB w="12700" cap="flat" cmpd="sng" algn="ctr">
                      <a:solidFill>
                        <a:srgbClr val="DDE3ED"/>
                      </a:solidFill>
                      <a:prstDash val="solid"/>
                      <a:round/>
                      <a:headEnd type="none" w="med" len="med"/>
                      <a:tailEnd type="none" w="med" len="med"/>
                    </a:lnB>
                    <a:solidFill>
                      <a:srgbClr val="FFFFFF"/>
                    </a:solidFill>
                  </a:tcPr>
                </a:tc>
              </a:tr>
            </a:tbl>
          </a:graphicData>
        </a:graphic>
      </p:graphicFrame>
      <p:sp>
        <p:nvSpPr>
          <p:cNvPr id="13" name="Text 10"/>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4" name="Text 11"/>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10B981"/>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14</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APPLICATION OF LEARNING</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Your turn</a:t>
            </a:r>
            <a:endParaRPr lang="en-US" sz="2700" dirty="0"/>
          </a:p>
        </p:txBody>
      </p:sp>
      <p:sp>
        <p:nvSpPr>
          <p:cNvPr id="6" name="Shape 4"/>
          <p:cNvSpPr/>
          <p:nvPr/>
        </p:nvSpPr>
        <p:spPr>
          <a:xfrm>
            <a:off x="8503920" y="228600"/>
            <a:ext cx="3108960" cy="384048"/>
          </a:xfrm>
          <a:prstGeom prst="roundRect">
            <a:avLst>
              <a:gd name="adj" fmla="val 50000"/>
            </a:avLst>
          </a:prstGeom>
          <a:solidFill>
            <a:srgbClr val="10B981"/>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APPLICATION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10B981"/>
                </a:solidFill>
                <a:latin typeface="Calibri" pitchFamily="34" charset="0"/>
                <a:ea typeface="Calibri" pitchFamily="34" charset="-122"/>
                <a:cs typeface="Calibri" pitchFamily="34" charset="-120"/>
              </a:rPr>
              <a:t>ON DEVICES</a:t>
            </a:r>
            <a:endParaRPr lang="en-US" sz="1200" dirty="0"/>
          </a:p>
        </p:txBody>
      </p:sp>
      <p:sp>
        <p:nvSpPr>
          <p:cNvPr id="10" name="Shape 8"/>
          <p:cNvSpPr/>
          <p:nvPr/>
        </p:nvSpPr>
        <p:spPr>
          <a:xfrm>
            <a:off x="548640" y="1399032"/>
            <a:ext cx="11064240" cy="475488"/>
          </a:xfrm>
          <a:prstGeom prst="roundRect">
            <a:avLst>
              <a:gd name="adj" fmla="val 19231"/>
            </a:avLst>
          </a:prstGeom>
          <a:solidFill>
            <a:srgbClr val="E9F8F2"/>
          </a:solidFill>
          <a:ln/>
        </p:spPr>
      </p:sp>
      <p:sp>
        <p:nvSpPr>
          <p:cNvPr id="11" name="Text 9"/>
          <p:cNvSpPr/>
          <p:nvPr/>
        </p:nvSpPr>
        <p:spPr>
          <a:xfrm>
            <a:off x="822960" y="1399032"/>
            <a:ext cx="10515600" cy="475488"/>
          </a:xfrm>
          <a:prstGeom prst="rect">
            <a:avLst/>
          </a:prstGeom>
          <a:noFill/>
          <a:ln/>
        </p:spPr>
        <p:txBody>
          <a:bodyPr wrap="square" rtlCol="0" anchor="ctr"/>
          <a:lstStyle/>
          <a:p>
            <a:pPr indent="0" marL="0">
              <a:buNone/>
            </a:pPr>
            <a:r>
              <a:rPr lang="en-US" sz="1700" b="1" dirty="0">
                <a:solidFill>
                  <a:srgbClr val="0A7A57"/>
                </a:solidFill>
                <a:latin typeface="Calibri" pitchFamily="34" charset="0"/>
                <a:ea typeface="Calibri" pitchFamily="34" charset="-122"/>
                <a:cs typeface="Calibri" pitchFamily="34" charset="-120"/>
              </a:rPr>
              <a:t>➤  Open your workbook — Section 3, Application of Learning</a:t>
            </a:r>
            <a:endParaRPr lang="en-US" sz="1700" dirty="0"/>
          </a:p>
        </p:txBody>
      </p:sp>
      <p:sp>
        <p:nvSpPr>
          <p:cNvPr id="12" name="Shape 10"/>
          <p:cNvSpPr/>
          <p:nvPr/>
        </p:nvSpPr>
        <p:spPr>
          <a:xfrm>
            <a:off x="548640" y="2395728"/>
            <a:ext cx="640080" cy="1024128"/>
          </a:xfrm>
          <a:prstGeom prst="roundRect">
            <a:avLst>
              <a:gd name="adj" fmla="val 11429"/>
            </a:avLst>
          </a:prstGeom>
          <a:solidFill>
            <a:srgbClr val="10B981"/>
          </a:solidFill>
          <a:ln/>
        </p:spPr>
      </p:sp>
      <p:sp>
        <p:nvSpPr>
          <p:cNvPr id="13" name="Shape 11"/>
          <p:cNvSpPr/>
          <p:nvPr/>
        </p:nvSpPr>
        <p:spPr>
          <a:xfrm>
            <a:off x="1188720" y="2395728"/>
            <a:ext cx="10424160" cy="1024128"/>
          </a:xfrm>
          <a:prstGeom prst="roundRect">
            <a:avLst>
              <a:gd name="adj" fmla="val 7143"/>
            </a:avLst>
          </a:prstGeom>
          <a:solidFill>
            <a:srgbClr val="FFFFFF"/>
          </a:solidFill>
          <a:ln w="12700">
            <a:solidFill>
              <a:srgbClr val="DDE3ED"/>
            </a:solidFill>
            <a:prstDash val="solid"/>
          </a:ln>
        </p:spPr>
      </p:sp>
      <p:sp>
        <p:nvSpPr>
          <p:cNvPr id="14" name="Text 12"/>
          <p:cNvSpPr/>
          <p:nvPr/>
        </p:nvSpPr>
        <p:spPr>
          <a:xfrm>
            <a:off x="1463040" y="2395728"/>
            <a:ext cx="9875520" cy="1024128"/>
          </a:xfrm>
          <a:prstGeom prst="rect">
            <a:avLst/>
          </a:prstGeom>
          <a:noFill/>
          <a:ln/>
        </p:spPr>
        <p:txBody>
          <a:bodyPr wrap="square" lIns="0" tIns="0" rIns="0" bIns="0" rtlCol="0" anchor="ctr"/>
          <a:lstStyle/>
          <a:p>
            <a:pPr indent="0" marL="0">
              <a:lnSpc>
                <a:spcPct val="115000"/>
              </a:lnSpc>
              <a:buNone/>
            </a:pPr>
            <a:r>
              <a:rPr lang="en-US" sz="1800" dirty="0">
                <a:solidFill>
                  <a:srgbClr val="1F2328"/>
                </a:solidFill>
                <a:latin typeface="Calibri" pitchFamily="34" charset="0"/>
                <a:ea typeface="Calibri" pitchFamily="34" charset="-122"/>
                <a:cs typeface="Calibri" pitchFamily="34" charset="-120"/>
              </a:rPr>
              <a:t>Match each of the six controls to what it does, then state one vulnerability each control addresses.</a:t>
            </a:r>
            <a:endParaRPr lang="en-US" sz="1800" dirty="0"/>
          </a:p>
        </p:txBody>
      </p:sp>
      <p:sp>
        <p:nvSpPr>
          <p:cNvPr id="15" name="Shape 13"/>
          <p:cNvSpPr/>
          <p:nvPr/>
        </p:nvSpPr>
        <p:spPr>
          <a:xfrm>
            <a:off x="548640" y="3602736"/>
            <a:ext cx="640080" cy="1024128"/>
          </a:xfrm>
          <a:prstGeom prst="roundRect">
            <a:avLst>
              <a:gd name="adj" fmla="val 11429"/>
            </a:avLst>
          </a:prstGeom>
          <a:solidFill>
            <a:srgbClr val="F59E0B"/>
          </a:solidFill>
          <a:ln/>
        </p:spPr>
      </p:sp>
      <p:sp>
        <p:nvSpPr>
          <p:cNvPr id="16" name="Shape 14"/>
          <p:cNvSpPr/>
          <p:nvPr/>
        </p:nvSpPr>
        <p:spPr>
          <a:xfrm>
            <a:off x="1188720" y="3602736"/>
            <a:ext cx="10424160" cy="1024128"/>
          </a:xfrm>
          <a:prstGeom prst="roundRect">
            <a:avLst>
              <a:gd name="adj" fmla="val 7143"/>
            </a:avLst>
          </a:prstGeom>
          <a:solidFill>
            <a:srgbClr val="FFFFFF"/>
          </a:solidFill>
          <a:ln w="12700">
            <a:solidFill>
              <a:srgbClr val="DDE3ED"/>
            </a:solidFill>
            <a:prstDash val="solid"/>
          </a:ln>
        </p:spPr>
      </p:sp>
      <p:sp>
        <p:nvSpPr>
          <p:cNvPr id="17" name="Text 15"/>
          <p:cNvSpPr/>
          <p:nvPr/>
        </p:nvSpPr>
        <p:spPr>
          <a:xfrm>
            <a:off x="1463040" y="3602736"/>
            <a:ext cx="9875520" cy="1024128"/>
          </a:xfrm>
          <a:prstGeom prst="rect">
            <a:avLst/>
          </a:prstGeom>
          <a:noFill/>
          <a:ln/>
        </p:spPr>
        <p:txBody>
          <a:bodyPr wrap="square" lIns="0" tIns="0" rIns="0" bIns="0" rtlCol="0" anchor="ctr"/>
          <a:lstStyle/>
          <a:p>
            <a:pPr indent="0" marL="0">
              <a:lnSpc>
                <a:spcPct val="115000"/>
              </a:lnSpc>
              <a:buNone/>
            </a:pPr>
            <a:r>
              <a:rPr lang="en-US" sz="1800" dirty="0">
                <a:solidFill>
                  <a:srgbClr val="1F2328"/>
                </a:solidFill>
                <a:latin typeface="Calibri" pitchFamily="34" charset="0"/>
                <a:ea typeface="Calibri" pitchFamily="34" charset="-122"/>
                <a:cs typeface="Calibri" pitchFamily="34" charset="-120"/>
              </a:rPr>
              <a:t>Choose two controls. For each, explain how it works in practice and evaluate one specific limitation — something it cannot protect against.</a:t>
            </a:r>
            <a:endParaRPr lang="en-US" sz="1800" dirty="0"/>
          </a:p>
        </p:txBody>
      </p:sp>
      <p:sp>
        <p:nvSpPr>
          <p:cNvPr id="18" name="Shape 16"/>
          <p:cNvSpPr/>
          <p:nvPr/>
        </p:nvSpPr>
        <p:spPr>
          <a:xfrm>
            <a:off x="548640" y="4809744"/>
            <a:ext cx="640080" cy="1024128"/>
          </a:xfrm>
          <a:prstGeom prst="roundRect">
            <a:avLst>
              <a:gd name="adj" fmla="val 11429"/>
            </a:avLst>
          </a:prstGeom>
          <a:solidFill>
            <a:srgbClr val="8B5CF6"/>
          </a:solidFill>
          <a:ln/>
        </p:spPr>
      </p:sp>
      <p:sp>
        <p:nvSpPr>
          <p:cNvPr id="19" name="Shape 17"/>
          <p:cNvSpPr/>
          <p:nvPr/>
        </p:nvSpPr>
        <p:spPr>
          <a:xfrm>
            <a:off x="1188720" y="4809744"/>
            <a:ext cx="10424160" cy="1024128"/>
          </a:xfrm>
          <a:prstGeom prst="roundRect">
            <a:avLst>
              <a:gd name="adj" fmla="val 7143"/>
            </a:avLst>
          </a:prstGeom>
          <a:solidFill>
            <a:srgbClr val="FFFFFF"/>
          </a:solidFill>
          <a:ln w="12700">
            <a:solidFill>
              <a:srgbClr val="DDE3ED"/>
            </a:solidFill>
            <a:prstDash val="solid"/>
          </a:ln>
        </p:spPr>
      </p:sp>
      <p:sp>
        <p:nvSpPr>
          <p:cNvPr id="20" name="Text 18"/>
          <p:cNvSpPr/>
          <p:nvPr/>
        </p:nvSpPr>
        <p:spPr>
          <a:xfrm>
            <a:off x="1463040" y="4809744"/>
            <a:ext cx="9875520" cy="1024128"/>
          </a:xfrm>
          <a:prstGeom prst="rect">
            <a:avLst/>
          </a:prstGeom>
          <a:noFill/>
          <a:ln/>
        </p:spPr>
        <p:txBody>
          <a:bodyPr wrap="square" lIns="0" tIns="0" rIns="0" bIns="0" rtlCol="0" anchor="ctr"/>
          <a:lstStyle/>
          <a:p>
            <a:pPr indent="0" marL="0">
              <a:lnSpc>
                <a:spcPct val="115000"/>
              </a:lnSpc>
              <a:buNone/>
            </a:pPr>
            <a:r>
              <a:rPr lang="en-US" sz="1800" dirty="0">
                <a:solidFill>
                  <a:srgbClr val="1F2328"/>
                </a:solidFill>
                <a:latin typeface="Calibri" pitchFamily="34" charset="0"/>
                <a:ea typeface="Calibri" pitchFamily="34" charset="-122"/>
                <a:cs typeface="Calibri" pitchFamily="34" charset="-120"/>
              </a:rPr>
              <a:t>Analyse the Northbridge Rail case, identify the controls that are missing, and recommend three improvements in priority order with justification.</a:t>
            </a:r>
            <a:endParaRPr lang="en-US" sz="1800" dirty="0"/>
          </a:p>
        </p:txBody>
      </p:sp>
      <p:sp>
        <p:nvSpPr>
          <p:cNvPr id="21" name="Text 19"/>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22" name="Text 20"/>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2423160"/>
            <a:ext cx="12161520" cy="365760"/>
          </a:xfrm>
          <a:prstGeom prst="rect">
            <a:avLst/>
          </a:prstGeom>
          <a:noFill/>
          <a:ln/>
        </p:spPr>
        <p:txBody>
          <a:bodyPr wrap="square" rtlCol="0" anchor="ctr"/>
          <a:lstStyle/>
          <a:p>
            <a:pPr algn="ctr" indent="0" marL="0">
              <a:buNone/>
            </a:pPr>
            <a:r>
              <a:rPr lang="en-US" sz="1600" b="1" spc="120" kern="0" dirty="0">
                <a:solidFill>
                  <a:srgbClr val="4361EE"/>
                </a:solidFill>
                <a:latin typeface="Calibri" pitchFamily="34" charset="0"/>
                <a:ea typeface="Calibri" pitchFamily="34" charset="-122"/>
                <a:cs typeface="Calibri" pitchFamily="34" charset="-120"/>
              </a:rPr>
              <a:t>BRAIN BREAK</a:t>
            </a:r>
            <a:endParaRPr lang="en-US" sz="1600" dirty="0"/>
          </a:p>
        </p:txBody>
      </p:sp>
      <p:sp>
        <p:nvSpPr>
          <p:cNvPr id="3" name="Text 1"/>
          <p:cNvSpPr/>
          <p:nvPr/>
        </p:nvSpPr>
        <p:spPr>
          <a:xfrm>
            <a:off x="1645920" y="2880360"/>
            <a:ext cx="8869680" cy="1097280"/>
          </a:xfrm>
          <a:prstGeom prst="rect">
            <a:avLst/>
          </a:prstGeom>
          <a:noFill/>
          <a:ln/>
        </p:spPr>
        <p:txBody>
          <a:bodyPr wrap="square" rtlCol="0" anchor="ctr"/>
          <a:lstStyle/>
          <a:p>
            <a:pPr algn="ctr" indent="0" marL="0">
              <a:lnSpc>
                <a:spcPct val="118000"/>
              </a:lnSpc>
              <a:buNone/>
            </a:pPr>
            <a:r>
              <a:rPr lang="en-US" sz="2600" b="1" dirty="0">
                <a:solidFill>
                  <a:srgbClr val="1F2328"/>
                </a:solidFill>
                <a:latin typeface="Cambria" pitchFamily="34" charset="0"/>
                <a:ea typeface="Cambria" pitchFamily="34" charset="-122"/>
                <a:cs typeface="Cambria" pitchFamily="34" charset="-120"/>
              </a:rPr>
              <a:t>Two minutes. When did you last update the software on your phone — and be honest, how many times did you tap "Remind Me Tomorrow" first?</a:t>
            </a:r>
            <a:endParaRPr lang="en-US" sz="2600" dirty="0"/>
          </a:p>
        </p:txBody>
      </p:sp>
      <p:sp>
        <p:nvSpPr>
          <p:cNvPr id="4" name="Text 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5" name="Text 3"/>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8B5CF6"/>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15</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RESPONSIVE TEACHING · 10 MINUTES</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You can only afford three</a:t>
            </a:r>
            <a:endParaRPr lang="en-US" sz="2700" dirty="0"/>
          </a:p>
        </p:txBody>
      </p:sp>
      <p:sp>
        <p:nvSpPr>
          <p:cNvPr id="6" name="Shape 4"/>
          <p:cNvSpPr/>
          <p:nvPr/>
        </p:nvSpPr>
        <p:spPr>
          <a:xfrm>
            <a:off x="8503920" y="228600"/>
            <a:ext cx="3108960" cy="384048"/>
          </a:xfrm>
          <a:prstGeom prst="roundRect">
            <a:avLst>
              <a:gd name="adj" fmla="val 50000"/>
            </a:avLst>
          </a:prstGeom>
          <a:solidFill>
            <a:srgbClr val="8B5CF6"/>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DISCUSSION</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Shape 8"/>
          <p:cNvSpPr/>
          <p:nvPr/>
        </p:nvSpPr>
        <p:spPr>
          <a:xfrm>
            <a:off x="548640" y="1353312"/>
            <a:ext cx="2331720" cy="329184"/>
          </a:xfrm>
          <a:prstGeom prst="roundRect">
            <a:avLst>
              <a:gd name="adj" fmla="val 50000"/>
            </a:avLst>
          </a:prstGeom>
          <a:solidFill>
            <a:srgbClr val="F3EEFD"/>
          </a:solidFill>
          <a:ln/>
        </p:spPr>
      </p:sp>
      <p:sp>
        <p:nvSpPr>
          <p:cNvPr id="11" name="Text 9"/>
          <p:cNvSpPr/>
          <p:nvPr/>
        </p:nvSpPr>
        <p:spPr>
          <a:xfrm>
            <a:off x="548640" y="1353312"/>
            <a:ext cx="2331720" cy="329184"/>
          </a:xfrm>
          <a:prstGeom prst="rect">
            <a:avLst/>
          </a:prstGeom>
          <a:noFill/>
          <a:ln/>
        </p:spPr>
        <p:txBody>
          <a:bodyPr wrap="square" rtlCol="0" anchor="ctr"/>
          <a:lstStyle/>
          <a:p>
            <a:pPr algn="ctr" indent="0" marL="0">
              <a:buNone/>
            </a:pPr>
            <a:r>
              <a:rPr lang="en-US" sz="1250" b="1" spc="60" kern="0" dirty="0">
                <a:solidFill>
                  <a:srgbClr val="8B5CF6"/>
                </a:solidFill>
                <a:latin typeface="Calibri" pitchFamily="34" charset="0"/>
                <a:ea typeface="Calibri" pitchFamily="34" charset="-122"/>
                <a:cs typeface="Calibri" pitchFamily="34" charset="-120"/>
              </a:rPr>
              <a:t>WHOLE CLASS</a:t>
            </a:r>
            <a:endParaRPr lang="en-US" sz="1250" dirty="0"/>
          </a:p>
        </p:txBody>
      </p:sp>
      <p:sp>
        <p:nvSpPr>
          <p:cNvPr id="12" name="Shape 10"/>
          <p:cNvSpPr/>
          <p:nvPr/>
        </p:nvSpPr>
        <p:spPr>
          <a:xfrm>
            <a:off x="548640" y="1828800"/>
            <a:ext cx="11064240" cy="960120"/>
          </a:xfrm>
          <a:prstGeom prst="roundRect">
            <a:avLst>
              <a:gd name="adj" fmla="val 9524"/>
            </a:avLst>
          </a:prstGeom>
          <a:solidFill>
            <a:srgbClr val="F3EEFD"/>
          </a:solidFill>
          <a:ln/>
        </p:spPr>
      </p:sp>
      <p:sp>
        <p:nvSpPr>
          <p:cNvPr id="13" name="Text 11"/>
          <p:cNvSpPr/>
          <p:nvPr/>
        </p:nvSpPr>
        <p:spPr>
          <a:xfrm>
            <a:off x="822960" y="1828800"/>
            <a:ext cx="10515600" cy="960120"/>
          </a:xfrm>
          <a:prstGeom prst="rect">
            <a:avLst/>
          </a:prstGeom>
          <a:noFill/>
          <a:ln/>
        </p:spPr>
        <p:txBody>
          <a:bodyPr wrap="square" lIns="0" tIns="0" rIns="0" bIns="0" rtlCol="0" anchor="ctr"/>
          <a:lstStyle/>
          <a:p>
            <a:pPr indent="0" marL="0">
              <a:lnSpc>
                <a:spcPct val="116000"/>
              </a:lnSpc>
              <a:buNone/>
            </a:pPr>
            <a:r>
              <a:rPr lang="en-US" sz="1700" b="1" dirty="0">
                <a:solidFill>
                  <a:srgbClr val="1F2328"/>
                </a:solidFill>
                <a:latin typeface="Calibri" pitchFamily="34" charset="0"/>
                <a:ea typeface="Calibri" pitchFamily="34" charset="-122"/>
                <a:cs typeface="Calibri" pitchFamily="34" charset="-120"/>
              </a:rPr>
              <a:t>The scenario:  </a:t>
            </a:r>
            <a:pPr indent="0" marL="0">
              <a:lnSpc>
                <a:spcPct val="116000"/>
              </a:lnSpc>
              <a:buNone/>
            </a:pPr>
            <a:r>
              <a:rPr lang="en-US" sz="1700" dirty="0">
                <a:solidFill>
                  <a:srgbClr val="1F2328"/>
                </a:solidFill>
                <a:latin typeface="Calibri" pitchFamily="34" charset="0"/>
                <a:ea typeface="Calibri" pitchFamily="34" charset="-122"/>
                <a:cs typeface="Calibri" pitchFamily="34" charset="-120"/>
              </a:rPr>
              <a:t>a 12-developer startup has budget and staff time to properly implement only three of today's six controls this year. In your group, choose your three and put them in priority order. You must be able to defend what you left out.</a:t>
            </a:r>
            <a:endParaRPr lang="en-US" sz="1700" dirty="0"/>
          </a:p>
        </p:txBody>
      </p:sp>
      <p:sp>
        <p:nvSpPr>
          <p:cNvPr id="14" name="Text 12"/>
          <p:cNvSpPr/>
          <p:nvPr/>
        </p:nvSpPr>
        <p:spPr>
          <a:xfrm>
            <a:off x="658368" y="2953512"/>
            <a:ext cx="10881360" cy="2926080"/>
          </a:xfrm>
          <a:prstGeom prst="rect">
            <a:avLst/>
          </a:prstGeom>
          <a:noFill/>
          <a:ln/>
        </p:spPr>
        <p:txBody>
          <a:bodyPr wrap="square" rtlCol="0" anchor="t"/>
          <a:lstStyle/>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Which control gives the most protection for the least cost — and is "cheap" the same as "easy to sustain"?</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Which of the six depend entirely on people doing them consistently, every time, with no technical enforcement?</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Does your set of three leave any of the ten vulnerabilities from L2 and L3 completely unaddressed? Name one.</a:t>
            </a:r>
            <a:endParaRPr lang="en-US" sz="1900" dirty="0"/>
          </a:p>
          <a:p>
            <a:pPr marL="279400" indent="-279400">
              <a:lnSpc>
                <a:spcPct val="114000"/>
              </a:lnSpc>
              <a:spcAft>
                <a:spcPts val="1100"/>
              </a:spcAft>
              <a:buSzPct val="100000"/>
              <a:buChar char="•"/>
            </a:pPr>
            <a:r>
              <a:rPr lang="en-US" sz="1900" dirty="0">
                <a:solidFill>
                  <a:srgbClr val="1F2328"/>
                </a:solidFill>
                <a:latin typeface="Calibri" pitchFamily="34" charset="0"/>
                <a:ea typeface="Calibri" pitchFamily="34" charset="-122"/>
                <a:cs typeface="Calibri" pitchFamily="34" charset="-120"/>
              </a:rPr>
              <a:t>You are presenting to the board. In one sentence, what is the biggest risk your organisation is still carrying?</a:t>
            </a:r>
            <a:endParaRPr lang="en-US" sz="1900" dirty="0"/>
          </a:p>
        </p:txBody>
      </p:sp>
      <p:sp>
        <p:nvSpPr>
          <p:cNvPr id="15" name="Text 13"/>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6" name="Text 14"/>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548640"/>
            <a:ext cx="493776" cy="493776"/>
          </a:xfrm>
          <a:prstGeom prst="ellipse">
            <a:avLst/>
          </a:prstGeom>
          <a:solidFill>
            <a:srgbClr val="F59E0B"/>
          </a:solidFill>
          <a:ln/>
        </p:spPr>
      </p:sp>
      <p:sp>
        <p:nvSpPr>
          <p:cNvPr id="3" name="Text 1"/>
          <p:cNvSpPr/>
          <p:nvPr/>
        </p:nvSpPr>
        <p:spPr>
          <a:xfrm>
            <a:off x="548640" y="548640"/>
            <a:ext cx="493776" cy="493776"/>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16</a:t>
            </a:r>
            <a:endParaRPr lang="en-US" sz="1700" dirty="0"/>
          </a:p>
        </p:txBody>
      </p:sp>
      <p:sp>
        <p:nvSpPr>
          <p:cNvPr id="4" name="Text 2"/>
          <p:cNvSpPr/>
          <p:nvPr/>
        </p:nvSpPr>
        <p:spPr>
          <a:xfrm>
            <a:off x="1170432" y="502920"/>
            <a:ext cx="7315200" cy="237744"/>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RESPONSIVE TEACHING</a:t>
            </a:r>
            <a:endParaRPr lang="en-US" sz="1200" dirty="0"/>
          </a:p>
        </p:txBody>
      </p:sp>
      <p:sp>
        <p:nvSpPr>
          <p:cNvPr id="5" name="Text 3"/>
          <p:cNvSpPr/>
          <p:nvPr/>
        </p:nvSpPr>
        <p:spPr>
          <a:xfrm>
            <a:off x="1115568" y="713232"/>
            <a:ext cx="8503920" cy="530352"/>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Check for understanding</a:t>
            </a:r>
            <a:endParaRPr lang="en-US" sz="2700" dirty="0"/>
          </a:p>
        </p:txBody>
      </p:sp>
      <p:sp>
        <p:nvSpPr>
          <p:cNvPr id="6" name="Shape 4"/>
          <p:cNvSpPr/>
          <p:nvPr/>
        </p:nvSpPr>
        <p:spPr>
          <a:xfrm>
            <a:off x="8503920" y="228600"/>
            <a:ext cx="3108960" cy="384048"/>
          </a:xfrm>
          <a:prstGeom prst="roundRect">
            <a:avLst>
              <a:gd name="adj" fmla="val 50000"/>
            </a:avLst>
          </a:prstGeom>
          <a:solidFill>
            <a:srgbClr val="F59E0B"/>
          </a:solidFill>
          <a:ln/>
        </p:spPr>
      </p:sp>
      <p:sp>
        <p:nvSpPr>
          <p:cNvPr id="7" name="Text 5"/>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RESPONSIVE TEACHING</a:t>
            </a:r>
            <a:endParaRPr lang="en-US" sz="1300" dirty="0"/>
          </a:p>
        </p:txBody>
      </p:sp>
      <p:sp>
        <p:nvSpPr>
          <p:cNvPr id="8" name="Shape 6"/>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9" name="Text 7"/>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10" name="Text 8"/>
          <p:cNvSpPr/>
          <p:nvPr/>
        </p:nvSpPr>
        <p:spPr>
          <a:xfrm>
            <a:off x="658368" y="1536192"/>
            <a:ext cx="10881360" cy="2194560"/>
          </a:xfrm>
          <a:prstGeom prst="rect">
            <a:avLst/>
          </a:prstGeom>
          <a:noFill/>
          <a:ln/>
        </p:spPr>
        <p:txBody>
          <a:bodyPr wrap="square" rtlCol="0" anchor="t"/>
          <a:lstStyle/>
          <a:p>
            <a:pPr marL="279400" indent="-279400">
              <a:lnSpc>
                <a:spcPct val="114000"/>
              </a:lnSpc>
              <a:spcAft>
                <a:spcPts val="1100"/>
              </a:spcAft>
              <a:buSzPct val="100000"/>
              <a:buChar char="•"/>
            </a:pPr>
            <a:r>
              <a:rPr lang="en-US" sz="2000" dirty="0">
                <a:solidFill>
                  <a:srgbClr val="1F2328"/>
                </a:solidFill>
                <a:latin typeface="Calibri" pitchFamily="34" charset="0"/>
                <a:ea typeface="Calibri" pitchFamily="34" charset="-122"/>
                <a:cs typeface="Calibri" pitchFamily="34" charset="-120"/>
              </a:rPr>
              <a:t>Cold call: name a control and the vulnerability it addresses — without looking back at your notes.</a:t>
            </a:r>
            <a:endParaRPr lang="en-US" sz="2000" dirty="0"/>
          </a:p>
          <a:p>
            <a:pPr marL="279400" indent="-279400">
              <a:lnSpc>
                <a:spcPct val="114000"/>
              </a:lnSpc>
              <a:spcAft>
                <a:spcPts val="1100"/>
              </a:spcAft>
              <a:buSzPct val="100000"/>
              <a:buChar char="•"/>
            </a:pPr>
            <a:r>
              <a:rPr lang="en-US" sz="2000" dirty="0">
                <a:solidFill>
                  <a:srgbClr val="1F2328"/>
                </a:solidFill>
                <a:latin typeface="Calibri" pitchFamily="34" charset="0"/>
                <a:ea typeface="Calibri" pitchFamily="34" charset="-122"/>
                <a:cs typeface="Calibri" pitchFamily="34" charset="-120"/>
              </a:rPr>
              <a:t>Follow-up each time: and what does that control not protect against?</a:t>
            </a:r>
            <a:endParaRPr lang="en-US" sz="2000" dirty="0"/>
          </a:p>
          <a:p>
            <a:pPr marL="279400" indent="-279400">
              <a:lnSpc>
                <a:spcPct val="114000"/>
              </a:lnSpc>
              <a:spcAft>
                <a:spcPts val="1100"/>
              </a:spcAft>
              <a:buSzPct val="100000"/>
              <a:buChar char="•"/>
            </a:pPr>
            <a:r>
              <a:rPr lang="en-US" sz="2000" dirty="0">
                <a:solidFill>
                  <a:srgbClr val="1F2328"/>
                </a:solidFill>
                <a:latin typeface="Calibri" pitchFamily="34" charset="0"/>
                <a:ea typeface="Calibri" pitchFamily="34" charset="-122"/>
                <a:cs typeface="Calibri" pitchFamily="34" charset="-120"/>
              </a:rPr>
              <a:t>Which control appears in the study design as both a vulnerability and a control, depending on how well it is done?</a:t>
            </a:r>
            <a:endParaRPr lang="en-US" sz="2000" dirty="0"/>
          </a:p>
        </p:txBody>
      </p:sp>
      <p:sp>
        <p:nvSpPr>
          <p:cNvPr id="11" name="Shape 9"/>
          <p:cNvSpPr/>
          <p:nvPr/>
        </p:nvSpPr>
        <p:spPr>
          <a:xfrm>
            <a:off x="548640" y="4160520"/>
            <a:ext cx="11064240" cy="1417320"/>
          </a:xfrm>
          <a:prstGeom prst="roundRect">
            <a:avLst>
              <a:gd name="adj" fmla="val 6452"/>
            </a:avLst>
          </a:prstGeom>
          <a:solidFill>
            <a:srgbClr val="EEF1FE"/>
          </a:solidFill>
          <a:ln/>
        </p:spPr>
      </p:sp>
      <p:sp>
        <p:nvSpPr>
          <p:cNvPr id="12" name="Text 10"/>
          <p:cNvSpPr/>
          <p:nvPr/>
        </p:nvSpPr>
        <p:spPr>
          <a:xfrm>
            <a:off x="841248" y="4343400"/>
            <a:ext cx="5486400" cy="292608"/>
          </a:xfrm>
          <a:prstGeom prst="rect">
            <a:avLst/>
          </a:prstGeom>
          <a:noFill/>
          <a:ln/>
        </p:spPr>
        <p:txBody>
          <a:bodyPr wrap="square" lIns="0" tIns="0" rIns="0" bIns="0" rtlCol="0" anchor="ctr"/>
          <a:lstStyle/>
          <a:p>
            <a:pPr indent="0" marL="0">
              <a:buNone/>
            </a:pPr>
            <a:r>
              <a:rPr lang="en-US" sz="1300" b="1" spc="80" kern="0" dirty="0">
                <a:solidFill>
                  <a:srgbClr val="4361EE"/>
                </a:solidFill>
                <a:latin typeface="Calibri" pitchFamily="34" charset="0"/>
                <a:ea typeface="Calibri" pitchFamily="34" charset="-122"/>
                <a:cs typeface="Calibri" pitchFamily="34" charset="-120"/>
              </a:rPr>
              <a:t>OUTCOME 2 CHECKLIST</a:t>
            </a:r>
            <a:endParaRPr lang="en-US" sz="1300" dirty="0"/>
          </a:p>
        </p:txBody>
      </p:sp>
      <p:sp>
        <p:nvSpPr>
          <p:cNvPr id="13" name="Text 11"/>
          <p:cNvSpPr/>
          <p:nvPr/>
        </p:nvSpPr>
        <p:spPr>
          <a:xfrm>
            <a:off x="841248" y="4681728"/>
            <a:ext cx="10424160" cy="777240"/>
          </a:xfrm>
          <a:prstGeom prst="rect">
            <a:avLst/>
          </a:prstGeom>
          <a:noFill/>
          <a:ln/>
        </p:spPr>
        <p:txBody>
          <a:bodyPr wrap="square" lIns="0" tIns="0" rIns="0" bIns="0" rtlCol="0" anchor="ctr"/>
          <a:lstStyle/>
          <a:p>
            <a:pPr indent="0" marL="0">
              <a:lnSpc>
                <a:spcPct val="116000"/>
              </a:lnSpc>
              <a:buNone/>
            </a:pPr>
            <a:r>
              <a:rPr lang="en-US" sz="1800" dirty="0">
                <a:solidFill>
                  <a:srgbClr val="1F2328"/>
                </a:solidFill>
                <a:latin typeface="Calibri" pitchFamily="34" charset="0"/>
                <a:ea typeface="Calibri" pitchFamily="34" charset="-122"/>
                <a:cs typeface="Calibri" pitchFamily="34" charset="-120"/>
              </a:rPr>
              <a:t>I can name all six security controls, explain what each protects against, and state one limitation of at least two of them. Key knowledge 4.2.4 is now complete.</a:t>
            </a:r>
            <a:endParaRPr lang="en-US" sz="1800" dirty="0"/>
          </a:p>
        </p:txBody>
      </p:sp>
      <p:sp>
        <p:nvSpPr>
          <p:cNvPr id="14" name="Text 12"/>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5" name="Text 13"/>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475488"/>
            <a:ext cx="5486400" cy="274320"/>
          </a:xfrm>
          <a:prstGeom prst="rect">
            <a:avLst/>
          </a:prstGeom>
          <a:noFill/>
          <a:ln/>
        </p:spPr>
        <p:txBody>
          <a:bodyPr wrap="square" lIns="0" tIns="0" rIns="0" bIns="0" rtlCol="0" anchor="ctr"/>
          <a:lstStyle/>
          <a:p>
            <a:pPr indent="0" marL="0">
              <a:buNone/>
            </a:pPr>
            <a:r>
              <a:rPr lang="en-US" sz="1200" b="1" spc="100" kern="0" dirty="0">
                <a:solidFill>
                  <a:srgbClr val="EF4444"/>
                </a:solidFill>
                <a:latin typeface="Calibri" pitchFamily="34" charset="0"/>
                <a:ea typeface="Calibri" pitchFamily="34" charset="-122"/>
                <a:cs typeface="Calibri" pitchFamily="34" charset="-120"/>
              </a:rPr>
              <a:t>EXIT TICKET</a:t>
            </a:r>
            <a:endParaRPr lang="en-US" sz="1200" dirty="0"/>
          </a:p>
        </p:txBody>
      </p:sp>
      <p:sp>
        <p:nvSpPr>
          <p:cNvPr id="3" name="Shape 1"/>
          <p:cNvSpPr/>
          <p:nvPr/>
        </p:nvSpPr>
        <p:spPr>
          <a:xfrm>
            <a:off x="8503920" y="228600"/>
            <a:ext cx="3108960" cy="384048"/>
          </a:xfrm>
          <a:prstGeom prst="roundRect">
            <a:avLst>
              <a:gd name="adj" fmla="val 50000"/>
            </a:avLst>
          </a:prstGeom>
          <a:solidFill>
            <a:srgbClr val="EF4444"/>
          </a:solidFill>
          <a:ln/>
        </p:spPr>
      </p:sp>
      <p:sp>
        <p:nvSpPr>
          <p:cNvPr id="4" name="Text 2"/>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EXIT TICKET</a:t>
            </a:r>
            <a:endParaRPr lang="en-US" sz="1300" dirty="0"/>
          </a:p>
        </p:txBody>
      </p:sp>
      <p:sp>
        <p:nvSpPr>
          <p:cNvPr id="5" name="Shape 3"/>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6" name="Text 4"/>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10B981"/>
                </a:solidFill>
                <a:latin typeface="Calibri" pitchFamily="34" charset="0"/>
                <a:ea typeface="Calibri" pitchFamily="34" charset="-122"/>
                <a:cs typeface="Calibri" pitchFamily="34" charset="-120"/>
              </a:rPr>
              <a:t>ON DEVICES</a:t>
            </a:r>
            <a:endParaRPr lang="en-US" sz="1200" dirty="0"/>
          </a:p>
        </p:txBody>
      </p:sp>
      <p:sp>
        <p:nvSpPr>
          <p:cNvPr id="7" name="Text 5"/>
          <p:cNvSpPr/>
          <p:nvPr/>
        </p:nvSpPr>
        <p:spPr>
          <a:xfrm>
            <a:off x="548640" y="777240"/>
            <a:ext cx="8229600" cy="54864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Before you go</a:t>
            </a:r>
            <a:endParaRPr lang="en-US" sz="3000" dirty="0"/>
          </a:p>
        </p:txBody>
      </p:sp>
      <p:sp>
        <p:nvSpPr>
          <p:cNvPr id="8" name="Shape 6"/>
          <p:cNvSpPr/>
          <p:nvPr/>
        </p:nvSpPr>
        <p:spPr>
          <a:xfrm>
            <a:off x="548640" y="1737360"/>
            <a:ext cx="11064240" cy="3520440"/>
          </a:xfrm>
          <a:prstGeom prst="roundRect">
            <a:avLst>
              <a:gd name="adj" fmla="val 3117"/>
            </a:avLst>
          </a:prstGeom>
          <a:solidFill>
            <a:srgbClr val="FDEAEA"/>
          </a:solidFill>
          <a:ln/>
        </p:spPr>
      </p:sp>
      <p:sp>
        <p:nvSpPr>
          <p:cNvPr id="9" name="Text 7"/>
          <p:cNvSpPr/>
          <p:nvPr/>
        </p:nvSpPr>
        <p:spPr>
          <a:xfrm>
            <a:off x="914400" y="1965960"/>
            <a:ext cx="10332720" cy="3063240"/>
          </a:xfrm>
          <a:prstGeom prst="rect">
            <a:avLst/>
          </a:prstGeom>
          <a:noFill/>
          <a:ln/>
        </p:spPr>
        <p:txBody>
          <a:bodyPr wrap="square" rtlCol="0" anchor="t"/>
          <a:lstStyle/>
          <a:p>
            <a:pPr indent="0" marL="0">
              <a:lnSpc>
                <a:spcPct val="120000"/>
              </a:lnSpc>
              <a:buNone/>
            </a:pPr>
            <a:r>
              <a:rPr lang="en-US" sz="1900" dirty="0">
                <a:solidFill>
                  <a:srgbClr val="1F2328"/>
                </a:solidFill>
                <a:latin typeface="Calibri" pitchFamily="34" charset="0"/>
                <a:ea typeface="Calibri" pitchFamily="34" charset="-122"/>
                <a:cs typeface="Calibri" pitchFamily="34" charset="-120"/>
              </a:rPr>
              <a:t>1.  Name three of the six security controls. For each, state one vulnerability it addresses.</a:t>
            </a:r>
            <a:endParaRPr lang="en-US" sz="1900" dirty="0"/>
          </a:p>
          <a:p>
            <a:pPr indent="0" marL="0">
              <a:lnSpc>
                <a:spcPct val="120000"/>
              </a:lnSpc>
              <a:buNone/>
            </a:pPr>
            <a:endParaRPr lang="en-US" sz="1900" dirty="0"/>
          </a:p>
          <a:p>
            <a:pPr indent="0" marL="0">
              <a:lnSpc>
                <a:spcPct val="120000"/>
              </a:lnSpc>
              <a:buNone/>
            </a:pPr>
            <a:r>
              <a:rPr lang="en-US" sz="1900" dirty="0">
                <a:solidFill>
                  <a:srgbClr val="1F2328"/>
                </a:solidFill>
                <a:latin typeface="Calibri" pitchFamily="34" charset="0"/>
                <a:ea typeface="Calibri" pitchFamily="34" charset="-122"/>
                <a:cs typeface="Calibri" pitchFamily="34" charset="-120"/>
              </a:rPr>
              <a:t>2.  Choose one control and explain one thing it cannot protect against, and why.</a:t>
            </a:r>
            <a:endParaRPr lang="en-US" sz="1900" dirty="0"/>
          </a:p>
          <a:p>
            <a:pPr indent="0" marL="0">
              <a:lnSpc>
                <a:spcPct val="120000"/>
              </a:lnSpc>
              <a:buNone/>
            </a:pPr>
            <a:endParaRPr lang="en-US" sz="1900" dirty="0"/>
          </a:p>
          <a:p>
            <a:pPr indent="0" marL="0">
              <a:lnSpc>
                <a:spcPct val="120000"/>
              </a:lnSpc>
              <a:buNone/>
            </a:pPr>
            <a:r>
              <a:rPr lang="en-US" sz="1900" dirty="0">
                <a:solidFill>
                  <a:srgbClr val="1F2328"/>
                </a:solidFill>
                <a:latin typeface="Calibri" pitchFamily="34" charset="0"/>
                <a:ea typeface="Calibri" pitchFamily="34" charset="-122"/>
                <a:cs typeface="Calibri" pitchFamily="34" charset="-120"/>
              </a:rPr>
              <a:t>3.  Encryption and code review both reduce risk, but in different ways. Which one assumes the attacker has already got in?</a:t>
            </a:r>
            <a:endParaRPr lang="en-US" sz="1900" dirty="0"/>
          </a:p>
          <a:p>
            <a:pPr indent="0" marL="0">
              <a:lnSpc>
                <a:spcPct val="120000"/>
              </a:lnSpc>
              <a:buNone/>
            </a:pPr>
            <a:endParaRPr lang="en-US" sz="1900" dirty="0"/>
          </a:p>
          <a:p>
            <a:pPr indent="0" marL="0">
              <a:lnSpc>
                <a:spcPct val="120000"/>
              </a:lnSpc>
              <a:buNone/>
            </a:pPr>
            <a:r>
              <a:rPr lang="en-US" sz="1900" dirty="0">
                <a:solidFill>
                  <a:srgbClr val="1F2328"/>
                </a:solidFill>
                <a:latin typeface="Calibri" pitchFamily="34" charset="0"/>
                <a:ea typeface="Calibri" pitchFamily="34" charset="-122"/>
                <a:cs typeface="Calibri" pitchFamily="34" charset="-120"/>
              </a:rPr>
              <a:t>4.  Self-rate: which success-criteria tier did you reach today?</a:t>
            </a:r>
            <a:endParaRPr lang="en-US" sz="1900" dirty="0"/>
          </a:p>
        </p:txBody>
      </p:sp>
      <p:sp>
        <p:nvSpPr>
          <p:cNvPr id="10" name="Text 8"/>
          <p:cNvSpPr/>
          <p:nvPr/>
        </p:nvSpPr>
        <p:spPr>
          <a:xfrm>
            <a:off x="566928" y="5532120"/>
            <a:ext cx="8229600" cy="365760"/>
          </a:xfrm>
          <a:prstGeom prst="rect">
            <a:avLst/>
          </a:prstGeom>
          <a:noFill/>
          <a:ln/>
        </p:spPr>
        <p:txBody>
          <a:bodyPr wrap="square" rtlCol="0" anchor="ctr"/>
          <a:lstStyle/>
          <a:p>
            <a:pPr indent="0" marL="0">
              <a:buNone/>
            </a:pPr>
            <a:r>
              <a:rPr lang="en-US" sz="1600" b="1" dirty="0">
                <a:solidFill>
                  <a:srgbClr val="57606A"/>
                </a:solidFill>
                <a:latin typeface="Calibri" pitchFamily="34" charset="0"/>
                <a:ea typeface="Calibri" pitchFamily="34" charset="-122"/>
                <a:cs typeface="Calibri" pitchFamily="34" charset="-120"/>
              </a:rPr>
              <a:t>➤  Record your answers in your workbook — Section 5, Exit Ticket</a:t>
            </a:r>
            <a:endParaRPr lang="en-US" sz="1600" dirty="0"/>
          </a:p>
        </p:txBody>
      </p:sp>
      <p:sp>
        <p:nvSpPr>
          <p:cNvPr id="11" name="Text 9"/>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12" name="Text 10"/>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475488"/>
            <a:ext cx="5486400" cy="274320"/>
          </a:xfrm>
          <a:prstGeom prst="rect">
            <a:avLst/>
          </a:prstGeom>
          <a:noFill/>
          <a:ln/>
        </p:spPr>
        <p:txBody>
          <a:bodyPr wrap="square" lIns="0" tIns="0" rIns="0" bIns="0" rtlCol="0" anchor="ctr"/>
          <a:lstStyle/>
          <a:p>
            <a:pPr indent="0" marL="0">
              <a:buNone/>
            </a:pPr>
            <a:r>
              <a:rPr lang="en-US" sz="1200" b="1" spc="100" kern="0" dirty="0">
                <a:solidFill>
                  <a:srgbClr val="57606A"/>
                </a:solidFill>
                <a:latin typeface="Calibri" pitchFamily="34" charset="0"/>
                <a:ea typeface="Calibri" pitchFamily="34" charset="-122"/>
                <a:cs typeface="Calibri" pitchFamily="34" charset="-120"/>
              </a:rPr>
              <a:t>NEXT STEPS</a:t>
            </a:r>
            <a:endParaRPr lang="en-US" sz="1200" dirty="0"/>
          </a:p>
        </p:txBody>
      </p:sp>
      <p:sp>
        <p:nvSpPr>
          <p:cNvPr id="3" name="Shape 1"/>
          <p:cNvSpPr/>
          <p:nvPr/>
        </p:nvSpPr>
        <p:spPr>
          <a:xfrm>
            <a:off x="8503920" y="228600"/>
            <a:ext cx="3108960" cy="384048"/>
          </a:xfrm>
          <a:prstGeom prst="roundRect">
            <a:avLst>
              <a:gd name="adj" fmla="val 50000"/>
            </a:avLst>
          </a:prstGeom>
          <a:solidFill>
            <a:srgbClr val="4A5260"/>
          </a:solidFill>
          <a:ln/>
        </p:spPr>
      </p:sp>
      <p:sp>
        <p:nvSpPr>
          <p:cNvPr id="4" name="Text 2"/>
          <p:cNvSpPr/>
          <p:nvPr/>
        </p:nvSpPr>
        <p:spPr>
          <a:xfrm>
            <a:off x="8503920" y="228600"/>
            <a:ext cx="3108960" cy="384048"/>
          </a:xfrm>
          <a:prstGeom prst="rect">
            <a:avLst/>
          </a:prstGeom>
          <a:noFill/>
          <a:ln/>
        </p:spPr>
        <p:txBody>
          <a:bodyPr wrap="square"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NEXT STEPS</a:t>
            </a:r>
            <a:endParaRPr lang="en-US" sz="1300" dirty="0"/>
          </a:p>
        </p:txBody>
      </p:sp>
      <p:sp>
        <p:nvSpPr>
          <p:cNvPr id="5" name="Shape 3"/>
          <p:cNvSpPr/>
          <p:nvPr/>
        </p:nvSpPr>
        <p:spPr>
          <a:xfrm>
            <a:off x="9829800" y="731520"/>
            <a:ext cx="1783080" cy="365760"/>
          </a:xfrm>
          <a:prstGeom prst="roundRect">
            <a:avLst>
              <a:gd name="adj" fmla="val 50000"/>
            </a:avLst>
          </a:prstGeom>
          <a:solidFill>
            <a:srgbClr val="FFFFFF"/>
          </a:solidFill>
          <a:ln w="15875">
            <a:solidFill>
              <a:srgbClr val="DDE3ED"/>
            </a:solidFill>
            <a:prstDash val="solid"/>
          </a:ln>
        </p:spPr>
      </p:sp>
      <p:sp>
        <p:nvSpPr>
          <p:cNvPr id="6" name="Text 4"/>
          <p:cNvSpPr/>
          <p:nvPr/>
        </p:nvSpPr>
        <p:spPr>
          <a:xfrm>
            <a:off x="9829800" y="731520"/>
            <a:ext cx="1783080" cy="365760"/>
          </a:xfrm>
          <a:prstGeom prst="rect">
            <a:avLst/>
          </a:prstGeom>
          <a:noFill/>
          <a:ln/>
        </p:spPr>
        <p:txBody>
          <a:bodyPr wrap="square" rtlCol="0" anchor="ctr"/>
          <a:lstStyle/>
          <a:p>
            <a:pPr algn="ctr" indent="0" marL="0">
              <a:buNone/>
            </a:pPr>
            <a:r>
              <a:rPr lang="en-US" sz="1200" b="1" spc="60" kern="0" dirty="0">
                <a:solidFill>
                  <a:srgbClr val="4A5260"/>
                </a:solidFill>
                <a:latin typeface="Calibri" pitchFamily="34" charset="0"/>
                <a:ea typeface="Calibri" pitchFamily="34" charset="-122"/>
                <a:cs typeface="Calibri" pitchFamily="34" charset="-120"/>
              </a:rPr>
              <a:t>OFF DEVICES</a:t>
            </a:r>
            <a:endParaRPr lang="en-US" sz="1200" dirty="0"/>
          </a:p>
        </p:txBody>
      </p:sp>
      <p:sp>
        <p:nvSpPr>
          <p:cNvPr id="7" name="Text 5"/>
          <p:cNvSpPr/>
          <p:nvPr/>
        </p:nvSpPr>
        <p:spPr>
          <a:xfrm>
            <a:off x="548640" y="777240"/>
            <a:ext cx="8229600" cy="548640"/>
          </a:xfrm>
          <a:prstGeom prst="rect">
            <a:avLst/>
          </a:prstGeom>
          <a:noFill/>
          <a:ln/>
        </p:spPr>
        <p:txBody>
          <a:bodyPr wrap="square" lIns="0" tIns="0" rIns="0" bIns="0" rtlCol="0" anchor="ctr"/>
          <a:lstStyle/>
          <a:p>
            <a:pPr indent="0" marL="0">
              <a:buNone/>
            </a:pPr>
            <a:r>
              <a:rPr lang="en-US" sz="3000" b="1" dirty="0">
                <a:solidFill>
                  <a:srgbClr val="1F2328"/>
                </a:solidFill>
                <a:latin typeface="Cambria" pitchFamily="34" charset="0"/>
                <a:ea typeface="Cambria" pitchFamily="34" charset="-122"/>
                <a:cs typeface="Cambria" pitchFamily="34" charset="-120"/>
              </a:rPr>
              <a:t>Where to from here</a:t>
            </a:r>
            <a:endParaRPr lang="en-US" sz="3000" dirty="0"/>
          </a:p>
        </p:txBody>
      </p:sp>
      <p:sp>
        <p:nvSpPr>
          <p:cNvPr id="8" name="Shape 6"/>
          <p:cNvSpPr/>
          <p:nvPr/>
        </p:nvSpPr>
        <p:spPr>
          <a:xfrm>
            <a:off x="548640" y="1600200"/>
            <a:ext cx="5431536" cy="1993392"/>
          </a:xfrm>
          <a:prstGeom prst="roundRect">
            <a:avLst>
              <a:gd name="adj" fmla="val 4587"/>
            </a:avLst>
          </a:prstGeom>
          <a:solidFill>
            <a:srgbClr val="EEF1FE"/>
          </a:solidFill>
          <a:ln/>
        </p:spPr>
      </p:sp>
      <p:sp>
        <p:nvSpPr>
          <p:cNvPr id="9" name="Text 7"/>
          <p:cNvSpPr/>
          <p:nvPr/>
        </p:nvSpPr>
        <p:spPr>
          <a:xfrm>
            <a:off x="841248" y="1801368"/>
            <a:ext cx="4846320" cy="292608"/>
          </a:xfrm>
          <a:prstGeom prst="rect">
            <a:avLst/>
          </a:prstGeom>
          <a:noFill/>
          <a:ln/>
        </p:spPr>
        <p:txBody>
          <a:bodyPr wrap="square" lIns="0" tIns="0" rIns="0" bIns="0" rtlCol="0" anchor="ctr"/>
          <a:lstStyle/>
          <a:p>
            <a:pPr indent="0" marL="0">
              <a:buNone/>
            </a:pPr>
            <a:r>
              <a:rPr lang="en-US" sz="1300" b="1" spc="80" kern="0" dirty="0">
                <a:solidFill>
                  <a:srgbClr val="57606A"/>
                </a:solidFill>
                <a:latin typeface="Calibri" pitchFamily="34" charset="0"/>
                <a:ea typeface="Calibri" pitchFamily="34" charset="-122"/>
                <a:cs typeface="Calibri" pitchFamily="34" charset="-120"/>
              </a:rPr>
              <a:t>NEXT LESSON</a:t>
            </a:r>
            <a:endParaRPr lang="en-US" sz="1300" dirty="0"/>
          </a:p>
        </p:txBody>
      </p:sp>
      <p:sp>
        <p:nvSpPr>
          <p:cNvPr id="10" name="Text 8"/>
          <p:cNvSpPr/>
          <p:nvPr/>
        </p:nvSpPr>
        <p:spPr>
          <a:xfrm>
            <a:off x="841248" y="2167128"/>
            <a:ext cx="4846320" cy="1280160"/>
          </a:xfrm>
          <a:prstGeom prst="rect">
            <a:avLst/>
          </a:prstGeom>
          <a:noFill/>
          <a:ln/>
        </p:spPr>
        <p:txBody>
          <a:bodyPr wrap="square" lIns="0" tIns="0" rIns="0" bIns="0" rtlCol="0" anchor="ctr"/>
          <a:lstStyle/>
          <a:p>
            <a:pPr indent="0" marL="0">
              <a:lnSpc>
                <a:spcPct val="116000"/>
              </a:lnSpc>
              <a:buNone/>
            </a:pPr>
            <a:r>
              <a:rPr lang="en-US" sz="1700" dirty="0">
                <a:solidFill>
                  <a:srgbClr val="1F2328"/>
                </a:solidFill>
                <a:latin typeface="Calibri" pitchFamily="34" charset="0"/>
                <a:ea typeface="Calibri" pitchFamily="34" charset="-122"/>
                <a:cs typeface="Calibri" pitchFamily="34" charset="-120"/>
              </a:rPr>
              <a:t>L5 — Threat Modelling: defining security requirements, identifying and mitigating threats, and confirming that threats have actually been mitigated.</a:t>
            </a:r>
            <a:endParaRPr lang="en-US" sz="1700" dirty="0"/>
          </a:p>
        </p:txBody>
      </p:sp>
      <p:sp>
        <p:nvSpPr>
          <p:cNvPr id="11" name="Shape 9"/>
          <p:cNvSpPr/>
          <p:nvPr/>
        </p:nvSpPr>
        <p:spPr>
          <a:xfrm>
            <a:off x="6199632" y="1600200"/>
            <a:ext cx="5431536" cy="1993392"/>
          </a:xfrm>
          <a:prstGeom prst="roundRect">
            <a:avLst>
              <a:gd name="adj" fmla="val 4587"/>
            </a:avLst>
          </a:prstGeom>
          <a:solidFill>
            <a:srgbClr val="F3EEFD"/>
          </a:solidFill>
          <a:ln/>
        </p:spPr>
      </p:sp>
      <p:sp>
        <p:nvSpPr>
          <p:cNvPr id="12" name="Text 10"/>
          <p:cNvSpPr/>
          <p:nvPr/>
        </p:nvSpPr>
        <p:spPr>
          <a:xfrm>
            <a:off x="6492240" y="1801368"/>
            <a:ext cx="4846320" cy="292608"/>
          </a:xfrm>
          <a:prstGeom prst="rect">
            <a:avLst/>
          </a:prstGeom>
          <a:noFill/>
          <a:ln/>
        </p:spPr>
        <p:txBody>
          <a:bodyPr wrap="square" lIns="0" tIns="0" rIns="0" bIns="0" rtlCol="0" anchor="ctr"/>
          <a:lstStyle/>
          <a:p>
            <a:pPr indent="0" marL="0">
              <a:buNone/>
            </a:pPr>
            <a:r>
              <a:rPr lang="en-US" sz="1300" b="1" spc="80" kern="0" dirty="0">
                <a:solidFill>
                  <a:srgbClr val="57606A"/>
                </a:solidFill>
                <a:latin typeface="Calibri" pitchFamily="34" charset="0"/>
                <a:ea typeface="Calibri" pitchFamily="34" charset="-122"/>
                <a:cs typeface="Calibri" pitchFamily="34" charset="-120"/>
              </a:rPr>
              <a:t>OUTCOME 2 PROGRESS</a:t>
            </a:r>
            <a:endParaRPr lang="en-US" sz="1300" dirty="0"/>
          </a:p>
        </p:txBody>
      </p:sp>
      <p:sp>
        <p:nvSpPr>
          <p:cNvPr id="13" name="Text 11"/>
          <p:cNvSpPr/>
          <p:nvPr/>
        </p:nvSpPr>
        <p:spPr>
          <a:xfrm>
            <a:off x="6492240" y="2167128"/>
            <a:ext cx="4846320" cy="1280160"/>
          </a:xfrm>
          <a:prstGeom prst="rect">
            <a:avLst/>
          </a:prstGeom>
          <a:noFill/>
          <a:ln/>
        </p:spPr>
        <p:txBody>
          <a:bodyPr wrap="square" lIns="0" tIns="0" rIns="0" bIns="0" rtlCol="0" anchor="ctr"/>
          <a:lstStyle/>
          <a:p>
            <a:pPr indent="0" marL="0">
              <a:lnSpc>
                <a:spcPct val="116000"/>
              </a:lnSpc>
              <a:buNone/>
            </a:pPr>
            <a:r>
              <a:rPr lang="en-US" sz="1700" dirty="0">
                <a:solidFill>
                  <a:srgbClr val="1F2328"/>
                </a:solidFill>
                <a:latin typeface="Calibri" pitchFamily="34" charset="0"/>
                <a:ea typeface="Calibri" pitchFamily="34" charset="-122"/>
                <a:cs typeface="Calibri" pitchFamily="34" charset="-120"/>
              </a:rPr>
              <a:t>Key knowledge 4.2.4 is now complete. You can identify vulnerabilities (L2, L3) and name the controls that address them (L4). Next comes the process that connects the two.</a:t>
            </a:r>
            <a:endParaRPr lang="en-US" sz="1700" dirty="0"/>
          </a:p>
        </p:txBody>
      </p:sp>
      <p:sp>
        <p:nvSpPr>
          <p:cNvPr id="14" name="Shape 12"/>
          <p:cNvSpPr/>
          <p:nvPr/>
        </p:nvSpPr>
        <p:spPr>
          <a:xfrm>
            <a:off x="548640" y="3813048"/>
            <a:ext cx="5431536" cy="1993392"/>
          </a:xfrm>
          <a:prstGeom prst="roundRect">
            <a:avLst>
              <a:gd name="adj" fmla="val 4587"/>
            </a:avLst>
          </a:prstGeom>
          <a:solidFill>
            <a:srgbClr val="FEF4E4"/>
          </a:solidFill>
          <a:ln/>
        </p:spPr>
      </p:sp>
      <p:sp>
        <p:nvSpPr>
          <p:cNvPr id="15" name="Text 13"/>
          <p:cNvSpPr/>
          <p:nvPr/>
        </p:nvSpPr>
        <p:spPr>
          <a:xfrm>
            <a:off x="841248" y="4014216"/>
            <a:ext cx="4846320" cy="292608"/>
          </a:xfrm>
          <a:prstGeom prst="rect">
            <a:avLst/>
          </a:prstGeom>
          <a:noFill/>
          <a:ln/>
        </p:spPr>
        <p:txBody>
          <a:bodyPr wrap="square" lIns="0" tIns="0" rIns="0" bIns="0" rtlCol="0" anchor="ctr"/>
          <a:lstStyle/>
          <a:p>
            <a:pPr indent="0" marL="0">
              <a:buNone/>
            </a:pPr>
            <a:r>
              <a:rPr lang="en-US" sz="1300" b="1" spc="80" kern="0" dirty="0">
                <a:solidFill>
                  <a:srgbClr val="57606A"/>
                </a:solidFill>
                <a:latin typeface="Calibri" pitchFamily="34" charset="0"/>
                <a:ea typeface="Calibri" pitchFamily="34" charset="-122"/>
                <a:cs typeface="Calibri" pitchFamily="34" charset="-120"/>
              </a:rPr>
              <a:t>HOMEWORK</a:t>
            </a:r>
            <a:endParaRPr lang="en-US" sz="1300" dirty="0"/>
          </a:p>
        </p:txBody>
      </p:sp>
      <p:sp>
        <p:nvSpPr>
          <p:cNvPr id="16" name="Text 14"/>
          <p:cNvSpPr/>
          <p:nvPr/>
        </p:nvSpPr>
        <p:spPr>
          <a:xfrm>
            <a:off x="841248" y="4379976"/>
            <a:ext cx="4846320" cy="1280160"/>
          </a:xfrm>
          <a:prstGeom prst="rect">
            <a:avLst/>
          </a:prstGeom>
          <a:noFill/>
          <a:ln/>
        </p:spPr>
        <p:txBody>
          <a:bodyPr wrap="square" lIns="0" tIns="0" rIns="0" bIns="0" rtlCol="0" anchor="ctr"/>
          <a:lstStyle/>
          <a:p>
            <a:pPr indent="0" marL="0">
              <a:lnSpc>
                <a:spcPct val="116000"/>
              </a:lnSpc>
              <a:buNone/>
            </a:pPr>
            <a:r>
              <a:rPr lang="en-US" sz="1700" dirty="0">
                <a:solidFill>
                  <a:srgbClr val="1F2328"/>
                </a:solidFill>
                <a:latin typeface="Calibri" pitchFamily="34" charset="0"/>
                <a:ea typeface="Calibri" pitchFamily="34" charset="-122"/>
                <a:cs typeface="Calibri" pitchFamily="34" charset="-120"/>
              </a:rPr>
              <a:t>Return to the organisation in your L1 article. Which of the six controls was missing or ineffective? Write three sentences naming the control and the evidence for your claim.</a:t>
            </a:r>
            <a:endParaRPr lang="en-US" sz="1700" dirty="0"/>
          </a:p>
        </p:txBody>
      </p:sp>
      <p:sp>
        <p:nvSpPr>
          <p:cNvPr id="17" name="Shape 15"/>
          <p:cNvSpPr/>
          <p:nvPr/>
        </p:nvSpPr>
        <p:spPr>
          <a:xfrm>
            <a:off x="6199632" y="3813048"/>
            <a:ext cx="5431536" cy="1993392"/>
          </a:xfrm>
          <a:prstGeom prst="roundRect">
            <a:avLst>
              <a:gd name="adj" fmla="val 4587"/>
            </a:avLst>
          </a:prstGeom>
          <a:solidFill>
            <a:srgbClr val="E9F8F2"/>
          </a:solidFill>
          <a:ln/>
        </p:spPr>
      </p:sp>
      <p:sp>
        <p:nvSpPr>
          <p:cNvPr id="18" name="Text 16"/>
          <p:cNvSpPr/>
          <p:nvPr/>
        </p:nvSpPr>
        <p:spPr>
          <a:xfrm>
            <a:off x="6492240" y="4014216"/>
            <a:ext cx="4846320" cy="292608"/>
          </a:xfrm>
          <a:prstGeom prst="rect">
            <a:avLst/>
          </a:prstGeom>
          <a:noFill/>
          <a:ln/>
        </p:spPr>
        <p:txBody>
          <a:bodyPr wrap="square" lIns="0" tIns="0" rIns="0" bIns="0" rtlCol="0" anchor="ctr"/>
          <a:lstStyle/>
          <a:p>
            <a:pPr indent="0" marL="0">
              <a:buNone/>
            </a:pPr>
            <a:r>
              <a:rPr lang="en-US" sz="1300" b="1" spc="80" kern="0" dirty="0">
                <a:solidFill>
                  <a:srgbClr val="57606A"/>
                </a:solidFill>
                <a:latin typeface="Calibri" pitchFamily="34" charset="0"/>
                <a:ea typeface="Calibri" pitchFamily="34" charset="-122"/>
                <a:cs typeface="Calibri" pitchFamily="34" charset="-120"/>
              </a:rPr>
              <a:t>NEED HELP?</a:t>
            </a:r>
            <a:endParaRPr lang="en-US" sz="1300" dirty="0"/>
          </a:p>
        </p:txBody>
      </p:sp>
      <p:sp>
        <p:nvSpPr>
          <p:cNvPr id="19" name="Text 17"/>
          <p:cNvSpPr/>
          <p:nvPr/>
        </p:nvSpPr>
        <p:spPr>
          <a:xfrm>
            <a:off x="6492240" y="4379976"/>
            <a:ext cx="4846320" cy="1280160"/>
          </a:xfrm>
          <a:prstGeom prst="rect">
            <a:avLst/>
          </a:prstGeom>
          <a:noFill/>
          <a:ln/>
        </p:spPr>
        <p:txBody>
          <a:bodyPr wrap="square" lIns="0" tIns="0" rIns="0" bIns="0" rtlCol="0" anchor="ctr"/>
          <a:lstStyle/>
          <a:p>
            <a:pPr indent="0" marL="0">
              <a:lnSpc>
                <a:spcPct val="116000"/>
              </a:lnSpc>
              <a:buNone/>
            </a:pPr>
            <a:r>
              <a:rPr lang="en-US" sz="1700" dirty="0">
                <a:solidFill>
                  <a:srgbClr val="1F2328"/>
                </a:solidFill>
                <a:latin typeface="Calibri" pitchFamily="34" charset="0"/>
                <a:ea typeface="Calibri" pitchFamily="34" charset="-122"/>
                <a:cs typeface="Calibri" pitchFamily="34" charset="-120"/>
              </a:rPr>
              <a:t>Confusing a control with a mitigation? A control is a standing practice an organisation maintains. A mitigation is what you do about one specific identified threat. Full notes are on the unit site.</a:t>
            </a:r>
            <a:endParaRPr lang="en-US" sz="1700" dirty="0"/>
          </a:p>
        </p:txBody>
      </p:sp>
      <p:sp>
        <p:nvSpPr>
          <p:cNvPr id="20" name="Text 18"/>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000" dirty="0"/>
          </a:p>
        </p:txBody>
      </p:sp>
      <p:sp>
        <p:nvSpPr>
          <p:cNvPr id="21" name="Text 19"/>
          <p:cNvSpPr/>
          <p:nvPr/>
        </p:nvSpPr>
        <p:spPr>
          <a:xfrm>
            <a:off x="11064240" y="6355080"/>
            <a:ext cx="548640" cy="274320"/>
          </a:xfrm>
          <a:prstGeom prst="rect">
            <a:avLst/>
          </a:prstGeom>
          <a:noFill/>
          <a:ln/>
        </p:spPr>
        <p:txBody>
          <a:bodyPr wrap="square" rtlCol="0" anchor="ctr"/>
          <a:lstStyle/>
          <a:p>
            <a:pPr algn="r" indent="0" marL="0">
              <a:buNone/>
            </a:pPr>
            <a:r>
              <a:rPr lang="en-US" sz="1000" dirty="0">
                <a:solidFill>
                  <a:srgbClr val="57606A"/>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L4 — Security Controls</dc:title>
  <dc:subject>PptxGenJS Presentation</dc:subject>
  <dc:creator>EduPortal</dc:creator>
  <cp:lastModifiedBy>EduPortal</cp:lastModifiedBy>
  <cp:revision>1</cp:revision>
  <dcterms:created xsi:type="dcterms:W3CDTF">2026-08-10T03:21:18Z</dcterms:created>
  <dcterms:modified xsi:type="dcterms:W3CDTF">2026-08-10T03:21:18Z</dcterms:modified>
</cp:coreProperties>
</file>