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of 8. Covers the remaining 5 of the 10 sub-points in KK4.2.3 (types of vulnerabilities and risks within insecure development environments) — insider threats, cyber security incidents, risks from third-party software, ineffective code review practices, and combined development/testing/production environments. L2 covered the other 5 (technical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This directly follows on from L2's homework, which asked students to revisit their L1 article against L2's five technical vulnerability types. Today reframes the same article against a people/process lens — useful if any students' articles turn out to be a better fit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Note for students: like L2, this is five vulnerability types in one lesson — pace is brisk by design, and the unit site has full notes for anyone who needs to revisit a topic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Insider threats are consistently the leading cause of data breaches, so this is a strong opener. The three-way split (careless / compromised / malicious) matters for Outcome 2 — students should be able to name which one a given scenario shows, not just that it's an 'insider threat'. Tesla is a strong case because it shows how little time (two weeks) and how ordinary the access (unrelated to his role) needed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Emphasise that 'cyber security incident' is the umbrella term — social engineering is one common way an incident gets triggered. Students often already recognise the five tactics informally; the task is matching the correct label to each described trick, which is what the workbook activity will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Keep this one concrete: most students use third-party libraries or APIs constantly (in games, apps, even their own SAT/SAC projects) without thinking about who's responsible for finding and fixing a flaw in someone else's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Code review is also one of tomorrow's Security Controls (L4) — flag that connection explicitly: today students see what happens when it's done badly, next lesson they'll see what 'doing it well' looks like as a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Capital One is one of the largest breaches directly attributable to combined environments and is well documented, making it a strong worked example. Push pairs past 'they should have separated them' toward specifically why combining environments increases risk (shared access controls, production data visible to testers, insecure code able to reach production untested).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This slide is deliberately structured the same way as L2's mitigation slide — one line per vulnerability type, matched directly to today's five. Point out that many of these mitigations (training, access control, systematic review) will resurface as named Security Controls in 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 Foundation matching activity is auto-markable in the workbook (dropdowns), same pattern as L2. Circulate during Developing and Extending — the Extending case study (a fresh scenario, not covered directly in today's slides) requires students to reason from definitions rather than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physical break connecting back to today's social engineering content without requiring new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If recall is patchy, that's expected given five topics in one lesson — reassure students the unit site has full notes for review before the SAT case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individual and silent. Question 2 is checking for the cross-cutting insight that mitigations often address more than one vulnerability type at once (e.g. training helps against both insider threats and social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last lesson to reuse the L1 homework article, so make that explicit — from L4 onward the focus shifts to security controls rather than vulnerability identification. This lesson also completes coverage of KK4.2.3 in full (10/10 sub-points across L2 and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61EE"/>
        </a:solidFill>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3852D0"/>
          </a:solidFill>
          <a:ln/>
        </p:spPr>
      </p:sp>
      <p:sp>
        <p:nvSpPr>
          <p:cNvPr id="3" name="Shape 1"/>
          <p:cNvSpPr/>
          <p:nvPr/>
        </p:nvSpPr>
        <p:spPr>
          <a:xfrm>
            <a:off x="-1463040" y="4846320"/>
            <a:ext cx="3840480" cy="3840480"/>
          </a:xfrm>
          <a:prstGeom prst="ellipse">
            <a:avLst/>
          </a:prstGeom>
          <a:solidFill>
            <a:srgbClr val="3852D0"/>
          </a:solidFill>
          <a:ln/>
        </p:spPr>
      </p:sp>
      <p:sp>
        <p:nvSpPr>
          <p:cNvPr id="4" name="Shape 2"/>
          <p:cNvSpPr/>
          <p:nvPr/>
        </p:nvSpPr>
        <p:spPr>
          <a:xfrm>
            <a:off x="548640" y="502920"/>
            <a:ext cx="1499616" cy="384048"/>
          </a:xfrm>
          <a:prstGeom prst="roundRect">
            <a:avLst>
              <a:gd name="adj" fmla="val 14286"/>
            </a:avLst>
          </a:prstGeom>
          <a:solidFill>
            <a:srgbClr val="FFFFFF"/>
          </a:solidFill>
          <a:ln/>
        </p:spPr>
      </p:sp>
      <p:sp>
        <p:nvSpPr>
          <p:cNvPr id="5" name="Text 3"/>
          <p:cNvSpPr/>
          <p:nvPr/>
        </p:nvSpPr>
        <p:spPr>
          <a:xfrm>
            <a:off x="548640" y="502920"/>
            <a:ext cx="1499616" cy="384048"/>
          </a:xfrm>
          <a:prstGeom prst="rect">
            <a:avLst/>
          </a:prstGeom>
          <a:noFill/>
          <a:ln/>
        </p:spPr>
        <p:txBody>
          <a:bodyPr wrap="square" lIns="0" tIns="0" rIns="0" bIns="0" rtlCol="0" anchor="ctr"/>
          <a:lstStyle/>
          <a:p>
            <a:pPr algn="ctr" indent="0" marL="0">
              <a:buNone/>
            </a:pPr>
            <a:r>
              <a:rPr lang="en-US" sz="1350" b="1" dirty="0">
                <a:solidFill>
                  <a:srgbClr val="4361EE"/>
                </a:solidFill>
                <a:latin typeface="Calibri" pitchFamily="34" charset="0"/>
                <a:ea typeface="Calibri" pitchFamily="34" charset="-122"/>
                <a:cs typeface="Calibri" pitchFamily="34" charset="-120"/>
              </a:rPr>
              <a:t>LESSON 3</a:t>
            </a:r>
            <a:endParaRPr lang="en-US" sz="1350" dirty="0"/>
          </a:p>
        </p:txBody>
      </p:sp>
      <p:sp>
        <p:nvSpPr>
          <p:cNvPr id="6" name="Text 4"/>
          <p:cNvSpPr/>
          <p:nvPr/>
        </p:nvSpPr>
        <p:spPr>
          <a:xfrm>
            <a:off x="548640" y="2331720"/>
            <a:ext cx="10058400" cy="365760"/>
          </a:xfrm>
          <a:prstGeom prst="rect">
            <a:avLst/>
          </a:prstGeom>
          <a:noFill/>
          <a:ln/>
        </p:spPr>
        <p:txBody>
          <a:bodyPr wrap="square" lIns="0" tIns="0" rIns="0" bIns="0" rtlCol="0" anchor="ctr"/>
          <a:lstStyle/>
          <a:p>
            <a:pPr indent="0" marL="0">
              <a:buNone/>
            </a:pPr>
            <a:r>
              <a:rPr lang="en-US" sz="1500" b="1" dirty="0">
                <a:solidFill>
                  <a:srgbClr val="CFDAFB"/>
                </a:solidFill>
                <a:latin typeface="Calibri" pitchFamily="34" charset="0"/>
                <a:ea typeface="Calibri" pitchFamily="34" charset="-122"/>
                <a:cs typeface="Calibri" pitchFamily="34" charset="-120"/>
              </a:rPr>
              <a:t>VCE SOFTWARE DEVELOPMENT · UNIT 4 · AREA OF STUDY 2</a:t>
            </a:r>
            <a:endParaRPr lang="en-US" sz="1500" dirty="0"/>
          </a:p>
        </p:txBody>
      </p:sp>
      <p:sp>
        <p:nvSpPr>
          <p:cNvPr id="7" name="Text 5"/>
          <p:cNvSpPr/>
          <p:nvPr/>
        </p:nvSpPr>
        <p:spPr>
          <a:xfrm>
            <a:off x="548640" y="2697480"/>
            <a:ext cx="1078992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Vulnerabilities &amp; Risks II:</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People &amp; Process Threats</a:t>
            </a:r>
            <a:endParaRPr lang="en-US" sz="4200" dirty="0"/>
          </a:p>
        </p:txBody>
      </p:sp>
      <p:sp>
        <p:nvSpPr>
          <p:cNvPr id="8" name="Text 6"/>
          <p:cNvSpPr/>
          <p:nvPr/>
        </p:nvSpPr>
        <p:spPr>
          <a:xfrm>
            <a:off x="548640" y="4434840"/>
            <a:ext cx="9601200" cy="822960"/>
          </a:xfrm>
          <a:prstGeom prst="rect">
            <a:avLst/>
          </a:prstGeom>
          <a:noFill/>
          <a:ln/>
        </p:spPr>
        <p:txBody>
          <a:bodyPr wrap="square" lIns="0" tIns="0" rIns="0" bIns="0" rtlCol="0" anchor="ctr"/>
          <a:lstStyle/>
          <a:p>
            <a:pPr indent="0" marL="0">
              <a:buNone/>
            </a:pPr>
            <a:r>
              <a:rPr lang="en-US" sz="1900" dirty="0">
                <a:solidFill>
                  <a:srgbClr val="E4E9FC"/>
                </a:solidFill>
                <a:latin typeface="Calibri" pitchFamily="34" charset="0"/>
                <a:ea typeface="Calibri" pitchFamily="34" charset="-122"/>
                <a:cs typeface="Calibri" pitchFamily="34" charset="-120"/>
              </a:rPr>
              <a:t>Insider threats, cyber security incidents &amp; social engineering, risks from third-party software, ineffective code review, and combined development environments.</a:t>
            </a:r>
            <a:endParaRPr lang="en-US" sz="1900" dirty="0"/>
          </a:p>
        </p:txBody>
      </p:sp>
      <p:sp>
        <p:nvSpPr>
          <p:cNvPr id="9" name="Text 7"/>
          <p:cNvSpPr/>
          <p:nvPr/>
        </p:nvSpPr>
        <p:spPr>
          <a:xfrm>
            <a:off x="548640" y="6263640"/>
            <a:ext cx="7315200" cy="274320"/>
          </a:xfrm>
          <a:prstGeom prst="rect">
            <a:avLst/>
          </a:prstGeom>
          <a:noFill/>
          <a:ln/>
        </p:spPr>
        <p:txBody>
          <a:bodyPr wrap="square" lIns="0" tIns="0" rIns="0" bIns="0" rtlCol="0" anchor="ctr"/>
          <a:lstStyle/>
          <a:p>
            <a:pPr indent="0" marL="0">
              <a:buNone/>
            </a:pPr>
            <a:r>
              <a:rPr lang="en-US" sz="1100" dirty="0">
                <a:solidFill>
                  <a:srgbClr val="AEBBF2"/>
                </a:solidFill>
                <a:latin typeface="Calibri" pitchFamily="34" charset="0"/>
                <a:ea typeface="Calibri" pitchFamily="34" charset="-122"/>
                <a:cs typeface="Calibri" pitchFamily="34" charset="-120"/>
              </a:rPr>
              <a:t>y12-sd-u4-l3-vulnerabilities-risks-ii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2</a:t>
            </a:r>
            <a:endParaRPr lang="en-US" sz="1100" dirty="0"/>
          </a:p>
        </p:txBody>
      </p:sp>
      <p:sp>
        <p:nvSpPr>
          <p:cNvPr id="4" name="Shape 2"/>
          <p:cNvSpPr/>
          <p:nvPr/>
        </p:nvSpPr>
        <p:spPr>
          <a:xfrm>
            <a:off x="10177272" y="274320"/>
            <a:ext cx="1344168" cy="310896"/>
          </a:xfrm>
          <a:prstGeom prst="roundRect">
            <a:avLst>
              <a:gd name="adj" fmla="val 50000"/>
            </a:avLst>
          </a:prstGeom>
          <a:solidFill>
            <a:srgbClr val="F59E0B"/>
          </a:solidFill>
          <a:ln/>
        </p:spPr>
      </p:sp>
      <p:sp>
        <p:nvSpPr>
          <p:cNvPr id="5" name="Text 3"/>
          <p:cNvSpPr/>
          <p:nvPr/>
        </p:nvSpPr>
        <p:spPr>
          <a:xfrm>
            <a:off x="10177272" y="274320"/>
            <a:ext cx="1344168"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WARM UP</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Text 6"/>
          <p:cNvSpPr/>
          <p:nvPr/>
        </p:nvSpPr>
        <p:spPr>
          <a:xfrm>
            <a:off x="548640" y="365760"/>
            <a:ext cx="7315200" cy="292608"/>
          </a:xfrm>
          <a:prstGeom prst="rect">
            <a:avLst/>
          </a:prstGeom>
          <a:noFill/>
          <a:ln/>
        </p:spPr>
        <p:txBody>
          <a:bodyPr wrap="square" lIns="0" tIns="0" rIns="0" bIns="0" rtlCol="0" anchor="ctr"/>
          <a:lstStyle/>
          <a:p>
            <a:pPr indent="0" marL="0">
              <a:buNone/>
            </a:pPr>
            <a:r>
              <a:rPr lang="en-US" sz="1300" b="1" dirty="0">
                <a:solidFill>
                  <a:srgbClr val="4361EE"/>
                </a:solidFill>
                <a:latin typeface="Calibri" pitchFamily="34" charset="0"/>
                <a:ea typeface="Calibri" pitchFamily="34" charset="-122"/>
                <a:cs typeface="Calibri" pitchFamily="34" charset="-120"/>
              </a:rPr>
              <a:t>WARM UP · 5 MINUTES</a:t>
            </a:r>
            <a:endParaRPr lang="en-US" sz="1300" dirty="0"/>
          </a:p>
        </p:txBody>
      </p:sp>
      <p:sp>
        <p:nvSpPr>
          <p:cNvPr id="9" name="Text 7"/>
          <p:cNvSpPr/>
          <p:nvPr/>
        </p:nvSpPr>
        <p:spPr>
          <a:xfrm>
            <a:off x="548640" y="1371600"/>
            <a:ext cx="10789920" cy="1554480"/>
          </a:xfrm>
          <a:prstGeom prst="rect">
            <a:avLst/>
          </a:prstGeom>
          <a:noFill/>
          <a:ln/>
        </p:spPr>
        <p:txBody>
          <a:bodyPr wrap="square" lIns="0" tIns="0" rIns="0" bIns="0" rtlCol="0" anchor="ctr"/>
          <a:lstStyle/>
          <a:p>
            <a:pPr indent="0" marL="0">
              <a:lnSpc>
                <a:spcPct val="108000"/>
              </a:lnSpc>
              <a:buNone/>
            </a:pPr>
            <a:r>
              <a:rPr lang="en-US" sz="3200" b="1" dirty="0">
                <a:solidFill>
                  <a:srgbClr val="1F2328"/>
                </a:solidFill>
                <a:latin typeface="Cambria" pitchFamily="34" charset="0"/>
                <a:ea typeface="Cambria" pitchFamily="34" charset="-122"/>
                <a:cs typeface="Cambria" pitchFamily="34" charset="-120"/>
              </a:rPr>
              <a:t>Homework check: which of last lesson's five threats did your L1 article match?</a:t>
            </a:r>
            <a:endParaRPr lang="en-US" sz="3200" dirty="0"/>
          </a:p>
        </p:txBody>
      </p:sp>
      <p:sp>
        <p:nvSpPr>
          <p:cNvPr id="10" name="Shape 8"/>
          <p:cNvSpPr/>
          <p:nvPr/>
        </p:nvSpPr>
        <p:spPr>
          <a:xfrm>
            <a:off x="548640" y="3246120"/>
            <a:ext cx="10789920" cy="1737360"/>
          </a:xfrm>
          <a:prstGeom prst="roundRect">
            <a:avLst>
              <a:gd name="adj" fmla="val 3158"/>
            </a:avLst>
          </a:prstGeom>
          <a:solidFill>
            <a:srgbClr val="FEF3E0"/>
          </a:solidFill>
          <a:ln/>
        </p:spPr>
      </p:sp>
      <p:sp>
        <p:nvSpPr>
          <p:cNvPr id="11" name="Text 9"/>
          <p:cNvSpPr/>
          <p:nvPr/>
        </p:nvSpPr>
        <p:spPr>
          <a:xfrm>
            <a:off x="822960" y="3429000"/>
            <a:ext cx="10241280" cy="1417320"/>
          </a:xfrm>
          <a:prstGeom prst="rect">
            <a:avLst/>
          </a:prstGeom>
          <a:noFill/>
          <a:ln/>
        </p:spPr>
        <p:txBody>
          <a:bodyPr wrap="square" lIns="0" tIns="0" rIns="0" bIns="0" rtlCol="0" anchor="ctr"/>
          <a:lstStyle/>
          <a:p>
            <a:pPr indent="0" marL="0">
              <a:lnSpc>
                <a:spcPct val="115000"/>
              </a:lnSpc>
              <a:spcAft>
                <a:spcPts val="1000"/>
              </a:spcAft>
              <a:buNone/>
            </a:pPr>
            <a:r>
              <a:rPr lang="en-US" sz="2100" dirty="0">
                <a:solidFill>
                  <a:srgbClr val="1F2328"/>
                </a:solidFill>
                <a:latin typeface="Calibri" pitchFamily="34" charset="0"/>
                <a:ea typeface="Calibri" pitchFamily="34" charset="-122"/>
                <a:cs typeface="Calibri" pitchFamily="34" charset="-120"/>
              </a:rPr>
              <a:t>As a table, see if anyone's article instead shows a threat caused by a person or a process failure — not a purely technical flaw.</a:t>
            </a:r>
            <a:endParaRPr lang="en-US" sz="2100" dirty="0"/>
          </a:p>
          <a:p>
            <a:pPr indent="0" marL="0">
              <a:lnSpc>
                <a:spcPct val="115000"/>
              </a:lnSpc>
              <a:buNone/>
            </a:pPr>
            <a:r>
              <a:rPr lang="en-US" sz="2100" dirty="0">
                <a:solidFill>
                  <a:srgbClr val="1F2328"/>
                </a:solidFill>
                <a:latin typeface="Calibri" pitchFamily="34" charset="0"/>
                <a:ea typeface="Calibri" pitchFamily="34" charset="-122"/>
                <a:cs typeface="Calibri" pitchFamily="34" charset="-120"/>
              </a:rPr>
              <a:t>That's today's shift: same kind of insecure environment, different source of the vulnerability.</a:t>
            </a:r>
            <a:endParaRPr lang="en-US" sz="2100" dirty="0"/>
          </a:p>
        </p:txBody>
      </p:sp>
      <p:sp>
        <p:nvSpPr>
          <p:cNvPr id="12" name="Text 10"/>
          <p:cNvSpPr/>
          <p:nvPr/>
        </p:nvSpPr>
        <p:spPr>
          <a:xfrm>
            <a:off x="548640" y="5349240"/>
            <a:ext cx="10058400" cy="457200"/>
          </a:xfrm>
          <a:prstGeom prst="rect">
            <a:avLst/>
          </a:prstGeom>
          <a:noFill/>
          <a:ln/>
        </p:spPr>
        <p:txBody>
          <a:bodyPr wrap="square" lIns="0" tIns="0" rIns="0" bIns="0" rtlCol="0" anchor="ctr"/>
          <a:lstStyle/>
          <a:p>
            <a:pPr indent="0" marL="0">
              <a:buNone/>
            </a:pPr>
            <a:r>
              <a:rPr lang="en-US" sz="1500" dirty="0">
                <a:solidFill>
                  <a:srgbClr val="57606A"/>
                </a:solidFill>
                <a:latin typeface="Calibri" pitchFamily="34" charset="0"/>
                <a:ea typeface="Calibri" pitchFamily="34" charset="-122"/>
                <a:cs typeface="Calibri" pitchFamily="34" charset="-120"/>
              </a:rPr>
              <a:t>No devices — use your notes from the L1 homework article.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3</a:t>
            </a:r>
            <a:endParaRPr lang="en-US" sz="1100" dirty="0"/>
          </a:p>
        </p:txBody>
      </p:sp>
      <p:sp>
        <p:nvSpPr>
          <p:cNvPr id="4" name="Shape 2"/>
          <p:cNvSpPr/>
          <p:nvPr/>
        </p:nvSpPr>
        <p:spPr>
          <a:xfrm>
            <a:off x="8567928" y="274320"/>
            <a:ext cx="2953512" cy="310896"/>
          </a:xfrm>
          <a:prstGeom prst="roundRect">
            <a:avLst>
              <a:gd name="adj" fmla="val 50000"/>
            </a:avLst>
          </a:prstGeom>
          <a:solidFill>
            <a:srgbClr val="4361EE"/>
          </a:solidFill>
          <a:ln/>
        </p:spPr>
      </p:sp>
      <p:sp>
        <p:nvSpPr>
          <p:cNvPr id="5" name="Text 3"/>
          <p:cNvSpPr/>
          <p:nvPr/>
        </p:nvSpPr>
        <p:spPr>
          <a:xfrm>
            <a:off x="8567928" y="274320"/>
            <a:ext cx="2953512"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LEARNING OBJECTIVE</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Text 6"/>
          <p:cNvSpPr/>
          <p:nvPr/>
        </p:nvSpPr>
        <p:spPr>
          <a:xfrm>
            <a:off x="548640" y="365760"/>
            <a:ext cx="7315200" cy="292608"/>
          </a:xfrm>
          <a:prstGeom prst="rect">
            <a:avLst/>
          </a:prstGeom>
          <a:noFill/>
          <a:ln/>
        </p:spPr>
        <p:txBody>
          <a:bodyPr wrap="square" lIns="0" tIns="0" rIns="0" bIns="0" rtlCol="0" anchor="ctr"/>
          <a:lstStyle/>
          <a:p>
            <a:pPr indent="0" marL="0">
              <a:buNone/>
            </a:pPr>
            <a:r>
              <a:rPr lang="en-US" sz="1300" b="1" dirty="0">
                <a:solidFill>
                  <a:srgbClr val="4361EE"/>
                </a:solidFill>
                <a:latin typeface="Calibri" pitchFamily="34" charset="0"/>
                <a:ea typeface="Calibri" pitchFamily="34" charset="-122"/>
                <a:cs typeface="Calibri" pitchFamily="34" charset="-120"/>
              </a:rPr>
              <a:t>LEARNING OBJECTIVE</a:t>
            </a:r>
            <a:endParaRPr lang="en-US" sz="1300" dirty="0"/>
          </a:p>
        </p:txBody>
      </p:sp>
      <p:sp>
        <p:nvSpPr>
          <p:cNvPr id="9" name="Text 7"/>
          <p:cNvSpPr/>
          <p:nvPr/>
        </p:nvSpPr>
        <p:spPr>
          <a:xfrm>
            <a:off x="548640" y="868680"/>
            <a:ext cx="10789920" cy="1234440"/>
          </a:xfrm>
          <a:prstGeom prst="rect">
            <a:avLst/>
          </a:prstGeom>
          <a:noFill/>
          <a:ln/>
        </p:spPr>
        <p:txBody>
          <a:bodyPr wrap="square" lIns="0" tIns="0" rIns="0" bIns="0" rtlCol="0" anchor="ctr"/>
          <a:lstStyle/>
          <a:p>
            <a:pPr indent="0" marL="0">
              <a:lnSpc>
                <a:spcPct val="110000"/>
              </a:lnSpc>
              <a:buNone/>
            </a:pPr>
            <a:r>
              <a:rPr lang="en-US" sz="2400" b="1" dirty="0">
                <a:solidFill>
                  <a:srgbClr val="1F2328"/>
                </a:solidFill>
                <a:latin typeface="Cambria" pitchFamily="34" charset="0"/>
                <a:ea typeface="Cambria" pitchFamily="34" charset="-122"/>
                <a:cs typeface="Cambria" pitchFamily="34" charset="-120"/>
              </a:rPr>
              <a:t>To identify and describe how insider threats, cyber security incidents, risks from third-party software, ineffective code review, and combined development environments create vulnerabilities in insecure development environments.</a:t>
            </a:r>
            <a:endParaRPr lang="en-US" sz="2400" dirty="0"/>
          </a:p>
        </p:txBody>
      </p:sp>
      <p:sp>
        <p:nvSpPr>
          <p:cNvPr id="10" name="Shape 8"/>
          <p:cNvSpPr/>
          <p:nvPr/>
        </p:nvSpPr>
        <p:spPr>
          <a:xfrm>
            <a:off x="548640" y="2240280"/>
            <a:ext cx="3456432" cy="4069080"/>
          </a:xfrm>
          <a:prstGeom prst="roundRect">
            <a:avLst>
              <a:gd name="adj" fmla="val 2116"/>
            </a:avLst>
          </a:prstGeom>
          <a:solidFill>
            <a:srgbClr val="E7F9F1"/>
          </a:solidFill>
          <a:ln/>
        </p:spPr>
      </p:sp>
      <p:sp>
        <p:nvSpPr>
          <p:cNvPr id="11" name="Text 9"/>
          <p:cNvSpPr/>
          <p:nvPr/>
        </p:nvSpPr>
        <p:spPr>
          <a:xfrm>
            <a:off x="777240" y="2441448"/>
            <a:ext cx="2999232" cy="384048"/>
          </a:xfrm>
          <a:prstGeom prst="rect">
            <a:avLst/>
          </a:prstGeom>
          <a:noFill/>
          <a:ln/>
        </p:spPr>
        <p:txBody>
          <a:bodyPr wrap="square" lIns="0" tIns="0" rIns="0" bIns="0" rtlCol="0" anchor="ctr"/>
          <a:lstStyle/>
          <a:p>
            <a:pPr indent="0" marL="0">
              <a:buNone/>
            </a:pPr>
            <a:r>
              <a:rPr lang="en-US" sz="1550" b="1" dirty="0">
                <a:solidFill>
                  <a:srgbClr val="10B981"/>
                </a:solidFill>
                <a:latin typeface="Calibri" pitchFamily="34" charset="0"/>
                <a:ea typeface="Calibri" pitchFamily="34" charset="-122"/>
                <a:cs typeface="Calibri" pitchFamily="34" charset="-120"/>
              </a:rPr>
              <a:t>🟢  FOUNDATION</a:t>
            </a:r>
            <a:endParaRPr lang="en-US" sz="1550" dirty="0"/>
          </a:p>
        </p:txBody>
      </p:sp>
      <p:sp>
        <p:nvSpPr>
          <p:cNvPr id="12" name="Text 10"/>
          <p:cNvSpPr/>
          <p:nvPr/>
        </p:nvSpPr>
        <p:spPr>
          <a:xfrm>
            <a:off x="777240" y="2953512"/>
            <a:ext cx="2999232" cy="3136392"/>
          </a:xfrm>
          <a:prstGeom prst="rect">
            <a:avLst/>
          </a:prstGeom>
          <a:noFill/>
          <a:ln/>
        </p:spPr>
        <p:txBody>
          <a:bodyPr wrap="square" lIns="0" tIns="0" rIns="0" bIns="0" rtlCol="0" anchor="t"/>
          <a:lstStyle/>
          <a:p>
            <a:pPr indent="0" marL="0">
              <a:lnSpc>
                <a:spcPct val="115000"/>
              </a:lnSpc>
              <a:buNone/>
            </a:pPr>
            <a:r>
              <a:rPr lang="en-US" sz="1950" dirty="0">
                <a:solidFill>
                  <a:srgbClr val="1F2328"/>
                </a:solidFill>
                <a:latin typeface="Calibri" pitchFamily="34" charset="0"/>
                <a:ea typeface="Calibri" pitchFamily="34" charset="-122"/>
                <a:cs typeface="Calibri" pitchFamily="34" charset="-120"/>
              </a:rPr>
              <a:t>I can define each of today's five vulnerability types and give a real example of each.</a:t>
            </a:r>
            <a:endParaRPr lang="en-US" sz="1950" dirty="0"/>
          </a:p>
        </p:txBody>
      </p:sp>
      <p:sp>
        <p:nvSpPr>
          <p:cNvPr id="13" name="Shape 11"/>
          <p:cNvSpPr/>
          <p:nvPr/>
        </p:nvSpPr>
        <p:spPr>
          <a:xfrm>
            <a:off x="4206240" y="2240280"/>
            <a:ext cx="3456432" cy="4069080"/>
          </a:xfrm>
          <a:prstGeom prst="roundRect">
            <a:avLst>
              <a:gd name="adj" fmla="val 2116"/>
            </a:avLst>
          </a:prstGeom>
          <a:solidFill>
            <a:srgbClr val="FEF3E0"/>
          </a:solidFill>
          <a:ln/>
        </p:spPr>
      </p:sp>
      <p:sp>
        <p:nvSpPr>
          <p:cNvPr id="14" name="Text 12"/>
          <p:cNvSpPr/>
          <p:nvPr/>
        </p:nvSpPr>
        <p:spPr>
          <a:xfrm>
            <a:off x="4434840" y="2441448"/>
            <a:ext cx="2999232" cy="384048"/>
          </a:xfrm>
          <a:prstGeom prst="rect">
            <a:avLst/>
          </a:prstGeom>
          <a:noFill/>
          <a:ln/>
        </p:spPr>
        <p:txBody>
          <a:bodyPr wrap="square" lIns="0" tIns="0" rIns="0" bIns="0" rtlCol="0" anchor="ctr"/>
          <a:lstStyle/>
          <a:p>
            <a:pPr indent="0" marL="0">
              <a:buNone/>
            </a:pPr>
            <a:r>
              <a:rPr lang="en-US" sz="1550" b="1" dirty="0">
                <a:solidFill>
                  <a:srgbClr val="F59E0B"/>
                </a:solidFill>
                <a:latin typeface="Calibri" pitchFamily="34" charset="0"/>
                <a:ea typeface="Calibri" pitchFamily="34" charset="-122"/>
                <a:cs typeface="Calibri" pitchFamily="34" charset="-120"/>
              </a:rPr>
              <a:t>🟡  DEVELOPING</a:t>
            </a:r>
            <a:endParaRPr lang="en-US" sz="1550" dirty="0"/>
          </a:p>
        </p:txBody>
      </p:sp>
      <p:sp>
        <p:nvSpPr>
          <p:cNvPr id="15" name="Text 13"/>
          <p:cNvSpPr/>
          <p:nvPr/>
        </p:nvSpPr>
        <p:spPr>
          <a:xfrm>
            <a:off x="4434840" y="2953512"/>
            <a:ext cx="2999232" cy="3136392"/>
          </a:xfrm>
          <a:prstGeom prst="rect">
            <a:avLst/>
          </a:prstGeom>
          <a:noFill/>
          <a:ln/>
        </p:spPr>
        <p:txBody>
          <a:bodyPr wrap="square" lIns="0" tIns="0" rIns="0" bIns="0" rtlCol="0" anchor="t"/>
          <a:lstStyle/>
          <a:p>
            <a:pPr indent="0" marL="0">
              <a:lnSpc>
                <a:spcPct val="115000"/>
              </a:lnSpc>
              <a:buNone/>
            </a:pPr>
            <a:r>
              <a:rPr lang="en-US" sz="1950" dirty="0">
                <a:solidFill>
                  <a:srgbClr val="1F2328"/>
                </a:solidFill>
                <a:latin typeface="Calibri" pitchFamily="34" charset="0"/>
                <a:ea typeface="Calibri" pitchFamily="34" charset="-122"/>
                <a:cs typeface="Calibri" pitchFamily="34" charset="-120"/>
              </a:rPr>
              <a:t>I can explain, for a given vulnerability type, what specifically makes it exploitable and one consequence for an organisation.</a:t>
            </a:r>
            <a:endParaRPr lang="en-US" sz="1950" dirty="0"/>
          </a:p>
        </p:txBody>
      </p:sp>
      <p:sp>
        <p:nvSpPr>
          <p:cNvPr id="16" name="Shape 14"/>
          <p:cNvSpPr/>
          <p:nvPr/>
        </p:nvSpPr>
        <p:spPr>
          <a:xfrm>
            <a:off x="7863840" y="2240280"/>
            <a:ext cx="3456432" cy="4069080"/>
          </a:xfrm>
          <a:prstGeom prst="roundRect">
            <a:avLst>
              <a:gd name="adj" fmla="val 2116"/>
            </a:avLst>
          </a:prstGeom>
          <a:solidFill>
            <a:srgbClr val="F2ECFC"/>
          </a:solidFill>
          <a:ln/>
        </p:spPr>
      </p:sp>
      <p:sp>
        <p:nvSpPr>
          <p:cNvPr id="17" name="Text 15"/>
          <p:cNvSpPr/>
          <p:nvPr/>
        </p:nvSpPr>
        <p:spPr>
          <a:xfrm>
            <a:off x="8092440" y="2441448"/>
            <a:ext cx="2999232" cy="384048"/>
          </a:xfrm>
          <a:prstGeom prst="rect">
            <a:avLst/>
          </a:prstGeom>
          <a:noFill/>
          <a:ln/>
        </p:spPr>
        <p:txBody>
          <a:bodyPr wrap="square" lIns="0" tIns="0" rIns="0" bIns="0" rtlCol="0" anchor="ctr"/>
          <a:lstStyle/>
          <a:p>
            <a:pPr indent="0" marL="0">
              <a:buNone/>
            </a:pPr>
            <a:r>
              <a:rPr lang="en-US" sz="1550" b="1" dirty="0">
                <a:solidFill>
                  <a:srgbClr val="8B5CF6"/>
                </a:solidFill>
                <a:latin typeface="Calibri" pitchFamily="34" charset="0"/>
                <a:ea typeface="Calibri" pitchFamily="34" charset="-122"/>
                <a:cs typeface="Calibri" pitchFamily="34" charset="-120"/>
              </a:rPr>
              <a:t>🟣  EXTENDING</a:t>
            </a:r>
            <a:endParaRPr lang="en-US" sz="1550" dirty="0"/>
          </a:p>
        </p:txBody>
      </p:sp>
      <p:sp>
        <p:nvSpPr>
          <p:cNvPr id="18" name="Text 16"/>
          <p:cNvSpPr/>
          <p:nvPr/>
        </p:nvSpPr>
        <p:spPr>
          <a:xfrm>
            <a:off x="8092440" y="2953512"/>
            <a:ext cx="2999232" cy="3136392"/>
          </a:xfrm>
          <a:prstGeom prst="rect">
            <a:avLst/>
          </a:prstGeom>
          <a:noFill/>
          <a:ln/>
        </p:spPr>
        <p:txBody>
          <a:bodyPr wrap="square" lIns="0" tIns="0" rIns="0" bIns="0" rtlCol="0" anchor="t"/>
          <a:lstStyle/>
          <a:p>
            <a:pPr indent="0" marL="0">
              <a:lnSpc>
                <a:spcPct val="115000"/>
              </a:lnSpc>
              <a:buNone/>
            </a:pPr>
            <a:r>
              <a:rPr lang="en-US" sz="1950" dirty="0">
                <a:solidFill>
                  <a:srgbClr val="1F2328"/>
                </a:solidFill>
                <a:latin typeface="Calibri" pitchFamily="34" charset="0"/>
                <a:ea typeface="Calibri" pitchFamily="34" charset="-122"/>
                <a:cs typeface="Calibri" pitchFamily="34" charset="-120"/>
              </a:rPr>
              <a:t>I can analyse a scenario and identify which vulnerability type(s) are present, with justification, and propose a matching mitigation.</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4</a:t>
            </a:r>
            <a:endParaRPr lang="en-US" sz="1100" dirty="0"/>
          </a:p>
        </p:txBody>
      </p:sp>
      <p:sp>
        <p:nvSpPr>
          <p:cNvPr id="4" name="Shape 2"/>
          <p:cNvSpPr/>
          <p:nvPr/>
        </p:nvSpPr>
        <p:spPr>
          <a:xfrm>
            <a:off x="8275320" y="274320"/>
            <a:ext cx="3246120" cy="310896"/>
          </a:xfrm>
          <a:prstGeom prst="roundRect">
            <a:avLst>
              <a:gd name="adj" fmla="val 50000"/>
            </a:avLst>
          </a:prstGeom>
          <a:solidFill>
            <a:srgbClr val="4361EE"/>
          </a:solidFill>
          <a:ln/>
        </p:spPr>
      </p:sp>
      <p:sp>
        <p:nvSpPr>
          <p:cNvPr id="5" name="Text 3"/>
          <p:cNvSpPr/>
          <p:nvPr/>
        </p:nvSpPr>
        <p:spPr>
          <a:xfrm>
            <a:off x="8275320" y="274320"/>
            <a:ext cx="324612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Shape 6"/>
          <p:cNvSpPr/>
          <p:nvPr/>
        </p:nvSpPr>
        <p:spPr>
          <a:xfrm>
            <a:off x="548640" y="713232"/>
            <a:ext cx="457200" cy="457200"/>
          </a:xfrm>
          <a:prstGeom prst="roundRect">
            <a:avLst>
              <a:gd name="adj" fmla="val 50000"/>
            </a:avLst>
          </a:prstGeom>
          <a:solidFill>
            <a:srgbClr val="4361EE"/>
          </a:solidFill>
          <a:ln/>
        </p:spPr>
      </p:sp>
      <p:sp>
        <p:nvSpPr>
          <p:cNvPr id="9" name="Text 7"/>
          <p:cNvSpPr/>
          <p:nvPr/>
        </p:nvSpPr>
        <p:spPr>
          <a:xfrm>
            <a:off x="548640" y="713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143000" y="713232"/>
            <a:ext cx="7315200" cy="219456"/>
          </a:xfrm>
          <a:prstGeom prst="rect">
            <a:avLst/>
          </a:prstGeom>
          <a:noFill/>
          <a:ln/>
        </p:spPr>
        <p:txBody>
          <a:bodyPr wrap="square" lIns="0" tIns="0" rIns="0" bIns="0" rtlCol="0" anchor="ctr"/>
          <a:lstStyle/>
          <a:p>
            <a:pPr indent="0" marL="0">
              <a:buNone/>
            </a:pPr>
            <a:r>
              <a:rPr lang="en-US" sz="1150" b="1"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11" name="Text 9"/>
          <p:cNvSpPr/>
          <p:nvPr/>
        </p:nvSpPr>
        <p:spPr>
          <a:xfrm>
            <a:off x="1143000" y="914400"/>
            <a:ext cx="96012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Insider threats</a:t>
            </a:r>
            <a:endParaRPr lang="en-US" sz="2700" dirty="0"/>
          </a:p>
        </p:txBody>
      </p:sp>
      <p:sp>
        <p:nvSpPr>
          <p:cNvPr id="12" name="Shape 10"/>
          <p:cNvSpPr/>
          <p:nvPr/>
        </p:nvSpPr>
        <p:spPr>
          <a:xfrm>
            <a:off x="8778240" y="731520"/>
            <a:ext cx="2880360" cy="420624"/>
          </a:xfrm>
          <a:prstGeom prst="roundRect">
            <a:avLst>
              <a:gd name="adj" fmla="val 17391"/>
            </a:avLst>
          </a:prstGeom>
          <a:solidFill>
            <a:srgbClr val="FEF3E0"/>
          </a:solidFill>
          <a:ln/>
        </p:spPr>
      </p:sp>
      <p:sp>
        <p:nvSpPr>
          <p:cNvPr id="13" name="Text 11"/>
          <p:cNvSpPr/>
          <p:nvPr/>
        </p:nvSpPr>
        <p:spPr>
          <a:xfrm>
            <a:off x="8778240" y="731520"/>
            <a:ext cx="2880360" cy="420624"/>
          </a:xfrm>
          <a:prstGeom prst="rect">
            <a:avLst/>
          </a:prstGeom>
          <a:noFill/>
          <a:ln/>
        </p:spPr>
        <p:txBody>
          <a:bodyPr wrap="square" lIns="0" tIns="0" rIns="0" bIns="0" rtlCol="0" anchor="ctr"/>
          <a:lstStyle/>
          <a:p>
            <a:pPr algn="ctr" indent="0" marL="0">
              <a:buNone/>
            </a:pPr>
            <a:r>
              <a:rPr lang="en-US" sz="1350" b="1"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4" name="Text 12"/>
          <p:cNvSpPr/>
          <p:nvPr/>
        </p:nvSpPr>
        <p:spPr>
          <a:xfrm>
            <a:off x="1143000" y="1691640"/>
            <a:ext cx="9784080" cy="416052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Insiders are people a business trusts — employees, contractors, vendors or partners — who abuse privileged access to systems and data.</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Three types: careless insiders (accidental — human error, a misdirected email); compromised insiders (credentials stolen and misused by an outsider); malicious insiders (intentional — data breach, fraud, IP theft, or sabotage).</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Case study: Tesla (2020). A former engineer, Alex Khatilov, used two weeks of ordinary access to copy 6,000 internal scripts — unrelated to his job — to his personal Dropbox before the transfer was discovered.</a:t>
            </a:r>
            <a:endParaRPr lang="en-US" sz="2400" dirty="0"/>
          </a:p>
        </p:txBody>
      </p:sp>
      <p:sp>
        <p:nvSpPr>
          <p:cNvPr id="15" name="Text 13"/>
          <p:cNvSpPr/>
          <p:nvPr/>
        </p:nvSpPr>
        <p:spPr>
          <a:xfrm>
            <a:off x="1143000" y="6080760"/>
            <a:ext cx="9692640" cy="320040"/>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Nelson Software Development VCE Units 3&amp;4, 2E — pp.250–252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5</a:t>
            </a:r>
            <a:endParaRPr lang="en-US" sz="1100" dirty="0"/>
          </a:p>
        </p:txBody>
      </p:sp>
      <p:sp>
        <p:nvSpPr>
          <p:cNvPr id="4" name="Shape 2"/>
          <p:cNvSpPr/>
          <p:nvPr/>
        </p:nvSpPr>
        <p:spPr>
          <a:xfrm>
            <a:off x="8275320" y="274320"/>
            <a:ext cx="3246120" cy="310896"/>
          </a:xfrm>
          <a:prstGeom prst="roundRect">
            <a:avLst>
              <a:gd name="adj" fmla="val 50000"/>
            </a:avLst>
          </a:prstGeom>
          <a:solidFill>
            <a:srgbClr val="4361EE"/>
          </a:solidFill>
          <a:ln/>
        </p:spPr>
      </p:sp>
      <p:sp>
        <p:nvSpPr>
          <p:cNvPr id="5" name="Text 3"/>
          <p:cNvSpPr/>
          <p:nvPr/>
        </p:nvSpPr>
        <p:spPr>
          <a:xfrm>
            <a:off x="8275320" y="274320"/>
            <a:ext cx="324612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Shape 6"/>
          <p:cNvSpPr/>
          <p:nvPr/>
        </p:nvSpPr>
        <p:spPr>
          <a:xfrm>
            <a:off x="548640" y="713232"/>
            <a:ext cx="457200" cy="457200"/>
          </a:xfrm>
          <a:prstGeom prst="roundRect">
            <a:avLst>
              <a:gd name="adj" fmla="val 50000"/>
            </a:avLst>
          </a:prstGeom>
          <a:solidFill>
            <a:srgbClr val="4361EE"/>
          </a:solidFill>
          <a:ln/>
        </p:spPr>
      </p:sp>
      <p:sp>
        <p:nvSpPr>
          <p:cNvPr id="9" name="Text 7"/>
          <p:cNvSpPr/>
          <p:nvPr/>
        </p:nvSpPr>
        <p:spPr>
          <a:xfrm>
            <a:off x="548640" y="713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143000" y="713232"/>
            <a:ext cx="7315200" cy="219456"/>
          </a:xfrm>
          <a:prstGeom prst="rect">
            <a:avLst/>
          </a:prstGeom>
          <a:noFill/>
          <a:ln/>
        </p:spPr>
        <p:txBody>
          <a:bodyPr wrap="square" lIns="0" tIns="0" rIns="0" bIns="0" rtlCol="0" anchor="ctr"/>
          <a:lstStyle/>
          <a:p>
            <a:pPr indent="0" marL="0">
              <a:buNone/>
            </a:pPr>
            <a:r>
              <a:rPr lang="en-US" sz="1150" b="1"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11" name="Text 9"/>
          <p:cNvSpPr/>
          <p:nvPr/>
        </p:nvSpPr>
        <p:spPr>
          <a:xfrm>
            <a:off x="1143000" y="914400"/>
            <a:ext cx="96012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Cyber security incidents &amp; social engineering</a:t>
            </a:r>
            <a:endParaRPr lang="en-US" sz="2700" dirty="0"/>
          </a:p>
        </p:txBody>
      </p:sp>
      <p:sp>
        <p:nvSpPr>
          <p:cNvPr id="12" name="Shape 10"/>
          <p:cNvSpPr/>
          <p:nvPr/>
        </p:nvSpPr>
        <p:spPr>
          <a:xfrm>
            <a:off x="8778240" y="731520"/>
            <a:ext cx="2880360" cy="420624"/>
          </a:xfrm>
          <a:prstGeom prst="roundRect">
            <a:avLst>
              <a:gd name="adj" fmla="val 17391"/>
            </a:avLst>
          </a:prstGeom>
          <a:solidFill>
            <a:srgbClr val="FEF3E0"/>
          </a:solidFill>
          <a:ln/>
        </p:spPr>
      </p:sp>
      <p:sp>
        <p:nvSpPr>
          <p:cNvPr id="13" name="Text 11"/>
          <p:cNvSpPr/>
          <p:nvPr/>
        </p:nvSpPr>
        <p:spPr>
          <a:xfrm>
            <a:off x="8778240" y="731520"/>
            <a:ext cx="2880360" cy="420624"/>
          </a:xfrm>
          <a:prstGeom prst="rect">
            <a:avLst/>
          </a:prstGeom>
          <a:noFill/>
          <a:ln/>
        </p:spPr>
        <p:txBody>
          <a:bodyPr wrap="square" lIns="0" tIns="0" rIns="0" bIns="0" rtlCol="0" anchor="ctr"/>
          <a:lstStyle/>
          <a:p>
            <a:pPr algn="ctr" indent="0" marL="0">
              <a:buNone/>
            </a:pPr>
            <a:r>
              <a:rPr lang="en-US" sz="1350" b="1"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4" name="Text 12"/>
          <p:cNvSpPr/>
          <p:nvPr/>
        </p:nvSpPr>
        <p:spPr>
          <a:xfrm>
            <a:off x="1143000" y="1691640"/>
            <a:ext cx="9784080" cy="416052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A cyber security incident exploits weaknesses in systems, networks or applications, leading to unauthorised access, data breaches, financial loss and reputational damage.</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Social engineering isn't really about computing — it manipulates human trust rather than attacking code, using flattery, urgency, or the illusion that ‘everyone is doing it’.</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Common tactics: phishing (fake urgent messages); spear phishing (targets one high-value victim); pretexting (a fabricated scenario extracts information); baiting (a tempting download/USB carries malware); pharming (a poisoned DNS redirects to a fake site).</a:t>
            </a:r>
            <a:endParaRPr lang="en-US" sz="2400" dirty="0"/>
          </a:p>
        </p:txBody>
      </p:sp>
      <p:sp>
        <p:nvSpPr>
          <p:cNvPr id="15" name="Text 13"/>
          <p:cNvSpPr/>
          <p:nvPr/>
        </p:nvSpPr>
        <p:spPr>
          <a:xfrm>
            <a:off x="1143000" y="6080760"/>
            <a:ext cx="9692640" cy="320040"/>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Nelson Software Development VCE Units 3&amp;4, 2E — pp.253–254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6</a:t>
            </a:r>
            <a:endParaRPr lang="en-US" sz="1100" dirty="0"/>
          </a:p>
        </p:txBody>
      </p:sp>
      <p:sp>
        <p:nvSpPr>
          <p:cNvPr id="4" name="Shape 2"/>
          <p:cNvSpPr/>
          <p:nvPr/>
        </p:nvSpPr>
        <p:spPr>
          <a:xfrm>
            <a:off x="8275320" y="274320"/>
            <a:ext cx="3246120" cy="310896"/>
          </a:xfrm>
          <a:prstGeom prst="roundRect">
            <a:avLst>
              <a:gd name="adj" fmla="val 50000"/>
            </a:avLst>
          </a:prstGeom>
          <a:solidFill>
            <a:srgbClr val="4361EE"/>
          </a:solidFill>
          <a:ln/>
        </p:spPr>
      </p:sp>
      <p:sp>
        <p:nvSpPr>
          <p:cNvPr id="5" name="Text 3"/>
          <p:cNvSpPr/>
          <p:nvPr/>
        </p:nvSpPr>
        <p:spPr>
          <a:xfrm>
            <a:off x="8275320" y="274320"/>
            <a:ext cx="324612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Shape 6"/>
          <p:cNvSpPr/>
          <p:nvPr/>
        </p:nvSpPr>
        <p:spPr>
          <a:xfrm>
            <a:off x="548640" y="713232"/>
            <a:ext cx="457200" cy="457200"/>
          </a:xfrm>
          <a:prstGeom prst="roundRect">
            <a:avLst>
              <a:gd name="adj" fmla="val 50000"/>
            </a:avLst>
          </a:prstGeom>
          <a:solidFill>
            <a:srgbClr val="4361EE"/>
          </a:solidFill>
          <a:ln/>
        </p:spPr>
      </p:sp>
      <p:sp>
        <p:nvSpPr>
          <p:cNvPr id="9" name="Text 7"/>
          <p:cNvSpPr/>
          <p:nvPr/>
        </p:nvSpPr>
        <p:spPr>
          <a:xfrm>
            <a:off x="548640" y="713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0" name="Text 8"/>
          <p:cNvSpPr/>
          <p:nvPr/>
        </p:nvSpPr>
        <p:spPr>
          <a:xfrm>
            <a:off x="1143000" y="713232"/>
            <a:ext cx="7315200" cy="219456"/>
          </a:xfrm>
          <a:prstGeom prst="rect">
            <a:avLst/>
          </a:prstGeom>
          <a:noFill/>
          <a:ln/>
        </p:spPr>
        <p:txBody>
          <a:bodyPr wrap="square" lIns="0" tIns="0" rIns="0" bIns="0" rtlCol="0" anchor="ctr"/>
          <a:lstStyle/>
          <a:p>
            <a:pPr indent="0" marL="0">
              <a:buNone/>
            </a:pPr>
            <a:r>
              <a:rPr lang="en-US" sz="1150" b="1"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11" name="Text 9"/>
          <p:cNvSpPr/>
          <p:nvPr/>
        </p:nvSpPr>
        <p:spPr>
          <a:xfrm>
            <a:off x="1143000" y="914400"/>
            <a:ext cx="96012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Risks from software acquired by third parties</a:t>
            </a:r>
            <a:endParaRPr lang="en-US" sz="2700" dirty="0"/>
          </a:p>
        </p:txBody>
      </p:sp>
      <p:sp>
        <p:nvSpPr>
          <p:cNvPr id="12" name="Shape 10"/>
          <p:cNvSpPr/>
          <p:nvPr/>
        </p:nvSpPr>
        <p:spPr>
          <a:xfrm>
            <a:off x="8778240" y="731520"/>
            <a:ext cx="2880360" cy="420624"/>
          </a:xfrm>
          <a:prstGeom prst="roundRect">
            <a:avLst>
              <a:gd name="adj" fmla="val 17391"/>
            </a:avLst>
          </a:prstGeom>
          <a:solidFill>
            <a:srgbClr val="FEF3E0"/>
          </a:solidFill>
          <a:ln/>
        </p:spPr>
      </p:sp>
      <p:sp>
        <p:nvSpPr>
          <p:cNvPr id="13" name="Text 11"/>
          <p:cNvSpPr/>
          <p:nvPr/>
        </p:nvSpPr>
        <p:spPr>
          <a:xfrm>
            <a:off x="8778240" y="731520"/>
            <a:ext cx="2880360" cy="420624"/>
          </a:xfrm>
          <a:prstGeom prst="rect">
            <a:avLst/>
          </a:prstGeom>
          <a:noFill/>
          <a:ln/>
        </p:spPr>
        <p:txBody>
          <a:bodyPr wrap="square" lIns="0" tIns="0" rIns="0" bIns="0" rtlCol="0" anchor="ctr"/>
          <a:lstStyle/>
          <a:p>
            <a:pPr algn="ctr" indent="0" marL="0">
              <a:buNone/>
            </a:pPr>
            <a:r>
              <a:rPr lang="en-US" sz="1350" b="1"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4" name="Text 12"/>
          <p:cNvSpPr/>
          <p:nvPr/>
        </p:nvSpPr>
        <p:spPr>
          <a:xfrm>
            <a:off x="1143000" y="1691640"/>
            <a:ext cx="9784080" cy="416052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Subscription and registered-software models rely on the vendor to notify users and release patches — the organisation using the software has little visibility or control over that timeline.</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Third-party libraries, components and APIs can introduce security weaknesses that aren't visible to the developers using them: the contents of a library may be restricted from view and impossible to inspect directly.</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Integrated code that hasn't been tested is an increasing threat. All third-party components should be tested and approved before being incorporated into production code.</a:t>
            </a:r>
            <a:endParaRPr lang="en-US" sz="2400" dirty="0"/>
          </a:p>
        </p:txBody>
      </p:sp>
      <p:sp>
        <p:nvSpPr>
          <p:cNvPr id="15" name="Text 13"/>
          <p:cNvSpPr/>
          <p:nvPr/>
        </p:nvSpPr>
        <p:spPr>
          <a:xfrm>
            <a:off x="1143000" y="6080760"/>
            <a:ext cx="9692640" cy="320040"/>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Nelson Software Development VCE Units 3&amp;4, 2E — p.259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7</a:t>
            </a:r>
            <a:endParaRPr lang="en-US" sz="1100" dirty="0"/>
          </a:p>
        </p:txBody>
      </p:sp>
      <p:sp>
        <p:nvSpPr>
          <p:cNvPr id="4" name="Shape 2"/>
          <p:cNvSpPr/>
          <p:nvPr/>
        </p:nvSpPr>
        <p:spPr>
          <a:xfrm>
            <a:off x="8275320" y="274320"/>
            <a:ext cx="3246120" cy="310896"/>
          </a:xfrm>
          <a:prstGeom prst="roundRect">
            <a:avLst>
              <a:gd name="adj" fmla="val 50000"/>
            </a:avLst>
          </a:prstGeom>
          <a:solidFill>
            <a:srgbClr val="4361EE"/>
          </a:solidFill>
          <a:ln/>
        </p:spPr>
      </p:sp>
      <p:sp>
        <p:nvSpPr>
          <p:cNvPr id="5" name="Text 3"/>
          <p:cNvSpPr/>
          <p:nvPr/>
        </p:nvSpPr>
        <p:spPr>
          <a:xfrm>
            <a:off x="8275320" y="274320"/>
            <a:ext cx="324612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Shape 6"/>
          <p:cNvSpPr/>
          <p:nvPr/>
        </p:nvSpPr>
        <p:spPr>
          <a:xfrm>
            <a:off x="548640" y="713232"/>
            <a:ext cx="457200" cy="457200"/>
          </a:xfrm>
          <a:prstGeom prst="roundRect">
            <a:avLst>
              <a:gd name="adj" fmla="val 50000"/>
            </a:avLst>
          </a:prstGeom>
          <a:solidFill>
            <a:srgbClr val="4361EE"/>
          </a:solidFill>
          <a:ln/>
        </p:spPr>
      </p:sp>
      <p:sp>
        <p:nvSpPr>
          <p:cNvPr id="9" name="Text 7"/>
          <p:cNvSpPr/>
          <p:nvPr/>
        </p:nvSpPr>
        <p:spPr>
          <a:xfrm>
            <a:off x="548640" y="713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Text 8"/>
          <p:cNvSpPr/>
          <p:nvPr/>
        </p:nvSpPr>
        <p:spPr>
          <a:xfrm>
            <a:off x="1143000" y="713232"/>
            <a:ext cx="7315200" cy="219456"/>
          </a:xfrm>
          <a:prstGeom prst="rect">
            <a:avLst/>
          </a:prstGeom>
          <a:noFill/>
          <a:ln/>
        </p:spPr>
        <p:txBody>
          <a:bodyPr wrap="square" lIns="0" tIns="0" rIns="0" bIns="0" rtlCol="0" anchor="ctr"/>
          <a:lstStyle/>
          <a:p>
            <a:pPr indent="0" marL="0">
              <a:buNone/>
            </a:pPr>
            <a:r>
              <a:rPr lang="en-US" sz="1150" b="1"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11" name="Text 9"/>
          <p:cNvSpPr/>
          <p:nvPr/>
        </p:nvSpPr>
        <p:spPr>
          <a:xfrm>
            <a:off x="1143000" y="914400"/>
            <a:ext cx="96012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Ineffective code review practices</a:t>
            </a:r>
            <a:endParaRPr lang="en-US" sz="2700" dirty="0"/>
          </a:p>
        </p:txBody>
      </p:sp>
      <p:sp>
        <p:nvSpPr>
          <p:cNvPr id="12" name="Shape 10"/>
          <p:cNvSpPr/>
          <p:nvPr/>
        </p:nvSpPr>
        <p:spPr>
          <a:xfrm>
            <a:off x="8778240" y="731520"/>
            <a:ext cx="2880360" cy="420624"/>
          </a:xfrm>
          <a:prstGeom prst="roundRect">
            <a:avLst>
              <a:gd name="adj" fmla="val 17391"/>
            </a:avLst>
          </a:prstGeom>
          <a:solidFill>
            <a:srgbClr val="FEF3E0"/>
          </a:solidFill>
          <a:ln/>
        </p:spPr>
      </p:sp>
      <p:sp>
        <p:nvSpPr>
          <p:cNvPr id="13" name="Text 11"/>
          <p:cNvSpPr/>
          <p:nvPr/>
        </p:nvSpPr>
        <p:spPr>
          <a:xfrm>
            <a:off x="8778240" y="731520"/>
            <a:ext cx="2880360" cy="420624"/>
          </a:xfrm>
          <a:prstGeom prst="rect">
            <a:avLst/>
          </a:prstGeom>
          <a:noFill/>
          <a:ln/>
        </p:spPr>
        <p:txBody>
          <a:bodyPr wrap="square" lIns="0" tIns="0" rIns="0" bIns="0" rtlCol="0" anchor="ctr"/>
          <a:lstStyle/>
          <a:p>
            <a:pPr algn="ctr" indent="0" marL="0">
              <a:buNone/>
            </a:pPr>
            <a:r>
              <a:rPr lang="en-US" sz="1350" b="1"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4" name="Text 12"/>
          <p:cNvSpPr/>
          <p:nvPr/>
        </p:nvSpPr>
        <p:spPr>
          <a:xfrm>
            <a:off x="1143000" y="1691640"/>
            <a:ext cx="9784080" cy="416052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Code review is one of the strongest security controls available — but only when it's done properly. Inconsistent, rushed or superficial reviews let critical issues slip through undetected.</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Flaws that ineffective review commonly misses include buffer overflows and SQL injection vulnerabilities — issues a systematic review is well placed to catch, but a careless one is likely to wave through.</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Consequence: insecure software reaches deployment, creating real risk of data breaches, system outages and compromised user data down the line.</a:t>
            </a:r>
            <a:endParaRPr lang="en-US" sz="2400" dirty="0"/>
          </a:p>
        </p:txBody>
      </p:sp>
      <p:sp>
        <p:nvSpPr>
          <p:cNvPr id="15" name="Text 13"/>
          <p:cNvSpPr/>
          <p:nvPr/>
        </p:nvSpPr>
        <p:spPr>
          <a:xfrm>
            <a:off x="1143000" y="6080760"/>
            <a:ext cx="9692640" cy="320040"/>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Nelson Software Development VCE Units 3&amp;4, 2E — p.260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8</a:t>
            </a:r>
            <a:endParaRPr lang="en-US" sz="1100" dirty="0"/>
          </a:p>
        </p:txBody>
      </p:sp>
      <p:sp>
        <p:nvSpPr>
          <p:cNvPr id="4" name="Shape 2"/>
          <p:cNvSpPr/>
          <p:nvPr/>
        </p:nvSpPr>
        <p:spPr>
          <a:xfrm>
            <a:off x="8275320" y="274320"/>
            <a:ext cx="3246120" cy="310896"/>
          </a:xfrm>
          <a:prstGeom prst="roundRect">
            <a:avLst>
              <a:gd name="adj" fmla="val 50000"/>
            </a:avLst>
          </a:prstGeom>
          <a:solidFill>
            <a:srgbClr val="4361EE"/>
          </a:solidFill>
          <a:ln/>
        </p:spPr>
      </p:sp>
      <p:sp>
        <p:nvSpPr>
          <p:cNvPr id="5" name="Text 3"/>
          <p:cNvSpPr/>
          <p:nvPr/>
        </p:nvSpPr>
        <p:spPr>
          <a:xfrm>
            <a:off x="8275320" y="274320"/>
            <a:ext cx="324612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Shape 6"/>
          <p:cNvSpPr/>
          <p:nvPr/>
        </p:nvSpPr>
        <p:spPr>
          <a:xfrm>
            <a:off x="548640" y="713232"/>
            <a:ext cx="457200" cy="457200"/>
          </a:xfrm>
          <a:prstGeom prst="roundRect">
            <a:avLst>
              <a:gd name="adj" fmla="val 50000"/>
            </a:avLst>
          </a:prstGeom>
          <a:solidFill>
            <a:srgbClr val="4361EE"/>
          </a:solidFill>
          <a:ln/>
        </p:spPr>
      </p:sp>
      <p:sp>
        <p:nvSpPr>
          <p:cNvPr id="9" name="Text 7"/>
          <p:cNvSpPr/>
          <p:nvPr/>
        </p:nvSpPr>
        <p:spPr>
          <a:xfrm>
            <a:off x="548640" y="713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0" name="Text 8"/>
          <p:cNvSpPr/>
          <p:nvPr/>
        </p:nvSpPr>
        <p:spPr>
          <a:xfrm>
            <a:off x="1143000" y="713232"/>
            <a:ext cx="7315200" cy="219456"/>
          </a:xfrm>
          <a:prstGeom prst="rect">
            <a:avLst/>
          </a:prstGeom>
          <a:noFill/>
          <a:ln/>
        </p:spPr>
        <p:txBody>
          <a:bodyPr wrap="square" lIns="0" tIns="0" rIns="0" bIns="0" rtlCol="0" anchor="ctr"/>
          <a:lstStyle/>
          <a:p>
            <a:pPr indent="0" marL="0">
              <a:buNone/>
            </a:pPr>
            <a:r>
              <a:rPr lang="en-US" sz="1150" b="1" dirty="0">
                <a:solidFill>
                  <a:srgbClr val="57606A"/>
                </a:solidFill>
                <a:latin typeface="Calibri" pitchFamily="34" charset="0"/>
                <a:ea typeface="Calibri" pitchFamily="34" charset="-122"/>
                <a:cs typeface="Calibri" pitchFamily="34" charset="-120"/>
              </a:rPr>
              <a:t>WORKED EXAMPLE</a:t>
            </a:r>
            <a:endParaRPr lang="en-US" sz="1150" dirty="0"/>
          </a:p>
        </p:txBody>
      </p:sp>
      <p:sp>
        <p:nvSpPr>
          <p:cNvPr id="11" name="Text 9"/>
          <p:cNvSpPr/>
          <p:nvPr/>
        </p:nvSpPr>
        <p:spPr>
          <a:xfrm>
            <a:off x="1143000" y="914400"/>
            <a:ext cx="996696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Combined development, testing &amp; production environments</a:t>
            </a:r>
            <a:endParaRPr lang="en-US" sz="2700" dirty="0"/>
          </a:p>
        </p:txBody>
      </p:sp>
      <p:sp>
        <p:nvSpPr>
          <p:cNvPr id="12" name="Text 10"/>
          <p:cNvSpPr/>
          <p:nvPr/>
        </p:nvSpPr>
        <p:spPr>
          <a:xfrm>
            <a:off x="1143000" y="1691640"/>
            <a:ext cx="9692640" cy="274320"/>
          </a:xfrm>
          <a:prstGeom prst="rect">
            <a:avLst/>
          </a:prstGeom>
          <a:noFill/>
          <a:ln/>
        </p:spPr>
        <p:txBody>
          <a:bodyPr wrap="square" lIns="0" tIns="0" rIns="0" bIns="0"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 THINK / PAIR / SHARE</a:t>
            </a:r>
            <a:endParaRPr lang="en-US" sz="1300" dirty="0"/>
          </a:p>
        </p:txBody>
      </p:sp>
      <p:sp>
        <p:nvSpPr>
          <p:cNvPr id="13" name="Text 11"/>
          <p:cNvSpPr/>
          <p:nvPr/>
        </p:nvSpPr>
        <p:spPr>
          <a:xfrm>
            <a:off x="1143000" y="2057400"/>
            <a:ext cx="9692640" cy="1508760"/>
          </a:xfrm>
          <a:prstGeom prst="rect">
            <a:avLst/>
          </a:prstGeom>
          <a:noFill/>
          <a:ln/>
        </p:spPr>
        <p:txBody>
          <a:bodyPr wrap="square" lIns="0" tIns="0" rIns="0" bIns="0" rtlCol="0" anchor="ctr"/>
          <a:lstStyle/>
          <a:p>
            <a:pPr indent="0" marL="0">
              <a:lnSpc>
                <a:spcPct val="115000"/>
              </a:lnSpc>
              <a:buNone/>
            </a:pPr>
            <a:r>
              <a:rPr lang="en-US" sz="2100" b="1" dirty="0">
                <a:solidFill>
                  <a:srgbClr val="1F2328"/>
                </a:solidFill>
                <a:latin typeface="Cambria" pitchFamily="34" charset="0"/>
                <a:ea typeface="Cambria" pitchFamily="34" charset="-122"/>
                <a:cs typeface="Cambria" pitchFamily="34" charset="-120"/>
              </a:rPr>
              <a:t>Capital One (2019): a vulnerability in a web application firewall let an attacker exploit configuration weaknesses spanning Capital One's combined development and production environments — exposing personal data, including bank account details, for over 100 million customers.</a:t>
            </a:r>
            <a:endParaRPr lang="en-US" sz="2100" dirty="0"/>
          </a:p>
        </p:txBody>
      </p:sp>
      <p:sp>
        <p:nvSpPr>
          <p:cNvPr id="14" name="Text 12"/>
          <p:cNvSpPr/>
          <p:nvPr/>
        </p:nvSpPr>
        <p:spPr>
          <a:xfrm>
            <a:off x="1143000" y="3703320"/>
            <a:ext cx="9692640" cy="237744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What does ‘combining’ development, testing and production actually mean in practice?</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Why might a developer or tester end up with access to real, sensitive production data in a combined setup?</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What's one specific way separating these environments would have reduced the impact of this breach?</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9</a:t>
            </a:r>
            <a:endParaRPr lang="en-US" sz="1100" dirty="0"/>
          </a:p>
        </p:txBody>
      </p:sp>
      <p:sp>
        <p:nvSpPr>
          <p:cNvPr id="4" name="Shape 2"/>
          <p:cNvSpPr/>
          <p:nvPr/>
        </p:nvSpPr>
        <p:spPr>
          <a:xfrm>
            <a:off x="8275320" y="274320"/>
            <a:ext cx="3246120" cy="310896"/>
          </a:xfrm>
          <a:prstGeom prst="roundRect">
            <a:avLst>
              <a:gd name="adj" fmla="val 50000"/>
            </a:avLst>
          </a:prstGeom>
          <a:solidFill>
            <a:srgbClr val="4361EE"/>
          </a:solidFill>
          <a:ln/>
        </p:spPr>
      </p:sp>
      <p:sp>
        <p:nvSpPr>
          <p:cNvPr id="5" name="Text 3"/>
          <p:cNvSpPr/>
          <p:nvPr/>
        </p:nvSpPr>
        <p:spPr>
          <a:xfrm>
            <a:off x="8275320" y="274320"/>
            <a:ext cx="324612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Shape 6"/>
          <p:cNvSpPr/>
          <p:nvPr/>
        </p:nvSpPr>
        <p:spPr>
          <a:xfrm>
            <a:off x="548640" y="713232"/>
            <a:ext cx="457200" cy="457200"/>
          </a:xfrm>
          <a:prstGeom prst="roundRect">
            <a:avLst>
              <a:gd name="adj" fmla="val 50000"/>
            </a:avLst>
          </a:prstGeom>
          <a:solidFill>
            <a:srgbClr val="4361EE"/>
          </a:solidFill>
          <a:ln/>
        </p:spPr>
      </p:sp>
      <p:sp>
        <p:nvSpPr>
          <p:cNvPr id="9" name="Text 7"/>
          <p:cNvSpPr/>
          <p:nvPr/>
        </p:nvSpPr>
        <p:spPr>
          <a:xfrm>
            <a:off x="548640" y="713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10" name="Text 8"/>
          <p:cNvSpPr/>
          <p:nvPr/>
        </p:nvSpPr>
        <p:spPr>
          <a:xfrm>
            <a:off x="1143000" y="713232"/>
            <a:ext cx="7315200" cy="219456"/>
          </a:xfrm>
          <a:prstGeom prst="rect">
            <a:avLst/>
          </a:prstGeom>
          <a:noFill/>
          <a:ln/>
        </p:spPr>
        <p:txBody>
          <a:bodyPr wrap="square" lIns="0" tIns="0" rIns="0" bIns="0" rtlCol="0" anchor="ctr"/>
          <a:lstStyle/>
          <a:p>
            <a:pPr indent="0" marL="0">
              <a:buNone/>
            </a:pPr>
            <a:r>
              <a:rPr lang="en-US" sz="1150" b="1" dirty="0">
                <a:solidFill>
                  <a:srgbClr val="57606A"/>
                </a:solidFill>
                <a:latin typeface="Calibri" pitchFamily="34" charset="0"/>
                <a:ea typeface="Calibri" pitchFamily="34" charset="-122"/>
                <a:cs typeface="Calibri" pitchFamily="34" charset="-120"/>
              </a:rPr>
              <a:t>EXPLICIT EXPLANATION</a:t>
            </a:r>
            <a:endParaRPr lang="en-US" sz="1150" dirty="0"/>
          </a:p>
        </p:txBody>
      </p:sp>
      <p:sp>
        <p:nvSpPr>
          <p:cNvPr id="11" name="Text 9"/>
          <p:cNvSpPr/>
          <p:nvPr/>
        </p:nvSpPr>
        <p:spPr>
          <a:xfrm>
            <a:off x="1143000" y="914400"/>
            <a:ext cx="96012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Mitigating today's five risks</a:t>
            </a:r>
            <a:endParaRPr lang="en-US" sz="2700" dirty="0"/>
          </a:p>
        </p:txBody>
      </p:sp>
      <p:sp>
        <p:nvSpPr>
          <p:cNvPr id="12" name="Shape 10"/>
          <p:cNvSpPr/>
          <p:nvPr/>
        </p:nvSpPr>
        <p:spPr>
          <a:xfrm>
            <a:off x="8778240" y="731520"/>
            <a:ext cx="2880360" cy="420624"/>
          </a:xfrm>
          <a:prstGeom prst="roundRect">
            <a:avLst>
              <a:gd name="adj" fmla="val 17391"/>
            </a:avLst>
          </a:prstGeom>
          <a:solidFill>
            <a:srgbClr val="FEF3E0"/>
          </a:solidFill>
          <a:ln/>
        </p:spPr>
      </p:sp>
      <p:sp>
        <p:nvSpPr>
          <p:cNvPr id="13" name="Text 11"/>
          <p:cNvSpPr/>
          <p:nvPr/>
        </p:nvSpPr>
        <p:spPr>
          <a:xfrm>
            <a:off x="8778240" y="731520"/>
            <a:ext cx="2880360" cy="420624"/>
          </a:xfrm>
          <a:prstGeom prst="rect">
            <a:avLst/>
          </a:prstGeom>
          <a:noFill/>
          <a:ln/>
        </p:spPr>
        <p:txBody>
          <a:bodyPr wrap="square" lIns="0" tIns="0" rIns="0" bIns="0" rtlCol="0" anchor="ctr"/>
          <a:lstStyle/>
          <a:p>
            <a:pPr algn="ctr" indent="0" marL="0">
              <a:buNone/>
            </a:pPr>
            <a:r>
              <a:rPr lang="en-US" sz="1350" b="1" dirty="0">
                <a:solidFill>
                  <a:srgbClr val="946200"/>
                </a:solidFill>
                <a:latin typeface="Calibri" pitchFamily="34" charset="0"/>
                <a:ea typeface="Calibri" pitchFamily="34" charset="-122"/>
                <a:cs typeface="Calibri" pitchFamily="34" charset="-120"/>
              </a:rPr>
              <a:t>📋 COPY TO WORKBOOK</a:t>
            </a:r>
            <a:endParaRPr lang="en-US" sz="1350" dirty="0"/>
          </a:p>
        </p:txBody>
      </p:sp>
      <p:sp>
        <p:nvSpPr>
          <p:cNvPr id="14" name="Text 12"/>
          <p:cNvSpPr/>
          <p:nvPr/>
        </p:nvSpPr>
        <p:spPr>
          <a:xfrm>
            <a:off x="1143000" y="1691640"/>
            <a:ext cx="9784080" cy="4160520"/>
          </a:xfrm>
          <a:prstGeom prst="rect">
            <a:avLst/>
          </a:prstGeom>
          <a:noFill/>
          <a:ln/>
        </p:spPr>
        <p:txBody>
          <a:bodyPr wrap="square" lIns="0" tIns="0" rIns="0" bIns="0" rtlCol="0" anchor="t"/>
          <a:lstStyle/>
          <a:p>
            <a:pPr indent="0" marL="0">
              <a:lnSpc>
                <a:spcPct val="112000"/>
              </a:lnSpc>
              <a:spcAft>
                <a:spcPts val="1400"/>
              </a:spcAft>
              <a:buNone/>
            </a:pPr>
            <a:r>
              <a:rPr lang="en-US" sz="2100" b="1" dirty="0">
                <a:solidFill>
                  <a:srgbClr val="1F2328"/>
                </a:solidFill>
                <a:latin typeface="Calibri" pitchFamily="34" charset="0"/>
                <a:ea typeface="Calibri" pitchFamily="34" charset="-122"/>
                <a:cs typeface="Calibri" pitchFamily="34" charset="-120"/>
              </a:rPr>
              <a:t>•  Insider threats</a:t>
            </a:r>
            <a:pPr indent="0" marL="0">
              <a:lnSpc>
                <a:spcPct val="112000"/>
              </a:lnSpc>
              <a:spcAft>
                <a:spcPts val="1400"/>
              </a:spcAft>
              <a:buNone/>
            </a:pPr>
            <a:r>
              <a:rPr lang="en-US" sz="2100" dirty="0">
                <a:solidFill>
                  <a:srgbClr val="1F2328"/>
                </a:solidFill>
                <a:latin typeface="Calibri" pitchFamily="34" charset="0"/>
                <a:ea typeface="Calibri" pitchFamily="34" charset="-122"/>
                <a:cs typeface="Calibri" pitchFamily="34" charset="-120"/>
              </a:rPr>
              <a:t> — least-privilege access, activity monitoring, and a clear offboarding process for departing staff.</a:t>
            </a:r>
            <a:endParaRPr lang="en-US" sz="2100" dirty="0"/>
          </a:p>
          <a:p>
            <a:pPr indent="0" marL="0">
              <a:lnSpc>
                <a:spcPct val="112000"/>
              </a:lnSpc>
              <a:spcAft>
                <a:spcPts val="1400"/>
              </a:spcAft>
              <a:buNone/>
            </a:pPr>
            <a:r>
              <a:rPr lang="en-US" sz="2100" b="1" dirty="0">
                <a:solidFill>
                  <a:srgbClr val="1F2328"/>
                </a:solidFill>
                <a:latin typeface="Calibri" pitchFamily="34" charset="0"/>
                <a:ea typeface="Calibri" pitchFamily="34" charset="-122"/>
                <a:cs typeface="Calibri" pitchFamily="34" charset="-120"/>
              </a:rPr>
              <a:t>•  Social engineering</a:t>
            </a:r>
            <a:pPr indent="0" marL="0">
              <a:lnSpc>
                <a:spcPct val="112000"/>
              </a:lnSpc>
              <a:spcAft>
                <a:spcPts val="1400"/>
              </a:spcAft>
              <a:buNone/>
            </a:pPr>
            <a:r>
              <a:rPr lang="en-US" sz="2100" dirty="0">
                <a:solidFill>
                  <a:srgbClr val="1F2328"/>
                </a:solidFill>
                <a:latin typeface="Calibri" pitchFamily="34" charset="0"/>
                <a:ea typeface="Calibri" pitchFamily="34" charset="-122"/>
                <a:cs typeface="Calibri" pitchFamily="34" charset="-120"/>
              </a:rPr>
              <a:t> — regular staff training, verified reporting channels, and multi-factor authentication.</a:t>
            </a:r>
            <a:endParaRPr lang="en-US" sz="2100" dirty="0"/>
          </a:p>
          <a:p>
            <a:pPr indent="0" marL="0">
              <a:lnSpc>
                <a:spcPct val="112000"/>
              </a:lnSpc>
              <a:spcAft>
                <a:spcPts val="1400"/>
              </a:spcAft>
              <a:buNone/>
            </a:pPr>
            <a:r>
              <a:rPr lang="en-US" sz="2100" b="1" dirty="0">
                <a:solidFill>
                  <a:srgbClr val="1F2328"/>
                </a:solidFill>
                <a:latin typeface="Calibri" pitchFamily="34" charset="0"/>
                <a:ea typeface="Calibri" pitchFamily="34" charset="-122"/>
                <a:cs typeface="Calibri" pitchFamily="34" charset="-120"/>
              </a:rPr>
              <a:t>•  Third-party software</a:t>
            </a:r>
            <a:pPr indent="0" marL="0">
              <a:lnSpc>
                <a:spcPct val="112000"/>
              </a:lnSpc>
              <a:spcAft>
                <a:spcPts val="1400"/>
              </a:spcAft>
              <a:buNone/>
            </a:pPr>
            <a:r>
              <a:rPr lang="en-US" sz="2100" dirty="0">
                <a:solidFill>
                  <a:srgbClr val="1F2328"/>
                </a:solidFill>
                <a:latin typeface="Calibri" pitchFamily="34" charset="0"/>
                <a:ea typeface="Calibri" pitchFamily="34" charset="-122"/>
                <a:cs typeface="Calibri" pitchFamily="34" charset="-120"/>
              </a:rPr>
              <a:t> — test and approve every library, component or API before it reaches production code.</a:t>
            </a:r>
            <a:endParaRPr lang="en-US" sz="2100" dirty="0"/>
          </a:p>
          <a:p>
            <a:pPr indent="0" marL="0">
              <a:lnSpc>
                <a:spcPct val="112000"/>
              </a:lnSpc>
              <a:spcAft>
                <a:spcPts val="1400"/>
              </a:spcAft>
              <a:buNone/>
            </a:pPr>
            <a:r>
              <a:rPr lang="en-US" sz="2100" b="1" dirty="0">
                <a:solidFill>
                  <a:srgbClr val="1F2328"/>
                </a:solidFill>
                <a:latin typeface="Calibri" pitchFamily="34" charset="0"/>
                <a:ea typeface="Calibri" pitchFamily="34" charset="-122"/>
                <a:cs typeface="Calibri" pitchFamily="34" charset="-120"/>
              </a:rPr>
              <a:t>•  Ineffective code review</a:t>
            </a:r>
            <a:pPr indent="0" marL="0">
              <a:lnSpc>
                <a:spcPct val="112000"/>
              </a:lnSpc>
              <a:spcAft>
                <a:spcPts val="1400"/>
              </a:spcAft>
              <a:buNone/>
            </a:pPr>
            <a:r>
              <a:rPr lang="en-US" sz="2100" dirty="0">
                <a:solidFill>
                  <a:srgbClr val="1F2328"/>
                </a:solidFill>
                <a:latin typeface="Calibri" pitchFamily="34" charset="0"/>
                <a:ea typeface="Calibri" pitchFamily="34" charset="-122"/>
                <a:cs typeface="Calibri" pitchFamily="34" charset="-120"/>
              </a:rPr>
              <a:t> — make review comprehensive and systematic, never optional or rushed.</a:t>
            </a:r>
            <a:endParaRPr lang="en-US" sz="2100" dirty="0"/>
          </a:p>
          <a:p>
            <a:pPr indent="0" marL="0">
              <a:lnSpc>
                <a:spcPct val="112000"/>
              </a:lnSpc>
              <a:spcAft>
                <a:spcPts val="1400"/>
              </a:spcAft>
              <a:buNone/>
            </a:pPr>
            <a:r>
              <a:rPr lang="en-US" sz="2100" b="1" dirty="0">
                <a:solidFill>
                  <a:srgbClr val="1F2328"/>
                </a:solidFill>
                <a:latin typeface="Calibri" pitchFamily="34" charset="0"/>
                <a:ea typeface="Calibri" pitchFamily="34" charset="-122"/>
                <a:cs typeface="Calibri" pitchFamily="34" charset="-120"/>
              </a:rPr>
              <a:t>•  Combined environments</a:t>
            </a:r>
            <a:pPr indent="0" marL="0">
              <a:lnSpc>
                <a:spcPct val="112000"/>
              </a:lnSpc>
              <a:spcAft>
                <a:spcPts val="1400"/>
              </a:spcAft>
              <a:buNone/>
            </a:pPr>
            <a:r>
              <a:rPr lang="en-US" sz="2100" dirty="0">
                <a:solidFill>
                  <a:srgbClr val="1F2328"/>
                </a:solidFill>
                <a:latin typeface="Calibri" pitchFamily="34" charset="0"/>
                <a:ea typeface="Calibri" pitchFamily="34" charset="-122"/>
                <a:cs typeface="Calibri" pitchFamily="34" charset="-120"/>
              </a:rPr>
              <a:t> — separate development, testing and production, each with its own access controls.</a:t>
            </a:r>
            <a:endParaRPr lang="en-US" sz="2100" dirty="0"/>
          </a:p>
        </p:txBody>
      </p:sp>
      <p:sp>
        <p:nvSpPr>
          <p:cNvPr id="15" name="Text 13"/>
          <p:cNvSpPr/>
          <p:nvPr/>
        </p:nvSpPr>
        <p:spPr>
          <a:xfrm>
            <a:off x="1143000" y="6080760"/>
            <a:ext cx="9692640" cy="320040"/>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Nelson Software Development VCE Units 3&amp;4, 2E — pp.259–261 (mitigation measures)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10</a:t>
            </a:r>
            <a:endParaRPr lang="en-US" sz="1100" dirty="0"/>
          </a:p>
        </p:txBody>
      </p:sp>
      <p:sp>
        <p:nvSpPr>
          <p:cNvPr id="4" name="Shape 2"/>
          <p:cNvSpPr/>
          <p:nvPr/>
        </p:nvSpPr>
        <p:spPr>
          <a:xfrm>
            <a:off x="9592056" y="274320"/>
            <a:ext cx="1929384" cy="310896"/>
          </a:xfrm>
          <a:prstGeom prst="roundRect">
            <a:avLst>
              <a:gd name="adj" fmla="val 50000"/>
            </a:avLst>
          </a:prstGeom>
          <a:solidFill>
            <a:srgbClr val="10B981"/>
          </a:solidFill>
          <a:ln/>
        </p:spPr>
      </p:sp>
      <p:sp>
        <p:nvSpPr>
          <p:cNvPr id="5" name="Text 3"/>
          <p:cNvSpPr/>
          <p:nvPr/>
        </p:nvSpPr>
        <p:spPr>
          <a:xfrm>
            <a:off x="9592056" y="274320"/>
            <a:ext cx="1929384"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APPLICATION</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10B981"/>
                </a:solidFill>
                <a:latin typeface="Calibri" pitchFamily="34" charset="0"/>
                <a:ea typeface="Calibri" pitchFamily="34" charset="-122"/>
                <a:cs typeface="Calibri" pitchFamily="34" charset="-120"/>
              </a:rPr>
              <a:t>ON DEVICES</a:t>
            </a:r>
            <a:endParaRPr lang="en-US" sz="1350" dirty="0"/>
          </a:p>
        </p:txBody>
      </p:sp>
      <p:sp>
        <p:nvSpPr>
          <p:cNvPr id="8" name="Shape 6"/>
          <p:cNvSpPr/>
          <p:nvPr/>
        </p:nvSpPr>
        <p:spPr>
          <a:xfrm>
            <a:off x="548640" y="713232"/>
            <a:ext cx="457200" cy="457200"/>
          </a:xfrm>
          <a:prstGeom prst="roundRect">
            <a:avLst>
              <a:gd name="adj" fmla="val 50000"/>
            </a:avLst>
          </a:prstGeom>
          <a:solidFill>
            <a:srgbClr val="10B981"/>
          </a:solidFill>
          <a:ln/>
        </p:spPr>
      </p:sp>
      <p:sp>
        <p:nvSpPr>
          <p:cNvPr id="9" name="Text 7"/>
          <p:cNvSpPr/>
          <p:nvPr/>
        </p:nvSpPr>
        <p:spPr>
          <a:xfrm>
            <a:off x="548640" y="713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10" name="Text 8"/>
          <p:cNvSpPr/>
          <p:nvPr/>
        </p:nvSpPr>
        <p:spPr>
          <a:xfrm>
            <a:off x="1143000" y="713232"/>
            <a:ext cx="7315200" cy="219456"/>
          </a:xfrm>
          <a:prstGeom prst="rect">
            <a:avLst/>
          </a:prstGeom>
          <a:noFill/>
          <a:ln/>
        </p:spPr>
        <p:txBody>
          <a:bodyPr wrap="square" lIns="0" tIns="0" rIns="0" bIns="0" rtlCol="0" anchor="ctr"/>
          <a:lstStyle/>
          <a:p>
            <a:pPr indent="0" marL="0">
              <a:buNone/>
            </a:pPr>
            <a:r>
              <a:rPr lang="en-US" sz="1150" b="1" dirty="0">
                <a:solidFill>
                  <a:srgbClr val="57606A"/>
                </a:solidFill>
                <a:latin typeface="Calibri" pitchFamily="34" charset="0"/>
                <a:ea typeface="Calibri" pitchFamily="34" charset="-122"/>
                <a:cs typeface="Calibri" pitchFamily="34" charset="-120"/>
              </a:rPr>
              <a:t>APPLICATION OF LEARNING</a:t>
            </a:r>
            <a:endParaRPr lang="en-US" sz="1150" dirty="0"/>
          </a:p>
        </p:txBody>
      </p:sp>
      <p:sp>
        <p:nvSpPr>
          <p:cNvPr id="11" name="Text 9"/>
          <p:cNvSpPr/>
          <p:nvPr/>
        </p:nvSpPr>
        <p:spPr>
          <a:xfrm>
            <a:off x="1143000" y="914400"/>
            <a:ext cx="96012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Your turn</a:t>
            </a:r>
            <a:endParaRPr lang="en-US" sz="2700" dirty="0"/>
          </a:p>
        </p:txBody>
      </p:sp>
      <p:sp>
        <p:nvSpPr>
          <p:cNvPr id="12" name="Shape 10"/>
          <p:cNvSpPr/>
          <p:nvPr/>
        </p:nvSpPr>
        <p:spPr>
          <a:xfrm>
            <a:off x="1143000" y="1645920"/>
            <a:ext cx="9692640" cy="548640"/>
          </a:xfrm>
          <a:prstGeom prst="roundRect">
            <a:avLst>
              <a:gd name="adj" fmla="val 10000"/>
            </a:avLst>
          </a:prstGeom>
          <a:solidFill>
            <a:srgbClr val="E7F9F1"/>
          </a:solidFill>
          <a:ln/>
        </p:spPr>
      </p:sp>
      <p:sp>
        <p:nvSpPr>
          <p:cNvPr id="13" name="Text 11"/>
          <p:cNvSpPr/>
          <p:nvPr/>
        </p:nvSpPr>
        <p:spPr>
          <a:xfrm>
            <a:off x="1143000" y="1645920"/>
            <a:ext cx="9692640" cy="548640"/>
          </a:xfrm>
          <a:prstGeom prst="rect">
            <a:avLst/>
          </a:prstGeom>
          <a:noFill/>
          <a:ln/>
        </p:spPr>
        <p:txBody>
          <a:bodyPr wrap="square" lIns="1270" tIns="1270" rIns="1270" bIns="1270" rtlCol="0" anchor="ctr"/>
          <a:lstStyle/>
          <a:p>
            <a:pPr indent="0" marL="0">
              <a:buNone/>
            </a:pPr>
            <a:r>
              <a:rPr lang="en-US" sz="1650" b="1" dirty="0">
                <a:solidFill>
                  <a:srgbClr val="0B7A56"/>
                </a:solidFill>
                <a:latin typeface="Calibri" pitchFamily="34" charset="0"/>
                <a:ea typeface="Calibri" pitchFamily="34" charset="-122"/>
                <a:cs typeface="Calibri" pitchFamily="34" charset="-120"/>
              </a:rPr>
              <a:t>➤ Open your workbook — Section 3, Application</a:t>
            </a:r>
            <a:endParaRPr lang="en-US" sz="1650" dirty="0"/>
          </a:p>
        </p:txBody>
      </p:sp>
      <p:sp>
        <p:nvSpPr>
          <p:cNvPr id="14" name="Shape 12"/>
          <p:cNvSpPr/>
          <p:nvPr/>
        </p:nvSpPr>
        <p:spPr>
          <a:xfrm>
            <a:off x="1143000" y="2377440"/>
            <a:ext cx="9692640" cy="1389888"/>
          </a:xfrm>
          <a:prstGeom prst="roundRect">
            <a:avLst>
              <a:gd name="adj" fmla="val 3947"/>
            </a:avLst>
          </a:prstGeom>
          <a:solidFill>
            <a:srgbClr val="FFFFFF"/>
          </a:solidFill>
          <a:ln w="12700">
            <a:solidFill>
              <a:srgbClr val="DDE3ED"/>
            </a:solidFill>
            <a:prstDash val="solid"/>
          </a:ln>
        </p:spPr>
      </p:sp>
      <p:sp>
        <p:nvSpPr>
          <p:cNvPr id="15" name="Shape 13"/>
          <p:cNvSpPr/>
          <p:nvPr/>
        </p:nvSpPr>
        <p:spPr>
          <a:xfrm>
            <a:off x="1143000" y="2377440"/>
            <a:ext cx="548640" cy="1389888"/>
          </a:xfrm>
          <a:prstGeom prst="roundRect">
            <a:avLst>
              <a:gd name="adj" fmla="val 10000"/>
            </a:avLst>
          </a:prstGeom>
          <a:solidFill>
            <a:srgbClr val="10B981"/>
          </a:solidFill>
          <a:ln/>
        </p:spPr>
      </p:sp>
      <p:sp>
        <p:nvSpPr>
          <p:cNvPr id="16" name="Text 14"/>
          <p:cNvSpPr/>
          <p:nvPr/>
        </p:nvSpPr>
        <p:spPr>
          <a:xfrm>
            <a:off x="1143000" y="2377440"/>
            <a:ext cx="548640" cy="1389888"/>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17" name="Text 15"/>
          <p:cNvSpPr/>
          <p:nvPr/>
        </p:nvSpPr>
        <p:spPr>
          <a:xfrm>
            <a:off x="1920240" y="2432304"/>
            <a:ext cx="8732520" cy="1280160"/>
          </a:xfrm>
          <a:prstGeom prst="rect">
            <a:avLst/>
          </a:prstGeom>
          <a:noFill/>
          <a:ln/>
        </p:spPr>
        <p:txBody>
          <a:bodyPr wrap="square" lIns="0" tIns="0" rIns="0" bIns="0" rtlCol="0" anchor="ctr"/>
          <a:lstStyle/>
          <a:p>
            <a:pPr indent="0" marL="0">
              <a:lnSpc>
                <a:spcPct val="110000"/>
              </a:lnSpc>
              <a:buNone/>
            </a:pPr>
            <a:r>
              <a:rPr lang="en-US" sz="2000" dirty="0">
                <a:solidFill>
                  <a:srgbClr val="1F2328"/>
                </a:solidFill>
                <a:latin typeface="Calibri" pitchFamily="34" charset="0"/>
                <a:ea typeface="Calibri" pitchFamily="34" charset="-122"/>
                <a:cs typeface="Calibri" pitchFamily="34" charset="-120"/>
              </a:rPr>
              <a:t>Match each of today's five vulnerability types to its case study or example.</a:t>
            </a:r>
            <a:endParaRPr lang="en-US" sz="2000" dirty="0"/>
          </a:p>
        </p:txBody>
      </p:sp>
      <p:sp>
        <p:nvSpPr>
          <p:cNvPr id="18" name="Shape 16"/>
          <p:cNvSpPr/>
          <p:nvPr/>
        </p:nvSpPr>
        <p:spPr>
          <a:xfrm>
            <a:off x="1143000" y="3904488"/>
            <a:ext cx="9692640" cy="1389888"/>
          </a:xfrm>
          <a:prstGeom prst="roundRect">
            <a:avLst>
              <a:gd name="adj" fmla="val 3947"/>
            </a:avLst>
          </a:prstGeom>
          <a:solidFill>
            <a:srgbClr val="FFFFFF"/>
          </a:solidFill>
          <a:ln w="12700">
            <a:solidFill>
              <a:srgbClr val="DDE3ED"/>
            </a:solidFill>
            <a:prstDash val="solid"/>
          </a:ln>
        </p:spPr>
      </p:sp>
      <p:sp>
        <p:nvSpPr>
          <p:cNvPr id="19" name="Shape 17"/>
          <p:cNvSpPr/>
          <p:nvPr/>
        </p:nvSpPr>
        <p:spPr>
          <a:xfrm>
            <a:off x="1143000" y="3904488"/>
            <a:ext cx="548640" cy="1389888"/>
          </a:xfrm>
          <a:prstGeom prst="roundRect">
            <a:avLst>
              <a:gd name="adj" fmla="val 10000"/>
            </a:avLst>
          </a:prstGeom>
          <a:solidFill>
            <a:srgbClr val="F59E0B"/>
          </a:solidFill>
          <a:ln/>
        </p:spPr>
      </p:sp>
      <p:sp>
        <p:nvSpPr>
          <p:cNvPr id="20" name="Text 18"/>
          <p:cNvSpPr/>
          <p:nvPr/>
        </p:nvSpPr>
        <p:spPr>
          <a:xfrm>
            <a:off x="1143000" y="3904488"/>
            <a:ext cx="548640" cy="1389888"/>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21" name="Text 19"/>
          <p:cNvSpPr/>
          <p:nvPr/>
        </p:nvSpPr>
        <p:spPr>
          <a:xfrm>
            <a:off x="1920240" y="3959352"/>
            <a:ext cx="8732520" cy="1280160"/>
          </a:xfrm>
          <a:prstGeom prst="rect">
            <a:avLst/>
          </a:prstGeom>
          <a:noFill/>
          <a:ln/>
        </p:spPr>
        <p:txBody>
          <a:bodyPr wrap="square" lIns="0" tIns="0" rIns="0" bIns="0" rtlCol="0" anchor="ctr"/>
          <a:lstStyle/>
          <a:p>
            <a:pPr indent="0" marL="0">
              <a:lnSpc>
                <a:spcPct val="110000"/>
              </a:lnSpc>
              <a:buNone/>
            </a:pPr>
            <a:r>
              <a:rPr lang="en-US" sz="2000" dirty="0">
                <a:solidFill>
                  <a:srgbClr val="1F2328"/>
                </a:solidFill>
                <a:latin typeface="Calibri" pitchFamily="34" charset="0"/>
                <a:ea typeface="Calibri" pitchFamily="34" charset="-122"/>
                <a:cs typeface="Calibri" pitchFamily="34" charset="-120"/>
              </a:rPr>
              <a:t>Pick one vulnerability type. Explain specifically what makes it exploitable, and one real consequence for an organisation.</a:t>
            </a:r>
            <a:endParaRPr lang="en-US" sz="2000" dirty="0"/>
          </a:p>
        </p:txBody>
      </p:sp>
      <p:sp>
        <p:nvSpPr>
          <p:cNvPr id="22" name="Shape 20"/>
          <p:cNvSpPr/>
          <p:nvPr/>
        </p:nvSpPr>
        <p:spPr>
          <a:xfrm>
            <a:off x="1143000" y="5422392"/>
            <a:ext cx="9692640" cy="1389888"/>
          </a:xfrm>
          <a:prstGeom prst="roundRect">
            <a:avLst>
              <a:gd name="adj" fmla="val 3947"/>
            </a:avLst>
          </a:prstGeom>
          <a:solidFill>
            <a:srgbClr val="FFFFFF"/>
          </a:solidFill>
          <a:ln w="12700">
            <a:solidFill>
              <a:srgbClr val="DDE3ED"/>
            </a:solidFill>
            <a:prstDash val="solid"/>
          </a:ln>
        </p:spPr>
      </p:sp>
      <p:sp>
        <p:nvSpPr>
          <p:cNvPr id="23" name="Shape 21"/>
          <p:cNvSpPr/>
          <p:nvPr/>
        </p:nvSpPr>
        <p:spPr>
          <a:xfrm>
            <a:off x="1143000" y="5422392"/>
            <a:ext cx="548640" cy="1389888"/>
          </a:xfrm>
          <a:prstGeom prst="roundRect">
            <a:avLst>
              <a:gd name="adj" fmla="val 10000"/>
            </a:avLst>
          </a:prstGeom>
          <a:solidFill>
            <a:srgbClr val="8B5CF6"/>
          </a:solidFill>
          <a:ln/>
        </p:spPr>
      </p:sp>
      <p:sp>
        <p:nvSpPr>
          <p:cNvPr id="24" name="Text 22"/>
          <p:cNvSpPr/>
          <p:nvPr/>
        </p:nvSpPr>
        <p:spPr>
          <a:xfrm>
            <a:off x="1143000" y="5422392"/>
            <a:ext cx="548640" cy="1389888"/>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25" name="Text 23"/>
          <p:cNvSpPr/>
          <p:nvPr/>
        </p:nvSpPr>
        <p:spPr>
          <a:xfrm>
            <a:off x="1920240" y="5477256"/>
            <a:ext cx="8732520" cy="1280160"/>
          </a:xfrm>
          <a:prstGeom prst="rect">
            <a:avLst/>
          </a:prstGeom>
          <a:noFill/>
          <a:ln/>
        </p:spPr>
        <p:txBody>
          <a:bodyPr wrap="square" lIns="0" tIns="0" rIns="0" bIns="0" rtlCol="0" anchor="ctr"/>
          <a:lstStyle/>
          <a:p>
            <a:pPr indent="0" marL="0">
              <a:lnSpc>
                <a:spcPct val="110000"/>
              </a:lnSpc>
              <a:buNone/>
            </a:pPr>
            <a:r>
              <a:rPr lang="en-US" sz="2000" dirty="0">
                <a:solidFill>
                  <a:srgbClr val="1F2328"/>
                </a:solidFill>
                <a:latin typeface="Calibri" pitchFamily="34" charset="0"/>
                <a:ea typeface="Calibri" pitchFamily="34" charset="-122"/>
                <a:cs typeface="Calibri" pitchFamily="34" charset="-120"/>
              </a:rPr>
              <a:t>Read a short scenario and identify which vulnerability type(s) are present, with justification, and propose a matching mitigation for each.</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11</a:t>
            </a:r>
            <a:endParaRPr lang="en-US" sz="1100" dirty="0"/>
          </a:p>
        </p:txBody>
      </p:sp>
      <p:sp>
        <p:nvSpPr>
          <p:cNvPr id="4" name="Text 2"/>
          <p:cNvSpPr/>
          <p:nvPr/>
        </p:nvSpPr>
        <p:spPr>
          <a:xfrm>
            <a:off x="548640" y="2286000"/>
            <a:ext cx="10058400" cy="548640"/>
          </a:xfrm>
          <a:prstGeom prst="rect">
            <a:avLst/>
          </a:prstGeom>
          <a:noFill/>
          <a:ln/>
        </p:spPr>
        <p:txBody>
          <a:bodyPr wrap="square" lIns="0" tIns="0" rIns="0" bIns="0" rtlCol="0" anchor="ctr"/>
          <a:lstStyle/>
          <a:p>
            <a:pPr algn="ctr" indent="0" marL="0">
              <a:buNone/>
            </a:pPr>
            <a:r>
              <a:rPr lang="en-US" sz="1900" b="1" dirty="0">
                <a:solidFill>
                  <a:srgbClr val="4361EE"/>
                </a:solidFill>
                <a:latin typeface="Calibri" pitchFamily="34" charset="0"/>
                <a:ea typeface="Calibri" pitchFamily="34" charset="-122"/>
                <a:cs typeface="Calibri" pitchFamily="34" charset="-120"/>
              </a:rPr>
              <a:t>🧠  BRAIN BREAK</a:t>
            </a:r>
            <a:endParaRPr lang="en-US" sz="1900" dirty="0"/>
          </a:p>
        </p:txBody>
      </p:sp>
      <p:sp>
        <p:nvSpPr>
          <p:cNvPr id="5" name="Text 3"/>
          <p:cNvSpPr/>
          <p:nvPr/>
        </p:nvSpPr>
        <p:spPr>
          <a:xfrm>
            <a:off x="1280160" y="2926080"/>
            <a:ext cx="8869680" cy="1737360"/>
          </a:xfrm>
          <a:prstGeom prst="rect">
            <a:avLst/>
          </a:prstGeom>
          <a:noFill/>
          <a:ln/>
        </p:spPr>
        <p:txBody>
          <a:bodyPr wrap="square" lIns="0" tIns="0" rIns="0" bIns="0" rtlCol="0" anchor="t"/>
          <a:lstStyle/>
          <a:p>
            <a:pPr algn="ctr" indent="0" marL="0">
              <a:lnSpc>
                <a:spcPct val="115000"/>
              </a:lnSpc>
              <a:buNone/>
            </a:pPr>
            <a:r>
              <a:rPr lang="en-US" sz="2600" b="1" dirty="0">
                <a:solidFill>
                  <a:srgbClr val="1F2328"/>
                </a:solidFill>
                <a:latin typeface="Cambria" pitchFamily="34" charset="0"/>
                <a:ea typeface="Cambria" pitchFamily="34" charset="-122"/>
                <a:cs typeface="Cambria" pitchFamily="34" charset="-120"/>
              </a:rPr>
              <a:t>Stand up if you've ever clicked a link you probably shouldn't have. Stay standing if you actually checked who sent it first.</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12</a:t>
            </a:r>
            <a:endParaRPr lang="en-US" sz="1100" dirty="0"/>
          </a:p>
        </p:txBody>
      </p:sp>
      <p:sp>
        <p:nvSpPr>
          <p:cNvPr id="4" name="Shape 2"/>
          <p:cNvSpPr/>
          <p:nvPr/>
        </p:nvSpPr>
        <p:spPr>
          <a:xfrm>
            <a:off x="8275320" y="274320"/>
            <a:ext cx="3246120" cy="310896"/>
          </a:xfrm>
          <a:prstGeom prst="roundRect">
            <a:avLst>
              <a:gd name="adj" fmla="val 50000"/>
            </a:avLst>
          </a:prstGeom>
          <a:solidFill>
            <a:srgbClr val="4361EE"/>
          </a:solidFill>
          <a:ln/>
        </p:spPr>
      </p:sp>
      <p:sp>
        <p:nvSpPr>
          <p:cNvPr id="5" name="Text 3"/>
          <p:cNvSpPr/>
          <p:nvPr/>
        </p:nvSpPr>
        <p:spPr>
          <a:xfrm>
            <a:off x="8275320" y="274320"/>
            <a:ext cx="324612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EXPLICIT EXPLANATION</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Shape 6"/>
          <p:cNvSpPr/>
          <p:nvPr/>
        </p:nvSpPr>
        <p:spPr>
          <a:xfrm>
            <a:off x="548640" y="713232"/>
            <a:ext cx="457200" cy="457200"/>
          </a:xfrm>
          <a:prstGeom prst="roundRect">
            <a:avLst>
              <a:gd name="adj" fmla="val 50000"/>
            </a:avLst>
          </a:prstGeom>
          <a:solidFill>
            <a:srgbClr val="8B5CF6"/>
          </a:solidFill>
          <a:ln/>
        </p:spPr>
      </p:sp>
      <p:sp>
        <p:nvSpPr>
          <p:cNvPr id="9" name="Text 7"/>
          <p:cNvSpPr/>
          <p:nvPr/>
        </p:nvSpPr>
        <p:spPr>
          <a:xfrm>
            <a:off x="548640" y="713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10" name="Text 8"/>
          <p:cNvSpPr/>
          <p:nvPr/>
        </p:nvSpPr>
        <p:spPr>
          <a:xfrm>
            <a:off x="1143000" y="713232"/>
            <a:ext cx="7315200" cy="219456"/>
          </a:xfrm>
          <a:prstGeom prst="rect">
            <a:avLst/>
          </a:prstGeom>
          <a:noFill/>
          <a:ln/>
        </p:spPr>
        <p:txBody>
          <a:bodyPr wrap="square" lIns="0" tIns="0" rIns="0" bIns="0" rtlCol="0" anchor="ctr"/>
          <a:lstStyle/>
          <a:p>
            <a:pPr indent="0" marL="0">
              <a:buNone/>
            </a:pPr>
            <a:r>
              <a:rPr lang="en-US" sz="1150" b="1" dirty="0">
                <a:solidFill>
                  <a:srgbClr val="57606A"/>
                </a:solidFill>
                <a:latin typeface="Calibri" pitchFamily="34" charset="0"/>
                <a:ea typeface="Calibri" pitchFamily="34" charset="-122"/>
                <a:cs typeface="Calibri" pitchFamily="34" charset="-120"/>
              </a:rPr>
              <a:t>RESPONSIVE TEACHING</a:t>
            </a:r>
            <a:endParaRPr lang="en-US" sz="1150" dirty="0"/>
          </a:p>
        </p:txBody>
      </p:sp>
      <p:sp>
        <p:nvSpPr>
          <p:cNvPr id="11" name="Text 9"/>
          <p:cNvSpPr/>
          <p:nvPr/>
        </p:nvSpPr>
        <p:spPr>
          <a:xfrm>
            <a:off x="1143000" y="914400"/>
            <a:ext cx="96012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Check for understanding</a:t>
            </a:r>
            <a:endParaRPr lang="en-US" sz="2700" dirty="0"/>
          </a:p>
        </p:txBody>
      </p:sp>
      <p:sp>
        <p:nvSpPr>
          <p:cNvPr id="12" name="Shape 10"/>
          <p:cNvSpPr/>
          <p:nvPr/>
        </p:nvSpPr>
        <p:spPr>
          <a:xfrm>
            <a:off x="1143000" y="1691640"/>
            <a:ext cx="9692640" cy="1600200"/>
          </a:xfrm>
          <a:prstGeom prst="roundRect">
            <a:avLst>
              <a:gd name="adj" fmla="val 3429"/>
            </a:avLst>
          </a:prstGeom>
          <a:solidFill>
            <a:srgbClr val="F2ECFC"/>
          </a:solidFill>
          <a:ln/>
        </p:spPr>
      </p:sp>
      <p:sp>
        <p:nvSpPr>
          <p:cNvPr id="13" name="Text 11"/>
          <p:cNvSpPr/>
          <p:nvPr/>
        </p:nvSpPr>
        <p:spPr>
          <a:xfrm>
            <a:off x="1417320" y="1828800"/>
            <a:ext cx="9144000" cy="274320"/>
          </a:xfrm>
          <a:prstGeom prst="rect">
            <a:avLst/>
          </a:prstGeom>
          <a:noFill/>
          <a:ln/>
        </p:spPr>
        <p:txBody>
          <a:bodyPr wrap="square" lIns="0" tIns="0" rIns="0" bIns="0" rtlCol="0" anchor="ctr"/>
          <a:lstStyle/>
          <a:p>
            <a:pPr indent="0" marL="0">
              <a:buNone/>
            </a:pPr>
            <a:r>
              <a:rPr lang="en-US" sz="1300" b="1" dirty="0">
                <a:solidFill>
                  <a:srgbClr val="8B5CF6"/>
                </a:solidFill>
                <a:latin typeface="Calibri" pitchFamily="34" charset="0"/>
                <a:ea typeface="Calibri" pitchFamily="34" charset="-122"/>
                <a:cs typeface="Calibri" pitchFamily="34" charset="-120"/>
              </a:rPr>
              <a:t>💬 THINK / PAIR / SHARE</a:t>
            </a:r>
            <a:endParaRPr lang="en-US" sz="1300" dirty="0"/>
          </a:p>
        </p:txBody>
      </p:sp>
      <p:sp>
        <p:nvSpPr>
          <p:cNvPr id="14" name="Text 12"/>
          <p:cNvSpPr/>
          <p:nvPr/>
        </p:nvSpPr>
        <p:spPr>
          <a:xfrm>
            <a:off x="1417320" y="2148840"/>
            <a:ext cx="9144000" cy="1051560"/>
          </a:xfrm>
          <a:prstGeom prst="rect">
            <a:avLst/>
          </a:prstGeom>
          <a:noFill/>
          <a:ln/>
        </p:spPr>
        <p:txBody>
          <a:bodyPr wrap="square" lIns="0" tIns="0" rIns="0" bIns="0" rtlCol="0" anchor="ctr"/>
          <a:lstStyle/>
          <a:p>
            <a:pPr indent="0" marL="0">
              <a:lnSpc>
                <a:spcPct val="115000"/>
              </a:lnSpc>
              <a:buNone/>
            </a:pPr>
            <a:r>
              <a:rPr lang="en-US" sz="2100" b="1" dirty="0">
                <a:solidFill>
                  <a:srgbClr val="1F2328"/>
                </a:solidFill>
                <a:latin typeface="Cambria" pitchFamily="34" charset="0"/>
                <a:ea typeface="Cambria" pitchFamily="34" charset="-122"/>
                <a:cs typeface="Cambria" pitchFamily="34" charset="-120"/>
              </a:rPr>
              <a:t>Cold call: name one of today's five vulnerability types and its example, without looking back at Section 2.</a:t>
            </a:r>
            <a:endParaRPr lang="en-US" sz="2100" dirty="0"/>
          </a:p>
        </p:txBody>
      </p:sp>
      <p:sp>
        <p:nvSpPr>
          <p:cNvPr id="15" name="Text 13"/>
          <p:cNvSpPr/>
          <p:nvPr/>
        </p:nvSpPr>
        <p:spPr>
          <a:xfrm>
            <a:off x="1143000" y="3520440"/>
            <a:ext cx="9692640" cy="2606040"/>
          </a:xfrm>
          <a:prstGeom prst="rect">
            <a:avLst/>
          </a:prstGeom>
          <a:noFill/>
          <a:ln/>
        </p:spPr>
        <p:txBody>
          <a:bodyPr wrap="square" lIns="0" tIns="0" rIns="0" bIns="0" rtlCol="0" anchor="t"/>
          <a:lstStyle/>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What made that specific case preventable, in hindsight?</a:t>
            </a:r>
            <a:endParaRPr lang="en-US" sz="2400" dirty="0"/>
          </a:p>
          <a:p>
            <a:pPr marL="342900" indent="-342900">
              <a:lnSpc>
                <a:spcPct val="112000"/>
              </a:lnSpc>
              <a:spcAft>
                <a:spcPts val="1400"/>
              </a:spcAft>
              <a:buSzPct val="100000"/>
              <a:buChar char="•"/>
            </a:pPr>
            <a:r>
              <a:rPr lang="en-US" sz="2400" dirty="0">
                <a:solidFill>
                  <a:srgbClr val="1F2328"/>
                </a:solidFill>
                <a:latin typeface="Calibri" pitchFamily="34" charset="0"/>
                <a:ea typeface="Calibri" pitchFamily="34" charset="-122"/>
                <a:cs typeface="Calibri" pitchFamily="34" charset="-120"/>
              </a:rPr>
              <a:t>Outcome 2 checklist: I can define and give a real example of all five people/process vulnerability types from today.</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13</a:t>
            </a:r>
            <a:endParaRPr lang="en-US" sz="1100" dirty="0"/>
          </a:p>
        </p:txBody>
      </p:sp>
      <p:sp>
        <p:nvSpPr>
          <p:cNvPr id="4" name="Shape 2"/>
          <p:cNvSpPr/>
          <p:nvPr/>
        </p:nvSpPr>
        <p:spPr>
          <a:xfrm>
            <a:off x="9592056" y="274320"/>
            <a:ext cx="1929384" cy="310896"/>
          </a:xfrm>
          <a:prstGeom prst="roundRect">
            <a:avLst>
              <a:gd name="adj" fmla="val 50000"/>
            </a:avLst>
          </a:prstGeom>
          <a:solidFill>
            <a:srgbClr val="EF4444"/>
          </a:solidFill>
          <a:ln/>
        </p:spPr>
      </p:sp>
      <p:sp>
        <p:nvSpPr>
          <p:cNvPr id="5" name="Text 3"/>
          <p:cNvSpPr/>
          <p:nvPr/>
        </p:nvSpPr>
        <p:spPr>
          <a:xfrm>
            <a:off x="9592056" y="274320"/>
            <a:ext cx="1929384"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EXIT TICKET</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10B981"/>
                </a:solidFill>
                <a:latin typeface="Calibri" pitchFamily="34" charset="0"/>
                <a:ea typeface="Calibri" pitchFamily="34" charset="-122"/>
                <a:cs typeface="Calibri" pitchFamily="34" charset="-120"/>
              </a:rPr>
              <a:t>ON DEVICES</a:t>
            </a:r>
            <a:endParaRPr lang="en-US" sz="1350" dirty="0"/>
          </a:p>
        </p:txBody>
      </p:sp>
      <p:sp>
        <p:nvSpPr>
          <p:cNvPr id="8" name="Text 6"/>
          <p:cNvSpPr/>
          <p:nvPr/>
        </p:nvSpPr>
        <p:spPr>
          <a:xfrm>
            <a:off x="548640" y="365760"/>
            <a:ext cx="7315200" cy="292608"/>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EXIT TICKET</a:t>
            </a:r>
            <a:endParaRPr lang="en-US" sz="1300" dirty="0"/>
          </a:p>
        </p:txBody>
      </p:sp>
      <p:sp>
        <p:nvSpPr>
          <p:cNvPr id="9" name="Text 7"/>
          <p:cNvSpPr/>
          <p:nvPr/>
        </p:nvSpPr>
        <p:spPr>
          <a:xfrm>
            <a:off x="548640" y="777240"/>
            <a:ext cx="100584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  Before you go</a:t>
            </a:r>
            <a:endParaRPr lang="en-US" sz="2700" dirty="0"/>
          </a:p>
        </p:txBody>
      </p:sp>
      <p:sp>
        <p:nvSpPr>
          <p:cNvPr id="10" name="Shape 8"/>
          <p:cNvSpPr/>
          <p:nvPr/>
        </p:nvSpPr>
        <p:spPr>
          <a:xfrm>
            <a:off x="914400" y="1691640"/>
            <a:ext cx="10058400" cy="3977640"/>
          </a:xfrm>
          <a:prstGeom prst="roundRect">
            <a:avLst>
              <a:gd name="adj" fmla="val 1839"/>
            </a:avLst>
          </a:prstGeom>
          <a:solidFill>
            <a:srgbClr val="FCEAEA"/>
          </a:solidFill>
          <a:ln/>
        </p:spPr>
      </p:sp>
      <p:sp>
        <p:nvSpPr>
          <p:cNvPr id="11" name="Text 9"/>
          <p:cNvSpPr/>
          <p:nvPr/>
        </p:nvSpPr>
        <p:spPr>
          <a:xfrm>
            <a:off x="1234440" y="1920240"/>
            <a:ext cx="9418320" cy="3520440"/>
          </a:xfrm>
          <a:prstGeom prst="rect">
            <a:avLst/>
          </a:prstGeom>
          <a:noFill/>
          <a:ln/>
        </p:spPr>
        <p:txBody>
          <a:bodyPr wrap="square" lIns="0" tIns="0" rIns="0" bIns="0" rtlCol="0" anchor="t"/>
          <a:lstStyle/>
          <a:p>
            <a:pPr indent="0" marL="0">
              <a:lnSpc>
                <a:spcPct val="115000"/>
              </a:lnSpc>
              <a:spcAft>
                <a:spcPts val="1800"/>
              </a:spcAft>
              <a:buNone/>
            </a:pPr>
            <a:r>
              <a:rPr lang="en-US" sz="2100" dirty="0">
                <a:solidFill>
                  <a:srgbClr val="1F2328"/>
                </a:solidFill>
                <a:latin typeface="Calibri" pitchFamily="34" charset="0"/>
                <a:ea typeface="Calibri" pitchFamily="34" charset="-122"/>
                <a:cs typeface="Calibri" pitchFamily="34" charset="-120"/>
              </a:rPr>
              <a:t>1.  Pick two of today's five vulnerability types. In one sentence each, explain how they exploit people or process rather than pure technology.</a:t>
            </a:r>
            <a:endParaRPr lang="en-US" sz="2100" dirty="0"/>
          </a:p>
          <a:p>
            <a:pPr indent="0" marL="0">
              <a:lnSpc>
                <a:spcPct val="115000"/>
              </a:lnSpc>
              <a:spcAft>
                <a:spcPts val="1800"/>
              </a:spcAft>
              <a:buNone/>
            </a:pPr>
            <a:r>
              <a:rPr lang="en-US" sz="2100" dirty="0">
                <a:solidFill>
                  <a:srgbClr val="1F2328"/>
                </a:solidFill>
                <a:latin typeface="Calibri" pitchFamily="34" charset="0"/>
                <a:ea typeface="Calibri" pitchFamily="34" charset="-122"/>
                <a:cs typeface="Calibri" pitchFamily="34" charset="-120"/>
              </a:rPr>
              <a:t>2.  Name one mitigation strategy that could help against more than one of today's vulnerability types.</a:t>
            </a:r>
            <a:endParaRPr lang="en-US" sz="2100" dirty="0"/>
          </a:p>
          <a:p>
            <a:pPr indent="0" marL="0">
              <a:lnSpc>
                <a:spcPct val="115000"/>
              </a:lnSpc>
              <a:spcAft>
                <a:spcPts val="1800"/>
              </a:spcAft>
              <a:buNone/>
            </a:pPr>
            <a:r>
              <a:rPr lang="en-US" sz="2100" dirty="0">
                <a:solidFill>
                  <a:srgbClr val="1F2328"/>
                </a:solidFill>
                <a:latin typeface="Calibri" pitchFamily="34" charset="0"/>
                <a:ea typeface="Calibri" pitchFamily="34" charset="-122"/>
                <a:cs typeface="Calibri" pitchFamily="34" charset="-120"/>
              </a:rPr>
              <a:t>3.  Self-rate: which success-criteria tier did you reach today?</a:t>
            </a:r>
            <a:endParaRPr lang="en-US" sz="2100" dirty="0"/>
          </a:p>
        </p:txBody>
      </p:sp>
      <p:sp>
        <p:nvSpPr>
          <p:cNvPr id="12" name="Text 10"/>
          <p:cNvSpPr/>
          <p:nvPr/>
        </p:nvSpPr>
        <p:spPr>
          <a:xfrm>
            <a:off x="548640" y="5897880"/>
            <a:ext cx="10515600" cy="365760"/>
          </a:xfrm>
          <a:prstGeom prst="rect">
            <a:avLst/>
          </a:prstGeom>
          <a:noFill/>
          <a:ln/>
        </p:spPr>
        <p:txBody>
          <a:bodyPr wrap="square" lIns="0" tIns="0" rIns="0" bIns="0" rtlCol="0" anchor="ctr"/>
          <a:lstStyle/>
          <a:p>
            <a:pPr indent="0" marL="0">
              <a:buNone/>
            </a:pPr>
            <a:r>
              <a:rPr lang="en-US" sz="1500" b="1" dirty="0">
                <a:solidFill>
                  <a:srgbClr val="57606A"/>
                </a:solidFill>
                <a:latin typeface="Calibri" pitchFamily="34" charset="0"/>
                <a:ea typeface="Calibri" pitchFamily="34" charset="-122"/>
                <a:cs typeface="Calibri" pitchFamily="34" charset="-120"/>
              </a:rPr>
              <a:t>➤ Record your answers in your workbook — Section 5, Exit Ticket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6547104"/>
            <a:ext cx="7772400" cy="256032"/>
          </a:xfrm>
          <a:prstGeom prst="rect">
            <a:avLst/>
          </a:prstGeom>
          <a:noFill/>
          <a:ln/>
        </p:spPr>
        <p:txBody>
          <a:bodyPr wrap="square" lIns="0" tIns="0" rIns="0" bIns="0" rtlCol="0" anchor="ctr"/>
          <a:lstStyle/>
          <a:p>
            <a:pPr indent="0" marL="0">
              <a:buNone/>
            </a:pPr>
            <a:r>
              <a:rPr lang="en-US" sz="1100" dirty="0">
                <a:solidFill>
                  <a:srgbClr val="57606A"/>
                </a:solidFill>
                <a:latin typeface="Calibri" pitchFamily="34" charset="0"/>
                <a:ea typeface="Calibri" pitchFamily="34" charset="-122"/>
                <a:cs typeface="Calibri" pitchFamily="34" charset="-120"/>
              </a:rPr>
              <a:t>EduPortal  ·  VCE Software Development  ·  Unit 4  ·  Cyber Security</a:t>
            </a:r>
            <a:endParaRPr lang="en-US" sz="1100" dirty="0"/>
          </a:p>
        </p:txBody>
      </p:sp>
      <p:sp>
        <p:nvSpPr>
          <p:cNvPr id="3" name="Text 1"/>
          <p:cNvSpPr/>
          <p:nvPr/>
        </p:nvSpPr>
        <p:spPr>
          <a:xfrm>
            <a:off x="11338560" y="6547104"/>
            <a:ext cx="457200" cy="256032"/>
          </a:xfrm>
          <a:prstGeom prst="rect">
            <a:avLst/>
          </a:prstGeom>
          <a:noFill/>
          <a:ln/>
        </p:spPr>
        <p:txBody>
          <a:bodyPr wrap="square" lIns="0" tIns="0" rIns="0" bIns="0" rtlCol="0" anchor="ctr"/>
          <a:lstStyle/>
          <a:p>
            <a:pPr algn="r" indent="0" marL="0">
              <a:buNone/>
            </a:pPr>
            <a:r>
              <a:rPr lang="en-US" sz="1100" dirty="0">
                <a:solidFill>
                  <a:srgbClr val="57606A"/>
                </a:solidFill>
                <a:latin typeface="Calibri" pitchFamily="34" charset="0"/>
                <a:ea typeface="Calibri" pitchFamily="34" charset="-122"/>
                <a:cs typeface="Calibri" pitchFamily="34" charset="-120"/>
              </a:rPr>
              <a:t>14</a:t>
            </a:r>
            <a:endParaRPr lang="en-US" sz="1100" dirty="0"/>
          </a:p>
        </p:txBody>
      </p:sp>
      <p:sp>
        <p:nvSpPr>
          <p:cNvPr id="4" name="Shape 2"/>
          <p:cNvSpPr/>
          <p:nvPr/>
        </p:nvSpPr>
        <p:spPr>
          <a:xfrm>
            <a:off x="9738360" y="274320"/>
            <a:ext cx="1783080" cy="310896"/>
          </a:xfrm>
          <a:prstGeom prst="roundRect">
            <a:avLst>
              <a:gd name="adj" fmla="val 50000"/>
            </a:avLst>
          </a:prstGeom>
          <a:solidFill>
            <a:srgbClr val="57606A"/>
          </a:solidFill>
          <a:ln/>
        </p:spPr>
      </p:sp>
      <p:sp>
        <p:nvSpPr>
          <p:cNvPr id="5" name="Text 3"/>
          <p:cNvSpPr/>
          <p:nvPr/>
        </p:nvSpPr>
        <p:spPr>
          <a:xfrm>
            <a:off x="9738360" y="274320"/>
            <a:ext cx="1783080" cy="31089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NEXT STEPS</a:t>
            </a:r>
            <a:endParaRPr lang="en-US" sz="1350" dirty="0"/>
          </a:p>
        </p:txBody>
      </p:sp>
      <p:sp>
        <p:nvSpPr>
          <p:cNvPr id="6" name="Shape 4"/>
          <p:cNvSpPr/>
          <p:nvPr/>
        </p:nvSpPr>
        <p:spPr>
          <a:xfrm>
            <a:off x="9966960" y="658368"/>
            <a:ext cx="1554480" cy="310896"/>
          </a:xfrm>
          <a:prstGeom prst="roundRect">
            <a:avLst>
              <a:gd name="adj" fmla="val 50000"/>
            </a:avLst>
          </a:prstGeom>
          <a:solidFill>
            <a:srgbClr val="FFFFFF"/>
          </a:solidFill>
          <a:ln w="12700">
            <a:solidFill>
              <a:srgbClr val="DDE3ED"/>
            </a:solidFill>
            <a:prstDash val="solid"/>
          </a:ln>
        </p:spPr>
      </p:sp>
      <p:sp>
        <p:nvSpPr>
          <p:cNvPr id="7" name="Text 5"/>
          <p:cNvSpPr/>
          <p:nvPr/>
        </p:nvSpPr>
        <p:spPr>
          <a:xfrm>
            <a:off x="9966960" y="658368"/>
            <a:ext cx="1554480" cy="310896"/>
          </a:xfrm>
          <a:prstGeom prst="rect">
            <a:avLst/>
          </a:prstGeom>
          <a:noFill/>
          <a:ln/>
        </p:spPr>
        <p:txBody>
          <a:bodyPr wrap="square" lIns="0" tIns="0" rIns="0" bIns="0" rtlCol="0" anchor="ctr"/>
          <a:lstStyle/>
          <a:p>
            <a:pPr algn="ctr" indent="0" marL="0">
              <a:buNone/>
            </a:pPr>
            <a:r>
              <a:rPr lang="en-US" sz="1350" b="1" dirty="0">
                <a:solidFill>
                  <a:srgbClr val="57606A"/>
                </a:solidFill>
                <a:latin typeface="Calibri" pitchFamily="34" charset="0"/>
                <a:ea typeface="Calibri" pitchFamily="34" charset="-122"/>
                <a:cs typeface="Calibri" pitchFamily="34" charset="-120"/>
              </a:rPr>
              <a:t>OFF DEVICES</a:t>
            </a:r>
            <a:endParaRPr lang="en-US" sz="1350" dirty="0"/>
          </a:p>
        </p:txBody>
      </p:sp>
      <p:sp>
        <p:nvSpPr>
          <p:cNvPr id="8" name="Text 6"/>
          <p:cNvSpPr/>
          <p:nvPr/>
        </p:nvSpPr>
        <p:spPr>
          <a:xfrm>
            <a:off x="548640" y="365760"/>
            <a:ext cx="7315200" cy="292608"/>
          </a:xfrm>
          <a:prstGeom prst="rect">
            <a:avLst/>
          </a:prstGeom>
          <a:noFill/>
          <a:ln/>
        </p:spPr>
        <p:txBody>
          <a:bodyPr wrap="square" lIns="0" tIns="0" rIns="0" bIns="0" rtlCol="0" anchor="ctr"/>
          <a:lstStyle/>
          <a:p>
            <a:pPr indent="0" marL="0">
              <a:buNone/>
            </a:pPr>
            <a:r>
              <a:rPr lang="en-US" sz="1300" b="1" dirty="0">
                <a:solidFill>
                  <a:srgbClr val="57606A"/>
                </a:solidFill>
                <a:latin typeface="Calibri" pitchFamily="34" charset="0"/>
                <a:ea typeface="Calibri" pitchFamily="34" charset="-122"/>
                <a:cs typeface="Calibri" pitchFamily="34" charset="-120"/>
              </a:rPr>
              <a:t>NEXT STEPS</a:t>
            </a:r>
            <a:endParaRPr lang="en-US" sz="1300" dirty="0"/>
          </a:p>
        </p:txBody>
      </p:sp>
      <p:sp>
        <p:nvSpPr>
          <p:cNvPr id="9" name="Text 7"/>
          <p:cNvSpPr/>
          <p:nvPr/>
        </p:nvSpPr>
        <p:spPr>
          <a:xfrm>
            <a:off x="548640" y="777240"/>
            <a:ext cx="10058400" cy="502920"/>
          </a:xfrm>
          <a:prstGeom prst="rect">
            <a:avLst/>
          </a:prstGeom>
          <a:noFill/>
          <a:ln/>
        </p:spPr>
        <p:txBody>
          <a:bodyPr wrap="square" lIns="0" tIns="0" rIns="0" bIns="0" rtlCol="0" anchor="ctr"/>
          <a:lstStyle/>
          <a:p>
            <a:pPr indent="0" marL="0">
              <a:buNone/>
            </a:pPr>
            <a:r>
              <a:rPr lang="en-US" sz="2700" b="1" dirty="0">
                <a:solidFill>
                  <a:srgbClr val="1F2328"/>
                </a:solidFill>
                <a:latin typeface="Cambria" pitchFamily="34" charset="0"/>
                <a:ea typeface="Cambria" pitchFamily="34" charset="-122"/>
                <a:cs typeface="Cambria" pitchFamily="34" charset="-120"/>
              </a:rPr>
              <a:t>Where to from here</a:t>
            </a:r>
            <a:endParaRPr lang="en-US" sz="2700" dirty="0"/>
          </a:p>
        </p:txBody>
      </p:sp>
      <p:sp>
        <p:nvSpPr>
          <p:cNvPr id="10" name="Shape 8"/>
          <p:cNvSpPr/>
          <p:nvPr/>
        </p:nvSpPr>
        <p:spPr>
          <a:xfrm>
            <a:off x="548640" y="1508760"/>
            <a:ext cx="5166360" cy="2011680"/>
          </a:xfrm>
          <a:prstGeom prst="roundRect">
            <a:avLst>
              <a:gd name="adj" fmla="val 3636"/>
            </a:avLst>
          </a:prstGeom>
          <a:solidFill>
            <a:srgbClr val="EEF1FD"/>
          </a:solidFill>
          <a:ln/>
        </p:spPr>
      </p:sp>
      <p:sp>
        <p:nvSpPr>
          <p:cNvPr id="11" name="Text 9"/>
          <p:cNvSpPr/>
          <p:nvPr/>
        </p:nvSpPr>
        <p:spPr>
          <a:xfrm>
            <a:off x="822960" y="1691640"/>
            <a:ext cx="4617720" cy="292608"/>
          </a:xfrm>
          <a:prstGeom prst="rect">
            <a:avLst/>
          </a:prstGeom>
          <a:noFill/>
          <a:ln/>
        </p:spPr>
        <p:txBody>
          <a:bodyPr wrap="square" lIns="0" tIns="0" rIns="0" bIns="0" rtlCol="0" anchor="ctr"/>
          <a:lstStyle/>
          <a:p>
            <a:pPr indent="0" marL="0">
              <a:buNone/>
            </a:pPr>
            <a:r>
              <a:rPr lang="en-US" sz="1200" b="1" dirty="0">
                <a:solidFill>
                  <a:srgbClr val="57606A"/>
                </a:solidFill>
                <a:latin typeface="Calibri" pitchFamily="34" charset="0"/>
                <a:ea typeface="Calibri" pitchFamily="34" charset="-122"/>
                <a:cs typeface="Calibri" pitchFamily="34" charset="-120"/>
              </a:rPr>
              <a:t>NEXT LESSON</a:t>
            </a:r>
            <a:endParaRPr lang="en-US" sz="1200" dirty="0"/>
          </a:p>
        </p:txBody>
      </p:sp>
      <p:sp>
        <p:nvSpPr>
          <p:cNvPr id="12" name="Text 10"/>
          <p:cNvSpPr/>
          <p:nvPr/>
        </p:nvSpPr>
        <p:spPr>
          <a:xfrm>
            <a:off x="822960" y="2039112"/>
            <a:ext cx="4617720" cy="1234440"/>
          </a:xfrm>
          <a:prstGeom prst="rect">
            <a:avLst/>
          </a:prstGeom>
          <a:noFill/>
          <a:ln/>
        </p:spPr>
        <p:txBody>
          <a:bodyPr wrap="square" lIns="0" tIns="0" rIns="0" bIns="0" rtlCol="0" anchor="t"/>
          <a:lstStyle/>
          <a:p>
            <a:pPr indent="0" marL="0">
              <a:lnSpc>
                <a:spcPct val="112000"/>
              </a:lnSpc>
              <a:buNone/>
            </a:pPr>
            <a:r>
              <a:rPr lang="en-US" sz="1500" dirty="0">
                <a:solidFill>
                  <a:srgbClr val="1F2328"/>
                </a:solidFill>
                <a:latin typeface="Calibri" pitchFamily="34" charset="0"/>
                <a:ea typeface="Calibri" pitchFamily="34" charset="-122"/>
                <a:cs typeface="Calibri" pitchFamily="34" charset="-120"/>
              </a:rPr>
              <a:t>L4 — Security Controls: version control, robust identity and access management, encryption, and regular updates and patches.</a:t>
            </a:r>
            <a:endParaRPr lang="en-US" sz="1500" dirty="0"/>
          </a:p>
        </p:txBody>
      </p:sp>
      <p:sp>
        <p:nvSpPr>
          <p:cNvPr id="13" name="Shape 11"/>
          <p:cNvSpPr/>
          <p:nvPr/>
        </p:nvSpPr>
        <p:spPr>
          <a:xfrm>
            <a:off x="6172200" y="1508760"/>
            <a:ext cx="5166360" cy="2011680"/>
          </a:xfrm>
          <a:prstGeom prst="roundRect">
            <a:avLst>
              <a:gd name="adj" fmla="val 3636"/>
            </a:avLst>
          </a:prstGeom>
          <a:solidFill>
            <a:srgbClr val="F2ECFC"/>
          </a:solidFill>
          <a:ln/>
        </p:spPr>
      </p:sp>
      <p:sp>
        <p:nvSpPr>
          <p:cNvPr id="14" name="Text 12"/>
          <p:cNvSpPr/>
          <p:nvPr/>
        </p:nvSpPr>
        <p:spPr>
          <a:xfrm>
            <a:off x="6446520" y="1691640"/>
            <a:ext cx="4617720" cy="292608"/>
          </a:xfrm>
          <a:prstGeom prst="rect">
            <a:avLst/>
          </a:prstGeom>
          <a:noFill/>
          <a:ln/>
        </p:spPr>
        <p:txBody>
          <a:bodyPr wrap="square" lIns="0" tIns="0" rIns="0" bIns="0" rtlCol="0" anchor="ctr"/>
          <a:lstStyle/>
          <a:p>
            <a:pPr indent="0" marL="0">
              <a:buNone/>
            </a:pPr>
            <a:r>
              <a:rPr lang="en-US" sz="1200" b="1" dirty="0">
                <a:solidFill>
                  <a:srgbClr val="57606A"/>
                </a:solidFill>
                <a:latin typeface="Calibri" pitchFamily="34" charset="0"/>
                <a:ea typeface="Calibri" pitchFamily="34" charset="-122"/>
                <a:cs typeface="Calibri" pitchFamily="34" charset="-120"/>
              </a:rPr>
              <a:t>OUTCOME 2 PROGRESS</a:t>
            </a:r>
            <a:endParaRPr lang="en-US" sz="1200" dirty="0"/>
          </a:p>
        </p:txBody>
      </p:sp>
      <p:sp>
        <p:nvSpPr>
          <p:cNvPr id="15" name="Text 13"/>
          <p:cNvSpPr/>
          <p:nvPr/>
        </p:nvSpPr>
        <p:spPr>
          <a:xfrm>
            <a:off x="6446520" y="2039112"/>
            <a:ext cx="4617720" cy="1234440"/>
          </a:xfrm>
          <a:prstGeom prst="rect">
            <a:avLst/>
          </a:prstGeom>
          <a:noFill/>
          <a:ln/>
        </p:spPr>
        <p:txBody>
          <a:bodyPr wrap="square" lIns="0" tIns="0" rIns="0" bIns="0" rtlCol="0" anchor="t"/>
          <a:lstStyle/>
          <a:p>
            <a:pPr indent="0" marL="0">
              <a:lnSpc>
                <a:spcPct val="112000"/>
              </a:lnSpc>
              <a:buNone/>
            </a:pPr>
            <a:r>
              <a:rPr lang="en-US" sz="1500" dirty="0">
                <a:solidFill>
                  <a:srgbClr val="1F2328"/>
                </a:solidFill>
                <a:latin typeface="Calibri" pitchFamily="34" charset="0"/>
                <a:ea typeface="Calibri" pitchFamily="34" charset="-122"/>
                <a:cs typeface="Calibri" pitchFamily="34" charset="-120"/>
              </a:rPr>
              <a:t>This lesson completes Outcome 2's case-study skill ‘identify and describe vulnerabilities and risks’ — all ten sub-points are now covered across L2 and L3.</a:t>
            </a:r>
            <a:endParaRPr lang="en-US" sz="1500" dirty="0"/>
          </a:p>
        </p:txBody>
      </p:sp>
      <p:sp>
        <p:nvSpPr>
          <p:cNvPr id="16" name="Shape 14"/>
          <p:cNvSpPr/>
          <p:nvPr/>
        </p:nvSpPr>
        <p:spPr>
          <a:xfrm>
            <a:off x="548640" y="3794760"/>
            <a:ext cx="5166360" cy="2011680"/>
          </a:xfrm>
          <a:prstGeom prst="roundRect">
            <a:avLst>
              <a:gd name="adj" fmla="val 3636"/>
            </a:avLst>
          </a:prstGeom>
          <a:solidFill>
            <a:srgbClr val="FEF3E0"/>
          </a:solidFill>
          <a:ln/>
        </p:spPr>
      </p:sp>
      <p:sp>
        <p:nvSpPr>
          <p:cNvPr id="17" name="Text 15"/>
          <p:cNvSpPr/>
          <p:nvPr/>
        </p:nvSpPr>
        <p:spPr>
          <a:xfrm>
            <a:off x="822960" y="3977640"/>
            <a:ext cx="4617720" cy="292608"/>
          </a:xfrm>
          <a:prstGeom prst="rect">
            <a:avLst/>
          </a:prstGeom>
          <a:noFill/>
          <a:ln/>
        </p:spPr>
        <p:txBody>
          <a:bodyPr wrap="square" lIns="0" tIns="0" rIns="0" bIns="0" rtlCol="0" anchor="ctr"/>
          <a:lstStyle/>
          <a:p>
            <a:pPr indent="0" marL="0">
              <a:buNone/>
            </a:pPr>
            <a:r>
              <a:rPr lang="en-US" sz="1200" b="1" dirty="0">
                <a:solidFill>
                  <a:srgbClr val="57606A"/>
                </a:solidFill>
                <a:latin typeface="Calibri" pitchFamily="34" charset="0"/>
                <a:ea typeface="Calibri" pitchFamily="34" charset="-122"/>
                <a:cs typeface="Calibri" pitchFamily="34" charset="-120"/>
              </a:rPr>
              <a:t>HOMEWORK</a:t>
            </a:r>
            <a:endParaRPr lang="en-US" sz="1200" dirty="0"/>
          </a:p>
        </p:txBody>
      </p:sp>
      <p:sp>
        <p:nvSpPr>
          <p:cNvPr id="18" name="Text 16"/>
          <p:cNvSpPr/>
          <p:nvPr/>
        </p:nvSpPr>
        <p:spPr>
          <a:xfrm>
            <a:off x="822960" y="4325112"/>
            <a:ext cx="4617720" cy="1234440"/>
          </a:xfrm>
          <a:prstGeom prst="rect">
            <a:avLst/>
          </a:prstGeom>
          <a:noFill/>
          <a:ln/>
        </p:spPr>
        <p:txBody>
          <a:bodyPr wrap="square" lIns="0" tIns="0" rIns="0" bIns="0" rtlCol="0" anchor="t"/>
          <a:lstStyle/>
          <a:p>
            <a:pPr indent="0" marL="0">
              <a:lnSpc>
                <a:spcPct val="112000"/>
              </a:lnSpc>
              <a:buNone/>
            </a:pPr>
            <a:r>
              <a:rPr lang="en-US" sz="1500" dirty="0">
                <a:solidFill>
                  <a:srgbClr val="1F2328"/>
                </a:solidFill>
                <a:latin typeface="Calibri" pitchFamily="34" charset="0"/>
                <a:ea typeface="Calibri" pitchFamily="34" charset="-122"/>
                <a:cs typeface="Calibri" pitchFamily="34" charset="-120"/>
              </a:rPr>
              <a:t>One last look at your L1 article — does it also show any of today's people/process vulnerabilities, alongside or instead of a technical one?</a:t>
            </a:r>
            <a:endParaRPr lang="en-US" sz="1500" dirty="0"/>
          </a:p>
        </p:txBody>
      </p:sp>
      <p:sp>
        <p:nvSpPr>
          <p:cNvPr id="19" name="Shape 17"/>
          <p:cNvSpPr/>
          <p:nvPr/>
        </p:nvSpPr>
        <p:spPr>
          <a:xfrm>
            <a:off x="6172200" y="3794760"/>
            <a:ext cx="5166360" cy="2011680"/>
          </a:xfrm>
          <a:prstGeom prst="roundRect">
            <a:avLst>
              <a:gd name="adj" fmla="val 3636"/>
            </a:avLst>
          </a:prstGeom>
          <a:solidFill>
            <a:srgbClr val="E7F9F1"/>
          </a:solidFill>
          <a:ln/>
        </p:spPr>
      </p:sp>
      <p:sp>
        <p:nvSpPr>
          <p:cNvPr id="20" name="Text 18"/>
          <p:cNvSpPr/>
          <p:nvPr/>
        </p:nvSpPr>
        <p:spPr>
          <a:xfrm>
            <a:off x="6446520" y="3977640"/>
            <a:ext cx="4617720" cy="292608"/>
          </a:xfrm>
          <a:prstGeom prst="rect">
            <a:avLst/>
          </a:prstGeom>
          <a:noFill/>
          <a:ln/>
        </p:spPr>
        <p:txBody>
          <a:bodyPr wrap="square" lIns="0" tIns="0" rIns="0" bIns="0" rtlCol="0" anchor="ctr"/>
          <a:lstStyle/>
          <a:p>
            <a:pPr indent="0" marL="0">
              <a:buNone/>
            </a:pPr>
            <a:r>
              <a:rPr lang="en-US" sz="1200" b="1" dirty="0">
                <a:solidFill>
                  <a:srgbClr val="57606A"/>
                </a:solidFill>
                <a:latin typeface="Calibri" pitchFamily="34" charset="0"/>
                <a:ea typeface="Calibri" pitchFamily="34" charset="-122"/>
                <a:cs typeface="Calibri" pitchFamily="34" charset="-120"/>
              </a:rPr>
              <a:t>NEED HELP?</a:t>
            </a:r>
            <a:endParaRPr lang="en-US" sz="1200" dirty="0"/>
          </a:p>
        </p:txBody>
      </p:sp>
      <p:sp>
        <p:nvSpPr>
          <p:cNvPr id="21" name="Text 19"/>
          <p:cNvSpPr/>
          <p:nvPr/>
        </p:nvSpPr>
        <p:spPr>
          <a:xfrm>
            <a:off x="6446520" y="4325112"/>
            <a:ext cx="4617720" cy="1234440"/>
          </a:xfrm>
          <a:prstGeom prst="rect">
            <a:avLst/>
          </a:prstGeom>
          <a:noFill/>
          <a:ln/>
        </p:spPr>
        <p:txBody>
          <a:bodyPr wrap="square" lIns="0" tIns="0" rIns="0" bIns="0" rtlCol="0" anchor="t"/>
          <a:lstStyle/>
          <a:p>
            <a:pPr indent="0" marL="0">
              <a:lnSpc>
                <a:spcPct val="112000"/>
              </a:lnSpc>
              <a:buNone/>
            </a:pPr>
            <a:r>
              <a:rPr lang="en-US" sz="1500" dirty="0">
                <a:solidFill>
                  <a:srgbClr val="1F2328"/>
                </a:solidFill>
                <a:latin typeface="Calibri" pitchFamily="34" charset="0"/>
                <a:ea typeface="Calibri" pitchFamily="34" charset="-122"/>
                <a:cs typeface="Calibri" pitchFamily="34" charset="-120"/>
              </a:rPr>
              <a:t>Struggling to tell a technical vulnerability from a people/process one? A technical flaw lives in code or configuration — today's five live in decisions, access and habits.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2026-08-05T23:25:58Z</dcterms:created>
  <dcterms:modified xsi:type="dcterms:W3CDTF">2026-08-05T23:25:58Z</dcterms:modified>
</cp:coreProperties>
</file>