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4870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of 8 in the AoS2 Cyber Security sequence. This lesson is deliberately not about attacks yet — it sets up WHY organisations care about secure development, using KK4.2.1 (goals/objectives) and KK4.2.2 (in-house vs external). Double period, 100 minutes. Timing guide: Warm up 5 min, Objective 3 min, Explicit explanation ~30 min, Application ~35 min, Responsive teaching + brain break ~15 min, Exit ticket + next steps ~10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2 min think, 2 min pair, then cold-call 2-3 pairs for their #1 and reasoning (1 min). There's no single correct ranking — the point is surfacing that 'stakes' depend on data sensitivity, scale, and consequence of downtime. Steer students toward noticing the hospital and bank involve highly sensitive personal/financial data — this seeds the goals/objectives discussion. Differentiation: pairs who finish early can also rank 'easiest for an attacker to target'.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objective aloud, then read each tier aloud — don't rush this, success criteria are referenced again at the exit ticket so students need to actually register them. Tell students they'll self-rate against these three tiers at the end of the lesson, so it's worth remembering roughly what each one asks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~8 min. Draw the chain on the board as you go: strategic plan → mission statement → goals → objectives, using the school example from the textbook (vocational course in 2 years / new building in 5 years → objective: increase enrolments 10% in 12 months). Emphasise objectives are MEASURABLE — that's the exam-testable distinction. Students copy the bulleted definitions into workbook Section 2 (COPY TO WORKBOOK banner).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 think/pair/share. Answer: statement 1 is the goal (broad, ongoing, not directly measurable as stated); statement 2 is the objective (specific, measurable, time-bound, 3 wards, this quarter). If students argue statement 1 could be an objective too, that's a good extension conversation — ask what would make it measurable (e.g. 'reduce errors by 20%').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~7 min. This is a light first touch — don't go deep on SAST/DAST/IAST here, that's Lesson 6's content. The only job of this slide is to plant the idea that security threads through the whole lifecycle, so 'in-house vs external' in the next section isn't read as a one-off purchasing decision. If a student asks what SAST/DAST mean, tell them it's coming in a later lesson and not to worry about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~10 min, the core content of the lesson. Note for students: in-house development is essentially the mirror image of this list (the advantages of external become the risks of in-house, e.g. in-house teams may lack up-to-date specialist security knowledge; the disadvantages of external become in-house's natural advantages, e.g. no NDA/third-party friction). Ask students to infer the in-house column themselves rather than presenting it — good extension check. Full list copied to workbook.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 min. Students may attempt multiple tiers if time allows — workbook allows completing more than one. Circulate during Foundation/Developing work; the Extending task is a good one to workshop with pairs before they write, since it asks for justification, not just a list. Students who finish early: point them to a real recent case (e.g. a supply-chain breach) and ask which side of the in-house/external line it fell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 standing/stretch break — no need to collect answers, just let the room reset after the extended application block before responsive teaching.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min. Use this as a quick formative check before the exit ticket — if multiple students struggle to paraphrase (rather than read) a disadvantage, that's a signal to revisit the comparison slide briefly before moving on, rather than pushing straight to the exit ticket.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~5 min, individual and silent. This is the workbook's _syncProgress('submitted') trigger point for the lesson — remind students to hit submit in the workbook, not just fill in the fields, so their progress registers on the student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homework article search is deliberate scaffolding for L2/L3 — students arrive with a concrete real-world incident in mind before being taught the formal vulnerability categories, which makes the abstract terms land better.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361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3852D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3852D0"/>
          </a:solidFill>
          <a:ln/>
        </p:spPr>
        <p:txBody>
          <a:bodyPr/>
          <a:lstStyle/>
          <a:p>
            <a:endParaRPr lang="en-AU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149961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0" dirty="0">
                <a:solidFill>
                  <a:srgbClr val="CF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VCE SOFTWARE DEVELOPMENT · UNIT 4 · AREA OF STUDY 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Secure Software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Matters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i="1" dirty="0">
                <a:solidFill>
                  <a:srgbClr val="E4E9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goals, and the case for building in-house vs. externally.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AEB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y12-sd-u4-l1-why-secure-dev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552176" y="274320"/>
            <a:ext cx="969264" cy="310896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UP · 5 MINUTES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these four organisations from ‘most at stake if their software was hacked’ to ‘least at stake’.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655824"/>
            <a:ext cx="10789920" cy="2753360"/>
          </a:xfrm>
          <a:prstGeom prst="roundRect">
            <a:avLst>
              <a:gd name="adj" fmla="val 4324"/>
            </a:avLst>
          </a:prstGeom>
          <a:solidFill>
            <a:srgbClr val="FEF3E0"/>
          </a:solidFill>
          <a:ln/>
        </p:spPr>
        <p:txBody>
          <a:bodyPr wrap="square" lIns="228600" tIns="228600" rIns="228600" bIns="228600" rtlCol="0" anchor="t"/>
          <a:lstStyle/>
          <a:p>
            <a:pPr marL="342900" indent="-34290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hospital patient-records system</a:t>
            </a:r>
          </a:p>
          <a:p>
            <a:pPr marL="342900" indent="-34290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council's bin-collection booking app</a:t>
            </a:r>
          </a:p>
          <a:p>
            <a:pPr marL="342900" indent="-34290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bank's mobile app</a:t>
            </a:r>
          </a:p>
          <a:p>
            <a:pPr marL="342900" indent="-342900" algn="l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school's canteen ordering app</a:t>
            </a: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endParaRPr lang="en-US" sz="21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Jot your ranking and your reason for the #1 spot — be ready to justify it.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devices yet — talk it through with the person next to you.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546336" y="274320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868680"/>
            <a:ext cx="10789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explain how organisational goals and objectives shape software development decisions, and evaluate the security trade-offs of developing software in-house versus externally.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456432" cy="4069080"/>
          </a:xfrm>
          <a:prstGeom prst="roundRect">
            <a:avLst>
              <a:gd name="adj" fmla="val 2646"/>
            </a:avLst>
          </a:prstGeom>
          <a:solidFill>
            <a:srgbClr val="E7F9F1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777240" y="244144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5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FOUNDATION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2999232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define mission statement, organisational goal, and objective, and give one example of each.</a:t>
            </a:r>
            <a:endParaRPr lang="en-US" sz="1950" dirty="0"/>
          </a:p>
          <a:p>
            <a:pPr marL="0" indent="0" algn="l">
              <a:lnSpc>
                <a:spcPct val="118000"/>
              </a:lnSpc>
              <a:buNone/>
            </a:pPr>
            <a:endParaRPr lang="en-US" sz="1950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list one advantage and one disadvantage of developing software externally.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4206240" y="2240280"/>
            <a:ext cx="3456432" cy="4069080"/>
          </a:xfrm>
          <a:prstGeom prst="roundRect">
            <a:avLst>
              <a:gd name="adj" fmla="val 2646"/>
            </a:avLst>
          </a:prstGeom>
          <a:solidFill>
            <a:srgbClr val="FEF3E0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4434840" y="244144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DEVELOPING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4434840" y="2953512"/>
            <a:ext cx="2999232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how a specific organisational goal might influence a decision to develop software in-house or externally.</a:t>
            </a:r>
            <a:endParaRPr lang="en-US" dirty="0"/>
          </a:p>
          <a:p>
            <a:pPr marL="0" indent="0" algn="l">
              <a:lnSpc>
                <a:spcPct val="118000"/>
              </a:lnSpc>
              <a:buNone/>
            </a:pPr>
            <a:endParaRPr lang="en-US" dirty="0"/>
          </a:p>
          <a:p>
            <a:pPr marL="0" indent="0" algn="l">
              <a:lnSpc>
                <a:spcPct val="118000"/>
              </a:lnSpc>
              <a:buNone/>
            </a:pPr>
            <a:r>
              <a:rPr lang="en-US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connect a security-related advantage or disadvantage to a real consequence for an organisation.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7863840" y="2240280"/>
            <a:ext cx="3456432" cy="4069080"/>
          </a:xfrm>
          <a:prstGeom prst="roundRect">
            <a:avLst>
              <a:gd name="adj" fmla="val 2646"/>
            </a:avLst>
          </a:prstGeom>
          <a:solidFill>
            <a:srgbClr val="F2ECFC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092440" y="2441448"/>
            <a:ext cx="2999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kern="0" spc="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  EXTENDING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092440" y="2953512"/>
            <a:ext cx="2999232" cy="3136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95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evaluate, for a given organisation, whether in-house or external development better serves its goals and security needs — with justification drawing on multiple factors.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63456" y="274320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mission to objectives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686800" y="1061720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1691640"/>
            <a:ext cx="9784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strategic plan sets an organisation's long-term direction — anywhere from 2 to 25 years ahead.</a:t>
            </a:r>
            <a:endParaRPr lang="en-US" sz="21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mission statement explains who the organisation is and why it exists right now; a vision statement describes what it wants to become.</a:t>
            </a:r>
            <a:endParaRPr lang="en-US" sz="21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Organisational goals are the common aims built from the mission statement — broad and long-term.</a:t>
            </a:r>
            <a:endParaRPr lang="en-US" sz="21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are small, measurable tasks that add up to a goal (e.g. ‘increase enrolments by 10% within 12 months’).</a:t>
            </a:r>
            <a:endParaRPr lang="en-US" sz="21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1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systems analyst translates an organisational goal into a role for software — that's where development decisions start.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627380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Software Development VCE Units 3&amp;4, 2E — Figure 7.1, p.281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63456" y="274320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 or objective?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9692640" cy="1600200"/>
          </a:xfrm>
          <a:prstGeom prst="roundRect">
            <a:avLst>
              <a:gd name="adj" fmla="val 5714"/>
            </a:avLst>
          </a:prstGeom>
          <a:solidFill>
            <a:srgbClr val="F2ECFC"/>
          </a:solidFill>
          <a:ln w="15875">
            <a:solidFill>
              <a:srgbClr val="8B5CF6"/>
            </a:solidFill>
          </a:ln>
        </p:spPr>
        <p:txBody>
          <a:bodyPr wrap="square" lIns="228600" tIns="228600" rIns="228600" bIns="228600" rtlCol="0" anchor="t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/ PAIR / SHARE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hospital's mission is ‘to deliver safe, timely patient care’. Which of these is a goal, and which is an objective?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3520440"/>
            <a:ext cx="9692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“Reduce patient data-entry errors across all wards.”</a:t>
            </a:r>
            <a:endParaRPr lang="en-US" sz="24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“Roll out a new digital records system to 3 wards by the end of this quarter.”</a:t>
            </a:r>
            <a:endParaRPr lang="en-US" sz="24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Discuss: what would the software need to do to support the goal you identified?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63456" y="274320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is built in, not bolted on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763000" y="1042416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143000" y="1691640"/>
            <a:ext cx="9784080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DevOps: the ongoing process of coding, testing, implementing and maintaining an application.</a:t>
            </a:r>
            <a:endParaRPr lang="en-US" sz="20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 extends this by embedding security checks at every single stage — plan, code, build, test, release, deploy, operate, monitor — not just at the end.</a:t>
            </a:r>
            <a:endParaRPr lang="en-US" sz="20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 today's lesson because it reframes the question: it's not ‘in-house or external?’ in isolation — it's ‘which option best embeds security across the whole lifecycle, for this organisation's goals?’</a:t>
            </a:r>
            <a:endParaRPr lang="en-US" sz="2000" dirty="0"/>
          </a:p>
          <a:p>
            <a:pPr marL="254000" indent="-254000" algn="l">
              <a:lnSpc>
                <a:spcPct val="120000"/>
              </a:lnSpc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this DevSecOps lifecycle picture in mind — you'll meet SAST, DAST and threat modelling from it again later in this unit.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143000" y="6080760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Nelson Software Development VCE Units 3&amp;4, 2E — Figure 7.2/7.3, p.282–283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63456" y="274320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457200" cy="457200"/>
          </a:xfrm>
          <a:prstGeom prst="ellipse">
            <a:avLst/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Developing software externally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8755380" y="1060704"/>
            <a:ext cx="2880360" cy="420624"/>
          </a:xfrm>
          <a:prstGeom prst="roundRect">
            <a:avLst>
              <a:gd name="adj" fmla="val 50000"/>
            </a:avLst>
          </a:prstGeom>
          <a:solidFill>
            <a:srgbClr val="FEF3E0"/>
          </a:solidFill>
          <a:ln w="15875">
            <a:solidFill>
              <a:srgbClr val="F59E0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946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COPY TO WORKBOOK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1572768"/>
            <a:ext cx="5166360" cy="4892040"/>
          </a:xfrm>
          <a:prstGeom prst="roundRect">
            <a:avLst>
              <a:gd name="adj" fmla="val 1869"/>
            </a:avLst>
          </a:prstGeom>
          <a:solidFill>
            <a:srgbClr val="F7F8FC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548640" y="1572768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10B981"/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2258568"/>
            <a:ext cx="47091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Up-to-date tools — specialists bring current privacy and risk-management expertise.</a:t>
            </a:r>
            <a:endParaRPr lang="en-US" sz="2000" dirty="0"/>
          </a:p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security — vulnerabilities are patched as they're found, using agile methods.</a:t>
            </a:r>
            <a:endParaRPr lang="en-US" sz="2000" dirty="0"/>
          </a:p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— an experienced team owns data-breach prevention.</a:t>
            </a:r>
            <a:endParaRPr lang="en-US" sz="2000" dirty="0"/>
          </a:p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— providers audit their own process for compliance and misconfiguration.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172200" y="1572768"/>
            <a:ext cx="5166360" cy="4892040"/>
          </a:xfrm>
          <a:prstGeom prst="roundRect">
            <a:avLst>
              <a:gd name="adj" fmla="val 1869"/>
            </a:avLst>
          </a:prstGeom>
          <a:solidFill>
            <a:srgbClr val="F7F8FC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6172200" y="1572768"/>
            <a:ext cx="5166360" cy="502920"/>
          </a:xfrm>
          <a:prstGeom prst="roundRect">
            <a:avLst>
              <a:gd name="adj" fmla="val 18182"/>
            </a:avLst>
          </a:prstGeom>
          <a:solidFill>
            <a:srgbClr val="EF4444"/>
          </a:solidFill>
          <a:ln/>
        </p:spPr>
        <p:txBody>
          <a:bodyPr wrap="square" lIns="152400" tIns="152400" rIns="152400" bIns="15240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DISADVANTAGES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2258568"/>
            <a:ext cx="470916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risk — NDAs protect IP shared with an outside team.</a:t>
            </a:r>
            <a:endParaRPr lang="en-US" sz="2000" dirty="0"/>
          </a:p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friction — every file and communication must be encrypted end-to-end.</a:t>
            </a:r>
            <a:endParaRPr lang="en-US" sz="2000" dirty="0"/>
          </a:p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 enforced — MFA, least privilege, limited device use.</a:t>
            </a:r>
            <a:endParaRPr lang="en-US" sz="2000" dirty="0"/>
          </a:p>
          <a:p>
            <a:pPr marL="203200" indent="-203200" algn="l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responsibility is explicit — contract states who meets which law; access stays minimal.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86416" y="27432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OF LEARNING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1444752"/>
            <a:ext cx="9692640" cy="548640"/>
          </a:xfrm>
          <a:prstGeom prst="roundRect">
            <a:avLst>
              <a:gd name="adj" fmla="val 13333"/>
            </a:avLst>
          </a:prstGeom>
          <a:solidFill>
            <a:srgbClr val="E7F9F1"/>
          </a:solidFill>
          <a:ln w="15875">
            <a:solidFill>
              <a:srgbClr val="10B981"/>
            </a:solidFill>
          </a:ln>
        </p:spPr>
        <p:txBody>
          <a:bodyPr wrap="square" lIns="177800" tIns="177800" rIns="177800" bIns="17780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0B7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Open your workbook — Section 3, Application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143000" y="2112264"/>
            <a:ext cx="9692640" cy="1386840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9"/>
          <p:cNvSpPr/>
          <p:nvPr/>
        </p:nvSpPr>
        <p:spPr>
          <a:xfrm>
            <a:off x="1143000" y="2112264"/>
            <a:ext cx="548640" cy="13868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897380" y="2165604"/>
            <a:ext cx="8732520" cy="127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mission statement, goal and objective in your own words, and classify 4 statements as goal or objective.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1143000" y="3636264"/>
            <a:ext cx="9692640" cy="1386840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2"/>
          <p:cNvSpPr/>
          <p:nvPr/>
        </p:nvSpPr>
        <p:spPr>
          <a:xfrm>
            <a:off x="1143000" y="3636264"/>
            <a:ext cx="548640" cy="13868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897380" y="3424428"/>
            <a:ext cx="8732520" cy="127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an organisation profile, identify a goal, an objective, and a role for software — then pick in-house or external and give one reason.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143000" y="5160264"/>
            <a:ext cx="9692640" cy="1386840"/>
          </a:xfrm>
          <a:prstGeom prst="roundRect">
            <a:avLst>
              <a:gd name="adj" fmla="val 5275"/>
            </a:avLst>
          </a:prstGeom>
          <a:solidFill>
            <a:srgbClr val="FFFFFF"/>
          </a:solidFill>
          <a:ln w="12700">
            <a:solidFill>
              <a:srgbClr val="D8DEE9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7" name="Text 15"/>
          <p:cNvSpPr/>
          <p:nvPr/>
        </p:nvSpPr>
        <p:spPr>
          <a:xfrm>
            <a:off x="1143000" y="5160264"/>
            <a:ext cx="548640" cy="1386840"/>
          </a:xfrm>
          <a:prstGeom prst="roundRect">
            <a:avLst>
              <a:gd name="adj" fmla="val 13333"/>
            </a:avLst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🟣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897380" y="5213604"/>
            <a:ext cx="8732520" cy="127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 fintech start-up and a public hospital, and justify — using specific advantages/disadvantages — which approach better serves each one's security needs.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kern="0" spc="2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BRAIN BREAK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280160" y="2926080"/>
            <a:ext cx="8869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seconds: name as many apps or websites as you can that you'd guess were built in-house rather than outsourced. Compare with a neighbour — did you agree?</a:t>
            </a:r>
            <a:endParaRPr lang="en-US" sz="2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9363456" y="274320"/>
            <a:ext cx="2157984" cy="310896"/>
          </a:xfrm>
          <a:prstGeom prst="roundRect">
            <a:avLst>
              <a:gd name="adj" fmla="val 50000"/>
            </a:avLst>
          </a:prstGeom>
          <a:solidFill>
            <a:srgbClr val="4361E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EXPLANATION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713232"/>
            <a:ext cx="457200" cy="457200"/>
          </a:xfrm>
          <a:prstGeom prst="ellipse">
            <a:avLst/>
          </a:prstGeom>
          <a:solidFill>
            <a:srgbClr val="8B5CF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71323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TEACHING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" y="914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for understanding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1691640"/>
            <a:ext cx="9692640" cy="1600200"/>
          </a:xfrm>
          <a:prstGeom prst="roundRect">
            <a:avLst>
              <a:gd name="adj" fmla="val 5714"/>
            </a:avLst>
          </a:prstGeom>
          <a:solidFill>
            <a:srgbClr val="F2ECFC"/>
          </a:solidFill>
          <a:ln w="15875">
            <a:solidFill>
              <a:srgbClr val="8B5CF6"/>
            </a:solidFill>
          </a:ln>
        </p:spPr>
        <p:txBody>
          <a:bodyPr wrap="square" lIns="228600" tIns="228600" rIns="228600" bIns="228600" rtlCol="0" anchor="t"/>
          <a:lstStyle/>
          <a:p>
            <a:pPr marL="0" indent="0" algn="l">
              <a:buNone/>
            </a:pPr>
            <a:r>
              <a:rPr lang="en-US" sz="130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THINK / PAIR / SHARE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214884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 call: pick one disadvantage of external development from today's list.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143000" y="3520440"/>
            <a:ext cx="969264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 in your own words — no reading directly from your workbook.</a:t>
            </a:r>
            <a:endParaRPr lang="en-US" sz="24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one way an organisation could reduce that specific risk.</a:t>
            </a:r>
            <a:endParaRPr lang="en-US" sz="2400" dirty="0"/>
          </a:p>
          <a:p>
            <a:pPr marL="228600" indent="-228600" algn="l">
              <a:lnSpc>
                <a:spcPct val="120000"/>
              </a:lnSpc>
              <a:spcAft>
                <a:spcPts val="1400"/>
              </a:spcAft>
              <a:buSzPct val="100000"/>
              <a:buChar char="•"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 checklist: by the end of this lesson you should be able to define goals/objectives and list advantages and disadvantages of external development — tick this off in your workbook.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86416" y="274320"/>
            <a:ext cx="1335024" cy="31089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TICKET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🚪  Before you go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10058400" cy="3977640"/>
          </a:xfrm>
          <a:prstGeom prst="roundRect">
            <a:avLst>
              <a:gd name="adj" fmla="val 2299"/>
            </a:avLst>
          </a:prstGeom>
          <a:solidFill>
            <a:srgbClr val="FCEAEA"/>
          </a:solidFill>
          <a:ln w="15875">
            <a:solidFill>
              <a:srgbClr val="EF4444"/>
            </a:solidFill>
          </a:ln>
        </p:spPr>
        <p:txBody>
          <a:bodyPr wrap="square" lIns="304800" tIns="304800" rIns="304800" bIns="304800" rtlCol="0" anchor="t"/>
          <a:lstStyle/>
          <a:p>
            <a:pPr marL="0" indent="0" algn="l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In your own words: what's the difference between an organisational goal and an objective?</a:t>
            </a:r>
            <a:endParaRPr lang="en-US" sz="2400" dirty="0"/>
          </a:p>
          <a:p>
            <a:pPr marL="0" indent="0" algn="l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Name one advantage and one disadvantage of developing software externally.</a:t>
            </a:r>
            <a:endParaRPr lang="en-US" sz="2400" dirty="0"/>
          </a:p>
          <a:p>
            <a:pPr marL="0" indent="0" algn="l">
              <a:lnSpc>
                <a:spcPct val="125000"/>
              </a:lnSpc>
              <a:spcAft>
                <a:spcPts val="2000"/>
              </a:spcAft>
              <a:buNone/>
            </a:pPr>
            <a:r>
              <a:rPr lang="en-US" sz="24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Self-rate: which success-criteria tier did you reach today — Foundation, Developing, or Extending?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5897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Record your answers in your workbook — Section 5, Exit Ticket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EduPortal  ·  VCE Software Development  ·  Unit 4  ·  Cyber Security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277856" y="27432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57606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966960" y="658368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875">
            <a:solidFill>
              <a:srgbClr val="57606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kern="0" spc="100" dirty="0">
                <a:solidFill>
                  <a:srgbClr val="576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DEVICES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12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77724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1F23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from here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EEF1FD"/>
          </a:solidFill>
          <a:ln w="15875">
            <a:solidFill>
              <a:srgbClr val="4361EE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436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22960" y="203911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— Vulnerabilities &amp; Risks I: how APIs, malware, unpatched software and MITM attacks exploit insecure development environments.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172200" y="150876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2ECFC"/>
          </a:solidFill>
          <a:ln w="15875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6446520" y="16916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2 PROGRESS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46520" y="203911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lesson builds the foundation for Outcome 2's case-study skill ‘analyse and describe an organisation's software development practices.’ No formal assessment today.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FEF3E0"/>
          </a:solidFill>
          <a:ln w="15875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822960" y="39776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32511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recent news article about a company's software security incident. Bring the organisation's name and what happened to next lesson.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172200" y="3794760"/>
            <a:ext cx="5166360" cy="2011680"/>
          </a:xfrm>
          <a:prstGeom prst="roundRect">
            <a:avLst>
              <a:gd name="adj" fmla="val 4545"/>
            </a:avLst>
          </a:prstGeom>
          <a:solidFill>
            <a:srgbClr val="E7F9F1"/>
          </a:solidFill>
          <a:ln w="1587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8" name="Text 16"/>
          <p:cNvSpPr/>
          <p:nvPr/>
        </p:nvSpPr>
        <p:spPr>
          <a:xfrm>
            <a:off x="6446520" y="3977640"/>
            <a:ext cx="4617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kern="0" spc="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HELP?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46520" y="4325112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1800" dirty="0">
                <a:solidFill>
                  <a:srgbClr val="1F23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Unsure about goals vs. objectives? Re-read the worked example in Section 2 of your workbook, or ask before next lesson.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2100</Words>
  <Application>Microsoft Office PowerPoint</Application>
  <PresentationFormat>Widescreen</PresentationFormat>
  <Paragraphs>170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 L1 — Why Secure Software Development Matters</dc:title>
  <dc:subject>PptxGenJS Presentation</dc:subject>
  <dc:creator>EduPortal</dc:creator>
  <cp:lastModifiedBy>James Smith 5</cp:lastModifiedBy>
  <cp:revision>2</cp:revision>
  <dcterms:created xsi:type="dcterms:W3CDTF">2026-07-29T04:34:26Z</dcterms:created>
  <dcterms:modified xsi:type="dcterms:W3CDTF">2026-07-29T04:38:24Z</dcterms:modified>
</cp:coreProperties>
</file>